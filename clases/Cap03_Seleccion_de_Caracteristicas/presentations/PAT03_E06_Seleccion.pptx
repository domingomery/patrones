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0" r:id="rId2"/>
    <p:sldId id="282" r:id="rId3"/>
    <p:sldId id="409" r:id="rId4"/>
    <p:sldId id="256" r:id="rId5"/>
    <p:sldId id="419" r:id="rId6"/>
    <p:sldId id="418" r:id="rId7"/>
    <p:sldId id="417" r:id="rId8"/>
    <p:sldId id="420" r:id="rId9"/>
    <p:sldId id="421" r:id="rId10"/>
    <p:sldId id="422" r:id="rId11"/>
    <p:sldId id="286" r:id="rId12"/>
    <p:sldId id="296" r:id="rId13"/>
    <p:sldId id="297" r:id="rId14"/>
    <p:sldId id="298" r:id="rId15"/>
    <p:sldId id="299" r:id="rId16"/>
    <p:sldId id="411" r:id="rId17"/>
    <p:sldId id="412" r:id="rId18"/>
    <p:sldId id="413" r:id="rId19"/>
    <p:sldId id="414" r:id="rId20"/>
    <p:sldId id="415" r:id="rId21"/>
    <p:sldId id="416" r:id="rId22"/>
    <p:sldId id="300" r:id="rId23"/>
  </p:sldIdLst>
  <p:sldSz cx="12192000" cy="6858000"/>
  <p:notesSz cx="6858000" cy="9144000"/>
  <p:defaultTextStyle>
    <a:defPPr>
      <a:defRPr lang="en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3282B"/>
    <a:srgbClr val="E97F32"/>
    <a:srgbClr val="E97109"/>
    <a:srgbClr val="FAAC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373"/>
    <p:restoredTop sz="94658"/>
  </p:normalViewPr>
  <p:slideViewPr>
    <p:cSldViewPr snapToGrid="0">
      <p:cViewPr varScale="1">
        <p:scale>
          <a:sx n="120" d="100"/>
          <a:sy n="120" d="100"/>
        </p:scale>
        <p:origin x="56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CDE5E-55A9-4294-B1A7-FA8814752B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4BE524-8C7A-677E-2AAE-5A387FB023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4C459A-09CF-03F0-14AB-5274BA061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1AB6E-FDAA-194A-A92E-EE902A211754}" type="datetimeFigureOut">
              <a:rPr lang="en-CL" smtClean="0"/>
              <a:t>28-04-26</a:t>
            </a:fld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DC322A-B205-1058-AE0B-3EEE0BEE3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1A4827-C436-AC52-ED20-6EF4BF1C0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D9BC3-FD3B-1440-AF94-145B960EB2F4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8146484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04409-A185-580E-ED3B-B7E1F08BA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9DFB1F-E49F-4694-41E8-BA5777303A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EBA413-B554-E83E-5A7F-FDAF22BF1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1AB6E-FDAA-194A-A92E-EE902A211754}" type="datetimeFigureOut">
              <a:rPr lang="en-CL" smtClean="0"/>
              <a:t>28-04-26</a:t>
            </a:fld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F8933A-A6BD-37B3-9FE8-767C0FC6B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9BD29D-BCA1-58A5-8A6F-420779694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D9BC3-FD3B-1440-AF94-145B960EB2F4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7224217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60A0B-2BD8-B999-3689-9D0936439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03DF1B-EFB7-6C75-56BD-3E75EC48E7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57A97A-AF5B-99BA-B318-2960B0B3D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1AB6E-FDAA-194A-A92E-EE902A211754}" type="datetimeFigureOut">
              <a:rPr lang="en-CL" smtClean="0"/>
              <a:t>28-04-26</a:t>
            </a:fld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880668-6DE5-70D6-23F2-FE9EE8DD2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C43FB3-1E4E-D99F-EADB-698B78A69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D9BC3-FD3B-1440-AF94-145B960EB2F4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111174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DE1A2-F974-CFD0-6598-06501A52F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30B71A-7A5B-DCCF-CB23-B6D213A53C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6059ED-B6B1-FDB3-095E-8A02D99622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611D5D-CE22-7188-448E-6182C09CD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1AB6E-FDAA-194A-A92E-EE902A211754}" type="datetimeFigureOut">
              <a:rPr lang="en-CL" smtClean="0"/>
              <a:t>28-04-26</a:t>
            </a:fld>
            <a:endParaRPr lang="en-C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35D405-AA2E-5668-8441-E24673A4D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94BEFD-052C-B216-265B-9B33AE76F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D9BC3-FD3B-1440-AF94-145B960EB2F4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7711123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D44C2-D3B7-DAB8-41AD-767E4F881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372493-6057-314E-0A8D-BD66DC5E1F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F0FED0-27DD-A87C-41CA-C901B930E4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56AC5C-C572-B821-68A7-687E140AAB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95917D0-C8AA-DC6F-FC05-86DFE519E8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A840C2-375F-A6F9-56FF-898166F2D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1AB6E-FDAA-194A-A92E-EE902A211754}" type="datetimeFigureOut">
              <a:rPr lang="en-CL" smtClean="0"/>
              <a:t>28-04-26</a:t>
            </a:fld>
            <a:endParaRPr lang="en-C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EFFD30-D97A-7238-6838-13AAF89C2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C36ADF-57FB-9337-2A3C-1FAEA70DA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D9BC3-FD3B-1440-AF94-145B960EB2F4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3560622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73082-C63D-2AF5-ED7B-D2E8F048D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67DAA3-0F2A-3AAE-22FA-8E7D901D62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1AB6E-FDAA-194A-A92E-EE902A211754}" type="datetimeFigureOut">
              <a:rPr lang="en-CL" smtClean="0"/>
              <a:t>28-04-26</a:t>
            </a:fld>
            <a:endParaRPr lang="en-C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C4A8BF-7EEF-3BC7-4F79-7CE76BB53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A646D1-EBAF-1E02-CDCD-A7B6F1F74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D9BC3-FD3B-1440-AF94-145B960EB2F4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1420801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8494E9-67C8-7526-D2D8-5753D1FE5F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1AB6E-FDAA-194A-A92E-EE902A211754}" type="datetimeFigureOut">
              <a:rPr lang="en-CL" smtClean="0"/>
              <a:t>28-04-26</a:t>
            </a:fld>
            <a:endParaRPr lang="en-C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387342-9B22-759D-81F2-8BB6FFFA5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046257-A788-C842-2611-65B9F0E78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D9BC3-FD3B-1440-AF94-145B960EB2F4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939774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37528-7AC3-CC57-057B-A268815488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04D0D7-62C0-6D60-182A-0D6E9EDCC2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DBA12B-5630-38F6-FE64-42EA385D60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A7A2DD-DE82-C181-0BE8-BBCE2FB82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1AB6E-FDAA-194A-A92E-EE902A211754}" type="datetimeFigureOut">
              <a:rPr lang="en-CL" smtClean="0"/>
              <a:t>28-04-26</a:t>
            </a:fld>
            <a:endParaRPr lang="en-C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8771D7-6CFC-C213-B69F-BCB8717C7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C0C0F9-5373-B9DB-E792-13300EC13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D9BC3-FD3B-1440-AF94-145B960EB2F4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40782310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E1D38-EBF2-9CAC-24A5-1F91A3FA3F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5AFC596-6D61-7BCE-F920-51B7C044D0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B156F6-EA55-3FAC-48F1-4BC89E11CC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B69A15-BC42-8055-FE41-C7D9AD81C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1AB6E-FDAA-194A-A92E-EE902A211754}" type="datetimeFigureOut">
              <a:rPr lang="en-CL" smtClean="0"/>
              <a:t>28-04-26</a:t>
            </a:fld>
            <a:endParaRPr lang="en-C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920FF8-CCCB-6E78-D2E6-476979E7B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BA882B-EBB7-9274-5597-81A515088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D9BC3-FD3B-1440-AF94-145B960EB2F4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9010077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04532-667D-39D7-AE25-78D3F6914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8E1673-AE3C-8484-A105-DF436DFF43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9E8C8-89F1-B084-59E9-D399D3AB9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1AB6E-FDAA-194A-A92E-EE902A211754}" type="datetimeFigureOut">
              <a:rPr lang="en-CL" smtClean="0"/>
              <a:t>28-04-26</a:t>
            </a:fld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5486F4-E164-46C5-EFE8-AC9244DBA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CBFED7-C0F0-555E-0F20-89B31EBEF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D9BC3-FD3B-1440-AF94-145B960EB2F4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0716915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E4ECC9-F167-6F8D-6226-2F00F7DC8E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BB4B10-9FA3-8779-D6C8-E6A74699FA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C3DA57-B739-9294-C406-F45051BED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1AB6E-FDAA-194A-A92E-EE902A211754}" type="datetimeFigureOut">
              <a:rPr lang="en-CL" smtClean="0"/>
              <a:t>28-04-26</a:t>
            </a:fld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44CEEC-B37C-772B-F971-0B7A96BEF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C4F241-78E5-2A3D-170E-00D0E4EDD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D9BC3-FD3B-1440-AF94-145B960EB2F4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392623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4ED90E7-15E2-A391-8EAE-55329726D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031BE8-6943-1ABD-B0AC-0F91CC12C8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4B5C33-D3A2-8D8B-8D79-CC72C8DEE8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C1AB6E-FDAA-194A-A92E-EE902A211754}" type="datetimeFigureOut">
              <a:rPr lang="en-CL" smtClean="0"/>
              <a:t>28-04-26</a:t>
            </a:fld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924A84-524E-1127-C5EE-881DEC10CA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5AB2EB-4E2C-517D-4F20-A234C2F54A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6D9BC3-FD3B-1440-AF94-145B960EB2F4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806799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://domingomery.ing.uc.cl/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876E2BE-1E76-0F44-8020-A654157CDF76}"/>
              </a:ext>
            </a:extLst>
          </p:cNvPr>
          <p:cNvSpPr txBox="1"/>
          <p:nvPr/>
        </p:nvSpPr>
        <p:spPr>
          <a:xfrm>
            <a:off x="925898" y="3991689"/>
            <a:ext cx="3783921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3600" noProof="1">
                <a:solidFill>
                  <a:srgbClr val="0041A1"/>
                </a:solidFill>
                <a:latin typeface="Gill Sans MT" panose="020B0502020104020203" pitchFamily="34" charset="77"/>
              </a:rPr>
              <a:t>Domingo Mery</a:t>
            </a:r>
          </a:p>
          <a:p>
            <a:endParaRPr lang="es-ES_tradnl" sz="2400" noProof="1">
              <a:solidFill>
                <a:schemeClr val="bg1">
                  <a:lumMod val="50000"/>
                </a:schemeClr>
              </a:solidFill>
              <a:latin typeface="Gill Sans MT" panose="020B0502020104020203" pitchFamily="34" charset="77"/>
            </a:endParaRPr>
          </a:p>
          <a:p>
            <a:r>
              <a:rPr lang="es-ES_tradnl" sz="2400" noProof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Ciencia de la Computación</a:t>
            </a:r>
          </a:p>
          <a:p>
            <a:r>
              <a:rPr lang="es-ES_tradnl" sz="2400" noProof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Universidad Católica – Chile</a:t>
            </a:r>
          </a:p>
          <a:p>
            <a:r>
              <a:rPr lang="es-ES_tradnl" sz="2400" noProof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  <a:hlinkClick r:id="rId2"/>
              </a:rPr>
              <a:t>http://domingomery.ing.uc.cl</a:t>
            </a:r>
            <a:r>
              <a:rPr lang="es-ES_tradnl" sz="2400" noProof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 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1F84582F-25ED-D64F-A141-4702851F27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2889" y="4153426"/>
            <a:ext cx="671000" cy="396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09BC001-F490-B55D-4087-04CD68E211CA}"/>
              </a:ext>
            </a:extLst>
          </p:cNvPr>
          <p:cNvSpPr txBox="1"/>
          <p:nvPr/>
        </p:nvSpPr>
        <p:spPr>
          <a:xfrm>
            <a:off x="925898" y="2025777"/>
            <a:ext cx="1026915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4400" noProof="1">
                <a:latin typeface="Gill Sans MT" panose="020B0502020104020203" pitchFamily="34" charset="77"/>
              </a:rPr>
              <a:t>Ejercicio E06:	Selección de Características</a:t>
            </a:r>
          </a:p>
          <a:p>
            <a:endParaRPr lang="es-ES_tradnl" sz="1400" noProof="1">
              <a:latin typeface="Gill Sans MT" panose="020B0502020104020203" pitchFamily="34" charset="77"/>
            </a:endParaRPr>
          </a:p>
          <a:p>
            <a:r>
              <a:rPr lang="es-ES_tradnl" sz="1400" noProof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( CAPÍTULO I1I )</a:t>
            </a:r>
            <a:endParaRPr lang="es-ES_tradnl" sz="4400" noProof="1">
              <a:solidFill>
                <a:schemeClr val="bg1">
                  <a:lumMod val="50000"/>
                </a:schemeClr>
              </a:solidFill>
              <a:latin typeface="Gill Sans MT" panose="020B0502020104020203" pitchFamily="34" charset="77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4313AD9-FB76-5B39-FDE3-02C1A0673E49}"/>
              </a:ext>
            </a:extLst>
          </p:cNvPr>
          <p:cNvSpPr/>
          <p:nvPr/>
        </p:nvSpPr>
        <p:spPr>
          <a:xfrm>
            <a:off x="925897" y="683627"/>
            <a:ext cx="10340205" cy="84741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 dirty="0">
              <a:latin typeface="Gill Sans MT" panose="020B0502020104020203" pitchFamily="34" charset="7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683696-9EC3-5EAA-42CA-C97B3AF6DCC2}"/>
              </a:ext>
            </a:extLst>
          </p:cNvPr>
          <p:cNvSpPr txBox="1"/>
          <p:nvPr/>
        </p:nvSpPr>
        <p:spPr>
          <a:xfrm>
            <a:off x="925898" y="546159"/>
            <a:ext cx="6803850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4400" noProof="1">
                <a:solidFill>
                  <a:schemeClr val="accent2"/>
                </a:solidFill>
                <a:latin typeface="Gill Sans MT" panose="020B0502020104020203" pitchFamily="34" charset="77"/>
              </a:rPr>
              <a:t>Reconocimiento de Patrones</a:t>
            </a:r>
          </a:p>
          <a:p>
            <a:r>
              <a:rPr lang="es-ES_tradnl" sz="1400" noProof="1">
                <a:solidFill>
                  <a:schemeClr val="accent1">
                    <a:lumMod val="60000"/>
                    <a:lumOff val="40000"/>
                  </a:schemeClr>
                </a:solidFill>
                <a:latin typeface="Gill Sans MT" panose="020B0502020104020203" pitchFamily="34" charset="77"/>
              </a:rPr>
              <a:t>Versión 2026</a:t>
            </a:r>
          </a:p>
        </p:txBody>
      </p:sp>
      <p:pic>
        <p:nvPicPr>
          <p:cNvPr id="16" name="Picture 15" descr="Screen Shot 2014-07-28 at 3.30.32 PM.png">
            <a:extLst>
              <a:ext uri="{FF2B5EF4-FFF2-40B4-BE49-F238E27FC236}">
                <a16:creationId xmlns:a16="http://schemas.microsoft.com/office/drawing/2014/main" id="{388CBE50-EF02-7AE8-3A76-AE0E5FB5D9A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7883" y="683626"/>
            <a:ext cx="2688219" cy="847417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0E6ED2F0-8213-81F2-AE9E-2E272437C75A}"/>
              </a:ext>
            </a:extLst>
          </p:cNvPr>
          <p:cNvSpPr/>
          <p:nvPr/>
        </p:nvSpPr>
        <p:spPr>
          <a:xfrm>
            <a:off x="8532327" y="889536"/>
            <a:ext cx="94889" cy="94882"/>
          </a:xfrm>
          <a:prstGeom prst="rect">
            <a:avLst/>
          </a:prstGeom>
          <a:solidFill>
            <a:srgbClr val="FF0000">
              <a:alpha val="7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962D8FD-78CA-60B5-3801-27A555922101}"/>
              </a:ext>
            </a:extLst>
          </p:cNvPr>
          <p:cNvSpPr/>
          <p:nvPr/>
        </p:nvSpPr>
        <p:spPr>
          <a:xfrm>
            <a:off x="9457147" y="1041936"/>
            <a:ext cx="94889" cy="94882"/>
          </a:xfrm>
          <a:prstGeom prst="rect">
            <a:avLst/>
          </a:prstGeom>
          <a:solidFill>
            <a:srgbClr val="FFD300">
              <a:alpha val="7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897FC66-CA23-63DD-EA97-E161CAAED0A8}"/>
              </a:ext>
            </a:extLst>
          </p:cNvPr>
          <p:cNvSpPr/>
          <p:nvPr/>
        </p:nvSpPr>
        <p:spPr>
          <a:xfrm>
            <a:off x="8450280" y="1194336"/>
            <a:ext cx="94889" cy="94882"/>
          </a:xfrm>
          <a:prstGeom prst="rect">
            <a:avLst/>
          </a:prstGeom>
          <a:solidFill>
            <a:srgbClr val="3366FF">
              <a:alpha val="7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14C79FF-4B28-5ECA-240A-83B096DB7FB8}"/>
              </a:ext>
            </a:extLst>
          </p:cNvPr>
          <p:cNvSpPr/>
          <p:nvPr/>
        </p:nvSpPr>
        <p:spPr>
          <a:xfrm>
            <a:off x="9200620" y="814788"/>
            <a:ext cx="94889" cy="94882"/>
          </a:xfrm>
          <a:prstGeom prst="rect">
            <a:avLst/>
          </a:prstGeom>
          <a:solidFill>
            <a:schemeClr val="bg1">
              <a:alpha val="73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EF39B26-B75D-1F53-93C6-2D8DFE021951}"/>
              </a:ext>
            </a:extLst>
          </p:cNvPr>
          <p:cNvSpPr/>
          <p:nvPr/>
        </p:nvSpPr>
        <p:spPr>
          <a:xfrm>
            <a:off x="9043304" y="1325718"/>
            <a:ext cx="94889" cy="94882"/>
          </a:xfrm>
          <a:prstGeom prst="rect">
            <a:avLst/>
          </a:prstGeom>
          <a:solidFill>
            <a:srgbClr val="00FF00">
              <a:alpha val="7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7D7CB6-4028-D980-540B-3A98AE65FA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872" y="3515608"/>
            <a:ext cx="3902687" cy="2658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4940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7D75BEA-4D66-FAD8-6B71-03ED237E27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619" y="102943"/>
            <a:ext cx="1529678" cy="8635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A57466C-8519-F823-F921-752112937A4D}"/>
              </a:ext>
            </a:extLst>
          </p:cNvPr>
          <p:cNvSpPr txBox="1"/>
          <p:nvPr/>
        </p:nvSpPr>
        <p:spPr>
          <a:xfrm>
            <a:off x="1719544" y="258585"/>
            <a:ext cx="823334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rgbClr val="E9710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E06</a:t>
            </a:r>
            <a:r>
              <a:rPr lang="en-CL" sz="4000" b="1" dirty="0">
                <a:solidFill>
                  <a:srgbClr val="E9710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&gt; </a:t>
            </a:r>
            <a:r>
              <a:rPr lang="en-CL" sz="4000" b="1" dirty="0">
                <a:solidFill>
                  <a:srgbClr val="E97F3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Reconocedor de 10 dígitos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7E57981-1B21-3E58-D75A-A258363127D8}"/>
              </a:ext>
            </a:extLst>
          </p:cNvPr>
          <p:cNvCxnSpPr/>
          <p:nvPr/>
        </p:nvCxnSpPr>
        <p:spPr>
          <a:xfrm>
            <a:off x="194619" y="1023079"/>
            <a:ext cx="1114924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01B43EA-673C-441B-E475-4C803952871A}"/>
              </a:ext>
            </a:extLst>
          </p:cNvPr>
          <p:cNvSpPr txBox="1"/>
          <p:nvPr/>
        </p:nvSpPr>
        <p:spPr>
          <a:xfrm>
            <a:off x="1105627" y="8748854"/>
            <a:ext cx="221086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L" sz="3600" dirty="0">
                <a:latin typeface="Consolas" panose="020B0609020204030204" pitchFamily="49" charset="0"/>
                <a:cs typeface="Consolas" panose="020B0609020204030204" pitchFamily="49" charset="0"/>
              </a:rPr>
              <a:t>Imagen X</a:t>
            </a:r>
          </a:p>
          <a:p>
            <a:pPr algn="ctr"/>
            <a:endParaRPr lang="en-CL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CL" dirty="0">
                <a:latin typeface="Consolas" panose="020B0609020204030204" pitchFamily="49" charset="0"/>
                <a:cs typeface="Consolas" panose="020B0609020204030204" pitchFamily="49" charset="0"/>
              </a:rPr>
              <a:t>1000 x 1000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F1E82CD-249B-59FC-E180-46E467C18F87}"/>
              </a:ext>
            </a:extLst>
          </p:cNvPr>
          <p:cNvSpPr txBox="1"/>
          <p:nvPr/>
        </p:nvSpPr>
        <p:spPr>
          <a:xfrm>
            <a:off x="7784300" y="8748854"/>
            <a:ext cx="24641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L" sz="3600" dirty="0">
                <a:latin typeface="Consolas" panose="020B0609020204030204" pitchFamily="49" charset="0"/>
                <a:cs typeface="Consolas" panose="020B0609020204030204" pitchFamily="49" charset="0"/>
              </a:rPr>
              <a:t>Imagen Yk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FD1709C-965E-1660-AA60-30C74B6D52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5876" y="1625175"/>
            <a:ext cx="9052560" cy="4680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31254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3ABA02B-B68D-A7F9-B122-993B4B6D71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7782" y="105060"/>
            <a:ext cx="9667270" cy="6647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66484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13D0C9C-71E0-7246-81AC-03006E9CAE30}"/>
              </a:ext>
            </a:extLst>
          </p:cNvPr>
          <p:cNvSpPr/>
          <p:nvPr/>
        </p:nvSpPr>
        <p:spPr>
          <a:xfrm>
            <a:off x="3902035" y="1865871"/>
            <a:ext cx="1185494" cy="9459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Cleaning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E5F04E49-C1A7-5243-B82B-8EF1018BFD8B}"/>
              </a:ext>
            </a:extLst>
          </p:cNvPr>
          <p:cNvSpPr/>
          <p:nvPr/>
        </p:nvSpPr>
        <p:spPr>
          <a:xfrm>
            <a:off x="5388960" y="1865871"/>
            <a:ext cx="1296324" cy="9459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Normalization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9140BA2-2AFF-3649-875B-09D895D04EC1}"/>
              </a:ext>
            </a:extLst>
          </p:cNvPr>
          <p:cNvCxnSpPr>
            <a:cxnSpLocks/>
            <a:stCxn id="7" idx="3"/>
            <a:endCxn id="18" idx="1"/>
          </p:cNvCxnSpPr>
          <p:nvPr/>
        </p:nvCxnSpPr>
        <p:spPr>
          <a:xfrm>
            <a:off x="5087529" y="2338837"/>
            <a:ext cx="301431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DFD7DA71-0067-CB4E-9683-61FD4F07DEFC}"/>
              </a:ext>
            </a:extLst>
          </p:cNvPr>
          <p:cNvSpPr/>
          <p:nvPr/>
        </p:nvSpPr>
        <p:spPr>
          <a:xfrm>
            <a:off x="6982689" y="1865728"/>
            <a:ext cx="1296324" cy="9459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Selection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21E2462F-23DF-9242-984C-6AF20E9EE768}"/>
              </a:ext>
            </a:extLst>
          </p:cNvPr>
          <p:cNvCxnSpPr>
            <a:cxnSpLocks/>
            <a:stCxn id="18" idx="3"/>
            <a:endCxn id="26" idx="1"/>
          </p:cNvCxnSpPr>
          <p:nvPr/>
        </p:nvCxnSpPr>
        <p:spPr>
          <a:xfrm flipV="1">
            <a:off x="6685284" y="2338694"/>
            <a:ext cx="297405" cy="143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C97078E9-628A-BB4E-A204-3A7820B0DF6D}"/>
              </a:ext>
            </a:extLst>
          </p:cNvPr>
          <p:cNvSpPr/>
          <p:nvPr/>
        </p:nvSpPr>
        <p:spPr>
          <a:xfrm>
            <a:off x="8576415" y="1865728"/>
            <a:ext cx="1556125" cy="9459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Training</a:t>
            </a:r>
          </a:p>
        </p:txBody>
      </p:sp>
      <p:cxnSp>
        <p:nvCxnSpPr>
          <p:cNvPr id="62" name="Elbow Connector 61">
            <a:extLst>
              <a:ext uri="{FF2B5EF4-FFF2-40B4-BE49-F238E27FC236}">
                <a16:creationId xmlns:a16="http://schemas.microsoft.com/office/drawing/2014/main" id="{77FFF02D-A8ED-8843-B31A-AFDE69261198}"/>
              </a:ext>
            </a:extLst>
          </p:cNvPr>
          <p:cNvCxnSpPr>
            <a:cxnSpLocks/>
            <a:endCxn id="7" idx="1"/>
          </p:cNvCxnSpPr>
          <p:nvPr/>
        </p:nvCxnSpPr>
        <p:spPr>
          <a:xfrm rot="5400000" flipH="1" flipV="1">
            <a:off x="3088220" y="1997987"/>
            <a:ext cx="472965" cy="1154666"/>
          </a:xfrm>
          <a:prstGeom prst="bentConnector2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985D38A5-3B9C-7543-A955-FFF40ADEF916}"/>
              </a:ext>
            </a:extLst>
          </p:cNvPr>
          <p:cNvSpPr txBox="1"/>
          <p:nvPr/>
        </p:nvSpPr>
        <p:spPr>
          <a:xfrm>
            <a:off x="2757009" y="2343444"/>
            <a:ext cx="7425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Xtrain</a:t>
            </a:r>
            <a:endParaRPr lang="en-US" sz="1200" dirty="0">
              <a:latin typeface="Courier" pitchFamily="2" charset="0"/>
            </a:endParaRPr>
          </a:p>
        </p:txBody>
      </p: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7C0AFF82-2FA7-094D-A8E3-C6AFCA08FE44}"/>
              </a:ext>
            </a:extLst>
          </p:cNvPr>
          <p:cNvCxnSpPr>
            <a:cxnSpLocks/>
            <a:stCxn id="26" idx="3"/>
            <a:endCxn id="45" idx="1"/>
          </p:cNvCxnSpPr>
          <p:nvPr/>
        </p:nvCxnSpPr>
        <p:spPr>
          <a:xfrm>
            <a:off x="8279013" y="2338694"/>
            <a:ext cx="297402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B0086021-8CB2-EC47-AD49-94705C6D6C8E}"/>
              </a:ext>
            </a:extLst>
          </p:cNvPr>
          <p:cNvSpPr txBox="1"/>
          <p:nvPr/>
        </p:nvSpPr>
        <p:spPr>
          <a:xfrm>
            <a:off x="4556566" y="614591"/>
            <a:ext cx="130035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Xtrain_clean</a:t>
            </a:r>
            <a:endParaRPr lang="en-US" sz="1200" dirty="0">
              <a:latin typeface="Courier" pitchFamily="2" charset="0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C7D38ABA-5393-9045-8FC6-7871AF55F7C2}"/>
              </a:ext>
            </a:extLst>
          </p:cNvPr>
          <p:cNvSpPr txBox="1"/>
          <p:nvPr/>
        </p:nvSpPr>
        <p:spPr>
          <a:xfrm>
            <a:off x="6193223" y="614590"/>
            <a:ext cx="12073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Xtrain_norm</a:t>
            </a:r>
            <a:endParaRPr lang="en-US" sz="1200" dirty="0">
              <a:latin typeface="Courier" pitchFamily="2" charset="0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603A48E1-28AE-D44D-8AFE-840C09CEB274}"/>
              </a:ext>
            </a:extLst>
          </p:cNvPr>
          <p:cNvSpPr txBox="1"/>
          <p:nvPr/>
        </p:nvSpPr>
        <p:spPr>
          <a:xfrm>
            <a:off x="7833438" y="470897"/>
            <a:ext cx="11144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 err="1">
                <a:latin typeface="Courier" pitchFamily="2" charset="0"/>
              </a:rPr>
              <a:t>Xtrain_sfs</a:t>
            </a:r>
            <a:endParaRPr lang="en-US" sz="1200" dirty="0">
              <a:latin typeface="Courier" pitchFamily="2" charset="0"/>
            </a:endParaRPr>
          </a:p>
          <a:p>
            <a:pPr algn="ctr"/>
            <a:r>
              <a:rPr lang="en-US" sz="1200" dirty="0" err="1">
                <a:latin typeface="Courier" pitchFamily="2" charset="0"/>
              </a:rPr>
              <a:t>Xtrain_ex</a:t>
            </a:r>
            <a:endParaRPr lang="en-US" sz="1200" dirty="0">
              <a:latin typeface="Courier" pitchFamily="2" charset="0"/>
            </a:endParaRPr>
          </a:p>
        </p:txBody>
      </p: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3EE689BD-4868-6946-B507-A1ED7FF02394}"/>
              </a:ext>
            </a:extLst>
          </p:cNvPr>
          <p:cNvCxnSpPr/>
          <p:nvPr/>
        </p:nvCxnSpPr>
        <p:spPr>
          <a:xfrm>
            <a:off x="5201171" y="927598"/>
            <a:ext cx="0" cy="1395476"/>
          </a:xfrm>
          <a:prstGeom prst="line">
            <a:avLst/>
          </a:prstGeom>
          <a:ln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A2635A68-5893-AF4B-A04D-95A1CEB0CBBF}"/>
              </a:ext>
            </a:extLst>
          </p:cNvPr>
          <p:cNvCxnSpPr/>
          <p:nvPr/>
        </p:nvCxnSpPr>
        <p:spPr>
          <a:xfrm>
            <a:off x="6809271" y="928660"/>
            <a:ext cx="0" cy="1395476"/>
          </a:xfrm>
          <a:prstGeom prst="line">
            <a:avLst/>
          </a:prstGeom>
          <a:ln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CA67F10A-889D-884D-B2BD-6EC9996BC823}"/>
              </a:ext>
            </a:extLst>
          </p:cNvPr>
          <p:cNvCxnSpPr/>
          <p:nvPr/>
        </p:nvCxnSpPr>
        <p:spPr>
          <a:xfrm>
            <a:off x="8395459" y="935334"/>
            <a:ext cx="0" cy="1395476"/>
          </a:xfrm>
          <a:prstGeom prst="line">
            <a:avLst/>
          </a:prstGeom>
          <a:ln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AF273D68-4D6A-8097-A028-FBB59C8B361E}"/>
              </a:ext>
            </a:extLst>
          </p:cNvPr>
          <p:cNvSpPr/>
          <p:nvPr/>
        </p:nvSpPr>
        <p:spPr>
          <a:xfrm>
            <a:off x="2009553" y="1435395"/>
            <a:ext cx="361507" cy="14991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24937CA-A3E7-40BF-2BB3-280A44C49C9C}"/>
              </a:ext>
            </a:extLst>
          </p:cNvPr>
          <p:cNvSpPr/>
          <p:nvPr/>
        </p:nvSpPr>
        <p:spPr>
          <a:xfrm>
            <a:off x="2449964" y="2184990"/>
            <a:ext cx="361507" cy="14991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7636228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E71543-C18D-215F-2BBA-2405A5C99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A893642-4C85-FB3E-2E23-643205AE7CBE}"/>
              </a:ext>
            </a:extLst>
          </p:cNvPr>
          <p:cNvSpPr/>
          <p:nvPr/>
        </p:nvSpPr>
        <p:spPr>
          <a:xfrm>
            <a:off x="3902035" y="1865871"/>
            <a:ext cx="1185494" cy="9459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Cleaning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15CEF8AF-2CD5-DF51-7BBC-A4B130041157}"/>
              </a:ext>
            </a:extLst>
          </p:cNvPr>
          <p:cNvSpPr/>
          <p:nvPr/>
        </p:nvSpPr>
        <p:spPr>
          <a:xfrm>
            <a:off x="5388960" y="1865871"/>
            <a:ext cx="1296324" cy="9459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Normalization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5B7F85E-DA01-A85E-AAFC-E3BBB5F2F058}"/>
              </a:ext>
            </a:extLst>
          </p:cNvPr>
          <p:cNvCxnSpPr>
            <a:cxnSpLocks/>
            <a:stCxn id="7" idx="3"/>
            <a:endCxn id="18" idx="1"/>
          </p:cNvCxnSpPr>
          <p:nvPr/>
        </p:nvCxnSpPr>
        <p:spPr>
          <a:xfrm>
            <a:off x="5087529" y="2338837"/>
            <a:ext cx="301431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97248276-B78B-3F80-A469-2D1D3C00F7A8}"/>
              </a:ext>
            </a:extLst>
          </p:cNvPr>
          <p:cNvSpPr/>
          <p:nvPr/>
        </p:nvSpPr>
        <p:spPr>
          <a:xfrm>
            <a:off x="6982689" y="1865728"/>
            <a:ext cx="1296324" cy="9459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Selection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11688A9-CDC7-E84B-4D55-F3ECA50072D1}"/>
              </a:ext>
            </a:extLst>
          </p:cNvPr>
          <p:cNvCxnSpPr>
            <a:cxnSpLocks/>
            <a:stCxn id="18" idx="3"/>
            <a:endCxn id="26" idx="1"/>
          </p:cNvCxnSpPr>
          <p:nvPr/>
        </p:nvCxnSpPr>
        <p:spPr>
          <a:xfrm flipV="1">
            <a:off x="6685284" y="2338694"/>
            <a:ext cx="297405" cy="143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55EE2421-7AD7-04D7-8CE5-082FE981AE19}"/>
              </a:ext>
            </a:extLst>
          </p:cNvPr>
          <p:cNvSpPr/>
          <p:nvPr/>
        </p:nvSpPr>
        <p:spPr>
          <a:xfrm>
            <a:off x="8576415" y="1865728"/>
            <a:ext cx="1556125" cy="9459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Training</a:t>
            </a:r>
          </a:p>
        </p:txBody>
      </p:sp>
      <p:cxnSp>
        <p:nvCxnSpPr>
          <p:cNvPr id="62" name="Elbow Connector 61">
            <a:extLst>
              <a:ext uri="{FF2B5EF4-FFF2-40B4-BE49-F238E27FC236}">
                <a16:creationId xmlns:a16="http://schemas.microsoft.com/office/drawing/2014/main" id="{B30A7A4E-D250-3882-40DF-B10577864968}"/>
              </a:ext>
            </a:extLst>
          </p:cNvPr>
          <p:cNvCxnSpPr>
            <a:cxnSpLocks/>
            <a:endCxn id="7" idx="1"/>
          </p:cNvCxnSpPr>
          <p:nvPr/>
        </p:nvCxnSpPr>
        <p:spPr>
          <a:xfrm rot="5400000" flipH="1" flipV="1">
            <a:off x="3088220" y="1997987"/>
            <a:ext cx="472965" cy="1154666"/>
          </a:xfrm>
          <a:prstGeom prst="bentConnector2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8D9AB737-F5B8-2D7A-E34E-6DB6DBD4B82F}"/>
              </a:ext>
            </a:extLst>
          </p:cNvPr>
          <p:cNvSpPr txBox="1"/>
          <p:nvPr/>
        </p:nvSpPr>
        <p:spPr>
          <a:xfrm>
            <a:off x="2298403" y="1645429"/>
            <a:ext cx="7425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ytrain</a:t>
            </a:r>
            <a:endParaRPr lang="en-US" sz="1200" dirty="0">
              <a:latin typeface="Courier" pitchFamily="2" charset="0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7080942-1B88-49CD-1B78-3B87DB49E9FD}"/>
              </a:ext>
            </a:extLst>
          </p:cNvPr>
          <p:cNvSpPr txBox="1"/>
          <p:nvPr/>
        </p:nvSpPr>
        <p:spPr>
          <a:xfrm>
            <a:off x="2757009" y="2343444"/>
            <a:ext cx="7425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Xtrain</a:t>
            </a:r>
            <a:endParaRPr lang="en-US" sz="1200" dirty="0">
              <a:latin typeface="Courier" pitchFamily="2" charset="0"/>
            </a:endParaRPr>
          </a:p>
        </p:txBody>
      </p:sp>
      <p:cxnSp>
        <p:nvCxnSpPr>
          <p:cNvPr id="76" name="Elbow Connector 75">
            <a:extLst>
              <a:ext uri="{FF2B5EF4-FFF2-40B4-BE49-F238E27FC236}">
                <a16:creationId xmlns:a16="http://schemas.microsoft.com/office/drawing/2014/main" id="{A7B420C0-FD5B-178B-22CE-231D8FB76DF8}"/>
              </a:ext>
            </a:extLst>
          </p:cNvPr>
          <p:cNvCxnSpPr>
            <a:cxnSpLocks/>
            <a:endCxn id="26" idx="0"/>
          </p:cNvCxnSpPr>
          <p:nvPr/>
        </p:nvCxnSpPr>
        <p:spPr>
          <a:xfrm rot="5400000" flipH="1" flipV="1">
            <a:off x="4493650" y="-325399"/>
            <a:ext cx="946074" cy="5328328"/>
          </a:xfrm>
          <a:prstGeom prst="bentConnector3">
            <a:avLst>
              <a:gd name="adj1" fmla="val 124163"/>
            </a:avLst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6B5C8648-C796-B3D8-473C-B960A64BD317}"/>
              </a:ext>
            </a:extLst>
          </p:cNvPr>
          <p:cNvCxnSpPr>
            <a:cxnSpLocks/>
            <a:stCxn id="26" idx="3"/>
            <a:endCxn id="45" idx="1"/>
          </p:cNvCxnSpPr>
          <p:nvPr/>
        </p:nvCxnSpPr>
        <p:spPr>
          <a:xfrm>
            <a:off x="8279013" y="2338694"/>
            <a:ext cx="297402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92" name="Elbow Connector 91">
            <a:extLst>
              <a:ext uri="{FF2B5EF4-FFF2-40B4-BE49-F238E27FC236}">
                <a16:creationId xmlns:a16="http://schemas.microsoft.com/office/drawing/2014/main" id="{0E3E8934-9ED8-BB69-9407-A37F40FD1188}"/>
              </a:ext>
            </a:extLst>
          </p:cNvPr>
          <p:cNvCxnSpPr>
            <a:cxnSpLocks/>
            <a:endCxn id="45" idx="0"/>
          </p:cNvCxnSpPr>
          <p:nvPr/>
        </p:nvCxnSpPr>
        <p:spPr>
          <a:xfrm rot="5400000" flipH="1" flipV="1">
            <a:off x="5355463" y="-1187212"/>
            <a:ext cx="946074" cy="7051955"/>
          </a:xfrm>
          <a:prstGeom prst="bentConnector3">
            <a:avLst>
              <a:gd name="adj1" fmla="val 124163"/>
            </a:avLst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2ABA2517-C910-125B-F493-3145B3734DFA}"/>
              </a:ext>
            </a:extLst>
          </p:cNvPr>
          <p:cNvSpPr txBox="1"/>
          <p:nvPr/>
        </p:nvSpPr>
        <p:spPr>
          <a:xfrm>
            <a:off x="4556566" y="614591"/>
            <a:ext cx="130035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Xtrain_clean</a:t>
            </a:r>
            <a:endParaRPr lang="en-US" sz="1200" dirty="0">
              <a:latin typeface="Courier" pitchFamily="2" charset="0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C96B4084-CCD6-1068-714F-CAA3E4B64DA0}"/>
              </a:ext>
            </a:extLst>
          </p:cNvPr>
          <p:cNvSpPr txBox="1"/>
          <p:nvPr/>
        </p:nvSpPr>
        <p:spPr>
          <a:xfrm>
            <a:off x="6193223" y="614590"/>
            <a:ext cx="12073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Xtrain_norm</a:t>
            </a:r>
            <a:endParaRPr lang="en-US" sz="1200" dirty="0">
              <a:latin typeface="Courier" pitchFamily="2" charset="0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4A15C95C-75D4-BD08-A535-927E3159F2FA}"/>
              </a:ext>
            </a:extLst>
          </p:cNvPr>
          <p:cNvSpPr txBox="1"/>
          <p:nvPr/>
        </p:nvSpPr>
        <p:spPr>
          <a:xfrm>
            <a:off x="7833438" y="470897"/>
            <a:ext cx="11144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 err="1">
                <a:latin typeface="Courier" pitchFamily="2" charset="0"/>
              </a:rPr>
              <a:t>Xtrain_sfs</a:t>
            </a:r>
            <a:endParaRPr lang="en-US" sz="1200" dirty="0">
              <a:latin typeface="Courier" pitchFamily="2" charset="0"/>
            </a:endParaRPr>
          </a:p>
          <a:p>
            <a:pPr algn="ctr"/>
            <a:r>
              <a:rPr lang="en-US" sz="1200" dirty="0" err="1">
                <a:latin typeface="Courier" pitchFamily="2" charset="0"/>
              </a:rPr>
              <a:t>Xtrain_ex</a:t>
            </a:r>
            <a:endParaRPr lang="en-US" sz="1200" dirty="0">
              <a:latin typeface="Courier" pitchFamily="2" charset="0"/>
            </a:endParaRPr>
          </a:p>
        </p:txBody>
      </p: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43795E66-CC23-F3D4-3343-BC6760FF6DD9}"/>
              </a:ext>
            </a:extLst>
          </p:cNvPr>
          <p:cNvCxnSpPr/>
          <p:nvPr/>
        </p:nvCxnSpPr>
        <p:spPr>
          <a:xfrm>
            <a:off x="5201171" y="927598"/>
            <a:ext cx="0" cy="1395476"/>
          </a:xfrm>
          <a:prstGeom prst="line">
            <a:avLst/>
          </a:prstGeom>
          <a:ln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7CB07115-586D-5CB4-C621-666549CE733C}"/>
              </a:ext>
            </a:extLst>
          </p:cNvPr>
          <p:cNvCxnSpPr/>
          <p:nvPr/>
        </p:nvCxnSpPr>
        <p:spPr>
          <a:xfrm>
            <a:off x="6809271" y="928660"/>
            <a:ext cx="0" cy="1395476"/>
          </a:xfrm>
          <a:prstGeom prst="line">
            <a:avLst/>
          </a:prstGeom>
          <a:ln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52FAE3CA-3796-F0F7-803B-5A07E442CFCA}"/>
              </a:ext>
            </a:extLst>
          </p:cNvPr>
          <p:cNvCxnSpPr/>
          <p:nvPr/>
        </p:nvCxnSpPr>
        <p:spPr>
          <a:xfrm>
            <a:off x="8395459" y="935334"/>
            <a:ext cx="0" cy="1395476"/>
          </a:xfrm>
          <a:prstGeom prst="line">
            <a:avLst/>
          </a:prstGeom>
          <a:ln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7DC59B56-E805-2565-A846-9B1A551579B3}"/>
              </a:ext>
            </a:extLst>
          </p:cNvPr>
          <p:cNvSpPr/>
          <p:nvPr/>
        </p:nvSpPr>
        <p:spPr>
          <a:xfrm>
            <a:off x="2009553" y="1435395"/>
            <a:ext cx="361507" cy="14991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DC2FF84-04F4-FF80-66E3-6EBC865C8ACF}"/>
              </a:ext>
            </a:extLst>
          </p:cNvPr>
          <p:cNvSpPr/>
          <p:nvPr/>
        </p:nvSpPr>
        <p:spPr>
          <a:xfrm>
            <a:off x="2449964" y="2184990"/>
            <a:ext cx="361507" cy="14991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0316457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034543-10E7-46CF-4866-D2966E11B4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4842555-9DCF-AEA3-7778-5041815B22B6}"/>
              </a:ext>
            </a:extLst>
          </p:cNvPr>
          <p:cNvSpPr/>
          <p:nvPr/>
        </p:nvSpPr>
        <p:spPr>
          <a:xfrm>
            <a:off x="3902035" y="1865871"/>
            <a:ext cx="1185494" cy="9459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Cleaning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5C1C7E2-0671-C988-2459-5DF7C131A228}"/>
              </a:ext>
            </a:extLst>
          </p:cNvPr>
          <p:cNvCxnSpPr>
            <a:cxnSpLocks/>
            <a:stCxn id="7" idx="2"/>
          </p:cNvCxnSpPr>
          <p:nvPr/>
        </p:nvCxnSpPr>
        <p:spPr>
          <a:xfrm flipH="1">
            <a:off x="4494781" y="2811802"/>
            <a:ext cx="1" cy="945931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4C2DD45A-F4D8-0287-CEED-BC4F53B67AA8}"/>
              </a:ext>
            </a:extLst>
          </p:cNvPr>
          <p:cNvSpPr/>
          <p:nvPr/>
        </p:nvSpPr>
        <p:spPr>
          <a:xfrm>
            <a:off x="5388960" y="1865871"/>
            <a:ext cx="1296324" cy="9459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Normalization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934E459-4FBA-77A5-DA36-01F4C61D6BA9}"/>
              </a:ext>
            </a:extLst>
          </p:cNvPr>
          <p:cNvCxnSpPr>
            <a:cxnSpLocks/>
            <a:stCxn id="18" idx="2"/>
          </p:cNvCxnSpPr>
          <p:nvPr/>
        </p:nvCxnSpPr>
        <p:spPr>
          <a:xfrm flipH="1">
            <a:off x="6037121" y="2811802"/>
            <a:ext cx="1" cy="945931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BFF73E4-D841-F4C8-5EC6-F615F42DDE8E}"/>
              </a:ext>
            </a:extLst>
          </p:cNvPr>
          <p:cNvCxnSpPr>
            <a:cxnSpLocks/>
            <a:stCxn id="7" idx="3"/>
            <a:endCxn id="18" idx="1"/>
          </p:cNvCxnSpPr>
          <p:nvPr/>
        </p:nvCxnSpPr>
        <p:spPr>
          <a:xfrm>
            <a:off x="5087529" y="2338837"/>
            <a:ext cx="301431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74A608B3-CE6E-C43F-2642-67634C49C8F1}"/>
              </a:ext>
            </a:extLst>
          </p:cNvPr>
          <p:cNvSpPr/>
          <p:nvPr/>
        </p:nvSpPr>
        <p:spPr>
          <a:xfrm>
            <a:off x="6982689" y="1865728"/>
            <a:ext cx="1296324" cy="9459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Selection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7669CFB9-8354-F40D-0ECD-B22D01B5F421}"/>
              </a:ext>
            </a:extLst>
          </p:cNvPr>
          <p:cNvCxnSpPr>
            <a:cxnSpLocks/>
            <a:stCxn id="26" idx="2"/>
          </p:cNvCxnSpPr>
          <p:nvPr/>
        </p:nvCxnSpPr>
        <p:spPr>
          <a:xfrm flipH="1">
            <a:off x="7630850" y="2811659"/>
            <a:ext cx="1" cy="945931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694F57A3-94E9-2716-A4FF-22346EFB4425}"/>
              </a:ext>
            </a:extLst>
          </p:cNvPr>
          <p:cNvCxnSpPr>
            <a:cxnSpLocks/>
            <a:stCxn id="18" idx="3"/>
            <a:endCxn id="26" idx="1"/>
          </p:cNvCxnSpPr>
          <p:nvPr/>
        </p:nvCxnSpPr>
        <p:spPr>
          <a:xfrm flipV="1">
            <a:off x="6685284" y="2338694"/>
            <a:ext cx="297405" cy="143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2F9AE7E8-2139-6310-3B89-41422DB1061F}"/>
              </a:ext>
            </a:extLst>
          </p:cNvPr>
          <p:cNvSpPr/>
          <p:nvPr/>
        </p:nvSpPr>
        <p:spPr>
          <a:xfrm>
            <a:off x="8576415" y="1865728"/>
            <a:ext cx="1556125" cy="9459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Training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022C39B8-3288-1929-597E-09DC5EEC7393}"/>
              </a:ext>
            </a:extLst>
          </p:cNvPr>
          <p:cNvCxnSpPr>
            <a:cxnSpLocks/>
            <a:stCxn id="45" idx="2"/>
          </p:cNvCxnSpPr>
          <p:nvPr/>
        </p:nvCxnSpPr>
        <p:spPr>
          <a:xfrm>
            <a:off x="9354478" y="2811659"/>
            <a:ext cx="0" cy="945931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62" name="Elbow Connector 61">
            <a:extLst>
              <a:ext uri="{FF2B5EF4-FFF2-40B4-BE49-F238E27FC236}">
                <a16:creationId xmlns:a16="http://schemas.microsoft.com/office/drawing/2014/main" id="{7A542E69-6FE7-CFFD-266C-E68DF226A33A}"/>
              </a:ext>
            </a:extLst>
          </p:cNvPr>
          <p:cNvCxnSpPr>
            <a:cxnSpLocks/>
            <a:endCxn id="7" idx="1"/>
          </p:cNvCxnSpPr>
          <p:nvPr/>
        </p:nvCxnSpPr>
        <p:spPr>
          <a:xfrm rot="5400000" flipH="1" flipV="1">
            <a:off x="3088220" y="1997987"/>
            <a:ext cx="472965" cy="1154666"/>
          </a:xfrm>
          <a:prstGeom prst="bentConnector2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AD903CBF-F518-3107-2CFB-C36F7AFEFB83}"/>
              </a:ext>
            </a:extLst>
          </p:cNvPr>
          <p:cNvSpPr txBox="1"/>
          <p:nvPr/>
        </p:nvSpPr>
        <p:spPr>
          <a:xfrm>
            <a:off x="2298403" y="1645429"/>
            <a:ext cx="7425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ytrain</a:t>
            </a:r>
            <a:endParaRPr lang="en-US" sz="1200" dirty="0">
              <a:latin typeface="Courier" pitchFamily="2" charset="0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1915813-F6E9-8825-F993-A041A8D7E5BD}"/>
              </a:ext>
            </a:extLst>
          </p:cNvPr>
          <p:cNvSpPr txBox="1"/>
          <p:nvPr/>
        </p:nvSpPr>
        <p:spPr>
          <a:xfrm>
            <a:off x="2757009" y="2343444"/>
            <a:ext cx="7425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Xtrain</a:t>
            </a:r>
            <a:endParaRPr lang="en-US" sz="1200" dirty="0">
              <a:latin typeface="Courier" pitchFamily="2" charset="0"/>
            </a:endParaRPr>
          </a:p>
        </p:txBody>
      </p:sp>
      <p:cxnSp>
        <p:nvCxnSpPr>
          <p:cNvPr id="76" name="Elbow Connector 75">
            <a:extLst>
              <a:ext uri="{FF2B5EF4-FFF2-40B4-BE49-F238E27FC236}">
                <a16:creationId xmlns:a16="http://schemas.microsoft.com/office/drawing/2014/main" id="{2AB2503C-BBFE-FFBC-067C-770F74D45AFB}"/>
              </a:ext>
            </a:extLst>
          </p:cNvPr>
          <p:cNvCxnSpPr>
            <a:cxnSpLocks/>
            <a:endCxn id="26" idx="0"/>
          </p:cNvCxnSpPr>
          <p:nvPr/>
        </p:nvCxnSpPr>
        <p:spPr>
          <a:xfrm rot="5400000" flipH="1" flipV="1">
            <a:off x="4493650" y="-325399"/>
            <a:ext cx="946074" cy="5328328"/>
          </a:xfrm>
          <a:prstGeom prst="bentConnector3">
            <a:avLst>
              <a:gd name="adj1" fmla="val 124163"/>
            </a:avLst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4F09FE7F-B389-8A7E-6CB6-A18444E08EE9}"/>
              </a:ext>
            </a:extLst>
          </p:cNvPr>
          <p:cNvCxnSpPr>
            <a:cxnSpLocks/>
            <a:stCxn id="26" idx="3"/>
            <a:endCxn id="45" idx="1"/>
          </p:cNvCxnSpPr>
          <p:nvPr/>
        </p:nvCxnSpPr>
        <p:spPr>
          <a:xfrm>
            <a:off x="8279013" y="2338694"/>
            <a:ext cx="297402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92" name="Elbow Connector 91">
            <a:extLst>
              <a:ext uri="{FF2B5EF4-FFF2-40B4-BE49-F238E27FC236}">
                <a16:creationId xmlns:a16="http://schemas.microsoft.com/office/drawing/2014/main" id="{A028008D-B8C4-94EB-09CD-64A0D62991CC}"/>
              </a:ext>
            </a:extLst>
          </p:cNvPr>
          <p:cNvCxnSpPr>
            <a:cxnSpLocks/>
            <a:endCxn id="45" idx="0"/>
          </p:cNvCxnSpPr>
          <p:nvPr/>
        </p:nvCxnSpPr>
        <p:spPr>
          <a:xfrm rot="5400000" flipH="1" flipV="1">
            <a:off x="5355463" y="-1187212"/>
            <a:ext cx="946074" cy="7051955"/>
          </a:xfrm>
          <a:prstGeom prst="bentConnector3">
            <a:avLst>
              <a:gd name="adj1" fmla="val 124163"/>
            </a:avLst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FEBF12D7-E357-9FF4-3444-289000677D5F}"/>
              </a:ext>
            </a:extLst>
          </p:cNvPr>
          <p:cNvSpPr txBox="1"/>
          <p:nvPr/>
        </p:nvSpPr>
        <p:spPr>
          <a:xfrm>
            <a:off x="4556566" y="614591"/>
            <a:ext cx="130035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Xtrain_clean</a:t>
            </a:r>
            <a:endParaRPr lang="en-US" sz="1200" dirty="0">
              <a:latin typeface="Courier" pitchFamily="2" charset="0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09FC7317-8CE0-8DC2-07DC-C016DEAF2002}"/>
              </a:ext>
            </a:extLst>
          </p:cNvPr>
          <p:cNvSpPr txBox="1"/>
          <p:nvPr/>
        </p:nvSpPr>
        <p:spPr>
          <a:xfrm>
            <a:off x="6193223" y="614590"/>
            <a:ext cx="12073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Xtrain_norm</a:t>
            </a:r>
            <a:endParaRPr lang="en-US" sz="1200" dirty="0">
              <a:latin typeface="Courier" pitchFamily="2" charset="0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462C3058-F658-71BA-6E81-8C418F5F227D}"/>
              </a:ext>
            </a:extLst>
          </p:cNvPr>
          <p:cNvSpPr txBox="1"/>
          <p:nvPr/>
        </p:nvSpPr>
        <p:spPr>
          <a:xfrm>
            <a:off x="7833438" y="470897"/>
            <a:ext cx="11144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 err="1">
                <a:latin typeface="Courier" pitchFamily="2" charset="0"/>
              </a:rPr>
              <a:t>Xtrain_sfs</a:t>
            </a:r>
            <a:endParaRPr lang="en-US" sz="1200" dirty="0">
              <a:latin typeface="Courier" pitchFamily="2" charset="0"/>
            </a:endParaRPr>
          </a:p>
          <a:p>
            <a:pPr algn="ctr"/>
            <a:r>
              <a:rPr lang="en-US" sz="1200" dirty="0" err="1">
                <a:latin typeface="Courier" pitchFamily="2" charset="0"/>
              </a:rPr>
              <a:t>Xtrain_ex</a:t>
            </a:r>
            <a:endParaRPr lang="en-US" sz="1200" dirty="0">
              <a:latin typeface="Courier" pitchFamily="2" charset="0"/>
            </a:endParaRPr>
          </a:p>
        </p:txBody>
      </p: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9197ED0B-411C-5428-2B55-7882F12A837D}"/>
              </a:ext>
            </a:extLst>
          </p:cNvPr>
          <p:cNvCxnSpPr/>
          <p:nvPr/>
        </p:nvCxnSpPr>
        <p:spPr>
          <a:xfrm>
            <a:off x="5201171" y="927598"/>
            <a:ext cx="0" cy="1395476"/>
          </a:xfrm>
          <a:prstGeom prst="line">
            <a:avLst/>
          </a:prstGeom>
          <a:ln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A7D82415-DF54-474E-FC13-1F3778320C54}"/>
              </a:ext>
            </a:extLst>
          </p:cNvPr>
          <p:cNvCxnSpPr/>
          <p:nvPr/>
        </p:nvCxnSpPr>
        <p:spPr>
          <a:xfrm>
            <a:off x="6809271" y="928660"/>
            <a:ext cx="0" cy="1395476"/>
          </a:xfrm>
          <a:prstGeom prst="line">
            <a:avLst/>
          </a:prstGeom>
          <a:ln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C03C4B2C-5683-494F-347A-DD4AE0D5DF95}"/>
              </a:ext>
            </a:extLst>
          </p:cNvPr>
          <p:cNvCxnSpPr/>
          <p:nvPr/>
        </p:nvCxnSpPr>
        <p:spPr>
          <a:xfrm>
            <a:off x="8395459" y="935334"/>
            <a:ext cx="0" cy="1395476"/>
          </a:xfrm>
          <a:prstGeom prst="line">
            <a:avLst/>
          </a:prstGeom>
          <a:ln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30D03C4E-BA04-8B14-E04A-75120F4785F2}"/>
              </a:ext>
            </a:extLst>
          </p:cNvPr>
          <p:cNvSpPr txBox="1"/>
          <p:nvPr/>
        </p:nvSpPr>
        <p:spPr>
          <a:xfrm>
            <a:off x="4516551" y="3106086"/>
            <a:ext cx="7425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sclean</a:t>
            </a:r>
            <a:endParaRPr lang="en-US" sz="1200" dirty="0">
              <a:latin typeface="Courier" pitchFamily="2" charset="0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C4D52E93-20B1-93B4-7CC9-BBECC7101B14}"/>
              </a:ext>
            </a:extLst>
          </p:cNvPr>
          <p:cNvSpPr txBox="1"/>
          <p:nvPr/>
        </p:nvSpPr>
        <p:spPr>
          <a:xfrm>
            <a:off x="6040070" y="3106085"/>
            <a:ext cx="4635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a,b</a:t>
            </a:r>
            <a:endParaRPr lang="en-US" sz="1200" dirty="0">
              <a:latin typeface="Courier" pitchFamily="2" charset="0"/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008C8306-5671-552A-39DA-C2EDE2CA39BD}"/>
              </a:ext>
            </a:extLst>
          </p:cNvPr>
          <p:cNvSpPr txBox="1"/>
          <p:nvPr/>
        </p:nvSpPr>
        <p:spPr>
          <a:xfrm>
            <a:off x="7625162" y="3100268"/>
            <a:ext cx="4635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sel</a:t>
            </a:r>
            <a:endParaRPr lang="en-US" sz="1200" dirty="0">
              <a:latin typeface="Courier" pitchFamily="2" charset="0"/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F3F37683-D035-9552-ABA2-0365F3C4F859}"/>
              </a:ext>
            </a:extLst>
          </p:cNvPr>
          <p:cNvSpPr txBox="1"/>
          <p:nvPr/>
        </p:nvSpPr>
        <p:spPr>
          <a:xfrm>
            <a:off x="9398703" y="3027382"/>
            <a:ext cx="6896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Gill Sans MT" panose="020B0502020104020203" pitchFamily="34" charset="77"/>
              </a:rPr>
              <a:t>Learned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Model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144B8C3-5BAB-425F-C362-2D4C88B846D6}"/>
              </a:ext>
            </a:extLst>
          </p:cNvPr>
          <p:cNvSpPr/>
          <p:nvPr/>
        </p:nvSpPr>
        <p:spPr>
          <a:xfrm>
            <a:off x="2009553" y="1435395"/>
            <a:ext cx="361507" cy="14991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2E28AD0-F48A-FB4B-AB7E-33006E163D6F}"/>
              </a:ext>
            </a:extLst>
          </p:cNvPr>
          <p:cNvSpPr/>
          <p:nvPr/>
        </p:nvSpPr>
        <p:spPr>
          <a:xfrm>
            <a:off x="2449964" y="2184990"/>
            <a:ext cx="361507" cy="14991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7497550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466EBE-F290-DA8F-BF97-0FB46A78FA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7045FC1-05C1-7A70-49D6-E30D8677CEAD}"/>
              </a:ext>
            </a:extLst>
          </p:cNvPr>
          <p:cNvSpPr txBox="1"/>
          <p:nvPr/>
        </p:nvSpPr>
        <p:spPr>
          <a:xfrm>
            <a:off x="280530" y="2964032"/>
            <a:ext cx="11848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Features &amp;</a:t>
            </a:r>
          </a:p>
          <a:p>
            <a:pPr algn="ctr"/>
            <a:r>
              <a:rPr lang="en-US" dirty="0">
                <a:latin typeface="Gill Sans MT" panose="020B0502020104020203" pitchFamily="34" charset="77"/>
              </a:rPr>
              <a:t>Labels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2D6EB73-CF55-E8F7-CF70-69ADAA739CA1}"/>
              </a:ext>
            </a:extLst>
          </p:cNvPr>
          <p:cNvSpPr/>
          <p:nvPr/>
        </p:nvSpPr>
        <p:spPr>
          <a:xfrm>
            <a:off x="3902035" y="1865871"/>
            <a:ext cx="1185494" cy="9459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Cleaning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F5A1C387-AECA-D51C-D15F-150956C25406}"/>
              </a:ext>
            </a:extLst>
          </p:cNvPr>
          <p:cNvSpPr/>
          <p:nvPr/>
        </p:nvSpPr>
        <p:spPr>
          <a:xfrm>
            <a:off x="3902034" y="3757733"/>
            <a:ext cx="1185494" cy="9459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Clean</a:t>
            </a:r>
          </a:p>
          <a:p>
            <a:pPr algn="ctr"/>
            <a:r>
              <a:rPr lang="en-US" dirty="0">
                <a:latin typeface="Gill Sans MT" panose="020B0502020104020203" pitchFamily="34" charset="77"/>
              </a:rPr>
              <a:t>Features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BC0E716-73B4-0201-C32D-905F3483DB46}"/>
              </a:ext>
            </a:extLst>
          </p:cNvPr>
          <p:cNvCxnSpPr>
            <a:cxnSpLocks/>
            <a:stCxn id="7" idx="2"/>
            <a:endCxn id="10" idx="0"/>
          </p:cNvCxnSpPr>
          <p:nvPr/>
        </p:nvCxnSpPr>
        <p:spPr>
          <a:xfrm flipH="1">
            <a:off x="4494781" y="2811802"/>
            <a:ext cx="1" cy="945931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EE2F4FD6-637B-1E3F-DD72-DF3E8E99D5D7}"/>
              </a:ext>
            </a:extLst>
          </p:cNvPr>
          <p:cNvSpPr/>
          <p:nvPr/>
        </p:nvSpPr>
        <p:spPr>
          <a:xfrm>
            <a:off x="5388960" y="1865871"/>
            <a:ext cx="1296324" cy="9459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Normalization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7E9F21FE-A2F5-C991-81D0-52376998D1F6}"/>
              </a:ext>
            </a:extLst>
          </p:cNvPr>
          <p:cNvSpPr/>
          <p:nvPr/>
        </p:nvSpPr>
        <p:spPr>
          <a:xfrm>
            <a:off x="5388959" y="3757733"/>
            <a:ext cx="1296324" cy="9459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Normalize</a:t>
            </a:r>
          </a:p>
          <a:p>
            <a:pPr algn="ctr"/>
            <a:r>
              <a:rPr lang="en-US" dirty="0">
                <a:latin typeface="Gill Sans MT" panose="020B0502020104020203" pitchFamily="34" charset="77"/>
              </a:rPr>
              <a:t>Features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4507A86-55A4-E88B-1C8E-79711E7E8DA9}"/>
              </a:ext>
            </a:extLst>
          </p:cNvPr>
          <p:cNvCxnSpPr>
            <a:cxnSpLocks/>
            <a:stCxn id="18" idx="2"/>
            <a:endCxn id="19" idx="0"/>
          </p:cNvCxnSpPr>
          <p:nvPr/>
        </p:nvCxnSpPr>
        <p:spPr>
          <a:xfrm flipH="1">
            <a:off x="6037121" y="2811802"/>
            <a:ext cx="1" cy="945931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20B65A0-4658-7BA6-C115-B9F42B96DEC4}"/>
              </a:ext>
            </a:extLst>
          </p:cNvPr>
          <p:cNvCxnSpPr>
            <a:cxnSpLocks/>
            <a:stCxn id="7" idx="3"/>
            <a:endCxn id="18" idx="1"/>
          </p:cNvCxnSpPr>
          <p:nvPr/>
        </p:nvCxnSpPr>
        <p:spPr>
          <a:xfrm>
            <a:off x="5087529" y="2338837"/>
            <a:ext cx="301431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2FF73424-75F5-B1F8-5C46-DB0AEEED208D}"/>
              </a:ext>
            </a:extLst>
          </p:cNvPr>
          <p:cNvSpPr/>
          <p:nvPr/>
        </p:nvSpPr>
        <p:spPr>
          <a:xfrm>
            <a:off x="6982689" y="1865728"/>
            <a:ext cx="1296324" cy="9459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Selection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EA95515A-9E36-6771-875B-041D5CADCB41}"/>
              </a:ext>
            </a:extLst>
          </p:cNvPr>
          <p:cNvSpPr/>
          <p:nvPr/>
        </p:nvSpPr>
        <p:spPr>
          <a:xfrm>
            <a:off x="6982688" y="3757590"/>
            <a:ext cx="1296324" cy="9459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Select</a:t>
            </a:r>
          </a:p>
          <a:p>
            <a:pPr algn="ctr"/>
            <a:r>
              <a:rPr lang="en-US" dirty="0">
                <a:latin typeface="Gill Sans MT" panose="020B0502020104020203" pitchFamily="34" charset="77"/>
              </a:rPr>
              <a:t>Features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2479780-2E7B-A478-0E64-CE591A6AC3CB}"/>
              </a:ext>
            </a:extLst>
          </p:cNvPr>
          <p:cNvCxnSpPr>
            <a:cxnSpLocks/>
            <a:stCxn id="26" idx="2"/>
            <a:endCxn id="27" idx="0"/>
          </p:cNvCxnSpPr>
          <p:nvPr/>
        </p:nvCxnSpPr>
        <p:spPr>
          <a:xfrm flipH="1">
            <a:off x="7630850" y="2811659"/>
            <a:ext cx="1" cy="945931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0456CCB-3BFB-E1AE-F186-C7D0D9A4F57C}"/>
              </a:ext>
            </a:extLst>
          </p:cNvPr>
          <p:cNvCxnSpPr>
            <a:cxnSpLocks/>
            <a:stCxn id="18" idx="3"/>
            <a:endCxn id="26" idx="1"/>
          </p:cNvCxnSpPr>
          <p:nvPr/>
        </p:nvCxnSpPr>
        <p:spPr>
          <a:xfrm flipV="1">
            <a:off x="6685284" y="2338694"/>
            <a:ext cx="297405" cy="143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E7617BD1-0BCC-4272-F65F-7BC0E1FB4CC6}"/>
              </a:ext>
            </a:extLst>
          </p:cNvPr>
          <p:cNvCxnSpPr>
            <a:cxnSpLocks/>
            <a:stCxn id="10" idx="3"/>
            <a:endCxn id="19" idx="1"/>
          </p:cNvCxnSpPr>
          <p:nvPr/>
        </p:nvCxnSpPr>
        <p:spPr>
          <a:xfrm>
            <a:off x="5087528" y="4230699"/>
            <a:ext cx="301431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02AA51E4-7863-94F1-853E-DE57A56A14B8}"/>
              </a:ext>
            </a:extLst>
          </p:cNvPr>
          <p:cNvCxnSpPr>
            <a:cxnSpLocks/>
            <a:stCxn id="19" idx="3"/>
            <a:endCxn id="27" idx="1"/>
          </p:cNvCxnSpPr>
          <p:nvPr/>
        </p:nvCxnSpPr>
        <p:spPr>
          <a:xfrm flipV="1">
            <a:off x="6685283" y="4230556"/>
            <a:ext cx="297405" cy="143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AFBDC59D-D534-7FF9-CCC5-C47E475C3D56}"/>
              </a:ext>
            </a:extLst>
          </p:cNvPr>
          <p:cNvSpPr/>
          <p:nvPr/>
        </p:nvSpPr>
        <p:spPr>
          <a:xfrm>
            <a:off x="8576415" y="1865728"/>
            <a:ext cx="1556125" cy="9459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Training</a:t>
            </a: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6F63050B-9F9D-1AFC-24BD-B25B4F7E6B84}"/>
              </a:ext>
            </a:extLst>
          </p:cNvPr>
          <p:cNvSpPr/>
          <p:nvPr/>
        </p:nvSpPr>
        <p:spPr>
          <a:xfrm>
            <a:off x="8576415" y="3757590"/>
            <a:ext cx="1556126" cy="9459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Classify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20A028AE-254C-CADD-A632-A93EDAAD978B}"/>
              </a:ext>
            </a:extLst>
          </p:cNvPr>
          <p:cNvCxnSpPr>
            <a:cxnSpLocks/>
            <a:stCxn id="45" idx="2"/>
            <a:endCxn id="46" idx="0"/>
          </p:cNvCxnSpPr>
          <p:nvPr/>
        </p:nvCxnSpPr>
        <p:spPr>
          <a:xfrm>
            <a:off x="9354478" y="2811659"/>
            <a:ext cx="0" cy="945931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C9107DE4-B27B-445C-BC9D-02968A6AD222}"/>
              </a:ext>
            </a:extLst>
          </p:cNvPr>
          <p:cNvCxnSpPr>
            <a:cxnSpLocks/>
            <a:stCxn id="27" idx="3"/>
            <a:endCxn id="46" idx="1"/>
          </p:cNvCxnSpPr>
          <p:nvPr/>
        </p:nvCxnSpPr>
        <p:spPr>
          <a:xfrm>
            <a:off x="8279012" y="4230556"/>
            <a:ext cx="297403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62" name="Elbow Connector 61">
            <a:extLst>
              <a:ext uri="{FF2B5EF4-FFF2-40B4-BE49-F238E27FC236}">
                <a16:creationId xmlns:a16="http://schemas.microsoft.com/office/drawing/2014/main" id="{4425E24E-9802-B18A-3E35-950B4DD4CA52}"/>
              </a:ext>
            </a:extLst>
          </p:cNvPr>
          <p:cNvCxnSpPr>
            <a:cxnSpLocks/>
            <a:endCxn id="7" idx="1"/>
          </p:cNvCxnSpPr>
          <p:nvPr/>
        </p:nvCxnSpPr>
        <p:spPr>
          <a:xfrm rot="5400000" flipH="1" flipV="1">
            <a:off x="3088220" y="1997987"/>
            <a:ext cx="472965" cy="1154666"/>
          </a:xfrm>
          <a:prstGeom prst="bentConnector2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6170A133-A26A-B274-F771-2D5C422798C5}"/>
              </a:ext>
            </a:extLst>
          </p:cNvPr>
          <p:cNvSpPr txBox="1"/>
          <p:nvPr/>
        </p:nvSpPr>
        <p:spPr>
          <a:xfrm>
            <a:off x="2298403" y="1645429"/>
            <a:ext cx="7425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ytrain</a:t>
            </a:r>
            <a:endParaRPr lang="en-US" sz="1200" dirty="0">
              <a:latin typeface="Courier" pitchFamily="2" charset="0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6547BC6-589A-B50F-422E-0E2141070F3A}"/>
              </a:ext>
            </a:extLst>
          </p:cNvPr>
          <p:cNvSpPr txBox="1"/>
          <p:nvPr/>
        </p:nvSpPr>
        <p:spPr>
          <a:xfrm>
            <a:off x="2757009" y="2343444"/>
            <a:ext cx="7425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Xtrain</a:t>
            </a:r>
            <a:endParaRPr lang="en-US" sz="1200" dirty="0">
              <a:latin typeface="Courier" pitchFamily="2" charset="0"/>
            </a:endParaRPr>
          </a:p>
        </p:txBody>
      </p:sp>
      <p:cxnSp>
        <p:nvCxnSpPr>
          <p:cNvPr id="67" name="Elbow Connector 66">
            <a:extLst>
              <a:ext uri="{FF2B5EF4-FFF2-40B4-BE49-F238E27FC236}">
                <a16:creationId xmlns:a16="http://schemas.microsoft.com/office/drawing/2014/main" id="{F789AF3E-FA79-C252-1D3F-85E586B9A7A6}"/>
              </a:ext>
            </a:extLst>
          </p:cNvPr>
          <p:cNvCxnSpPr>
            <a:cxnSpLocks/>
            <a:endCxn id="10" idx="1"/>
          </p:cNvCxnSpPr>
          <p:nvPr/>
        </p:nvCxnSpPr>
        <p:spPr>
          <a:xfrm rot="16200000" flipH="1">
            <a:off x="3088218" y="3416883"/>
            <a:ext cx="472966" cy="1154665"/>
          </a:xfrm>
          <a:prstGeom prst="bentConnector2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119155BF-DAEC-0B3E-C0DF-7ED6D5FD4FC6}"/>
              </a:ext>
            </a:extLst>
          </p:cNvPr>
          <p:cNvSpPr txBox="1"/>
          <p:nvPr/>
        </p:nvSpPr>
        <p:spPr>
          <a:xfrm>
            <a:off x="2760066" y="3960052"/>
            <a:ext cx="6495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Xtest</a:t>
            </a:r>
            <a:endParaRPr lang="en-US" sz="1200" dirty="0">
              <a:latin typeface="Courier" pitchFamily="2" charset="0"/>
            </a:endParaRPr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EA3F52B1-6321-2562-15C2-CF7D14DBD616}"/>
              </a:ext>
            </a:extLst>
          </p:cNvPr>
          <p:cNvCxnSpPr>
            <a:cxnSpLocks/>
            <a:stCxn id="46" idx="3"/>
          </p:cNvCxnSpPr>
          <p:nvPr/>
        </p:nvCxnSpPr>
        <p:spPr>
          <a:xfrm flipV="1">
            <a:off x="10132541" y="4230555"/>
            <a:ext cx="395416" cy="1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76" name="Elbow Connector 75">
            <a:extLst>
              <a:ext uri="{FF2B5EF4-FFF2-40B4-BE49-F238E27FC236}">
                <a16:creationId xmlns:a16="http://schemas.microsoft.com/office/drawing/2014/main" id="{2DC9AC90-7F7E-58CF-2E94-2E994BCA5005}"/>
              </a:ext>
            </a:extLst>
          </p:cNvPr>
          <p:cNvCxnSpPr>
            <a:cxnSpLocks/>
            <a:endCxn id="26" idx="0"/>
          </p:cNvCxnSpPr>
          <p:nvPr/>
        </p:nvCxnSpPr>
        <p:spPr>
          <a:xfrm rot="5400000" flipH="1" flipV="1">
            <a:off x="4493650" y="-325399"/>
            <a:ext cx="946074" cy="5328328"/>
          </a:xfrm>
          <a:prstGeom prst="bentConnector3">
            <a:avLst>
              <a:gd name="adj1" fmla="val 124163"/>
            </a:avLst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D4BCF136-85FE-3D3B-1BAD-06D779F33C87}"/>
              </a:ext>
            </a:extLst>
          </p:cNvPr>
          <p:cNvCxnSpPr>
            <a:cxnSpLocks/>
          </p:cNvCxnSpPr>
          <p:nvPr/>
        </p:nvCxnSpPr>
        <p:spPr>
          <a:xfrm flipV="1">
            <a:off x="1388119" y="3284624"/>
            <a:ext cx="540000" cy="1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7A219A90-2E95-23EA-5829-20F57DB0939E}"/>
              </a:ext>
            </a:extLst>
          </p:cNvPr>
          <p:cNvCxnSpPr>
            <a:cxnSpLocks/>
            <a:stCxn id="26" idx="3"/>
            <a:endCxn id="45" idx="1"/>
          </p:cNvCxnSpPr>
          <p:nvPr/>
        </p:nvCxnSpPr>
        <p:spPr>
          <a:xfrm>
            <a:off x="8279013" y="2338694"/>
            <a:ext cx="297402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92" name="Elbow Connector 91">
            <a:extLst>
              <a:ext uri="{FF2B5EF4-FFF2-40B4-BE49-F238E27FC236}">
                <a16:creationId xmlns:a16="http://schemas.microsoft.com/office/drawing/2014/main" id="{87C6DC34-75D6-747F-D01A-4CEE1622D502}"/>
              </a:ext>
            </a:extLst>
          </p:cNvPr>
          <p:cNvCxnSpPr>
            <a:cxnSpLocks/>
            <a:endCxn id="45" idx="0"/>
          </p:cNvCxnSpPr>
          <p:nvPr/>
        </p:nvCxnSpPr>
        <p:spPr>
          <a:xfrm rot="5400000" flipH="1" flipV="1">
            <a:off x="5355463" y="-1187212"/>
            <a:ext cx="946074" cy="7051955"/>
          </a:xfrm>
          <a:prstGeom prst="bentConnector3">
            <a:avLst>
              <a:gd name="adj1" fmla="val 124163"/>
            </a:avLst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95" name="Rounded Rectangle 94">
            <a:extLst>
              <a:ext uri="{FF2B5EF4-FFF2-40B4-BE49-F238E27FC236}">
                <a16:creationId xmlns:a16="http://schemas.microsoft.com/office/drawing/2014/main" id="{4F24E643-9450-CBB2-874C-9F79608BDC65}"/>
              </a:ext>
            </a:extLst>
          </p:cNvPr>
          <p:cNvSpPr/>
          <p:nvPr/>
        </p:nvSpPr>
        <p:spPr>
          <a:xfrm>
            <a:off x="1932199" y="2811802"/>
            <a:ext cx="1185494" cy="9459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Split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BE099765-4F53-F0BC-E302-95753C307074}"/>
              </a:ext>
            </a:extLst>
          </p:cNvPr>
          <p:cNvSpPr txBox="1"/>
          <p:nvPr/>
        </p:nvSpPr>
        <p:spPr>
          <a:xfrm>
            <a:off x="4556566" y="614591"/>
            <a:ext cx="130035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Xtrain_clean</a:t>
            </a:r>
            <a:endParaRPr lang="en-US" sz="1200" dirty="0">
              <a:latin typeface="Courier" pitchFamily="2" charset="0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DCCCBB56-94FB-6EB7-8289-7E1C6DF24F68}"/>
              </a:ext>
            </a:extLst>
          </p:cNvPr>
          <p:cNvSpPr txBox="1"/>
          <p:nvPr/>
        </p:nvSpPr>
        <p:spPr>
          <a:xfrm>
            <a:off x="6193223" y="614590"/>
            <a:ext cx="12073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Xtrain_norm</a:t>
            </a:r>
            <a:endParaRPr lang="en-US" sz="1200" dirty="0">
              <a:latin typeface="Courier" pitchFamily="2" charset="0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9BD988E4-BE4E-8366-8FAA-09C127A43432}"/>
              </a:ext>
            </a:extLst>
          </p:cNvPr>
          <p:cNvSpPr txBox="1"/>
          <p:nvPr/>
        </p:nvSpPr>
        <p:spPr>
          <a:xfrm>
            <a:off x="7833438" y="470897"/>
            <a:ext cx="11144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 err="1">
                <a:latin typeface="Courier" pitchFamily="2" charset="0"/>
              </a:rPr>
              <a:t>Xtrain_sfs</a:t>
            </a:r>
            <a:endParaRPr lang="en-US" sz="1200" dirty="0">
              <a:latin typeface="Courier" pitchFamily="2" charset="0"/>
            </a:endParaRPr>
          </a:p>
          <a:p>
            <a:pPr algn="ctr"/>
            <a:r>
              <a:rPr lang="en-US" sz="1200" dirty="0" err="1">
                <a:latin typeface="Courier" pitchFamily="2" charset="0"/>
              </a:rPr>
              <a:t>Xtrain_ex</a:t>
            </a:r>
            <a:endParaRPr lang="en-US" sz="1200" dirty="0">
              <a:latin typeface="Courier" pitchFamily="2" charset="0"/>
            </a:endParaRPr>
          </a:p>
        </p:txBody>
      </p: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657D19E7-09AE-E341-A23B-5312FC1F36C2}"/>
              </a:ext>
            </a:extLst>
          </p:cNvPr>
          <p:cNvCxnSpPr/>
          <p:nvPr/>
        </p:nvCxnSpPr>
        <p:spPr>
          <a:xfrm>
            <a:off x="5201171" y="927598"/>
            <a:ext cx="0" cy="1395476"/>
          </a:xfrm>
          <a:prstGeom prst="line">
            <a:avLst/>
          </a:prstGeom>
          <a:ln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466E9845-6EA2-C33D-F161-4F7A6C196BAE}"/>
              </a:ext>
            </a:extLst>
          </p:cNvPr>
          <p:cNvCxnSpPr/>
          <p:nvPr/>
        </p:nvCxnSpPr>
        <p:spPr>
          <a:xfrm>
            <a:off x="6809271" y="928660"/>
            <a:ext cx="0" cy="1395476"/>
          </a:xfrm>
          <a:prstGeom prst="line">
            <a:avLst/>
          </a:prstGeom>
          <a:ln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5B228E09-DE31-6979-55E3-6E4EBA88F065}"/>
              </a:ext>
            </a:extLst>
          </p:cNvPr>
          <p:cNvCxnSpPr/>
          <p:nvPr/>
        </p:nvCxnSpPr>
        <p:spPr>
          <a:xfrm>
            <a:off x="8395459" y="935334"/>
            <a:ext cx="0" cy="1395476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14D21822-3D81-5131-8A22-CFFDBBB1257D}"/>
              </a:ext>
            </a:extLst>
          </p:cNvPr>
          <p:cNvSpPr txBox="1"/>
          <p:nvPr/>
        </p:nvSpPr>
        <p:spPr>
          <a:xfrm>
            <a:off x="4606820" y="5598485"/>
            <a:ext cx="12073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Xtest_clean</a:t>
            </a:r>
            <a:endParaRPr lang="en-US" sz="1200" dirty="0">
              <a:latin typeface="Courier" pitchFamily="2" charset="0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EA294AFF-322E-46D7-E613-6D96A5921D8D}"/>
              </a:ext>
            </a:extLst>
          </p:cNvPr>
          <p:cNvSpPr txBox="1"/>
          <p:nvPr/>
        </p:nvSpPr>
        <p:spPr>
          <a:xfrm>
            <a:off x="6292905" y="5598484"/>
            <a:ext cx="11144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Xtest_norm</a:t>
            </a:r>
            <a:endParaRPr lang="en-US" sz="1200" dirty="0">
              <a:latin typeface="Courier" pitchFamily="2" charset="0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2CA31BF8-630B-0DF8-E337-461C3408C984}"/>
              </a:ext>
            </a:extLst>
          </p:cNvPr>
          <p:cNvSpPr txBox="1"/>
          <p:nvPr/>
        </p:nvSpPr>
        <p:spPr>
          <a:xfrm>
            <a:off x="7896049" y="5598484"/>
            <a:ext cx="10214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 err="1">
                <a:latin typeface="Courier" pitchFamily="2" charset="0"/>
              </a:rPr>
              <a:t>Xtest_sfs</a:t>
            </a:r>
            <a:endParaRPr lang="en-US" sz="1200" dirty="0">
              <a:latin typeface="Courier" pitchFamily="2" charset="0"/>
            </a:endParaRPr>
          </a:p>
          <a:p>
            <a:pPr algn="ctr"/>
            <a:r>
              <a:rPr lang="en-US" sz="1200" dirty="0" err="1">
                <a:latin typeface="Courier" pitchFamily="2" charset="0"/>
              </a:rPr>
              <a:t>Xtest_ex</a:t>
            </a:r>
            <a:endParaRPr lang="en-US" sz="1200" dirty="0">
              <a:latin typeface="Courier" pitchFamily="2" charset="0"/>
            </a:endParaRPr>
          </a:p>
        </p:txBody>
      </p: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3DDFC1DB-3E78-6F28-7071-B7C16AB65009}"/>
              </a:ext>
            </a:extLst>
          </p:cNvPr>
          <p:cNvCxnSpPr/>
          <p:nvPr/>
        </p:nvCxnSpPr>
        <p:spPr>
          <a:xfrm>
            <a:off x="5201997" y="4230971"/>
            <a:ext cx="0" cy="1395476"/>
          </a:xfrm>
          <a:prstGeom prst="line">
            <a:avLst/>
          </a:prstGeom>
          <a:ln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52EE50E4-8D9D-C30A-5971-61DC6C289390}"/>
              </a:ext>
            </a:extLst>
          </p:cNvPr>
          <p:cNvCxnSpPr/>
          <p:nvPr/>
        </p:nvCxnSpPr>
        <p:spPr>
          <a:xfrm>
            <a:off x="6810097" y="4232033"/>
            <a:ext cx="0" cy="1395476"/>
          </a:xfrm>
          <a:prstGeom prst="line">
            <a:avLst/>
          </a:prstGeom>
          <a:ln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5CD70AD8-761D-37C7-3F7D-3D5A1942DDAA}"/>
              </a:ext>
            </a:extLst>
          </p:cNvPr>
          <p:cNvCxnSpPr/>
          <p:nvPr/>
        </p:nvCxnSpPr>
        <p:spPr>
          <a:xfrm>
            <a:off x="8396285" y="4238707"/>
            <a:ext cx="0" cy="1395476"/>
          </a:xfrm>
          <a:prstGeom prst="line">
            <a:avLst/>
          </a:prstGeom>
          <a:ln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B1F96EC5-902C-3F24-31FF-9A4EBD9D9677}"/>
              </a:ext>
            </a:extLst>
          </p:cNvPr>
          <p:cNvSpPr txBox="1"/>
          <p:nvPr/>
        </p:nvSpPr>
        <p:spPr>
          <a:xfrm>
            <a:off x="9973974" y="3426076"/>
            <a:ext cx="6495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ypred</a:t>
            </a:r>
            <a:endParaRPr lang="en-US" sz="1200" dirty="0">
              <a:latin typeface="Courier" pitchFamily="2" charset="0"/>
            </a:endParaRPr>
          </a:p>
        </p:txBody>
      </p: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E859C3C0-30E5-BBBA-D026-59672CC3B020}"/>
              </a:ext>
            </a:extLst>
          </p:cNvPr>
          <p:cNvCxnSpPr/>
          <p:nvPr/>
        </p:nvCxnSpPr>
        <p:spPr>
          <a:xfrm>
            <a:off x="10305535" y="3715813"/>
            <a:ext cx="0" cy="504000"/>
          </a:xfrm>
          <a:prstGeom prst="line">
            <a:avLst/>
          </a:prstGeom>
          <a:ln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EC4BEF70-2A01-9384-9829-6F0BDB506B70}"/>
              </a:ext>
            </a:extLst>
          </p:cNvPr>
          <p:cNvSpPr txBox="1"/>
          <p:nvPr/>
        </p:nvSpPr>
        <p:spPr>
          <a:xfrm>
            <a:off x="4516551" y="3106086"/>
            <a:ext cx="7425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sclean</a:t>
            </a:r>
            <a:endParaRPr lang="en-US" sz="1200" dirty="0">
              <a:latin typeface="Courier" pitchFamily="2" charset="0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990B81EC-6BBB-5FC3-DDC1-75ACD29AF852}"/>
              </a:ext>
            </a:extLst>
          </p:cNvPr>
          <p:cNvSpPr txBox="1"/>
          <p:nvPr/>
        </p:nvSpPr>
        <p:spPr>
          <a:xfrm>
            <a:off x="6040070" y="3106085"/>
            <a:ext cx="4635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a,b</a:t>
            </a:r>
            <a:endParaRPr lang="en-US" sz="1200" dirty="0">
              <a:latin typeface="Courier" pitchFamily="2" charset="0"/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14444F3A-98F7-23D4-E9AA-9740FD4670EE}"/>
              </a:ext>
            </a:extLst>
          </p:cNvPr>
          <p:cNvSpPr txBox="1"/>
          <p:nvPr/>
        </p:nvSpPr>
        <p:spPr>
          <a:xfrm>
            <a:off x="7625162" y="3100268"/>
            <a:ext cx="4635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sel</a:t>
            </a:r>
            <a:endParaRPr lang="en-US" sz="1200" dirty="0">
              <a:latin typeface="Courier" pitchFamily="2" charset="0"/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0F45C6D0-453F-43B7-9A29-F79CB7AC7E0E}"/>
              </a:ext>
            </a:extLst>
          </p:cNvPr>
          <p:cNvSpPr txBox="1"/>
          <p:nvPr/>
        </p:nvSpPr>
        <p:spPr>
          <a:xfrm>
            <a:off x="9398703" y="3027382"/>
            <a:ext cx="6896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Gill Sans MT" panose="020B0502020104020203" pitchFamily="34" charset="77"/>
              </a:rPr>
              <a:t>Learned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Model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1F4E32E7-3334-0EF0-C3F5-4A88F66C56B0}"/>
              </a:ext>
            </a:extLst>
          </p:cNvPr>
          <p:cNvSpPr txBox="1"/>
          <p:nvPr/>
        </p:nvSpPr>
        <p:spPr>
          <a:xfrm>
            <a:off x="1424287" y="3291152"/>
            <a:ext cx="4635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X,y</a:t>
            </a:r>
            <a:endParaRPr lang="en-US" sz="1200" dirty="0">
              <a:latin typeface="Courier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A05157F-D658-B0F0-4E75-CEF966399FB5}"/>
              </a:ext>
            </a:extLst>
          </p:cNvPr>
          <p:cNvSpPr txBox="1"/>
          <p:nvPr/>
        </p:nvSpPr>
        <p:spPr>
          <a:xfrm>
            <a:off x="1162594" y="1922428"/>
            <a:ext cx="570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dirty="0">
                <a:latin typeface="Gill Sans MT" panose="020B0502020104020203" pitchFamily="34" charset="77"/>
              </a:rPr>
              <a:t>70%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7973F2-D416-F37F-93E2-738496D027BE}"/>
              </a:ext>
            </a:extLst>
          </p:cNvPr>
          <p:cNvSpPr txBox="1"/>
          <p:nvPr/>
        </p:nvSpPr>
        <p:spPr>
          <a:xfrm>
            <a:off x="1159509" y="3953197"/>
            <a:ext cx="570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dirty="0">
                <a:latin typeface="Gill Sans MT" panose="020B0502020104020203" pitchFamily="34" charset="77"/>
              </a:rPr>
              <a:t>30%</a:t>
            </a:r>
          </a:p>
        </p:txBody>
      </p:sp>
    </p:spTree>
    <p:extLst>
      <p:ext uri="{BB962C8B-B14F-4D97-AF65-F5344CB8AC3E}">
        <p14:creationId xmlns:p14="http://schemas.microsoft.com/office/powerpoint/2010/main" val="34602422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351E2D-93C2-F24C-A9B2-EA61E3D35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5D881FF-FD73-D23D-179F-45F1590A032B}"/>
              </a:ext>
            </a:extLst>
          </p:cNvPr>
          <p:cNvSpPr txBox="1"/>
          <p:nvPr/>
        </p:nvSpPr>
        <p:spPr>
          <a:xfrm>
            <a:off x="280530" y="2964032"/>
            <a:ext cx="11848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Features &amp;</a:t>
            </a:r>
          </a:p>
          <a:p>
            <a:pPr algn="ctr"/>
            <a:r>
              <a:rPr lang="en-US" dirty="0">
                <a:latin typeface="Gill Sans MT" panose="020B0502020104020203" pitchFamily="34" charset="77"/>
              </a:rPr>
              <a:t>Labels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D6F4CBA-353D-4B10-2456-EDF4D3749EF8}"/>
              </a:ext>
            </a:extLst>
          </p:cNvPr>
          <p:cNvSpPr/>
          <p:nvPr/>
        </p:nvSpPr>
        <p:spPr>
          <a:xfrm>
            <a:off x="3902035" y="1865871"/>
            <a:ext cx="1185494" cy="9459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Cleaning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9514A1FA-9072-CE85-9C0D-198754501281}"/>
              </a:ext>
            </a:extLst>
          </p:cNvPr>
          <p:cNvSpPr/>
          <p:nvPr/>
        </p:nvSpPr>
        <p:spPr>
          <a:xfrm>
            <a:off x="3902034" y="3757733"/>
            <a:ext cx="1185494" cy="9459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Clean</a:t>
            </a:r>
          </a:p>
          <a:p>
            <a:pPr algn="ctr"/>
            <a:r>
              <a:rPr lang="en-US" dirty="0">
                <a:latin typeface="Gill Sans MT" panose="020B0502020104020203" pitchFamily="34" charset="77"/>
              </a:rPr>
              <a:t>Features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764EDD5-46B4-E739-8CA8-CCC9C08E0BD1}"/>
              </a:ext>
            </a:extLst>
          </p:cNvPr>
          <p:cNvCxnSpPr>
            <a:cxnSpLocks/>
            <a:stCxn id="7" idx="2"/>
            <a:endCxn id="10" idx="0"/>
          </p:cNvCxnSpPr>
          <p:nvPr/>
        </p:nvCxnSpPr>
        <p:spPr>
          <a:xfrm flipH="1">
            <a:off x="4494781" y="2811802"/>
            <a:ext cx="1" cy="945931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677DB05F-0489-37BA-CAB3-24B3F6CF7905}"/>
              </a:ext>
            </a:extLst>
          </p:cNvPr>
          <p:cNvSpPr/>
          <p:nvPr/>
        </p:nvSpPr>
        <p:spPr>
          <a:xfrm>
            <a:off x="5388960" y="1865871"/>
            <a:ext cx="1296324" cy="9459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Normalization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DFB3D86A-30AB-9ED4-8837-F2078E8BC110}"/>
              </a:ext>
            </a:extLst>
          </p:cNvPr>
          <p:cNvSpPr/>
          <p:nvPr/>
        </p:nvSpPr>
        <p:spPr>
          <a:xfrm>
            <a:off x="5388959" y="3757733"/>
            <a:ext cx="1296324" cy="9459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Normalize</a:t>
            </a:r>
          </a:p>
          <a:p>
            <a:pPr algn="ctr"/>
            <a:r>
              <a:rPr lang="en-US" dirty="0">
                <a:latin typeface="Gill Sans MT" panose="020B0502020104020203" pitchFamily="34" charset="77"/>
              </a:rPr>
              <a:t>Features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5D730BF-648A-3E83-3FEB-25C932C4EDC6}"/>
              </a:ext>
            </a:extLst>
          </p:cNvPr>
          <p:cNvCxnSpPr>
            <a:cxnSpLocks/>
            <a:stCxn id="18" idx="2"/>
            <a:endCxn id="19" idx="0"/>
          </p:cNvCxnSpPr>
          <p:nvPr/>
        </p:nvCxnSpPr>
        <p:spPr>
          <a:xfrm flipH="1">
            <a:off x="6037121" y="2811802"/>
            <a:ext cx="1" cy="945931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A066AB1-02A0-419F-5F05-26C02EF48696}"/>
              </a:ext>
            </a:extLst>
          </p:cNvPr>
          <p:cNvCxnSpPr>
            <a:cxnSpLocks/>
            <a:stCxn id="7" idx="3"/>
            <a:endCxn id="18" idx="1"/>
          </p:cNvCxnSpPr>
          <p:nvPr/>
        </p:nvCxnSpPr>
        <p:spPr>
          <a:xfrm>
            <a:off x="5087529" y="2338837"/>
            <a:ext cx="301431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8F24D408-7684-1B88-7053-EB4592AF79BC}"/>
              </a:ext>
            </a:extLst>
          </p:cNvPr>
          <p:cNvSpPr/>
          <p:nvPr/>
        </p:nvSpPr>
        <p:spPr>
          <a:xfrm>
            <a:off x="6982689" y="1865728"/>
            <a:ext cx="1296324" cy="9459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Selection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2AF76D4F-60ED-B6FA-5EC7-7D61576C37C2}"/>
              </a:ext>
            </a:extLst>
          </p:cNvPr>
          <p:cNvSpPr/>
          <p:nvPr/>
        </p:nvSpPr>
        <p:spPr>
          <a:xfrm>
            <a:off x="6982688" y="3757590"/>
            <a:ext cx="1296324" cy="9459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Select</a:t>
            </a:r>
          </a:p>
          <a:p>
            <a:pPr algn="ctr"/>
            <a:r>
              <a:rPr lang="en-US" dirty="0">
                <a:latin typeface="Gill Sans MT" panose="020B0502020104020203" pitchFamily="34" charset="77"/>
              </a:rPr>
              <a:t>Features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5BF9B7F-28E4-C852-ABEA-97EAD5C578F1}"/>
              </a:ext>
            </a:extLst>
          </p:cNvPr>
          <p:cNvCxnSpPr>
            <a:cxnSpLocks/>
            <a:stCxn id="26" idx="2"/>
            <a:endCxn id="27" idx="0"/>
          </p:cNvCxnSpPr>
          <p:nvPr/>
        </p:nvCxnSpPr>
        <p:spPr>
          <a:xfrm flipH="1">
            <a:off x="7630850" y="2811659"/>
            <a:ext cx="1" cy="945931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99B6D792-E8DF-4C53-A029-8EFF07E95C2B}"/>
              </a:ext>
            </a:extLst>
          </p:cNvPr>
          <p:cNvCxnSpPr>
            <a:cxnSpLocks/>
            <a:stCxn id="18" idx="3"/>
            <a:endCxn id="26" idx="1"/>
          </p:cNvCxnSpPr>
          <p:nvPr/>
        </p:nvCxnSpPr>
        <p:spPr>
          <a:xfrm flipV="1">
            <a:off x="6685284" y="2338694"/>
            <a:ext cx="297405" cy="143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E7D1BD12-F82E-A8FA-8299-ED418A1B63A9}"/>
              </a:ext>
            </a:extLst>
          </p:cNvPr>
          <p:cNvCxnSpPr>
            <a:cxnSpLocks/>
            <a:stCxn id="10" idx="3"/>
            <a:endCxn id="19" idx="1"/>
          </p:cNvCxnSpPr>
          <p:nvPr/>
        </p:nvCxnSpPr>
        <p:spPr>
          <a:xfrm>
            <a:off x="5087528" y="4230699"/>
            <a:ext cx="301431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3359D023-AE2F-DA0B-1D84-63AA5FA9B9C1}"/>
              </a:ext>
            </a:extLst>
          </p:cNvPr>
          <p:cNvCxnSpPr>
            <a:cxnSpLocks/>
            <a:stCxn id="19" idx="3"/>
            <a:endCxn id="27" idx="1"/>
          </p:cNvCxnSpPr>
          <p:nvPr/>
        </p:nvCxnSpPr>
        <p:spPr>
          <a:xfrm flipV="1">
            <a:off x="6685283" y="4230556"/>
            <a:ext cx="297405" cy="143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38DD80E9-2230-3B1F-ACF5-1D88868CD275}"/>
              </a:ext>
            </a:extLst>
          </p:cNvPr>
          <p:cNvSpPr/>
          <p:nvPr/>
        </p:nvSpPr>
        <p:spPr>
          <a:xfrm>
            <a:off x="8576415" y="1865728"/>
            <a:ext cx="1556125" cy="9459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Training</a:t>
            </a: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22E11CD4-4918-5466-8916-2755DB7AA387}"/>
              </a:ext>
            </a:extLst>
          </p:cNvPr>
          <p:cNvSpPr/>
          <p:nvPr/>
        </p:nvSpPr>
        <p:spPr>
          <a:xfrm>
            <a:off x="8576415" y="3757590"/>
            <a:ext cx="1556126" cy="9459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Classify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B772B03B-0542-6478-CEE6-5895526FC6B2}"/>
              </a:ext>
            </a:extLst>
          </p:cNvPr>
          <p:cNvCxnSpPr>
            <a:cxnSpLocks/>
            <a:stCxn id="45" idx="2"/>
            <a:endCxn id="46" idx="0"/>
          </p:cNvCxnSpPr>
          <p:nvPr/>
        </p:nvCxnSpPr>
        <p:spPr>
          <a:xfrm>
            <a:off x="9354478" y="2811659"/>
            <a:ext cx="0" cy="945931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684ACD5D-4C27-F866-1B0B-DA5003DC6850}"/>
              </a:ext>
            </a:extLst>
          </p:cNvPr>
          <p:cNvCxnSpPr>
            <a:cxnSpLocks/>
            <a:stCxn id="27" idx="3"/>
            <a:endCxn id="46" idx="1"/>
          </p:cNvCxnSpPr>
          <p:nvPr/>
        </p:nvCxnSpPr>
        <p:spPr>
          <a:xfrm>
            <a:off x="8279012" y="4230556"/>
            <a:ext cx="297403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62" name="Elbow Connector 61">
            <a:extLst>
              <a:ext uri="{FF2B5EF4-FFF2-40B4-BE49-F238E27FC236}">
                <a16:creationId xmlns:a16="http://schemas.microsoft.com/office/drawing/2014/main" id="{B03BFB9C-CA2C-385A-E1DC-11A4F4659B80}"/>
              </a:ext>
            </a:extLst>
          </p:cNvPr>
          <p:cNvCxnSpPr>
            <a:cxnSpLocks/>
            <a:endCxn id="7" idx="1"/>
          </p:cNvCxnSpPr>
          <p:nvPr/>
        </p:nvCxnSpPr>
        <p:spPr>
          <a:xfrm rot="5400000" flipH="1" flipV="1">
            <a:off x="3088220" y="1997987"/>
            <a:ext cx="472965" cy="1154666"/>
          </a:xfrm>
          <a:prstGeom prst="bentConnector2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0AEDEEE1-3D64-CF7E-AC07-1BC7DDA314E0}"/>
              </a:ext>
            </a:extLst>
          </p:cNvPr>
          <p:cNvSpPr txBox="1"/>
          <p:nvPr/>
        </p:nvSpPr>
        <p:spPr>
          <a:xfrm>
            <a:off x="2298403" y="1645429"/>
            <a:ext cx="7425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ytrain</a:t>
            </a:r>
            <a:endParaRPr lang="en-US" sz="1200" dirty="0">
              <a:latin typeface="Courier" pitchFamily="2" charset="0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A4DDE0D-4487-5400-5902-E2B7ACD0C868}"/>
              </a:ext>
            </a:extLst>
          </p:cNvPr>
          <p:cNvSpPr txBox="1"/>
          <p:nvPr/>
        </p:nvSpPr>
        <p:spPr>
          <a:xfrm>
            <a:off x="2757009" y="2343444"/>
            <a:ext cx="7425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Xtrain</a:t>
            </a:r>
            <a:endParaRPr lang="en-US" sz="1200" dirty="0">
              <a:latin typeface="Courier" pitchFamily="2" charset="0"/>
            </a:endParaRPr>
          </a:p>
        </p:txBody>
      </p:sp>
      <p:cxnSp>
        <p:nvCxnSpPr>
          <p:cNvPr id="67" name="Elbow Connector 66">
            <a:extLst>
              <a:ext uri="{FF2B5EF4-FFF2-40B4-BE49-F238E27FC236}">
                <a16:creationId xmlns:a16="http://schemas.microsoft.com/office/drawing/2014/main" id="{F4F83A8C-B904-41AB-5644-51EE84270A15}"/>
              </a:ext>
            </a:extLst>
          </p:cNvPr>
          <p:cNvCxnSpPr>
            <a:cxnSpLocks/>
            <a:endCxn id="10" idx="1"/>
          </p:cNvCxnSpPr>
          <p:nvPr/>
        </p:nvCxnSpPr>
        <p:spPr>
          <a:xfrm rot="16200000" flipH="1">
            <a:off x="3088218" y="3416883"/>
            <a:ext cx="472966" cy="1154665"/>
          </a:xfrm>
          <a:prstGeom prst="bentConnector2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329FE2E1-9062-FE7E-29F9-88B4F1BE5CA8}"/>
              </a:ext>
            </a:extLst>
          </p:cNvPr>
          <p:cNvSpPr txBox="1"/>
          <p:nvPr/>
        </p:nvSpPr>
        <p:spPr>
          <a:xfrm>
            <a:off x="2760066" y="3960052"/>
            <a:ext cx="6495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Xtest</a:t>
            </a:r>
            <a:endParaRPr lang="en-US" sz="1200" dirty="0">
              <a:latin typeface="Courier" pitchFamily="2" charset="0"/>
            </a:endParaRP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860EBEC2-4A79-14C5-6D93-46986CCAD5BF}"/>
              </a:ext>
            </a:extLst>
          </p:cNvPr>
          <p:cNvSpPr/>
          <p:nvPr/>
        </p:nvSpPr>
        <p:spPr>
          <a:xfrm>
            <a:off x="10527957" y="4035190"/>
            <a:ext cx="358345" cy="39073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8BE497CB-2EC7-EC53-5029-338069418150}"/>
              </a:ext>
            </a:extLst>
          </p:cNvPr>
          <p:cNvCxnSpPr>
            <a:cxnSpLocks/>
            <a:stCxn id="46" idx="3"/>
            <a:endCxn id="71" idx="2"/>
          </p:cNvCxnSpPr>
          <p:nvPr/>
        </p:nvCxnSpPr>
        <p:spPr>
          <a:xfrm flipV="1">
            <a:off x="10132541" y="4230555"/>
            <a:ext cx="395416" cy="1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76" name="Elbow Connector 75">
            <a:extLst>
              <a:ext uri="{FF2B5EF4-FFF2-40B4-BE49-F238E27FC236}">
                <a16:creationId xmlns:a16="http://schemas.microsoft.com/office/drawing/2014/main" id="{4CC26C4D-A562-38C7-066B-6CB3832008D8}"/>
              </a:ext>
            </a:extLst>
          </p:cNvPr>
          <p:cNvCxnSpPr>
            <a:cxnSpLocks/>
            <a:endCxn id="26" idx="0"/>
          </p:cNvCxnSpPr>
          <p:nvPr/>
        </p:nvCxnSpPr>
        <p:spPr>
          <a:xfrm rot="5400000" flipH="1" flipV="1">
            <a:off x="4493650" y="-325399"/>
            <a:ext cx="946074" cy="5328328"/>
          </a:xfrm>
          <a:prstGeom prst="bentConnector3">
            <a:avLst>
              <a:gd name="adj1" fmla="val 124163"/>
            </a:avLst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79" name="Elbow Connector 78">
            <a:extLst>
              <a:ext uri="{FF2B5EF4-FFF2-40B4-BE49-F238E27FC236}">
                <a16:creationId xmlns:a16="http://schemas.microsoft.com/office/drawing/2014/main" id="{890FE3B1-7A46-3D38-8F2D-7D729DFCEE7B}"/>
              </a:ext>
            </a:extLst>
          </p:cNvPr>
          <p:cNvCxnSpPr>
            <a:cxnSpLocks/>
            <a:endCxn id="71" idx="4"/>
          </p:cNvCxnSpPr>
          <p:nvPr/>
        </p:nvCxnSpPr>
        <p:spPr>
          <a:xfrm rot="16200000" flipH="1">
            <a:off x="6170733" y="-110478"/>
            <a:ext cx="668187" cy="8404608"/>
          </a:xfrm>
          <a:prstGeom prst="bentConnector3">
            <a:avLst>
              <a:gd name="adj1" fmla="val 171198"/>
            </a:avLst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A4C3AF78-69F6-5292-742E-0F2F27D38FAA}"/>
              </a:ext>
            </a:extLst>
          </p:cNvPr>
          <p:cNvSpPr txBox="1"/>
          <p:nvPr/>
        </p:nvSpPr>
        <p:spPr>
          <a:xfrm>
            <a:off x="2312886" y="4617711"/>
            <a:ext cx="6495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ytest</a:t>
            </a:r>
            <a:endParaRPr lang="en-US" sz="1200" dirty="0">
              <a:latin typeface="Courier" pitchFamily="2" charset="0"/>
            </a:endParaRPr>
          </a:p>
        </p:txBody>
      </p: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4C5F13F1-86F6-0795-C600-F5D66109E340}"/>
              </a:ext>
            </a:extLst>
          </p:cNvPr>
          <p:cNvCxnSpPr>
            <a:cxnSpLocks/>
          </p:cNvCxnSpPr>
          <p:nvPr/>
        </p:nvCxnSpPr>
        <p:spPr>
          <a:xfrm flipV="1">
            <a:off x="1388119" y="3284624"/>
            <a:ext cx="540000" cy="1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A7617609-8FA3-A85F-CD00-12EB46719E0B}"/>
              </a:ext>
            </a:extLst>
          </p:cNvPr>
          <p:cNvCxnSpPr>
            <a:cxnSpLocks/>
            <a:stCxn id="26" idx="3"/>
            <a:endCxn id="45" idx="1"/>
          </p:cNvCxnSpPr>
          <p:nvPr/>
        </p:nvCxnSpPr>
        <p:spPr>
          <a:xfrm>
            <a:off x="8279013" y="2338694"/>
            <a:ext cx="297402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90" name="Rectangle 89">
            <a:extLst>
              <a:ext uri="{FF2B5EF4-FFF2-40B4-BE49-F238E27FC236}">
                <a16:creationId xmlns:a16="http://schemas.microsoft.com/office/drawing/2014/main" id="{0231EC05-BBF2-43B8-E13E-FAE0F14204CB}"/>
              </a:ext>
            </a:extLst>
          </p:cNvPr>
          <p:cNvSpPr/>
          <p:nvPr/>
        </p:nvSpPr>
        <p:spPr>
          <a:xfrm>
            <a:off x="10555044" y="3936308"/>
            <a:ext cx="30008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Gill Sans MT" panose="020B0502020104020203" pitchFamily="34" charset="77"/>
              </a:rPr>
              <a:t>-</a:t>
            </a:r>
          </a:p>
        </p:txBody>
      </p:sp>
      <p:cxnSp>
        <p:nvCxnSpPr>
          <p:cNvPr id="92" name="Elbow Connector 91">
            <a:extLst>
              <a:ext uri="{FF2B5EF4-FFF2-40B4-BE49-F238E27FC236}">
                <a16:creationId xmlns:a16="http://schemas.microsoft.com/office/drawing/2014/main" id="{0A9CD98E-D273-59F3-9310-0ECDCAEE82B7}"/>
              </a:ext>
            </a:extLst>
          </p:cNvPr>
          <p:cNvCxnSpPr>
            <a:cxnSpLocks/>
            <a:endCxn id="45" idx="0"/>
          </p:cNvCxnSpPr>
          <p:nvPr/>
        </p:nvCxnSpPr>
        <p:spPr>
          <a:xfrm rot="5400000" flipH="1" flipV="1">
            <a:off x="5355463" y="-1187212"/>
            <a:ext cx="946074" cy="7051955"/>
          </a:xfrm>
          <a:prstGeom prst="bentConnector3">
            <a:avLst>
              <a:gd name="adj1" fmla="val 124163"/>
            </a:avLst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95" name="Rounded Rectangle 94">
            <a:extLst>
              <a:ext uri="{FF2B5EF4-FFF2-40B4-BE49-F238E27FC236}">
                <a16:creationId xmlns:a16="http://schemas.microsoft.com/office/drawing/2014/main" id="{9326202F-1008-3178-5EDB-7BE08526373A}"/>
              </a:ext>
            </a:extLst>
          </p:cNvPr>
          <p:cNvSpPr/>
          <p:nvPr/>
        </p:nvSpPr>
        <p:spPr>
          <a:xfrm>
            <a:off x="1932199" y="2811802"/>
            <a:ext cx="1185494" cy="9459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Split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E48B07A9-79AA-D00A-7F11-758C500C0E34}"/>
              </a:ext>
            </a:extLst>
          </p:cNvPr>
          <p:cNvSpPr txBox="1"/>
          <p:nvPr/>
        </p:nvSpPr>
        <p:spPr>
          <a:xfrm>
            <a:off x="4556566" y="614591"/>
            <a:ext cx="130035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Xtrain_clean</a:t>
            </a:r>
            <a:endParaRPr lang="en-US" sz="1200" dirty="0">
              <a:latin typeface="Courier" pitchFamily="2" charset="0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6BC3A69B-87B8-F0BF-6BEE-DECE1FCDA91B}"/>
              </a:ext>
            </a:extLst>
          </p:cNvPr>
          <p:cNvSpPr txBox="1"/>
          <p:nvPr/>
        </p:nvSpPr>
        <p:spPr>
          <a:xfrm>
            <a:off x="6193223" y="614590"/>
            <a:ext cx="12073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Xtrain_norm</a:t>
            </a:r>
            <a:endParaRPr lang="en-US" sz="1200" dirty="0">
              <a:latin typeface="Courier" pitchFamily="2" charset="0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43B2A1E3-510C-E9BB-7B35-EEF9DFB0EB8E}"/>
              </a:ext>
            </a:extLst>
          </p:cNvPr>
          <p:cNvSpPr txBox="1"/>
          <p:nvPr/>
        </p:nvSpPr>
        <p:spPr>
          <a:xfrm>
            <a:off x="7833438" y="470897"/>
            <a:ext cx="11144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 err="1">
                <a:latin typeface="Courier" pitchFamily="2" charset="0"/>
              </a:rPr>
              <a:t>Xtrain_sfs</a:t>
            </a:r>
            <a:endParaRPr lang="en-US" sz="1200" dirty="0">
              <a:latin typeface="Courier" pitchFamily="2" charset="0"/>
            </a:endParaRPr>
          </a:p>
          <a:p>
            <a:pPr algn="ctr"/>
            <a:r>
              <a:rPr lang="en-US" sz="1200" dirty="0" err="1">
                <a:latin typeface="Courier" pitchFamily="2" charset="0"/>
              </a:rPr>
              <a:t>Xtrain_ex</a:t>
            </a:r>
            <a:endParaRPr lang="en-US" sz="1200" dirty="0">
              <a:latin typeface="Courier" pitchFamily="2" charset="0"/>
            </a:endParaRPr>
          </a:p>
        </p:txBody>
      </p: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5C040E95-4B8C-ADCE-4921-6DD5439F9EF2}"/>
              </a:ext>
            </a:extLst>
          </p:cNvPr>
          <p:cNvCxnSpPr/>
          <p:nvPr/>
        </p:nvCxnSpPr>
        <p:spPr>
          <a:xfrm>
            <a:off x="5201171" y="927598"/>
            <a:ext cx="0" cy="1395476"/>
          </a:xfrm>
          <a:prstGeom prst="line">
            <a:avLst/>
          </a:prstGeom>
          <a:ln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F187158B-DB73-ED5D-4E83-00063AEAADD7}"/>
              </a:ext>
            </a:extLst>
          </p:cNvPr>
          <p:cNvCxnSpPr/>
          <p:nvPr/>
        </p:nvCxnSpPr>
        <p:spPr>
          <a:xfrm>
            <a:off x="6809271" y="928660"/>
            <a:ext cx="0" cy="1395476"/>
          </a:xfrm>
          <a:prstGeom prst="line">
            <a:avLst/>
          </a:prstGeom>
          <a:ln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B5A1B58A-C4E5-E7DB-72CF-7766FBEE65F8}"/>
              </a:ext>
            </a:extLst>
          </p:cNvPr>
          <p:cNvCxnSpPr/>
          <p:nvPr/>
        </p:nvCxnSpPr>
        <p:spPr>
          <a:xfrm>
            <a:off x="8395459" y="935334"/>
            <a:ext cx="0" cy="1395476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3C3365CE-352B-B0BB-8B50-71ECF94DC3A7}"/>
              </a:ext>
            </a:extLst>
          </p:cNvPr>
          <p:cNvSpPr txBox="1"/>
          <p:nvPr/>
        </p:nvSpPr>
        <p:spPr>
          <a:xfrm>
            <a:off x="4606820" y="5598485"/>
            <a:ext cx="12073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Xtest_clean</a:t>
            </a:r>
            <a:endParaRPr lang="en-US" sz="1200" dirty="0">
              <a:latin typeface="Courier" pitchFamily="2" charset="0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2819C355-DDA8-C9DC-20AC-4BF178F5E0E1}"/>
              </a:ext>
            </a:extLst>
          </p:cNvPr>
          <p:cNvSpPr txBox="1"/>
          <p:nvPr/>
        </p:nvSpPr>
        <p:spPr>
          <a:xfrm>
            <a:off x="6292905" y="5598484"/>
            <a:ext cx="11144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Xtest_norm</a:t>
            </a:r>
            <a:endParaRPr lang="en-US" sz="1200" dirty="0">
              <a:latin typeface="Courier" pitchFamily="2" charset="0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E53E5F11-B465-517F-3BA1-97393294CE21}"/>
              </a:ext>
            </a:extLst>
          </p:cNvPr>
          <p:cNvSpPr txBox="1"/>
          <p:nvPr/>
        </p:nvSpPr>
        <p:spPr>
          <a:xfrm>
            <a:off x="7896049" y="5598484"/>
            <a:ext cx="10214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 err="1">
                <a:latin typeface="Courier" pitchFamily="2" charset="0"/>
              </a:rPr>
              <a:t>Xtest_sfs</a:t>
            </a:r>
            <a:endParaRPr lang="en-US" sz="1200" dirty="0">
              <a:latin typeface="Courier" pitchFamily="2" charset="0"/>
            </a:endParaRPr>
          </a:p>
          <a:p>
            <a:pPr algn="ctr"/>
            <a:r>
              <a:rPr lang="en-US" sz="1200" dirty="0" err="1">
                <a:latin typeface="Courier" pitchFamily="2" charset="0"/>
              </a:rPr>
              <a:t>Xtest_ex</a:t>
            </a:r>
            <a:endParaRPr lang="en-US" sz="1200" dirty="0">
              <a:latin typeface="Courier" pitchFamily="2" charset="0"/>
            </a:endParaRPr>
          </a:p>
        </p:txBody>
      </p: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19C68AD6-3AA3-EEBB-D489-CE9176CFB910}"/>
              </a:ext>
            </a:extLst>
          </p:cNvPr>
          <p:cNvCxnSpPr/>
          <p:nvPr/>
        </p:nvCxnSpPr>
        <p:spPr>
          <a:xfrm>
            <a:off x="5201997" y="4230971"/>
            <a:ext cx="0" cy="1395476"/>
          </a:xfrm>
          <a:prstGeom prst="line">
            <a:avLst/>
          </a:prstGeom>
          <a:ln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944D7C3C-E421-E4D9-B57A-BFBF8230FC90}"/>
              </a:ext>
            </a:extLst>
          </p:cNvPr>
          <p:cNvCxnSpPr/>
          <p:nvPr/>
        </p:nvCxnSpPr>
        <p:spPr>
          <a:xfrm>
            <a:off x="6810097" y="4232033"/>
            <a:ext cx="0" cy="1395476"/>
          </a:xfrm>
          <a:prstGeom prst="line">
            <a:avLst/>
          </a:prstGeom>
          <a:ln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B2904987-14F0-C60B-F7CB-5C50412FAF5C}"/>
              </a:ext>
            </a:extLst>
          </p:cNvPr>
          <p:cNvCxnSpPr/>
          <p:nvPr/>
        </p:nvCxnSpPr>
        <p:spPr>
          <a:xfrm>
            <a:off x="8396285" y="4238707"/>
            <a:ext cx="0" cy="1395476"/>
          </a:xfrm>
          <a:prstGeom prst="line">
            <a:avLst/>
          </a:prstGeom>
          <a:ln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187CAEFF-20D4-FAA4-63DF-A0C2255197D0}"/>
              </a:ext>
            </a:extLst>
          </p:cNvPr>
          <p:cNvSpPr txBox="1"/>
          <p:nvPr/>
        </p:nvSpPr>
        <p:spPr>
          <a:xfrm>
            <a:off x="9973974" y="3426076"/>
            <a:ext cx="6495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ypred</a:t>
            </a:r>
            <a:endParaRPr lang="en-US" sz="1200" dirty="0">
              <a:latin typeface="Courier" pitchFamily="2" charset="0"/>
            </a:endParaRPr>
          </a:p>
        </p:txBody>
      </p: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C87B818E-8C0E-9CBC-152B-4163DCED3840}"/>
              </a:ext>
            </a:extLst>
          </p:cNvPr>
          <p:cNvCxnSpPr>
            <a:cxnSpLocks/>
          </p:cNvCxnSpPr>
          <p:nvPr/>
        </p:nvCxnSpPr>
        <p:spPr>
          <a:xfrm flipV="1">
            <a:off x="10894855" y="4219762"/>
            <a:ext cx="395416" cy="1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11" name="TextBox 110">
            <a:extLst>
              <a:ext uri="{FF2B5EF4-FFF2-40B4-BE49-F238E27FC236}">
                <a16:creationId xmlns:a16="http://schemas.microsoft.com/office/drawing/2014/main" id="{26FB0B7B-0739-FDE8-6F39-08DC7C15AA5C}"/>
              </a:ext>
            </a:extLst>
          </p:cNvPr>
          <p:cNvSpPr txBox="1"/>
          <p:nvPr/>
        </p:nvSpPr>
        <p:spPr>
          <a:xfrm>
            <a:off x="11251259" y="4076351"/>
            <a:ext cx="4635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urier" pitchFamily="2" charset="0"/>
              </a:rPr>
              <a:t>acc</a:t>
            </a:r>
          </a:p>
        </p:txBody>
      </p: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272D3892-4783-5BE0-8120-729A919DB663}"/>
              </a:ext>
            </a:extLst>
          </p:cNvPr>
          <p:cNvCxnSpPr/>
          <p:nvPr/>
        </p:nvCxnSpPr>
        <p:spPr>
          <a:xfrm>
            <a:off x="10305535" y="3715813"/>
            <a:ext cx="0" cy="504000"/>
          </a:xfrm>
          <a:prstGeom prst="line">
            <a:avLst/>
          </a:prstGeom>
          <a:ln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A76BA0AC-BE69-85A4-5796-89808DAC69C6}"/>
              </a:ext>
            </a:extLst>
          </p:cNvPr>
          <p:cNvSpPr txBox="1"/>
          <p:nvPr/>
        </p:nvSpPr>
        <p:spPr>
          <a:xfrm>
            <a:off x="4516551" y="3106086"/>
            <a:ext cx="7425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sclean</a:t>
            </a:r>
            <a:endParaRPr lang="en-US" sz="1200" dirty="0">
              <a:latin typeface="Courier" pitchFamily="2" charset="0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77C1DCC6-113D-368E-488F-641B5E99B295}"/>
              </a:ext>
            </a:extLst>
          </p:cNvPr>
          <p:cNvSpPr txBox="1"/>
          <p:nvPr/>
        </p:nvSpPr>
        <p:spPr>
          <a:xfrm>
            <a:off x="6040070" y="3106085"/>
            <a:ext cx="4635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a,b</a:t>
            </a:r>
            <a:endParaRPr lang="en-US" sz="1200" dirty="0">
              <a:latin typeface="Courier" pitchFamily="2" charset="0"/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9711861B-9A1A-772A-53D1-AFB3FB82A04D}"/>
              </a:ext>
            </a:extLst>
          </p:cNvPr>
          <p:cNvSpPr txBox="1"/>
          <p:nvPr/>
        </p:nvSpPr>
        <p:spPr>
          <a:xfrm>
            <a:off x="7625162" y="3100268"/>
            <a:ext cx="4635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sel</a:t>
            </a:r>
            <a:endParaRPr lang="en-US" sz="1200" dirty="0">
              <a:latin typeface="Courier" pitchFamily="2" charset="0"/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B1880E26-B624-446B-FDC1-B4BCE6881DE4}"/>
              </a:ext>
            </a:extLst>
          </p:cNvPr>
          <p:cNvSpPr txBox="1"/>
          <p:nvPr/>
        </p:nvSpPr>
        <p:spPr>
          <a:xfrm>
            <a:off x="9398703" y="3027382"/>
            <a:ext cx="6896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Gill Sans MT" panose="020B0502020104020203" pitchFamily="34" charset="77"/>
              </a:rPr>
              <a:t>Learned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Model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50338DFE-4F3A-A906-541E-9E1291003D37}"/>
              </a:ext>
            </a:extLst>
          </p:cNvPr>
          <p:cNvSpPr txBox="1"/>
          <p:nvPr/>
        </p:nvSpPr>
        <p:spPr>
          <a:xfrm>
            <a:off x="1424287" y="3291152"/>
            <a:ext cx="4635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X,y</a:t>
            </a:r>
            <a:endParaRPr lang="en-US" sz="1200" dirty="0">
              <a:latin typeface="Courier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B0B1F83-E01B-94BF-BC5A-8A96253074C7}"/>
              </a:ext>
            </a:extLst>
          </p:cNvPr>
          <p:cNvSpPr txBox="1"/>
          <p:nvPr/>
        </p:nvSpPr>
        <p:spPr>
          <a:xfrm>
            <a:off x="1162594" y="1922428"/>
            <a:ext cx="570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dirty="0">
                <a:latin typeface="Gill Sans MT" panose="020B0502020104020203" pitchFamily="34" charset="77"/>
              </a:rPr>
              <a:t>70%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60DFC9-5675-8A8A-C3CF-944CE36F1A7E}"/>
              </a:ext>
            </a:extLst>
          </p:cNvPr>
          <p:cNvSpPr txBox="1"/>
          <p:nvPr/>
        </p:nvSpPr>
        <p:spPr>
          <a:xfrm>
            <a:off x="1159509" y="3953197"/>
            <a:ext cx="570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dirty="0">
                <a:latin typeface="Gill Sans MT" panose="020B0502020104020203" pitchFamily="34" charset="77"/>
              </a:rPr>
              <a:t>30%</a:t>
            </a:r>
          </a:p>
        </p:txBody>
      </p:sp>
    </p:spTree>
    <p:extLst>
      <p:ext uri="{BB962C8B-B14F-4D97-AF65-F5344CB8AC3E}">
        <p14:creationId xmlns:p14="http://schemas.microsoft.com/office/powerpoint/2010/main" val="24995038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35E96D-3D16-0F11-645C-B9CB961A3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>
            <a:extLst>
              <a:ext uri="{FF2B5EF4-FFF2-40B4-BE49-F238E27FC236}">
                <a16:creationId xmlns:a16="http://schemas.microsoft.com/office/drawing/2014/main" id="{6BC77DE9-D415-3B3F-F4D5-A1C2CC12648C}"/>
              </a:ext>
            </a:extLst>
          </p:cNvPr>
          <p:cNvSpPr/>
          <p:nvPr/>
        </p:nvSpPr>
        <p:spPr>
          <a:xfrm>
            <a:off x="1667540" y="224129"/>
            <a:ext cx="9721467" cy="2967624"/>
          </a:xfrm>
          <a:custGeom>
            <a:avLst/>
            <a:gdLst>
              <a:gd name="csX0" fmla="*/ 1171353 w 9721467"/>
              <a:gd name="csY0" fmla="*/ 158643 h 2967624"/>
              <a:gd name="csX1" fmla="*/ 3287232 w 9721467"/>
              <a:gd name="csY1" fmla="*/ 62950 h 2967624"/>
              <a:gd name="csX2" fmla="*/ 6572693 w 9721467"/>
              <a:gd name="csY2" fmla="*/ 9787 h 2967624"/>
              <a:gd name="csX3" fmla="*/ 7880497 w 9721467"/>
              <a:gd name="csY3" fmla="*/ 264969 h 2967624"/>
              <a:gd name="csX4" fmla="*/ 8933120 w 9721467"/>
              <a:gd name="csY4" fmla="*/ 956085 h 2967624"/>
              <a:gd name="csX5" fmla="*/ 9486013 w 9721467"/>
              <a:gd name="csY5" fmla="*/ 1955545 h 2967624"/>
              <a:gd name="csX6" fmla="*/ 9283995 w 9721467"/>
              <a:gd name="csY6" fmla="*/ 2742355 h 2967624"/>
              <a:gd name="csX7" fmla="*/ 4637567 w 9721467"/>
              <a:gd name="csY7" fmla="*/ 2848680 h 2967624"/>
              <a:gd name="csX8" fmla="*/ 2053855 w 9721467"/>
              <a:gd name="csY8" fmla="*/ 2869945 h 2967624"/>
              <a:gd name="csX9" fmla="*/ 331381 w 9721467"/>
              <a:gd name="csY9" fmla="*/ 1519611 h 2967624"/>
              <a:gd name="csX10" fmla="*/ 65567 w 9721467"/>
              <a:gd name="csY10" fmla="*/ 456355 h 2967624"/>
              <a:gd name="csX11" fmla="*/ 1171353 w 9721467"/>
              <a:gd name="csY11" fmla="*/ 158643 h 29676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9721467" h="2967624">
                <a:moveTo>
                  <a:pt x="1171353" y="158643"/>
                </a:moveTo>
                <a:cubicBezTo>
                  <a:pt x="1708297" y="93075"/>
                  <a:pt x="2387009" y="87759"/>
                  <a:pt x="3287232" y="62950"/>
                </a:cubicBezTo>
                <a:cubicBezTo>
                  <a:pt x="4187455" y="38141"/>
                  <a:pt x="5807149" y="-23883"/>
                  <a:pt x="6572693" y="9787"/>
                </a:cubicBezTo>
                <a:cubicBezTo>
                  <a:pt x="7338237" y="43457"/>
                  <a:pt x="7487093" y="107253"/>
                  <a:pt x="7880497" y="264969"/>
                </a:cubicBezTo>
                <a:cubicBezTo>
                  <a:pt x="8273901" y="422685"/>
                  <a:pt x="8665534" y="674322"/>
                  <a:pt x="8933120" y="956085"/>
                </a:cubicBezTo>
                <a:cubicBezTo>
                  <a:pt x="9200706" y="1237848"/>
                  <a:pt x="9427534" y="1657834"/>
                  <a:pt x="9486013" y="1955545"/>
                </a:cubicBezTo>
                <a:cubicBezTo>
                  <a:pt x="9544492" y="2253256"/>
                  <a:pt x="10092069" y="2593499"/>
                  <a:pt x="9283995" y="2742355"/>
                </a:cubicBezTo>
                <a:cubicBezTo>
                  <a:pt x="8475921" y="2891211"/>
                  <a:pt x="4637567" y="2848680"/>
                  <a:pt x="4637567" y="2848680"/>
                </a:cubicBezTo>
                <a:cubicBezTo>
                  <a:pt x="3432544" y="2869945"/>
                  <a:pt x="2771553" y="3091456"/>
                  <a:pt x="2053855" y="2869945"/>
                </a:cubicBezTo>
                <a:cubicBezTo>
                  <a:pt x="1336157" y="2648434"/>
                  <a:pt x="662762" y="1921876"/>
                  <a:pt x="331381" y="1519611"/>
                </a:cubicBezTo>
                <a:cubicBezTo>
                  <a:pt x="0" y="1117346"/>
                  <a:pt x="-70884" y="686727"/>
                  <a:pt x="65567" y="456355"/>
                </a:cubicBezTo>
                <a:cubicBezTo>
                  <a:pt x="202018" y="225983"/>
                  <a:pt x="634409" y="224211"/>
                  <a:pt x="1171353" y="158643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9CE2DA-E826-A3C6-CD21-F1510E0BB9AE}"/>
              </a:ext>
            </a:extLst>
          </p:cNvPr>
          <p:cNvSpPr txBox="1"/>
          <p:nvPr/>
        </p:nvSpPr>
        <p:spPr>
          <a:xfrm>
            <a:off x="280530" y="2964032"/>
            <a:ext cx="11848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Features &amp;</a:t>
            </a:r>
          </a:p>
          <a:p>
            <a:pPr algn="ctr"/>
            <a:r>
              <a:rPr lang="en-US" dirty="0">
                <a:latin typeface="Gill Sans MT" panose="020B0502020104020203" pitchFamily="34" charset="77"/>
              </a:rPr>
              <a:t>Labels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A7BB20F-A587-4462-3990-3142A4A1B8F7}"/>
              </a:ext>
            </a:extLst>
          </p:cNvPr>
          <p:cNvSpPr/>
          <p:nvPr/>
        </p:nvSpPr>
        <p:spPr>
          <a:xfrm>
            <a:off x="3902035" y="1865871"/>
            <a:ext cx="1185494" cy="9459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Cleaning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966E7D63-8D86-A327-519E-40FBBD3C3D0E}"/>
              </a:ext>
            </a:extLst>
          </p:cNvPr>
          <p:cNvSpPr/>
          <p:nvPr/>
        </p:nvSpPr>
        <p:spPr>
          <a:xfrm>
            <a:off x="3902034" y="3757733"/>
            <a:ext cx="1185494" cy="9459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Clean</a:t>
            </a:r>
          </a:p>
          <a:p>
            <a:pPr algn="ctr"/>
            <a:r>
              <a:rPr lang="en-US" dirty="0">
                <a:latin typeface="Gill Sans MT" panose="020B0502020104020203" pitchFamily="34" charset="77"/>
              </a:rPr>
              <a:t>Features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00BFC02-0545-43E3-68F2-F044156826AA}"/>
              </a:ext>
            </a:extLst>
          </p:cNvPr>
          <p:cNvCxnSpPr>
            <a:cxnSpLocks/>
            <a:stCxn id="7" idx="2"/>
            <a:endCxn id="10" idx="0"/>
          </p:cNvCxnSpPr>
          <p:nvPr/>
        </p:nvCxnSpPr>
        <p:spPr>
          <a:xfrm flipH="1">
            <a:off x="4494781" y="2811802"/>
            <a:ext cx="1" cy="945931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F8061AB6-BD15-289C-ABBE-E010DC939325}"/>
              </a:ext>
            </a:extLst>
          </p:cNvPr>
          <p:cNvSpPr/>
          <p:nvPr/>
        </p:nvSpPr>
        <p:spPr>
          <a:xfrm>
            <a:off x="5388960" y="1865871"/>
            <a:ext cx="1296324" cy="9459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Normalization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6E2466EB-0212-6D5F-0E54-3F041D1B650E}"/>
              </a:ext>
            </a:extLst>
          </p:cNvPr>
          <p:cNvSpPr/>
          <p:nvPr/>
        </p:nvSpPr>
        <p:spPr>
          <a:xfrm>
            <a:off x="5388959" y="3757733"/>
            <a:ext cx="1296324" cy="9459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Normalize</a:t>
            </a:r>
          </a:p>
          <a:p>
            <a:pPr algn="ctr"/>
            <a:r>
              <a:rPr lang="en-US" dirty="0">
                <a:latin typeface="Gill Sans MT" panose="020B0502020104020203" pitchFamily="34" charset="77"/>
              </a:rPr>
              <a:t>Features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DCA6594-23B6-1467-0727-82586A25BFF3}"/>
              </a:ext>
            </a:extLst>
          </p:cNvPr>
          <p:cNvCxnSpPr>
            <a:cxnSpLocks/>
            <a:stCxn id="18" idx="2"/>
            <a:endCxn id="19" idx="0"/>
          </p:cNvCxnSpPr>
          <p:nvPr/>
        </p:nvCxnSpPr>
        <p:spPr>
          <a:xfrm flipH="1">
            <a:off x="6037121" y="2811802"/>
            <a:ext cx="1" cy="945931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0F185C5-4F4F-466D-874C-761626488038}"/>
              </a:ext>
            </a:extLst>
          </p:cNvPr>
          <p:cNvCxnSpPr>
            <a:cxnSpLocks/>
            <a:stCxn id="7" idx="3"/>
            <a:endCxn id="18" idx="1"/>
          </p:cNvCxnSpPr>
          <p:nvPr/>
        </p:nvCxnSpPr>
        <p:spPr>
          <a:xfrm>
            <a:off x="5087529" y="2338837"/>
            <a:ext cx="301431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2F402DC9-8A1E-094C-E457-8143B20E59CA}"/>
              </a:ext>
            </a:extLst>
          </p:cNvPr>
          <p:cNvSpPr/>
          <p:nvPr/>
        </p:nvSpPr>
        <p:spPr>
          <a:xfrm>
            <a:off x="6982689" y="1865728"/>
            <a:ext cx="1296324" cy="9459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Selection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B1CBCF90-43EC-F6CE-C11C-AD893792A0D0}"/>
              </a:ext>
            </a:extLst>
          </p:cNvPr>
          <p:cNvSpPr/>
          <p:nvPr/>
        </p:nvSpPr>
        <p:spPr>
          <a:xfrm>
            <a:off x="6982688" y="3757590"/>
            <a:ext cx="1296324" cy="9459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Select</a:t>
            </a:r>
          </a:p>
          <a:p>
            <a:pPr algn="ctr"/>
            <a:r>
              <a:rPr lang="en-US" dirty="0">
                <a:latin typeface="Gill Sans MT" panose="020B0502020104020203" pitchFamily="34" charset="77"/>
              </a:rPr>
              <a:t>Features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9DAEB0B7-E3A3-17D0-1F6C-2681D9AA11A9}"/>
              </a:ext>
            </a:extLst>
          </p:cNvPr>
          <p:cNvCxnSpPr>
            <a:cxnSpLocks/>
            <a:stCxn id="26" idx="2"/>
            <a:endCxn id="27" idx="0"/>
          </p:cNvCxnSpPr>
          <p:nvPr/>
        </p:nvCxnSpPr>
        <p:spPr>
          <a:xfrm flipH="1">
            <a:off x="7630850" y="2811659"/>
            <a:ext cx="1" cy="945931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BF5921BF-3964-0FC3-53F9-C0DCBA5B7331}"/>
              </a:ext>
            </a:extLst>
          </p:cNvPr>
          <p:cNvCxnSpPr>
            <a:cxnSpLocks/>
            <a:stCxn id="18" idx="3"/>
            <a:endCxn id="26" idx="1"/>
          </p:cNvCxnSpPr>
          <p:nvPr/>
        </p:nvCxnSpPr>
        <p:spPr>
          <a:xfrm flipV="1">
            <a:off x="6685284" y="2338694"/>
            <a:ext cx="297405" cy="143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75035B8E-39C9-1EC1-37E7-FAEEEB051780}"/>
              </a:ext>
            </a:extLst>
          </p:cNvPr>
          <p:cNvCxnSpPr>
            <a:cxnSpLocks/>
            <a:stCxn id="10" idx="3"/>
            <a:endCxn id="19" idx="1"/>
          </p:cNvCxnSpPr>
          <p:nvPr/>
        </p:nvCxnSpPr>
        <p:spPr>
          <a:xfrm>
            <a:off x="5087528" y="4230699"/>
            <a:ext cx="301431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90F5DC8C-85AE-21E5-1F14-0C0BB2160647}"/>
              </a:ext>
            </a:extLst>
          </p:cNvPr>
          <p:cNvCxnSpPr>
            <a:cxnSpLocks/>
            <a:stCxn id="19" idx="3"/>
            <a:endCxn id="27" idx="1"/>
          </p:cNvCxnSpPr>
          <p:nvPr/>
        </p:nvCxnSpPr>
        <p:spPr>
          <a:xfrm flipV="1">
            <a:off x="6685283" y="4230556"/>
            <a:ext cx="297405" cy="143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A861857F-CAC8-4066-56FB-4F277ED36B66}"/>
              </a:ext>
            </a:extLst>
          </p:cNvPr>
          <p:cNvSpPr/>
          <p:nvPr/>
        </p:nvSpPr>
        <p:spPr>
          <a:xfrm>
            <a:off x="8576415" y="1865728"/>
            <a:ext cx="1556125" cy="9459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Training</a:t>
            </a: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361B2DA5-A7C2-A29C-D6D0-CF6F03792884}"/>
              </a:ext>
            </a:extLst>
          </p:cNvPr>
          <p:cNvSpPr/>
          <p:nvPr/>
        </p:nvSpPr>
        <p:spPr>
          <a:xfrm>
            <a:off x="8576415" y="3757590"/>
            <a:ext cx="1556126" cy="9459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Classify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A6E75EE4-6C06-CDEF-E90C-DC08D75B5B94}"/>
              </a:ext>
            </a:extLst>
          </p:cNvPr>
          <p:cNvCxnSpPr>
            <a:cxnSpLocks/>
            <a:stCxn id="45" idx="2"/>
            <a:endCxn id="46" idx="0"/>
          </p:cNvCxnSpPr>
          <p:nvPr/>
        </p:nvCxnSpPr>
        <p:spPr>
          <a:xfrm>
            <a:off x="9354478" y="2811659"/>
            <a:ext cx="0" cy="945931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C39BEE32-C5E8-C2C1-80DD-1E0497BF0AFD}"/>
              </a:ext>
            </a:extLst>
          </p:cNvPr>
          <p:cNvCxnSpPr>
            <a:cxnSpLocks/>
            <a:stCxn id="27" idx="3"/>
            <a:endCxn id="46" idx="1"/>
          </p:cNvCxnSpPr>
          <p:nvPr/>
        </p:nvCxnSpPr>
        <p:spPr>
          <a:xfrm>
            <a:off x="8279012" y="4230556"/>
            <a:ext cx="297403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62" name="Elbow Connector 61">
            <a:extLst>
              <a:ext uri="{FF2B5EF4-FFF2-40B4-BE49-F238E27FC236}">
                <a16:creationId xmlns:a16="http://schemas.microsoft.com/office/drawing/2014/main" id="{161C7AC8-5CB3-8246-9BE0-634226B7524C}"/>
              </a:ext>
            </a:extLst>
          </p:cNvPr>
          <p:cNvCxnSpPr>
            <a:cxnSpLocks/>
            <a:endCxn id="7" idx="1"/>
          </p:cNvCxnSpPr>
          <p:nvPr/>
        </p:nvCxnSpPr>
        <p:spPr>
          <a:xfrm rot="5400000" flipH="1" flipV="1">
            <a:off x="3088220" y="1997987"/>
            <a:ext cx="472965" cy="1154666"/>
          </a:xfrm>
          <a:prstGeom prst="bentConnector2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CFFF627A-9AF1-C149-E620-CC66090BABBC}"/>
              </a:ext>
            </a:extLst>
          </p:cNvPr>
          <p:cNvSpPr txBox="1"/>
          <p:nvPr/>
        </p:nvSpPr>
        <p:spPr>
          <a:xfrm>
            <a:off x="2298403" y="1645429"/>
            <a:ext cx="7425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ytrain</a:t>
            </a:r>
            <a:endParaRPr lang="en-US" sz="1200" dirty="0">
              <a:latin typeface="Courier" pitchFamily="2" charset="0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1E011C0-AF87-DD9F-47C5-3141AF3F3118}"/>
              </a:ext>
            </a:extLst>
          </p:cNvPr>
          <p:cNvSpPr txBox="1"/>
          <p:nvPr/>
        </p:nvSpPr>
        <p:spPr>
          <a:xfrm>
            <a:off x="2757009" y="2343444"/>
            <a:ext cx="7425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Xtrain</a:t>
            </a:r>
            <a:endParaRPr lang="en-US" sz="1200" dirty="0">
              <a:latin typeface="Courier" pitchFamily="2" charset="0"/>
            </a:endParaRPr>
          </a:p>
        </p:txBody>
      </p:sp>
      <p:cxnSp>
        <p:nvCxnSpPr>
          <p:cNvPr id="67" name="Elbow Connector 66">
            <a:extLst>
              <a:ext uri="{FF2B5EF4-FFF2-40B4-BE49-F238E27FC236}">
                <a16:creationId xmlns:a16="http://schemas.microsoft.com/office/drawing/2014/main" id="{39F7B8CC-AF84-C086-F7A4-4A47EF2FBABD}"/>
              </a:ext>
            </a:extLst>
          </p:cNvPr>
          <p:cNvCxnSpPr>
            <a:cxnSpLocks/>
            <a:endCxn id="10" idx="1"/>
          </p:cNvCxnSpPr>
          <p:nvPr/>
        </p:nvCxnSpPr>
        <p:spPr>
          <a:xfrm rot="16200000" flipH="1">
            <a:off x="3088218" y="3416883"/>
            <a:ext cx="472966" cy="1154665"/>
          </a:xfrm>
          <a:prstGeom prst="bentConnector2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FC198CD5-3877-47A2-D0C4-70891EA782AD}"/>
              </a:ext>
            </a:extLst>
          </p:cNvPr>
          <p:cNvSpPr txBox="1"/>
          <p:nvPr/>
        </p:nvSpPr>
        <p:spPr>
          <a:xfrm>
            <a:off x="2760066" y="3960052"/>
            <a:ext cx="6495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Xtest</a:t>
            </a:r>
            <a:endParaRPr lang="en-US" sz="1200" dirty="0">
              <a:latin typeface="Courier" pitchFamily="2" charset="0"/>
            </a:endParaRP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979FF353-967C-D89F-F88D-2E4D3092D3C2}"/>
              </a:ext>
            </a:extLst>
          </p:cNvPr>
          <p:cNvSpPr/>
          <p:nvPr/>
        </p:nvSpPr>
        <p:spPr>
          <a:xfrm>
            <a:off x="10527957" y="4035190"/>
            <a:ext cx="358345" cy="39073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7EF6334C-23CA-32B6-4501-4CAA6508F739}"/>
              </a:ext>
            </a:extLst>
          </p:cNvPr>
          <p:cNvCxnSpPr>
            <a:cxnSpLocks/>
            <a:stCxn id="46" idx="3"/>
            <a:endCxn id="71" idx="2"/>
          </p:cNvCxnSpPr>
          <p:nvPr/>
        </p:nvCxnSpPr>
        <p:spPr>
          <a:xfrm flipV="1">
            <a:off x="10132541" y="4230555"/>
            <a:ext cx="395416" cy="1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76" name="Elbow Connector 75">
            <a:extLst>
              <a:ext uri="{FF2B5EF4-FFF2-40B4-BE49-F238E27FC236}">
                <a16:creationId xmlns:a16="http://schemas.microsoft.com/office/drawing/2014/main" id="{59754A14-44C9-EDEA-5233-6EC55FB3CB6F}"/>
              </a:ext>
            </a:extLst>
          </p:cNvPr>
          <p:cNvCxnSpPr>
            <a:cxnSpLocks/>
            <a:endCxn id="26" idx="0"/>
          </p:cNvCxnSpPr>
          <p:nvPr/>
        </p:nvCxnSpPr>
        <p:spPr>
          <a:xfrm rot="5400000" flipH="1" flipV="1">
            <a:off x="4493650" y="-325399"/>
            <a:ext cx="946074" cy="5328328"/>
          </a:xfrm>
          <a:prstGeom prst="bentConnector3">
            <a:avLst>
              <a:gd name="adj1" fmla="val 124163"/>
            </a:avLst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79" name="Elbow Connector 78">
            <a:extLst>
              <a:ext uri="{FF2B5EF4-FFF2-40B4-BE49-F238E27FC236}">
                <a16:creationId xmlns:a16="http://schemas.microsoft.com/office/drawing/2014/main" id="{E6EF724A-6E63-4EAE-62D1-39627B88ABCA}"/>
              </a:ext>
            </a:extLst>
          </p:cNvPr>
          <p:cNvCxnSpPr>
            <a:cxnSpLocks/>
            <a:endCxn id="71" idx="4"/>
          </p:cNvCxnSpPr>
          <p:nvPr/>
        </p:nvCxnSpPr>
        <p:spPr>
          <a:xfrm rot="16200000" flipH="1">
            <a:off x="6170733" y="-110478"/>
            <a:ext cx="668187" cy="8404608"/>
          </a:xfrm>
          <a:prstGeom prst="bentConnector3">
            <a:avLst>
              <a:gd name="adj1" fmla="val 171198"/>
            </a:avLst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38C7904F-E654-3018-0A07-58361EEEAB4F}"/>
              </a:ext>
            </a:extLst>
          </p:cNvPr>
          <p:cNvSpPr txBox="1"/>
          <p:nvPr/>
        </p:nvSpPr>
        <p:spPr>
          <a:xfrm>
            <a:off x="2312886" y="4617711"/>
            <a:ext cx="6495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ytest</a:t>
            </a:r>
            <a:endParaRPr lang="en-US" sz="1200" dirty="0">
              <a:latin typeface="Courier" pitchFamily="2" charset="0"/>
            </a:endParaRPr>
          </a:p>
        </p:txBody>
      </p: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9B1C4E60-22AB-5EC7-5198-C227A0CCFBD1}"/>
              </a:ext>
            </a:extLst>
          </p:cNvPr>
          <p:cNvCxnSpPr>
            <a:cxnSpLocks/>
          </p:cNvCxnSpPr>
          <p:nvPr/>
        </p:nvCxnSpPr>
        <p:spPr>
          <a:xfrm flipV="1">
            <a:off x="1388119" y="3284624"/>
            <a:ext cx="540000" cy="1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DA2E2504-F3DA-9A6B-3E4C-0944B1FA14DC}"/>
              </a:ext>
            </a:extLst>
          </p:cNvPr>
          <p:cNvCxnSpPr>
            <a:cxnSpLocks/>
            <a:stCxn id="26" idx="3"/>
            <a:endCxn id="45" idx="1"/>
          </p:cNvCxnSpPr>
          <p:nvPr/>
        </p:nvCxnSpPr>
        <p:spPr>
          <a:xfrm>
            <a:off x="8279013" y="2338694"/>
            <a:ext cx="297402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90" name="Rectangle 89">
            <a:extLst>
              <a:ext uri="{FF2B5EF4-FFF2-40B4-BE49-F238E27FC236}">
                <a16:creationId xmlns:a16="http://schemas.microsoft.com/office/drawing/2014/main" id="{9B506896-DEDE-4083-3C1E-56E1C6E0ABFC}"/>
              </a:ext>
            </a:extLst>
          </p:cNvPr>
          <p:cNvSpPr/>
          <p:nvPr/>
        </p:nvSpPr>
        <p:spPr>
          <a:xfrm>
            <a:off x="10555044" y="3936308"/>
            <a:ext cx="30008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Gill Sans MT" panose="020B0502020104020203" pitchFamily="34" charset="77"/>
              </a:rPr>
              <a:t>-</a:t>
            </a:r>
          </a:p>
        </p:txBody>
      </p:sp>
      <p:cxnSp>
        <p:nvCxnSpPr>
          <p:cNvPr id="92" name="Elbow Connector 91">
            <a:extLst>
              <a:ext uri="{FF2B5EF4-FFF2-40B4-BE49-F238E27FC236}">
                <a16:creationId xmlns:a16="http://schemas.microsoft.com/office/drawing/2014/main" id="{4AC0666B-2F11-D1E0-7C5B-670710345AA5}"/>
              </a:ext>
            </a:extLst>
          </p:cNvPr>
          <p:cNvCxnSpPr>
            <a:cxnSpLocks/>
            <a:endCxn id="45" idx="0"/>
          </p:cNvCxnSpPr>
          <p:nvPr/>
        </p:nvCxnSpPr>
        <p:spPr>
          <a:xfrm rot="5400000" flipH="1" flipV="1">
            <a:off x="5355463" y="-1187212"/>
            <a:ext cx="946074" cy="7051955"/>
          </a:xfrm>
          <a:prstGeom prst="bentConnector3">
            <a:avLst>
              <a:gd name="adj1" fmla="val 124163"/>
            </a:avLst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95" name="Rounded Rectangle 94">
            <a:extLst>
              <a:ext uri="{FF2B5EF4-FFF2-40B4-BE49-F238E27FC236}">
                <a16:creationId xmlns:a16="http://schemas.microsoft.com/office/drawing/2014/main" id="{307CA4C2-8BE9-3D4F-FB81-C846B8AB31D5}"/>
              </a:ext>
            </a:extLst>
          </p:cNvPr>
          <p:cNvSpPr/>
          <p:nvPr/>
        </p:nvSpPr>
        <p:spPr>
          <a:xfrm>
            <a:off x="1932199" y="2811802"/>
            <a:ext cx="1185494" cy="9459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Split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2CECFD73-28CF-0483-11A0-CA197F2C6320}"/>
              </a:ext>
            </a:extLst>
          </p:cNvPr>
          <p:cNvSpPr txBox="1"/>
          <p:nvPr/>
        </p:nvSpPr>
        <p:spPr>
          <a:xfrm>
            <a:off x="4556566" y="614591"/>
            <a:ext cx="130035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Xtrain_clean</a:t>
            </a:r>
            <a:endParaRPr lang="en-US" sz="1200" dirty="0">
              <a:latin typeface="Courier" pitchFamily="2" charset="0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30174EC-D038-F5B5-21BC-CB5F26E568E0}"/>
              </a:ext>
            </a:extLst>
          </p:cNvPr>
          <p:cNvSpPr txBox="1"/>
          <p:nvPr/>
        </p:nvSpPr>
        <p:spPr>
          <a:xfrm>
            <a:off x="6193223" y="614590"/>
            <a:ext cx="12073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Xtrain_norm</a:t>
            </a:r>
            <a:endParaRPr lang="en-US" sz="1200" dirty="0">
              <a:latin typeface="Courier" pitchFamily="2" charset="0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265B91D6-DC3B-DD54-D0B5-B28F3E8181BC}"/>
              </a:ext>
            </a:extLst>
          </p:cNvPr>
          <p:cNvSpPr txBox="1"/>
          <p:nvPr/>
        </p:nvSpPr>
        <p:spPr>
          <a:xfrm>
            <a:off x="7833438" y="470897"/>
            <a:ext cx="11144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 err="1">
                <a:latin typeface="Courier" pitchFamily="2" charset="0"/>
              </a:rPr>
              <a:t>Xtrain_sfs</a:t>
            </a:r>
            <a:endParaRPr lang="en-US" sz="1200" dirty="0">
              <a:latin typeface="Courier" pitchFamily="2" charset="0"/>
            </a:endParaRPr>
          </a:p>
          <a:p>
            <a:pPr algn="ctr"/>
            <a:r>
              <a:rPr lang="en-US" sz="1200" dirty="0" err="1">
                <a:latin typeface="Courier" pitchFamily="2" charset="0"/>
              </a:rPr>
              <a:t>Xtrain_ex</a:t>
            </a:r>
            <a:endParaRPr lang="en-US" sz="1200" dirty="0">
              <a:latin typeface="Courier" pitchFamily="2" charset="0"/>
            </a:endParaRPr>
          </a:p>
        </p:txBody>
      </p: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A26DC0B3-27E5-CD6E-9E1A-5C0FFAFEE81A}"/>
              </a:ext>
            </a:extLst>
          </p:cNvPr>
          <p:cNvCxnSpPr/>
          <p:nvPr/>
        </p:nvCxnSpPr>
        <p:spPr>
          <a:xfrm>
            <a:off x="5201171" y="927598"/>
            <a:ext cx="0" cy="1395476"/>
          </a:xfrm>
          <a:prstGeom prst="line">
            <a:avLst/>
          </a:prstGeom>
          <a:ln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1582F3C0-FCF9-F832-C8D3-427C621622ED}"/>
              </a:ext>
            </a:extLst>
          </p:cNvPr>
          <p:cNvCxnSpPr/>
          <p:nvPr/>
        </p:nvCxnSpPr>
        <p:spPr>
          <a:xfrm>
            <a:off x="6809271" y="928660"/>
            <a:ext cx="0" cy="1395476"/>
          </a:xfrm>
          <a:prstGeom prst="line">
            <a:avLst/>
          </a:prstGeom>
          <a:ln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46E05D17-7372-6555-062B-63D09CF28142}"/>
              </a:ext>
            </a:extLst>
          </p:cNvPr>
          <p:cNvCxnSpPr/>
          <p:nvPr/>
        </p:nvCxnSpPr>
        <p:spPr>
          <a:xfrm>
            <a:off x="8395459" y="935334"/>
            <a:ext cx="0" cy="1395476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7F533C23-C0FF-3D54-7FDD-886D8271E663}"/>
              </a:ext>
            </a:extLst>
          </p:cNvPr>
          <p:cNvSpPr txBox="1"/>
          <p:nvPr/>
        </p:nvSpPr>
        <p:spPr>
          <a:xfrm>
            <a:off x="4606820" y="5598485"/>
            <a:ext cx="12073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Xtest_clean</a:t>
            </a:r>
            <a:endParaRPr lang="en-US" sz="1200" dirty="0">
              <a:latin typeface="Courier" pitchFamily="2" charset="0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F91563AE-1708-A0D1-6EC9-43DE633D7C83}"/>
              </a:ext>
            </a:extLst>
          </p:cNvPr>
          <p:cNvSpPr txBox="1"/>
          <p:nvPr/>
        </p:nvSpPr>
        <p:spPr>
          <a:xfrm>
            <a:off x="6292905" y="5598484"/>
            <a:ext cx="11144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Xtest_norm</a:t>
            </a:r>
            <a:endParaRPr lang="en-US" sz="1200" dirty="0">
              <a:latin typeface="Courier" pitchFamily="2" charset="0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F97651BB-2B78-747A-065E-20540C9C13DA}"/>
              </a:ext>
            </a:extLst>
          </p:cNvPr>
          <p:cNvSpPr txBox="1"/>
          <p:nvPr/>
        </p:nvSpPr>
        <p:spPr>
          <a:xfrm>
            <a:off x="7896049" y="5598484"/>
            <a:ext cx="10214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 err="1">
                <a:latin typeface="Courier" pitchFamily="2" charset="0"/>
              </a:rPr>
              <a:t>Xtest_sfs</a:t>
            </a:r>
            <a:endParaRPr lang="en-US" sz="1200" dirty="0">
              <a:latin typeface="Courier" pitchFamily="2" charset="0"/>
            </a:endParaRPr>
          </a:p>
          <a:p>
            <a:pPr algn="ctr"/>
            <a:r>
              <a:rPr lang="en-US" sz="1200" dirty="0" err="1">
                <a:latin typeface="Courier" pitchFamily="2" charset="0"/>
              </a:rPr>
              <a:t>Xtest_ex</a:t>
            </a:r>
            <a:endParaRPr lang="en-US" sz="1200" dirty="0">
              <a:latin typeface="Courier" pitchFamily="2" charset="0"/>
            </a:endParaRPr>
          </a:p>
        </p:txBody>
      </p: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407FE32F-531E-A5B8-0C99-7CECA91A96D3}"/>
              </a:ext>
            </a:extLst>
          </p:cNvPr>
          <p:cNvCxnSpPr/>
          <p:nvPr/>
        </p:nvCxnSpPr>
        <p:spPr>
          <a:xfrm>
            <a:off x="5201997" y="4230971"/>
            <a:ext cx="0" cy="1395476"/>
          </a:xfrm>
          <a:prstGeom prst="line">
            <a:avLst/>
          </a:prstGeom>
          <a:ln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5D03F735-4AB6-5489-5CC3-24CB26311212}"/>
              </a:ext>
            </a:extLst>
          </p:cNvPr>
          <p:cNvCxnSpPr/>
          <p:nvPr/>
        </p:nvCxnSpPr>
        <p:spPr>
          <a:xfrm>
            <a:off x="6810097" y="4232033"/>
            <a:ext cx="0" cy="1395476"/>
          </a:xfrm>
          <a:prstGeom prst="line">
            <a:avLst/>
          </a:prstGeom>
          <a:ln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9064A579-CD59-B974-D48B-BB873D1A1CBD}"/>
              </a:ext>
            </a:extLst>
          </p:cNvPr>
          <p:cNvCxnSpPr/>
          <p:nvPr/>
        </p:nvCxnSpPr>
        <p:spPr>
          <a:xfrm>
            <a:off x="8396285" y="4238707"/>
            <a:ext cx="0" cy="1395476"/>
          </a:xfrm>
          <a:prstGeom prst="line">
            <a:avLst/>
          </a:prstGeom>
          <a:ln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56B3FA85-934E-04CB-D69E-A1338CE7259E}"/>
              </a:ext>
            </a:extLst>
          </p:cNvPr>
          <p:cNvSpPr txBox="1"/>
          <p:nvPr/>
        </p:nvSpPr>
        <p:spPr>
          <a:xfrm>
            <a:off x="9973974" y="3426076"/>
            <a:ext cx="6495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ypred</a:t>
            </a:r>
            <a:endParaRPr lang="en-US" sz="1200" dirty="0">
              <a:latin typeface="Courier" pitchFamily="2" charset="0"/>
            </a:endParaRPr>
          </a:p>
        </p:txBody>
      </p: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BD3FC801-B94D-6B96-DB2E-CE97B71EA57F}"/>
              </a:ext>
            </a:extLst>
          </p:cNvPr>
          <p:cNvCxnSpPr>
            <a:cxnSpLocks/>
          </p:cNvCxnSpPr>
          <p:nvPr/>
        </p:nvCxnSpPr>
        <p:spPr>
          <a:xfrm flipV="1">
            <a:off x="10894855" y="4219762"/>
            <a:ext cx="395416" cy="1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11" name="TextBox 110">
            <a:extLst>
              <a:ext uri="{FF2B5EF4-FFF2-40B4-BE49-F238E27FC236}">
                <a16:creationId xmlns:a16="http://schemas.microsoft.com/office/drawing/2014/main" id="{39ECA22C-29EE-8CEE-1C15-F8B631B92AD2}"/>
              </a:ext>
            </a:extLst>
          </p:cNvPr>
          <p:cNvSpPr txBox="1"/>
          <p:nvPr/>
        </p:nvSpPr>
        <p:spPr>
          <a:xfrm>
            <a:off x="11251259" y="4076351"/>
            <a:ext cx="4635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urier" pitchFamily="2" charset="0"/>
              </a:rPr>
              <a:t>acc</a:t>
            </a:r>
          </a:p>
        </p:txBody>
      </p: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567CE7A1-229D-2767-FD9A-2B9B9CC41DC3}"/>
              </a:ext>
            </a:extLst>
          </p:cNvPr>
          <p:cNvCxnSpPr/>
          <p:nvPr/>
        </p:nvCxnSpPr>
        <p:spPr>
          <a:xfrm>
            <a:off x="10305535" y="3715813"/>
            <a:ext cx="0" cy="504000"/>
          </a:xfrm>
          <a:prstGeom prst="line">
            <a:avLst/>
          </a:prstGeom>
          <a:ln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BD5DACCC-4F3A-673D-98E2-4464549E377F}"/>
              </a:ext>
            </a:extLst>
          </p:cNvPr>
          <p:cNvSpPr txBox="1"/>
          <p:nvPr/>
        </p:nvSpPr>
        <p:spPr>
          <a:xfrm>
            <a:off x="4516551" y="3106086"/>
            <a:ext cx="7425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sclean</a:t>
            </a:r>
            <a:endParaRPr lang="en-US" sz="1200" dirty="0">
              <a:latin typeface="Courier" pitchFamily="2" charset="0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B2B98734-57E9-48A6-A664-9A5E25BF6F43}"/>
              </a:ext>
            </a:extLst>
          </p:cNvPr>
          <p:cNvSpPr txBox="1"/>
          <p:nvPr/>
        </p:nvSpPr>
        <p:spPr>
          <a:xfrm>
            <a:off x="6040070" y="3106085"/>
            <a:ext cx="4635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a,b</a:t>
            </a:r>
            <a:endParaRPr lang="en-US" sz="1200" dirty="0">
              <a:latin typeface="Courier" pitchFamily="2" charset="0"/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057496F8-DD91-DF39-832A-EFA08750661A}"/>
              </a:ext>
            </a:extLst>
          </p:cNvPr>
          <p:cNvSpPr txBox="1"/>
          <p:nvPr/>
        </p:nvSpPr>
        <p:spPr>
          <a:xfrm>
            <a:off x="7625162" y="3100268"/>
            <a:ext cx="4635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sel</a:t>
            </a:r>
            <a:endParaRPr lang="en-US" sz="1200" dirty="0">
              <a:latin typeface="Courier" pitchFamily="2" charset="0"/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5A079AB4-1F93-6744-B744-C60870748786}"/>
              </a:ext>
            </a:extLst>
          </p:cNvPr>
          <p:cNvSpPr txBox="1"/>
          <p:nvPr/>
        </p:nvSpPr>
        <p:spPr>
          <a:xfrm>
            <a:off x="9398703" y="3027382"/>
            <a:ext cx="6896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Gill Sans MT" panose="020B0502020104020203" pitchFamily="34" charset="77"/>
              </a:rPr>
              <a:t>Learned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Model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22281118-379C-095F-6A0C-A89502FA842D}"/>
              </a:ext>
            </a:extLst>
          </p:cNvPr>
          <p:cNvSpPr txBox="1"/>
          <p:nvPr/>
        </p:nvSpPr>
        <p:spPr>
          <a:xfrm>
            <a:off x="1424287" y="3291152"/>
            <a:ext cx="4635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X,y</a:t>
            </a:r>
            <a:endParaRPr lang="en-US" sz="1200" dirty="0">
              <a:latin typeface="Courier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06C20FD-B801-EE58-FD10-36DAC8B3EAE0}"/>
              </a:ext>
            </a:extLst>
          </p:cNvPr>
          <p:cNvSpPr txBox="1"/>
          <p:nvPr/>
        </p:nvSpPr>
        <p:spPr>
          <a:xfrm>
            <a:off x="1162594" y="1922428"/>
            <a:ext cx="570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dirty="0">
                <a:latin typeface="Gill Sans MT" panose="020B0502020104020203" pitchFamily="34" charset="77"/>
              </a:rPr>
              <a:t>70%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C05F49-1024-1549-DCFC-3C680547DA81}"/>
              </a:ext>
            </a:extLst>
          </p:cNvPr>
          <p:cNvSpPr txBox="1"/>
          <p:nvPr/>
        </p:nvSpPr>
        <p:spPr>
          <a:xfrm>
            <a:off x="1159509" y="3953197"/>
            <a:ext cx="570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dirty="0">
                <a:latin typeface="Gill Sans MT" panose="020B0502020104020203" pitchFamily="34" charset="77"/>
              </a:rPr>
              <a:t>30%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54001B-BFCA-1292-6D7C-3A980E4879E0}"/>
              </a:ext>
            </a:extLst>
          </p:cNvPr>
          <p:cNvSpPr txBox="1"/>
          <p:nvPr/>
        </p:nvSpPr>
        <p:spPr>
          <a:xfrm>
            <a:off x="10207284" y="473669"/>
            <a:ext cx="1071127" cy="923330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CL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PIENSA,</a:t>
            </a:r>
          </a:p>
          <a:p>
            <a:pPr algn="ctr"/>
            <a:r>
              <a:rPr lang="en-CL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DECIDE,</a:t>
            </a:r>
          </a:p>
          <a:p>
            <a:pPr algn="ctr"/>
            <a:r>
              <a:rPr lang="en-CL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DISEÑA</a:t>
            </a:r>
          </a:p>
        </p:txBody>
      </p:sp>
    </p:spTree>
    <p:extLst>
      <p:ext uri="{BB962C8B-B14F-4D97-AF65-F5344CB8AC3E}">
        <p14:creationId xmlns:p14="http://schemas.microsoft.com/office/powerpoint/2010/main" val="34100305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183922-352E-298B-DD40-894EFE6251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10">
            <a:extLst>
              <a:ext uri="{FF2B5EF4-FFF2-40B4-BE49-F238E27FC236}">
                <a16:creationId xmlns:a16="http://schemas.microsoft.com/office/drawing/2014/main" id="{75302CCD-8E0E-7C1D-0A1A-3B6FA1994778}"/>
              </a:ext>
            </a:extLst>
          </p:cNvPr>
          <p:cNvSpPr/>
          <p:nvPr/>
        </p:nvSpPr>
        <p:spPr>
          <a:xfrm rot="10605440">
            <a:off x="2061309" y="3453618"/>
            <a:ext cx="9721467" cy="2967624"/>
          </a:xfrm>
          <a:custGeom>
            <a:avLst/>
            <a:gdLst>
              <a:gd name="csX0" fmla="*/ 1171353 w 9721467"/>
              <a:gd name="csY0" fmla="*/ 158643 h 2967624"/>
              <a:gd name="csX1" fmla="*/ 3287232 w 9721467"/>
              <a:gd name="csY1" fmla="*/ 62950 h 2967624"/>
              <a:gd name="csX2" fmla="*/ 6572693 w 9721467"/>
              <a:gd name="csY2" fmla="*/ 9787 h 2967624"/>
              <a:gd name="csX3" fmla="*/ 7880497 w 9721467"/>
              <a:gd name="csY3" fmla="*/ 264969 h 2967624"/>
              <a:gd name="csX4" fmla="*/ 8933120 w 9721467"/>
              <a:gd name="csY4" fmla="*/ 956085 h 2967624"/>
              <a:gd name="csX5" fmla="*/ 9486013 w 9721467"/>
              <a:gd name="csY5" fmla="*/ 1955545 h 2967624"/>
              <a:gd name="csX6" fmla="*/ 9283995 w 9721467"/>
              <a:gd name="csY6" fmla="*/ 2742355 h 2967624"/>
              <a:gd name="csX7" fmla="*/ 4637567 w 9721467"/>
              <a:gd name="csY7" fmla="*/ 2848680 h 2967624"/>
              <a:gd name="csX8" fmla="*/ 2053855 w 9721467"/>
              <a:gd name="csY8" fmla="*/ 2869945 h 2967624"/>
              <a:gd name="csX9" fmla="*/ 331381 w 9721467"/>
              <a:gd name="csY9" fmla="*/ 1519611 h 2967624"/>
              <a:gd name="csX10" fmla="*/ 65567 w 9721467"/>
              <a:gd name="csY10" fmla="*/ 456355 h 2967624"/>
              <a:gd name="csX11" fmla="*/ 1171353 w 9721467"/>
              <a:gd name="csY11" fmla="*/ 158643 h 29676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9721467" h="2967624">
                <a:moveTo>
                  <a:pt x="1171353" y="158643"/>
                </a:moveTo>
                <a:cubicBezTo>
                  <a:pt x="1708297" y="93075"/>
                  <a:pt x="2387009" y="87759"/>
                  <a:pt x="3287232" y="62950"/>
                </a:cubicBezTo>
                <a:cubicBezTo>
                  <a:pt x="4187455" y="38141"/>
                  <a:pt x="5807149" y="-23883"/>
                  <a:pt x="6572693" y="9787"/>
                </a:cubicBezTo>
                <a:cubicBezTo>
                  <a:pt x="7338237" y="43457"/>
                  <a:pt x="7487093" y="107253"/>
                  <a:pt x="7880497" y="264969"/>
                </a:cubicBezTo>
                <a:cubicBezTo>
                  <a:pt x="8273901" y="422685"/>
                  <a:pt x="8665534" y="674322"/>
                  <a:pt x="8933120" y="956085"/>
                </a:cubicBezTo>
                <a:cubicBezTo>
                  <a:pt x="9200706" y="1237848"/>
                  <a:pt x="9427534" y="1657834"/>
                  <a:pt x="9486013" y="1955545"/>
                </a:cubicBezTo>
                <a:cubicBezTo>
                  <a:pt x="9544492" y="2253256"/>
                  <a:pt x="10092069" y="2593499"/>
                  <a:pt x="9283995" y="2742355"/>
                </a:cubicBezTo>
                <a:cubicBezTo>
                  <a:pt x="8475921" y="2891211"/>
                  <a:pt x="4637567" y="2848680"/>
                  <a:pt x="4637567" y="2848680"/>
                </a:cubicBezTo>
                <a:cubicBezTo>
                  <a:pt x="3432544" y="2869945"/>
                  <a:pt x="2771553" y="3091456"/>
                  <a:pt x="2053855" y="2869945"/>
                </a:cubicBezTo>
                <a:cubicBezTo>
                  <a:pt x="1336157" y="2648434"/>
                  <a:pt x="662762" y="1921876"/>
                  <a:pt x="331381" y="1519611"/>
                </a:cubicBezTo>
                <a:cubicBezTo>
                  <a:pt x="0" y="1117346"/>
                  <a:pt x="-70884" y="686727"/>
                  <a:pt x="65567" y="456355"/>
                </a:cubicBezTo>
                <a:cubicBezTo>
                  <a:pt x="202018" y="225983"/>
                  <a:pt x="634409" y="224211"/>
                  <a:pt x="1171353" y="158643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 dirty="0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E223384F-D1DA-A446-6DE9-60874CC5B4D7}"/>
              </a:ext>
            </a:extLst>
          </p:cNvPr>
          <p:cNvSpPr/>
          <p:nvPr/>
        </p:nvSpPr>
        <p:spPr>
          <a:xfrm>
            <a:off x="1667540" y="224129"/>
            <a:ext cx="9721467" cy="2967624"/>
          </a:xfrm>
          <a:custGeom>
            <a:avLst/>
            <a:gdLst>
              <a:gd name="csX0" fmla="*/ 1171353 w 9721467"/>
              <a:gd name="csY0" fmla="*/ 158643 h 2967624"/>
              <a:gd name="csX1" fmla="*/ 3287232 w 9721467"/>
              <a:gd name="csY1" fmla="*/ 62950 h 2967624"/>
              <a:gd name="csX2" fmla="*/ 6572693 w 9721467"/>
              <a:gd name="csY2" fmla="*/ 9787 h 2967624"/>
              <a:gd name="csX3" fmla="*/ 7880497 w 9721467"/>
              <a:gd name="csY3" fmla="*/ 264969 h 2967624"/>
              <a:gd name="csX4" fmla="*/ 8933120 w 9721467"/>
              <a:gd name="csY4" fmla="*/ 956085 h 2967624"/>
              <a:gd name="csX5" fmla="*/ 9486013 w 9721467"/>
              <a:gd name="csY5" fmla="*/ 1955545 h 2967624"/>
              <a:gd name="csX6" fmla="*/ 9283995 w 9721467"/>
              <a:gd name="csY6" fmla="*/ 2742355 h 2967624"/>
              <a:gd name="csX7" fmla="*/ 4637567 w 9721467"/>
              <a:gd name="csY7" fmla="*/ 2848680 h 2967624"/>
              <a:gd name="csX8" fmla="*/ 2053855 w 9721467"/>
              <a:gd name="csY8" fmla="*/ 2869945 h 2967624"/>
              <a:gd name="csX9" fmla="*/ 331381 w 9721467"/>
              <a:gd name="csY9" fmla="*/ 1519611 h 2967624"/>
              <a:gd name="csX10" fmla="*/ 65567 w 9721467"/>
              <a:gd name="csY10" fmla="*/ 456355 h 2967624"/>
              <a:gd name="csX11" fmla="*/ 1171353 w 9721467"/>
              <a:gd name="csY11" fmla="*/ 158643 h 29676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9721467" h="2967624">
                <a:moveTo>
                  <a:pt x="1171353" y="158643"/>
                </a:moveTo>
                <a:cubicBezTo>
                  <a:pt x="1708297" y="93075"/>
                  <a:pt x="2387009" y="87759"/>
                  <a:pt x="3287232" y="62950"/>
                </a:cubicBezTo>
                <a:cubicBezTo>
                  <a:pt x="4187455" y="38141"/>
                  <a:pt x="5807149" y="-23883"/>
                  <a:pt x="6572693" y="9787"/>
                </a:cubicBezTo>
                <a:cubicBezTo>
                  <a:pt x="7338237" y="43457"/>
                  <a:pt x="7487093" y="107253"/>
                  <a:pt x="7880497" y="264969"/>
                </a:cubicBezTo>
                <a:cubicBezTo>
                  <a:pt x="8273901" y="422685"/>
                  <a:pt x="8665534" y="674322"/>
                  <a:pt x="8933120" y="956085"/>
                </a:cubicBezTo>
                <a:cubicBezTo>
                  <a:pt x="9200706" y="1237848"/>
                  <a:pt x="9427534" y="1657834"/>
                  <a:pt x="9486013" y="1955545"/>
                </a:cubicBezTo>
                <a:cubicBezTo>
                  <a:pt x="9544492" y="2253256"/>
                  <a:pt x="10092069" y="2593499"/>
                  <a:pt x="9283995" y="2742355"/>
                </a:cubicBezTo>
                <a:cubicBezTo>
                  <a:pt x="8475921" y="2891211"/>
                  <a:pt x="4637567" y="2848680"/>
                  <a:pt x="4637567" y="2848680"/>
                </a:cubicBezTo>
                <a:cubicBezTo>
                  <a:pt x="3432544" y="2869945"/>
                  <a:pt x="2771553" y="3091456"/>
                  <a:pt x="2053855" y="2869945"/>
                </a:cubicBezTo>
                <a:cubicBezTo>
                  <a:pt x="1336157" y="2648434"/>
                  <a:pt x="662762" y="1921876"/>
                  <a:pt x="331381" y="1519611"/>
                </a:cubicBezTo>
                <a:cubicBezTo>
                  <a:pt x="0" y="1117346"/>
                  <a:pt x="-70884" y="686727"/>
                  <a:pt x="65567" y="456355"/>
                </a:cubicBezTo>
                <a:cubicBezTo>
                  <a:pt x="202018" y="225983"/>
                  <a:pt x="634409" y="224211"/>
                  <a:pt x="1171353" y="158643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EC31DB-9DF0-F24D-F213-98EBCBEE0736}"/>
              </a:ext>
            </a:extLst>
          </p:cNvPr>
          <p:cNvSpPr txBox="1"/>
          <p:nvPr/>
        </p:nvSpPr>
        <p:spPr>
          <a:xfrm>
            <a:off x="280530" y="2964032"/>
            <a:ext cx="11848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Features &amp;</a:t>
            </a:r>
          </a:p>
          <a:p>
            <a:pPr algn="ctr"/>
            <a:r>
              <a:rPr lang="en-US" dirty="0">
                <a:latin typeface="Gill Sans MT" panose="020B0502020104020203" pitchFamily="34" charset="77"/>
              </a:rPr>
              <a:t>Labels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E386A9B-6723-3830-E5FF-0BAF96811536}"/>
              </a:ext>
            </a:extLst>
          </p:cNvPr>
          <p:cNvSpPr/>
          <p:nvPr/>
        </p:nvSpPr>
        <p:spPr>
          <a:xfrm>
            <a:off x="3902035" y="1865871"/>
            <a:ext cx="1185494" cy="9459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Cleaning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0021BE8-6D7A-735B-6FA7-01A2D53CE224}"/>
              </a:ext>
            </a:extLst>
          </p:cNvPr>
          <p:cNvSpPr/>
          <p:nvPr/>
        </p:nvSpPr>
        <p:spPr>
          <a:xfrm>
            <a:off x="3902034" y="3757733"/>
            <a:ext cx="1185494" cy="9459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Clean</a:t>
            </a:r>
          </a:p>
          <a:p>
            <a:pPr algn="ctr"/>
            <a:r>
              <a:rPr lang="en-US" dirty="0">
                <a:latin typeface="Gill Sans MT" panose="020B0502020104020203" pitchFamily="34" charset="77"/>
              </a:rPr>
              <a:t>Features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C10FEF4-245B-8BE0-9F96-30CF1CEA6110}"/>
              </a:ext>
            </a:extLst>
          </p:cNvPr>
          <p:cNvCxnSpPr>
            <a:cxnSpLocks/>
            <a:stCxn id="7" idx="2"/>
            <a:endCxn id="10" idx="0"/>
          </p:cNvCxnSpPr>
          <p:nvPr/>
        </p:nvCxnSpPr>
        <p:spPr>
          <a:xfrm flipH="1">
            <a:off x="4494781" y="2811802"/>
            <a:ext cx="1" cy="945931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E43FA944-DF35-5498-6654-11FC829064C1}"/>
              </a:ext>
            </a:extLst>
          </p:cNvPr>
          <p:cNvSpPr/>
          <p:nvPr/>
        </p:nvSpPr>
        <p:spPr>
          <a:xfrm>
            <a:off x="5388960" y="1865871"/>
            <a:ext cx="1296324" cy="9459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Normalization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B34C64B8-1F0A-7E41-885E-8B60480CBC5A}"/>
              </a:ext>
            </a:extLst>
          </p:cNvPr>
          <p:cNvSpPr/>
          <p:nvPr/>
        </p:nvSpPr>
        <p:spPr>
          <a:xfrm>
            <a:off x="5388959" y="3757733"/>
            <a:ext cx="1296324" cy="9459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Normalize</a:t>
            </a:r>
          </a:p>
          <a:p>
            <a:pPr algn="ctr"/>
            <a:r>
              <a:rPr lang="en-US" dirty="0">
                <a:latin typeface="Gill Sans MT" panose="020B0502020104020203" pitchFamily="34" charset="77"/>
              </a:rPr>
              <a:t>Features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F19D1FA-102C-1588-419E-E69E9709937C}"/>
              </a:ext>
            </a:extLst>
          </p:cNvPr>
          <p:cNvCxnSpPr>
            <a:cxnSpLocks/>
            <a:stCxn id="18" idx="2"/>
            <a:endCxn id="19" idx="0"/>
          </p:cNvCxnSpPr>
          <p:nvPr/>
        </p:nvCxnSpPr>
        <p:spPr>
          <a:xfrm flipH="1">
            <a:off x="6037121" y="2811802"/>
            <a:ext cx="1" cy="945931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060E0AC-8140-1840-35C0-A7F5DEAC7C59}"/>
              </a:ext>
            </a:extLst>
          </p:cNvPr>
          <p:cNvCxnSpPr>
            <a:cxnSpLocks/>
            <a:stCxn id="7" idx="3"/>
            <a:endCxn id="18" idx="1"/>
          </p:cNvCxnSpPr>
          <p:nvPr/>
        </p:nvCxnSpPr>
        <p:spPr>
          <a:xfrm>
            <a:off x="5087529" y="2338837"/>
            <a:ext cx="301431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BBAAC2E2-2057-5E77-772C-D4DFB226E854}"/>
              </a:ext>
            </a:extLst>
          </p:cNvPr>
          <p:cNvSpPr/>
          <p:nvPr/>
        </p:nvSpPr>
        <p:spPr>
          <a:xfrm>
            <a:off x="6982689" y="1865728"/>
            <a:ext cx="1296324" cy="9459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Selection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90A24362-8AAA-36B9-4FB7-DFF2860036CA}"/>
              </a:ext>
            </a:extLst>
          </p:cNvPr>
          <p:cNvSpPr/>
          <p:nvPr/>
        </p:nvSpPr>
        <p:spPr>
          <a:xfrm>
            <a:off x="6982688" y="3757590"/>
            <a:ext cx="1296324" cy="9459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Select</a:t>
            </a:r>
          </a:p>
          <a:p>
            <a:pPr algn="ctr"/>
            <a:r>
              <a:rPr lang="en-US" dirty="0">
                <a:latin typeface="Gill Sans MT" panose="020B0502020104020203" pitchFamily="34" charset="77"/>
              </a:rPr>
              <a:t>Features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8EF4828-FD7C-6CBB-FD46-A496CD1C8BBE}"/>
              </a:ext>
            </a:extLst>
          </p:cNvPr>
          <p:cNvCxnSpPr>
            <a:cxnSpLocks/>
            <a:stCxn id="26" idx="2"/>
            <a:endCxn id="27" idx="0"/>
          </p:cNvCxnSpPr>
          <p:nvPr/>
        </p:nvCxnSpPr>
        <p:spPr>
          <a:xfrm flipH="1">
            <a:off x="7630850" y="2811659"/>
            <a:ext cx="1" cy="945931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AC389F5F-7E88-8370-7C8B-52E964228FE5}"/>
              </a:ext>
            </a:extLst>
          </p:cNvPr>
          <p:cNvCxnSpPr>
            <a:cxnSpLocks/>
            <a:stCxn id="18" idx="3"/>
            <a:endCxn id="26" idx="1"/>
          </p:cNvCxnSpPr>
          <p:nvPr/>
        </p:nvCxnSpPr>
        <p:spPr>
          <a:xfrm flipV="1">
            <a:off x="6685284" y="2338694"/>
            <a:ext cx="297405" cy="143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24BC2DB4-F647-2F35-9001-3E3C2A5DE49D}"/>
              </a:ext>
            </a:extLst>
          </p:cNvPr>
          <p:cNvCxnSpPr>
            <a:cxnSpLocks/>
            <a:stCxn id="10" idx="3"/>
            <a:endCxn id="19" idx="1"/>
          </p:cNvCxnSpPr>
          <p:nvPr/>
        </p:nvCxnSpPr>
        <p:spPr>
          <a:xfrm>
            <a:off x="5087528" y="4230699"/>
            <a:ext cx="301431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328E3E6C-3B89-FC1A-49D0-0FB15B74BD15}"/>
              </a:ext>
            </a:extLst>
          </p:cNvPr>
          <p:cNvCxnSpPr>
            <a:cxnSpLocks/>
            <a:stCxn id="19" idx="3"/>
            <a:endCxn id="27" idx="1"/>
          </p:cNvCxnSpPr>
          <p:nvPr/>
        </p:nvCxnSpPr>
        <p:spPr>
          <a:xfrm flipV="1">
            <a:off x="6685283" y="4230556"/>
            <a:ext cx="297405" cy="143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1FD61990-25D9-EAC4-74E4-62A1672940C0}"/>
              </a:ext>
            </a:extLst>
          </p:cNvPr>
          <p:cNvSpPr/>
          <p:nvPr/>
        </p:nvSpPr>
        <p:spPr>
          <a:xfrm>
            <a:off x="8576415" y="1865728"/>
            <a:ext cx="1556125" cy="9459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Training</a:t>
            </a: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E41D4B3A-7E8A-EE2A-54B0-CA67CEA42B3B}"/>
              </a:ext>
            </a:extLst>
          </p:cNvPr>
          <p:cNvSpPr/>
          <p:nvPr/>
        </p:nvSpPr>
        <p:spPr>
          <a:xfrm>
            <a:off x="8576415" y="3757590"/>
            <a:ext cx="1556126" cy="9459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Classify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4FA75B97-5210-345F-B71B-B32F9D6E0CE4}"/>
              </a:ext>
            </a:extLst>
          </p:cNvPr>
          <p:cNvCxnSpPr>
            <a:cxnSpLocks/>
            <a:stCxn id="45" idx="2"/>
            <a:endCxn id="46" idx="0"/>
          </p:cNvCxnSpPr>
          <p:nvPr/>
        </p:nvCxnSpPr>
        <p:spPr>
          <a:xfrm>
            <a:off x="9354478" y="2811659"/>
            <a:ext cx="0" cy="945931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E4E3AFE7-9CA0-D461-F1C9-B653E0891E7A}"/>
              </a:ext>
            </a:extLst>
          </p:cNvPr>
          <p:cNvCxnSpPr>
            <a:cxnSpLocks/>
            <a:stCxn id="27" idx="3"/>
            <a:endCxn id="46" idx="1"/>
          </p:cNvCxnSpPr>
          <p:nvPr/>
        </p:nvCxnSpPr>
        <p:spPr>
          <a:xfrm>
            <a:off x="8279012" y="4230556"/>
            <a:ext cx="297403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62" name="Elbow Connector 61">
            <a:extLst>
              <a:ext uri="{FF2B5EF4-FFF2-40B4-BE49-F238E27FC236}">
                <a16:creationId xmlns:a16="http://schemas.microsoft.com/office/drawing/2014/main" id="{6E2D10DD-4A65-BB5F-5D68-C4D78296C805}"/>
              </a:ext>
            </a:extLst>
          </p:cNvPr>
          <p:cNvCxnSpPr>
            <a:cxnSpLocks/>
            <a:endCxn id="7" idx="1"/>
          </p:cNvCxnSpPr>
          <p:nvPr/>
        </p:nvCxnSpPr>
        <p:spPr>
          <a:xfrm rot="5400000" flipH="1" flipV="1">
            <a:off x="3088220" y="1997987"/>
            <a:ext cx="472965" cy="1154666"/>
          </a:xfrm>
          <a:prstGeom prst="bentConnector2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99AD5392-A97E-B5BA-5455-6CCDD97A09EB}"/>
              </a:ext>
            </a:extLst>
          </p:cNvPr>
          <p:cNvSpPr txBox="1"/>
          <p:nvPr/>
        </p:nvSpPr>
        <p:spPr>
          <a:xfrm>
            <a:off x="2298403" y="1645429"/>
            <a:ext cx="7425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ytrain</a:t>
            </a:r>
            <a:endParaRPr lang="en-US" sz="1200" dirty="0">
              <a:latin typeface="Courier" pitchFamily="2" charset="0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081E863-4C98-9D4C-255D-B670CA2286B4}"/>
              </a:ext>
            </a:extLst>
          </p:cNvPr>
          <p:cNvSpPr txBox="1"/>
          <p:nvPr/>
        </p:nvSpPr>
        <p:spPr>
          <a:xfrm>
            <a:off x="2757009" y="2343444"/>
            <a:ext cx="7425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Xtrain</a:t>
            </a:r>
            <a:endParaRPr lang="en-US" sz="1200" dirty="0">
              <a:latin typeface="Courier" pitchFamily="2" charset="0"/>
            </a:endParaRPr>
          </a:p>
        </p:txBody>
      </p:sp>
      <p:cxnSp>
        <p:nvCxnSpPr>
          <p:cNvPr id="67" name="Elbow Connector 66">
            <a:extLst>
              <a:ext uri="{FF2B5EF4-FFF2-40B4-BE49-F238E27FC236}">
                <a16:creationId xmlns:a16="http://schemas.microsoft.com/office/drawing/2014/main" id="{F18B6169-19EE-522D-D992-981BC3533185}"/>
              </a:ext>
            </a:extLst>
          </p:cNvPr>
          <p:cNvCxnSpPr>
            <a:cxnSpLocks/>
            <a:endCxn id="10" idx="1"/>
          </p:cNvCxnSpPr>
          <p:nvPr/>
        </p:nvCxnSpPr>
        <p:spPr>
          <a:xfrm rot="16200000" flipH="1">
            <a:off x="3088218" y="3416883"/>
            <a:ext cx="472966" cy="1154665"/>
          </a:xfrm>
          <a:prstGeom prst="bentConnector2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41E97F38-4F1B-2CC4-4F71-048FDA0E6F61}"/>
              </a:ext>
            </a:extLst>
          </p:cNvPr>
          <p:cNvSpPr txBox="1"/>
          <p:nvPr/>
        </p:nvSpPr>
        <p:spPr>
          <a:xfrm>
            <a:off x="2760066" y="3960052"/>
            <a:ext cx="6495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Xtest</a:t>
            </a:r>
            <a:endParaRPr lang="en-US" sz="1200" dirty="0">
              <a:latin typeface="Courier" pitchFamily="2" charset="0"/>
            </a:endParaRP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CD7B2D60-A858-571A-6434-674EAD4280DE}"/>
              </a:ext>
            </a:extLst>
          </p:cNvPr>
          <p:cNvSpPr/>
          <p:nvPr/>
        </p:nvSpPr>
        <p:spPr>
          <a:xfrm>
            <a:off x="10527957" y="4035190"/>
            <a:ext cx="358345" cy="39073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A0B1AB0B-BC2A-835C-64D8-F4B811491395}"/>
              </a:ext>
            </a:extLst>
          </p:cNvPr>
          <p:cNvCxnSpPr>
            <a:cxnSpLocks/>
            <a:stCxn id="46" idx="3"/>
            <a:endCxn id="71" idx="2"/>
          </p:cNvCxnSpPr>
          <p:nvPr/>
        </p:nvCxnSpPr>
        <p:spPr>
          <a:xfrm flipV="1">
            <a:off x="10132541" y="4230555"/>
            <a:ext cx="395416" cy="1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76" name="Elbow Connector 75">
            <a:extLst>
              <a:ext uri="{FF2B5EF4-FFF2-40B4-BE49-F238E27FC236}">
                <a16:creationId xmlns:a16="http://schemas.microsoft.com/office/drawing/2014/main" id="{0E60AF42-6305-F560-D7A6-50A415062802}"/>
              </a:ext>
            </a:extLst>
          </p:cNvPr>
          <p:cNvCxnSpPr>
            <a:cxnSpLocks/>
            <a:endCxn id="26" idx="0"/>
          </p:cNvCxnSpPr>
          <p:nvPr/>
        </p:nvCxnSpPr>
        <p:spPr>
          <a:xfrm rot="5400000" flipH="1" flipV="1">
            <a:off x="4493650" y="-325399"/>
            <a:ext cx="946074" cy="5328328"/>
          </a:xfrm>
          <a:prstGeom prst="bentConnector3">
            <a:avLst>
              <a:gd name="adj1" fmla="val 124163"/>
            </a:avLst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79" name="Elbow Connector 78">
            <a:extLst>
              <a:ext uri="{FF2B5EF4-FFF2-40B4-BE49-F238E27FC236}">
                <a16:creationId xmlns:a16="http://schemas.microsoft.com/office/drawing/2014/main" id="{DD34F025-013A-0F15-E69B-C7B479D70C86}"/>
              </a:ext>
            </a:extLst>
          </p:cNvPr>
          <p:cNvCxnSpPr>
            <a:cxnSpLocks/>
            <a:endCxn id="71" idx="4"/>
          </p:cNvCxnSpPr>
          <p:nvPr/>
        </p:nvCxnSpPr>
        <p:spPr>
          <a:xfrm rot="16200000" flipH="1">
            <a:off x="6170733" y="-110478"/>
            <a:ext cx="668187" cy="8404608"/>
          </a:xfrm>
          <a:prstGeom prst="bentConnector3">
            <a:avLst>
              <a:gd name="adj1" fmla="val 171198"/>
            </a:avLst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AF0CD212-566B-4C96-1A46-CB2004E6A9D2}"/>
              </a:ext>
            </a:extLst>
          </p:cNvPr>
          <p:cNvSpPr txBox="1"/>
          <p:nvPr/>
        </p:nvSpPr>
        <p:spPr>
          <a:xfrm>
            <a:off x="2312886" y="4617711"/>
            <a:ext cx="6495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ytest</a:t>
            </a:r>
            <a:endParaRPr lang="en-US" sz="1200" dirty="0">
              <a:latin typeface="Courier" pitchFamily="2" charset="0"/>
            </a:endParaRPr>
          </a:p>
        </p:txBody>
      </p: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6B6B10B4-CC6F-7436-18D9-F02258DEF89A}"/>
              </a:ext>
            </a:extLst>
          </p:cNvPr>
          <p:cNvCxnSpPr>
            <a:cxnSpLocks/>
          </p:cNvCxnSpPr>
          <p:nvPr/>
        </p:nvCxnSpPr>
        <p:spPr>
          <a:xfrm flipV="1">
            <a:off x="1388119" y="3284624"/>
            <a:ext cx="540000" cy="1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D1C00230-8C06-3BD3-002A-E7CBE809D958}"/>
              </a:ext>
            </a:extLst>
          </p:cNvPr>
          <p:cNvCxnSpPr>
            <a:cxnSpLocks/>
            <a:stCxn id="26" idx="3"/>
            <a:endCxn id="45" idx="1"/>
          </p:cNvCxnSpPr>
          <p:nvPr/>
        </p:nvCxnSpPr>
        <p:spPr>
          <a:xfrm>
            <a:off x="8279013" y="2338694"/>
            <a:ext cx="297402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90" name="Rectangle 89">
            <a:extLst>
              <a:ext uri="{FF2B5EF4-FFF2-40B4-BE49-F238E27FC236}">
                <a16:creationId xmlns:a16="http://schemas.microsoft.com/office/drawing/2014/main" id="{C8687D6F-0DD8-DD9C-4474-72E13E5ADC88}"/>
              </a:ext>
            </a:extLst>
          </p:cNvPr>
          <p:cNvSpPr/>
          <p:nvPr/>
        </p:nvSpPr>
        <p:spPr>
          <a:xfrm>
            <a:off x="10555044" y="3936308"/>
            <a:ext cx="30008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Gill Sans MT" panose="020B0502020104020203" pitchFamily="34" charset="77"/>
              </a:rPr>
              <a:t>-</a:t>
            </a:r>
          </a:p>
        </p:txBody>
      </p:sp>
      <p:cxnSp>
        <p:nvCxnSpPr>
          <p:cNvPr id="92" name="Elbow Connector 91">
            <a:extLst>
              <a:ext uri="{FF2B5EF4-FFF2-40B4-BE49-F238E27FC236}">
                <a16:creationId xmlns:a16="http://schemas.microsoft.com/office/drawing/2014/main" id="{8FD05F60-D793-4CF7-D698-AF4F9AF03197}"/>
              </a:ext>
            </a:extLst>
          </p:cNvPr>
          <p:cNvCxnSpPr>
            <a:cxnSpLocks/>
            <a:endCxn id="45" idx="0"/>
          </p:cNvCxnSpPr>
          <p:nvPr/>
        </p:nvCxnSpPr>
        <p:spPr>
          <a:xfrm rot="5400000" flipH="1" flipV="1">
            <a:off x="5355463" y="-1187212"/>
            <a:ext cx="946074" cy="7051955"/>
          </a:xfrm>
          <a:prstGeom prst="bentConnector3">
            <a:avLst>
              <a:gd name="adj1" fmla="val 124163"/>
            </a:avLst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95" name="Rounded Rectangle 94">
            <a:extLst>
              <a:ext uri="{FF2B5EF4-FFF2-40B4-BE49-F238E27FC236}">
                <a16:creationId xmlns:a16="http://schemas.microsoft.com/office/drawing/2014/main" id="{AB806246-54C2-72A3-F3E1-92864EE10915}"/>
              </a:ext>
            </a:extLst>
          </p:cNvPr>
          <p:cNvSpPr/>
          <p:nvPr/>
        </p:nvSpPr>
        <p:spPr>
          <a:xfrm>
            <a:off x="1932199" y="2811802"/>
            <a:ext cx="1185494" cy="9459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Split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28C96FF7-B73A-B314-FB8E-3F9A4A63081A}"/>
              </a:ext>
            </a:extLst>
          </p:cNvPr>
          <p:cNvSpPr txBox="1"/>
          <p:nvPr/>
        </p:nvSpPr>
        <p:spPr>
          <a:xfrm>
            <a:off x="4556566" y="614591"/>
            <a:ext cx="130035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Xtrain_clean</a:t>
            </a:r>
            <a:endParaRPr lang="en-US" sz="1200" dirty="0">
              <a:latin typeface="Courier" pitchFamily="2" charset="0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C36C0B44-5029-0D20-746D-E343CA3C1197}"/>
              </a:ext>
            </a:extLst>
          </p:cNvPr>
          <p:cNvSpPr txBox="1"/>
          <p:nvPr/>
        </p:nvSpPr>
        <p:spPr>
          <a:xfrm>
            <a:off x="6193223" y="614590"/>
            <a:ext cx="12073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Xtrain_norm</a:t>
            </a:r>
            <a:endParaRPr lang="en-US" sz="1200" dirty="0">
              <a:latin typeface="Courier" pitchFamily="2" charset="0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9594A72B-F459-39EB-71B8-0E4EF86ED251}"/>
              </a:ext>
            </a:extLst>
          </p:cNvPr>
          <p:cNvSpPr txBox="1"/>
          <p:nvPr/>
        </p:nvSpPr>
        <p:spPr>
          <a:xfrm>
            <a:off x="7833438" y="470897"/>
            <a:ext cx="11144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 err="1">
                <a:latin typeface="Courier" pitchFamily="2" charset="0"/>
              </a:rPr>
              <a:t>Xtrain_sfs</a:t>
            </a:r>
            <a:endParaRPr lang="en-US" sz="1200" dirty="0">
              <a:latin typeface="Courier" pitchFamily="2" charset="0"/>
            </a:endParaRPr>
          </a:p>
          <a:p>
            <a:pPr algn="ctr"/>
            <a:r>
              <a:rPr lang="en-US" sz="1200" dirty="0" err="1">
                <a:latin typeface="Courier" pitchFamily="2" charset="0"/>
              </a:rPr>
              <a:t>Xtrain_ex</a:t>
            </a:r>
            <a:endParaRPr lang="en-US" sz="1200" dirty="0">
              <a:latin typeface="Courier" pitchFamily="2" charset="0"/>
            </a:endParaRPr>
          </a:p>
        </p:txBody>
      </p: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62B452F7-0035-D5C3-A308-F39974681745}"/>
              </a:ext>
            </a:extLst>
          </p:cNvPr>
          <p:cNvCxnSpPr/>
          <p:nvPr/>
        </p:nvCxnSpPr>
        <p:spPr>
          <a:xfrm>
            <a:off x="5201171" y="927598"/>
            <a:ext cx="0" cy="1395476"/>
          </a:xfrm>
          <a:prstGeom prst="line">
            <a:avLst/>
          </a:prstGeom>
          <a:ln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A967FDB3-08EC-7CF5-FAEB-0EFAC720D4D9}"/>
              </a:ext>
            </a:extLst>
          </p:cNvPr>
          <p:cNvCxnSpPr/>
          <p:nvPr/>
        </p:nvCxnSpPr>
        <p:spPr>
          <a:xfrm>
            <a:off x="6809271" y="928660"/>
            <a:ext cx="0" cy="1395476"/>
          </a:xfrm>
          <a:prstGeom prst="line">
            <a:avLst/>
          </a:prstGeom>
          <a:ln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9AF2D739-A36E-F312-7617-BBA205AB4FEF}"/>
              </a:ext>
            </a:extLst>
          </p:cNvPr>
          <p:cNvCxnSpPr/>
          <p:nvPr/>
        </p:nvCxnSpPr>
        <p:spPr>
          <a:xfrm>
            <a:off x="8395459" y="935334"/>
            <a:ext cx="0" cy="1395476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A61865E3-504F-D329-1DEE-E24F47E4393A}"/>
              </a:ext>
            </a:extLst>
          </p:cNvPr>
          <p:cNvSpPr txBox="1"/>
          <p:nvPr/>
        </p:nvSpPr>
        <p:spPr>
          <a:xfrm>
            <a:off x="4606820" y="5598485"/>
            <a:ext cx="12073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Xtest_clean</a:t>
            </a:r>
            <a:endParaRPr lang="en-US" sz="1200" dirty="0">
              <a:latin typeface="Courier" pitchFamily="2" charset="0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6CF5F923-DD4F-A603-97F1-0DB9FDA5BE83}"/>
              </a:ext>
            </a:extLst>
          </p:cNvPr>
          <p:cNvSpPr txBox="1"/>
          <p:nvPr/>
        </p:nvSpPr>
        <p:spPr>
          <a:xfrm>
            <a:off x="6292905" y="5598484"/>
            <a:ext cx="11144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Xtest_norm</a:t>
            </a:r>
            <a:endParaRPr lang="en-US" sz="1200" dirty="0">
              <a:latin typeface="Courier" pitchFamily="2" charset="0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C25873F5-8FC7-0DFA-F48E-3CF8D91C9286}"/>
              </a:ext>
            </a:extLst>
          </p:cNvPr>
          <p:cNvSpPr txBox="1"/>
          <p:nvPr/>
        </p:nvSpPr>
        <p:spPr>
          <a:xfrm>
            <a:off x="7896049" y="5598484"/>
            <a:ext cx="10214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 err="1">
                <a:latin typeface="Courier" pitchFamily="2" charset="0"/>
              </a:rPr>
              <a:t>Xtest_sfs</a:t>
            </a:r>
            <a:endParaRPr lang="en-US" sz="1200" dirty="0">
              <a:latin typeface="Courier" pitchFamily="2" charset="0"/>
            </a:endParaRPr>
          </a:p>
          <a:p>
            <a:pPr algn="ctr"/>
            <a:r>
              <a:rPr lang="en-US" sz="1200" dirty="0" err="1">
                <a:latin typeface="Courier" pitchFamily="2" charset="0"/>
              </a:rPr>
              <a:t>Xtest_ex</a:t>
            </a:r>
            <a:endParaRPr lang="en-US" sz="1200" dirty="0">
              <a:latin typeface="Courier" pitchFamily="2" charset="0"/>
            </a:endParaRPr>
          </a:p>
        </p:txBody>
      </p: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72EA5DED-574D-011D-C400-319CF9BA9C55}"/>
              </a:ext>
            </a:extLst>
          </p:cNvPr>
          <p:cNvCxnSpPr/>
          <p:nvPr/>
        </p:nvCxnSpPr>
        <p:spPr>
          <a:xfrm>
            <a:off x="5201997" y="4230971"/>
            <a:ext cx="0" cy="1395476"/>
          </a:xfrm>
          <a:prstGeom prst="line">
            <a:avLst/>
          </a:prstGeom>
          <a:ln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E12C2509-DD59-9835-91B2-340F728E2174}"/>
              </a:ext>
            </a:extLst>
          </p:cNvPr>
          <p:cNvCxnSpPr/>
          <p:nvPr/>
        </p:nvCxnSpPr>
        <p:spPr>
          <a:xfrm>
            <a:off x="6810097" y="4232033"/>
            <a:ext cx="0" cy="1395476"/>
          </a:xfrm>
          <a:prstGeom prst="line">
            <a:avLst/>
          </a:prstGeom>
          <a:ln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B6F1E40E-B56F-9E0B-2A8F-7BB60B49ADB4}"/>
              </a:ext>
            </a:extLst>
          </p:cNvPr>
          <p:cNvCxnSpPr/>
          <p:nvPr/>
        </p:nvCxnSpPr>
        <p:spPr>
          <a:xfrm>
            <a:off x="8396285" y="4238707"/>
            <a:ext cx="0" cy="1395476"/>
          </a:xfrm>
          <a:prstGeom prst="line">
            <a:avLst/>
          </a:prstGeom>
          <a:ln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82AFBB86-7E1D-1FB6-923D-80930CE103C1}"/>
              </a:ext>
            </a:extLst>
          </p:cNvPr>
          <p:cNvSpPr txBox="1"/>
          <p:nvPr/>
        </p:nvSpPr>
        <p:spPr>
          <a:xfrm>
            <a:off x="9973974" y="3426076"/>
            <a:ext cx="6495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ypred</a:t>
            </a:r>
            <a:endParaRPr lang="en-US" sz="1200" dirty="0">
              <a:latin typeface="Courier" pitchFamily="2" charset="0"/>
            </a:endParaRPr>
          </a:p>
        </p:txBody>
      </p: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56598C26-037A-2373-71CC-E579800A1701}"/>
              </a:ext>
            </a:extLst>
          </p:cNvPr>
          <p:cNvCxnSpPr>
            <a:cxnSpLocks/>
          </p:cNvCxnSpPr>
          <p:nvPr/>
        </p:nvCxnSpPr>
        <p:spPr>
          <a:xfrm flipV="1">
            <a:off x="10894855" y="4219762"/>
            <a:ext cx="395416" cy="1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11" name="TextBox 110">
            <a:extLst>
              <a:ext uri="{FF2B5EF4-FFF2-40B4-BE49-F238E27FC236}">
                <a16:creationId xmlns:a16="http://schemas.microsoft.com/office/drawing/2014/main" id="{C3905D36-9243-99FD-376C-4919BF1AFD62}"/>
              </a:ext>
            </a:extLst>
          </p:cNvPr>
          <p:cNvSpPr txBox="1"/>
          <p:nvPr/>
        </p:nvSpPr>
        <p:spPr>
          <a:xfrm>
            <a:off x="11251259" y="4076351"/>
            <a:ext cx="4635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urier" pitchFamily="2" charset="0"/>
              </a:rPr>
              <a:t>acc</a:t>
            </a:r>
          </a:p>
        </p:txBody>
      </p: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75EA6255-1A7F-CCB3-158B-AA966AD9CA43}"/>
              </a:ext>
            </a:extLst>
          </p:cNvPr>
          <p:cNvCxnSpPr/>
          <p:nvPr/>
        </p:nvCxnSpPr>
        <p:spPr>
          <a:xfrm>
            <a:off x="10305535" y="3715813"/>
            <a:ext cx="0" cy="504000"/>
          </a:xfrm>
          <a:prstGeom prst="line">
            <a:avLst/>
          </a:prstGeom>
          <a:ln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9709B1D0-0C7E-5EC1-3AD4-A4F88A4EF9C4}"/>
              </a:ext>
            </a:extLst>
          </p:cNvPr>
          <p:cNvSpPr txBox="1"/>
          <p:nvPr/>
        </p:nvSpPr>
        <p:spPr>
          <a:xfrm>
            <a:off x="4516551" y="3106086"/>
            <a:ext cx="7425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sclean</a:t>
            </a:r>
            <a:endParaRPr lang="en-US" sz="1200" dirty="0">
              <a:latin typeface="Courier" pitchFamily="2" charset="0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5246A75D-7335-295D-E561-09F4529A7591}"/>
              </a:ext>
            </a:extLst>
          </p:cNvPr>
          <p:cNvSpPr txBox="1"/>
          <p:nvPr/>
        </p:nvSpPr>
        <p:spPr>
          <a:xfrm>
            <a:off x="6040070" y="3106085"/>
            <a:ext cx="4635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a,b</a:t>
            </a:r>
            <a:endParaRPr lang="en-US" sz="1200" dirty="0">
              <a:latin typeface="Courier" pitchFamily="2" charset="0"/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FC10D592-5B73-86F1-98DC-A2030C30F8BF}"/>
              </a:ext>
            </a:extLst>
          </p:cNvPr>
          <p:cNvSpPr txBox="1"/>
          <p:nvPr/>
        </p:nvSpPr>
        <p:spPr>
          <a:xfrm>
            <a:off x="7625162" y="3100268"/>
            <a:ext cx="4635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sel</a:t>
            </a:r>
            <a:endParaRPr lang="en-US" sz="1200" dirty="0">
              <a:latin typeface="Courier" pitchFamily="2" charset="0"/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C1FA3501-A528-BDC8-25BA-C2635774906A}"/>
              </a:ext>
            </a:extLst>
          </p:cNvPr>
          <p:cNvSpPr txBox="1"/>
          <p:nvPr/>
        </p:nvSpPr>
        <p:spPr>
          <a:xfrm>
            <a:off x="9398703" y="3027382"/>
            <a:ext cx="6896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Gill Sans MT" panose="020B0502020104020203" pitchFamily="34" charset="77"/>
              </a:rPr>
              <a:t>Learned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Model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676D3D0E-6624-67A7-ECDA-F44E0DFF2288}"/>
              </a:ext>
            </a:extLst>
          </p:cNvPr>
          <p:cNvSpPr txBox="1"/>
          <p:nvPr/>
        </p:nvSpPr>
        <p:spPr>
          <a:xfrm>
            <a:off x="1424287" y="3291152"/>
            <a:ext cx="4635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X,y</a:t>
            </a:r>
            <a:endParaRPr lang="en-US" sz="1200" dirty="0">
              <a:latin typeface="Courier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2D11BE-BB4E-2D0F-BD3D-E74B17FF9190}"/>
              </a:ext>
            </a:extLst>
          </p:cNvPr>
          <p:cNvSpPr txBox="1"/>
          <p:nvPr/>
        </p:nvSpPr>
        <p:spPr>
          <a:xfrm>
            <a:off x="1162594" y="1922428"/>
            <a:ext cx="570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dirty="0">
                <a:latin typeface="Gill Sans MT" panose="020B0502020104020203" pitchFamily="34" charset="77"/>
              </a:rPr>
              <a:t>70%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673340-D7A8-98EF-0F96-F992B43CE00E}"/>
              </a:ext>
            </a:extLst>
          </p:cNvPr>
          <p:cNvSpPr txBox="1"/>
          <p:nvPr/>
        </p:nvSpPr>
        <p:spPr>
          <a:xfrm>
            <a:off x="1159509" y="3953197"/>
            <a:ext cx="570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dirty="0">
                <a:latin typeface="Gill Sans MT" panose="020B0502020104020203" pitchFamily="34" charset="77"/>
              </a:rPr>
              <a:t>30%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85FB05-9ABA-E0B5-FC3E-D419C5BF09C4}"/>
              </a:ext>
            </a:extLst>
          </p:cNvPr>
          <p:cNvSpPr txBox="1"/>
          <p:nvPr/>
        </p:nvSpPr>
        <p:spPr>
          <a:xfrm>
            <a:off x="10207284" y="473669"/>
            <a:ext cx="1071127" cy="923330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CL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PIENSA,</a:t>
            </a:r>
          </a:p>
          <a:p>
            <a:pPr algn="ctr"/>
            <a:r>
              <a:rPr lang="en-CL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DECIDE,</a:t>
            </a:r>
          </a:p>
          <a:p>
            <a:pPr algn="ctr"/>
            <a:r>
              <a:rPr lang="en-CL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DISEÑA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406C7F6-8E03-515E-E5F8-FA1C44395CC1}"/>
              </a:ext>
            </a:extLst>
          </p:cNvPr>
          <p:cNvSpPr txBox="1"/>
          <p:nvPr/>
        </p:nvSpPr>
        <p:spPr>
          <a:xfrm>
            <a:off x="1969787" y="5367651"/>
            <a:ext cx="1451038" cy="923330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CL" dirty="0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NO PIENSA,</a:t>
            </a:r>
          </a:p>
          <a:p>
            <a:pPr algn="ctr"/>
            <a:r>
              <a:rPr lang="en-CL" dirty="0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EJECUTA,</a:t>
            </a:r>
          </a:p>
          <a:p>
            <a:pPr algn="ctr"/>
            <a:r>
              <a:rPr lang="en-CL" dirty="0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OBEDECE</a:t>
            </a:r>
          </a:p>
        </p:txBody>
      </p:sp>
    </p:spTree>
    <p:extLst>
      <p:ext uri="{BB962C8B-B14F-4D97-AF65-F5344CB8AC3E}">
        <p14:creationId xmlns:p14="http://schemas.microsoft.com/office/powerpoint/2010/main" val="21840690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E578DA-1F9D-A933-5B42-097AF21F65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7F4C99A-D6B5-E6FD-4EF7-A9A7030813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619" y="102943"/>
            <a:ext cx="1529678" cy="8635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3F97312-F631-88E6-607C-737F5ED04E8E}"/>
              </a:ext>
            </a:extLst>
          </p:cNvPr>
          <p:cNvSpPr txBox="1"/>
          <p:nvPr/>
        </p:nvSpPr>
        <p:spPr>
          <a:xfrm>
            <a:off x="1719544" y="258585"/>
            <a:ext cx="109677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rgbClr val="E9710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E06</a:t>
            </a:r>
            <a:endParaRPr lang="en-CL" sz="4000" b="1" dirty="0">
              <a:solidFill>
                <a:srgbClr val="E9710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0028C0-6767-8E7C-280C-7589C97B7E86}"/>
              </a:ext>
            </a:extLst>
          </p:cNvPr>
          <p:cNvCxnSpPr/>
          <p:nvPr/>
        </p:nvCxnSpPr>
        <p:spPr>
          <a:xfrm>
            <a:off x="194619" y="1023079"/>
            <a:ext cx="1114924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7AAEFCA6-CAC0-20B4-58DD-F2E6E6805D87}"/>
              </a:ext>
            </a:extLst>
          </p:cNvPr>
          <p:cNvSpPr txBox="1"/>
          <p:nvPr/>
        </p:nvSpPr>
        <p:spPr>
          <a:xfrm>
            <a:off x="3534727" y="337593"/>
            <a:ext cx="517160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sz="3200" b="1" dirty="0">
                <a:solidFill>
                  <a:srgbClr val="E97109"/>
                </a:solidFill>
              </a:rPr>
              <a:t>PASO INICIAL : Cargar Balu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B47E9DA-2BA4-88A0-3CCE-48F7A3EE13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86" y="1191786"/>
            <a:ext cx="10245421" cy="4474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5131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A95E84-514A-1244-B465-F4C6EDBB7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C967161-9A34-F4EE-16A2-266771A26F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619" y="102943"/>
            <a:ext cx="1529678" cy="8635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9B009C8-FD2F-79D1-0CBB-9EDC114061B6}"/>
              </a:ext>
            </a:extLst>
          </p:cNvPr>
          <p:cNvSpPr txBox="1"/>
          <p:nvPr/>
        </p:nvSpPr>
        <p:spPr>
          <a:xfrm>
            <a:off x="1719544" y="258585"/>
            <a:ext cx="644278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rgbClr val="E97109"/>
                </a:solidFill>
                <a:latin typeface="Gill Sans MT" panose="020B0502020104020203" pitchFamily="34" charset="77"/>
                <a:cs typeface="Arial" panose="020B0604020202020204" pitchFamily="34" charset="0"/>
              </a:rPr>
              <a:t>E06</a:t>
            </a:r>
            <a:r>
              <a:rPr lang="en-CL" sz="4000" b="1" dirty="0">
                <a:solidFill>
                  <a:srgbClr val="E97109"/>
                </a:solidFill>
                <a:latin typeface="Gill Sans MT" panose="020B0502020104020203" pitchFamily="34" charset="77"/>
                <a:cs typeface="Arial" panose="020B0604020202020204" pitchFamily="34" charset="0"/>
              </a:rPr>
              <a:t> &gt; P01: </a:t>
            </a:r>
            <a:r>
              <a:rPr lang="en-CL" sz="4000" b="1" dirty="0">
                <a:solidFill>
                  <a:srgbClr val="E97F32"/>
                </a:solidFill>
                <a:latin typeface="Gill Sans MT" panose="020B0502020104020203" pitchFamily="34" charset="77"/>
                <a:cs typeface="Arial" panose="020B0604020202020204" pitchFamily="34" charset="0"/>
              </a:rPr>
              <a:t>Base de Datos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76E9E53-44AA-52AA-7C09-5DC7D57F8884}"/>
              </a:ext>
            </a:extLst>
          </p:cNvPr>
          <p:cNvCxnSpPr/>
          <p:nvPr/>
        </p:nvCxnSpPr>
        <p:spPr>
          <a:xfrm>
            <a:off x="194619" y="1023079"/>
            <a:ext cx="1114924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410A391-EC2F-C22D-CAA0-91D1816F9113}"/>
              </a:ext>
            </a:extLst>
          </p:cNvPr>
          <p:cNvSpPr txBox="1"/>
          <p:nvPr/>
        </p:nvSpPr>
        <p:spPr>
          <a:xfrm>
            <a:off x="1232265" y="8748854"/>
            <a:ext cx="195758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L" sz="3600" dirty="0">
                <a:latin typeface="Gill Sans MT" panose="020B0502020104020203" pitchFamily="34" charset="77"/>
                <a:cs typeface="Consolas" panose="020B0609020204030204" pitchFamily="49" charset="0"/>
              </a:rPr>
              <a:t>Imagen X</a:t>
            </a:r>
          </a:p>
          <a:p>
            <a:pPr algn="ctr"/>
            <a:endParaRPr lang="en-CL" dirty="0">
              <a:latin typeface="Gill Sans MT" panose="020B0502020104020203" pitchFamily="34" charset="77"/>
              <a:cs typeface="Consolas" panose="020B0609020204030204" pitchFamily="49" charset="0"/>
            </a:endParaRPr>
          </a:p>
          <a:p>
            <a:pPr algn="ctr"/>
            <a:r>
              <a:rPr lang="en-CL" dirty="0">
                <a:latin typeface="Gill Sans MT" panose="020B0502020104020203" pitchFamily="34" charset="77"/>
                <a:cs typeface="Consolas" panose="020B0609020204030204" pitchFamily="49" charset="0"/>
              </a:rPr>
              <a:t>1000 x 1000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834DB2F-EED2-FC65-C7EB-135846599AD1}"/>
              </a:ext>
            </a:extLst>
          </p:cNvPr>
          <p:cNvSpPr txBox="1"/>
          <p:nvPr/>
        </p:nvSpPr>
        <p:spPr>
          <a:xfrm>
            <a:off x="7985605" y="8748854"/>
            <a:ext cx="20615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L" sz="3600" dirty="0">
                <a:latin typeface="Gill Sans MT" panose="020B0502020104020203" pitchFamily="34" charset="77"/>
                <a:cs typeface="Consolas" panose="020B0609020204030204" pitchFamily="49" charset="0"/>
              </a:rPr>
              <a:t>Imagen Yk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5FEE29F-A4C4-BE6D-F00A-65412080D4E2}"/>
              </a:ext>
            </a:extLst>
          </p:cNvPr>
          <p:cNvSpPr txBox="1"/>
          <p:nvPr/>
        </p:nvSpPr>
        <p:spPr>
          <a:xfrm>
            <a:off x="5599938" y="2023951"/>
            <a:ext cx="405431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sz="2400" dirty="0">
                <a:latin typeface="Gill Sans MT" panose="020B0502020104020203" pitchFamily="34" charset="77"/>
              </a:rPr>
              <a:t>300 imágenes:</a:t>
            </a:r>
          </a:p>
          <a:p>
            <a:endParaRPr lang="en-CL" sz="2400" dirty="0">
              <a:latin typeface="Gill Sans MT" panose="020B0502020104020203" pitchFamily="34" charset="77"/>
            </a:endParaRPr>
          </a:p>
          <a:p>
            <a:r>
              <a:rPr lang="en-CL" sz="2400" dirty="0">
                <a:latin typeface="Gill Sans MT" panose="020B0502020104020203" pitchFamily="34" charset="77"/>
              </a:rPr>
              <a:t>30 imágenes binarias por dígito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1CEFCF-D210-F584-4A92-B509638399E3}"/>
              </a:ext>
            </a:extLst>
          </p:cNvPr>
          <p:cNvSpPr txBox="1"/>
          <p:nvPr/>
        </p:nvSpPr>
        <p:spPr>
          <a:xfrm>
            <a:off x="5599938" y="3598817"/>
            <a:ext cx="6893234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L" sz="2400" dirty="0">
                <a:latin typeface="Gill Sans MT" panose="020B0502020104020203" pitchFamily="34" charset="77"/>
              </a:rPr>
              <a:t>Las primeras 21 de cada dígito se usan para training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L" sz="2400" dirty="0">
              <a:latin typeface="Gill Sans MT" panose="020B0502020104020203" pitchFamily="34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L" sz="2400" dirty="0">
                <a:latin typeface="Gill Sans MT" panose="020B0502020104020203" pitchFamily="34" charset="77"/>
              </a:rPr>
              <a:t>Las últimas 9 de cada dígito se usan para testing</a:t>
            </a:r>
          </a:p>
          <a:p>
            <a:endParaRPr lang="en-CL" sz="2400" dirty="0">
              <a:latin typeface="Gill Sans MT" panose="020B0502020104020203" pitchFamily="34" charset="77"/>
            </a:endParaRPr>
          </a:p>
          <a:p>
            <a:r>
              <a:rPr lang="en-CL" sz="2400" dirty="0">
                <a:latin typeface="Gill Sans MT" panose="020B0502020104020203" pitchFamily="34" charset="77"/>
              </a:rPr>
              <a:t>D_xx_nnn.png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L" sz="2400" dirty="0">
                <a:latin typeface="Gill Sans MT" panose="020B0502020104020203" pitchFamily="34" charset="77"/>
              </a:rPr>
              <a:t>xx = 00, 01, … 09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L" sz="2400" dirty="0">
                <a:latin typeface="Gill Sans MT" panose="020B0502020104020203" pitchFamily="34" charset="77"/>
              </a:rPr>
              <a:t>nnn = 000, 001, … 029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D0BEBF-8E83-C902-EB10-A2722BB3F6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5601" y="1590408"/>
            <a:ext cx="2764743" cy="685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113EAF2-2749-7082-B0E7-3E1766AA9F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8" y="1587863"/>
            <a:ext cx="1905000" cy="462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91033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88DB09-7246-2F1B-D8A4-2B1150C6D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88FBED9-F99C-6494-80D9-29F61CE826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619" y="102943"/>
            <a:ext cx="1529678" cy="8635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181B507-05D3-D864-5EEC-BCEEF1384523}"/>
              </a:ext>
            </a:extLst>
          </p:cNvPr>
          <p:cNvSpPr txBox="1"/>
          <p:nvPr/>
        </p:nvSpPr>
        <p:spPr>
          <a:xfrm>
            <a:off x="1719544" y="258585"/>
            <a:ext cx="709841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rgbClr val="E9710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E06</a:t>
            </a:r>
            <a:r>
              <a:rPr lang="en-CL" sz="4000" b="1" dirty="0">
                <a:solidFill>
                  <a:srgbClr val="E9710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&gt; P02: </a:t>
            </a:r>
            <a:r>
              <a:rPr lang="en-CL" sz="4000" b="1" dirty="0">
                <a:solidFill>
                  <a:srgbClr val="E97F3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Pruebas Iniciales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856A424-3E23-270F-0022-66DB467581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457" y="1332740"/>
            <a:ext cx="9350637" cy="5043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3858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8D78A1-BD48-61A2-8B0B-EDAD968CB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F5EFF02-3AE9-B94E-4DB6-0444F14138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619" y="102943"/>
            <a:ext cx="1529678" cy="8635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03BE6E2-194C-FF50-1934-163F4B590DA6}"/>
              </a:ext>
            </a:extLst>
          </p:cNvPr>
          <p:cNvSpPr txBox="1"/>
          <p:nvPr/>
        </p:nvSpPr>
        <p:spPr>
          <a:xfrm>
            <a:off x="1719544" y="258585"/>
            <a:ext cx="1009603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rgbClr val="E9710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E06</a:t>
            </a:r>
            <a:r>
              <a:rPr lang="en-CL" sz="4000" b="1" dirty="0">
                <a:solidFill>
                  <a:srgbClr val="E9710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&gt; P03: </a:t>
            </a:r>
            <a:r>
              <a:rPr lang="en-CL" sz="4000" b="1" dirty="0">
                <a:solidFill>
                  <a:srgbClr val="E97F3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Extracción de Características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3959E4-5E5C-9C1D-7BB0-1749511418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133" y="1681301"/>
            <a:ext cx="1654894" cy="4104998"/>
          </a:xfrm>
          <a:prstGeom prst="rect">
            <a:avLst/>
          </a:prstGeom>
        </p:spPr>
      </p:pic>
      <p:sp>
        <p:nvSpPr>
          <p:cNvPr id="5" name="Right Arrow 4">
            <a:extLst>
              <a:ext uri="{FF2B5EF4-FFF2-40B4-BE49-F238E27FC236}">
                <a16:creationId xmlns:a16="http://schemas.microsoft.com/office/drawing/2014/main" id="{0828D16B-28CD-C38E-F1E3-958CE5AAEC1E}"/>
              </a:ext>
            </a:extLst>
          </p:cNvPr>
          <p:cNvSpPr/>
          <p:nvPr/>
        </p:nvSpPr>
        <p:spPr>
          <a:xfrm>
            <a:off x="3212918" y="3526971"/>
            <a:ext cx="470263" cy="46541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0BBC1B0-69F4-1B5A-808A-D6E8686542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3178" y="1201640"/>
            <a:ext cx="7772400" cy="5064320"/>
          </a:xfrm>
          <a:prstGeom prst="rect">
            <a:avLst/>
          </a:prstGeom>
        </p:spPr>
      </p:pic>
      <p:pic>
        <p:nvPicPr>
          <p:cNvPr id="3073" name="Picture 1">
            <a:extLst>
              <a:ext uri="{FF2B5EF4-FFF2-40B4-BE49-F238E27FC236}">
                <a16:creationId xmlns:a16="http://schemas.microsoft.com/office/drawing/2014/main" id="{8B354A9F-324E-4C29-D83A-9DE5FCAB18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896100" cy="3733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06159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A38594-4C6A-2C05-587C-00F286D84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7DAF4B5-896D-9C60-0B2D-5C63D9A7F9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619" y="102943"/>
            <a:ext cx="1529678" cy="8635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1B15729-9FEB-E567-48E9-2AA9C8EECF8D}"/>
              </a:ext>
            </a:extLst>
          </p:cNvPr>
          <p:cNvSpPr txBox="1"/>
          <p:nvPr/>
        </p:nvSpPr>
        <p:spPr>
          <a:xfrm>
            <a:off x="1719544" y="258585"/>
            <a:ext cx="100200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rgbClr val="E9710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E06</a:t>
            </a:r>
            <a:r>
              <a:rPr lang="en-CL" sz="4000" b="1" dirty="0">
                <a:solidFill>
                  <a:srgbClr val="E9710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&gt; P04: </a:t>
            </a:r>
            <a:r>
              <a:rPr lang="en-CL" sz="4000" b="1" dirty="0">
                <a:solidFill>
                  <a:srgbClr val="E97F3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Separación Training / Testing</a:t>
            </a:r>
          </a:p>
        </p:txBody>
      </p:sp>
      <p:sp>
        <p:nvSpPr>
          <p:cNvPr id="4" name="Right Brace 3">
            <a:extLst>
              <a:ext uri="{FF2B5EF4-FFF2-40B4-BE49-F238E27FC236}">
                <a16:creationId xmlns:a16="http://schemas.microsoft.com/office/drawing/2014/main" id="{24A3A7AD-ED09-8666-9165-C99ADFA22F1B}"/>
              </a:ext>
            </a:extLst>
          </p:cNvPr>
          <p:cNvSpPr/>
          <p:nvPr/>
        </p:nvSpPr>
        <p:spPr>
          <a:xfrm>
            <a:off x="8280787" y="2076420"/>
            <a:ext cx="127485" cy="366786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5" name="Right Brace 4">
            <a:extLst>
              <a:ext uri="{FF2B5EF4-FFF2-40B4-BE49-F238E27FC236}">
                <a16:creationId xmlns:a16="http://schemas.microsoft.com/office/drawing/2014/main" id="{A3D281BA-17B7-E10A-F8E6-FDFBFB6AD321}"/>
              </a:ext>
            </a:extLst>
          </p:cNvPr>
          <p:cNvSpPr/>
          <p:nvPr/>
        </p:nvSpPr>
        <p:spPr>
          <a:xfrm>
            <a:off x="8275630" y="2629326"/>
            <a:ext cx="127485" cy="366786"/>
          </a:xfrm>
          <a:prstGeom prst="rightBrac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3D68406-4B9F-13DF-085B-70ED32C51E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669" y="1327150"/>
            <a:ext cx="7772400" cy="5064320"/>
          </a:xfrm>
          <a:prstGeom prst="rect">
            <a:avLst/>
          </a:prstGeom>
        </p:spPr>
      </p:pic>
      <p:sp>
        <p:nvSpPr>
          <p:cNvPr id="11" name="Right Brace 10">
            <a:extLst>
              <a:ext uri="{FF2B5EF4-FFF2-40B4-BE49-F238E27FC236}">
                <a16:creationId xmlns:a16="http://schemas.microsoft.com/office/drawing/2014/main" id="{6503B3D5-16B5-DCF7-53F0-2B7F1D3A222E}"/>
              </a:ext>
            </a:extLst>
          </p:cNvPr>
          <p:cNvSpPr/>
          <p:nvPr/>
        </p:nvSpPr>
        <p:spPr>
          <a:xfrm>
            <a:off x="8275869" y="3153056"/>
            <a:ext cx="127485" cy="366786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12" name="Right Brace 11">
            <a:extLst>
              <a:ext uri="{FF2B5EF4-FFF2-40B4-BE49-F238E27FC236}">
                <a16:creationId xmlns:a16="http://schemas.microsoft.com/office/drawing/2014/main" id="{FD0D96DC-9497-3997-6D51-F50104010FF9}"/>
              </a:ext>
            </a:extLst>
          </p:cNvPr>
          <p:cNvSpPr/>
          <p:nvPr/>
        </p:nvSpPr>
        <p:spPr>
          <a:xfrm>
            <a:off x="8270712" y="3705962"/>
            <a:ext cx="127485" cy="366786"/>
          </a:xfrm>
          <a:prstGeom prst="rightBrac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13" name="Right Brace 12">
            <a:extLst>
              <a:ext uri="{FF2B5EF4-FFF2-40B4-BE49-F238E27FC236}">
                <a16:creationId xmlns:a16="http://schemas.microsoft.com/office/drawing/2014/main" id="{73251F75-21CF-0577-AB6D-27BF359A1F88}"/>
              </a:ext>
            </a:extLst>
          </p:cNvPr>
          <p:cNvSpPr/>
          <p:nvPr/>
        </p:nvSpPr>
        <p:spPr>
          <a:xfrm>
            <a:off x="8280785" y="4219860"/>
            <a:ext cx="127485" cy="366786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14" name="Right Brace 13">
            <a:extLst>
              <a:ext uri="{FF2B5EF4-FFF2-40B4-BE49-F238E27FC236}">
                <a16:creationId xmlns:a16="http://schemas.microsoft.com/office/drawing/2014/main" id="{DD5A6B83-AC2C-605B-F93E-1132AB3BCF99}"/>
              </a:ext>
            </a:extLst>
          </p:cNvPr>
          <p:cNvSpPr/>
          <p:nvPr/>
        </p:nvSpPr>
        <p:spPr>
          <a:xfrm>
            <a:off x="8275628" y="4772766"/>
            <a:ext cx="127485" cy="366786"/>
          </a:xfrm>
          <a:prstGeom prst="rightBrac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15" name="Right Brace 14">
            <a:extLst>
              <a:ext uri="{FF2B5EF4-FFF2-40B4-BE49-F238E27FC236}">
                <a16:creationId xmlns:a16="http://schemas.microsoft.com/office/drawing/2014/main" id="{A1723801-4247-4D58-15C2-A5F27878651F}"/>
              </a:ext>
            </a:extLst>
          </p:cNvPr>
          <p:cNvSpPr/>
          <p:nvPr/>
        </p:nvSpPr>
        <p:spPr>
          <a:xfrm>
            <a:off x="8266036" y="5325989"/>
            <a:ext cx="127485" cy="366786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16" name="Right Brace 15">
            <a:extLst>
              <a:ext uri="{FF2B5EF4-FFF2-40B4-BE49-F238E27FC236}">
                <a16:creationId xmlns:a16="http://schemas.microsoft.com/office/drawing/2014/main" id="{9E12CC62-CA0A-7846-3E85-F1960FFFAB08}"/>
              </a:ext>
            </a:extLst>
          </p:cNvPr>
          <p:cNvSpPr/>
          <p:nvPr/>
        </p:nvSpPr>
        <p:spPr>
          <a:xfrm>
            <a:off x="8260879" y="5878895"/>
            <a:ext cx="127485" cy="366786"/>
          </a:xfrm>
          <a:prstGeom prst="rightBrac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44A7890-845F-22CC-6DD9-41AB5B4AB8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3234" y="994885"/>
            <a:ext cx="7132320" cy="2668746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31929FE-B1C6-4C58-FDF5-B05A91EAAD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1120" y="4072749"/>
            <a:ext cx="6926580" cy="2578848"/>
          </a:xfrm>
          <a:prstGeom prst="rect">
            <a:avLst/>
          </a:prstGeom>
        </p:spPr>
      </p:pic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EE95724-0885-FBE3-BE43-0646D1ACE491}"/>
              </a:ext>
            </a:extLst>
          </p:cNvPr>
          <p:cNvCxnSpPr/>
          <p:nvPr/>
        </p:nvCxnSpPr>
        <p:spPr>
          <a:xfrm flipV="1">
            <a:off x="8408270" y="1857375"/>
            <a:ext cx="504964" cy="3857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85441DD-2A5A-43BB-B728-EE07A45D4574}"/>
              </a:ext>
            </a:extLst>
          </p:cNvPr>
          <p:cNvCxnSpPr>
            <a:cxnSpLocks/>
            <a:endCxn id="18" idx="1"/>
          </p:cNvCxnSpPr>
          <p:nvPr/>
        </p:nvCxnSpPr>
        <p:spPr>
          <a:xfrm flipV="1">
            <a:off x="8398197" y="2329258"/>
            <a:ext cx="515037" cy="10997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C2CFC3A-7ECD-8F35-B2DF-D23A3C816A57}"/>
              </a:ext>
            </a:extLst>
          </p:cNvPr>
          <p:cNvCxnSpPr>
            <a:cxnSpLocks/>
          </p:cNvCxnSpPr>
          <p:nvPr/>
        </p:nvCxnSpPr>
        <p:spPr>
          <a:xfrm flipV="1">
            <a:off x="8408270" y="2814357"/>
            <a:ext cx="494889" cy="16004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9202C954-B98B-F247-4D7F-103A9D1EE208}"/>
              </a:ext>
            </a:extLst>
          </p:cNvPr>
          <p:cNvCxnSpPr>
            <a:cxnSpLocks/>
            <a:stCxn id="15" idx="1"/>
          </p:cNvCxnSpPr>
          <p:nvPr/>
        </p:nvCxnSpPr>
        <p:spPr>
          <a:xfrm flipV="1">
            <a:off x="8393521" y="3367263"/>
            <a:ext cx="562442" cy="21421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70A38303-DBC3-537A-A6F1-5E4D6DBC3524}"/>
              </a:ext>
            </a:extLst>
          </p:cNvPr>
          <p:cNvCxnSpPr>
            <a:cxnSpLocks/>
          </p:cNvCxnSpPr>
          <p:nvPr/>
        </p:nvCxnSpPr>
        <p:spPr>
          <a:xfrm>
            <a:off x="8398197" y="2814357"/>
            <a:ext cx="557766" cy="2015964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6D45CEC2-41C4-23FC-A756-0B0D143401F8}"/>
              </a:ext>
            </a:extLst>
          </p:cNvPr>
          <p:cNvCxnSpPr>
            <a:cxnSpLocks/>
          </p:cNvCxnSpPr>
          <p:nvPr/>
        </p:nvCxnSpPr>
        <p:spPr>
          <a:xfrm>
            <a:off x="8412946" y="3877838"/>
            <a:ext cx="562923" cy="1437582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9264B133-8B40-84A5-CC62-5FE1CA608C79}"/>
              </a:ext>
            </a:extLst>
          </p:cNvPr>
          <p:cNvCxnSpPr>
            <a:cxnSpLocks/>
            <a:stCxn id="14" idx="1"/>
          </p:cNvCxnSpPr>
          <p:nvPr/>
        </p:nvCxnSpPr>
        <p:spPr>
          <a:xfrm>
            <a:off x="8403113" y="4956159"/>
            <a:ext cx="510121" cy="883411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842066F5-B3D7-6D8C-DF4F-E91BA277AC9A}"/>
              </a:ext>
            </a:extLst>
          </p:cNvPr>
          <p:cNvCxnSpPr>
            <a:cxnSpLocks/>
            <a:stCxn id="16" idx="1"/>
          </p:cNvCxnSpPr>
          <p:nvPr/>
        </p:nvCxnSpPr>
        <p:spPr>
          <a:xfrm>
            <a:off x="8388364" y="6062288"/>
            <a:ext cx="567599" cy="378303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06635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9C22CD-0660-EE4A-A43A-FDE668A44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1B02DDC-B6E2-336B-1410-228F254532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619" y="102943"/>
            <a:ext cx="1529678" cy="8635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0F6B1C1-86D1-B634-91CE-401346D0677F}"/>
              </a:ext>
            </a:extLst>
          </p:cNvPr>
          <p:cNvSpPr txBox="1"/>
          <p:nvPr/>
        </p:nvSpPr>
        <p:spPr>
          <a:xfrm>
            <a:off x="1719544" y="258585"/>
            <a:ext cx="100200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rgbClr val="E9710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E06</a:t>
            </a:r>
            <a:r>
              <a:rPr lang="en-CL" sz="4000" b="1" dirty="0">
                <a:solidFill>
                  <a:srgbClr val="E9710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&gt; P04: </a:t>
            </a:r>
            <a:r>
              <a:rPr lang="en-CL" sz="4000" b="1" dirty="0">
                <a:solidFill>
                  <a:srgbClr val="E97F3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Separación Training / Testing</a:t>
            </a:r>
          </a:p>
        </p:txBody>
      </p:sp>
      <p:sp>
        <p:nvSpPr>
          <p:cNvPr id="4" name="Right Brace 3">
            <a:extLst>
              <a:ext uri="{FF2B5EF4-FFF2-40B4-BE49-F238E27FC236}">
                <a16:creationId xmlns:a16="http://schemas.microsoft.com/office/drawing/2014/main" id="{62CFD00C-6AB6-9375-DA43-7B5AB13BBF8E}"/>
              </a:ext>
            </a:extLst>
          </p:cNvPr>
          <p:cNvSpPr/>
          <p:nvPr/>
        </p:nvSpPr>
        <p:spPr>
          <a:xfrm>
            <a:off x="3894516" y="2076420"/>
            <a:ext cx="127485" cy="366786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5" name="Right Brace 4">
            <a:extLst>
              <a:ext uri="{FF2B5EF4-FFF2-40B4-BE49-F238E27FC236}">
                <a16:creationId xmlns:a16="http://schemas.microsoft.com/office/drawing/2014/main" id="{1C77E669-4F03-49C0-6F86-8C7E535696AE}"/>
              </a:ext>
            </a:extLst>
          </p:cNvPr>
          <p:cNvSpPr/>
          <p:nvPr/>
        </p:nvSpPr>
        <p:spPr>
          <a:xfrm>
            <a:off x="3889359" y="2629326"/>
            <a:ext cx="127485" cy="366786"/>
          </a:xfrm>
          <a:prstGeom prst="rightBrac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0C4F48D-F7FE-429E-7F55-27DDD8E2D4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023602" y="1327150"/>
            <a:ext cx="7772400" cy="5064320"/>
          </a:xfrm>
          <a:prstGeom prst="rect">
            <a:avLst/>
          </a:prstGeom>
        </p:spPr>
      </p:pic>
      <p:sp>
        <p:nvSpPr>
          <p:cNvPr id="11" name="Right Brace 10">
            <a:extLst>
              <a:ext uri="{FF2B5EF4-FFF2-40B4-BE49-F238E27FC236}">
                <a16:creationId xmlns:a16="http://schemas.microsoft.com/office/drawing/2014/main" id="{82296EB1-A49E-713D-0C75-FB852ACDA3FE}"/>
              </a:ext>
            </a:extLst>
          </p:cNvPr>
          <p:cNvSpPr/>
          <p:nvPr/>
        </p:nvSpPr>
        <p:spPr>
          <a:xfrm>
            <a:off x="3889598" y="3153056"/>
            <a:ext cx="127485" cy="366786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12" name="Right Brace 11">
            <a:extLst>
              <a:ext uri="{FF2B5EF4-FFF2-40B4-BE49-F238E27FC236}">
                <a16:creationId xmlns:a16="http://schemas.microsoft.com/office/drawing/2014/main" id="{C8545E41-36C0-B9D1-50AA-51CCF551DC9C}"/>
              </a:ext>
            </a:extLst>
          </p:cNvPr>
          <p:cNvSpPr/>
          <p:nvPr/>
        </p:nvSpPr>
        <p:spPr>
          <a:xfrm>
            <a:off x="3884441" y="3705962"/>
            <a:ext cx="127485" cy="366786"/>
          </a:xfrm>
          <a:prstGeom prst="rightBrac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13" name="Right Brace 12">
            <a:extLst>
              <a:ext uri="{FF2B5EF4-FFF2-40B4-BE49-F238E27FC236}">
                <a16:creationId xmlns:a16="http://schemas.microsoft.com/office/drawing/2014/main" id="{40C13EAB-8908-8E37-B5C0-EEFF95D3E390}"/>
              </a:ext>
            </a:extLst>
          </p:cNvPr>
          <p:cNvSpPr/>
          <p:nvPr/>
        </p:nvSpPr>
        <p:spPr>
          <a:xfrm>
            <a:off x="3894514" y="4219860"/>
            <a:ext cx="127485" cy="366786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14" name="Right Brace 13">
            <a:extLst>
              <a:ext uri="{FF2B5EF4-FFF2-40B4-BE49-F238E27FC236}">
                <a16:creationId xmlns:a16="http://schemas.microsoft.com/office/drawing/2014/main" id="{84D09506-159A-A155-F7CB-A3FBB7068A6D}"/>
              </a:ext>
            </a:extLst>
          </p:cNvPr>
          <p:cNvSpPr/>
          <p:nvPr/>
        </p:nvSpPr>
        <p:spPr>
          <a:xfrm>
            <a:off x="3889357" y="4772766"/>
            <a:ext cx="127485" cy="366786"/>
          </a:xfrm>
          <a:prstGeom prst="rightBrac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15" name="Right Brace 14">
            <a:extLst>
              <a:ext uri="{FF2B5EF4-FFF2-40B4-BE49-F238E27FC236}">
                <a16:creationId xmlns:a16="http://schemas.microsoft.com/office/drawing/2014/main" id="{FF7E3FB1-A2ED-BB61-24EE-B3457598522C}"/>
              </a:ext>
            </a:extLst>
          </p:cNvPr>
          <p:cNvSpPr/>
          <p:nvPr/>
        </p:nvSpPr>
        <p:spPr>
          <a:xfrm>
            <a:off x="3879765" y="5325989"/>
            <a:ext cx="127485" cy="366786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16" name="Right Brace 15">
            <a:extLst>
              <a:ext uri="{FF2B5EF4-FFF2-40B4-BE49-F238E27FC236}">
                <a16:creationId xmlns:a16="http://schemas.microsoft.com/office/drawing/2014/main" id="{2A0A7676-F7D1-3E0C-BBD5-9E5A9921A6BA}"/>
              </a:ext>
            </a:extLst>
          </p:cNvPr>
          <p:cNvSpPr/>
          <p:nvPr/>
        </p:nvSpPr>
        <p:spPr>
          <a:xfrm>
            <a:off x="3874608" y="5878895"/>
            <a:ext cx="127485" cy="366786"/>
          </a:xfrm>
          <a:prstGeom prst="rightBrac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523F777-D8C8-36C9-4FC0-6A4201A6D5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6963" y="994885"/>
            <a:ext cx="7132320" cy="2668746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2C59942C-F351-1DEF-CEA0-5BCD0CC9C4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4849" y="4072749"/>
            <a:ext cx="6898014" cy="2568212"/>
          </a:xfrm>
          <a:prstGeom prst="rect">
            <a:avLst/>
          </a:prstGeom>
        </p:spPr>
      </p:pic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901917D-610F-1E79-973B-E5300F25E39B}"/>
              </a:ext>
            </a:extLst>
          </p:cNvPr>
          <p:cNvCxnSpPr/>
          <p:nvPr/>
        </p:nvCxnSpPr>
        <p:spPr>
          <a:xfrm flipV="1">
            <a:off x="4021999" y="1857375"/>
            <a:ext cx="504964" cy="3857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2B626CA-C100-4E0F-B4C6-707F05E4E250}"/>
              </a:ext>
            </a:extLst>
          </p:cNvPr>
          <p:cNvCxnSpPr>
            <a:cxnSpLocks/>
            <a:endCxn id="18" idx="1"/>
          </p:cNvCxnSpPr>
          <p:nvPr/>
        </p:nvCxnSpPr>
        <p:spPr>
          <a:xfrm flipV="1">
            <a:off x="4011926" y="2329258"/>
            <a:ext cx="515037" cy="10997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F0CCCD4-C91D-106E-E25E-D1938A346666}"/>
              </a:ext>
            </a:extLst>
          </p:cNvPr>
          <p:cNvCxnSpPr>
            <a:cxnSpLocks/>
          </p:cNvCxnSpPr>
          <p:nvPr/>
        </p:nvCxnSpPr>
        <p:spPr>
          <a:xfrm flipV="1">
            <a:off x="4021999" y="2814357"/>
            <a:ext cx="494889" cy="16004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80BCF0F0-3C7A-FA15-B188-CF66B5530C90}"/>
              </a:ext>
            </a:extLst>
          </p:cNvPr>
          <p:cNvCxnSpPr>
            <a:cxnSpLocks/>
            <a:stCxn id="15" idx="1"/>
          </p:cNvCxnSpPr>
          <p:nvPr/>
        </p:nvCxnSpPr>
        <p:spPr>
          <a:xfrm flipV="1">
            <a:off x="4007250" y="3367263"/>
            <a:ext cx="562442" cy="21421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B1E8252-210C-0F60-7AAB-3B50DC3BFB77}"/>
              </a:ext>
            </a:extLst>
          </p:cNvPr>
          <p:cNvCxnSpPr>
            <a:cxnSpLocks/>
          </p:cNvCxnSpPr>
          <p:nvPr/>
        </p:nvCxnSpPr>
        <p:spPr>
          <a:xfrm>
            <a:off x="4011926" y="2814357"/>
            <a:ext cx="557766" cy="2015964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B6193A11-B01C-A9FD-D0F8-6DA24C009650}"/>
              </a:ext>
            </a:extLst>
          </p:cNvPr>
          <p:cNvCxnSpPr>
            <a:cxnSpLocks/>
          </p:cNvCxnSpPr>
          <p:nvPr/>
        </p:nvCxnSpPr>
        <p:spPr>
          <a:xfrm>
            <a:off x="4026675" y="3877838"/>
            <a:ext cx="562923" cy="1437582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9E124E3D-8A32-173D-CFE1-EDD1F32E4AD8}"/>
              </a:ext>
            </a:extLst>
          </p:cNvPr>
          <p:cNvCxnSpPr>
            <a:cxnSpLocks/>
            <a:stCxn id="14" idx="1"/>
          </p:cNvCxnSpPr>
          <p:nvPr/>
        </p:nvCxnSpPr>
        <p:spPr>
          <a:xfrm>
            <a:off x="4016842" y="4956159"/>
            <a:ext cx="510121" cy="883411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23472342-9DA6-C75E-95A2-0EDF608A2917}"/>
              </a:ext>
            </a:extLst>
          </p:cNvPr>
          <p:cNvCxnSpPr>
            <a:cxnSpLocks/>
            <a:stCxn id="16" idx="1"/>
          </p:cNvCxnSpPr>
          <p:nvPr/>
        </p:nvCxnSpPr>
        <p:spPr>
          <a:xfrm>
            <a:off x="4002093" y="6062288"/>
            <a:ext cx="567599" cy="378303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41389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C57919-726E-5E19-7EE7-7B85EAA7D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350C069-6988-DC37-27D1-7F40114A1C61}"/>
              </a:ext>
            </a:extLst>
          </p:cNvPr>
          <p:cNvSpPr txBox="1"/>
          <p:nvPr/>
        </p:nvSpPr>
        <p:spPr>
          <a:xfrm>
            <a:off x="280530" y="3664126"/>
            <a:ext cx="11848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Features &amp;</a:t>
            </a:r>
          </a:p>
          <a:p>
            <a:pPr algn="ctr"/>
            <a:r>
              <a:rPr lang="en-US" dirty="0">
                <a:latin typeface="Gill Sans MT" panose="020B0502020104020203" pitchFamily="34" charset="77"/>
              </a:rPr>
              <a:t>Labels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13940C1-79EE-3931-BCD8-C8C78F945E80}"/>
              </a:ext>
            </a:extLst>
          </p:cNvPr>
          <p:cNvSpPr/>
          <p:nvPr/>
        </p:nvSpPr>
        <p:spPr>
          <a:xfrm>
            <a:off x="3902035" y="2565965"/>
            <a:ext cx="1185494" cy="9459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Cleaning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FCC826DA-37DF-F646-C85B-200584CA1419}"/>
              </a:ext>
            </a:extLst>
          </p:cNvPr>
          <p:cNvSpPr/>
          <p:nvPr/>
        </p:nvSpPr>
        <p:spPr>
          <a:xfrm>
            <a:off x="3902034" y="4457827"/>
            <a:ext cx="1185494" cy="9459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Clean</a:t>
            </a:r>
          </a:p>
          <a:p>
            <a:pPr algn="ctr"/>
            <a:r>
              <a:rPr lang="en-US" dirty="0">
                <a:latin typeface="Gill Sans MT" panose="020B0502020104020203" pitchFamily="34" charset="77"/>
              </a:rPr>
              <a:t>Features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E377C70-6CF4-60BF-4AA0-54E2F232A61F}"/>
              </a:ext>
            </a:extLst>
          </p:cNvPr>
          <p:cNvCxnSpPr>
            <a:cxnSpLocks/>
            <a:stCxn id="7" idx="2"/>
            <a:endCxn id="10" idx="0"/>
          </p:cNvCxnSpPr>
          <p:nvPr/>
        </p:nvCxnSpPr>
        <p:spPr>
          <a:xfrm flipH="1">
            <a:off x="4494781" y="3511896"/>
            <a:ext cx="1" cy="945931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F2D4632E-41F5-4BF4-0101-968DF9A720E1}"/>
              </a:ext>
            </a:extLst>
          </p:cNvPr>
          <p:cNvSpPr/>
          <p:nvPr/>
        </p:nvSpPr>
        <p:spPr>
          <a:xfrm>
            <a:off x="5388960" y="2565965"/>
            <a:ext cx="1296324" cy="9459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Normalization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0AED5D4-B52E-703E-E218-3E517F62AD52}"/>
              </a:ext>
            </a:extLst>
          </p:cNvPr>
          <p:cNvSpPr/>
          <p:nvPr/>
        </p:nvSpPr>
        <p:spPr>
          <a:xfrm>
            <a:off x="5388959" y="4457827"/>
            <a:ext cx="1296324" cy="9459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Normalize</a:t>
            </a:r>
          </a:p>
          <a:p>
            <a:pPr algn="ctr"/>
            <a:r>
              <a:rPr lang="en-US" dirty="0">
                <a:latin typeface="Gill Sans MT" panose="020B0502020104020203" pitchFamily="34" charset="77"/>
              </a:rPr>
              <a:t>Features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E0B8A32-6337-D678-AA90-8091800A4EA1}"/>
              </a:ext>
            </a:extLst>
          </p:cNvPr>
          <p:cNvCxnSpPr>
            <a:cxnSpLocks/>
            <a:stCxn id="18" idx="2"/>
            <a:endCxn id="19" idx="0"/>
          </p:cNvCxnSpPr>
          <p:nvPr/>
        </p:nvCxnSpPr>
        <p:spPr>
          <a:xfrm flipH="1">
            <a:off x="6037121" y="3511896"/>
            <a:ext cx="1" cy="945931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CD2CE54-FCD5-0190-5FE1-9E99CDE0922F}"/>
              </a:ext>
            </a:extLst>
          </p:cNvPr>
          <p:cNvCxnSpPr>
            <a:cxnSpLocks/>
            <a:stCxn id="7" idx="3"/>
            <a:endCxn id="18" idx="1"/>
          </p:cNvCxnSpPr>
          <p:nvPr/>
        </p:nvCxnSpPr>
        <p:spPr>
          <a:xfrm>
            <a:off x="5087529" y="3038931"/>
            <a:ext cx="301431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23055440-38D9-D669-3BB5-3900FEC682A5}"/>
              </a:ext>
            </a:extLst>
          </p:cNvPr>
          <p:cNvSpPr/>
          <p:nvPr/>
        </p:nvSpPr>
        <p:spPr>
          <a:xfrm>
            <a:off x="6982689" y="2565822"/>
            <a:ext cx="1296324" cy="9459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Selection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CAA751BA-D6BA-5E4D-BD5D-A298624FF643}"/>
              </a:ext>
            </a:extLst>
          </p:cNvPr>
          <p:cNvSpPr/>
          <p:nvPr/>
        </p:nvSpPr>
        <p:spPr>
          <a:xfrm>
            <a:off x="6982688" y="4457684"/>
            <a:ext cx="1296324" cy="9459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Select</a:t>
            </a:r>
          </a:p>
          <a:p>
            <a:pPr algn="ctr"/>
            <a:r>
              <a:rPr lang="en-US" dirty="0">
                <a:latin typeface="Gill Sans MT" panose="020B0502020104020203" pitchFamily="34" charset="77"/>
              </a:rPr>
              <a:t>Features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5E994A4E-FFF0-0BD4-7124-F30A1FB57F54}"/>
              </a:ext>
            </a:extLst>
          </p:cNvPr>
          <p:cNvCxnSpPr>
            <a:cxnSpLocks/>
            <a:stCxn id="26" idx="2"/>
            <a:endCxn id="27" idx="0"/>
          </p:cNvCxnSpPr>
          <p:nvPr/>
        </p:nvCxnSpPr>
        <p:spPr>
          <a:xfrm flipH="1">
            <a:off x="7630850" y="3511753"/>
            <a:ext cx="1" cy="945931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57B2AC7-3332-4A78-B8FA-510139384F6C}"/>
              </a:ext>
            </a:extLst>
          </p:cNvPr>
          <p:cNvCxnSpPr>
            <a:cxnSpLocks/>
            <a:stCxn id="18" idx="3"/>
            <a:endCxn id="26" idx="1"/>
          </p:cNvCxnSpPr>
          <p:nvPr/>
        </p:nvCxnSpPr>
        <p:spPr>
          <a:xfrm flipV="1">
            <a:off x="6685284" y="3038788"/>
            <a:ext cx="297405" cy="143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1432F5C3-E135-1BD9-26BB-BA308E264FB0}"/>
              </a:ext>
            </a:extLst>
          </p:cNvPr>
          <p:cNvCxnSpPr>
            <a:cxnSpLocks/>
            <a:stCxn id="10" idx="3"/>
            <a:endCxn id="19" idx="1"/>
          </p:cNvCxnSpPr>
          <p:nvPr/>
        </p:nvCxnSpPr>
        <p:spPr>
          <a:xfrm>
            <a:off x="5087528" y="4930793"/>
            <a:ext cx="301431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339B3276-18FD-5942-E8D7-CFB62F7229CB}"/>
              </a:ext>
            </a:extLst>
          </p:cNvPr>
          <p:cNvCxnSpPr>
            <a:cxnSpLocks/>
            <a:stCxn id="19" idx="3"/>
            <a:endCxn id="27" idx="1"/>
          </p:cNvCxnSpPr>
          <p:nvPr/>
        </p:nvCxnSpPr>
        <p:spPr>
          <a:xfrm flipV="1">
            <a:off x="6685283" y="4930650"/>
            <a:ext cx="297405" cy="143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CF7CC4EC-1D0F-C41E-FA04-EDAC190C0A58}"/>
              </a:ext>
            </a:extLst>
          </p:cNvPr>
          <p:cNvSpPr/>
          <p:nvPr/>
        </p:nvSpPr>
        <p:spPr>
          <a:xfrm>
            <a:off x="8576415" y="2565822"/>
            <a:ext cx="1556125" cy="9459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Train</a:t>
            </a: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38C20A85-2B48-FB60-FB29-AFF57FB1DA4D}"/>
              </a:ext>
            </a:extLst>
          </p:cNvPr>
          <p:cNvSpPr/>
          <p:nvPr/>
        </p:nvSpPr>
        <p:spPr>
          <a:xfrm>
            <a:off x="8576415" y="4457684"/>
            <a:ext cx="1556126" cy="9459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Classify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8BF98A7F-C762-D637-369D-5AECA7A260F2}"/>
              </a:ext>
            </a:extLst>
          </p:cNvPr>
          <p:cNvCxnSpPr>
            <a:cxnSpLocks/>
            <a:stCxn id="45" idx="2"/>
            <a:endCxn id="46" idx="0"/>
          </p:cNvCxnSpPr>
          <p:nvPr/>
        </p:nvCxnSpPr>
        <p:spPr>
          <a:xfrm>
            <a:off x="9354478" y="3511753"/>
            <a:ext cx="0" cy="945931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E6168FE8-10A1-F6E6-5829-24220F09EA31}"/>
              </a:ext>
            </a:extLst>
          </p:cNvPr>
          <p:cNvCxnSpPr>
            <a:cxnSpLocks/>
            <a:stCxn id="27" idx="3"/>
            <a:endCxn id="46" idx="1"/>
          </p:cNvCxnSpPr>
          <p:nvPr/>
        </p:nvCxnSpPr>
        <p:spPr>
          <a:xfrm>
            <a:off x="8279012" y="4930650"/>
            <a:ext cx="297403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62" name="Elbow Connector 61">
            <a:extLst>
              <a:ext uri="{FF2B5EF4-FFF2-40B4-BE49-F238E27FC236}">
                <a16:creationId xmlns:a16="http://schemas.microsoft.com/office/drawing/2014/main" id="{AA03CB15-C550-14FF-060B-E893B61F0A50}"/>
              </a:ext>
            </a:extLst>
          </p:cNvPr>
          <p:cNvCxnSpPr>
            <a:cxnSpLocks/>
            <a:endCxn id="7" idx="1"/>
          </p:cNvCxnSpPr>
          <p:nvPr/>
        </p:nvCxnSpPr>
        <p:spPr>
          <a:xfrm rot="5400000" flipH="1" flipV="1">
            <a:off x="3088220" y="2698081"/>
            <a:ext cx="472965" cy="1154666"/>
          </a:xfrm>
          <a:prstGeom prst="bentConnector2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CE772363-1435-BFEA-1A98-61D6D4C2FB4F}"/>
              </a:ext>
            </a:extLst>
          </p:cNvPr>
          <p:cNvSpPr txBox="1"/>
          <p:nvPr/>
        </p:nvSpPr>
        <p:spPr>
          <a:xfrm>
            <a:off x="2298403" y="2345523"/>
            <a:ext cx="7425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ytrain</a:t>
            </a:r>
            <a:endParaRPr lang="en-US" sz="1200" dirty="0">
              <a:latin typeface="Courier" pitchFamily="2" charset="0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FAEF16E-4524-7619-4504-CB25E1DCC639}"/>
              </a:ext>
            </a:extLst>
          </p:cNvPr>
          <p:cNvSpPr txBox="1"/>
          <p:nvPr/>
        </p:nvSpPr>
        <p:spPr>
          <a:xfrm>
            <a:off x="2757009" y="3043538"/>
            <a:ext cx="7425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Xtrain</a:t>
            </a:r>
            <a:endParaRPr lang="en-US" sz="1200" dirty="0">
              <a:latin typeface="Courier" pitchFamily="2" charset="0"/>
            </a:endParaRPr>
          </a:p>
        </p:txBody>
      </p:sp>
      <p:cxnSp>
        <p:nvCxnSpPr>
          <p:cNvPr id="67" name="Elbow Connector 66">
            <a:extLst>
              <a:ext uri="{FF2B5EF4-FFF2-40B4-BE49-F238E27FC236}">
                <a16:creationId xmlns:a16="http://schemas.microsoft.com/office/drawing/2014/main" id="{D06BE51B-5541-CD3B-FF91-57A1C3018B59}"/>
              </a:ext>
            </a:extLst>
          </p:cNvPr>
          <p:cNvCxnSpPr>
            <a:cxnSpLocks/>
            <a:endCxn id="10" idx="1"/>
          </p:cNvCxnSpPr>
          <p:nvPr/>
        </p:nvCxnSpPr>
        <p:spPr>
          <a:xfrm rot="16200000" flipH="1">
            <a:off x="3088218" y="4116977"/>
            <a:ext cx="472966" cy="1154665"/>
          </a:xfrm>
          <a:prstGeom prst="bentConnector2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23274F0B-FDB7-7AB5-1FE0-064D858F12A5}"/>
              </a:ext>
            </a:extLst>
          </p:cNvPr>
          <p:cNvSpPr txBox="1"/>
          <p:nvPr/>
        </p:nvSpPr>
        <p:spPr>
          <a:xfrm>
            <a:off x="2760066" y="4660146"/>
            <a:ext cx="6495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Xtest</a:t>
            </a:r>
            <a:endParaRPr lang="en-US" sz="1200" dirty="0">
              <a:latin typeface="Courier" pitchFamily="2" charset="0"/>
            </a:endParaRP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AACF0AD0-F03D-A542-8781-4E0D60C3578D}"/>
              </a:ext>
            </a:extLst>
          </p:cNvPr>
          <p:cNvSpPr/>
          <p:nvPr/>
        </p:nvSpPr>
        <p:spPr>
          <a:xfrm>
            <a:off x="10527957" y="4735284"/>
            <a:ext cx="358345" cy="39073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1E244E24-161C-31A1-B194-188E15CE201B}"/>
              </a:ext>
            </a:extLst>
          </p:cNvPr>
          <p:cNvCxnSpPr>
            <a:cxnSpLocks/>
            <a:stCxn id="46" idx="3"/>
            <a:endCxn id="71" idx="2"/>
          </p:cNvCxnSpPr>
          <p:nvPr/>
        </p:nvCxnSpPr>
        <p:spPr>
          <a:xfrm flipV="1">
            <a:off x="10132541" y="4930649"/>
            <a:ext cx="395416" cy="1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76" name="Elbow Connector 75">
            <a:extLst>
              <a:ext uri="{FF2B5EF4-FFF2-40B4-BE49-F238E27FC236}">
                <a16:creationId xmlns:a16="http://schemas.microsoft.com/office/drawing/2014/main" id="{ECAA9462-0EBD-1916-8E47-6584E126FBEB}"/>
              </a:ext>
            </a:extLst>
          </p:cNvPr>
          <p:cNvCxnSpPr>
            <a:cxnSpLocks/>
            <a:endCxn id="26" idx="0"/>
          </p:cNvCxnSpPr>
          <p:nvPr/>
        </p:nvCxnSpPr>
        <p:spPr>
          <a:xfrm rot="5400000" flipH="1" flipV="1">
            <a:off x="4493650" y="374695"/>
            <a:ext cx="946074" cy="5328328"/>
          </a:xfrm>
          <a:prstGeom prst="bentConnector3">
            <a:avLst>
              <a:gd name="adj1" fmla="val 124163"/>
            </a:avLst>
          </a:prstGeom>
          <a:ln w="31750"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79" name="Elbow Connector 78">
            <a:extLst>
              <a:ext uri="{FF2B5EF4-FFF2-40B4-BE49-F238E27FC236}">
                <a16:creationId xmlns:a16="http://schemas.microsoft.com/office/drawing/2014/main" id="{CE5743A7-F1FD-A17A-F5ED-55CF6697AD26}"/>
              </a:ext>
            </a:extLst>
          </p:cNvPr>
          <p:cNvCxnSpPr>
            <a:cxnSpLocks/>
            <a:endCxn id="71" idx="4"/>
          </p:cNvCxnSpPr>
          <p:nvPr/>
        </p:nvCxnSpPr>
        <p:spPr>
          <a:xfrm rot="16200000" flipH="1">
            <a:off x="6170733" y="589616"/>
            <a:ext cx="668187" cy="8404608"/>
          </a:xfrm>
          <a:prstGeom prst="bentConnector3">
            <a:avLst>
              <a:gd name="adj1" fmla="val 171198"/>
            </a:avLst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023CDF2E-8ABB-8C60-8802-7E1063D6EC32}"/>
              </a:ext>
            </a:extLst>
          </p:cNvPr>
          <p:cNvSpPr txBox="1"/>
          <p:nvPr/>
        </p:nvSpPr>
        <p:spPr>
          <a:xfrm>
            <a:off x="2312886" y="5317805"/>
            <a:ext cx="6495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ytest</a:t>
            </a:r>
            <a:endParaRPr lang="en-US" sz="1200" dirty="0">
              <a:latin typeface="Courier" pitchFamily="2" charset="0"/>
            </a:endParaRPr>
          </a:p>
        </p:txBody>
      </p: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2A0FE9DE-8203-3659-B139-E03247F4E05E}"/>
              </a:ext>
            </a:extLst>
          </p:cNvPr>
          <p:cNvCxnSpPr>
            <a:cxnSpLocks/>
          </p:cNvCxnSpPr>
          <p:nvPr/>
        </p:nvCxnSpPr>
        <p:spPr>
          <a:xfrm flipV="1">
            <a:off x="1388119" y="3984718"/>
            <a:ext cx="540000" cy="1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76C66853-9DBB-6F49-A86F-B6B74D9A4E20}"/>
              </a:ext>
            </a:extLst>
          </p:cNvPr>
          <p:cNvCxnSpPr>
            <a:cxnSpLocks/>
            <a:stCxn id="26" idx="3"/>
            <a:endCxn id="45" idx="1"/>
          </p:cNvCxnSpPr>
          <p:nvPr/>
        </p:nvCxnSpPr>
        <p:spPr>
          <a:xfrm>
            <a:off x="8279013" y="3038788"/>
            <a:ext cx="297402" cy="0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90" name="Rectangle 89">
            <a:extLst>
              <a:ext uri="{FF2B5EF4-FFF2-40B4-BE49-F238E27FC236}">
                <a16:creationId xmlns:a16="http://schemas.microsoft.com/office/drawing/2014/main" id="{6B505B3F-48C5-F5ED-0EEA-0D7C7D581776}"/>
              </a:ext>
            </a:extLst>
          </p:cNvPr>
          <p:cNvSpPr/>
          <p:nvPr/>
        </p:nvSpPr>
        <p:spPr>
          <a:xfrm>
            <a:off x="10555044" y="4636402"/>
            <a:ext cx="30008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Gill Sans MT" panose="020B0502020104020203" pitchFamily="34" charset="77"/>
              </a:rPr>
              <a:t>-</a:t>
            </a:r>
          </a:p>
        </p:txBody>
      </p:sp>
      <p:cxnSp>
        <p:nvCxnSpPr>
          <p:cNvPr id="92" name="Elbow Connector 91">
            <a:extLst>
              <a:ext uri="{FF2B5EF4-FFF2-40B4-BE49-F238E27FC236}">
                <a16:creationId xmlns:a16="http://schemas.microsoft.com/office/drawing/2014/main" id="{B3890C2E-8A05-4177-F1F3-C98D42993F44}"/>
              </a:ext>
            </a:extLst>
          </p:cNvPr>
          <p:cNvCxnSpPr>
            <a:cxnSpLocks/>
            <a:endCxn id="45" idx="0"/>
          </p:cNvCxnSpPr>
          <p:nvPr/>
        </p:nvCxnSpPr>
        <p:spPr>
          <a:xfrm rot="5400000" flipH="1" flipV="1">
            <a:off x="5355463" y="-487118"/>
            <a:ext cx="946074" cy="7051955"/>
          </a:xfrm>
          <a:prstGeom prst="bentConnector3">
            <a:avLst>
              <a:gd name="adj1" fmla="val 124163"/>
            </a:avLst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95" name="Rounded Rectangle 94">
            <a:extLst>
              <a:ext uri="{FF2B5EF4-FFF2-40B4-BE49-F238E27FC236}">
                <a16:creationId xmlns:a16="http://schemas.microsoft.com/office/drawing/2014/main" id="{ED3EE95B-2D23-072F-3C15-793FB88B9B76}"/>
              </a:ext>
            </a:extLst>
          </p:cNvPr>
          <p:cNvSpPr/>
          <p:nvPr/>
        </p:nvSpPr>
        <p:spPr>
          <a:xfrm>
            <a:off x="1932199" y="3511896"/>
            <a:ext cx="1185494" cy="9459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Split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5AB9988D-29F1-23DF-C7BA-63C2CEAF7A30}"/>
              </a:ext>
            </a:extLst>
          </p:cNvPr>
          <p:cNvSpPr txBox="1"/>
          <p:nvPr/>
        </p:nvSpPr>
        <p:spPr>
          <a:xfrm>
            <a:off x="4556566" y="1314685"/>
            <a:ext cx="130035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Xtrain_clean</a:t>
            </a:r>
            <a:endParaRPr lang="en-US" sz="1200" dirty="0">
              <a:latin typeface="Courier" pitchFamily="2" charset="0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68053807-0EB8-5C76-B860-0FD39A753D4B}"/>
              </a:ext>
            </a:extLst>
          </p:cNvPr>
          <p:cNvSpPr txBox="1"/>
          <p:nvPr/>
        </p:nvSpPr>
        <p:spPr>
          <a:xfrm>
            <a:off x="6193223" y="1314684"/>
            <a:ext cx="12073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Xtrain_norm</a:t>
            </a:r>
            <a:endParaRPr lang="en-US" sz="1200" dirty="0">
              <a:latin typeface="Courier" pitchFamily="2" charset="0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F7F789C0-9F5A-EBF3-40EC-CC490B783B1F}"/>
              </a:ext>
            </a:extLst>
          </p:cNvPr>
          <p:cNvSpPr txBox="1"/>
          <p:nvPr/>
        </p:nvSpPr>
        <p:spPr>
          <a:xfrm>
            <a:off x="7833438" y="1170991"/>
            <a:ext cx="11144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 err="1">
                <a:latin typeface="Courier" pitchFamily="2" charset="0"/>
              </a:rPr>
              <a:t>Xtrain_sfs</a:t>
            </a:r>
            <a:endParaRPr lang="en-US" sz="1200" dirty="0">
              <a:latin typeface="Courier" pitchFamily="2" charset="0"/>
            </a:endParaRPr>
          </a:p>
          <a:p>
            <a:pPr algn="ctr"/>
            <a:r>
              <a:rPr lang="en-US" sz="1200" dirty="0" err="1">
                <a:latin typeface="Courier" pitchFamily="2" charset="0"/>
              </a:rPr>
              <a:t>Xtrain_ex</a:t>
            </a:r>
            <a:endParaRPr lang="en-US" sz="1200" dirty="0">
              <a:latin typeface="Courier" pitchFamily="2" charset="0"/>
            </a:endParaRPr>
          </a:p>
        </p:txBody>
      </p: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F145C46A-4EBD-A879-EB3C-AFB1056D8B69}"/>
              </a:ext>
            </a:extLst>
          </p:cNvPr>
          <p:cNvCxnSpPr/>
          <p:nvPr/>
        </p:nvCxnSpPr>
        <p:spPr>
          <a:xfrm>
            <a:off x="5201171" y="1627692"/>
            <a:ext cx="0" cy="1395476"/>
          </a:xfrm>
          <a:prstGeom prst="line">
            <a:avLst/>
          </a:prstGeom>
          <a:ln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CAC2F238-B8BA-6AD7-7EBC-9F47B19F073A}"/>
              </a:ext>
            </a:extLst>
          </p:cNvPr>
          <p:cNvCxnSpPr/>
          <p:nvPr/>
        </p:nvCxnSpPr>
        <p:spPr>
          <a:xfrm>
            <a:off x="6809271" y="1628754"/>
            <a:ext cx="0" cy="1395476"/>
          </a:xfrm>
          <a:prstGeom prst="line">
            <a:avLst/>
          </a:prstGeom>
          <a:ln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352A1AE8-4DDC-033D-249F-DB4A7BB69B39}"/>
              </a:ext>
            </a:extLst>
          </p:cNvPr>
          <p:cNvCxnSpPr/>
          <p:nvPr/>
        </p:nvCxnSpPr>
        <p:spPr>
          <a:xfrm>
            <a:off x="8395459" y="1635428"/>
            <a:ext cx="0" cy="1395476"/>
          </a:xfrm>
          <a:prstGeom prst="line">
            <a:avLst/>
          </a:prstGeom>
          <a:ln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62DAB68D-D891-D092-9980-8EEC99FD1012}"/>
              </a:ext>
            </a:extLst>
          </p:cNvPr>
          <p:cNvSpPr txBox="1"/>
          <p:nvPr/>
        </p:nvSpPr>
        <p:spPr>
          <a:xfrm>
            <a:off x="4606820" y="6298579"/>
            <a:ext cx="12073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Xtest_clean</a:t>
            </a:r>
            <a:endParaRPr lang="en-US" sz="1200" dirty="0">
              <a:latin typeface="Courier" pitchFamily="2" charset="0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55B9F534-4458-10FC-33F9-D97428EB036C}"/>
              </a:ext>
            </a:extLst>
          </p:cNvPr>
          <p:cNvSpPr txBox="1"/>
          <p:nvPr/>
        </p:nvSpPr>
        <p:spPr>
          <a:xfrm>
            <a:off x="6292905" y="6298578"/>
            <a:ext cx="11144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Xtest_norm</a:t>
            </a:r>
            <a:endParaRPr lang="en-US" sz="1200" dirty="0">
              <a:latin typeface="Courier" pitchFamily="2" charset="0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C10164B4-EDA1-58D8-F80C-E7DB52D3302D}"/>
              </a:ext>
            </a:extLst>
          </p:cNvPr>
          <p:cNvSpPr txBox="1"/>
          <p:nvPr/>
        </p:nvSpPr>
        <p:spPr>
          <a:xfrm>
            <a:off x="7896049" y="6298578"/>
            <a:ext cx="10214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 err="1">
                <a:latin typeface="Courier" pitchFamily="2" charset="0"/>
              </a:rPr>
              <a:t>Xtest_sfs</a:t>
            </a:r>
            <a:endParaRPr lang="en-US" sz="1200" dirty="0">
              <a:latin typeface="Courier" pitchFamily="2" charset="0"/>
            </a:endParaRPr>
          </a:p>
          <a:p>
            <a:pPr algn="ctr"/>
            <a:r>
              <a:rPr lang="en-US" sz="1200" dirty="0" err="1">
                <a:latin typeface="Courier" pitchFamily="2" charset="0"/>
              </a:rPr>
              <a:t>Xtest_ex</a:t>
            </a:r>
            <a:endParaRPr lang="en-US" sz="1200" dirty="0">
              <a:latin typeface="Courier" pitchFamily="2" charset="0"/>
            </a:endParaRPr>
          </a:p>
        </p:txBody>
      </p: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ABE07EBA-49D5-9EB9-DCA1-D339F42EB7D8}"/>
              </a:ext>
            </a:extLst>
          </p:cNvPr>
          <p:cNvCxnSpPr/>
          <p:nvPr/>
        </p:nvCxnSpPr>
        <p:spPr>
          <a:xfrm>
            <a:off x="5201997" y="4931065"/>
            <a:ext cx="0" cy="1395476"/>
          </a:xfrm>
          <a:prstGeom prst="line">
            <a:avLst/>
          </a:prstGeom>
          <a:ln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A7741DB8-8B3E-AC9D-76E0-8D2807C1097E}"/>
              </a:ext>
            </a:extLst>
          </p:cNvPr>
          <p:cNvCxnSpPr/>
          <p:nvPr/>
        </p:nvCxnSpPr>
        <p:spPr>
          <a:xfrm>
            <a:off x="6810097" y="4932127"/>
            <a:ext cx="0" cy="1395476"/>
          </a:xfrm>
          <a:prstGeom prst="line">
            <a:avLst/>
          </a:prstGeom>
          <a:ln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B2429E24-5F4C-F33A-C177-84DBD7534B5A}"/>
              </a:ext>
            </a:extLst>
          </p:cNvPr>
          <p:cNvCxnSpPr/>
          <p:nvPr/>
        </p:nvCxnSpPr>
        <p:spPr>
          <a:xfrm>
            <a:off x="8396285" y="4938801"/>
            <a:ext cx="0" cy="1395476"/>
          </a:xfrm>
          <a:prstGeom prst="line">
            <a:avLst/>
          </a:prstGeom>
          <a:ln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6398E9E7-D184-2301-E6C7-6DAD4E48C53A}"/>
              </a:ext>
            </a:extLst>
          </p:cNvPr>
          <p:cNvSpPr txBox="1"/>
          <p:nvPr/>
        </p:nvSpPr>
        <p:spPr>
          <a:xfrm>
            <a:off x="9973974" y="4126170"/>
            <a:ext cx="6495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ypred</a:t>
            </a:r>
            <a:endParaRPr lang="en-US" sz="1200" dirty="0">
              <a:latin typeface="Courier" pitchFamily="2" charset="0"/>
            </a:endParaRPr>
          </a:p>
        </p:txBody>
      </p: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319297CF-0413-F8DC-BEB2-6F63CDC64E7A}"/>
              </a:ext>
            </a:extLst>
          </p:cNvPr>
          <p:cNvCxnSpPr>
            <a:cxnSpLocks/>
          </p:cNvCxnSpPr>
          <p:nvPr/>
        </p:nvCxnSpPr>
        <p:spPr>
          <a:xfrm flipV="1">
            <a:off x="10894855" y="4919856"/>
            <a:ext cx="395416" cy="1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11" name="TextBox 110">
            <a:extLst>
              <a:ext uri="{FF2B5EF4-FFF2-40B4-BE49-F238E27FC236}">
                <a16:creationId xmlns:a16="http://schemas.microsoft.com/office/drawing/2014/main" id="{F6FE50D5-9A95-F0AC-CA5D-90A019650191}"/>
              </a:ext>
            </a:extLst>
          </p:cNvPr>
          <p:cNvSpPr txBox="1"/>
          <p:nvPr/>
        </p:nvSpPr>
        <p:spPr>
          <a:xfrm>
            <a:off x="11251259" y="4776445"/>
            <a:ext cx="4635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urier" pitchFamily="2" charset="0"/>
              </a:rPr>
              <a:t>acc</a:t>
            </a:r>
          </a:p>
        </p:txBody>
      </p: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B2AA6716-45DA-F040-9E9E-AC13C9C7008F}"/>
              </a:ext>
            </a:extLst>
          </p:cNvPr>
          <p:cNvCxnSpPr/>
          <p:nvPr/>
        </p:nvCxnSpPr>
        <p:spPr>
          <a:xfrm>
            <a:off x="10305535" y="4415907"/>
            <a:ext cx="0" cy="504000"/>
          </a:xfrm>
          <a:prstGeom prst="line">
            <a:avLst/>
          </a:prstGeom>
          <a:ln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821F1979-A182-E71C-A676-97415D4206E0}"/>
              </a:ext>
            </a:extLst>
          </p:cNvPr>
          <p:cNvSpPr txBox="1"/>
          <p:nvPr/>
        </p:nvSpPr>
        <p:spPr>
          <a:xfrm>
            <a:off x="4516551" y="3806180"/>
            <a:ext cx="7425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sclean</a:t>
            </a:r>
            <a:endParaRPr lang="en-US" sz="1200" dirty="0">
              <a:latin typeface="Courier" pitchFamily="2" charset="0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3AC1D682-45EA-B7F5-4302-1345DE2FA322}"/>
              </a:ext>
            </a:extLst>
          </p:cNvPr>
          <p:cNvSpPr txBox="1"/>
          <p:nvPr/>
        </p:nvSpPr>
        <p:spPr>
          <a:xfrm>
            <a:off x="6040070" y="3806179"/>
            <a:ext cx="4635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a,b</a:t>
            </a:r>
            <a:endParaRPr lang="en-US" sz="1200" dirty="0">
              <a:latin typeface="Courier" pitchFamily="2" charset="0"/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328AEDA1-F88B-39C7-63FA-9FADAF8C1C29}"/>
              </a:ext>
            </a:extLst>
          </p:cNvPr>
          <p:cNvSpPr txBox="1"/>
          <p:nvPr/>
        </p:nvSpPr>
        <p:spPr>
          <a:xfrm>
            <a:off x="7625162" y="3800362"/>
            <a:ext cx="4635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sel</a:t>
            </a:r>
            <a:endParaRPr lang="en-US" sz="1200" dirty="0">
              <a:latin typeface="Courier" pitchFamily="2" charset="0"/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71ED5E9E-8574-B678-91C0-FC7FBA8AFA6C}"/>
              </a:ext>
            </a:extLst>
          </p:cNvPr>
          <p:cNvSpPr txBox="1"/>
          <p:nvPr/>
        </p:nvSpPr>
        <p:spPr>
          <a:xfrm>
            <a:off x="9398703" y="3727476"/>
            <a:ext cx="6896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Gill Sans MT" panose="020B0502020104020203" pitchFamily="34" charset="77"/>
              </a:rPr>
              <a:t>Learned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Model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26CB5A7B-6948-849B-7E79-B97B06996FCD}"/>
              </a:ext>
            </a:extLst>
          </p:cNvPr>
          <p:cNvSpPr txBox="1"/>
          <p:nvPr/>
        </p:nvSpPr>
        <p:spPr>
          <a:xfrm>
            <a:off x="1424287" y="3991246"/>
            <a:ext cx="4635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X,y</a:t>
            </a:r>
            <a:endParaRPr lang="en-US" sz="1200" dirty="0">
              <a:latin typeface="Courier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721C4ED-465C-7C2C-A487-A4C18708B628}"/>
              </a:ext>
            </a:extLst>
          </p:cNvPr>
          <p:cNvSpPr txBox="1"/>
          <p:nvPr/>
        </p:nvSpPr>
        <p:spPr>
          <a:xfrm>
            <a:off x="1162594" y="2622522"/>
            <a:ext cx="570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dirty="0">
                <a:latin typeface="Gill Sans MT" panose="020B0502020104020203" pitchFamily="34" charset="77"/>
              </a:rPr>
              <a:t>70%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FB0AF8-0D15-1344-14A1-D83AFBE32EFC}"/>
              </a:ext>
            </a:extLst>
          </p:cNvPr>
          <p:cNvSpPr txBox="1"/>
          <p:nvPr/>
        </p:nvSpPr>
        <p:spPr>
          <a:xfrm>
            <a:off x="1159509" y="4653291"/>
            <a:ext cx="570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dirty="0">
                <a:latin typeface="Gill Sans MT" panose="020B0502020104020203" pitchFamily="34" charset="77"/>
              </a:rPr>
              <a:t>30%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4AECF0-912D-0179-BCF0-88D1F694F1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619" y="102943"/>
            <a:ext cx="1529678" cy="86352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5B14796-1658-E9EC-5FE7-D4CC1023B36A}"/>
              </a:ext>
            </a:extLst>
          </p:cNvPr>
          <p:cNvSpPr txBox="1"/>
          <p:nvPr/>
        </p:nvSpPr>
        <p:spPr>
          <a:xfrm>
            <a:off x="1719544" y="258585"/>
            <a:ext cx="467307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rgbClr val="E9710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E06</a:t>
            </a:r>
            <a:r>
              <a:rPr lang="en-CL" sz="4000" b="1" dirty="0">
                <a:solidFill>
                  <a:srgbClr val="E9710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&gt; P05: </a:t>
            </a:r>
            <a:r>
              <a:rPr lang="en-CL" sz="4000" b="1" dirty="0">
                <a:solidFill>
                  <a:srgbClr val="E97F3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CLEAN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6287CCC-0FDB-6627-CBA1-98298B2D2E5B}"/>
              </a:ext>
            </a:extLst>
          </p:cNvPr>
          <p:cNvSpPr/>
          <p:nvPr/>
        </p:nvSpPr>
        <p:spPr>
          <a:xfrm>
            <a:off x="3818972" y="1800224"/>
            <a:ext cx="1320479" cy="4371975"/>
          </a:xfrm>
          <a:prstGeom prst="roundRect">
            <a:avLst/>
          </a:prstGeom>
          <a:noFill/>
          <a:ln w="508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3100071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63D357-A29A-FB11-D4B6-9E6CAA3800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7F42C85-7E6D-C8E5-F311-CACC29839DD7}"/>
              </a:ext>
            </a:extLst>
          </p:cNvPr>
          <p:cNvSpPr txBox="1"/>
          <p:nvPr/>
        </p:nvSpPr>
        <p:spPr>
          <a:xfrm>
            <a:off x="280530" y="3664126"/>
            <a:ext cx="11848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Features &amp;</a:t>
            </a:r>
          </a:p>
          <a:p>
            <a:pPr algn="ctr"/>
            <a:r>
              <a:rPr lang="en-US" dirty="0">
                <a:latin typeface="Gill Sans MT" panose="020B0502020104020203" pitchFamily="34" charset="77"/>
              </a:rPr>
              <a:t>Labels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626CC67-74AA-7C5B-F218-30F8454DFDCA}"/>
              </a:ext>
            </a:extLst>
          </p:cNvPr>
          <p:cNvSpPr/>
          <p:nvPr/>
        </p:nvSpPr>
        <p:spPr>
          <a:xfrm>
            <a:off x="3902035" y="2565965"/>
            <a:ext cx="1185494" cy="9459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Cleaning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CAD7A93-2841-7909-68E4-A638E8C76DB6}"/>
              </a:ext>
            </a:extLst>
          </p:cNvPr>
          <p:cNvSpPr/>
          <p:nvPr/>
        </p:nvSpPr>
        <p:spPr>
          <a:xfrm>
            <a:off x="3902034" y="4457827"/>
            <a:ext cx="1185494" cy="9459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Clean</a:t>
            </a:r>
          </a:p>
          <a:p>
            <a:pPr algn="ctr"/>
            <a:r>
              <a:rPr lang="en-US" dirty="0">
                <a:latin typeface="Gill Sans MT" panose="020B0502020104020203" pitchFamily="34" charset="77"/>
              </a:rPr>
              <a:t>Features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62B82E1-2F3D-4E4B-C0BA-9F1D95B07842}"/>
              </a:ext>
            </a:extLst>
          </p:cNvPr>
          <p:cNvCxnSpPr>
            <a:cxnSpLocks/>
            <a:stCxn id="7" idx="2"/>
            <a:endCxn id="10" idx="0"/>
          </p:cNvCxnSpPr>
          <p:nvPr/>
        </p:nvCxnSpPr>
        <p:spPr>
          <a:xfrm flipH="1">
            <a:off x="4494781" y="3511896"/>
            <a:ext cx="1" cy="945931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35420605-E438-35FE-BB26-99CC8D1A3526}"/>
              </a:ext>
            </a:extLst>
          </p:cNvPr>
          <p:cNvSpPr/>
          <p:nvPr/>
        </p:nvSpPr>
        <p:spPr>
          <a:xfrm>
            <a:off x="5388960" y="2565965"/>
            <a:ext cx="1296324" cy="9459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Normalization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BA21B649-FC5E-4DA2-496A-DEA074681C4A}"/>
              </a:ext>
            </a:extLst>
          </p:cNvPr>
          <p:cNvSpPr/>
          <p:nvPr/>
        </p:nvSpPr>
        <p:spPr>
          <a:xfrm>
            <a:off x="5388959" y="4457827"/>
            <a:ext cx="1296324" cy="9459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Normalize</a:t>
            </a:r>
          </a:p>
          <a:p>
            <a:pPr algn="ctr"/>
            <a:r>
              <a:rPr lang="en-US" dirty="0">
                <a:latin typeface="Gill Sans MT" panose="020B0502020104020203" pitchFamily="34" charset="77"/>
              </a:rPr>
              <a:t>Features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2441487-EC2E-CD78-F885-96B1FDF7D418}"/>
              </a:ext>
            </a:extLst>
          </p:cNvPr>
          <p:cNvCxnSpPr>
            <a:cxnSpLocks/>
            <a:stCxn id="18" idx="2"/>
            <a:endCxn id="19" idx="0"/>
          </p:cNvCxnSpPr>
          <p:nvPr/>
        </p:nvCxnSpPr>
        <p:spPr>
          <a:xfrm flipH="1">
            <a:off x="6037121" y="3511896"/>
            <a:ext cx="1" cy="945931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3F3358CB-2957-A58F-6569-0119935F71F4}"/>
              </a:ext>
            </a:extLst>
          </p:cNvPr>
          <p:cNvCxnSpPr>
            <a:cxnSpLocks/>
            <a:stCxn id="7" idx="3"/>
            <a:endCxn id="18" idx="1"/>
          </p:cNvCxnSpPr>
          <p:nvPr/>
        </p:nvCxnSpPr>
        <p:spPr>
          <a:xfrm>
            <a:off x="5087529" y="3038931"/>
            <a:ext cx="301431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F6D9346F-AC17-C241-BAC9-7CE97CA92F9D}"/>
              </a:ext>
            </a:extLst>
          </p:cNvPr>
          <p:cNvSpPr/>
          <p:nvPr/>
        </p:nvSpPr>
        <p:spPr>
          <a:xfrm>
            <a:off x="6982689" y="2565822"/>
            <a:ext cx="1296324" cy="9459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Selection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99448166-4BAD-00F0-DD2A-63A139829D12}"/>
              </a:ext>
            </a:extLst>
          </p:cNvPr>
          <p:cNvSpPr/>
          <p:nvPr/>
        </p:nvSpPr>
        <p:spPr>
          <a:xfrm>
            <a:off x="6982688" y="4457684"/>
            <a:ext cx="1296324" cy="9459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Select</a:t>
            </a:r>
          </a:p>
          <a:p>
            <a:pPr algn="ctr"/>
            <a:r>
              <a:rPr lang="en-US" dirty="0">
                <a:latin typeface="Gill Sans MT" panose="020B0502020104020203" pitchFamily="34" charset="77"/>
              </a:rPr>
              <a:t>Features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7D39756-D6C9-68B5-1448-9F42DBC55C81}"/>
              </a:ext>
            </a:extLst>
          </p:cNvPr>
          <p:cNvCxnSpPr>
            <a:cxnSpLocks/>
            <a:stCxn id="26" idx="2"/>
            <a:endCxn id="27" idx="0"/>
          </p:cNvCxnSpPr>
          <p:nvPr/>
        </p:nvCxnSpPr>
        <p:spPr>
          <a:xfrm flipH="1">
            <a:off x="7630850" y="3511753"/>
            <a:ext cx="1" cy="945931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881F0FA0-EC44-938D-25CA-B864154EDA51}"/>
              </a:ext>
            </a:extLst>
          </p:cNvPr>
          <p:cNvCxnSpPr>
            <a:cxnSpLocks/>
            <a:stCxn id="18" idx="3"/>
            <a:endCxn id="26" idx="1"/>
          </p:cNvCxnSpPr>
          <p:nvPr/>
        </p:nvCxnSpPr>
        <p:spPr>
          <a:xfrm flipV="1">
            <a:off x="6685284" y="3038788"/>
            <a:ext cx="297405" cy="143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6CFD873E-BBB5-1C8A-8238-195C73EF762E}"/>
              </a:ext>
            </a:extLst>
          </p:cNvPr>
          <p:cNvCxnSpPr>
            <a:cxnSpLocks/>
            <a:stCxn id="10" idx="3"/>
            <a:endCxn id="19" idx="1"/>
          </p:cNvCxnSpPr>
          <p:nvPr/>
        </p:nvCxnSpPr>
        <p:spPr>
          <a:xfrm>
            <a:off x="5087528" y="4930793"/>
            <a:ext cx="301431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5D1BE612-9913-4936-087C-0DF3B6E2C01D}"/>
              </a:ext>
            </a:extLst>
          </p:cNvPr>
          <p:cNvCxnSpPr>
            <a:cxnSpLocks/>
            <a:stCxn id="19" idx="3"/>
            <a:endCxn id="27" idx="1"/>
          </p:cNvCxnSpPr>
          <p:nvPr/>
        </p:nvCxnSpPr>
        <p:spPr>
          <a:xfrm flipV="1">
            <a:off x="6685283" y="4930650"/>
            <a:ext cx="297405" cy="143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012016AD-F702-DEF9-5339-D8264B333133}"/>
              </a:ext>
            </a:extLst>
          </p:cNvPr>
          <p:cNvSpPr/>
          <p:nvPr/>
        </p:nvSpPr>
        <p:spPr>
          <a:xfrm>
            <a:off x="8576415" y="2565822"/>
            <a:ext cx="1556125" cy="9459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Train</a:t>
            </a: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68006CE9-41E8-8534-7CCA-A902E0B7EC0D}"/>
              </a:ext>
            </a:extLst>
          </p:cNvPr>
          <p:cNvSpPr/>
          <p:nvPr/>
        </p:nvSpPr>
        <p:spPr>
          <a:xfrm>
            <a:off x="8576415" y="4457684"/>
            <a:ext cx="1556126" cy="9459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Classify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F400FC17-EE38-73F9-CC00-CE75C2FB42C8}"/>
              </a:ext>
            </a:extLst>
          </p:cNvPr>
          <p:cNvCxnSpPr>
            <a:cxnSpLocks/>
            <a:stCxn id="45" idx="2"/>
            <a:endCxn id="46" idx="0"/>
          </p:cNvCxnSpPr>
          <p:nvPr/>
        </p:nvCxnSpPr>
        <p:spPr>
          <a:xfrm>
            <a:off x="9354478" y="3511753"/>
            <a:ext cx="0" cy="945931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1609A56D-2BDF-504D-056E-11CE456A0638}"/>
              </a:ext>
            </a:extLst>
          </p:cNvPr>
          <p:cNvCxnSpPr>
            <a:cxnSpLocks/>
            <a:stCxn id="27" idx="3"/>
            <a:endCxn id="46" idx="1"/>
          </p:cNvCxnSpPr>
          <p:nvPr/>
        </p:nvCxnSpPr>
        <p:spPr>
          <a:xfrm>
            <a:off x="8279012" y="4930650"/>
            <a:ext cx="297403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62" name="Elbow Connector 61">
            <a:extLst>
              <a:ext uri="{FF2B5EF4-FFF2-40B4-BE49-F238E27FC236}">
                <a16:creationId xmlns:a16="http://schemas.microsoft.com/office/drawing/2014/main" id="{CAFA5483-6D6D-904F-F308-BBB8BBC45D63}"/>
              </a:ext>
            </a:extLst>
          </p:cNvPr>
          <p:cNvCxnSpPr>
            <a:cxnSpLocks/>
            <a:endCxn id="7" idx="1"/>
          </p:cNvCxnSpPr>
          <p:nvPr/>
        </p:nvCxnSpPr>
        <p:spPr>
          <a:xfrm rot="5400000" flipH="1" flipV="1">
            <a:off x="3088220" y="2698081"/>
            <a:ext cx="472965" cy="1154666"/>
          </a:xfrm>
          <a:prstGeom prst="bentConnector2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6F525E16-BCCC-0E84-34B9-14FD31CB7A8B}"/>
              </a:ext>
            </a:extLst>
          </p:cNvPr>
          <p:cNvSpPr txBox="1"/>
          <p:nvPr/>
        </p:nvSpPr>
        <p:spPr>
          <a:xfrm>
            <a:off x="2298403" y="2345523"/>
            <a:ext cx="7425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ytrain</a:t>
            </a:r>
            <a:endParaRPr lang="en-US" sz="1200" dirty="0">
              <a:latin typeface="Courier" pitchFamily="2" charset="0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AC72DAD-A7BB-94DF-E534-694B13C0C1EE}"/>
              </a:ext>
            </a:extLst>
          </p:cNvPr>
          <p:cNvSpPr txBox="1"/>
          <p:nvPr/>
        </p:nvSpPr>
        <p:spPr>
          <a:xfrm>
            <a:off x="2757009" y="3043538"/>
            <a:ext cx="7425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Xtrain</a:t>
            </a:r>
            <a:endParaRPr lang="en-US" sz="1200" dirty="0">
              <a:latin typeface="Courier" pitchFamily="2" charset="0"/>
            </a:endParaRPr>
          </a:p>
        </p:txBody>
      </p:sp>
      <p:cxnSp>
        <p:nvCxnSpPr>
          <p:cNvPr id="67" name="Elbow Connector 66">
            <a:extLst>
              <a:ext uri="{FF2B5EF4-FFF2-40B4-BE49-F238E27FC236}">
                <a16:creationId xmlns:a16="http://schemas.microsoft.com/office/drawing/2014/main" id="{E0E3A303-D100-8B34-FB74-E6E9CE552B24}"/>
              </a:ext>
            </a:extLst>
          </p:cNvPr>
          <p:cNvCxnSpPr>
            <a:cxnSpLocks/>
            <a:endCxn id="10" idx="1"/>
          </p:cNvCxnSpPr>
          <p:nvPr/>
        </p:nvCxnSpPr>
        <p:spPr>
          <a:xfrm rot="16200000" flipH="1">
            <a:off x="3088218" y="4116977"/>
            <a:ext cx="472966" cy="1154665"/>
          </a:xfrm>
          <a:prstGeom prst="bentConnector2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FD98456E-BE38-FF9C-663C-48E7DF76F327}"/>
              </a:ext>
            </a:extLst>
          </p:cNvPr>
          <p:cNvSpPr txBox="1"/>
          <p:nvPr/>
        </p:nvSpPr>
        <p:spPr>
          <a:xfrm>
            <a:off x="2760066" y="4660146"/>
            <a:ext cx="6495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Xtest</a:t>
            </a:r>
            <a:endParaRPr lang="en-US" sz="1200" dirty="0">
              <a:latin typeface="Courier" pitchFamily="2" charset="0"/>
            </a:endParaRP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B3FAE3C2-EF43-5005-E4CB-97EE03B327FE}"/>
              </a:ext>
            </a:extLst>
          </p:cNvPr>
          <p:cNvSpPr/>
          <p:nvPr/>
        </p:nvSpPr>
        <p:spPr>
          <a:xfrm>
            <a:off x="10527957" y="4735284"/>
            <a:ext cx="358345" cy="39073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212A39A8-8254-E750-5CC6-0518BEA86EFA}"/>
              </a:ext>
            </a:extLst>
          </p:cNvPr>
          <p:cNvCxnSpPr>
            <a:cxnSpLocks/>
            <a:stCxn id="46" idx="3"/>
            <a:endCxn id="71" idx="2"/>
          </p:cNvCxnSpPr>
          <p:nvPr/>
        </p:nvCxnSpPr>
        <p:spPr>
          <a:xfrm flipV="1">
            <a:off x="10132541" y="4930649"/>
            <a:ext cx="395416" cy="1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76" name="Elbow Connector 75">
            <a:extLst>
              <a:ext uri="{FF2B5EF4-FFF2-40B4-BE49-F238E27FC236}">
                <a16:creationId xmlns:a16="http://schemas.microsoft.com/office/drawing/2014/main" id="{2E17DC10-1DDD-BDC2-4976-7826837A7BF3}"/>
              </a:ext>
            </a:extLst>
          </p:cNvPr>
          <p:cNvCxnSpPr>
            <a:cxnSpLocks/>
            <a:endCxn id="26" idx="0"/>
          </p:cNvCxnSpPr>
          <p:nvPr/>
        </p:nvCxnSpPr>
        <p:spPr>
          <a:xfrm rot="5400000" flipH="1" flipV="1">
            <a:off x="4493650" y="374695"/>
            <a:ext cx="946074" cy="5328328"/>
          </a:xfrm>
          <a:prstGeom prst="bentConnector3">
            <a:avLst>
              <a:gd name="adj1" fmla="val 124163"/>
            </a:avLst>
          </a:prstGeom>
          <a:ln w="31750"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79" name="Elbow Connector 78">
            <a:extLst>
              <a:ext uri="{FF2B5EF4-FFF2-40B4-BE49-F238E27FC236}">
                <a16:creationId xmlns:a16="http://schemas.microsoft.com/office/drawing/2014/main" id="{A9D60B2F-49ED-FCB6-AC66-C42B76286CC7}"/>
              </a:ext>
            </a:extLst>
          </p:cNvPr>
          <p:cNvCxnSpPr>
            <a:cxnSpLocks/>
            <a:endCxn id="71" idx="4"/>
          </p:cNvCxnSpPr>
          <p:nvPr/>
        </p:nvCxnSpPr>
        <p:spPr>
          <a:xfrm rot="16200000" flipH="1">
            <a:off x="6170733" y="589616"/>
            <a:ext cx="668187" cy="8404608"/>
          </a:xfrm>
          <a:prstGeom prst="bentConnector3">
            <a:avLst>
              <a:gd name="adj1" fmla="val 171198"/>
            </a:avLst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5D2EA508-FD20-9ECD-30CB-8A86FCEB7DDD}"/>
              </a:ext>
            </a:extLst>
          </p:cNvPr>
          <p:cNvSpPr txBox="1"/>
          <p:nvPr/>
        </p:nvSpPr>
        <p:spPr>
          <a:xfrm>
            <a:off x="2312886" y="5317805"/>
            <a:ext cx="6495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ytest</a:t>
            </a:r>
            <a:endParaRPr lang="en-US" sz="1200" dirty="0">
              <a:latin typeface="Courier" pitchFamily="2" charset="0"/>
            </a:endParaRPr>
          </a:p>
        </p:txBody>
      </p: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44B739DA-EE0A-FB8E-A2A4-871242EE414B}"/>
              </a:ext>
            </a:extLst>
          </p:cNvPr>
          <p:cNvCxnSpPr>
            <a:cxnSpLocks/>
          </p:cNvCxnSpPr>
          <p:nvPr/>
        </p:nvCxnSpPr>
        <p:spPr>
          <a:xfrm flipV="1">
            <a:off x="1388119" y="3984718"/>
            <a:ext cx="540000" cy="1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4DF9296D-6A63-2066-E04A-C37C26A13035}"/>
              </a:ext>
            </a:extLst>
          </p:cNvPr>
          <p:cNvCxnSpPr>
            <a:cxnSpLocks/>
            <a:stCxn id="26" idx="3"/>
            <a:endCxn id="45" idx="1"/>
          </p:cNvCxnSpPr>
          <p:nvPr/>
        </p:nvCxnSpPr>
        <p:spPr>
          <a:xfrm>
            <a:off x="8279013" y="3038788"/>
            <a:ext cx="297402" cy="0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90" name="Rectangle 89">
            <a:extLst>
              <a:ext uri="{FF2B5EF4-FFF2-40B4-BE49-F238E27FC236}">
                <a16:creationId xmlns:a16="http://schemas.microsoft.com/office/drawing/2014/main" id="{B7292B3C-AA68-BB10-C370-60CD4162D44D}"/>
              </a:ext>
            </a:extLst>
          </p:cNvPr>
          <p:cNvSpPr/>
          <p:nvPr/>
        </p:nvSpPr>
        <p:spPr>
          <a:xfrm>
            <a:off x="10555044" y="4636402"/>
            <a:ext cx="30008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Gill Sans MT" panose="020B0502020104020203" pitchFamily="34" charset="77"/>
              </a:rPr>
              <a:t>-</a:t>
            </a:r>
          </a:p>
        </p:txBody>
      </p:sp>
      <p:cxnSp>
        <p:nvCxnSpPr>
          <p:cNvPr id="92" name="Elbow Connector 91">
            <a:extLst>
              <a:ext uri="{FF2B5EF4-FFF2-40B4-BE49-F238E27FC236}">
                <a16:creationId xmlns:a16="http://schemas.microsoft.com/office/drawing/2014/main" id="{321A8096-54EC-CDA3-DDB9-194611FDFA3F}"/>
              </a:ext>
            </a:extLst>
          </p:cNvPr>
          <p:cNvCxnSpPr>
            <a:cxnSpLocks/>
            <a:endCxn id="45" idx="0"/>
          </p:cNvCxnSpPr>
          <p:nvPr/>
        </p:nvCxnSpPr>
        <p:spPr>
          <a:xfrm rot="5400000" flipH="1" flipV="1">
            <a:off x="5355463" y="-487118"/>
            <a:ext cx="946074" cy="7051955"/>
          </a:xfrm>
          <a:prstGeom prst="bentConnector3">
            <a:avLst>
              <a:gd name="adj1" fmla="val 124163"/>
            </a:avLst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95" name="Rounded Rectangle 94">
            <a:extLst>
              <a:ext uri="{FF2B5EF4-FFF2-40B4-BE49-F238E27FC236}">
                <a16:creationId xmlns:a16="http://schemas.microsoft.com/office/drawing/2014/main" id="{5A6AEC2E-7032-337A-6F90-483A4034DEF2}"/>
              </a:ext>
            </a:extLst>
          </p:cNvPr>
          <p:cNvSpPr/>
          <p:nvPr/>
        </p:nvSpPr>
        <p:spPr>
          <a:xfrm>
            <a:off x="1932199" y="3511896"/>
            <a:ext cx="1185494" cy="9459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Split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ABF25F18-DCFD-FB06-97F2-42B3A7175C13}"/>
              </a:ext>
            </a:extLst>
          </p:cNvPr>
          <p:cNvSpPr txBox="1"/>
          <p:nvPr/>
        </p:nvSpPr>
        <p:spPr>
          <a:xfrm>
            <a:off x="4556566" y="1314685"/>
            <a:ext cx="130035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Xtrain_clean</a:t>
            </a:r>
            <a:endParaRPr lang="en-US" sz="1200" dirty="0">
              <a:latin typeface="Courier" pitchFamily="2" charset="0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88A24E06-8F50-D3EE-34CF-B6C18AE1C6A1}"/>
              </a:ext>
            </a:extLst>
          </p:cNvPr>
          <p:cNvSpPr txBox="1"/>
          <p:nvPr/>
        </p:nvSpPr>
        <p:spPr>
          <a:xfrm>
            <a:off x="6193223" y="1314684"/>
            <a:ext cx="12073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Xtrain_norm</a:t>
            </a:r>
            <a:endParaRPr lang="en-US" sz="1200" dirty="0">
              <a:latin typeface="Courier" pitchFamily="2" charset="0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5811CF45-3E40-4F7B-984C-F87C722C2069}"/>
              </a:ext>
            </a:extLst>
          </p:cNvPr>
          <p:cNvSpPr txBox="1"/>
          <p:nvPr/>
        </p:nvSpPr>
        <p:spPr>
          <a:xfrm>
            <a:off x="7833438" y="1170991"/>
            <a:ext cx="11144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 err="1">
                <a:latin typeface="Courier" pitchFamily="2" charset="0"/>
              </a:rPr>
              <a:t>Xtrain_sfs</a:t>
            </a:r>
            <a:endParaRPr lang="en-US" sz="1200" dirty="0">
              <a:latin typeface="Courier" pitchFamily="2" charset="0"/>
            </a:endParaRPr>
          </a:p>
          <a:p>
            <a:pPr algn="ctr"/>
            <a:r>
              <a:rPr lang="en-US" sz="1200" dirty="0" err="1">
                <a:latin typeface="Courier" pitchFamily="2" charset="0"/>
              </a:rPr>
              <a:t>Xtrain_ex</a:t>
            </a:r>
            <a:endParaRPr lang="en-US" sz="1200" dirty="0">
              <a:latin typeface="Courier" pitchFamily="2" charset="0"/>
            </a:endParaRPr>
          </a:p>
        </p:txBody>
      </p: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A7AC59CC-2F76-E501-49EF-056B7923BC1B}"/>
              </a:ext>
            </a:extLst>
          </p:cNvPr>
          <p:cNvCxnSpPr/>
          <p:nvPr/>
        </p:nvCxnSpPr>
        <p:spPr>
          <a:xfrm>
            <a:off x="5201171" y="1627692"/>
            <a:ext cx="0" cy="1395476"/>
          </a:xfrm>
          <a:prstGeom prst="line">
            <a:avLst/>
          </a:prstGeom>
          <a:ln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98752E7D-AE5A-1BC4-DBA8-CFAC485BA1F6}"/>
              </a:ext>
            </a:extLst>
          </p:cNvPr>
          <p:cNvCxnSpPr/>
          <p:nvPr/>
        </p:nvCxnSpPr>
        <p:spPr>
          <a:xfrm>
            <a:off x="6809271" y="1628754"/>
            <a:ext cx="0" cy="1395476"/>
          </a:xfrm>
          <a:prstGeom prst="line">
            <a:avLst/>
          </a:prstGeom>
          <a:ln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8F15B9AD-825C-30E7-4522-3E49A80B7861}"/>
              </a:ext>
            </a:extLst>
          </p:cNvPr>
          <p:cNvCxnSpPr/>
          <p:nvPr/>
        </p:nvCxnSpPr>
        <p:spPr>
          <a:xfrm>
            <a:off x="8395459" y="1635428"/>
            <a:ext cx="0" cy="1395476"/>
          </a:xfrm>
          <a:prstGeom prst="line">
            <a:avLst/>
          </a:prstGeom>
          <a:ln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F26D8D4D-7E52-D032-126A-8C3395241DD8}"/>
              </a:ext>
            </a:extLst>
          </p:cNvPr>
          <p:cNvSpPr txBox="1"/>
          <p:nvPr/>
        </p:nvSpPr>
        <p:spPr>
          <a:xfrm>
            <a:off x="4606820" y="6298579"/>
            <a:ext cx="12073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Xtest_clean</a:t>
            </a:r>
            <a:endParaRPr lang="en-US" sz="1200" dirty="0">
              <a:latin typeface="Courier" pitchFamily="2" charset="0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7107EA24-B1F5-E53A-8635-6B2331E76C0F}"/>
              </a:ext>
            </a:extLst>
          </p:cNvPr>
          <p:cNvSpPr txBox="1"/>
          <p:nvPr/>
        </p:nvSpPr>
        <p:spPr>
          <a:xfrm>
            <a:off x="6292905" y="6298578"/>
            <a:ext cx="11144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Xtest_norm</a:t>
            </a:r>
            <a:endParaRPr lang="en-US" sz="1200" dirty="0">
              <a:latin typeface="Courier" pitchFamily="2" charset="0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C86E651F-2293-AF4D-3C75-C9BC0C2DD39B}"/>
              </a:ext>
            </a:extLst>
          </p:cNvPr>
          <p:cNvSpPr txBox="1"/>
          <p:nvPr/>
        </p:nvSpPr>
        <p:spPr>
          <a:xfrm>
            <a:off x="7896049" y="6298578"/>
            <a:ext cx="10214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 err="1">
                <a:latin typeface="Courier" pitchFamily="2" charset="0"/>
              </a:rPr>
              <a:t>Xtest_sfs</a:t>
            </a:r>
            <a:endParaRPr lang="en-US" sz="1200" dirty="0">
              <a:latin typeface="Courier" pitchFamily="2" charset="0"/>
            </a:endParaRPr>
          </a:p>
          <a:p>
            <a:pPr algn="ctr"/>
            <a:r>
              <a:rPr lang="en-US" sz="1200" dirty="0" err="1">
                <a:latin typeface="Courier" pitchFamily="2" charset="0"/>
              </a:rPr>
              <a:t>Xtest_ex</a:t>
            </a:r>
            <a:endParaRPr lang="en-US" sz="1200" dirty="0">
              <a:latin typeface="Courier" pitchFamily="2" charset="0"/>
            </a:endParaRPr>
          </a:p>
        </p:txBody>
      </p: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1C60C9A3-7218-613B-87CD-64251678F5A1}"/>
              </a:ext>
            </a:extLst>
          </p:cNvPr>
          <p:cNvCxnSpPr/>
          <p:nvPr/>
        </p:nvCxnSpPr>
        <p:spPr>
          <a:xfrm>
            <a:off x="5201997" y="4931065"/>
            <a:ext cx="0" cy="1395476"/>
          </a:xfrm>
          <a:prstGeom prst="line">
            <a:avLst/>
          </a:prstGeom>
          <a:ln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973D4180-2F27-8D24-A092-FB2FCE2BFCCB}"/>
              </a:ext>
            </a:extLst>
          </p:cNvPr>
          <p:cNvCxnSpPr/>
          <p:nvPr/>
        </p:nvCxnSpPr>
        <p:spPr>
          <a:xfrm>
            <a:off x="6810097" y="4932127"/>
            <a:ext cx="0" cy="1395476"/>
          </a:xfrm>
          <a:prstGeom prst="line">
            <a:avLst/>
          </a:prstGeom>
          <a:ln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E81A1DAE-3CE5-020D-B517-7D429417A5BE}"/>
              </a:ext>
            </a:extLst>
          </p:cNvPr>
          <p:cNvCxnSpPr/>
          <p:nvPr/>
        </p:nvCxnSpPr>
        <p:spPr>
          <a:xfrm>
            <a:off x="8396285" y="4938801"/>
            <a:ext cx="0" cy="1395476"/>
          </a:xfrm>
          <a:prstGeom prst="line">
            <a:avLst/>
          </a:prstGeom>
          <a:ln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7FCB3AFD-E4E8-9486-0904-F36458657922}"/>
              </a:ext>
            </a:extLst>
          </p:cNvPr>
          <p:cNvSpPr txBox="1"/>
          <p:nvPr/>
        </p:nvSpPr>
        <p:spPr>
          <a:xfrm>
            <a:off x="9973974" y="4126170"/>
            <a:ext cx="6495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ypred</a:t>
            </a:r>
            <a:endParaRPr lang="en-US" sz="1200" dirty="0">
              <a:latin typeface="Courier" pitchFamily="2" charset="0"/>
            </a:endParaRPr>
          </a:p>
        </p:txBody>
      </p: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99F2A2BB-191C-F3E5-D09F-BF9FF564F22B}"/>
              </a:ext>
            </a:extLst>
          </p:cNvPr>
          <p:cNvCxnSpPr>
            <a:cxnSpLocks/>
          </p:cNvCxnSpPr>
          <p:nvPr/>
        </p:nvCxnSpPr>
        <p:spPr>
          <a:xfrm flipV="1">
            <a:off x="10894855" y="4919856"/>
            <a:ext cx="395416" cy="1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11" name="TextBox 110">
            <a:extLst>
              <a:ext uri="{FF2B5EF4-FFF2-40B4-BE49-F238E27FC236}">
                <a16:creationId xmlns:a16="http://schemas.microsoft.com/office/drawing/2014/main" id="{C1728FB1-A4B6-FB7E-0B4F-6CB9A986D4C0}"/>
              </a:ext>
            </a:extLst>
          </p:cNvPr>
          <p:cNvSpPr txBox="1"/>
          <p:nvPr/>
        </p:nvSpPr>
        <p:spPr>
          <a:xfrm>
            <a:off x="11251259" y="4776445"/>
            <a:ext cx="4635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urier" pitchFamily="2" charset="0"/>
              </a:rPr>
              <a:t>acc</a:t>
            </a:r>
          </a:p>
        </p:txBody>
      </p: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B89BEBFD-9467-206F-6039-F77BE162CBDF}"/>
              </a:ext>
            </a:extLst>
          </p:cNvPr>
          <p:cNvCxnSpPr/>
          <p:nvPr/>
        </p:nvCxnSpPr>
        <p:spPr>
          <a:xfrm>
            <a:off x="10305535" y="4415907"/>
            <a:ext cx="0" cy="504000"/>
          </a:xfrm>
          <a:prstGeom prst="line">
            <a:avLst/>
          </a:prstGeom>
          <a:ln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075EB667-20AA-4EB8-9067-A64F8DC90EBE}"/>
              </a:ext>
            </a:extLst>
          </p:cNvPr>
          <p:cNvSpPr txBox="1"/>
          <p:nvPr/>
        </p:nvSpPr>
        <p:spPr>
          <a:xfrm>
            <a:off x="4516551" y="3806180"/>
            <a:ext cx="7425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sclean</a:t>
            </a:r>
            <a:endParaRPr lang="en-US" sz="1200" dirty="0">
              <a:latin typeface="Courier" pitchFamily="2" charset="0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F0AACBAF-13D5-B8F8-5551-0EFB4F1572E7}"/>
              </a:ext>
            </a:extLst>
          </p:cNvPr>
          <p:cNvSpPr txBox="1"/>
          <p:nvPr/>
        </p:nvSpPr>
        <p:spPr>
          <a:xfrm>
            <a:off x="6040070" y="3806179"/>
            <a:ext cx="4635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a,b</a:t>
            </a:r>
            <a:endParaRPr lang="en-US" sz="1200" dirty="0">
              <a:latin typeface="Courier" pitchFamily="2" charset="0"/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AF5D3C9C-7376-18A0-5B9C-E995B03CA131}"/>
              </a:ext>
            </a:extLst>
          </p:cNvPr>
          <p:cNvSpPr txBox="1"/>
          <p:nvPr/>
        </p:nvSpPr>
        <p:spPr>
          <a:xfrm>
            <a:off x="7625162" y="3800362"/>
            <a:ext cx="4635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sel</a:t>
            </a:r>
            <a:endParaRPr lang="en-US" sz="1200" dirty="0">
              <a:latin typeface="Courier" pitchFamily="2" charset="0"/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06F54C69-1AA0-EBF2-BB6B-84F306D3A41C}"/>
              </a:ext>
            </a:extLst>
          </p:cNvPr>
          <p:cNvSpPr txBox="1"/>
          <p:nvPr/>
        </p:nvSpPr>
        <p:spPr>
          <a:xfrm>
            <a:off x="9398703" y="3727476"/>
            <a:ext cx="6896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Gill Sans MT" panose="020B0502020104020203" pitchFamily="34" charset="77"/>
              </a:rPr>
              <a:t>Learned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Model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D07A0D29-4B43-4AEB-82E8-6A9D14676C4C}"/>
              </a:ext>
            </a:extLst>
          </p:cNvPr>
          <p:cNvSpPr txBox="1"/>
          <p:nvPr/>
        </p:nvSpPr>
        <p:spPr>
          <a:xfrm>
            <a:off x="1424287" y="3991246"/>
            <a:ext cx="4635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X,y</a:t>
            </a:r>
            <a:endParaRPr lang="en-US" sz="1200" dirty="0">
              <a:latin typeface="Courier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AD3CF14-7F25-5019-8080-F6BCABEEF2F9}"/>
              </a:ext>
            </a:extLst>
          </p:cNvPr>
          <p:cNvSpPr txBox="1"/>
          <p:nvPr/>
        </p:nvSpPr>
        <p:spPr>
          <a:xfrm>
            <a:off x="1162594" y="2622522"/>
            <a:ext cx="570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dirty="0">
                <a:latin typeface="Gill Sans MT" panose="020B0502020104020203" pitchFamily="34" charset="77"/>
              </a:rPr>
              <a:t>70%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15F329-5FBD-F294-922A-F6106914A819}"/>
              </a:ext>
            </a:extLst>
          </p:cNvPr>
          <p:cNvSpPr txBox="1"/>
          <p:nvPr/>
        </p:nvSpPr>
        <p:spPr>
          <a:xfrm>
            <a:off x="1159509" y="4653291"/>
            <a:ext cx="570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dirty="0">
                <a:latin typeface="Gill Sans MT" panose="020B0502020104020203" pitchFamily="34" charset="77"/>
              </a:rPr>
              <a:t>30%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421478-32A4-F7C1-00F1-7048936164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619" y="102943"/>
            <a:ext cx="1529678" cy="86352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B57AB39-F141-298B-D381-F41F15F991D3}"/>
              </a:ext>
            </a:extLst>
          </p:cNvPr>
          <p:cNvSpPr txBox="1"/>
          <p:nvPr/>
        </p:nvSpPr>
        <p:spPr>
          <a:xfrm>
            <a:off x="1719544" y="258585"/>
            <a:ext cx="717093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rgbClr val="E9710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E06</a:t>
            </a:r>
            <a:r>
              <a:rPr lang="en-CL" sz="4000" b="1" dirty="0">
                <a:solidFill>
                  <a:srgbClr val="E9710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&gt; P06: </a:t>
            </a:r>
            <a:r>
              <a:rPr lang="en-CL" sz="4000" b="1" dirty="0">
                <a:solidFill>
                  <a:srgbClr val="E97F3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NORMALIZATION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CC733F4-D7DE-385B-4BDA-64C9396122E1}"/>
              </a:ext>
            </a:extLst>
          </p:cNvPr>
          <p:cNvSpPr/>
          <p:nvPr/>
        </p:nvSpPr>
        <p:spPr>
          <a:xfrm>
            <a:off x="5276302" y="1800224"/>
            <a:ext cx="1456878" cy="4371975"/>
          </a:xfrm>
          <a:prstGeom prst="roundRect">
            <a:avLst/>
          </a:prstGeom>
          <a:noFill/>
          <a:ln w="508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1645666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DF5956-FCD0-EF2A-DD6F-C312E0090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A846F54-2188-9247-A2B3-A1020ABF3969}"/>
              </a:ext>
            </a:extLst>
          </p:cNvPr>
          <p:cNvSpPr txBox="1"/>
          <p:nvPr/>
        </p:nvSpPr>
        <p:spPr>
          <a:xfrm>
            <a:off x="280530" y="3664126"/>
            <a:ext cx="11848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Features &amp;</a:t>
            </a:r>
          </a:p>
          <a:p>
            <a:pPr algn="ctr"/>
            <a:r>
              <a:rPr lang="en-US" dirty="0">
                <a:latin typeface="Gill Sans MT" panose="020B0502020104020203" pitchFamily="34" charset="77"/>
              </a:rPr>
              <a:t>Labels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096A9DA-DBAE-C5F3-6A9B-E51869E64C86}"/>
              </a:ext>
            </a:extLst>
          </p:cNvPr>
          <p:cNvSpPr/>
          <p:nvPr/>
        </p:nvSpPr>
        <p:spPr>
          <a:xfrm>
            <a:off x="3902035" y="2565965"/>
            <a:ext cx="1185494" cy="9459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Cleaning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ABC69061-34DC-5A7D-87E1-5852B2C16A3D}"/>
              </a:ext>
            </a:extLst>
          </p:cNvPr>
          <p:cNvSpPr/>
          <p:nvPr/>
        </p:nvSpPr>
        <p:spPr>
          <a:xfrm>
            <a:off x="3902034" y="4457827"/>
            <a:ext cx="1185494" cy="9459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Clean</a:t>
            </a:r>
          </a:p>
          <a:p>
            <a:pPr algn="ctr"/>
            <a:r>
              <a:rPr lang="en-US" dirty="0">
                <a:latin typeface="Gill Sans MT" panose="020B0502020104020203" pitchFamily="34" charset="77"/>
              </a:rPr>
              <a:t>Features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1A135B8-E79A-2DCE-1972-5BDFA5C951DA}"/>
              </a:ext>
            </a:extLst>
          </p:cNvPr>
          <p:cNvCxnSpPr>
            <a:cxnSpLocks/>
            <a:stCxn id="7" idx="2"/>
            <a:endCxn id="10" idx="0"/>
          </p:cNvCxnSpPr>
          <p:nvPr/>
        </p:nvCxnSpPr>
        <p:spPr>
          <a:xfrm flipH="1">
            <a:off x="4494781" y="3511896"/>
            <a:ext cx="1" cy="945931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7E3D66CF-DA0D-36D7-0B60-7932F5B4B007}"/>
              </a:ext>
            </a:extLst>
          </p:cNvPr>
          <p:cNvSpPr/>
          <p:nvPr/>
        </p:nvSpPr>
        <p:spPr>
          <a:xfrm>
            <a:off x="5388960" y="2565965"/>
            <a:ext cx="1296324" cy="9459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Normalization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5BC55A3B-DBB0-35F5-D17D-4467BE2CB85B}"/>
              </a:ext>
            </a:extLst>
          </p:cNvPr>
          <p:cNvSpPr/>
          <p:nvPr/>
        </p:nvSpPr>
        <p:spPr>
          <a:xfrm>
            <a:off x="5388959" y="4457827"/>
            <a:ext cx="1296324" cy="9459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Normalize</a:t>
            </a:r>
          </a:p>
          <a:p>
            <a:pPr algn="ctr"/>
            <a:r>
              <a:rPr lang="en-US" dirty="0">
                <a:latin typeface="Gill Sans MT" panose="020B0502020104020203" pitchFamily="34" charset="77"/>
              </a:rPr>
              <a:t>Features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03A7BEC-25EE-CCA8-E874-A22C3A2FBEEE}"/>
              </a:ext>
            </a:extLst>
          </p:cNvPr>
          <p:cNvCxnSpPr>
            <a:cxnSpLocks/>
            <a:stCxn id="18" idx="2"/>
            <a:endCxn id="19" idx="0"/>
          </p:cNvCxnSpPr>
          <p:nvPr/>
        </p:nvCxnSpPr>
        <p:spPr>
          <a:xfrm flipH="1">
            <a:off x="6037121" y="3511896"/>
            <a:ext cx="1" cy="945931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402B885-C3E4-31AE-2EAD-52AA988C9356}"/>
              </a:ext>
            </a:extLst>
          </p:cNvPr>
          <p:cNvCxnSpPr>
            <a:cxnSpLocks/>
            <a:stCxn id="7" idx="3"/>
            <a:endCxn id="18" idx="1"/>
          </p:cNvCxnSpPr>
          <p:nvPr/>
        </p:nvCxnSpPr>
        <p:spPr>
          <a:xfrm>
            <a:off x="5087529" y="3038931"/>
            <a:ext cx="301431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CED506F1-DF14-9898-331E-AF3AFCCC0347}"/>
              </a:ext>
            </a:extLst>
          </p:cNvPr>
          <p:cNvSpPr/>
          <p:nvPr/>
        </p:nvSpPr>
        <p:spPr>
          <a:xfrm>
            <a:off x="6982689" y="2565822"/>
            <a:ext cx="1296324" cy="9459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Selection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B809F096-64C7-AF02-9F60-517E9CFBF896}"/>
              </a:ext>
            </a:extLst>
          </p:cNvPr>
          <p:cNvSpPr/>
          <p:nvPr/>
        </p:nvSpPr>
        <p:spPr>
          <a:xfrm>
            <a:off x="6982688" y="4457684"/>
            <a:ext cx="1296324" cy="9459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Select</a:t>
            </a:r>
          </a:p>
          <a:p>
            <a:pPr algn="ctr"/>
            <a:r>
              <a:rPr lang="en-US" dirty="0">
                <a:latin typeface="Gill Sans MT" panose="020B0502020104020203" pitchFamily="34" charset="77"/>
              </a:rPr>
              <a:t>Features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9EE1F9B7-FABD-AFB0-FF7C-AE886D03B577}"/>
              </a:ext>
            </a:extLst>
          </p:cNvPr>
          <p:cNvCxnSpPr>
            <a:cxnSpLocks/>
            <a:stCxn id="26" idx="2"/>
            <a:endCxn id="27" idx="0"/>
          </p:cNvCxnSpPr>
          <p:nvPr/>
        </p:nvCxnSpPr>
        <p:spPr>
          <a:xfrm flipH="1">
            <a:off x="7630850" y="3511753"/>
            <a:ext cx="1" cy="945931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5A0842AB-434B-4E9B-AFBC-A8D83CEC363A}"/>
              </a:ext>
            </a:extLst>
          </p:cNvPr>
          <p:cNvCxnSpPr>
            <a:cxnSpLocks/>
            <a:stCxn id="18" idx="3"/>
            <a:endCxn id="26" idx="1"/>
          </p:cNvCxnSpPr>
          <p:nvPr/>
        </p:nvCxnSpPr>
        <p:spPr>
          <a:xfrm flipV="1">
            <a:off x="6685284" y="3038788"/>
            <a:ext cx="297405" cy="143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6D4BAD0A-9E21-A10D-8FFA-8F4DAB89D4A0}"/>
              </a:ext>
            </a:extLst>
          </p:cNvPr>
          <p:cNvCxnSpPr>
            <a:cxnSpLocks/>
            <a:stCxn id="10" idx="3"/>
            <a:endCxn id="19" idx="1"/>
          </p:cNvCxnSpPr>
          <p:nvPr/>
        </p:nvCxnSpPr>
        <p:spPr>
          <a:xfrm>
            <a:off x="5087528" y="4930793"/>
            <a:ext cx="301431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F1A5B2D2-6B2A-E3AD-E5B9-FD5C73BF0CAC}"/>
              </a:ext>
            </a:extLst>
          </p:cNvPr>
          <p:cNvCxnSpPr>
            <a:cxnSpLocks/>
            <a:stCxn id="19" idx="3"/>
            <a:endCxn id="27" idx="1"/>
          </p:cNvCxnSpPr>
          <p:nvPr/>
        </p:nvCxnSpPr>
        <p:spPr>
          <a:xfrm flipV="1">
            <a:off x="6685283" y="4930650"/>
            <a:ext cx="297405" cy="143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F293C558-A812-8701-623F-3E0D61DF3BE0}"/>
              </a:ext>
            </a:extLst>
          </p:cNvPr>
          <p:cNvSpPr/>
          <p:nvPr/>
        </p:nvSpPr>
        <p:spPr>
          <a:xfrm>
            <a:off x="8576415" y="2565822"/>
            <a:ext cx="1556125" cy="9459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Train</a:t>
            </a: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7A667AAC-6260-E460-5CD0-55F62A4CA4BC}"/>
              </a:ext>
            </a:extLst>
          </p:cNvPr>
          <p:cNvSpPr/>
          <p:nvPr/>
        </p:nvSpPr>
        <p:spPr>
          <a:xfrm>
            <a:off x="8576415" y="4457684"/>
            <a:ext cx="1556126" cy="9459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Classify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FC59BF3F-84F0-1D5C-3CAC-DC3A58DFE1CA}"/>
              </a:ext>
            </a:extLst>
          </p:cNvPr>
          <p:cNvCxnSpPr>
            <a:cxnSpLocks/>
            <a:stCxn id="45" idx="2"/>
            <a:endCxn id="46" idx="0"/>
          </p:cNvCxnSpPr>
          <p:nvPr/>
        </p:nvCxnSpPr>
        <p:spPr>
          <a:xfrm>
            <a:off x="9354478" y="3511753"/>
            <a:ext cx="0" cy="945931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E34F234C-197C-496A-5FD8-B83E8DE07280}"/>
              </a:ext>
            </a:extLst>
          </p:cNvPr>
          <p:cNvCxnSpPr>
            <a:cxnSpLocks/>
            <a:stCxn id="27" idx="3"/>
            <a:endCxn id="46" idx="1"/>
          </p:cNvCxnSpPr>
          <p:nvPr/>
        </p:nvCxnSpPr>
        <p:spPr>
          <a:xfrm>
            <a:off x="8279012" y="4930650"/>
            <a:ext cx="297403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62" name="Elbow Connector 61">
            <a:extLst>
              <a:ext uri="{FF2B5EF4-FFF2-40B4-BE49-F238E27FC236}">
                <a16:creationId xmlns:a16="http://schemas.microsoft.com/office/drawing/2014/main" id="{694AE6DE-7BC6-3181-EE98-B46175C1DB6F}"/>
              </a:ext>
            </a:extLst>
          </p:cNvPr>
          <p:cNvCxnSpPr>
            <a:cxnSpLocks/>
            <a:endCxn id="7" idx="1"/>
          </p:cNvCxnSpPr>
          <p:nvPr/>
        </p:nvCxnSpPr>
        <p:spPr>
          <a:xfrm rot="5400000" flipH="1" flipV="1">
            <a:off x="3088220" y="2698081"/>
            <a:ext cx="472965" cy="1154666"/>
          </a:xfrm>
          <a:prstGeom prst="bentConnector2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C6D4D400-DEEE-EFA0-492C-59D634C155EE}"/>
              </a:ext>
            </a:extLst>
          </p:cNvPr>
          <p:cNvSpPr txBox="1"/>
          <p:nvPr/>
        </p:nvSpPr>
        <p:spPr>
          <a:xfrm>
            <a:off x="2298403" y="2345523"/>
            <a:ext cx="7425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ytrain</a:t>
            </a:r>
            <a:endParaRPr lang="en-US" sz="1200" dirty="0">
              <a:latin typeface="Courier" pitchFamily="2" charset="0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CF8D342-5131-4980-D01F-CD943CCE9FA0}"/>
              </a:ext>
            </a:extLst>
          </p:cNvPr>
          <p:cNvSpPr txBox="1"/>
          <p:nvPr/>
        </p:nvSpPr>
        <p:spPr>
          <a:xfrm>
            <a:off x="2757009" y="3043538"/>
            <a:ext cx="7425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Xtrain</a:t>
            </a:r>
            <a:endParaRPr lang="en-US" sz="1200" dirty="0">
              <a:latin typeface="Courier" pitchFamily="2" charset="0"/>
            </a:endParaRPr>
          </a:p>
        </p:txBody>
      </p:sp>
      <p:cxnSp>
        <p:nvCxnSpPr>
          <p:cNvPr id="67" name="Elbow Connector 66">
            <a:extLst>
              <a:ext uri="{FF2B5EF4-FFF2-40B4-BE49-F238E27FC236}">
                <a16:creationId xmlns:a16="http://schemas.microsoft.com/office/drawing/2014/main" id="{1646C648-96C3-035B-76EC-B995E02AB829}"/>
              </a:ext>
            </a:extLst>
          </p:cNvPr>
          <p:cNvCxnSpPr>
            <a:cxnSpLocks/>
            <a:endCxn id="10" idx="1"/>
          </p:cNvCxnSpPr>
          <p:nvPr/>
        </p:nvCxnSpPr>
        <p:spPr>
          <a:xfrm rot="16200000" flipH="1">
            <a:off x="3088218" y="4116977"/>
            <a:ext cx="472966" cy="1154665"/>
          </a:xfrm>
          <a:prstGeom prst="bentConnector2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1E29308C-D0E8-4D97-22F4-F399D56F9927}"/>
              </a:ext>
            </a:extLst>
          </p:cNvPr>
          <p:cNvSpPr txBox="1"/>
          <p:nvPr/>
        </p:nvSpPr>
        <p:spPr>
          <a:xfrm>
            <a:off x="2760066" y="4660146"/>
            <a:ext cx="6495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Xtest</a:t>
            </a:r>
            <a:endParaRPr lang="en-US" sz="1200" dirty="0">
              <a:latin typeface="Courier" pitchFamily="2" charset="0"/>
            </a:endParaRP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F04D9B0C-6A26-3873-C939-8A249E7A2FCC}"/>
              </a:ext>
            </a:extLst>
          </p:cNvPr>
          <p:cNvSpPr/>
          <p:nvPr/>
        </p:nvSpPr>
        <p:spPr>
          <a:xfrm>
            <a:off x="10527957" y="4735284"/>
            <a:ext cx="358345" cy="39073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1A8749E3-57DE-89A3-6AD9-CB3E4256CA63}"/>
              </a:ext>
            </a:extLst>
          </p:cNvPr>
          <p:cNvCxnSpPr>
            <a:cxnSpLocks/>
            <a:stCxn id="46" idx="3"/>
            <a:endCxn id="71" idx="2"/>
          </p:cNvCxnSpPr>
          <p:nvPr/>
        </p:nvCxnSpPr>
        <p:spPr>
          <a:xfrm flipV="1">
            <a:off x="10132541" y="4930649"/>
            <a:ext cx="395416" cy="1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76" name="Elbow Connector 75">
            <a:extLst>
              <a:ext uri="{FF2B5EF4-FFF2-40B4-BE49-F238E27FC236}">
                <a16:creationId xmlns:a16="http://schemas.microsoft.com/office/drawing/2014/main" id="{ACB223A1-F032-1FC4-795B-74673484DA72}"/>
              </a:ext>
            </a:extLst>
          </p:cNvPr>
          <p:cNvCxnSpPr>
            <a:cxnSpLocks/>
            <a:endCxn id="26" idx="0"/>
          </p:cNvCxnSpPr>
          <p:nvPr/>
        </p:nvCxnSpPr>
        <p:spPr>
          <a:xfrm rot="5400000" flipH="1" flipV="1">
            <a:off x="4493650" y="374695"/>
            <a:ext cx="946074" cy="5328328"/>
          </a:xfrm>
          <a:prstGeom prst="bentConnector3">
            <a:avLst>
              <a:gd name="adj1" fmla="val 124163"/>
            </a:avLst>
          </a:prstGeom>
          <a:ln w="31750"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79" name="Elbow Connector 78">
            <a:extLst>
              <a:ext uri="{FF2B5EF4-FFF2-40B4-BE49-F238E27FC236}">
                <a16:creationId xmlns:a16="http://schemas.microsoft.com/office/drawing/2014/main" id="{DCF6C99D-DC88-A14D-AEBE-9C6E9D94C010}"/>
              </a:ext>
            </a:extLst>
          </p:cNvPr>
          <p:cNvCxnSpPr>
            <a:cxnSpLocks/>
            <a:endCxn id="71" idx="4"/>
          </p:cNvCxnSpPr>
          <p:nvPr/>
        </p:nvCxnSpPr>
        <p:spPr>
          <a:xfrm rot="16200000" flipH="1">
            <a:off x="6170733" y="589616"/>
            <a:ext cx="668187" cy="8404608"/>
          </a:xfrm>
          <a:prstGeom prst="bentConnector3">
            <a:avLst>
              <a:gd name="adj1" fmla="val 171198"/>
            </a:avLst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FFCDFB71-2B88-0BAF-42A6-0CF7B93B8ABE}"/>
              </a:ext>
            </a:extLst>
          </p:cNvPr>
          <p:cNvSpPr txBox="1"/>
          <p:nvPr/>
        </p:nvSpPr>
        <p:spPr>
          <a:xfrm>
            <a:off x="2312886" y="5317805"/>
            <a:ext cx="6495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ytest</a:t>
            </a:r>
            <a:endParaRPr lang="en-US" sz="1200" dirty="0">
              <a:latin typeface="Courier" pitchFamily="2" charset="0"/>
            </a:endParaRPr>
          </a:p>
        </p:txBody>
      </p: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F446BA54-8E74-4E42-3C7E-2B517C892FE9}"/>
              </a:ext>
            </a:extLst>
          </p:cNvPr>
          <p:cNvCxnSpPr>
            <a:cxnSpLocks/>
          </p:cNvCxnSpPr>
          <p:nvPr/>
        </p:nvCxnSpPr>
        <p:spPr>
          <a:xfrm flipV="1">
            <a:off x="1388119" y="3984718"/>
            <a:ext cx="540000" cy="1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24D1082D-AED2-FCEC-8287-D8D95C0EBD20}"/>
              </a:ext>
            </a:extLst>
          </p:cNvPr>
          <p:cNvCxnSpPr>
            <a:cxnSpLocks/>
            <a:stCxn id="26" idx="3"/>
            <a:endCxn id="45" idx="1"/>
          </p:cNvCxnSpPr>
          <p:nvPr/>
        </p:nvCxnSpPr>
        <p:spPr>
          <a:xfrm>
            <a:off x="8279013" y="3038788"/>
            <a:ext cx="297402" cy="0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90" name="Rectangle 89">
            <a:extLst>
              <a:ext uri="{FF2B5EF4-FFF2-40B4-BE49-F238E27FC236}">
                <a16:creationId xmlns:a16="http://schemas.microsoft.com/office/drawing/2014/main" id="{99F49CBF-AA97-D51C-6F96-C6DBFCFAE219}"/>
              </a:ext>
            </a:extLst>
          </p:cNvPr>
          <p:cNvSpPr/>
          <p:nvPr/>
        </p:nvSpPr>
        <p:spPr>
          <a:xfrm>
            <a:off x="10555044" y="4636402"/>
            <a:ext cx="30008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Gill Sans MT" panose="020B0502020104020203" pitchFamily="34" charset="77"/>
              </a:rPr>
              <a:t>-</a:t>
            </a:r>
          </a:p>
        </p:txBody>
      </p:sp>
      <p:cxnSp>
        <p:nvCxnSpPr>
          <p:cNvPr id="92" name="Elbow Connector 91">
            <a:extLst>
              <a:ext uri="{FF2B5EF4-FFF2-40B4-BE49-F238E27FC236}">
                <a16:creationId xmlns:a16="http://schemas.microsoft.com/office/drawing/2014/main" id="{AAC7C62B-C469-CE9C-9221-A51B24126320}"/>
              </a:ext>
            </a:extLst>
          </p:cNvPr>
          <p:cNvCxnSpPr>
            <a:cxnSpLocks/>
            <a:endCxn id="45" idx="0"/>
          </p:cNvCxnSpPr>
          <p:nvPr/>
        </p:nvCxnSpPr>
        <p:spPr>
          <a:xfrm rot="5400000" flipH="1" flipV="1">
            <a:off x="5355463" y="-487118"/>
            <a:ext cx="946074" cy="7051955"/>
          </a:xfrm>
          <a:prstGeom prst="bentConnector3">
            <a:avLst>
              <a:gd name="adj1" fmla="val 124163"/>
            </a:avLst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95" name="Rounded Rectangle 94">
            <a:extLst>
              <a:ext uri="{FF2B5EF4-FFF2-40B4-BE49-F238E27FC236}">
                <a16:creationId xmlns:a16="http://schemas.microsoft.com/office/drawing/2014/main" id="{F0E4030C-27DA-79A3-0B48-486DB3A9D9EB}"/>
              </a:ext>
            </a:extLst>
          </p:cNvPr>
          <p:cNvSpPr/>
          <p:nvPr/>
        </p:nvSpPr>
        <p:spPr>
          <a:xfrm>
            <a:off x="1932199" y="3511896"/>
            <a:ext cx="1185494" cy="9459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Split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2028B027-70E0-6228-F62B-CDEAD6B5CF1F}"/>
              </a:ext>
            </a:extLst>
          </p:cNvPr>
          <p:cNvSpPr txBox="1"/>
          <p:nvPr/>
        </p:nvSpPr>
        <p:spPr>
          <a:xfrm>
            <a:off x="4556566" y="1314685"/>
            <a:ext cx="130035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Xtrain_clean</a:t>
            </a:r>
            <a:endParaRPr lang="en-US" sz="1200" dirty="0">
              <a:latin typeface="Courier" pitchFamily="2" charset="0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C715AC2F-0E41-9CDA-3DFB-3D6C28FC5FD7}"/>
              </a:ext>
            </a:extLst>
          </p:cNvPr>
          <p:cNvSpPr txBox="1"/>
          <p:nvPr/>
        </p:nvSpPr>
        <p:spPr>
          <a:xfrm>
            <a:off x="6193223" y="1314684"/>
            <a:ext cx="12073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Xtrain_norm</a:t>
            </a:r>
            <a:endParaRPr lang="en-US" sz="1200" dirty="0">
              <a:latin typeface="Courier" pitchFamily="2" charset="0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2CBFFE28-2FCE-4BBF-A6B7-C16210CD653F}"/>
              </a:ext>
            </a:extLst>
          </p:cNvPr>
          <p:cNvSpPr txBox="1"/>
          <p:nvPr/>
        </p:nvSpPr>
        <p:spPr>
          <a:xfrm>
            <a:off x="7833438" y="1170991"/>
            <a:ext cx="11144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 err="1">
                <a:latin typeface="Courier" pitchFamily="2" charset="0"/>
              </a:rPr>
              <a:t>Xtrain_sfs</a:t>
            </a:r>
            <a:endParaRPr lang="en-US" sz="1200" dirty="0">
              <a:latin typeface="Courier" pitchFamily="2" charset="0"/>
            </a:endParaRPr>
          </a:p>
          <a:p>
            <a:pPr algn="ctr"/>
            <a:r>
              <a:rPr lang="en-US" sz="1200" dirty="0" err="1">
                <a:latin typeface="Courier" pitchFamily="2" charset="0"/>
              </a:rPr>
              <a:t>Xtrain_ex</a:t>
            </a:r>
            <a:endParaRPr lang="en-US" sz="1200" dirty="0">
              <a:latin typeface="Courier" pitchFamily="2" charset="0"/>
            </a:endParaRPr>
          </a:p>
        </p:txBody>
      </p: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F8BA017D-FF45-9CCF-80BF-57A6E31F2E09}"/>
              </a:ext>
            </a:extLst>
          </p:cNvPr>
          <p:cNvCxnSpPr/>
          <p:nvPr/>
        </p:nvCxnSpPr>
        <p:spPr>
          <a:xfrm>
            <a:off x="5201171" y="1627692"/>
            <a:ext cx="0" cy="1395476"/>
          </a:xfrm>
          <a:prstGeom prst="line">
            <a:avLst/>
          </a:prstGeom>
          <a:ln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E899F676-E539-D9A7-9C76-27128B0D5036}"/>
              </a:ext>
            </a:extLst>
          </p:cNvPr>
          <p:cNvCxnSpPr/>
          <p:nvPr/>
        </p:nvCxnSpPr>
        <p:spPr>
          <a:xfrm>
            <a:off x="6809271" y="1628754"/>
            <a:ext cx="0" cy="1395476"/>
          </a:xfrm>
          <a:prstGeom prst="line">
            <a:avLst/>
          </a:prstGeom>
          <a:ln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E0EA8B5D-F3B8-AB4F-AB1D-BE23B69C7CDB}"/>
              </a:ext>
            </a:extLst>
          </p:cNvPr>
          <p:cNvCxnSpPr/>
          <p:nvPr/>
        </p:nvCxnSpPr>
        <p:spPr>
          <a:xfrm>
            <a:off x="8395459" y="1635428"/>
            <a:ext cx="0" cy="1395476"/>
          </a:xfrm>
          <a:prstGeom prst="line">
            <a:avLst/>
          </a:prstGeom>
          <a:ln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3D12D5B1-0AEE-0CC1-3F86-09BCBD805A1C}"/>
              </a:ext>
            </a:extLst>
          </p:cNvPr>
          <p:cNvSpPr txBox="1"/>
          <p:nvPr/>
        </p:nvSpPr>
        <p:spPr>
          <a:xfrm>
            <a:off x="4606820" y="6298579"/>
            <a:ext cx="12073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Xtest_clean</a:t>
            </a:r>
            <a:endParaRPr lang="en-US" sz="1200" dirty="0">
              <a:latin typeface="Courier" pitchFamily="2" charset="0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1FD97BB6-8ABB-4C8D-D1C7-790735A7F8AE}"/>
              </a:ext>
            </a:extLst>
          </p:cNvPr>
          <p:cNvSpPr txBox="1"/>
          <p:nvPr/>
        </p:nvSpPr>
        <p:spPr>
          <a:xfrm>
            <a:off x="6292905" y="6298578"/>
            <a:ext cx="11144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Xtest_norm</a:t>
            </a:r>
            <a:endParaRPr lang="en-US" sz="1200" dirty="0">
              <a:latin typeface="Courier" pitchFamily="2" charset="0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521D0491-3085-E4BE-A67F-33E8F4494E27}"/>
              </a:ext>
            </a:extLst>
          </p:cNvPr>
          <p:cNvSpPr txBox="1"/>
          <p:nvPr/>
        </p:nvSpPr>
        <p:spPr>
          <a:xfrm>
            <a:off x="7896049" y="6298578"/>
            <a:ext cx="10214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 err="1">
                <a:latin typeface="Courier" pitchFamily="2" charset="0"/>
              </a:rPr>
              <a:t>Xtest_sfs</a:t>
            </a:r>
            <a:endParaRPr lang="en-US" sz="1200" dirty="0">
              <a:latin typeface="Courier" pitchFamily="2" charset="0"/>
            </a:endParaRPr>
          </a:p>
          <a:p>
            <a:pPr algn="ctr"/>
            <a:r>
              <a:rPr lang="en-US" sz="1200" dirty="0" err="1">
                <a:latin typeface="Courier" pitchFamily="2" charset="0"/>
              </a:rPr>
              <a:t>Xtest_ex</a:t>
            </a:r>
            <a:endParaRPr lang="en-US" sz="1200" dirty="0">
              <a:latin typeface="Courier" pitchFamily="2" charset="0"/>
            </a:endParaRPr>
          </a:p>
        </p:txBody>
      </p: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E1415BA4-541E-92A4-62E1-8C08FFFA444C}"/>
              </a:ext>
            </a:extLst>
          </p:cNvPr>
          <p:cNvCxnSpPr/>
          <p:nvPr/>
        </p:nvCxnSpPr>
        <p:spPr>
          <a:xfrm>
            <a:off x="5201997" y="4931065"/>
            <a:ext cx="0" cy="1395476"/>
          </a:xfrm>
          <a:prstGeom prst="line">
            <a:avLst/>
          </a:prstGeom>
          <a:ln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2E8BB250-BDAB-C7F4-F4F0-162FAACE34A4}"/>
              </a:ext>
            </a:extLst>
          </p:cNvPr>
          <p:cNvCxnSpPr/>
          <p:nvPr/>
        </p:nvCxnSpPr>
        <p:spPr>
          <a:xfrm>
            <a:off x="6810097" y="4932127"/>
            <a:ext cx="0" cy="1395476"/>
          </a:xfrm>
          <a:prstGeom prst="line">
            <a:avLst/>
          </a:prstGeom>
          <a:ln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14F731AE-5DD9-118B-0C79-221EB2AE5D0B}"/>
              </a:ext>
            </a:extLst>
          </p:cNvPr>
          <p:cNvCxnSpPr/>
          <p:nvPr/>
        </p:nvCxnSpPr>
        <p:spPr>
          <a:xfrm>
            <a:off x="8396285" y="4938801"/>
            <a:ext cx="0" cy="1395476"/>
          </a:xfrm>
          <a:prstGeom prst="line">
            <a:avLst/>
          </a:prstGeom>
          <a:ln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CFCFFF1A-17F2-5C18-5E6A-4B16F7B2525E}"/>
              </a:ext>
            </a:extLst>
          </p:cNvPr>
          <p:cNvSpPr txBox="1"/>
          <p:nvPr/>
        </p:nvSpPr>
        <p:spPr>
          <a:xfrm>
            <a:off x="9973974" y="4126170"/>
            <a:ext cx="6495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ypred</a:t>
            </a:r>
            <a:endParaRPr lang="en-US" sz="1200" dirty="0">
              <a:latin typeface="Courier" pitchFamily="2" charset="0"/>
            </a:endParaRPr>
          </a:p>
        </p:txBody>
      </p: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C16ED2F2-DE85-DD5C-B0F1-0272CF5D55B9}"/>
              </a:ext>
            </a:extLst>
          </p:cNvPr>
          <p:cNvCxnSpPr>
            <a:cxnSpLocks/>
          </p:cNvCxnSpPr>
          <p:nvPr/>
        </p:nvCxnSpPr>
        <p:spPr>
          <a:xfrm flipV="1">
            <a:off x="10894855" y="4919856"/>
            <a:ext cx="395416" cy="1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11" name="TextBox 110">
            <a:extLst>
              <a:ext uri="{FF2B5EF4-FFF2-40B4-BE49-F238E27FC236}">
                <a16:creationId xmlns:a16="http://schemas.microsoft.com/office/drawing/2014/main" id="{DF98A7C9-C6B3-E4BD-BC70-B8BDF348794B}"/>
              </a:ext>
            </a:extLst>
          </p:cNvPr>
          <p:cNvSpPr txBox="1"/>
          <p:nvPr/>
        </p:nvSpPr>
        <p:spPr>
          <a:xfrm>
            <a:off x="11251259" y="4776445"/>
            <a:ext cx="4635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urier" pitchFamily="2" charset="0"/>
              </a:rPr>
              <a:t>acc</a:t>
            </a:r>
          </a:p>
        </p:txBody>
      </p: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56C58B3C-0540-9D5C-A963-F96BA80443F9}"/>
              </a:ext>
            </a:extLst>
          </p:cNvPr>
          <p:cNvCxnSpPr/>
          <p:nvPr/>
        </p:nvCxnSpPr>
        <p:spPr>
          <a:xfrm>
            <a:off x="10305535" y="4415907"/>
            <a:ext cx="0" cy="504000"/>
          </a:xfrm>
          <a:prstGeom prst="line">
            <a:avLst/>
          </a:prstGeom>
          <a:ln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DF8B6E96-FE35-32EC-6E3A-EA7FEFE12C8F}"/>
              </a:ext>
            </a:extLst>
          </p:cNvPr>
          <p:cNvSpPr txBox="1"/>
          <p:nvPr/>
        </p:nvSpPr>
        <p:spPr>
          <a:xfrm>
            <a:off x="4516551" y="3806180"/>
            <a:ext cx="7425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sclean</a:t>
            </a:r>
            <a:endParaRPr lang="en-US" sz="1200" dirty="0">
              <a:latin typeface="Courier" pitchFamily="2" charset="0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8D55FB9A-B6B7-3866-8BAB-168FAAA8E158}"/>
              </a:ext>
            </a:extLst>
          </p:cNvPr>
          <p:cNvSpPr txBox="1"/>
          <p:nvPr/>
        </p:nvSpPr>
        <p:spPr>
          <a:xfrm>
            <a:off x="6040070" y="3806179"/>
            <a:ext cx="4635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a,b</a:t>
            </a:r>
            <a:endParaRPr lang="en-US" sz="1200" dirty="0">
              <a:latin typeface="Courier" pitchFamily="2" charset="0"/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6AC45C7B-41DC-7C41-FC26-3BF84A1A071F}"/>
              </a:ext>
            </a:extLst>
          </p:cNvPr>
          <p:cNvSpPr txBox="1"/>
          <p:nvPr/>
        </p:nvSpPr>
        <p:spPr>
          <a:xfrm>
            <a:off x="7625162" y="3800362"/>
            <a:ext cx="4635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sel</a:t>
            </a:r>
            <a:endParaRPr lang="en-US" sz="1200" dirty="0">
              <a:latin typeface="Courier" pitchFamily="2" charset="0"/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5E46124A-5DA1-7B95-93A2-86E69542CADA}"/>
              </a:ext>
            </a:extLst>
          </p:cNvPr>
          <p:cNvSpPr txBox="1"/>
          <p:nvPr/>
        </p:nvSpPr>
        <p:spPr>
          <a:xfrm>
            <a:off x="9398703" y="3727476"/>
            <a:ext cx="6896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Gill Sans MT" panose="020B0502020104020203" pitchFamily="34" charset="77"/>
              </a:rPr>
              <a:t>Learned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Model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A529C53D-F7DE-2562-A8CA-C07539EBF865}"/>
              </a:ext>
            </a:extLst>
          </p:cNvPr>
          <p:cNvSpPr txBox="1"/>
          <p:nvPr/>
        </p:nvSpPr>
        <p:spPr>
          <a:xfrm>
            <a:off x="1424287" y="3991246"/>
            <a:ext cx="4635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X,y</a:t>
            </a:r>
            <a:endParaRPr lang="en-US" sz="1200" dirty="0">
              <a:latin typeface="Courier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CF68E91-0931-F563-2DBE-9A1388DF5ECF}"/>
              </a:ext>
            </a:extLst>
          </p:cNvPr>
          <p:cNvSpPr txBox="1"/>
          <p:nvPr/>
        </p:nvSpPr>
        <p:spPr>
          <a:xfrm>
            <a:off x="1162594" y="2622522"/>
            <a:ext cx="570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dirty="0">
                <a:latin typeface="Gill Sans MT" panose="020B0502020104020203" pitchFamily="34" charset="77"/>
              </a:rPr>
              <a:t>70%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74110E-98AF-DB61-CC35-E04FFC21D770}"/>
              </a:ext>
            </a:extLst>
          </p:cNvPr>
          <p:cNvSpPr txBox="1"/>
          <p:nvPr/>
        </p:nvSpPr>
        <p:spPr>
          <a:xfrm>
            <a:off x="1159509" y="4653291"/>
            <a:ext cx="570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dirty="0">
                <a:latin typeface="Gill Sans MT" panose="020B0502020104020203" pitchFamily="34" charset="77"/>
              </a:rPr>
              <a:t>30%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DE9755-F0F2-4A90-BB91-DED5A5A993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619" y="102943"/>
            <a:ext cx="1529678" cy="86352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9AAEF88-28CF-2D7A-4C3C-C889E852AD0F}"/>
              </a:ext>
            </a:extLst>
          </p:cNvPr>
          <p:cNvSpPr txBox="1"/>
          <p:nvPr/>
        </p:nvSpPr>
        <p:spPr>
          <a:xfrm>
            <a:off x="1719544" y="258585"/>
            <a:ext cx="729238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rgbClr val="E9710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E06</a:t>
            </a:r>
            <a:r>
              <a:rPr lang="en-CL" sz="4000" b="1" dirty="0">
                <a:solidFill>
                  <a:srgbClr val="E9710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&gt; P07: </a:t>
            </a:r>
            <a:r>
              <a:rPr lang="en-CL" sz="4000" b="1" dirty="0">
                <a:solidFill>
                  <a:srgbClr val="E97F3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SELECTION - SFS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F8A16A3-0000-D582-3209-7B6C72252637}"/>
              </a:ext>
            </a:extLst>
          </p:cNvPr>
          <p:cNvSpPr/>
          <p:nvPr/>
        </p:nvSpPr>
        <p:spPr>
          <a:xfrm>
            <a:off x="6890794" y="1800224"/>
            <a:ext cx="1456878" cy="4371975"/>
          </a:xfrm>
          <a:prstGeom prst="roundRect">
            <a:avLst/>
          </a:prstGeom>
          <a:noFill/>
          <a:ln w="508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41346351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2C2BCB-6819-834F-8A5F-85054EAD77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59A18B4-0E33-5CF6-0219-6E1F60590EEC}"/>
              </a:ext>
            </a:extLst>
          </p:cNvPr>
          <p:cNvSpPr txBox="1"/>
          <p:nvPr/>
        </p:nvSpPr>
        <p:spPr>
          <a:xfrm>
            <a:off x="280530" y="3664126"/>
            <a:ext cx="11848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Features &amp;</a:t>
            </a:r>
          </a:p>
          <a:p>
            <a:pPr algn="ctr"/>
            <a:r>
              <a:rPr lang="en-US" dirty="0">
                <a:latin typeface="Gill Sans MT" panose="020B0502020104020203" pitchFamily="34" charset="77"/>
              </a:rPr>
              <a:t>Labels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84C82FB-87EC-2971-71E3-EFC5350D2271}"/>
              </a:ext>
            </a:extLst>
          </p:cNvPr>
          <p:cNvSpPr/>
          <p:nvPr/>
        </p:nvSpPr>
        <p:spPr>
          <a:xfrm>
            <a:off x="3902035" y="2565965"/>
            <a:ext cx="1185494" cy="9459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Cleaning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53F4EFA4-AB9F-2305-C751-7C7DB8C546F3}"/>
              </a:ext>
            </a:extLst>
          </p:cNvPr>
          <p:cNvSpPr/>
          <p:nvPr/>
        </p:nvSpPr>
        <p:spPr>
          <a:xfrm>
            <a:off x="3902034" y="4457827"/>
            <a:ext cx="1185494" cy="9459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Clean</a:t>
            </a:r>
          </a:p>
          <a:p>
            <a:pPr algn="ctr"/>
            <a:r>
              <a:rPr lang="en-US" dirty="0">
                <a:latin typeface="Gill Sans MT" panose="020B0502020104020203" pitchFamily="34" charset="77"/>
              </a:rPr>
              <a:t>Features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18E340B-8838-3467-201B-8FBDFDBC7018}"/>
              </a:ext>
            </a:extLst>
          </p:cNvPr>
          <p:cNvCxnSpPr>
            <a:cxnSpLocks/>
            <a:stCxn id="7" idx="2"/>
            <a:endCxn id="10" idx="0"/>
          </p:cNvCxnSpPr>
          <p:nvPr/>
        </p:nvCxnSpPr>
        <p:spPr>
          <a:xfrm flipH="1">
            <a:off x="4494781" y="3511896"/>
            <a:ext cx="1" cy="945931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250A2839-0768-2A70-65BC-FC0224C071DC}"/>
              </a:ext>
            </a:extLst>
          </p:cNvPr>
          <p:cNvSpPr/>
          <p:nvPr/>
        </p:nvSpPr>
        <p:spPr>
          <a:xfrm>
            <a:off x="5388960" y="2565965"/>
            <a:ext cx="1296324" cy="9459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Normalization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5713E0D5-1BA7-DF80-CD4E-91B2B14B88D7}"/>
              </a:ext>
            </a:extLst>
          </p:cNvPr>
          <p:cNvSpPr/>
          <p:nvPr/>
        </p:nvSpPr>
        <p:spPr>
          <a:xfrm>
            <a:off x="5388959" y="4457827"/>
            <a:ext cx="1296324" cy="9459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Normalize</a:t>
            </a:r>
          </a:p>
          <a:p>
            <a:pPr algn="ctr"/>
            <a:r>
              <a:rPr lang="en-US" dirty="0">
                <a:latin typeface="Gill Sans MT" panose="020B0502020104020203" pitchFamily="34" charset="77"/>
              </a:rPr>
              <a:t>Features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E8EEFF4-CD80-60F0-CCB7-65CA92411AE1}"/>
              </a:ext>
            </a:extLst>
          </p:cNvPr>
          <p:cNvCxnSpPr>
            <a:cxnSpLocks/>
            <a:stCxn id="18" idx="2"/>
            <a:endCxn id="19" idx="0"/>
          </p:cNvCxnSpPr>
          <p:nvPr/>
        </p:nvCxnSpPr>
        <p:spPr>
          <a:xfrm flipH="1">
            <a:off x="6037121" y="3511896"/>
            <a:ext cx="1" cy="945931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D5F6FC4-CB62-6A97-F68A-FD2001D70490}"/>
              </a:ext>
            </a:extLst>
          </p:cNvPr>
          <p:cNvCxnSpPr>
            <a:cxnSpLocks/>
            <a:stCxn id="7" idx="3"/>
            <a:endCxn id="18" idx="1"/>
          </p:cNvCxnSpPr>
          <p:nvPr/>
        </p:nvCxnSpPr>
        <p:spPr>
          <a:xfrm>
            <a:off x="5087529" y="3038931"/>
            <a:ext cx="301431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17741C75-3BFC-FBEA-7DBB-FF020037E473}"/>
              </a:ext>
            </a:extLst>
          </p:cNvPr>
          <p:cNvSpPr/>
          <p:nvPr/>
        </p:nvSpPr>
        <p:spPr>
          <a:xfrm>
            <a:off x="6982689" y="2565822"/>
            <a:ext cx="1296324" cy="9459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Selection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F7453EBE-78B7-E699-B525-5C5F05BB4FC1}"/>
              </a:ext>
            </a:extLst>
          </p:cNvPr>
          <p:cNvSpPr/>
          <p:nvPr/>
        </p:nvSpPr>
        <p:spPr>
          <a:xfrm>
            <a:off x="6982688" y="4457684"/>
            <a:ext cx="1296324" cy="9459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Select</a:t>
            </a:r>
          </a:p>
          <a:p>
            <a:pPr algn="ctr"/>
            <a:r>
              <a:rPr lang="en-US" dirty="0">
                <a:latin typeface="Gill Sans MT" panose="020B0502020104020203" pitchFamily="34" charset="77"/>
              </a:rPr>
              <a:t>Features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6A28187-8683-C99A-A963-A498BAEF44D1}"/>
              </a:ext>
            </a:extLst>
          </p:cNvPr>
          <p:cNvCxnSpPr>
            <a:cxnSpLocks/>
            <a:stCxn id="26" idx="2"/>
            <a:endCxn id="27" idx="0"/>
          </p:cNvCxnSpPr>
          <p:nvPr/>
        </p:nvCxnSpPr>
        <p:spPr>
          <a:xfrm flipH="1">
            <a:off x="7630850" y="3511753"/>
            <a:ext cx="1" cy="945931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A437129-8B65-6CAF-1602-6E42B81952A1}"/>
              </a:ext>
            </a:extLst>
          </p:cNvPr>
          <p:cNvCxnSpPr>
            <a:cxnSpLocks/>
            <a:stCxn id="18" idx="3"/>
            <a:endCxn id="26" idx="1"/>
          </p:cNvCxnSpPr>
          <p:nvPr/>
        </p:nvCxnSpPr>
        <p:spPr>
          <a:xfrm flipV="1">
            <a:off x="6685284" y="3038788"/>
            <a:ext cx="297405" cy="143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0A450CFF-A81B-6BB8-B707-A61608D8D85C}"/>
              </a:ext>
            </a:extLst>
          </p:cNvPr>
          <p:cNvCxnSpPr>
            <a:cxnSpLocks/>
            <a:stCxn id="10" idx="3"/>
            <a:endCxn id="19" idx="1"/>
          </p:cNvCxnSpPr>
          <p:nvPr/>
        </p:nvCxnSpPr>
        <p:spPr>
          <a:xfrm>
            <a:off x="5087528" y="4930793"/>
            <a:ext cx="301431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9604F1C2-FAB2-B13C-5A34-F5F251441753}"/>
              </a:ext>
            </a:extLst>
          </p:cNvPr>
          <p:cNvCxnSpPr>
            <a:cxnSpLocks/>
            <a:stCxn id="19" idx="3"/>
            <a:endCxn id="27" idx="1"/>
          </p:cNvCxnSpPr>
          <p:nvPr/>
        </p:nvCxnSpPr>
        <p:spPr>
          <a:xfrm flipV="1">
            <a:off x="6685283" y="4930650"/>
            <a:ext cx="297405" cy="143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5BA1996F-4AFA-A942-C29F-3FBCA12CED6A}"/>
              </a:ext>
            </a:extLst>
          </p:cNvPr>
          <p:cNvSpPr/>
          <p:nvPr/>
        </p:nvSpPr>
        <p:spPr>
          <a:xfrm>
            <a:off x="8576415" y="2565822"/>
            <a:ext cx="1556125" cy="9459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Train</a:t>
            </a: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EE75D3B4-EE12-37E1-6E1C-695F8F07B52F}"/>
              </a:ext>
            </a:extLst>
          </p:cNvPr>
          <p:cNvSpPr/>
          <p:nvPr/>
        </p:nvSpPr>
        <p:spPr>
          <a:xfrm>
            <a:off x="8576415" y="4457684"/>
            <a:ext cx="1556126" cy="9459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Classify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48DFA7DF-8048-A137-56C7-B4E78AF3B3D3}"/>
              </a:ext>
            </a:extLst>
          </p:cNvPr>
          <p:cNvCxnSpPr>
            <a:cxnSpLocks/>
            <a:stCxn id="45" idx="2"/>
            <a:endCxn id="46" idx="0"/>
          </p:cNvCxnSpPr>
          <p:nvPr/>
        </p:nvCxnSpPr>
        <p:spPr>
          <a:xfrm>
            <a:off x="9354478" y="3511753"/>
            <a:ext cx="0" cy="945931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6D4AFB73-2CDA-2D6B-5EAD-F94AC5EF4B97}"/>
              </a:ext>
            </a:extLst>
          </p:cNvPr>
          <p:cNvCxnSpPr>
            <a:cxnSpLocks/>
            <a:stCxn id="27" idx="3"/>
            <a:endCxn id="46" idx="1"/>
          </p:cNvCxnSpPr>
          <p:nvPr/>
        </p:nvCxnSpPr>
        <p:spPr>
          <a:xfrm>
            <a:off x="8279012" y="4930650"/>
            <a:ext cx="297403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62" name="Elbow Connector 61">
            <a:extLst>
              <a:ext uri="{FF2B5EF4-FFF2-40B4-BE49-F238E27FC236}">
                <a16:creationId xmlns:a16="http://schemas.microsoft.com/office/drawing/2014/main" id="{BBA909DA-02DC-D983-7D62-FBFE7E351B10}"/>
              </a:ext>
            </a:extLst>
          </p:cNvPr>
          <p:cNvCxnSpPr>
            <a:cxnSpLocks/>
            <a:endCxn id="7" idx="1"/>
          </p:cNvCxnSpPr>
          <p:nvPr/>
        </p:nvCxnSpPr>
        <p:spPr>
          <a:xfrm rot="5400000" flipH="1" flipV="1">
            <a:off x="3088220" y="2698081"/>
            <a:ext cx="472965" cy="1154666"/>
          </a:xfrm>
          <a:prstGeom prst="bentConnector2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54606084-1E95-8597-FD8E-BC91C8A3FBEF}"/>
              </a:ext>
            </a:extLst>
          </p:cNvPr>
          <p:cNvSpPr txBox="1"/>
          <p:nvPr/>
        </p:nvSpPr>
        <p:spPr>
          <a:xfrm>
            <a:off x="2298403" y="2345523"/>
            <a:ext cx="7425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ytrain</a:t>
            </a:r>
            <a:endParaRPr lang="en-US" sz="1200" dirty="0">
              <a:latin typeface="Courier" pitchFamily="2" charset="0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1AC5023-9093-92C0-8BF5-732E6FAECF36}"/>
              </a:ext>
            </a:extLst>
          </p:cNvPr>
          <p:cNvSpPr txBox="1"/>
          <p:nvPr/>
        </p:nvSpPr>
        <p:spPr>
          <a:xfrm>
            <a:off x="2757009" y="3043538"/>
            <a:ext cx="7425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Xtrain</a:t>
            </a:r>
            <a:endParaRPr lang="en-US" sz="1200" dirty="0">
              <a:latin typeface="Courier" pitchFamily="2" charset="0"/>
            </a:endParaRPr>
          </a:p>
        </p:txBody>
      </p:sp>
      <p:cxnSp>
        <p:nvCxnSpPr>
          <p:cNvPr id="67" name="Elbow Connector 66">
            <a:extLst>
              <a:ext uri="{FF2B5EF4-FFF2-40B4-BE49-F238E27FC236}">
                <a16:creationId xmlns:a16="http://schemas.microsoft.com/office/drawing/2014/main" id="{838C7C03-E36E-FD8F-A7F9-71B73EF58D7A}"/>
              </a:ext>
            </a:extLst>
          </p:cNvPr>
          <p:cNvCxnSpPr>
            <a:cxnSpLocks/>
            <a:endCxn id="10" idx="1"/>
          </p:cNvCxnSpPr>
          <p:nvPr/>
        </p:nvCxnSpPr>
        <p:spPr>
          <a:xfrm rot="16200000" flipH="1">
            <a:off x="3088218" y="4116977"/>
            <a:ext cx="472966" cy="1154665"/>
          </a:xfrm>
          <a:prstGeom prst="bentConnector2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F019EE83-606E-533E-326D-886CAB28142B}"/>
              </a:ext>
            </a:extLst>
          </p:cNvPr>
          <p:cNvSpPr txBox="1"/>
          <p:nvPr/>
        </p:nvSpPr>
        <p:spPr>
          <a:xfrm>
            <a:off x="2760066" y="4660146"/>
            <a:ext cx="6495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Xtest</a:t>
            </a:r>
            <a:endParaRPr lang="en-US" sz="1200" dirty="0">
              <a:latin typeface="Courier" pitchFamily="2" charset="0"/>
            </a:endParaRP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234EF50F-A5D4-09B1-D50C-F933CE7F4A54}"/>
              </a:ext>
            </a:extLst>
          </p:cNvPr>
          <p:cNvSpPr/>
          <p:nvPr/>
        </p:nvSpPr>
        <p:spPr>
          <a:xfrm>
            <a:off x="10527957" y="4735284"/>
            <a:ext cx="358345" cy="39073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5A82985A-9FD0-8C0B-132A-84BC9A252884}"/>
              </a:ext>
            </a:extLst>
          </p:cNvPr>
          <p:cNvCxnSpPr>
            <a:cxnSpLocks/>
            <a:stCxn id="46" idx="3"/>
            <a:endCxn id="71" idx="2"/>
          </p:cNvCxnSpPr>
          <p:nvPr/>
        </p:nvCxnSpPr>
        <p:spPr>
          <a:xfrm flipV="1">
            <a:off x="10132541" y="4930649"/>
            <a:ext cx="395416" cy="1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76" name="Elbow Connector 75">
            <a:extLst>
              <a:ext uri="{FF2B5EF4-FFF2-40B4-BE49-F238E27FC236}">
                <a16:creationId xmlns:a16="http://schemas.microsoft.com/office/drawing/2014/main" id="{66629071-B98A-2CE0-9300-AC91C53435BB}"/>
              </a:ext>
            </a:extLst>
          </p:cNvPr>
          <p:cNvCxnSpPr>
            <a:cxnSpLocks/>
            <a:endCxn id="26" idx="0"/>
          </p:cNvCxnSpPr>
          <p:nvPr/>
        </p:nvCxnSpPr>
        <p:spPr>
          <a:xfrm rot="5400000" flipH="1" flipV="1">
            <a:off x="4493650" y="374695"/>
            <a:ext cx="946074" cy="5328328"/>
          </a:xfrm>
          <a:prstGeom prst="bentConnector3">
            <a:avLst>
              <a:gd name="adj1" fmla="val 124163"/>
            </a:avLst>
          </a:prstGeom>
          <a:ln w="31750"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79" name="Elbow Connector 78">
            <a:extLst>
              <a:ext uri="{FF2B5EF4-FFF2-40B4-BE49-F238E27FC236}">
                <a16:creationId xmlns:a16="http://schemas.microsoft.com/office/drawing/2014/main" id="{3EFB7B45-180D-0926-4DA7-9AC5BAECF3FD}"/>
              </a:ext>
            </a:extLst>
          </p:cNvPr>
          <p:cNvCxnSpPr>
            <a:cxnSpLocks/>
            <a:endCxn id="71" idx="4"/>
          </p:cNvCxnSpPr>
          <p:nvPr/>
        </p:nvCxnSpPr>
        <p:spPr>
          <a:xfrm rot="16200000" flipH="1">
            <a:off x="6170733" y="589616"/>
            <a:ext cx="668187" cy="8404608"/>
          </a:xfrm>
          <a:prstGeom prst="bentConnector3">
            <a:avLst>
              <a:gd name="adj1" fmla="val 171198"/>
            </a:avLst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9B1CEB0F-99EE-D3E4-BBE7-B742AEA8425A}"/>
              </a:ext>
            </a:extLst>
          </p:cNvPr>
          <p:cNvSpPr txBox="1"/>
          <p:nvPr/>
        </p:nvSpPr>
        <p:spPr>
          <a:xfrm>
            <a:off x="2312886" y="5317805"/>
            <a:ext cx="6495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ytest</a:t>
            </a:r>
            <a:endParaRPr lang="en-US" sz="1200" dirty="0">
              <a:latin typeface="Courier" pitchFamily="2" charset="0"/>
            </a:endParaRPr>
          </a:p>
        </p:txBody>
      </p: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AF55F994-EFCD-0CAE-5449-898E5128C125}"/>
              </a:ext>
            </a:extLst>
          </p:cNvPr>
          <p:cNvCxnSpPr>
            <a:cxnSpLocks/>
          </p:cNvCxnSpPr>
          <p:nvPr/>
        </p:nvCxnSpPr>
        <p:spPr>
          <a:xfrm flipV="1">
            <a:off x="1388119" y="3984718"/>
            <a:ext cx="540000" cy="1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30393091-8E9B-37CB-FE3A-D289F98CBB8B}"/>
              </a:ext>
            </a:extLst>
          </p:cNvPr>
          <p:cNvCxnSpPr>
            <a:cxnSpLocks/>
            <a:stCxn id="26" idx="3"/>
            <a:endCxn id="45" idx="1"/>
          </p:cNvCxnSpPr>
          <p:nvPr/>
        </p:nvCxnSpPr>
        <p:spPr>
          <a:xfrm>
            <a:off x="8279013" y="3038788"/>
            <a:ext cx="297402" cy="0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90" name="Rectangle 89">
            <a:extLst>
              <a:ext uri="{FF2B5EF4-FFF2-40B4-BE49-F238E27FC236}">
                <a16:creationId xmlns:a16="http://schemas.microsoft.com/office/drawing/2014/main" id="{89FEA7D9-CD91-3D9C-64E0-797795BB51EA}"/>
              </a:ext>
            </a:extLst>
          </p:cNvPr>
          <p:cNvSpPr/>
          <p:nvPr/>
        </p:nvSpPr>
        <p:spPr>
          <a:xfrm>
            <a:off x="10555044" y="4636402"/>
            <a:ext cx="30008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Gill Sans MT" panose="020B0502020104020203" pitchFamily="34" charset="77"/>
              </a:rPr>
              <a:t>-</a:t>
            </a:r>
          </a:p>
        </p:txBody>
      </p:sp>
      <p:cxnSp>
        <p:nvCxnSpPr>
          <p:cNvPr id="92" name="Elbow Connector 91">
            <a:extLst>
              <a:ext uri="{FF2B5EF4-FFF2-40B4-BE49-F238E27FC236}">
                <a16:creationId xmlns:a16="http://schemas.microsoft.com/office/drawing/2014/main" id="{94A2706D-4754-F8E0-C735-9D77ABA22BE2}"/>
              </a:ext>
            </a:extLst>
          </p:cNvPr>
          <p:cNvCxnSpPr>
            <a:cxnSpLocks/>
            <a:endCxn id="45" idx="0"/>
          </p:cNvCxnSpPr>
          <p:nvPr/>
        </p:nvCxnSpPr>
        <p:spPr>
          <a:xfrm rot="5400000" flipH="1" flipV="1">
            <a:off x="5355463" y="-487118"/>
            <a:ext cx="946074" cy="7051955"/>
          </a:xfrm>
          <a:prstGeom prst="bentConnector3">
            <a:avLst>
              <a:gd name="adj1" fmla="val 124163"/>
            </a:avLst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95" name="Rounded Rectangle 94">
            <a:extLst>
              <a:ext uri="{FF2B5EF4-FFF2-40B4-BE49-F238E27FC236}">
                <a16:creationId xmlns:a16="http://schemas.microsoft.com/office/drawing/2014/main" id="{90E90BE7-9729-F90D-721A-7158301F07BE}"/>
              </a:ext>
            </a:extLst>
          </p:cNvPr>
          <p:cNvSpPr/>
          <p:nvPr/>
        </p:nvSpPr>
        <p:spPr>
          <a:xfrm>
            <a:off x="1932199" y="3511896"/>
            <a:ext cx="1185494" cy="9459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Split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EE0BD10B-0E0E-24FB-017A-FBDCA42E8FDD}"/>
              </a:ext>
            </a:extLst>
          </p:cNvPr>
          <p:cNvSpPr txBox="1"/>
          <p:nvPr/>
        </p:nvSpPr>
        <p:spPr>
          <a:xfrm>
            <a:off x="4556566" y="1314685"/>
            <a:ext cx="130035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Xtrain_clean</a:t>
            </a:r>
            <a:endParaRPr lang="en-US" sz="1200" dirty="0">
              <a:latin typeface="Courier" pitchFamily="2" charset="0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96C91E2-121B-5C69-899D-573E674595DC}"/>
              </a:ext>
            </a:extLst>
          </p:cNvPr>
          <p:cNvSpPr txBox="1"/>
          <p:nvPr/>
        </p:nvSpPr>
        <p:spPr>
          <a:xfrm>
            <a:off x="6193223" y="1314684"/>
            <a:ext cx="12073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Xtrain_norm</a:t>
            </a:r>
            <a:endParaRPr lang="en-US" sz="1200" dirty="0">
              <a:latin typeface="Courier" pitchFamily="2" charset="0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2ED425F9-ECDD-1CAA-C172-EDDF56254133}"/>
              </a:ext>
            </a:extLst>
          </p:cNvPr>
          <p:cNvSpPr txBox="1"/>
          <p:nvPr/>
        </p:nvSpPr>
        <p:spPr>
          <a:xfrm>
            <a:off x="7833438" y="1170991"/>
            <a:ext cx="11144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 err="1">
                <a:latin typeface="Courier" pitchFamily="2" charset="0"/>
              </a:rPr>
              <a:t>Xtrain_sfs</a:t>
            </a:r>
            <a:endParaRPr lang="en-US" sz="1200" dirty="0">
              <a:latin typeface="Courier" pitchFamily="2" charset="0"/>
            </a:endParaRPr>
          </a:p>
          <a:p>
            <a:pPr algn="ctr"/>
            <a:r>
              <a:rPr lang="en-US" sz="1200" dirty="0" err="1">
                <a:latin typeface="Courier" pitchFamily="2" charset="0"/>
              </a:rPr>
              <a:t>Xtrain_ex</a:t>
            </a:r>
            <a:endParaRPr lang="en-US" sz="1200" dirty="0">
              <a:latin typeface="Courier" pitchFamily="2" charset="0"/>
            </a:endParaRPr>
          </a:p>
        </p:txBody>
      </p: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680292D8-47AF-C59A-9DAB-4E65F1344681}"/>
              </a:ext>
            </a:extLst>
          </p:cNvPr>
          <p:cNvCxnSpPr/>
          <p:nvPr/>
        </p:nvCxnSpPr>
        <p:spPr>
          <a:xfrm>
            <a:off x="5201171" y="1627692"/>
            <a:ext cx="0" cy="1395476"/>
          </a:xfrm>
          <a:prstGeom prst="line">
            <a:avLst/>
          </a:prstGeom>
          <a:ln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41655983-C54C-56BF-7840-4F5B1A50C107}"/>
              </a:ext>
            </a:extLst>
          </p:cNvPr>
          <p:cNvCxnSpPr/>
          <p:nvPr/>
        </p:nvCxnSpPr>
        <p:spPr>
          <a:xfrm>
            <a:off x="6809271" y="1628754"/>
            <a:ext cx="0" cy="1395476"/>
          </a:xfrm>
          <a:prstGeom prst="line">
            <a:avLst/>
          </a:prstGeom>
          <a:ln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9D3A4B38-766B-6DE4-B134-D3291DD19194}"/>
              </a:ext>
            </a:extLst>
          </p:cNvPr>
          <p:cNvCxnSpPr/>
          <p:nvPr/>
        </p:nvCxnSpPr>
        <p:spPr>
          <a:xfrm>
            <a:off x="8395459" y="1635428"/>
            <a:ext cx="0" cy="1395476"/>
          </a:xfrm>
          <a:prstGeom prst="line">
            <a:avLst/>
          </a:prstGeom>
          <a:ln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233C1F6A-FE10-B8CE-6F01-7FB7490FDA0D}"/>
              </a:ext>
            </a:extLst>
          </p:cNvPr>
          <p:cNvSpPr txBox="1"/>
          <p:nvPr/>
        </p:nvSpPr>
        <p:spPr>
          <a:xfrm>
            <a:off x="4606820" y="6298579"/>
            <a:ext cx="12073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Xtest_clean</a:t>
            </a:r>
            <a:endParaRPr lang="en-US" sz="1200" dirty="0">
              <a:latin typeface="Courier" pitchFamily="2" charset="0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96272FDC-CBFE-7C61-C673-AF72C40165F8}"/>
              </a:ext>
            </a:extLst>
          </p:cNvPr>
          <p:cNvSpPr txBox="1"/>
          <p:nvPr/>
        </p:nvSpPr>
        <p:spPr>
          <a:xfrm>
            <a:off x="6292905" y="6298578"/>
            <a:ext cx="11144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Xtest_norm</a:t>
            </a:r>
            <a:endParaRPr lang="en-US" sz="1200" dirty="0">
              <a:latin typeface="Courier" pitchFamily="2" charset="0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BD8EE0C3-EDF3-A0FC-AE8F-91ADD802B5F0}"/>
              </a:ext>
            </a:extLst>
          </p:cNvPr>
          <p:cNvSpPr txBox="1"/>
          <p:nvPr/>
        </p:nvSpPr>
        <p:spPr>
          <a:xfrm>
            <a:off x="7896049" y="6298578"/>
            <a:ext cx="10214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 err="1">
                <a:latin typeface="Courier" pitchFamily="2" charset="0"/>
              </a:rPr>
              <a:t>Xtest_sfs</a:t>
            </a:r>
            <a:endParaRPr lang="en-US" sz="1200" dirty="0">
              <a:latin typeface="Courier" pitchFamily="2" charset="0"/>
            </a:endParaRPr>
          </a:p>
          <a:p>
            <a:pPr algn="ctr"/>
            <a:r>
              <a:rPr lang="en-US" sz="1200" dirty="0" err="1">
                <a:latin typeface="Courier" pitchFamily="2" charset="0"/>
              </a:rPr>
              <a:t>Xtest_ex</a:t>
            </a:r>
            <a:endParaRPr lang="en-US" sz="1200" dirty="0">
              <a:latin typeface="Courier" pitchFamily="2" charset="0"/>
            </a:endParaRPr>
          </a:p>
        </p:txBody>
      </p: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E4B47D38-2BC2-BC3C-9363-21F06828AFE4}"/>
              </a:ext>
            </a:extLst>
          </p:cNvPr>
          <p:cNvCxnSpPr/>
          <p:nvPr/>
        </p:nvCxnSpPr>
        <p:spPr>
          <a:xfrm>
            <a:off x="5201997" y="4931065"/>
            <a:ext cx="0" cy="1395476"/>
          </a:xfrm>
          <a:prstGeom prst="line">
            <a:avLst/>
          </a:prstGeom>
          <a:ln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520A907D-E175-B665-DEE0-EB4223FE2802}"/>
              </a:ext>
            </a:extLst>
          </p:cNvPr>
          <p:cNvCxnSpPr/>
          <p:nvPr/>
        </p:nvCxnSpPr>
        <p:spPr>
          <a:xfrm>
            <a:off x="6810097" y="4932127"/>
            <a:ext cx="0" cy="1395476"/>
          </a:xfrm>
          <a:prstGeom prst="line">
            <a:avLst/>
          </a:prstGeom>
          <a:ln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EC96DF47-2B33-2910-9C91-3AA952AC6E9D}"/>
              </a:ext>
            </a:extLst>
          </p:cNvPr>
          <p:cNvCxnSpPr/>
          <p:nvPr/>
        </p:nvCxnSpPr>
        <p:spPr>
          <a:xfrm>
            <a:off x="8396285" y="4938801"/>
            <a:ext cx="0" cy="1395476"/>
          </a:xfrm>
          <a:prstGeom prst="line">
            <a:avLst/>
          </a:prstGeom>
          <a:ln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1151FB13-E0E3-1866-82F0-C54F963FD4D3}"/>
              </a:ext>
            </a:extLst>
          </p:cNvPr>
          <p:cNvSpPr txBox="1"/>
          <p:nvPr/>
        </p:nvSpPr>
        <p:spPr>
          <a:xfrm>
            <a:off x="9973974" y="4126170"/>
            <a:ext cx="6495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ypred</a:t>
            </a:r>
            <a:endParaRPr lang="en-US" sz="1200" dirty="0">
              <a:latin typeface="Courier" pitchFamily="2" charset="0"/>
            </a:endParaRPr>
          </a:p>
        </p:txBody>
      </p: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B7084C94-FBF4-C4C7-8ADB-B31ACDA0CD71}"/>
              </a:ext>
            </a:extLst>
          </p:cNvPr>
          <p:cNvCxnSpPr>
            <a:cxnSpLocks/>
          </p:cNvCxnSpPr>
          <p:nvPr/>
        </p:nvCxnSpPr>
        <p:spPr>
          <a:xfrm flipV="1">
            <a:off x="10894855" y="4919856"/>
            <a:ext cx="395416" cy="1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11" name="TextBox 110">
            <a:extLst>
              <a:ext uri="{FF2B5EF4-FFF2-40B4-BE49-F238E27FC236}">
                <a16:creationId xmlns:a16="http://schemas.microsoft.com/office/drawing/2014/main" id="{74092B84-3293-506B-9405-FBD0C9E3415A}"/>
              </a:ext>
            </a:extLst>
          </p:cNvPr>
          <p:cNvSpPr txBox="1"/>
          <p:nvPr/>
        </p:nvSpPr>
        <p:spPr>
          <a:xfrm>
            <a:off x="11251259" y="4776445"/>
            <a:ext cx="4635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urier" pitchFamily="2" charset="0"/>
              </a:rPr>
              <a:t>acc</a:t>
            </a:r>
          </a:p>
        </p:txBody>
      </p: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29885B29-2900-4621-4E13-0089CE8BC3A8}"/>
              </a:ext>
            </a:extLst>
          </p:cNvPr>
          <p:cNvCxnSpPr/>
          <p:nvPr/>
        </p:nvCxnSpPr>
        <p:spPr>
          <a:xfrm>
            <a:off x="10305535" y="4415907"/>
            <a:ext cx="0" cy="504000"/>
          </a:xfrm>
          <a:prstGeom prst="line">
            <a:avLst/>
          </a:prstGeom>
          <a:ln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BA2B72C2-9F27-A791-4113-1CA9098D0CC0}"/>
              </a:ext>
            </a:extLst>
          </p:cNvPr>
          <p:cNvSpPr txBox="1"/>
          <p:nvPr/>
        </p:nvSpPr>
        <p:spPr>
          <a:xfrm>
            <a:off x="4516551" y="3806180"/>
            <a:ext cx="7425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sclean</a:t>
            </a:r>
            <a:endParaRPr lang="en-US" sz="1200" dirty="0">
              <a:latin typeface="Courier" pitchFamily="2" charset="0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F2D8EF33-05E6-6ACA-E997-FB2EAB3F82B8}"/>
              </a:ext>
            </a:extLst>
          </p:cNvPr>
          <p:cNvSpPr txBox="1"/>
          <p:nvPr/>
        </p:nvSpPr>
        <p:spPr>
          <a:xfrm>
            <a:off x="6040070" y="3806179"/>
            <a:ext cx="4635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a,b</a:t>
            </a:r>
            <a:endParaRPr lang="en-US" sz="1200" dirty="0">
              <a:latin typeface="Courier" pitchFamily="2" charset="0"/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23E50773-D018-73C4-E27F-BAB31CBC5BEF}"/>
              </a:ext>
            </a:extLst>
          </p:cNvPr>
          <p:cNvSpPr txBox="1"/>
          <p:nvPr/>
        </p:nvSpPr>
        <p:spPr>
          <a:xfrm>
            <a:off x="7625162" y="3800362"/>
            <a:ext cx="4635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sel</a:t>
            </a:r>
            <a:endParaRPr lang="en-US" sz="1200" dirty="0">
              <a:latin typeface="Courier" pitchFamily="2" charset="0"/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4C6BDCFC-AF17-0C31-BF76-99E5DD27C496}"/>
              </a:ext>
            </a:extLst>
          </p:cNvPr>
          <p:cNvSpPr txBox="1"/>
          <p:nvPr/>
        </p:nvSpPr>
        <p:spPr>
          <a:xfrm>
            <a:off x="9398703" y="3727476"/>
            <a:ext cx="6896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Gill Sans MT" panose="020B0502020104020203" pitchFamily="34" charset="77"/>
              </a:rPr>
              <a:t>Learned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Model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3B8E3283-6ED5-5949-D87F-D395346CB768}"/>
              </a:ext>
            </a:extLst>
          </p:cNvPr>
          <p:cNvSpPr txBox="1"/>
          <p:nvPr/>
        </p:nvSpPr>
        <p:spPr>
          <a:xfrm>
            <a:off x="1424287" y="3991246"/>
            <a:ext cx="4635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X,y</a:t>
            </a:r>
            <a:endParaRPr lang="en-US" sz="1200" dirty="0">
              <a:latin typeface="Courier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80E8000-4304-912A-7DB2-6192D9633F46}"/>
              </a:ext>
            </a:extLst>
          </p:cNvPr>
          <p:cNvSpPr txBox="1"/>
          <p:nvPr/>
        </p:nvSpPr>
        <p:spPr>
          <a:xfrm>
            <a:off x="1162594" y="2622522"/>
            <a:ext cx="570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dirty="0">
                <a:latin typeface="Gill Sans MT" panose="020B0502020104020203" pitchFamily="34" charset="77"/>
              </a:rPr>
              <a:t>70%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4C849A-0006-7899-6BB9-94848DCEDE68}"/>
              </a:ext>
            </a:extLst>
          </p:cNvPr>
          <p:cNvSpPr txBox="1"/>
          <p:nvPr/>
        </p:nvSpPr>
        <p:spPr>
          <a:xfrm>
            <a:off x="1159509" y="4653291"/>
            <a:ext cx="570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dirty="0">
                <a:latin typeface="Gill Sans MT" panose="020B0502020104020203" pitchFamily="34" charset="77"/>
              </a:rPr>
              <a:t>30%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514881-976D-6B0B-9419-8C303EA623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619" y="102943"/>
            <a:ext cx="1529678" cy="86352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64BDBD4-53BA-B8B0-DC97-2C5A7A791C64}"/>
              </a:ext>
            </a:extLst>
          </p:cNvPr>
          <p:cNvSpPr txBox="1"/>
          <p:nvPr/>
        </p:nvSpPr>
        <p:spPr>
          <a:xfrm>
            <a:off x="1719544" y="258585"/>
            <a:ext cx="90043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rgbClr val="E9710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E06</a:t>
            </a:r>
            <a:r>
              <a:rPr lang="en-CL" sz="4000" b="1" dirty="0">
                <a:solidFill>
                  <a:srgbClr val="E9710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&gt; P08: </a:t>
            </a:r>
            <a:r>
              <a:rPr lang="en-CL" sz="4000" b="1" dirty="0">
                <a:solidFill>
                  <a:srgbClr val="E97F3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SELECTION - Exhaustiva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EFC80B18-8902-4727-E807-4CF9B1B99557}"/>
              </a:ext>
            </a:extLst>
          </p:cNvPr>
          <p:cNvSpPr/>
          <p:nvPr/>
        </p:nvSpPr>
        <p:spPr>
          <a:xfrm>
            <a:off x="6890794" y="1800224"/>
            <a:ext cx="1456878" cy="4371975"/>
          </a:xfrm>
          <a:prstGeom prst="roundRect">
            <a:avLst/>
          </a:prstGeom>
          <a:noFill/>
          <a:ln w="508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9262637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B96A35-444B-676D-AEC2-037EF467D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3ECB123-F443-C075-B97E-EA4A5EAF7F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619" y="102943"/>
            <a:ext cx="1529678" cy="86352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DA35482-DDB4-17DF-83B4-3361CC3E9168}"/>
              </a:ext>
            </a:extLst>
          </p:cNvPr>
          <p:cNvSpPr txBox="1"/>
          <p:nvPr/>
        </p:nvSpPr>
        <p:spPr>
          <a:xfrm>
            <a:off x="1719544" y="258585"/>
            <a:ext cx="90043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rgbClr val="E9710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E06</a:t>
            </a:r>
            <a:r>
              <a:rPr lang="en-CL" sz="4000" b="1" dirty="0">
                <a:solidFill>
                  <a:srgbClr val="E9710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&gt; P08: </a:t>
            </a:r>
            <a:r>
              <a:rPr lang="en-CL" sz="4000" b="1" dirty="0">
                <a:solidFill>
                  <a:srgbClr val="E97F3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SELECTION - Exhaustiva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D489B7C-C67D-6F8C-F2A9-5E34F46D68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962" y="1122113"/>
            <a:ext cx="10301288" cy="5050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50837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CA81F3-84D7-5561-4263-1F648E03F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C287E38-6CC9-903C-1E54-68C7F55FEC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619" y="102943"/>
            <a:ext cx="1529678" cy="8635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6E8631A-B950-712F-3E23-1F95E5001635}"/>
              </a:ext>
            </a:extLst>
          </p:cNvPr>
          <p:cNvSpPr txBox="1"/>
          <p:nvPr/>
        </p:nvSpPr>
        <p:spPr>
          <a:xfrm>
            <a:off x="1719544" y="258585"/>
            <a:ext cx="40190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rgbClr val="E9710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E06</a:t>
            </a:r>
            <a:r>
              <a:rPr lang="en-CL" sz="4000" b="1" dirty="0">
                <a:solidFill>
                  <a:srgbClr val="E9710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&gt; P05: </a:t>
            </a:r>
            <a:r>
              <a:rPr lang="en-CL" sz="4000" b="1" dirty="0">
                <a:solidFill>
                  <a:srgbClr val="E97F3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KNN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60642BC0-A84B-C975-5361-42BEA08C27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84637"/>
            <a:ext cx="6594475" cy="53147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6836483-54DD-AB92-6F7F-4B9057E8F21F}"/>
              </a:ext>
            </a:extLst>
          </p:cNvPr>
          <p:cNvSpPr txBox="1"/>
          <p:nvPr/>
        </p:nvSpPr>
        <p:spPr>
          <a:xfrm>
            <a:off x="7358063" y="1728788"/>
            <a:ext cx="414568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>
                <a:latin typeface="Gill Sans MT" panose="020B0502020104020203" pitchFamily="34" charset="77"/>
              </a:rPr>
              <a:t>D</a:t>
            </a:r>
            <a:r>
              <a:rPr lang="en-CL" dirty="0">
                <a:latin typeface="Gill Sans MT" panose="020B0502020104020203" pitchFamily="34" charset="77"/>
              </a:rPr>
              <a:t>efinir KNN con 1 vecino</a:t>
            </a:r>
          </a:p>
          <a:p>
            <a:pPr marL="342900" indent="-342900">
              <a:buAutoNum type="arabicPeriod"/>
            </a:pPr>
            <a:r>
              <a:rPr lang="en-CL" dirty="0">
                <a:latin typeface="Gill Sans MT" panose="020B0502020104020203" pitchFamily="34" charset="77"/>
              </a:rPr>
              <a:t>Entrenar KNN con Xtrain_ex</a:t>
            </a:r>
          </a:p>
          <a:p>
            <a:pPr marL="342900" indent="-342900">
              <a:buAutoNum type="arabicPeriod"/>
            </a:pPr>
            <a:r>
              <a:rPr lang="en-CL" dirty="0">
                <a:latin typeface="Gill Sans MT" panose="020B0502020104020203" pitchFamily="34" charset="77"/>
              </a:rPr>
              <a:t>Predecir ypred con Xtest_ex</a:t>
            </a:r>
          </a:p>
          <a:p>
            <a:pPr marL="342900" indent="-342900">
              <a:buAutoNum type="arabicPeriod"/>
            </a:pPr>
            <a:r>
              <a:rPr lang="en-CL" dirty="0">
                <a:latin typeface="Gill Sans MT" panose="020B0502020104020203" pitchFamily="34" charset="77"/>
              </a:rPr>
              <a:t>Evaluar accuracy y matriz de confusión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2657F3-4481-2D86-A257-0B583365DE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1775" y="3208338"/>
            <a:ext cx="2535237" cy="2973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11758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1735</TotalTime>
  <Words>761</Words>
  <Application>Microsoft Macintosh PowerPoint</Application>
  <PresentationFormat>Widescreen</PresentationFormat>
  <Paragraphs>382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Aptos</vt:lpstr>
      <vt:lpstr>Aptos Display</vt:lpstr>
      <vt:lpstr>Arial</vt:lpstr>
      <vt:lpstr>Consolas</vt:lpstr>
      <vt:lpstr>Courier</vt:lpstr>
      <vt:lpstr>Gill Sans MT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Domingo Mery</dc:creator>
  <cp:lastModifiedBy>Domingo Mery</cp:lastModifiedBy>
  <cp:revision>18</cp:revision>
  <dcterms:created xsi:type="dcterms:W3CDTF">2026-03-15T17:41:45Z</dcterms:created>
  <dcterms:modified xsi:type="dcterms:W3CDTF">2026-04-28T13:54:33Z</dcterms:modified>
</cp:coreProperties>
</file>