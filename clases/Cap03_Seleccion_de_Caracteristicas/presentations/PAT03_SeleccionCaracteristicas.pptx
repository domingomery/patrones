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ov" ContentType="video/quicktime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4"/>
  </p:notesMasterIdLst>
  <p:sldIdLst>
    <p:sldId id="257" r:id="rId2"/>
    <p:sldId id="389" r:id="rId3"/>
    <p:sldId id="390" r:id="rId4"/>
    <p:sldId id="391" r:id="rId5"/>
    <p:sldId id="392" r:id="rId6"/>
    <p:sldId id="393" r:id="rId7"/>
    <p:sldId id="394" r:id="rId8"/>
    <p:sldId id="395" r:id="rId9"/>
    <p:sldId id="396" r:id="rId10"/>
    <p:sldId id="397" r:id="rId11"/>
    <p:sldId id="398" r:id="rId12"/>
    <p:sldId id="399" r:id="rId13"/>
    <p:sldId id="400" r:id="rId14"/>
    <p:sldId id="401" r:id="rId15"/>
    <p:sldId id="402" r:id="rId16"/>
    <p:sldId id="403" r:id="rId17"/>
    <p:sldId id="405" r:id="rId18"/>
    <p:sldId id="299" r:id="rId19"/>
    <p:sldId id="308" r:id="rId20"/>
    <p:sldId id="261" r:id="rId21"/>
    <p:sldId id="301" r:id="rId22"/>
    <p:sldId id="303" r:id="rId23"/>
    <p:sldId id="304" r:id="rId24"/>
    <p:sldId id="305" r:id="rId25"/>
    <p:sldId id="289" r:id="rId26"/>
    <p:sldId id="290" r:id="rId27"/>
    <p:sldId id="291" r:id="rId28"/>
    <p:sldId id="292" r:id="rId29"/>
    <p:sldId id="293" r:id="rId30"/>
    <p:sldId id="294" r:id="rId31"/>
    <p:sldId id="296" r:id="rId32"/>
    <p:sldId id="295" r:id="rId33"/>
    <p:sldId id="306" r:id="rId34"/>
    <p:sldId id="307" r:id="rId35"/>
    <p:sldId id="311" r:id="rId36"/>
    <p:sldId id="260" r:id="rId37"/>
    <p:sldId id="262" r:id="rId38"/>
    <p:sldId id="264" r:id="rId39"/>
    <p:sldId id="309" r:id="rId40"/>
    <p:sldId id="310" r:id="rId41"/>
    <p:sldId id="335" r:id="rId42"/>
    <p:sldId id="326" r:id="rId43"/>
    <p:sldId id="271" r:id="rId44"/>
    <p:sldId id="272" r:id="rId45"/>
    <p:sldId id="274" r:id="rId46"/>
    <p:sldId id="273" r:id="rId47"/>
    <p:sldId id="327" r:id="rId48"/>
    <p:sldId id="328" r:id="rId49"/>
    <p:sldId id="329" r:id="rId50"/>
    <p:sldId id="330" r:id="rId51"/>
    <p:sldId id="331" r:id="rId52"/>
    <p:sldId id="280" r:id="rId53"/>
    <p:sldId id="332" r:id="rId54"/>
    <p:sldId id="256" r:id="rId55"/>
    <p:sldId id="333" r:id="rId56"/>
    <p:sldId id="334" r:id="rId57"/>
    <p:sldId id="283" r:id="rId58"/>
    <p:sldId id="407" r:id="rId59"/>
    <p:sldId id="336" r:id="rId60"/>
    <p:sldId id="337" r:id="rId61"/>
    <p:sldId id="383" r:id="rId62"/>
    <p:sldId id="384" r:id="rId63"/>
    <p:sldId id="338" r:id="rId64"/>
    <p:sldId id="339" r:id="rId65"/>
    <p:sldId id="340" r:id="rId66"/>
    <p:sldId id="341" r:id="rId67"/>
    <p:sldId id="342" r:id="rId68"/>
    <p:sldId id="343" r:id="rId69"/>
    <p:sldId id="344" r:id="rId70"/>
    <p:sldId id="345" r:id="rId71"/>
    <p:sldId id="346" r:id="rId72"/>
    <p:sldId id="347" r:id="rId73"/>
    <p:sldId id="348" r:id="rId74"/>
    <p:sldId id="349" r:id="rId75"/>
    <p:sldId id="350" r:id="rId76"/>
    <p:sldId id="351" r:id="rId77"/>
    <p:sldId id="352" r:id="rId78"/>
    <p:sldId id="353" r:id="rId79"/>
    <p:sldId id="354" r:id="rId80"/>
    <p:sldId id="355" r:id="rId81"/>
    <p:sldId id="385" r:id="rId82"/>
    <p:sldId id="269" r:id="rId83"/>
    <p:sldId id="275" r:id="rId84"/>
    <p:sldId id="276" r:id="rId85"/>
    <p:sldId id="277" r:id="rId86"/>
    <p:sldId id="278" r:id="rId87"/>
    <p:sldId id="279" r:id="rId88"/>
    <p:sldId id="281" r:id="rId89"/>
    <p:sldId id="282" r:id="rId90"/>
    <p:sldId id="284" r:id="rId91"/>
    <p:sldId id="285" r:id="rId92"/>
    <p:sldId id="286" r:id="rId93"/>
    <p:sldId id="287" r:id="rId94"/>
    <p:sldId id="288" r:id="rId95"/>
    <p:sldId id="313" r:id="rId96"/>
    <p:sldId id="314" r:id="rId97"/>
    <p:sldId id="315" r:id="rId98"/>
    <p:sldId id="316" r:id="rId99"/>
    <p:sldId id="317" r:id="rId100"/>
    <p:sldId id="318" r:id="rId101"/>
    <p:sldId id="319" r:id="rId102"/>
    <p:sldId id="320" r:id="rId103"/>
    <p:sldId id="297" r:id="rId104"/>
    <p:sldId id="298" r:id="rId105"/>
    <p:sldId id="321" r:id="rId106"/>
    <p:sldId id="300" r:id="rId107"/>
    <p:sldId id="322" r:id="rId108"/>
    <p:sldId id="302" r:id="rId109"/>
    <p:sldId id="323" r:id="rId110"/>
    <p:sldId id="324" r:id="rId111"/>
    <p:sldId id="325" r:id="rId112"/>
    <p:sldId id="387" r:id="rId113"/>
    <p:sldId id="386" r:id="rId114"/>
    <p:sldId id="388" r:id="rId115"/>
    <p:sldId id="404" r:id="rId116"/>
    <p:sldId id="356" r:id="rId117"/>
    <p:sldId id="357" r:id="rId118"/>
    <p:sldId id="358" r:id="rId119"/>
    <p:sldId id="359" r:id="rId120"/>
    <p:sldId id="360" r:id="rId121"/>
    <p:sldId id="361" r:id="rId122"/>
    <p:sldId id="362" r:id="rId123"/>
    <p:sldId id="363" r:id="rId124"/>
    <p:sldId id="364" r:id="rId125"/>
    <p:sldId id="365" r:id="rId126"/>
    <p:sldId id="366" r:id="rId127"/>
    <p:sldId id="367" r:id="rId128"/>
    <p:sldId id="368" r:id="rId129"/>
    <p:sldId id="369" r:id="rId130"/>
    <p:sldId id="370" r:id="rId131"/>
    <p:sldId id="371" r:id="rId132"/>
    <p:sldId id="372" r:id="rId133"/>
    <p:sldId id="373" r:id="rId134"/>
    <p:sldId id="374" r:id="rId135"/>
    <p:sldId id="375" r:id="rId136"/>
    <p:sldId id="376" r:id="rId137"/>
    <p:sldId id="377" r:id="rId138"/>
    <p:sldId id="378" r:id="rId139"/>
    <p:sldId id="379" r:id="rId140"/>
    <p:sldId id="380" r:id="rId141"/>
    <p:sldId id="381" r:id="rId142"/>
    <p:sldId id="382" r:id="rId143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F2D1"/>
    <a:srgbClr val="0432FF"/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37"/>
    <p:restoredTop sz="94658"/>
  </p:normalViewPr>
  <p:slideViewPr>
    <p:cSldViewPr snapToGrid="0">
      <p:cViewPr varScale="1">
        <p:scale>
          <a:sx n="83" d="100"/>
          <a:sy n="83" d="100"/>
        </p:scale>
        <p:origin x="240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9" d="100"/>
        <a:sy n="3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22-04-26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20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210578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2A72C5B-864B-B546-AE12-F4B17EC872D4}" type="slidenum">
              <a:rPr lang="es-ES"/>
              <a:pPr/>
              <a:t>116</a:t>
            </a:fld>
            <a:endParaRPr lang="es-ES" dirty="0"/>
          </a:p>
        </p:txBody>
      </p:sp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FE2B2FE-D504-524D-B8A6-EAE6FBAB4BC2}" type="slidenum">
              <a:rPr lang="es-ES"/>
              <a:pPr/>
              <a:t>117</a:t>
            </a:fld>
            <a:endParaRPr lang="es-ES" dirty="0"/>
          </a:p>
        </p:txBody>
      </p:sp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04FF0D3-8AF8-FD4A-A095-A82CD488FFAE}" type="slidenum">
              <a:rPr lang="es-ES"/>
              <a:pPr/>
              <a:t>118</a:t>
            </a:fld>
            <a:endParaRPr lang="es-ES" dirty="0"/>
          </a:p>
        </p:txBody>
      </p:sp>
      <p:sp>
        <p:nvSpPr>
          <p:cNvPr id="12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9CE38B0-558B-FE45-BF84-FE7223C6C952}" type="slidenum">
              <a:rPr lang="es-ES"/>
              <a:pPr/>
              <a:t>119</a:t>
            </a:fld>
            <a:endParaRPr lang="es-ES" dirty="0"/>
          </a:p>
        </p:txBody>
      </p:sp>
      <p:sp>
        <p:nvSpPr>
          <p:cNvPr id="14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308503-5373-6642-949F-39711A151FB5}" type="slidenum">
              <a:rPr lang="es-ES"/>
              <a:pPr/>
              <a:t>120</a:t>
            </a:fld>
            <a:endParaRPr lang="es-ES" dirty="0"/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6B21C9-3220-5744-A5D7-E77B05E1F162}" type="slidenum">
              <a:rPr lang="es-ES"/>
              <a:pPr/>
              <a:t>121</a:t>
            </a:fld>
            <a:endParaRPr lang="es-ES" dirty="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896FCB6-F28B-6541-8DF6-87C2AEDC47D2}" type="slidenum">
              <a:rPr lang="es-ES"/>
              <a:pPr/>
              <a:t>122</a:t>
            </a:fld>
            <a:endParaRPr lang="es-ES" dirty="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B1AC392-E497-0941-9181-D282C6DD1D77}" type="slidenum">
              <a:rPr lang="es-ES"/>
              <a:pPr/>
              <a:t>123</a:t>
            </a:fld>
            <a:endParaRPr lang="es-ES" dirty="0"/>
          </a:p>
        </p:txBody>
      </p:sp>
      <p:sp>
        <p:nvSpPr>
          <p:cNvPr id="204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FCB4CC-6018-5B43-BD39-31FBE5928FF2}" type="slidenum">
              <a:rPr lang="es-ES"/>
              <a:pPr/>
              <a:t>124</a:t>
            </a:fld>
            <a:endParaRPr lang="es-ES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5E3C7A-4728-E649-B036-6957DCF06383}" type="slidenum">
              <a:rPr lang="es-ES"/>
              <a:pPr/>
              <a:t>125</a:t>
            </a:fld>
            <a:endParaRPr lang="es-ES" dirty="0"/>
          </a:p>
        </p:txBody>
      </p:sp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C974AE8-61D6-9E46-A0A2-25668B721CF0}" type="slidenum">
              <a:rPr lang="es-ES"/>
              <a:pPr/>
              <a:t>126</a:t>
            </a:fld>
            <a:endParaRPr lang="es-ES" dirty="0"/>
          </a:p>
        </p:txBody>
      </p:sp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127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128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2246539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129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395178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130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658145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131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6118872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132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517252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133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8262385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134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6617224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135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6582476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136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8847047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137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089875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138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9981056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139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6779044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140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194589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141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567751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D2D435D-7737-E04F-9640-061795BBC7CE}" type="slidenum">
              <a:rPr lang="es-ES"/>
              <a:pPr/>
              <a:t>142</a:t>
            </a:fld>
            <a:endParaRPr lang="es-ES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44176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2C457589-72F1-974D-B204-6AE212262628}" type="datetimeFigureOut">
              <a:rPr lang="en-CL" smtClean="0"/>
              <a:pPr/>
              <a:t>22-04-26</a:t>
            </a:fld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Gill Sans MT" panose="020B050202010402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8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image" Target="../media/image16.emf"/><Relationship Id="rId7" Type="http://schemas.openxmlformats.org/officeDocument/2006/relationships/image" Target="../media/image21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emf"/><Relationship Id="rId5" Type="http://schemas.openxmlformats.org/officeDocument/2006/relationships/image" Target="../media/image19.emf"/><Relationship Id="rId4" Type="http://schemas.openxmlformats.org/officeDocument/2006/relationships/image" Target="../media/image18.emf"/><Relationship Id="rId9" Type="http://schemas.openxmlformats.org/officeDocument/2006/relationships/image" Target="../media/image2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10" Type="http://schemas.openxmlformats.org/officeDocument/2006/relationships/image" Target="../media/image3.png"/><Relationship Id="rId4" Type="http://schemas.openxmlformats.org/officeDocument/2006/relationships/image" Target="../media/image26.emf"/><Relationship Id="rId9" Type="http://schemas.openxmlformats.org/officeDocument/2006/relationships/image" Target="../media/image31.e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10" Type="http://schemas.openxmlformats.org/officeDocument/2006/relationships/image" Target="../media/image3.png"/><Relationship Id="rId4" Type="http://schemas.openxmlformats.org/officeDocument/2006/relationships/image" Target="../media/image26.emf"/><Relationship Id="rId9" Type="http://schemas.openxmlformats.org/officeDocument/2006/relationships/image" Target="../media/image31.e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4" Type="http://schemas.openxmlformats.org/officeDocument/2006/relationships/image" Target="../media/image26.emf"/><Relationship Id="rId9" Type="http://schemas.openxmlformats.org/officeDocument/2006/relationships/image" Target="../media/image31.e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3" Type="http://schemas.openxmlformats.org/officeDocument/2006/relationships/image" Target="../media/image25.emf"/><Relationship Id="rId7" Type="http://schemas.openxmlformats.org/officeDocument/2006/relationships/image" Target="../media/image29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4" Type="http://schemas.openxmlformats.org/officeDocument/2006/relationships/image" Target="../media/image26.emf"/><Relationship Id="rId9" Type="http://schemas.openxmlformats.org/officeDocument/2006/relationships/image" Target="../media/image31.emf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emf"/><Relationship Id="rId3" Type="http://schemas.openxmlformats.org/officeDocument/2006/relationships/image" Target="../media/image44.emf"/><Relationship Id="rId7" Type="http://schemas.openxmlformats.org/officeDocument/2006/relationships/image" Target="../media/image49.em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emf"/><Relationship Id="rId3" Type="http://schemas.openxmlformats.org/officeDocument/2006/relationships/image" Target="../media/image44.emf"/><Relationship Id="rId7" Type="http://schemas.openxmlformats.org/officeDocument/2006/relationships/image" Target="../media/image49.em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Relationship Id="rId9" Type="http://schemas.openxmlformats.org/officeDocument/2006/relationships/image" Target="../media/image50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7" Type="http://schemas.openxmlformats.org/officeDocument/2006/relationships/image" Target="../media/image56.emf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emf"/><Relationship Id="rId5" Type="http://schemas.openxmlformats.org/officeDocument/2006/relationships/image" Target="../media/image54.emf"/><Relationship Id="rId4" Type="http://schemas.openxmlformats.org/officeDocument/2006/relationships/image" Target="../media/image5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emf"/><Relationship Id="rId3" Type="http://schemas.openxmlformats.org/officeDocument/2006/relationships/image" Target="../media/image44.emf"/><Relationship Id="rId7" Type="http://schemas.openxmlformats.org/officeDocument/2006/relationships/image" Target="../media/image49.em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Relationship Id="rId9" Type="http://schemas.openxmlformats.org/officeDocument/2006/relationships/image" Target="../media/image50.emf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9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66.e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emf"/><Relationship Id="rId5" Type="http://schemas.openxmlformats.org/officeDocument/2006/relationships/image" Target="../media/image67.png"/><Relationship Id="rId4" Type="http://schemas.openxmlformats.org/officeDocument/2006/relationships/image" Target="../media/image66.emf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emf"/><Relationship Id="rId5" Type="http://schemas.openxmlformats.org/officeDocument/2006/relationships/image" Target="../media/image67.png"/><Relationship Id="rId4" Type="http://schemas.openxmlformats.org/officeDocument/2006/relationships/image" Target="../media/image66.e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emf"/><Relationship Id="rId5" Type="http://schemas.openxmlformats.org/officeDocument/2006/relationships/image" Target="../media/image67.png"/><Relationship Id="rId4" Type="http://schemas.openxmlformats.org/officeDocument/2006/relationships/image" Target="../media/image66.e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emf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emf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emf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emf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emf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6575839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Selección de Características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I1I)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59869B-56A6-1FA2-9C67-1260AC21DC3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84288" y="3978019"/>
            <a:ext cx="4158484" cy="206519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B20C8624-DA86-398D-63D1-0E411AF26997}"/>
              </a:ext>
            </a:extLst>
          </p:cNvPr>
          <p:cNvGrpSpPr/>
          <p:nvPr/>
        </p:nvGrpSpPr>
        <p:grpSpPr>
          <a:xfrm>
            <a:off x="8225494" y="3749458"/>
            <a:ext cx="449571" cy="2608119"/>
            <a:chOff x="8177645" y="3771899"/>
            <a:chExt cx="449571" cy="2608119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C7822F1-EC17-2013-45EC-40BCA8C23D10}"/>
                </a:ext>
              </a:extLst>
            </p:cNvPr>
            <p:cNvCxnSpPr/>
            <p:nvPr/>
          </p:nvCxnSpPr>
          <p:spPr>
            <a:xfrm>
              <a:off x="8177645" y="3771900"/>
              <a:ext cx="449571" cy="26081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EF88674-B894-1553-41C6-9C62498653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77645" y="3771899"/>
              <a:ext cx="449571" cy="26081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312D300-21A3-793D-6FA7-D02162DA8E01}"/>
              </a:ext>
            </a:extLst>
          </p:cNvPr>
          <p:cNvGrpSpPr/>
          <p:nvPr/>
        </p:nvGrpSpPr>
        <p:grpSpPr>
          <a:xfrm>
            <a:off x="10399963" y="3706555"/>
            <a:ext cx="449571" cy="2608119"/>
            <a:chOff x="8177645" y="3771899"/>
            <a:chExt cx="449571" cy="2608119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FC71311-D4E2-93C8-FC81-C2D8CADDE2FC}"/>
                </a:ext>
              </a:extLst>
            </p:cNvPr>
            <p:cNvCxnSpPr/>
            <p:nvPr/>
          </p:nvCxnSpPr>
          <p:spPr>
            <a:xfrm>
              <a:off x="8177645" y="3771900"/>
              <a:ext cx="449571" cy="26081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E923685-6AA7-53D4-0A74-F9A4D33878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77645" y="3771899"/>
              <a:ext cx="449571" cy="26081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740040" y="3420080"/>
            <a:ext cx="712021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no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discriminatorias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correlacionadas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simplificar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fase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pruebas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correlaciones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falsas
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maldición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de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dimensionalidad</a:t>
            </a:r>
            <a:endParaRPr lang="en-US" sz="2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22350" y="1289295"/>
            <a:ext cx="10520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5 razones para seleccionar características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3524081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25C0498E-A55B-C748-A6C5-AB5EEDCC90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85" t="16198" r="21537" b="9465"/>
          <a:stretch/>
        </p:blipFill>
        <p:spPr bwMode="auto">
          <a:xfrm>
            <a:off x="4088779" y="1059367"/>
            <a:ext cx="1126894" cy="108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D1359F54-43E3-E14B-BCF8-53B58E887C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72" t="9464" r="23089" b="11537"/>
          <a:stretch/>
        </p:blipFill>
        <p:spPr bwMode="auto">
          <a:xfrm>
            <a:off x="5360326" y="1059368"/>
            <a:ext cx="1126894" cy="109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8E2C85BF-2A85-854F-AA60-07D96C8CDE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85" t="16198" r="21537" b="9465"/>
          <a:stretch/>
        </p:blipFill>
        <p:spPr bwMode="auto">
          <a:xfrm>
            <a:off x="6426817" y="1245220"/>
            <a:ext cx="1126894" cy="108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2F7BB301-9EAF-8A44-A0E9-7D75C07CE2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72" t="9464" r="23089" b="11537"/>
          <a:stretch/>
        </p:blipFill>
        <p:spPr bwMode="auto">
          <a:xfrm>
            <a:off x="7698364" y="1245221"/>
            <a:ext cx="1126894" cy="109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9B18F532-6E2F-9D40-9C7E-D355F70B0B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85" t="16198" r="21537" b="9465"/>
          <a:stretch/>
        </p:blipFill>
        <p:spPr bwMode="auto">
          <a:xfrm>
            <a:off x="7240854" y="241612"/>
            <a:ext cx="1126894" cy="108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FFDE9D86-6ECF-8740-B346-32D4051E3A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72" t="9464" r="23089" b="11537"/>
          <a:stretch/>
        </p:blipFill>
        <p:spPr bwMode="auto">
          <a:xfrm>
            <a:off x="8512401" y="241613"/>
            <a:ext cx="1126894" cy="109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CD5AB3B2-D6FF-AC44-9368-2D786D0354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85" t="16198" r="21537" b="9465"/>
          <a:stretch/>
        </p:blipFill>
        <p:spPr bwMode="auto">
          <a:xfrm rot="891617">
            <a:off x="7302218" y="2319806"/>
            <a:ext cx="1126894" cy="108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505A33A2-72B4-6642-865A-3811C1CE94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72" t="9464" r="23089" b="11537"/>
          <a:stretch/>
        </p:blipFill>
        <p:spPr bwMode="auto">
          <a:xfrm rot="891617">
            <a:off x="8946328" y="1604928"/>
            <a:ext cx="1126894" cy="109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918B9F25-4FDB-DC4D-A738-8DDD710B50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85" t="16198" r="21537" b="9465"/>
          <a:stretch/>
        </p:blipFill>
        <p:spPr bwMode="auto">
          <a:xfrm rot="1694713">
            <a:off x="3595771" y="2145082"/>
            <a:ext cx="1126894" cy="108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Moneda De 100 Pesos Chilenos Aislado En Un Fondo Negro Foto de stock y más  banco de imágenes de Actividades bancarias - iStock">
            <a:extLst>
              <a:ext uri="{FF2B5EF4-FFF2-40B4-BE49-F238E27FC236}">
                <a16:creationId xmlns:a16="http://schemas.microsoft.com/office/drawing/2014/main" id="{376B8D8A-375B-F845-9A7E-F4E9D4F1EC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72" t="9464" r="23089" b="11537"/>
          <a:stretch/>
        </p:blipFill>
        <p:spPr bwMode="auto">
          <a:xfrm rot="1694713">
            <a:off x="5849073" y="2235082"/>
            <a:ext cx="1126894" cy="109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oneda Del Peso Del Chileno 500 Aislada En Un Fondo Negro Foto de archivo -  Imagen de americano, negro: 119830090">
            <a:extLst>
              <a:ext uri="{FF2B5EF4-FFF2-40B4-BE49-F238E27FC236}">
                <a16:creationId xmlns:a16="http://schemas.microsoft.com/office/drawing/2014/main" id="{1C1FBA82-6BCF-8F41-A2B4-0EA687B82A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9" t="14158" r="25244" b="11108"/>
          <a:stretch/>
        </p:blipFill>
        <p:spPr bwMode="auto">
          <a:xfrm>
            <a:off x="4309642" y="3420367"/>
            <a:ext cx="1368542" cy="1334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VALE 250 MIL PESOS CHILENOS !!! ((( MONEDA 500 PESOS AÑO 2000 DE CHILE )))  - YouTube">
            <a:extLst>
              <a:ext uri="{FF2B5EF4-FFF2-40B4-BE49-F238E27FC236}">
                <a16:creationId xmlns:a16="http://schemas.microsoft.com/office/drawing/2014/main" id="{BEA047FC-B3AC-D74F-8402-43F5C2B7B7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5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0122" r="21586"/>
          <a:stretch/>
        </p:blipFill>
        <p:spPr bwMode="auto">
          <a:xfrm>
            <a:off x="5970726" y="3703251"/>
            <a:ext cx="1270128" cy="1225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Moneda Del Peso Del Chileno 500 Aislada En Un Fondo Negro Foto de archivo -  Imagen de americano, negro: 119830090">
            <a:extLst>
              <a:ext uri="{FF2B5EF4-FFF2-40B4-BE49-F238E27FC236}">
                <a16:creationId xmlns:a16="http://schemas.microsoft.com/office/drawing/2014/main" id="{1C2F4B32-93A4-5B43-A8CD-C4031004A9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9" t="14158" r="25244" b="11108"/>
          <a:stretch/>
        </p:blipFill>
        <p:spPr bwMode="auto">
          <a:xfrm rot="859635">
            <a:off x="7698364" y="4193177"/>
            <a:ext cx="1368542" cy="1334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VALE 250 MIL PESOS CHILENOS !!! ((( MONEDA 500 PESOS AÑO 2000 DE CHILE )))  - YouTube">
            <a:extLst>
              <a:ext uri="{FF2B5EF4-FFF2-40B4-BE49-F238E27FC236}">
                <a16:creationId xmlns:a16="http://schemas.microsoft.com/office/drawing/2014/main" id="{23E3B3B3-52F9-9643-8A17-1354C3435A7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22" r="21586"/>
          <a:stretch/>
        </p:blipFill>
        <p:spPr bwMode="auto">
          <a:xfrm rot="859635">
            <a:off x="9359448" y="4476061"/>
            <a:ext cx="1270128" cy="1225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6" descr="Moneda Del Peso Del Chileno 500 Aislada En Un Fondo Negro Foto de archivo -  Imagen de americano, negro: 119830090">
            <a:extLst>
              <a:ext uri="{FF2B5EF4-FFF2-40B4-BE49-F238E27FC236}">
                <a16:creationId xmlns:a16="http://schemas.microsoft.com/office/drawing/2014/main" id="{5E3D0AD9-F469-A84C-B184-87FF2CA16C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9" t="14158" r="25244" b="11108"/>
          <a:stretch/>
        </p:blipFill>
        <p:spPr bwMode="auto">
          <a:xfrm>
            <a:off x="3625371" y="4754866"/>
            <a:ext cx="1368542" cy="1334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8" descr="VALE 250 MIL PESOS CHILENOS !!! ((( MONEDA 500 PESOS AÑO 2000 DE CHILE )))  - YouTube">
            <a:extLst>
              <a:ext uri="{FF2B5EF4-FFF2-40B4-BE49-F238E27FC236}">
                <a16:creationId xmlns:a16="http://schemas.microsoft.com/office/drawing/2014/main" id="{870933BA-8908-364C-A33D-AA1C353EED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22" r="21586"/>
          <a:stretch/>
        </p:blipFill>
        <p:spPr bwMode="auto">
          <a:xfrm>
            <a:off x="5021988" y="5083331"/>
            <a:ext cx="1270128" cy="1225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Moneda Del Peso Del Chileno 500 Aislada En Un Fondo Negro Foto de archivo -  Imagen de americano, negro: 119830090">
            <a:extLst>
              <a:ext uri="{FF2B5EF4-FFF2-40B4-BE49-F238E27FC236}">
                <a16:creationId xmlns:a16="http://schemas.microsoft.com/office/drawing/2014/main" id="{E2EBB6BF-B70B-3845-BD7B-124D9CF336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9" t="14158" r="25244" b="11108"/>
          <a:stretch/>
        </p:blipFill>
        <p:spPr bwMode="auto">
          <a:xfrm rot="3183889">
            <a:off x="6633011" y="5141083"/>
            <a:ext cx="1368542" cy="1334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8" descr="VALE 250 MIL PESOS CHILENOS !!! ((( MONEDA 500 PESOS AÑO 2000 DE CHILE )))  - YouTube">
            <a:extLst>
              <a:ext uri="{FF2B5EF4-FFF2-40B4-BE49-F238E27FC236}">
                <a16:creationId xmlns:a16="http://schemas.microsoft.com/office/drawing/2014/main" id="{3B54EA1F-CF22-3A40-8503-513C012C6D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22" r="21586"/>
          <a:stretch/>
        </p:blipFill>
        <p:spPr bwMode="auto">
          <a:xfrm rot="3183889">
            <a:off x="9004231" y="3102045"/>
            <a:ext cx="1270128" cy="1225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6" descr="Moneda Del Peso Del Chileno 500 Aislada En Un Fondo Negro Foto de archivo -  Imagen de americano, negro: 119830090">
            <a:extLst>
              <a:ext uri="{FF2B5EF4-FFF2-40B4-BE49-F238E27FC236}">
                <a16:creationId xmlns:a16="http://schemas.microsoft.com/office/drawing/2014/main" id="{52D016E3-701F-1840-AF07-CEFBE1B5FF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9" t="14158" r="25244" b="11108"/>
          <a:stretch/>
        </p:blipFill>
        <p:spPr bwMode="auto">
          <a:xfrm rot="20633623">
            <a:off x="8227541" y="5399789"/>
            <a:ext cx="1368542" cy="1334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6" descr="Moneda Del Peso Del Chileno 500 Aislada En Un Fondo Negro Foto de archivo -  Imagen de americano, negro: 119830090">
            <a:extLst>
              <a:ext uri="{FF2B5EF4-FFF2-40B4-BE49-F238E27FC236}">
                <a16:creationId xmlns:a16="http://schemas.microsoft.com/office/drawing/2014/main" id="{DE82B02E-D245-F542-A66C-749842B2B5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9" t="14158" r="25244" b="11108"/>
          <a:stretch/>
        </p:blipFill>
        <p:spPr bwMode="auto">
          <a:xfrm rot="5166271">
            <a:off x="2958430" y="3420366"/>
            <a:ext cx="1368542" cy="1334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4477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082A6-1BAC-AB42-93D7-93F922590E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69536" y="1115122"/>
            <a:ext cx="6256183" cy="53485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592C45C-3439-2B48-899D-BA080F3BDF3A}"/>
              </a:ext>
            </a:extLst>
          </p:cNvPr>
          <p:cNvSpPr/>
          <p:nvPr/>
        </p:nvSpPr>
        <p:spPr>
          <a:xfrm>
            <a:off x="2869535" y="478831"/>
            <a:ext cx="514204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>
                <a:latin typeface="Gill Sans MT" panose="020B0502020104020203" pitchFamily="34" charset="77"/>
                <a:cs typeface="Trebuchet MS"/>
              </a:rPr>
              <a:t>Ejemplo: Clasificación de monedas</a:t>
            </a:r>
            <a:endParaRPr lang="en-US" sz="2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14169317-2BDC-4D44-AAAF-B43170922BEF}"/>
              </a:ext>
            </a:extLst>
          </p:cNvPr>
          <p:cNvSpPr/>
          <p:nvPr/>
        </p:nvSpPr>
        <p:spPr>
          <a:xfrm>
            <a:off x="2572216" y="1204333"/>
            <a:ext cx="219262" cy="244211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B7DEB759-ED67-8941-AF0D-4E0133A8C9FF}"/>
              </a:ext>
            </a:extLst>
          </p:cNvPr>
          <p:cNvSpPr/>
          <p:nvPr/>
        </p:nvSpPr>
        <p:spPr>
          <a:xfrm>
            <a:off x="2548031" y="3789385"/>
            <a:ext cx="219262" cy="244211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C65BD4-1F46-DF48-9BA1-A106E1746A34}"/>
              </a:ext>
            </a:extLst>
          </p:cNvPr>
          <p:cNvSpPr txBox="1"/>
          <p:nvPr/>
        </p:nvSpPr>
        <p:spPr>
          <a:xfrm>
            <a:off x="1989288" y="2194558"/>
            <a:ext cx="389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</a:rPr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FA230-E545-674F-8312-C61EEA57D5D9}"/>
              </a:ext>
            </a:extLst>
          </p:cNvPr>
          <p:cNvSpPr txBox="1"/>
          <p:nvPr/>
        </p:nvSpPr>
        <p:spPr>
          <a:xfrm>
            <a:off x="1989288" y="4779610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98476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22350" y="1289295"/>
            <a:ext cx="10520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5 razones para seleccionar características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891BA7-F60F-9031-9DA7-AD5546EEF445}"/>
              </a:ext>
            </a:extLst>
          </p:cNvPr>
          <p:cNvSpPr txBox="1"/>
          <p:nvPr/>
        </p:nvSpPr>
        <p:spPr>
          <a:xfrm>
            <a:off x="2740040" y="3420080"/>
            <a:ext cx="712021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no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discriminatorias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correlacionadas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simplificar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fase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pruebas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correlaciones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falsas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maldición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de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dimensionalidad</a:t>
            </a:r>
            <a:endParaRPr lang="en-US" sz="2800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851526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082A6-1BAC-AB42-93D7-93F922590E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69536" y="1115122"/>
            <a:ext cx="6256183" cy="53485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592C45C-3439-2B48-899D-BA080F3BDF3A}"/>
              </a:ext>
            </a:extLst>
          </p:cNvPr>
          <p:cNvSpPr/>
          <p:nvPr/>
        </p:nvSpPr>
        <p:spPr>
          <a:xfrm>
            <a:off x="1810170" y="394355"/>
            <a:ext cx="100742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AutoNum type="arabicPeriod"/>
            </a:pPr>
            <a:r>
              <a:rPr lang="en-US" sz="2400">
                <a:latin typeface="Gill Sans MT" panose="020B0502020104020203" pitchFamily="34" charset="77"/>
                <a:cs typeface="Trebuchet MS"/>
              </a:rPr>
              <a:t>Para evitar características no discriminatorias – Promedio de valores de gris 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C7ADA7B-6F3E-1C4F-BCB2-618E8B3777C3}"/>
              </a:ext>
            </a:extLst>
          </p:cNvPr>
          <p:cNvGrpSpPr/>
          <p:nvPr/>
        </p:nvGrpSpPr>
        <p:grpSpPr>
          <a:xfrm>
            <a:off x="8320586" y="530401"/>
            <a:ext cx="3223714" cy="325619"/>
            <a:chOff x="8077200" y="1817649"/>
            <a:chExt cx="765717" cy="18957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A83BB80-BAB8-5D45-93C1-F6DCC0A49D22}"/>
                </a:ext>
              </a:extLst>
            </p:cNvPr>
            <p:cNvCxnSpPr/>
            <p:nvPr/>
          </p:nvCxnSpPr>
          <p:spPr>
            <a:xfrm>
              <a:off x="8084634" y="1817649"/>
              <a:ext cx="758283" cy="18957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F2177D-063E-504B-9523-49B75D96BD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7200" y="1843668"/>
              <a:ext cx="765717" cy="13753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1685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22350" y="1289295"/>
            <a:ext cx="10520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5 razones para seleccionar características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80120F-CCE5-53E3-04D1-7274C3B2E8E2}"/>
              </a:ext>
            </a:extLst>
          </p:cNvPr>
          <p:cNvSpPr txBox="1"/>
          <p:nvPr/>
        </p:nvSpPr>
        <p:spPr>
          <a:xfrm>
            <a:off x="2740040" y="3420080"/>
            <a:ext cx="712021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no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discriminatorias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correlacionadas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simplificar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fase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pruebas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correlaciones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falsas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maldición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de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dimensionalidad</a:t>
            </a:r>
            <a:endParaRPr lang="en-US" sz="2800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3761775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082A6-1BAC-AB42-93D7-93F922590E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69536" y="1115122"/>
            <a:ext cx="6256183" cy="53485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592C45C-3439-2B48-899D-BA080F3BDF3A}"/>
              </a:ext>
            </a:extLst>
          </p:cNvPr>
          <p:cNvSpPr/>
          <p:nvPr/>
        </p:nvSpPr>
        <p:spPr>
          <a:xfrm>
            <a:off x="1810169" y="394355"/>
            <a:ext cx="818769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>
                <a:latin typeface="Gill Sans MT" panose="020B0502020104020203" pitchFamily="34" charset="77"/>
                <a:cs typeface="Trebuchet MS"/>
              </a:rPr>
              <a:t>2. Para evitar características correlacionadas – Área y Diámetro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190FBF-6729-424A-9087-66D009840855}"/>
              </a:ext>
            </a:extLst>
          </p:cNvPr>
          <p:cNvGrpSpPr/>
          <p:nvPr/>
        </p:nvGrpSpPr>
        <p:grpSpPr>
          <a:xfrm>
            <a:off x="8728113" y="496948"/>
            <a:ext cx="945827" cy="325619"/>
            <a:chOff x="8077200" y="1817649"/>
            <a:chExt cx="765717" cy="189571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31AEE6-18CF-6C42-AF01-D9B07EBF61A3}"/>
                </a:ext>
              </a:extLst>
            </p:cNvPr>
            <p:cNvCxnSpPr/>
            <p:nvPr/>
          </p:nvCxnSpPr>
          <p:spPr>
            <a:xfrm>
              <a:off x="8084634" y="1817649"/>
              <a:ext cx="758283" cy="18957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65254EF-B9DF-3347-9202-FA57B520C8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7200" y="1843668"/>
              <a:ext cx="765717" cy="13753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48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22350" y="1289295"/>
            <a:ext cx="10520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5 razones para seleccionar características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C6C4C6-7D8E-CFA7-9232-BEBC2BAF7125}"/>
              </a:ext>
            </a:extLst>
          </p:cNvPr>
          <p:cNvSpPr txBox="1"/>
          <p:nvPr/>
        </p:nvSpPr>
        <p:spPr>
          <a:xfrm>
            <a:off x="2740040" y="3420080"/>
            <a:ext cx="712021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no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discriminatorias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correlacionadas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simplificar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fase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pruebas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correlaciones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falsas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maldición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de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dimensionalidad</a:t>
            </a:r>
            <a:endParaRPr lang="en-US" sz="2800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275812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082A6-1BAC-AB42-93D7-93F922590E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69536" y="1115122"/>
            <a:ext cx="6256183" cy="53485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592C45C-3439-2B48-899D-BA080F3BDF3A}"/>
              </a:ext>
            </a:extLst>
          </p:cNvPr>
          <p:cNvSpPr/>
          <p:nvPr/>
        </p:nvSpPr>
        <p:spPr>
          <a:xfrm>
            <a:off x="1810170" y="394355"/>
            <a:ext cx="752763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>
                <a:latin typeface="Gill Sans MT" panose="020B0502020104020203" pitchFamily="34" charset="77"/>
                <a:cs typeface="Trebuchet MS"/>
              </a:rPr>
              <a:t>3. Para simplificar la fase de pruebas – Área vs.  Hu+Flusser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5EECC6E-6878-A941-BA01-483F86818121}"/>
              </a:ext>
            </a:extLst>
          </p:cNvPr>
          <p:cNvGrpSpPr/>
          <p:nvPr/>
        </p:nvGrpSpPr>
        <p:grpSpPr>
          <a:xfrm>
            <a:off x="7564581" y="497143"/>
            <a:ext cx="1925663" cy="325619"/>
            <a:chOff x="8077200" y="1817649"/>
            <a:chExt cx="765717" cy="189571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6173D9F-D126-CF49-9914-B2AE2CA2754B}"/>
                </a:ext>
              </a:extLst>
            </p:cNvPr>
            <p:cNvCxnSpPr/>
            <p:nvPr/>
          </p:nvCxnSpPr>
          <p:spPr>
            <a:xfrm>
              <a:off x="8084634" y="1817649"/>
              <a:ext cx="758283" cy="18957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028E11F-FDC1-C241-B022-B07118153E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7200" y="1843668"/>
              <a:ext cx="765717" cy="13753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241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22350" y="1289295"/>
            <a:ext cx="10520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5 razones para seleccionar características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B50EDA-8120-65A1-A29A-E08CD2CFDD9A}"/>
              </a:ext>
            </a:extLst>
          </p:cNvPr>
          <p:cNvSpPr txBox="1"/>
          <p:nvPr/>
        </p:nvSpPr>
        <p:spPr>
          <a:xfrm>
            <a:off x="2740040" y="3420080"/>
            <a:ext cx="712021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no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discriminatorias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correlacionadas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simplificar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fase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pruebas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correlaciones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falsas
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maldición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de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dimensionalidad</a:t>
            </a:r>
            <a:endParaRPr lang="en-US" sz="2800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336310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082A6-1BAC-AB42-93D7-93F922590E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69536" y="1115122"/>
            <a:ext cx="6256183" cy="53485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592C45C-3439-2B48-899D-BA080F3BDF3A}"/>
              </a:ext>
            </a:extLst>
          </p:cNvPr>
          <p:cNvSpPr/>
          <p:nvPr/>
        </p:nvSpPr>
        <p:spPr>
          <a:xfrm>
            <a:off x="1810169" y="394355"/>
            <a:ext cx="99574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4. Para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correlaciones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falsas –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Ubicación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(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centro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de masa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en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dirección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y) 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5DDE645-B4EB-45FB-1DF6-68BBBD964AAB}"/>
              </a:ext>
            </a:extLst>
          </p:cNvPr>
          <p:cNvCxnSpPr/>
          <p:nvPr/>
        </p:nvCxnSpPr>
        <p:spPr>
          <a:xfrm>
            <a:off x="1810169" y="3782291"/>
            <a:ext cx="7905331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4E7881-3308-1C0C-A077-74C0CB645459}"/>
              </a:ext>
            </a:extLst>
          </p:cNvPr>
          <p:cNvCxnSpPr/>
          <p:nvPr/>
        </p:nvCxnSpPr>
        <p:spPr>
          <a:xfrm flipV="1">
            <a:off x="2306782" y="1267691"/>
            <a:ext cx="0" cy="50811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1B642CD-4E66-D771-5143-65E0F03D6462}"/>
              </a:ext>
            </a:extLst>
          </p:cNvPr>
          <p:cNvSpPr txBox="1"/>
          <p:nvPr/>
        </p:nvSpPr>
        <p:spPr>
          <a:xfrm>
            <a:off x="1843305" y="11009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200" dirty="0">
                <a:latin typeface="Gill Sans MT" panose="020B0502020104020203" pitchFamily="34" charset="77"/>
              </a:rPr>
              <a:t>y</a:t>
            </a:r>
          </a:p>
        </p:txBody>
      </p:sp>
      <p:sp>
        <p:nvSpPr>
          <p:cNvPr id="9" name="Up Arrow 8">
            <a:extLst>
              <a:ext uri="{FF2B5EF4-FFF2-40B4-BE49-F238E27FC236}">
                <a16:creationId xmlns:a16="http://schemas.microsoft.com/office/drawing/2014/main" id="{CE9DD955-10F4-1EEF-D48A-C1C00F3C2F36}"/>
              </a:ext>
            </a:extLst>
          </p:cNvPr>
          <p:cNvSpPr/>
          <p:nvPr/>
        </p:nvSpPr>
        <p:spPr>
          <a:xfrm>
            <a:off x="1843305" y="3252354"/>
            <a:ext cx="193048" cy="35329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0" name="Up Arrow 9">
            <a:extLst>
              <a:ext uri="{FF2B5EF4-FFF2-40B4-BE49-F238E27FC236}">
                <a16:creationId xmlns:a16="http://schemas.microsoft.com/office/drawing/2014/main" id="{F58B566D-032F-A74C-CDF8-A7C470F879A6}"/>
              </a:ext>
            </a:extLst>
          </p:cNvPr>
          <p:cNvSpPr/>
          <p:nvPr/>
        </p:nvSpPr>
        <p:spPr>
          <a:xfrm rot="10800000">
            <a:off x="1843305" y="3971711"/>
            <a:ext cx="193048" cy="35329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516569-E6D6-2C0A-E48A-24F2B445F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717" y="3566465"/>
            <a:ext cx="203200" cy="342900"/>
          </a:xfrm>
          <a:prstGeom prst="rect">
            <a:avLst/>
          </a:prstGeom>
        </p:spPr>
      </p:pic>
      <p:sp>
        <p:nvSpPr>
          <p:cNvPr id="12" name="Up Arrow 11">
            <a:extLst>
              <a:ext uri="{FF2B5EF4-FFF2-40B4-BE49-F238E27FC236}">
                <a16:creationId xmlns:a16="http://schemas.microsoft.com/office/drawing/2014/main" id="{86F26E25-FC67-86F7-5E66-01CC001445B5}"/>
              </a:ext>
            </a:extLst>
          </p:cNvPr>
          <p:cNvSpPr/>
          <p:nvPr/>
        </p:nvSpPr>
        <p:spPr>
          <a:xfrm>
            <a:off x="9453595" y="3252354"/>
            <a:ext cx="193048" cy="35329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B7641458-C5DC-90C0-622D-DA87B2F46D49}"/>
              </a:ext>
            </a:extLst>
          </p:cNvPr>
          <p:cNvSpPr/>
          <p:nvPr/>
        </p:nvSpPr>
        <p:spPr>
          <a:xfrm rot="10800000">
            <a:off x="9453595" y="3971711"/>
            <a:ext cx="193048" cy="35329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79922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22350" y="1289295"/>
            <a:ext cx="10520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5 razones para seleccionar características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98A069-4F2E-6A27-03DE-D99A34C5E118}"/>
              </a:ext>
            </a:extLst>
          </p:cNvPr>
          <p:cNvSpPr txBox="1"/>
          <p:nvPr/>
        </p:nvSpPr>
        <p:spPr>
          <a:xfrm>
            <a:off x="2740040" y="3420080"/>
            <a:ext cx="712021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no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discriminatorias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correlacionadas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simplificar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fase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pruebas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correlaciones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  <a:cs typeface="Trebuchet MS"/>
              </a:rPr>
              <a:t> falsas
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maldición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de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dimensionalidad</a:t>
            </a:r>
            <a:endParaRPr lang="en-US" sz="28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4031120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22351" y="664830"/>
            <a:ext cx="94740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Maldición de la dimensionalidad – 1D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39E5103-72AD-9341-9507-96ACDBB7D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829" y="3841593"/>
            <a:ext cx="5669000" cy="7811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E429B4-5CDC-0040-8A3C-435687A6A85E}"/>
              </a:ext>
            </a:extLst>
          </p:cNvPr>
          <p:cNvSpPr txBox="1"/>
          <p:nvPr/>
        </p:nvSpPr>
        <p:spPr>
          <a:xfrm>
            <a:off x="7735230" y="5586761"/>
            <a:ext cx="1911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(20 puntos en 1D)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20912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3D7D2F-D2F6-414D-933B-9EE706A60F3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23" t="5771" r="4233" b="3366"/>
          <a:stretch/>
        </p:blipFill>
        <p:spPr>
          <a:xfrm>
            <a:off x="3308195" y="1170879"/>
            <a:ext cx="5798635" cy="46389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22351" y="664830"/>
            <a:ext cx="94740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Maldición de la dimensionalidad – 2D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0CF8A7-CDED-B749-B568-7D0B14682AEA}"/>
              </a:ext>
            </a:extLst>
          </p:cNvPr>
          <p:cNvSpPr txBox="1"/>
          <p:nvPr/>
        </p:nvSpPr>
        <p:spPr>
          <a:xfrm>
            <a:off x="7735230" y="5586761"/>
            <a:ext cx="1911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(20 puntos en 2D)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823025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3d.mov" descr="3d.mov">
            <a:hlinkClick r:id="" action="ppaction://media"/>
            <a:extLst>
              <a:ext uri="{FF2B5EF4-FFF2-40B4-BE49-F238E27FC236}">
                <a16:creationId xmlns:a16="http://schemas.microsoft.com/office/drawing/2014/main" id="{D5D74943-B545-6F47-AB06-1F6E4439D19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l="5744" t="572" b="4204"/>
          <a:stretch/>
        </p:blipFill>
        <p:spPr>
          <a:xfrm>
            <a:off x="3638188" y="1806299"/>
            <a:ext cx="5376076" cy="40705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22351" y="664830"/>
            <a:ext cx="97369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Maldición de la adimensionalidad – 3D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9587AB-06BE-8A41-8CD6-2A1EFC6AAC2B}"/>
              </a:ext>
            </a:extLst>
          </p:cNvPr>
          <p:cNvSpPr txBox="1"/>
          <p:nvPr/>
        </p:nvSpPr>
        <p:spPr>
          <a:xfrm>
            <a:off x="7735230" y="5586761"/>
            <a:ext cx="1911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(20 puntos en 3D)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6C3E0D-48DA-004D-A4F2-2D1735BECF97}"/>
              </a:ext>
            </a:extLst>
          </p:cNvPr>
          <p:cNvSpPr txBox="1"/>
          <p:nvPr/>
        </p:nvSpPr>
        <p:spPr>
          <a:xfrm>
            <a:off x="642906" y="2255540"/>
            <a:ext cx="2363215" cy="3416320"/>
          </a:xfrm>
          <a:prstGeom prst="rect">
            <a:avLst/>
          </a:prstGeom>
          <a:solidFill>
            <a:schemeClr val="bg1">
              <a:alpha val="61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Cuando la </a:t>
            </a:r>
            <a:r>
              <a:rPr lang="en-US" dirty="0" err="1">
                <a:latin typeface="Gill Sans MT" panose="020B0502020104020203" pitchFamily="34" charset="77"/>
              </a:rPr>
              <a:t>dimensionalidad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aumenta</a:t>
            </a:r>
            <a:r>
              <a:rPr lang="en-US" dirty="0">
                <a:latin typeface="Gill Sans MT" panose="020B0502020104020203" pitchFamily="34" charset="77"/>
              </a:rPr>
              <a:t>, </a:t>
            </a:r>
            <a:r>
              <a:rPr lang="en-US" dirty="0" err="1">
                <a:latin typeface="Gill Sans MT" panose="020B0502020104020203" pitchFamily="34" charset="77"/>
              </a:rPr>
              <a:t>el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volumen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espacio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aumenta</a:t>
            </a:r>
            <a:r>
              <a:rPr lang="en-US" dirty="0">
                <a:latin typeface="Gill Sans MT" panose="020B0502020104020203" pitchFamily="34" charset="77"/>
              </a:rPr>
              <a:t> tan </a:t>
            </a:r>
            <a:r>
              <a:rPr lang="en-US" dirty="0" err="1">
                <a:latin typeface="Gill Sans MT" panose="020B0502020104020203" pitchFamily="34" charset="77"/>
              </a:rPr>
              <a:t>rápido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que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los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datos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disponibles</a:t>
            </a:r>
            <a:r>
              <a:rPr lang="en-US" dirty="0">
                <a:latin typeface="Gill Sans MT" panose="020B0502020104020203" pitchFamily="34" charset="77"/>
              </a:rPr>
              <a:t> se </a:t>
            </a:r>
            <a:r>
              <a:rPr lang="en-US" dirty="0" err="1">
                <a:latin typeface="Gill Sans MT" panose="020B0502020104020203" pitchFamily="34" charset="77"/>
              </a:rPr>
              <a:t>vuelven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escasos</a:t>
            </a:r>
            <a:r>
              <a:rPr lang="en-US" dirty="0">
                <a:latin typeface="Gill Sans MT" panose="020B0502020104020203" pitchFamily="34" charset="77"/>
              </a:rPr>
              <a:t>. Esta </a:t>
            </a:r>
            <a:r>
              <a:rPr lang="en-US" dirty="0" err="1">
                <a:latin typeface="Gill Sans MT" panose="020B0502020104020203" pitchFamily="34" charset="77"/>
              </a:rPr>
              <a:t>escasez</a:t>
            </a:r>
            <a:r>
              <a:rPr lang="en-US" dirty="0">
                <a:latin typeface="Gill Sans MT" panose="020B0502020104020203" pitchFamily="34" charset="77"/>
              </a:rPr>
              <a:t> es </a:t>
            </a:r>
            <a:r>
              <a:rPr lang="en-US" dirty="0" err="1">
                <a:latin typeface="Gill Sans MT" panose="020B0502020104020203" pitchFamily="34" charset="77"/>
              </a:rPr>
              <a:t>problemática</a:t>
            </a:r>
            <a:r>
              <a:rPr lang="en-US" dirty="0">
                <a:latin typeface="Gill Sans MT" panose="020B0502020104020203" pitchFamily="34" charset="77"/>
              </a:rPr>
              <a:t> para </a:t>
            </a:r>
            <a:r>
              <a:rPr lang="en-US" dirty="0" err="1">
                <a:latin typeface="Gill Sans MT" panose="020B0502020104020203" pitchFamily="34" charset="77"/>
              </a:rPr>
              <a:t>cualquier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método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que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requiera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significación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estadística</a:t>
            </a:r>
            <a:r>
              <a:rPr lang="en-US" dirty="0">
                <a:latin typeface="Gill Sans MT" panose="020B0502020104020203" pitchFamily="34" charset="77"/>
              </a:rPr>
              <a:t>. 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746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F6A76-212C-6DFA-C0F5-A7A1EF8DB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CA184E-72F7-3C11-5345-5C8D42510838}"/>
              </a:ext>
            </a:extLst>
          </p:cNvPr>
          <p:cNvSpPr txBox="1"/>
          <p:nvPr/>
        </p:nvSpPr>
        <p:spPr>
          <a:xfrm>
            <a:off x="1622350" y="1289295"/>
            <a:ext cx="10520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latin typeface="Gill Sans MT" panose="020B0502020104020203" pitchFamily="34" charset="77"/>
                <a:cs typeface="Trebuchet MS"/>
              </a:rPr>
              <a:t>5 razones para seleccionar características</a:t>
            </a:r>
            <a:endParaRPr lang="en-US" sz="48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C3A549-3F6D-423A-8661-FE902A2D5516}"/>
              </a:ext>
            </a:extLst>
          </p:cNvPr>
          <p:cNvSpPr txBox="1"/>
          <p:nvPr/>
        </p:nvSpPr>
        <p:spPr>
          <a:xfrm>
            <a:off x="2740040" y="3420080"/>
            <a:ext cx="712021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>
                <a:latin typeface="Gill Sans MT" panose="020B0502020104020203" pitchFamily="34" charset="77"/>
                <a:cs typeface="Trebuchet MS"/>
              </a:rPr>
              <a:t>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no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discriminatorias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características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correlacionadas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simplificar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fase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pruebas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
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correlaciones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falsas
Para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evitar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maldición</a:t>
            </a:r>
            <a:r>
              <a:rPr lang="en-US" sz="2800" dirty="0">
                <a:latin typeface="Gill Sans MT" panose="020B0502020104020203" pitchFamily="34" charset="77"/>
                <a:cs typeface="Trebuchet MS"/>
              </a:rPr>
              <a:t> de la </a:t>
            </a:r>
            <a:r>
              <a:rPr lang="en-US" sz="2800" dirty="0" err="1">
                <a:latin typeface="Gill Sans MT" panose="020B0502020104020203" pitchFamily="34" charset="77"/>
                <a:cs typeface="Trebuchet MS"/>
              </a:rPr>
              <a:t>dimensionalidad</a:t>
            </a:r>
            <a:endParaRPr lang="en-US" sz="28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1264416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oranges with leaves&#10;&#10;AI-generated content may be incorrect.">
            <a:extLst>
              <a:ext uri="{FF2B5EF4-FFF2-40B4-BE49-F238E27FC236}">
                <a16:creationId xmlns:a16="http://schemas.microsoft.com/office/drawing/2014/main" id="{A7E269FC-06A1-9039-081D-5B0488532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61" y="-241258"/>
            <a:ext cx="4141995" cy="27564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BA3967-4700-388E-CAE7-6567D3930263}"/>
              </a:ext>
            </a:extLst>
          </p:cNvPr>
          <p:cNvSpPr txBox="1"/>
          <p:nvPr/>
        </p:nvSpPr>
        <p:spPr>
          <a:xfrm>
            <a:off x="4051025" y="1056169"/>
            <a:ext cx="68675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Extracción de Características</a:t>
            </a:r>
            <a:endParaRPr lang="es-ES_tradnl" sz="1400" noProof="1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C097D0-0ACD-7107-89AA-D35F2BFDAEFA}"/>
              </a:ext>
            </a:extLst>
          </p:cNvPr>
          <p:cNvSpPr txBox="1"/>
          <p:nvPr/>
        </p:nvSpPr>
        <p:spPr>
          <a:xfrm>
            <a:off x="519782" y="3894358"/>
            <a:ext cx="375455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latin typeface="Gill Sans MT" panose="020B0502020104020203" pitchFamily="34" charset="77"/>
              </a:rPr>
              <a:t>¿Cuáles sirven?</a:t>
            </a:r>
          </a:p>
          <a:p>
            <a:r>
              <a:rPr lang="es-ES_tradnl" sz="3600" noProof="1">
                <a:latin typeface="Gill Sans MT" panose="020B0502020104020203" pitchFamily="34" charset="77"/>
              </a:rPr>
              <a:t>¿Son todas buenas?</a:t>
            </a:r>
          </a:p>
          <a:p>
            <a:r>
              <a:rPr lang="es-ES_tradnl" sz="3600" noProof="1">
                <a:latin typeface="Gill Sans MT" panose="020B0502020104020203" pitchFamily="34" charset="77"/>
              </a:rPr>
              <a:t>¿Hay redundancia?</a:t>
            </a:r>
          </a:p>
          <a:p>
            <a:r>
              <a:rPr lang="es-ES_tradnl" sz="3600" noProof="1">
                <a:latin typeface="Gill Sans MT" panose="020B0502020104020203" pitchFamily="34" charset="77"/>
              </a:rPr>
              <a:t>¿Son ‘correctas’?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1BCB8B-BAC4-11E9-8B26-DD4CD931CB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35437" y="2518432"/>
            <a:ext cx="7556500" cy="375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267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696D6-6197-27C3-6302-D4EC82024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oranges with leaves&#10;&#10;AI-generated content may be incorrect.">
            <a:extLst>
              <a:ext uri="{FF2B5EF4-FFF2-40B4-BE49-F238E27FC236}">
                <a16:creationId xmlns:a16="http://schemas.microsoft.com/office/drawing/2014/main" id="{DF22DD16-0624-B727-100F-B49EC46CE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61" y="-241258"/>
            <a:ext cx="4141995" cy="27564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EBA1EB-99DA-AE2C-7FB7-DCCE132A283B}"/>
              </a:ext>
            </a:extLst>
          </p:cNvPr>
          <p:cNvSpPr txBox="1"/>
          <p:nvPr/>
        </p:nvSpPr>
        <p:spPr>
          <a:xfrm>
            <a:off x="4051025" y="1056169"/>
            <a:ext cx="68675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Extracción de Características</a:t>
            </a:r>
            <a:endParaRPr lang="es-ES_tradnl" sz="1400" noProof="1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A7FF1-B4D6-68A8-D7A6-CAE764833656}"/>
              </a:ext>
            </a:extLst>
          </p:cNvPr>
          <p:cNvSpPr txBox="1"/>
          <p:nvPr/>
        </p:nvSpPr>
        <p:spPr>
          <a:xfrm>
            <a:off x="397325" y="2529725"/>
            <a:ext cx="21099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latin typeface="Gill Sans MT" panose="020B0502020104020203" pitchFamily="34" charset="77"/>
              </a:rPr>
              <a:t>Analicemos una característica…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167F22-D84A-A897-0E9E-AC102DF4CD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35437" y="2518432"/>
            <a:ext cx="7556500" cy="375272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E8B950F-228D-4CE4-3166-7E6240EBEADA}"/>
              </a:ext>
            </a:extLst>
          </p:cNvPr>
          <p:cNvSpPr/>
          <p:nvPr/>
        </p:nvSpPr>
        <p:spPr>
          <a:xfrm>
            <a:off x="6698760" y="2358887"/>
            <a:ext cx="2827354" cy="4214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CE8FE8-9333-A42D-761D-0CF2F925B464}"/>
              </a:ext>
            </a:extLst>
          </p:cNvPr>
          <p:cNvSpPr/>
          <p:nvPr/>
        </p:nvSpPr>
        <p:spPr>
          <a:xfrm>
            <a:off x="9325684" y="2206487"/>
            <a:ext cx="2827354" cy="4214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CFF64F-C28B-30EA-A171-7C73EF28AC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9381" y="3620780"/>
            <a:ext cx="501384" cy="3203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47E0DA-2C3F-5343-DA4A-54341A7C00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9549" y="5154617"/>
            <a:ext cx="534630" cy="336053"/>
          </a:xfrm>
          <a:prstGeom prst="rect">
            <a:avLst/>
          </a:prstGeom>
        </p:spPr>
      </p:pic>
      <p:sp>
        <p:nvSpPr>
          <p:cNvPr id="11" name="Left Brace 10">
            <a:extLst>
              <a:ext uri="{FF2B5EF4-FFF2-40B4-BE49-F238E27FC236}">
                <a16:creationId xmlns:a16="http://schemas.microsoft.com/office/drawing/2014/main" id="{81C4F9A0-D5D2-FAE8-7B77-7892DEE6D674}"/>
              </a:ext>
            </a:extLst>
          </p:cNvPr>
          <p:cNvSpPr/>
          <p:nvPr/>
        </p:nvSpPr>
        <p:spPr>
          <a:xfrm>
            <a:off x="4055262" y="4644863"/>
            <a:ext cx="187902" cy="141180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6DF9571A-B002-AD93-5B69-46CE0FECD65F}"/>
              </a:ext>
            </a:extLst>
          </p:cNvPr>
          <p:cNvSpPr/>
          <p:nvPr/>
        </p:nvSpPr>
        <p:spPr>
          <a:xfrm>
            <a:off x="4051025" y="3075041"/>
            <a:ext cx="187902" cy="141180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6D8798-BAF6-9709-FC81-F1A4E8E03EF0}"/>
              </a:ext>
            </a:extLst>
          </p:cNvPr>
          <p:cNvSpPr txBox="1"/>
          <p:nvPr/>
        </p:nvSpPr>
        <p:spPr>
          <a:xfrm>
            <a:off x="701523" y="4404624"/>
            <a:ext cx="11865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latin typeface="Gill Sans MT" panose="020B0502020104020203" pitchFamily="34" charset="77"/>
              </a:rPr>
              <a:t>DOS CLASES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05B9903-6B7B-3609-F1E6-E25362BE288B}"/>
              </a:ext>
            </a:extLst>
          </p:cNvPr>
          <p:cNvCxnSpPr/>
          <p:nvPr/>
        </p:nvCxnSpPr>
        <p:spPr>
          <a:xfrm flipV="1">
            <a:off x="2123768" y="3780944"/>
            <a:ext cx="973393" cy="532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A6D404-0841-6E0E-2829-D3F71373B86C}"/>
              </a:ext>
            </a:extLst>
          </p:cNvPr>
          <p:cNvCxnSpPr>
            <a:cxnSpLocks/>
          </p:cNvCxnSpPr>
          <p:nvPr/>
        </p:nvCxnSpPr>
        <p:spPr>
          <a:xfrm>
            <a:off x="2117763" y="4590596"/>
            <a:ext cx="973393" cy="532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D4EE001-9B4B-773A-2BB5-67B357855EC1}"/>
              </a:ext>
            </a:extLst>
          </p:cNvPr>
          <p:cNvSpPr/>
          <p:nvPr/>
        </p:nvSpPr>
        <p:spPr>
          <a:xfrm>
            <a:off x="7874526" y="2441666"/>
            <a:ext cx="1692260" cy="4241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287AAE-1A5E-4EBE-CC1E-73691ECACE97}"/>
              </a:ext>
            </a:extLst>
          </p:cNvPr>
          <p:cNvSpPr txBox="1"/>
          <p:nvPr/>
        </p:nvSpPr>
        <p:spPr>
          <a:xfrm>
            <a:off x="8470018" y="2377554"/>
            <a:ext cx="3433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"/>
                <a:cs typeface="Times"/>
              </a:rPr>
              <a:t>x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B07B7C-80CA-DFD8-AB36-1E121A8516D2}"/>
              </a:ext>
            </a:extLst>
          </p:cNvPr>
          <p:cNvSpPr/>
          <p:nvPr/>
        </p:nvSpPr>
        <p:spPr>
          <a:xfrm>
            <a:off x="4372031" y="2445682"/>
            <a:ext cx="2359348" cy="4241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FC611DB-E97E-3249-5C1E-B1FA30404BCB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27058" y="2488775"/>
            <a:ext cx="1620000" cy="38880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E2EE219-44BB-518C-BF54-9048D62D86AD}"/>
              </a:ext>
            </a:extLst>
          </p:cNvPr>
          <p:cNvSpPr txBox="1"/>
          <p:nvPr/>
        </p:nvSpPr>
        <p:spPr>
          <a:xfrm>
            <a:off x="8965308" y="1955498"/>
            <a:ext cx="2060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latin typeface="Gill Sans MT" panose="020B0502020104020203" pitchFamily="34" charset="77"/>
              </a:rPr>
              <a:t>UNA CARACTERÍSTICA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15773BB-A571-8F32-91FE-2C4B0A7E1510}"/>
              </a:ext>
            </a:extLst>
          </p:cNvPr>
          <p:cNvCxnSpPr>
            <a:cxnSpLocks/>
          </p:cNvCxnSpPr>
          <p:nvPr/>
        </p:nvCxnSpPr>
        <p:spPr>
          <a:xfrm flipH="1">
            <a:off x="8813382" y="2312179"/>
            <a:ext cx="753404" cy="2859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13175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ext Box 2"/>
          <p:cNvSpPr txBox="1">
            <a:spLocks noChangeArrowheads="1"/>
          </p:cNvSpPr>
          <p:nvPr/>
        </p:nvSpPr>
        <p:spPr bwMode="auto">
          <a:xfrm>
            <a:off x="1752600" y="152401"/>
            <a:ext cx="422827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sz="2800" dirty="0">
                <a:solidFill>
                  <a:schemeClr val="accent2"/>
                </a:solidFill>
                <a:latin typeface="Gill Sans MT" panose="020B0502020104020203" pitchFamily="34" charset="77"/>
              </a:rPr>
              <a:t>Distribución de Frecuencias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2" name="Text Box 60"/>
          <p:cNvSpPr txBox="1">
            <a:spLocks noChangeArrowheads="1"/>
          </p:cNvSpPr>
          <p:nvPr/>
        </p:nvSpPr>
        <p:spPr bwMode="auto">
          <a:xfrm>
            <a:off x="9782175" y="3541713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5791201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62200" y="1828801"/>
            <a:ext cx="12346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5" name="Text Box 63"/>
          <p:cNvSpPr txBox="1">
            <a:spLocks noChangeArrowheads="1"/>
          </p:cNvSpPr>
          <p:nvPr/>
        </p:nvSpPr>
        <p:spPr bwMode="auto">
          <a:xfrm>
            <a:off x="2286000" y="4191001"/>
            <a:ext cx="93968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8420BE-31C1-4044-AC7C-6285F47EF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861EF-87E1-6141-BF19-02851F4A8841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2E9EE-84FD-EF54-E937-BE83B4755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0E5276-22EB-AFF4-0441-F57CE3471A93}"/>
              </a:ext>
            </a:extLst>
          </p:cNvPr>
          <p:cNvCxnSpPr/>
          <p:nvPr/>
        </p:nvCxnSpPr>
        <p:spPr>
          <a:xfrm>
            <a:off x="2366871" y="4408648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D1BAD6-B7EE-6416-B152-29EE3E12A61D}"/>
              </a:ext>
            </a:extLst>
          </p:cNvPr>
          <p:cNvCxnSpPr/>
          <p:nvPr/>
        </p:nvCxnSpPr>
        <p:spPr>
          <a:xfrm>
            <a:off x="2357181" y="2778850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FBD8FCF-F8BB-4900-08E9-776194141D87}"/>
              </a:ext>
            </a:extLst>
          </p:cNvPr>
          <p:cNvSpPr txBox="1"/>
          <p:nvPr/>
        </p:nvSpPr>
        <p:spPr>
          <a:xfrm>
            <a:off x="5522054" y="418683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992F8F-70C5-435E-D45A-DF2BDA5D964D}"/>
              </a:ext>
            </a:extLst>
          </p:cNvPr>
          <p:cNvSpPr txBox="1"/>
          <p:nvPr/>
        </p:nvSpPr>
        <p:spPr>
          <a:xfrm>
            <a:off x="5517674" y="256739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A4DFCCD-29CC-B3D9-508A-89700B78402F}"/>
              </a:ext>
            </a:extLst>
          </p:cNvPr>
          <p:cNvSpPr txBox="1"/>
          <p:nvPr/>
        </p:nvSpPr>
        <p:spPr>
          <a:xfrm>
            <a:off x="2360663" y="2207837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Arial"/>
              </a:rPr>
              <a:t>para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DD9A2097-0697-2F3D-39B8-655C25AA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640" y="2321841"/>
            <a:ext cx="190997" cy="122026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B5AAB10-97D6-7ACB-37BB-2A504FA25820}"/>
              </a:ext>
            </a:extLst>
          </p:cNvPr>
          <p:cNvSpPr txBox="1"/>
          <p:nvPr/>
        </p:nvSpPr>
        <p:spPr>
          <a:xfrm>
            <a:off x="2367323" y="3914845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Arial"/>
              </a:rPr>
              <a:t>para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020631D-B3FE-33BB-A06C-A3B5665B1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2216" y="4028849"/>
            <a:ext cx="203662" cy="128016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3EBB6FFF-3620-BF80-CD60-B075E5DA43B3}"/>
              </a:ext>
            </a:extLst>
          </p:cNvPr>
          <p:cNvGrpSpPr/>
          <p:nvPr/>
        </p:nvGrpSpPr>
        <p:grpSpPr>
          <a:xfrm>
            <a:off x="2375580" y="2508154"/>
            <a:ext cx="1822768" cy="529200"/>
            <a:chOff x="749643" y="3003202"/>
            <a:chExt cx="1822768" cy="5292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9B66D73B-5519-E50E-2F5C-ED996DD12890}"/>
                </a:ext>
              </a:extLst>
            </p:cNvPr>
            <p:cNvGrpSpPr/>
            <p:nvPr/>
          </p:nvGrpSpPr>
          <p:grpSpPr>
            <a:xfrm>
              <a:off x="749643" y="3003202"/>
              <a:ext cx="1748285" cy="529200"/>
              <a:chOff x="540469" y="5154706"/>
              <a:chExt cx="1748285" cy="529200"/>
            </a:xfrm>
          </p:grpSpPr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E8CE72C2-3941-927A-E837-308C123AB87C}"/>
                  </a:ext>
                </a:extLst>
              </p:cNvPr>
              <p:cNvSpPr txBox="1"/>
              <p:nvPr/>
            </p:nvSpPr>
            <p:spPr>
              <a:xfrm>
                <a:off x="540469" y="5154706"/>
                <a:ext cx="6138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…..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1CEB309-0824-E976-90DF-CEC372E74D31}"/>
                  </a:ext>
                </a:extLst>
              </p:cNvPr>
              <p:cNvSpPr txBox="1"/>
              <p:nvPr/>
            </p:nvSpPr>
            <p:spPr>
              <a:xfrm>
                <a:off x="603223" y="5157696"/>
                <a:ext cx="6138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…..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5AB9BAF7-0043-AFE8-8BE6-887244238555}"/>
                  </a:ext>
                </a:extLst>
              </p:cNvPr>
              <p:cNvSpPr txBox="1"/>
              <p:nvPr/>
            </p:nvSpPr>
            <p:spPr>
              <a:xfrm>
                <a:off x="1173971" y="5160686"/>
                <a:ext cx="1114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……. . . </a:t>
                </a:r>
              </a:p>
            </p:txBody>
          </p:sp>
        </p:grp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103C901-F036-E1E8-4D55-7634AC3AC9B3}"/>
                </a:ext>
              </a:extLst>
            </p:cNvPr>
            <p:cNvSpPr txBox="1"/>
            <p:nvPr/>
          </p:nvSpPr>
          <p:spPr>
            <a:xfrm>
              <a:off x="1084325" y="3006007"/>
              <a:ext cx="613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…..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32D7B05-49F3-76A0-F683-68B72F5A4434}"/>
                </a:ext>
              </a:extLst>
            </p:cNvPr>
            <p:cNvSpPr txBox="1"/>
            <p:nvPr/>
          </p:nvSpPr>
          <p:spPr>
            <a:xfrm>
              <a:off x="1327305" y="3008997"/>
              <a:ext cx="613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…..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AEB451F-10BD-3F73-B0B1-17E608367333}"/>
                </a:ext>
              </a:extLst>
            </p:cNvPr>
            <p:cNvSpPr txBox="1"/>
            <p:nvPr/>
          </p:nvSpPr>
          <p:spPr>
            <a:xfrm>
              <a:off x="1457628" y="3009182"/>
              <a:ext cx="111478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……. . . 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FA16A53-1137-FBFC-43FE-C53BB78E0DE3}"/>
              </a:ext>
            </a:extLst>
          </p:cNvPr>
          <p:cNvGrpSpPr/>
          <p:nvPr/>
        </p:nvGrpSpPr>
        <p:grpSpPr>
          <a:xfrm rot="10800000">
            <a:off x="3462294" y="4383425"/>
            <a:ext cx="2100200" cy="529200"/>
            <a:chOff x="806951" y="3095536"/>
            <a:chExt cx="2100200" cy="529200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5CFD25EE-774E-9CBB-67AF-BBCFFB2941C9}"/>
                </a:ext>
              </a:extLst>
            </p:cNvPr>
            <p:cNvGrpSpPr/>
            <p:nvPr/>
          </p:nvGrpSpPr>
          <p:grpSpPr>
            <a:xfrm>
              <a:off x="806951" y="3095536"/>
              <a:ext cx="1983074" cy="529200"/>
              <a:chOff x="597777" y="5247040"/>
              <a:chExt cx="1983074" cy="529200"/>
            </a:xfrm>
          </p:grpSpPr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4267775-7257-C78E-8E95-D56AEED6CAFA}"/>
                  </a:ext>
                </a:extLst>
              </p:cNvPr>
              <p:cNvSpPr txBox="1"/>
              <p:nvPr/>
            </p:nvSpPr>
            <p:spPr>
              <a:xfrm>
                <a:off x="597777" y="5247040"/>
                <a:ext cx="6832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…..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E66693FE-6B21-BB13-15AF-8C4C3AE46BF3}"/>
                  </a:ext>
                </a:extLst>
              </p:cNvPr>
              <p:cNvSpPr txBox="1"/>
              <p:nvPr/>
            </p:nvSpPr>
            <p:spPr>
              <a:xfrm>
                <a:off x="660531" y="5250030"/>
                <a:ext cx="6832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…..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6AD4F26-FAB0-5224-78BB-A74BC24B8D4B}"/>
                  </a:ext>
                </a:extLst>
              </p:cNvPr>
              <p:cNvSpPr txBox="1"/>
              <p:nvPr/>
            </p:nvSpPr>
            <p:spPr>
              <a:xfrm>
                <a:off x="1280495" y="5253020"/>
                <a:ext cx="13003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……. . . </a:t>
                </a: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69B68DA-06F1-E86A-D322-47756D306E8A}"/>
                </a:ext>
              </a:extLst>
            </p:cNvPr>
            <p:cNvSpPr txBox="1"/>
            <p:nvPr/>
          </p:nvSpPr>
          <p:spPr>
            <a:xfrm>
              <a:off x="1484533" y="3098341"/>
              <a:ext cx="6832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…..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64B6864-3788-097B-C4A2-09DC96F3ECED}"/>
                </a:ext>
              </a:extLst>
            </p:cNvPr>
            <p:cNvSpPr txBox="1"/>
            <p:nvPr/>
          </p:nvSpPr>
          <p:spPr>
            <a:xfrm>
              <a:off x="1237937" y="3101331"/>
              <a:ext cx="9765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……..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E9615C4-1141-94C1-56B8-39C0E7A4D263}"/>
                </a:ext>
              </a:extLst>
            </p:cNvPr>
            <p:cNvSpPr txBox="1"/>
            <p:nvPr/>
          </p:nvSpPr>
          <p:spPr>
            <a:xfrm>
              <a:off x="1079407" y="3101516"/>
              <a:ext cx="18277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….…….... . </a:t>
              </a: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654E7546-16D3-3E36-C256-004BDC865347}"/>
              </a:ext>
            </a:extLst>
          </p:cNvPr>
          <p:cNvSpPr txBox="1"/>
          <p:nvPr/>
        </p:nvSpPr>
        <p:spPr>
          <a:xfrm>
            <a:off x="4358126" y="2767617"/>
            <a:ext cx="11047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Gill Sans MT" panose="020B0502020104020203" pitchFamily="34" charset="77"/>
                <a:cs typeface="Arial"/>
              </a:rPr>
              <a:t>Muestras</a:t>
            </a:r>
            <a:r>
              <a:rPr lang="en-US" sz="10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0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000" dirty="0">
              <a:latin typeface="Gill Sans MT" panose="020B0502020104020203" pitchFamily="34" charset="77"/>
              <a:cs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1A4A872-7FEB-2CEB-B576-7B38B2C7BC41}"/>
              </a:ext>
            </a:extLst>
          </p:cNvPr>
          <p:cNvSpPr txBox="1"/>
          <p:nvPr/>
        </p:nvSpPr>
        <p:spPr>
          <a:xfrm>
            <a:off x="2183192" y="4389617"/>
            <a:ext cx="11047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Gill Sans MT" panose="020B0502020104020203" pitchFamily="34" charset="77"/>
                <a:cs typeface="Arial"/>
              </a:rPr>
              <a:t>Muestras</a:t>
            </a:r>
            <a:r>
              <a:rPr lang="en-US" sz="10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0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000" dirty="0">
              <a:latin typeface="Gill Sans MT" panose="020B0502020104020203" pitchFamily="34" charset="77"/>
              <a:cs typeface="Arial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80ECA78-239A-8439-F293-85478C938554}"/>
              </a:ext>
            </a:extLst>
          </p:cNvPr>
          <p:cNvCxnSpPr/>
          <p:nvPr/>
        </p:nvCxnSpPr>
        <p:spPr>
          <a:xfrm>
            <a:off x="3258717" y="4527724"/>
            <a:ext cx="182880" cy="0"/>
          </a:xfrm>
          <a:prstGeom prst="straightConnector1">
            <a:avLst/>
          </a:prstGeom>
          <a:ln w="12700" cmpd="sng">
            <a:solidFill>
              <a:srgbClr val="7F7F7F"/>
            </a:solidFill>
            <a:tailEnd type="arrow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EB9A968E-2CFE-052B-8F76-773241C41E25}"/>
              </a:ext>
            </a:extLst>
          </p:cNvPr>
          <p:cNvCxnSpPr/>
          <p:nvPr/>
        </p:nvCxnSpPr>
        <p:spPr>
          <a:xfrm flipH="1">
            <a:off x="4235343" y="2898959"/>
            <a:ext cx="182880" cy="0"/>
          </a:xfrm>
          <a:prstGeom prst="straightConnector1">
            <a:avLst/>
          </a:prstGeom>
          <a:ln w="12700" cmpd="sng">
            <a:solidFill>
              <a:srgbClr val="7F7F7F"/>
            </a:solidFill>
            <a:tailEnd type="arrow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924A30D-B82F-5889-BAC0-FFF7DB38E9B8}"/>
              </a:ext>
            </a:extLst>
          </p:cNvPr>
          <p:cNvSpPr txBox="1"/>
          <p:nvPr/>
        </p:nvSpPr>
        <p:spPr>
          <a:xfrm rot="10800000">
            <a:off x="4565336" y="4386233"/>
            <a:ext cx="683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…..</a:t>
            </a:r>
          </a:p>
        </p:txBody>
      </p:sp>
      <p:sp>
        <p:nvSpPr>
          <p:cNvPr id="93" name="Text Box 2">
            <a:extLst>
              <a:ext uri="{FF2B5EF4-FFF2-40B4-BE49-F238E27FC236}">
                <a16:creationId xmlns:a16="http://schemas.microsoft.com/office/drawing/2014/main" id="{FBDFDBA7-7DB3-7A20-D74C-B33DF99549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152401"/>
            <a:ext cx="422827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sz="2800" dirty="0">
                <a:solidFill>
                  <a:schemeClr val="accent2"/>
                </a:solidFill>
                <a:latin typeface="Gill Sans MT" panose="020B0502020104020203" pitchFamily="34" charset="77"/>
              </a:rPr>
              <a:t>Distribución de Frecuencias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A12EC1-6243-4580-4FC0-A004B481A24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27058" y="2488775"/>
            <a:ext cx="1620000" cy="388800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161D9127-D777-98E0-55A6-9FE542132205}"/>
              </a:ext>
            </a:extLst>
          </p:cNvPr>
          <p:cNvGrpSpPr/>
          <p:nvPr/>
        </p:nvGrpSpPr>
        <p:grpSpPr>
          <a:xfrm>
            <a:off x="2375580" y="2607390"/>
            <a:ext cx="6913525" cy="2098076"/>
            <a:chOff x="2377431" y="2554091"/>
            <a:chExt cx="6913525" cy="2098076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2B17F19F-CF9F-4182-3DCF-CCDBFDF38294}"/>
                </a:ext>
              </a:extLst>
            </p:cNvPr>
            <p:cNvSpPr/>
            <p:nvPr/>
          </p:nvSpPr>
          <p:spPr>
            <a:xfrm>
              <a:off x="8088314" y="2795179"/>
              <a:ext cx="1202642" cy="1856988"/>
            </a:xfrm>
            <a:prstGeom prst="ellipse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9E72CF7-B0C9-0100-306B-D3C1FA07CE1F}"/>
                </a:ext>
              </a:extLst>
            </p:cNvPr>
            <p:cNvSpPr/>
            <p:nvPr/>
          </p:nvSpPr>
          <p:spPr>
            <a:xfrm rot="5400000">
              <a:off x="3034625" y="1896897"/>
              <a:ext cx="542600" cy="1856988"/>
            </a:xfrm>
            <a:prstGeom prst="ellipse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A8ACD5A-7F0F-5855-F63F-052DA4E46371}"/>
              </a:ext>
            </a:extLst>
          </p:cNvPr>
          <p:cNvGrpSpPr/>
          <p:nvPr/>
        </p:nvGrpSpPr>
        <p:grpSpPr>
          <a:xfrm>
            <a:off x="3625292" y="4306691"/>
            <a:ext cx="5671107" cy="2081747"/>
            <a:chOff x="3625292" y="4306691"/>
            <a:chExt cx="5671107" cy="208174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7840893-CEBB-E291-859C-E3959E615EB8}"/>
                </a:ext>
              </a:extLst>
            </p:cNvPr>
            <p:cNvSpPr/>
            <p:nvPr/>
          </p:nvSpPr>
          <p:spPr>
            <a:xfrm>
              <a:off x="8093757" y="4531450"/>
              <a:ext cx="1202642" cy="1856988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B982625-F24D-08D0-B921-DD63ED93454F}"/>
                </a:ext>
              </a:extLst>
            </p:cNvPr>
            <p:cNvSpPr/>
            <p:nvPr/>
          </p:nvSpPr>
          <p:spPr>
            <a:xfrm rot="5400000">
              <a:off x="4282486" y="3649497"/>
              <a:ext cx="542600" cy="1856988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/>
            </a:p>
          </p:txBody>
        </p:sp>
      </p:grpSp>
    </p:spTree>
    <p:extLst>
      <p:ext uri="{BB962C8B-B14F-4D97-AF65-F5344CB8AC3E}">
        <p14:creationId xmlns:p14="http://schemas.microsoft.com/office/powerpoint/2010/main" val="6787096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2FB99-9804-DA0B-8F7B-B2C6ACC44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B56680-E3D6-BE6D-2491-BA8C742F20D0}"/>
              </a:ext>
            </a:extLst>
          </p:cNvPr>
          <p:cNvCxnSpPr/>
          <p:nvPr/>
        </p:nvCxnSpPr>
        <p:spPr>
          <a:xfrm>
            <a:off x="2366871" y="4408648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8518220-E73A-9AD9-BDA2-7234F3E78C9A}"/>
              </a:ext>
            </a:extLst>
          </p:cNvPr>
          <p:cNvCxnSpPr/>
          <p:nvPr/>
        </p:nvCxnSpPr>
        <p:spPr>
          <a:xfrm>
            <a:off x="2357181" y="2778850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4C958A1-FDD3-98E1-D804-7C5487A9B667}"/>
              </a:ext>
            </a:extLst>
          </p:cNvPr>
          <p:cNvSpPr txBox="1"/>
          <p:nvPr/>
        </p:nvSpPr>
        <p:spPr>
          <a:xfrm>
            <a:off x="5522054" y="418683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9683F0-E743-C491-DD51-1409DA9E0169}"/>
              </a:ext>
            </a:extLst>
          </p:cNvPr>
          <p:cNvSpPr txBox="1"/>
          <p:nvPr/>
        </p:nvSpPr>
        <p:spPr>
          <a:xfrm>
            <a:off x="5517674" y="256739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8F8500-A9FE-13EE-F93D-C1FA2F9124B3}"/>
              </a:ext>
            </a:extLst>
          </p:cNvPr>
          <p:cNvSpPr txBox="1"/>
          <p:nvPr/>
        </p:nvSpPr>
        <p:spPr>
          <a:xfrm>
            <a:off x="2360663" y="1432331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Arial"/>
              </a:rPr>
              <a:t>para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4280A4FE-6459-83FA-F775-51433B483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640" y="1546335"/>
            <a:ext cx="190997" cy="122026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CB1B796A-9F74-D5AD-F453-BA7B879A2E86}"/>
              </a:ext>
            </a:extLst>
          </p:cNvPr>
          <p:cNvSpPr txBox="1"/>
          <p:nvPr/>
        </p:nvSpPr>
        <p:spPr>
          <a:xfrm>
            <a:off x="2367323" y="3069891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Arial"/>
              </a:rPr>
              <a:t>para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BCC44BC-07B6-B1ED-B7D0-A25C4F7AD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2216" y="3183895"/>
            <a:ext cx="203662" cy="128016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4DEFA108-46CD-3538-3422-2E4E81374152}"/>
              </a:ext>
            </a:extLst>
          </p:cNvPr>
          <p:cNvGrpSpPr/>
          <p:nvPr/>
        </p:nvGrpSpPr>
        <p:grpSpPr>
          <a:xfrm>
            <a:off x="2375580" y="2508154"/>
            <a:ext cx="1822768" cy="529200"/>
            <a:chOff x="749643" y="3003202"/>
            <a:chExt cx="1822768" cy="5292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2F429D8B-E4A8-2CD7-2282-8694CEB1E60C}"/>
                </a:ext>
              </a:extLst>
            </p:cNvPr>
            <p:cNvGrpSpPr/>
            <p:nvPr/>
          </p:nvGrpSpPr>
          <p:grpSpPr>
            <a:xfrm>
              <a:off x="749643" y="3003202"/>
              <a:ext cx="1748285" cy="529200"/>
              <a:chOff x="540469" y="5154706"/>
              <a:chExt cx="1748285" cy="529200"/>
            </a:xfrm>
          </p:grpSpPr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071CE22-A47A-477C-968F-A5AA23EE4BB3}"/>
                  </a:ext>
                </a:extLst>
              </p:cNvPr>
              <p:cNvSpPr txBox="1"/>
              <p:nvPr/>
            </p:nvSpPr>
            <p:spPr>
              <a:xfrm>
                <a:off x="540469" y="5154706"/>
                <a:ext cx="6138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…..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A723E66-0285-6506-FD56-0965B846DF57}"/>
                  </a:ext>
                </a:extLst>
              </p:cNvPr>
              <p:cNvSpPr txBox="1"/>
              <p:nvPr/>
            </p:nvSpPr>
            <p:spPr>
              <a:xfrm>
                <a:off x="603223" y="5157696"/>
                <a:ext cx="6138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…..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6AF2A08D-A79B-A732-F39B-EA2E079A5208}"/>
                  </a:ext>
                </a:extLst>
              </p:cNvPr>
              <p:cNvSpPr txBox="1"/>
              <p:nvPr/>
            </p:nvSpPr>
            <p:spPr>
              <a:xfrm>
                <a:off x="1173971" y="5160686"/>
                <a:ext cx="1114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……. . . </a:t>
                </a:r>
              </a:p>
            </p:txBody>
          </p:sp>
        </p:grp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4AD3CB3-67B6-DB06-EDAB-DDF93D9B2400}"/>
                </a:ext>
              </a:extLst>
            </p:cNvPr>
            <p:cNvSpPr txBox="1"/>
            <p:nvPr/>
          </p:nvSpPr>
          <p:spPr>
            <a:xfrm>
              <a:off x="1084325" y="3006007"/>
              <a:ext cx="613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…..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C0C7CFF-3F1E-C2F4-9C91-538FD923B6F3}"/>
                </a:ext>
              </a:extLst>
            </p:cNvPr>
            <p:cNvSpPr txBox="1"/>
            <p:nvPr/>
          </p:nvSpPr>
          <p:spPr>
            <a:xfrm>
              <a:off x="1327305" y="3008997"/>
              <a:ext cx="613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…..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8AC8AB0-803A-030F-8FE5-627278DFAEF7}"/>
                </a:ext>
              </a:extLst>
            </p:cNvPr>
            <p:cNvSpPr txBox="1"/>
            <p:nvPr/>
          </p:nvSpPr>
          <p:spPr>
            <a:xfrm>
              <a:off x="1457628" y="3009182"/>
              <a:ext cx="111478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……. . . 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9A7B966-03DF-33AB-5A47-FE179EF3CE5C}"/>
              </a:ext>
            </a:extLst>
          </p:cNvPr>
          <p:cNvGrpSpPr/>
          <p:nvPr/>
        </p:nvGrpSpPr>
        <p:grpSpPr>
          <a:xfrm rot="10800000">
            <a:off x="3462294" y="4383425"/>
            <a:ext cx="2100200" cy="529200"/>
            <a:chOff x="806951" y="3095536"/>
            <a:chExt cx="2100200" cy="529200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DE267E73-FF59-FC00-F5D7-166A811BC189}"/>
                </a:ext>
              </a:extLst>
            </p:cNvPr>
            <p:cNvGrpSpPr/>
            <p:nvPr/>
          </p:nvGrpSpPr>
          <p:grpSpPr>
            <a:xfrm>
              <a:off x="806951" y="3095536"/>
              <a:ext cx="1983074" cy="529200"/>
              <a:chOff x="597777" y="5247040"/>
              <a:chExt cx="1983074" cy="529200"/>
            </a:xfrm>
          </p:grpSpPr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EB5AE9B-E371-FF20-BECE-32CA83CC5E50}"/>
                  </a:ext>
                </a:extLst>
              </p:cNvPr>
              <p:cNvSpPr txBox="1"/>
              <p:nvPr/>
            </p:nvSpPr>
            <p:spPr>
              <a:xfrm>
                <a:off x="597777" y="5247040"/>
                <a:ext cx="6832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…..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338E857-3A06-7152-CC7F-7C339E17D324}"/>
                  </a:ext>
                </a:extLst>
              </p:cNvPr>
              <p:cNvSpPr txBox="1"/>
              <p:nvPr/>
            </p:nvSpPr>
            <p:spPr>
              <a:xfrm>
                <a:off x="660531" y="5250030"/>
                <a:ext cx="6832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…..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FEBD337-82A9-B129-8986-B9857276D675}"/>
                  </a:ext>
                </a:extLst>
              </p:cNvPr>
              <p:cNvSpPr txBox="1"/>
              <p:nvPr/>
            </p:nvSpPr>
            <p:spPr>
              <a:xfrm>
                <a:off x="1280495" y="5253020"/>
                <a:ext cx="13003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……. . . </a:t>
                </a: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DEBAFEB-F57A-E657-901B-B438A41BB43E}"/>
                </a:ext>
              </a:extLst>
            </p:cNvPr>
            <p:cNvSpPr txBox="1"/>
            <p:nvPr/>
          </p:nvSpPr>
          <p:spPr>
            <a:xfrm>
              <a:off x="1484533" y="3098341"/>
              <a:ext cx="6832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…..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9A22405-A629-F697-5273-E99B77B513C2}"/>
                </a:ext>
              </a:extLst>
            </p:cNvPr>
            <p:cNvSpPr txBox="1"/>
            <p:nvPr/>
          </p:nvSpPr>
          <p:spPr>
            <a:xfrm>
              <a:off x="1237937" y="3101331"/>
              <a:ext cx="9765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……..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59461FC-1443-3B06-A92D-22E453079739}"/>
                </a:ext>
              </a:extLst>
            </p:cNvPr>
            <p:cNvSpPr txBox="1"/>
            <p:nvPr/>
          </p:nvSpPr>
          <p:spPr>
            <a:xfrm>
              <a:off x="1079407" y="3101516"/>
              <a:ext cx="18277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….…….... . </a:t>
              </a: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3AE0730F-860E-ABDA-AF80-7BBFE2FC14E1}"/>
              </a:ext>
            </a:extLst>
          </p:cNvPr>
          <p:cNvSpPr txBox="1"/>
          <p:nvPr/>
        </p:nvSpPr>
        <p:spPr>
          <a:xfrm>
            <a:off x="4358126" y="2767617"/>
            <a:ext cx="11047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Gill Sans MT" panose="020B0502020104020203" pitchFamily="34" charset="77"/>
                <a:cs typeface="Arial"/>
              </a:rPr>
              <a:t>Muestras</a:t>
            </a:r>
            <a:r>
              <a:rPr lang="en-US" sz="10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0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000" dirty="0">
              <a:latin typeface="Gill Sans MT" panose="020B0502020104020203" pitchFamily="34" charset="77"/>
              <a:cs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9DE4939-E930-8942-E664-710AB4AB7853}"/>
              </a:ext>
            </a:extLst>
          </p:cNvPr>
          <p:cNvSpPr txBox="1"/>
          <p:nvPr/>
        </p:nvSpPr>
        <p:spPr>
          <a:xfrm>
            <a:off x="2183192" y="4389617"/>
            <a:ext cx="11047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Gill Sans MT" panose="020B0502020104020203" pitchFamily="34" charset="77"/>
                <a:cs typeface="Arial"/>
              </a:rPr>
              <a:t>Muestras</a:t>
            </a:r>
            <a:r>
              <a:rPr lang="en-US" sz="10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0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000" dirty="0">
              <a:latin typeface="Gill Sans MT" panose="020B0502020104020203" pitchFamily="34" charset="77"/>
              <a:cs typeface="Arial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835691F-7265-27ED-570D-EAE55C5E7F8F}"/>
              </a:ext>
            </a:extLst>
          </p:cNvPr>
          <p:cNvCxnSpPr/>
          <p:nvPr/>
        </p:nvCxnSpPr>
        <p:spPr>
          <a:xfrm>
            <a:off x="3258717" y="4527724"/>
            <a:ext cx="182880" cy="0"/>
          </a:xfrm>
          <a:prstGeom prst="straightConnector1">
            <a:avLst/>
          </a:prstGeom>
          <a:ln w="12700" cmpd="sng">
            <a:solidFill>
              <a:srgbClr val="7F7F7F"/>
            </a:solidFill>
            <a:tailEnd type="arrow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65735C5-D8D5-6E47-0877-0EB796C933CD}"/>
              </a:ext>
            </a:extLst>
          </p:cNvPr>
          <p:cNvCxnSpPr/>
          <p:nvPr/>
        </p:nvCxnSpPr>
        <p:spPr>
          <a:xfrm flipH="1">
            <a:off x="4235343" y="2898959"/>
            <a:ext cx="182880" cy="0"/>
          </a:xfrm>
          <a:prstGeom prst="straightConnector1">
            <a:avLst/>
          </a:prstGeom>
          <a:ln w="12700" cmpd="sng">
            <a:solidFill>
              <a:srgbClr val="7F7F7F"/>
            </a:solidFill>
            <a:tailEnd type="arrow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92E5B52D-0C82-779C-C188-61F088A8BBF3}"/>
              </a:ext>
            </a:extLst>
          </p:cNvPr>
          <p:cNvSpPr txBox="1"/>
          <p:nvPr/>
        </p:nvSpPr>
        <p:spPr>
          <a:xfrm rot="10800000">
            <a:off x="4565336" y="4386233"/>
            <a:ext cx="683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…..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6FF3A1A-DDF9-9CBD-B1E6-1190592A54AA}"/>
              </a:ext>
            </a:extLst>
          </p:cNvPr>
          <p:cNvGrpSpPr/>
          <p:nvPr/>
        </p:nvGrpSpPr>
        <p:grpSpPr>
          <a:xfrm flipH="1">
            <a:off x="3615417" y="3607887"/>
            <a:ext cx="1634990" cy="787517"/>
            <a:chOff x="645395" y="1614815"/>
            <a:chExt cx="1634990" cy="787517"/>
          </a:xfr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E87E1DC-43FC-3257-4D87-DBFE5444C86C}"/>
                </a:ext>
              </a:extLst>
            </p:cNvPr>
            <p:cNvSpPr/>
            <p:nvPr/>
          </p:nvSpPr>
          <p:spPr>
            <a:xfrm>
              <a:off x="645395" y="2353439"/>
              <a:ext cx="114167" cy="457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8BEAA27-5253-AF63-1156-881D72936D3C}"/>
                </a:ext>
              </a:extLst>
            </p:cNvPr>
            <p:cNvSpPr/>
            <p:nvPr/>
          </p:nvSpPr>
          <p:spPr>
            <a:xfrm>
              <a:off x="794621" y="2256479"/>
              <a:ext cx="114167" cy="14585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D146F0C-3B7D-63DF-495C-B9E569D9F134}"/>
                </a:ext>
              </a:extLst>
            </p:cNvPr>
            <p:cNvSpPr/>
            <p:nvPr/>
          </p:nvSpPr>
          <p:spPr>
            <a:xfrm>
              <a:off x="947020" y="2083596"/>
              <a:ext cx="114167" cy="317866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31EFE91-31F5-E72F-13E0-F9A55CB72CF1}"/>
                </a:ext>
              </a:extLst>
            </p:cNvPr>
            <p:cNvSpPr/>
            <p:nvPr/>
          </p:nvSpPr>
          <p:spPr>
            <a:xfrm>
              <a:off x="1099421" y="1794347"/>
              <a:ext cx="114167" cy="60711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7EC7C82-078F-6E0D-156E-3563728C5732}"/>
                </a:ext>
              </a:extLst>
            </p:cNvPr>
            <p:cNvSpPr/>
            <p:nvPr/>
          </p:nvSpPr>
          <p:spPr>
            <a:xfrm>
              <a:off x="1251819" y="1614815"/>
              <a:ext cx="114167" cy="783471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7D53EB-8275-74A8-A79F-12E5C127EC85}"/>
                </a:ext>
              </a:extLst>
            </p:cNvPr>
            <p:cNvSpPr/>
            <p:nvPr/>
          </p:nvSpPr>
          <p:spPr>
            <a:xfrm>
              <a:off x="1404219" y="1614815"/>
              <a:ext cx="114167" cy="786645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AA0837-DC58-FD3E-CC8A-2DF2C783AEA3}"/>
                </a:ext>
              </a:extLst>
            </p:cNvPr>
            <p:cNvSpPr/>
            <p:nvPr/>
          </p:nvSpPr>
          <p:spPr>
            <a:xfrm>
              <a:off x="1556619" y="1794348"/>
              <a:ext cx="114167" cy="60711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609AB73-80CE-1F73-F883-77800EC7F215}"/>
                </a:ext>
              </a:extLst>
            </p:cNvPr>
            <p:cNvSpPr/>
            <p:nvPr/>
          </p:nvSpPr>
          <p:spPr>
            <a:xfrm>
              <a:off x="1709019" y="1927224"/>
              <a:ext cx="114167" cy="474237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C94BBB-F2EA-5F49-718D-BCD87E9A282B}"/>
                </a:ext>
              </a:extLst>
            </p:cNvPr>
            <p:cNvSpPr/>
            <p:nvPr/>
          </p:nvSpPr>
          <p:spPr>
            <a:xfrm>
              <a:off x="1861419" y="2143441"/>
              <a:ext cx="114167" cy="2580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3B81F8-1ADF-4FB3-97D6-F5F36E6603BF}"/>
                </a:ext>
              </a:extLst>
            </p:cNvPr>
            <p:cNvSpPr/>
            <p:nvPr/>
          </p:nvSpPr>
          <p:spPr>
            <a:xfrm>
              <a:off x="2013819" y="2289727"/>
              <a:ext cx="114167" cy="11173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9253598-C464-3444-C4F4-65341A387D8B}"/>
                </a:ext>
              </a:extLst>
            </p:cNvPr>
            <p:cNvSpPr/>
            <p:nvPr/>
          </p:nvSpPr>
          <p:spPr>
            <a:xfrm>
              <a:off x="2166218" y="2355740"/>
              <a:ext cx="114167" cy="457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3BFB73-E0F4-F212-05A1-B22BDEA860DE}"/>
              </a:ext>
            </a:extLst>
          </p:cNvPr>
          <p:cNvGrpSpPr/>
          <p:nvPr/>
        </p:nvGrpSpPr>
        <p:grpSpPr>
          <a:xfrm>
            <a:off x="2545909" y="1907809"/>
            <a:ext cx="1634992" cy="859283"/>
            <a:chOff x="645393" y="1543050"/>
            <a:chExt cx="1634992" cy="859283"/>
          </a:xfrm>
          <a:gradFill flip="none" rotWithShape="1">
            <a:gsLst>
              <a:gs pos="39000">
                <a:schemeClr val="tx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16200000" scaled="0"/>
            <a:tileRect/>
          </a:gra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DEDF9CE-F8C3-93A8-B943-97F766CED843}"/>
                </a:ext>
              </a:extLst>
            </p:cNvPr>
            <p:cNvSpPr/>
            <p:nvPr/>
          </p:nvSpPr>
          <p:spPr>
            <a:xfrm>
              <a:off x="645393" y="2222499"/>
              <a:ext cx="114167" cy="17665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F2FDDA2-4935-1F71-2D4B-03C0AD2DDB13}"/>
                </a:ext>
              </a:extLst>
            </p:cNvPr>
            <p:cNvSpPr/>
            <p:nvPr/>
          </p:nvSpPr>
          <p:spPr>
            <a:xfrm>
              <a:off x="794618" y="1927224"/>
              <a:ext cx="114167" cy="47510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43A030-9B41-851E-75DC-D86C0BA3E7A1}"/>
                </a:ext>
              </a:extLst>
            </p:cNvPr>
            <p:cNvSpPr/>
            <p:nvPr/>
          </p:nvSpPr>
          <p:spPr>
            <a:xfrm>
              <a:off x="947018" y="1689100"/>
              <a:ext cx="114167" cy="712362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863DD09-F5C0-CE4B-D8E4-27533D0C37C7}"/>
                </a:ext>
              </a:extLst>
            </p:cNvPr>
            <p:cNvSpPr/>
            <p:nvPr/>
          </p:nvSpPr>
          <p:spPr>
            <a:xfrm>
              <a:off x="1099418" y="1543050"/>
              <a:ext cx="114167" cy="858412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DC039C5-54F3-508D-DD63-D8D5E31A1AC6}"/>
                </a:ext>
              </a:extLst>
            </p:cNvPr>
            <p:cNvSpPr/>
            <p:nvPr/>
          </p:nvSpPr>
          <p:spPr>
            <a:xfrm>
              <a:off x="1251818" y="1568449"/>
              <a:ext cx="114167" cy="829837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1B67EA9-0B73-C5A3-EAE9-D9E6DFED6173}"/>
                </a:ext>
              </a:extLst>
            </p:cNvPr>
            <p:cNvSpPr/>
            <p:nvPr/>
          </p:nvSpPr>
          <p:spPr>
            <a:xfrm>
              <a:off x="1404218" y="1689099"/>
              <a:ext cx="114167" cy="712361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3AED311-1199-58AC-7DF2-FD9C39DFC543}"/>
                </a:ext>
              </a:extLst>
            </p:cNvPr>
            <p:cNvSpPr/>
            <p:nvPr/>
          </p:nvSpPr>
          <p:spPr>
            <a:xfrm>
              <a:off x="1556618" y="1895475"/>
              <a:ext cx="114167" cy="505986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74477AB-FC69-8ED7-F531-76DED977DE1F}"/>
                </a:ext>
              </a:extLst>
            </p:cNvPr>
            <p:cNvSpPr/>
            <p:nvPr/>
          </p:nvSpPr>
          <p:spPr>
            <a:xfrm>
              <a:off x="1709018" y="2149475"/>
              <a:ext cx="114167" cy="251986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CE5F3E-E9DC-0932-C7C1-D27273ACEC67}"/>
                </a:ext>
              </a:extLst>
            </p:cNvPr>
            <p:cNvSpPr/>
            <p:nvPr/>
          </p:nvSpPr>
          <p:spPr>
            <a:xfrm>
              <a:off x="1861418" y="2273299"/>
              <a:ext cx="114167" cy="128161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EBF3DA0-FC5C-76AE-FC0C-F126B89973FA}"/>
                </a:ext>
              </a:extLst>
            </p:cNvPr>
            <p:cNvSpPr/>
            <p:nvPr/>
          </p:nvSpPr>
          <p:spPr>
            <a:xfrm>
              <a:off x="2013818" y="2330450"/>
              <a:ext cx="114167" cy="71010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930C402-5687-C266-AAF5-064DBB8BDF89}"/>
                </a:ext>
              </a:extLst>
            </p:cNvPr>
            <p:cNvSpPr/>
            <p:nvPr/>
          </p:nvSpPr>
          <p:spPr>
            <a:xfrm>
              <a:off x="2166218" y="2355740"/>
              <a:ext cx="114167" cy="4571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D9F15D5-C6ED-55ED-2BC5-819ED8303F5E}"/>
              </a:ext>
            </a:extLst>
          </p:cNvPr>
          <p:cNvGrpSpPr/>
          <p:nvPr/>
        </p:nvGrpSpPr>
        <p:grpSpPr>
          <a:xfrm>
            <a:off x="2478070" y="2098532"/>
            <a:ext cx="2964370" cy="1964781"/>
            <a:chOff x="2478070" y="2098532"/>
            <a:chExt cx="2964370" cy="196478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A66E490-1506-2859-2995-8436B59BA9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78070" y="3618324"/>
              <a:ext cx="1329186" cy="444989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2DA1D67-E454-3BFA-8DB1-922E20A383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94701" y="2098532"/>
              <a:ext cx="1347739" cy="447310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86AEC5B-9FE1-7FCC-AAAD-ACB7A5F43D7F}"/>
              </a:ext>
            </a:extLst>
          </p:cNvPr>
          <p:cNvCxnSpPr/>
          <p:nvPr/>
        </p:nvCxnSpPr>
        <p:spPr>
          <a:xfrm flipH="1" flipV="1">
            <a:off x="2357181" y="1409971"/>
            <a:ext cx="0" cy="137160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9F51BC-A6BC-6C6C-15C2-80728FC0EC0E}"/>
              </a:ext>
            </a:extLst>
          </p:cNvPr>
          <p:cNvCxnSpPr/>
          <p:nvPr/>
        </p:nvCxnSpPr>
        <p:spPr>
          <a:xfrm flipH="1" flipV="1">
            <a:off x="2366871" y="3039769"/>
            <a:ext cx="0" cy="137160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 Box 2">
            <a:extLst>
              <a:ext uri="{FF2B5EF4-FFF2-40B4-BE49-F238E27FC236}">
                <a16:creationId xmlns:a16="http://schemas.microsoft.com/office/drawing/2014/main" id="{56318F8D-FF7D-24C1-8B88-0CFF99C15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152401"/>
            <a:ext cx="422827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sz="2800" dirty="0">
                <a:solidFill>
                  <a:schemeClr val="accent2"/>
                </a:solidFill>
                <a:latin typeface="Gill Sans MT" panose="020B0502020104020203" pitchFamily="34" charset="77"/>
              </a:rPr>
              <a:t>Distribución de Frecuencias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04489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0A8E-FE9D-5201-CC77-C42ED0E8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A2C1C0-E688-6A0B-3139-0841C75D8129}"/>
              </a:ext>
            </a:extLst>
          </p:cNvPr>
          <p:cNvCxnSpPr/>
          <p:nvPr/>
        </p:nvCxnSpPr>
        <p:spPr>
          <a:xfrm>
            <a:off x="2366871" y="4408648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196A9E-C80A-E1D9-F885-CC72EFA417EC}"/>
              </a:ext>
            </a:extLst>
          </p:cNvPr>
          <p:cNvCxnSpPr/>
          <p:nvPr/>
        </p:nvCxnSpPr>
        <p:spPr>
          <a:xfrm>
            <a:off x="2357181" y="2778850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0236D74-BCAC-8E4A-952C-C08638F89C75}"/>
              </a:ext>
            </a:extLst>
          </p:cNvPr>
          <p:cNvSpPr txBox="1"/>
          <p:nvPr/>
        </p:nvSpPr>
        <p:spPr>
          <a:xfrm>
            <a:off x="5522054" y="418683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DEE81B-2151-FBC1-246A-D2C87074168D}"/>
              </a:ext>
            </a:extLst>
          </p:cNvPr>
          <p:cNvSpPr txBox="1"/>
          <p:nvPr/>
        </p:nvSpPr>
        <p:spPr>
          <a:xfrm>
            <a:off x="5517674" y="256739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D2B97B-463F-8D6A-92B5-E28A230C4923}"/>
              </a:ext>
            </a:extLst>
          </p:cNvPr>
          <p:cNvSpPr txBox="1"/>
          <p:nvPr/>
        </p:nvSpPr>
        <p:spPr>
          <a:xfrm>
            <a:off x="2360663" y="1432331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Arial"/>
              </a:rPr>
              <a:t>para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E371CD9-5873-F40F-86BD-6980AA975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640" y="1546335"/>
            <a:ext cx="190997" cy="122026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8906124-109C-7A56-70BF-85029D6C588B}"/>
              </a:ext>
            </a:extLst>
          </p:cNvPr>
          <p:cNvSpPr txBox="1"/>
          <p:nvPr/>
        </p:nvSpPr>
        <p:spPr>
          <a:xfrm>
            <a:off x="2367323" y="3069891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Arial"/>
              </a:rPr>
              <a:t>para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4CD2A3E-0AD3-A3F0-4DA7-0B2B02683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2216" y="3183895"/>
            <a:ext cx="203662" cy="128016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E0FAB577-E4A5-896E-7EDC-53C0A226C49A}"/>
              </a:ext>
            </a:extLst>
          </p:cNvPr>
          <p:cNvGrpSpPr/>
          <p:nvPr/>
        </p:nvGrpSpPr>
        <p:grpSpPr>
          <a:xfrm>
            <a:off x="2375580" y="2508154"/>
            <a:ext cx="1822768" cy="529200"/>
            <a:chOff x="749643" y="3003202"/>
            <a:chExt cx="1822768" cy="5292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4E4E8C4E-C4A4-B23B-483F-B3ACBA9306DE}"/>
                </a:ext>
              </a:extLst>
            </p:cNvPr>
            <p:cNvGrpSpPr/>
            <p:nvPr/>
          </p:nvGrpSpPr>
          <p:grpSpPr>
            <a:xfrm>
              <a:off x="749643" y="3003202"/>
              <a:ext cx="1748285" cy="529200"/>
              <a:chOff x="540469" y="5154706"/>
              <a:chExt cx="1748285" cy="529200"/>
            </a:xfrm>
          </p:grpSpPr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C735BA5-FA45-7F16-16A5-5FB9544AA505}"/>
                  </a:ext>
                </a:extLst>
              </p:cNvPr>
              <p:cNvSpPr txBox="1"/>
              <p:nvPr/>
            </p:nvSpPr>
            <p:spPr>
              <a:xfrm>
                <a:off x="540469" y="5154706"/>
                <a:ext cx="6138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…..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591EB3D-8BD9-FCDD-0637-B1E27386C373}"/>
                  </a:ext>
                </a:extLst>
              </p:cNvPr>
              <p:cNvSpPr txBox="1"/>
              <p:nvPr/>
            </p:nvSpPr>
            <p:spPr>
              <a:xfrm>
                <a:off x="603223" y="5157696"/>
                <a:ext cx="6138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…..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0FBF47E3-036D-8251-FB89-3EF873F4C4B2}"/>
                  </a:ext>
                </a:extLst>
              </p:cNvPr>
              <p:cNvSpPr txBox="1"/>
              <p:nvPr/>
            </p:nvSpPr>
            <p:spPr>
              <a:xfrm>
                <a:off x="1173971" y="5160686"/>
                <a:ext cx="1114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……. . . </a:t>
                </a:r>
              </a:p>
            </p:txBody>
          </p:sp>
        </p:grp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B2763D2-72FD-EC45-4422-22A73EE9DE17}"/>
                </a:ext>
              </a:extLst>
            </p:cNvPr>
            <p:cNvSpPr txBox="1"/>
            <p:nvPr/>
          </p:nvSpPr>
          <p:spPr>
            <a:xfrm>
              <a:off x="1084325" y="3006007"/>
              <a:ext cx="613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…..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3DD4388-8DFF-E6C1-1687-80F38C1BE2B1}"/>
                </a:ext>
              </a:extLst>
            </p:cNvPr>
            <p:cNvSpPr txBox="1"/>
            <p:nvPr/>
          </p:nvSpPr>
          <p:spPr>
            <a:xfrm>
              <a:off x="1327305" y="3008997"/>
              <a:ext cx="613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…..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16FF23B-ECDD-14E9-041D-E737083B585E}"/>
                </a:ext>
              </a:extLst>
            </p:cNvPr>
            <p:cNvSpPr txBox="1"/>
            <p:nvPr/>
          </p:nvSpPr>
          <p:spPr>
            <a:xfrm>
              <a:off x="1457628" y="3009182"/>
              <a:ext cx="111478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……. . . 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ECFECEC-384E-5E33-E5E3-B4DC512850D0}"/>
              </a:ext>
            </a:extLst>
          </p:cNvPr>
          <p:cNvGrpSpPr/>
          <p:nvPr/>
        </p:nvGrpSpPr>
        <p:grpSpPr>
          <a:xfrm rot="10800000">
            <a:off x="3462294" y="4383425"/>
            <a:ext cx="2100200" cy="529200"/>
            <a:chOff x="806951" y="3095536"/>
            <a:chExt cx="2100200" cy="529200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1438A7C8-720F-E8BE-5A6F-0DBD77B2A962}"/>
                </a:ext>
              </a:extLst>
            </p:cNvPr>
            <p:cNvGrpSpPr/>
            <p:nvPr/>
          </p:nvGrpSpPr>
          <p:grpSpPr>
            <a:xfrm>
              <a:off x="806951" y="3095536"/>
              <a:ext cx="1983074" cy="529200"/>
              <a:chOff x="597777" y="5247040"/>
              <a:chExt cx="1983074" cy="529200"/>
            </a:xfrm>
          </p:grpSpPr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EE33020-465B-EA31-9DEA-F73A597D024F}"/>
                  </a:ext>
                </a:extLst>
              </p:cNvPr>
              <p:cNvSpPr txBox="1"/>
              <p:nvPr/>
            </p:nvSpPr>
            <p:spPr>
              <a:xfrm>
                <a:off x="597777" y="5247040"/>
                <a:ext cx="6832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…..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E55F64BC-5E27-13A9-0930-6336D8BABA69}"/>
                  </a:ext>
                </a:extLst>
              </p:cNvPr>
              <p:cNvSpPr txBox="1"/>
              <p:nvPr/>
            </p:nvSpPr>
            <p:spPr>
              <a:xfrm>
                <a:off x="660531" y="5250030"/>
                <a:ext cx="6832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…..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8AF0E67-6CF2-C38B-5E5F-E6A26EBDD20F}"/>
                  </a:ext>
                </a:extLst>
              </p:cNvPr>
              <p:cNvSpPr txBox="1"/>
              <p:nvPr/>
            </p:nvSpPr>
            <p:spPr>
              <a:xfrm>
                <a:off x="1280495" y="5253020"/>
                <a:ext cx="13003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……. . . </a:t>
                </a: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4FBE529-FBDC-2021-8DA0-87E7DC3419ED}"/>
                </a:ext>
              </a:extLst>
            </p:cNvPr>
            <p:cNvSpPr txBox="1"/>
            <p:nvPr/>
          </p:nvSpPr>
          <p:spPr>
            <a:xfrm>
              <a:off x="1484533" y="3098341"/>
              <a:ext cx="6832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…..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17F08AC-BE42-9C13-1306-70A4D56BFD2F}"/>
                </a:ext>
              </a:extLst>
            </p:cNvPr>
            <p:cNvSpPr txBox="1"/>
            <p:nvPr/>
          </p:nvSpPr>
          <p:spPr>
            <a:xfrm>
              <a:off x="1237937" y="3101331"/>
              <a:ext cx="9765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……..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B675F70-85DE-B028-33A7-FB124ADB1047}"/>
                </a:ext>
              </a:extLst>
            </p:cNvPr>
            <p:cNvSpPr txBox="1"/>
            <p:nvPr/>
          </p:nvSpPr>
          <p:spPr>
            <a:xfrm>
              <a:off x="1079407" y="3101516"/>
              <a:ext cx="18277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….…….... . </a:t>
              </a: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EAAD0373-AFD9-9C88-D49B-A82CC4944A4B}"/>
              </a:ext>
            </a:extLst>
          </p:cNvPr>
          <p:cNvSpPr txBox="1"/>
          <p:nvPr/>
        </p:nvSpPr>
        <p:spPr>
          <a:xfrm>
            <a:off x="4358126" y="2767617"/>
            <a:ext cx="11047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Gill Sans MT" panose="020B0502020104020203" pitchFamily="34" charset="77"/>
                <a:cs typeface="Arial"/>
              </a:rPr>
              <a:t>Muestras</a:t>
            </a:r>
            <a:r>
              <a:rPr lang="en-US" sz="10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0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000" dirty="0">
              <a:latin typeface="Gill Sans MT" panose="020B0502020104020203" pitchFamily="34" charset="77"/>
              <a:cs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D1D243-F796-5155-71CD-A50032AF7EAF}"/>
              </a:ext>
            </a:extLst>
          </p:cNvPr>
          <p:cNvSpPr txBox="1"/>
          <p:nvPr/>
        </p:nvSpPr>
        <p:spPr>
          <a:xfrm>
            <a:off x="2183192" y="4389617"/>
            <a:ext cx="11047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Gill Sans MT" panose="020B0502020104020203" pitchFamily="34" charset="77"/>
                <a:cs typeface="Arial"/>
              </a:rPr>
              <a:t>Muestras</a:t>
            </a:r>
            <a:r>
              <a:rPr lang="en-US" sz="10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0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000" dirty="0">
              <a:latin typeface="Gill Sans MT" panose="020B0502020104020203" pitchFamily="34" charset="77"/>
              <a:cs typeface="Arial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D4805F4-1346-FD13-F54F-34B915EE2F75}"/>
              </a:ext>
            </a:extLst>
          </p:cNvPr>
          <p:cNvCxnSpPr/>
          <p:nvPr/>
        </p:nvCxnSpPr>
        <p:spPr>
          <a:xfrm>
            <a:off x="3258717" y="4527724"/>
            <a:ext cx="182880" cy="0"/>
          </a:xfrm>
          <a:prstGeom prst="straightConnector1">
            <a:avLst/>
          </a:prstGeom>
          <a:ln w="12700" cmpd="sng">
            <a:solidFill>
              <a:srgbClr val="7F7F7F"/>
            </a:solidFill>
            <a:tailEnd type="arrow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637FBE7-C175-8E1C-E53A-A29DF345D197}"/>
              </a:ext>
            </a:extLst>
          </p:cNvPr>
          <p:cNvCxnSpPr/>
          <p:nvPr/>
        </p:nvCxnSpPr>
        <p:spPr>
          <a:xfrm flipH="1">
            <a:off x="4235343" y="2898959"/>
            <a:ext cx="182880" cy="0"/>
          </a:xfrm>
          <a:prstGeom prst="straightConnector1">
            <a:avLst/>
          </a:prstGeom>
          <a:ln w="12700" cmpd="sng">
            <a:solidFill>
              <a:srgbClr val="7F7F7F"/>
            </a:solidFill>
            <a:tailEnd type="arrow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D19DBF1D-95B5-7011-A3A5-EE23953279B7}"/>
              </a:ext>
            </a:extLst>
          </p:cNvPr>
          <p:cNvSpPr txBox="1"/>
          <p:nvPr/>
        </p:nvSpPr>
        <p:spPr>
          <a:xfrm rot="10800000">
            <a:off x="4565336" y="4386233"/>
            <a:ext cx="683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…..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4DA8727-B9C8-A236-F70E-6712AC5CB310}"/>
              </a:ext>
            </a:extLst>
          </p:cNvPr>
          <p:cNvGrpSpPr/>
          <p:nvPr/>
        </p:nvGrpSpPr>
        <p:grpSpPr>
          <a:xfrm flipH="1">
            <a:off x="3615417" y="3607887"/>
            <a:ext cx="1634990" cy="787517"/>
            <a:chOff x="645395" y="1614815"/>
            <a:chExt cx="1634990" cy="787517"/>
          </a:xfr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29343E-5197-45A1-6EC6-C3741FF474F3}"/>
                </a:ext>
              </a:extLst>
            </p:cNvPr>
            <p:cNvSpPr/>
            <p:nvPr/>
          </p:nvSpPr>
          <p:spPr>
            <a:xfrm>
              <a:off x="645395" y="2353439"/>
              <a:ext cx="114167" cy="457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348E290-D19D-6279-6B1F-13BBEFF974CB}"/>
                </a:ext>
              </a:extLst>
            </p:cNvPr>
            <p:cNvSpPr/>
            <p:nvPr/>
          </p:nvSpPr>
          <p:spPr>
            <a:xfrm>
              <a:off x="794621" y="2256479"/>
              <a:ext cx="114167" cy="14585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E313C4E-A992-2405-0176-7B6602B4871C}"/>
                </a:ext>
              </a:extLst>
            </p:cNvPr>
            <p:cNvSpPr/>
            <p:nvPr/>
          </p:nvSpPr>
          <p:spPr>
            <a:xfrm>
              <a:off x="947020" y="2083596"/>
              <a:ext cx="114167" cy="317866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F67077-86D8-6A73-E376-3E63226AD92C}"/>
                </a:ext>
              </a:extLst>
            </p:cNvPr>
            <p:cNvSpPr/>
            <p:nvPr/>
          </p:nvSpPr>
          <p:spPr>
            <a:xfrm>
              <a:off x="1099421" y="1794347"/>
              <a:ext cx="114167" cy="60711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2D344F-074A-9B41-9D30-796F77188416}"/>
                </a:ext>
              </a:extLst>
            </p:cNvPr>
            <p:cNvSpPr/>
            <p:nvPr/>
          </p:nvSpPr>
          <p:spPr>
            <a:xfrm>
              <a:off x="1251819" y="1614815"/>
              <a:ext cx="114167" cy="783471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5E6CF6E-136D-AB00-E276-ED6ECB67A2B8}"/>
                </a:ext>
              </a:extLst>
            </p:cNvPr>
            <p:cNvSpPr/>
            <p:nvPr/>
          </p:nvSpPr>
          <p:spPr>
            <a:xfrm>
              <a:off x="1404219" y="1614815"/>
              <a:ext cx="114167" cy="786645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83BC700-7DC7-682F-0D60-F2EA381D14C1}"/>
                </a:ext>
              </a:extLst>
            </p:cNvPr>
            <p:cNvSpPr/>
            <p:nvPr/>
          </p:nvSpPr>
          <p:spPr>
            <a:xfrm>
              <a:off x="1556619" y="1794348"/>
              <a:ext cx="114167" cy="60711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AA99C15-02DD-5969-2FBA-EE739B7A6655}"/>
                </a:ext>
              </a:extLst>
            </p:cNvPr>
            <p:cNvSpPr/>
            <p:nvPr/>
          </p:nvSpPr>
          <p:spPr>
            <a:xfrm>
              <a:off x="1709019" y="1927224"/>
              <a:ext cx="114167" cy="474237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93ED780-D265-D39E-1503-44BCFC980504}"/>
                </a:ext>
              </a:extLst>
            </p:cNvPr>
            <p:cNvSpPr/>
            <p:nvPr/>
          </p:nvSpPr>
          <p:spPr>
            <a:xfrm>
              <a:off x="1861419" y="2143441"/>
              <a:ext cx="114167" cy="2580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06438B8-60A1-F339-9920-B8B148E20FC4}"/>
                </a:ext>
              </a:extLst>
            </p:cNvPr>
            <p:cNvSpPr/>
            <p:nvPr/>
          </p:nvSpPr>
          <p:spPr>
            <a:xfrm>
              <a:off x="2013819" y="2289727"/>
              <a:ext cx="114167" cy="11173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C2657A-D232-A493-415F-54BF830204CD}"/>
                </a:ext>
              </a:extLst>
            </p:cNvPr>
            <p:cNvSpPr/>
            <p:nvPr/>
          </p:nvSpPr>
          <p:spPr>
            <a:xfrm>
              <a:off x="2166218" y="2355740"/>
              <a:ext cx="114167" cy="457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3850C51-4460-CA4E-CB0E-228EA1BD9104}"/>
              </a:ext>
            </a:extLst>
          </p:cNvPr>
          <p:cNvGrpSpPr/>
          <p:nvPr/>
        </p:nvGrpSpPr>
        <p:grpSpPr>
          <a:xfrm>
            <a:off x="2545909" y="1907809"/>
            <a:ext cx="1634992" cy="859283"/>
            <a:chOff x="645393" y="1543050"/>
            <a:chExt cx="1634992" cy="859283"/>
          </a:xfrm>
          <a:gradFill flip="none" rotWithShape="1">
            <a:gsLst>
              <a:gs pos="39000">
                <a:schemeClr val="tx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16200000" scaled="0"/>
            <a:tileRect/>
          </a:gra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091583-7459-B07E-3B81-D917A8BC3323}"/>
                </a:ext>
              </a:extLst>
            </p:cNvPr>
            <p:cNvSpPr/>
            <p:nvPr/>
          </p:nvSpPr>
          <p:spPr>
            <a:xfrm>
              <a:off x="645393" y="2222499"/>
              <a:ext cx="114167" cy="17665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79575FC-C58F-AA0E-EBDC-0D514FFE5EA8}"/>
                </a:ext>
              </a:extLst>
            </p:cNvPr>
            <p:cNvSpPr/>
            <p:nvPr/>
          </p:nvSpPr>
          <p:spPr>
            <a:xfrm>
              <a:off x="794618" y="1927224"/>
              <a:ext cx="114167" cy="47510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CC28AF-D556-7309-8A56-214EFF09C3C7}"/>
                </a:ext>
              </a:extLst>
            </p:cNvPr>
            <p:cNvSpPr/>
            <p:nvPr/>
          </p:nvSpPr>
          <p:spPr>
            <a:xfrm>
              <a:off x="947018" y="1689100"/>
              <a:ext cx="114167" cy="712362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39403F1-853E-7A79-8CAC-183BA46B67A6}"/>
                </a:ext>
              </a:extLst>
            </p:cNvPr>
            <p:cNvSpPr/>
            <p:nvPr/>
          </p:nvSpPr>
          <p:spPr>
            <a:xfrm>
              <a:off x="1099418" y="1543050"/>
              <a:ext cx="114167" cy="858412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681FDB4-90B3-4F4B-AEE2-753C70622B56}"/>
                </a:ext>
              </a:extLst>
            </p:cNvPr>
            <p:cNvSpPr/>
            <p:nvPr/>
          </p:nvSpPr>
          <p:spPr>
            <a:xfrm>
              <a:off x="1251818" y="1568449"/>
              <a:ext cx="114167" cy="829837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E938BCC-1D47-94B9-A91A-7F11778A1012}"/>
                </a:ext>
              </a:extLst>
            </p:cNvPr>
            <p:cNvSpPr/>
            <p:nvPr/>
          </p:nvSpPr>
          <p:spPr>
            <a:xfrm>
              <a:off x="1404218" y="1689099"/>
              <a:ext cx="114167" cy="712361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67271F1-25A0-63C1-CBC7-7134E4A8CA58}"/>
                </a:ext>
              </a:extLst>
            </p:cNvPr>
            <p:cNvSpPr/>
            <p:nvPr/>
          </p:nvSpPr>
          <p:spPr>
            <a:xfrm>
              <a:off x="1556618" y="1895475"/>
              <a:ext cx="114167" cy="505986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53CBB97-D9D1-1E88-168E-E05E0E8EEA07}"/>
                </a:ext>
              </a:extLst>
            </p:cNvPr>
            <p:cNvSpPr/>
            <p:nvPr/>
          </p:nvSpPr>
          <p:spPr>
            <a:xfrm>
              <a:off x="1709018" y="2149475"/>
              <a:ext cx="114167" cy="251986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3A95760-7CD9-C7AE-CF53-61F5A770EAC5}"/>
                </a:ext>
              </a:extLst>
            </p:cNvPr>
            <p:cNvSpPr/>
            <p:nvPr/>
          </p:nvSpPr>
          <p:spPr>
            <a:xfrm>
              <a:off x="1861418" y="2273299"/>
              <a:ext cx="114167" cy="128161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B5C0800-5504-5B2C-6270-8E88A349DEE0}"/>
                </a:ext>
              </a:extLst>
            </p:cNvPr>
            <p:cNvSpPr/>
            <p:nvPr/>
          </p:nvSpPr>
          <p:spPr>
            <a:xfrm>
              <a:off x="2013818" y="2330450"/>
              <a:ext cx="114167" cy="71010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9EEBD41-E53F-E111-4AD5-235933281B8A}"/>
                </a:ext>
              </a:extLst>
            </p:cNvPr>
            <p:cNvSpPr/>
            <p:nvPr/>
          </p:nvSpPr>
          <p:spPr>
            <a:xfrm>
              <a:off x="2166218" y="2355740"/>
              <a:ext cx="114167" cy="4571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1D9D9732-F2DE-45EB-9D32-ADAC622D0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8070" y="3618324"/>
            <a:ext cx="1329186" cy="44498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E8BF2EB-F1DE-42E1-74C4-1A57B63FDD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4701" y="2098532"/>
            <a:ext cx="1347739" cy="447310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998024C-796F-6DFF-7711-0804B8DCF12D}"/>
              </a:ext>
            </a:extLst>
          </p:cNvPr>
          <p:cNvCxnSpPr/>
          <p:nvPr/>
        </p:nvCxnSpPr>
        <p:spPr>
          <a:xfrm flipH="1" flipV="1">
            <a:off x="2357181" y="1409971"/>
            <a:ext cx="0" cy="137160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F428A05-DD81-39B7-B3CC-E7D1DDD06686}"/>
              </a:ext>
            </a:extLst>
          </p:cNvPr>
          <p:cNvCxnSpPr/>
          <p:nvPr/>
        </p:nvCxnSpPr>
        <p:spPr>
          <a:xfrm flipH="1" flipV="1">
            <a:off x="2366871" y="3039769"/>
            <a:ext cx="0" cy="137160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1FA43D-F1B6-3E96-0024-4BFE7B0F33B0}"/>
              </a:ext>
            </a:extLst>
          </p:cNvPr>
          <p:cNvCxnSpPr/>
          <p:nvPr/>
        </p:nvCxnSpPr>
        <p:spPr>
          <a:xfrm flipH="1" flipV="1">
            <a:off x="6862170" y="2275817"/>
            <a:ext cx="0" cy="137160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reeform 32">
            <a:extLst>
              <a:ext uri="{FF2B5EF4-FFF2-40B4-BE49-F238E27FC236}">
                <a16:creationId xmlns:a16="http://schemas.microsoft.com/office/drawing/2014/main" id="{DBB7EB85-C05F-1D0B-1085-6AD99079A3DC}"/>
              </a:ext>
            </a:extLst>
          </p:cNvPr>
          <p:cNvSpPr/>
          <p:nvPr/>
        </p:nvSpPr>
        <p:spPr>
          <a:xfrm>
            <a:off x="6882640" y="2816798"/>
            <a:ext cx="2963364" cy="825156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63364" h="825156">
                <a:moveTo>
                  <a:pt x="0" y="820696"/>
                </a:moveTo>
                <a:cubicBezTo>
                  <a:pt x="134305" y="826885"/>
                  <a:pt x="607155" y="825029"/>
                  <a:pt x="798400" y="824410"/>
                </a:cubicBezTo>
                <a:cubicBezTo>
                  <a:pt x="989645" y="823791"/>
                  <a:pt x="1065771" y="828743"/>
                  <a:pt x="1147468" y="816983"/>
                </a:cubicBezTo>
                <a:cubicBezTo>
                  <a:pt x="1229165" y="805223"/>
                  <a:pt x="1238449" y="773039"/>
                  <a:pt x="1288581" y="753852"/>
                </a:cubicBezTo>
                <a:cubicBezTo>
                  <a:pt x="1338713" y="734665"/>
                  <a:pt x="1396891" y="735904"/>
                  <a:pt x="1448261" y="701863"/>
                </a:cubicBezTo>
                <a:cubicBezTo>
                  <a:pt x="1499631" y="667822"/>
                  <a:pt x="1546668" y="611500"/>
                  <a:pt x="1596800" y="549607"/>
                </a:cubicBezTo>
                <a:cubicBezTo>
                  <a:pt x="1646932" y="487714"/>
                  <a:pt x="1699540" y="389305"/>
                  <a:pt x="1749053" y="330507"/>
                </a:cubicBezTo>
                <a:cubicBezTo>
                  <a:pt x="1798566" y="271709"/>
                  <a:pt x="1843128" y="248191"/>
                  <a:pt x="1893879" y="196820"/>
                </a:cubicBezTo>
                <a:cubicBezTo>
                  <a:pt x="1944630" y="145449"/>
                  <a:pt x="2000951" y="51372"/>
                  <a:pt x="2053559" y="22283"/>
                </a:cubicBezTo>
                <a:cubicBezTo>
                  <a:pt x="2106167" y="-6806"/>
                  <a:pt x="2160013" y="-8044"/>
                  <a:pt x="2209526" y="22283"/>
                </a:cubicBezTo>
                <a:cubicBezTo>
                  <a:pt x="2259039" y="52610"/>
                  <a:pt x="2300506" y="126263"/>
                  <a:pt x="2350638" y="204247"/>
                </a:cubicBezTo>
                <a:cubicBezTo>
                  <a:pt x="2400770" y="282231"/>
                  <a:pt x="2460186" y="414062"/>
                  <a:pt x="2510318" y="490190"/>
                </a:cubicBezTo>
                <a:cubicBezTo>
                  <a:pt x="2560450" y="566318"/>
                  <a:pt x="2601918" y="615831"/>
                  <a:pt x="2651431" y="661013"/>
                </a:cubicBezTo>
                <a:cubicBezTo>
                  <a:pt x="2700944" y="706194"/>
                  <a:pt x="2755408" y="735284"/>
                  <a:pt x="2807397" y="761279"/>
                </a:cubicBezTo>
                <a:cubicBezTo>
                  <a:pt x="2859386" y="787274"/>
                  <a:pt x="2963364" y="816983"/>
                  <a:pt x="2963364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28877589-ADD2-15F7-9AF4-C8BFC0DCCA4C}"/>
              </a:ext>
            </a:extLst>
          </p:cNvPr>
          <p:cNvSpPr/>
          <p:nvPr/>
        </p:nvSpPr>
        <p:spPr>
          <a:xfrm>
            <a:off x="6889926" y="2773953"/>
            <a:ext cx="2956079" cy="880577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6079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  <a:cubicBezTo>
                  <a:pt x="2161405" y="869733"/>
                  <a:pt x="2956079" y="862434"/>
                  <a:pt x="2956079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D8A59D9-8742-E4B4-3A9C-24797E784567}"/>
              </a:ext>
            </a:extLst>
          </p:cNvPr>
          <p:cNvCxnSpPr/>
          <p:nvPr/>
        </p:nvCxnSpPr>
        <p:spPr>
          <a:xfrm>
            <a:off x="6862170" y="3644696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EF5BD3B-415B-0556-2D27-A1951B82E827}"/>
              </a:ext>
            </a:extLst>
          </p:cNvPr>
          <p:cNvSpPr txBox="1"/>
          <p:nvPr/>
        </p:nvSpPr>
        <p:spPr>
          <a:xfrm>
            <a:off x="10028558" y="342539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39" name="Text Box 2">
            <a:extLst>
              <a:ext uri="{FF2B5EF4-FFF2-40B4-BE49-F238E27FC236}">
                <a16:creationId xmlns:a16="http://schemas.microsoft.com/office/drawing/2014/main" id="{5005CF82-70DD-FB4D-866D-1C733CF5FF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152401"/>
            <a:ext cx="422827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sz="2800" dirty="0">
                <a:solidFill>
                  <a:schemeClr val="accent2"/>
                </a:solidFill>
                <a:latin typeface="Gill Sans MT" panose="020B0502020104020203" pitchFamily="34" charset="77"/>
              </a:rPr>
              <a:t>Distribución de Frecuencias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798352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8144B-6532-0874-04B0-78E59FD6B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B55FF59-39F3-0ABF-F7B2-BC842E852A5C}"/>
              </a:ext>
            </a:extLst>
          </p:cNvPr>
          <p:cNvCxnSpPr/>
          <p:nvPr/>
        </p:nvCxnSpPr>
        <p:spPr>
          <a:xfrm>
            <a:off x="2366871" y="4408648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172AE7A-9092-DC27-1C9C-B2D8F058D87E}"/>
              </a:ext>
            </a:extLst>
          </p:cNvPr>
          <p:cNvCxnSpPr/>
          <p:nvPr/>
        </p:nvCxnSpPr>
        <p:spPr>
          <a:xfrm>
            <a:off x="2357181" y="2778850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2284F37-3DF0-A93E-C7DF-36AE7721F9B1}"/>
              </a:ext>
            </a:extLst>
          </p:cNvPr>
          <p:cNvSpPr txBox="1"/>
          <p:nvPr/>
        </p:nvSpPr>
        <p:spPr>
          <a:xfrm>
            <a:off x="5522054" y="418683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CD999A-7F84-9A38-D3AC-0124ECEE9E5D}"/>
              </a:ext>
            </a:extLst>
          </p:cNvPr>
          <p:cNvSpPr txBox="1"/>
          <p:nvPr/>
        </p:nvSpPr>
        <p:spPr>
          <a:xfrm>
            <a:off x="5517674" y="256739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FC935D-4F26-2EE8-DA10-CC6E0CAA46C5}"/>
              </a:ext>
            </a:extLst>
          </p:cNvPr>
          <p:cNvSpPr txBox="1"/>
          <p:nvPr/>
        </p:nvSpPr>
        <p:spPr>
          <a:xfrm>
            <a:off x="2360663" y="1432331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Arial"/>
              </a:rPr>
              <a:t>para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8C812043-7918-0EAF-3C06-58EF7B21A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640" y="1546335"/>
            <a:ext cx="190997" cy="122026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CA61DF28-0976-CBF1-C08C-0BFB38C44F9C}"/>
              </a:ext>
            </a:extLst>
          </p:cNvPr>
          <p:cNvSpPr txBox="1"/>
          <p:nvPr/>
        </p:nvSpPr>
        <p:spPr>
          <a:xfrm>
            <a:off x="2367323" y="3069891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Arial"/>
              </a:rPr>
              <a:t>para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4C36F300-1716-B823-09E2-328756711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2216" y="3183895"/>
            <a:ext cx="203662" cy="128016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DABEB0AC-44C9-CB52-7E2B-6C7CBAEC06B3}"/>
              </a:ext>
            </a:extLst>
          </p:cNvPr>
          <p:cNvGrpSpPr/>
          <p:nvPr/>
        </p:nvGrpSpPr>
        <p:grpSpPr>
          <a:xfrm>
            <a:off x="2375580" y="2508154"/>
            <a:ext cx="1822768" cy="529200"/>
            <a:chOff x="749643" y="3003202"/>
            <a:chExt cx="1822768" cy="5292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3BCC1E27-B1A1-0416-5F9C-71065B235647}"/>
                </a:ext>
              </a:extLst>
            </p:cNvPr>
            <p:cNvGrpSpPr/>
            <p:nvPr/>
          </p:nvGrpSpPr>
          <p:grpSpPr>
            <a:xfrm>
              <a:off x="749643" y="3003202"/>
              <a:ext cx="1748285" cy="529200"/>
              <a:chOff x="540469" y="5154706"/>
              <a:chExt cx="1748285" cy="529200"/>
            </a:xfrm>
          </p:grpSpPr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7763663-1E68-BE4B-96C5-CE8008A5E871}"/>
                  </a:ext>
                </a:extLst>
              </p:cNvPr>
              <p:cNvSpPr txBox="1"/>
              <p:nvPr/>
            </p:nvSpPr>
            <p:spPr>
              <a:xfrm>
                <a:off x="540469" y="5154706"/>
                <a:ext cx="6138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…..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07662BD-C613-EAEB-66D3-516A0CECB3F7}"/>
                  </a:ext>
                </a:extLst>
              </p:cNvPr>
              <p:cNvSpPr txBox="1"/>
              <p:nvPr/>
            </p:nvSpPr>
            <p:spPr>
              <a:xfrm>
                <a:off x="603223" y="5157696"/>
                <a:ext cx="6138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…..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127BD8E-21E6-9FD5-30FC-E06102FDC26F}"/>
                  </a:ext>
                </a:extLst>
              </p:cNvPr>
              <p:cNvSpPr txBox="1"/>
              <p:nvPr/>
            </p:nvSpPr>
            <p:spPr>
              <a:xfrm>
                <a:off x="1173971" y="5160686"/>
                <a:ext cx="1114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3366FF"/>
                    </a:solidFill>
                  </a:rPr>
                  <a:t>……. . . </a:t>
                </a:r>
              </a:p>
            </p:txBody>
          </p:sp>
        </p:grp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A9E59EA-212F-0C41-5017-772FABF233A5}"/>
                </a:ext>
              </a:extLst>
            </p:cNvPr>
            <p:cNvSpPr txBox="1"/>
            <p:nvPr/>
          </p:nvSpPr>
          <p:spPr>
            <a:xfrm>
              <a:off x="1084325" y="3006007"/>
              <a:ext cx="613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…..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B6B7E51-E0EB-F16D-BC4A-EDCBB116FC86}"/>
                </a:ext>
              </a:extLst>
            </p:cNvPr>
            <p:cNvSpPr txBox="1"/>
            <p:nvPr/>
          </p:nvSpPr>
          <p:spPr>
            <a:xfrm>
              <a:off x="1327305" y="3008997"/>
              <a:ext cx="613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…..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5721F81-3634-6BEB-FE83-5A86747971C9}"/>
                </a:ext>
              </a:extLst>
            </p:cNvPr>
            <p:cNvSpPr txBox="1"/>
            <p:nvPr/>
          </p:nvSpPr>
          <p:spPr>
            <a:xfrm>
              <a:off x="1457628" y="3009182"/>
              <a:ext cx="111478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3366FF"/>
                  </a:solidFill>
                </a:rPr>
                <a:t>……. . . 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3D1B5D5-11C6-5C36-51F4-0F020756F753}"/>
              </a:ext>
            </a:extLst>
          </p:cNvPr>
          <p:cNvGrpSpPr/>
          <p:nvPr/>
        </p:nvGrpSpPr>
        <p:grpSpPr>
          <a:xfrm rot="10800000">
            <a:off x="3462294" y="4383425"/>
            <a:ext cx="2100200" cy="529200"/>
            <a:chOff x="806951" y="3095536"/>
            <a:chExt cx="2100200" cy="529200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79B75E2B-6F97-6D5F-8B66-382C4D0682EF}"/>
                </a:ext>
              </a:extLst>
            </p:cNvPr>
            <p:cNvGrpSpPr/>
            <p:nvPr/>
          </p:nvGrpSpPr>
          <p:grpSpPr>
            <a:xfrm>
              <a:off x="806951" y="3095536"/>
              <a:ext cx="1983074" cy="529200"/>
              <a:chOff x="597777" y="5247040"/>
              <a:chExt cx="1983074" cy="529200"/>
            </a:xfrm>
          </p:grpSpPr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BD42283A-3E5C-EECA-9194-9E3580CCAEFE}"/>
                  </a:ext>
                </a:extLst>
              </p:cNvPr>
              <p:cNvSpPr txBox="1"/>
              <p:nvPr/>
            </p:nvSpPr>
            <p:spPr>
              <a:xfrm>
                <a:off x="597777" y="5247040"/>
                <a:ext cx="6832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…..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6FE8DC0-E20F-1346-F515-6C2AF2DA48F6}"/>
                  </a:ext>
                </a:extLst>
              </p:cNvPr>
              <p:cNvSpPr txBox="1"/>
              <p:nvPr/>
            </p:nvSpPr>
            <p:spPr>
              <a:xfrm>
                <a:off x="660531" y="5250030"/>
                <a:ext cx="6832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…..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0BEB3E0-600E-F9A0-B521-781569EC292A}"/>
                  </a:ext>
                </a:extLst>
              </p:cNvPr>
              <p:cNvSpPr txBox="1"/>
              <p:nvPr/>
            </p:nvSpPr>
            <p:spPr>
              <a:xfrm>
                <a:off x="1280495" y="5253020"/>
                <a:ext cx="13003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2"/>
                    </a:solidFill>
                  </a:rPr>
                  <a:t>……. . . </a:t>
                </a: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9C8D96F-6E82-DB04-EB7F-EC322183D160}"/>
                </a:ext>
              </a:extLst>
            </p:cNvPr>
            <p:cNvSpPr txBox="1"/>
            <p:nvPr/>
          </p:nvSpPr>
          <p:spPr>
            <a:xfrm>
              <a:off x="1484533" y="3098341"/>
              <a:ext cx="6832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…..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AD3DBCC-346E-F555-B7F2-F2F3A97F7709}"/>
                </a:ext>
              </a:extLst>
            </p:cNvPr>
            <p:cNvSpPr txBox="1"/>
            <p:nvPr/>
          </p:nvSpPr>
          <p:spPr>
            <a:xfrm>
              <a:off x="1237937" y="3101331"/>
              <a:ext cx="9765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……..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100B210-9881-8978-B947-50AD134CFDE8}"/>
                </a:ext>
              </a:extLst>
            </p:cNvPr>
            <p:cNvSpPr txBox="1"/>
            <p:nvPr/>
          </p:nvSpPr>
          <p:spPr>
            <a:xfrm>
              <a:off x="1079407" y="3101516"/>
              <a:ext cx="18277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….…….... . </a:t>
              </a: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57A24788-C02C-9A2B-6376-45258BAB00A2}"/>
              </a:ext>
            </a:extLst>
          </p:cNvPr>
          <p:cNvSpPr txBox="1"/>
          <p:nvPr/>
        </p:nvSpPr>
        <p:spPr>
          <a:xfrm>
            <a:off x="4358126" y="2767617"/>
            <a:ext cx="11047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Gill Sans MT" panose="020B0502020104020203" pitchFamily="34" charset="77"/>
                <a:cs typeface="Arial"/>
              </a:rPr>
              <a:t>Muestras</a:t>
            </a:r>
            <a:r>
              <a:rPr lang="en-US" sz="10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0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000" dirty="0">
              <a:latin typeface="Gill Sans MT" panose="020B0502020104020203" pitchFamily="34" charset="77"/>
              <a:cs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D9CE753-4821-CB64-3AE2-5B4667B48253}"/>
              </a:ext>
            </a:extLst>
          </p:cNvPr>
          <p:cNvSpPr txBox="1"/>
          <p:nvPr/>
        </p:nvSpPr>
        <p:spPr>
          <a:xfrm>
            <a:off x="2183192" y="4389617"/>
            <a:ext cx="11047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Gill Sans MT" panose="020B0502020104020203" pitchFamily="34" charset="77"/>
                <a:cs typeface="Arial"/>
              </a:rPr>
              <a:t>Muestras</a:t>
            </a:r>
            <a:r>
              <a:rPr lang="en-US" sz="10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000" dirty="0" err="1">
                <a:latin typeface="Gill Sans MT" panose="020B0502020104020203" pitchFamily="34" charset="77"/>
                <a:cs typeface="Arial"/>
              </a:rPr>
              <a:t>clase</a:t>
            </a:r>
            <a:endParaRPr lang="en-US" sz="1000" dirty="0">
              <a:latin typeface="Gill Sans MT" panose="020B0502020104020203" pitchFamily="34" charset="77"/>
              <a:cs typeface="Arial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6E7BEAF-95C0-D20A-3FCB-C503F590887B}"/>
              </a:ext>
            </a:extLst>
          </p:cNvPr>
          <p:cNvCxnSpPr/>
          <p:nvPr/>
        </p:nvCxnSpPr>
        <p:spPr>
          <a:xfrm>
            <a:off x="3258717" y="4527724"/>
            <a:ext cx="182880" cy="0"/>
          </a:xfrm>
          <a:prstGeom prst="straightConnector1">
            <a:avLst/>
          </a:prstGeom>
          <a:ln w="12700" cmpd="sng">
            <a:solidFill>
              <a:srgbClr val="7F7F7F"/>
            </a:solidFill>
            <a:tailEnd type="arrow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E819B33-39D9-7501-BD9B-ECA1928738E3}"/>
              </a:ext>
            </a:extLst>
          </p:cNvPr>
          <p:cNvCxnSpPr/>
          <p:nvPr/>
        </p:nvCxnSpPr>
        <p:spPr>
          <a:xfrm flipH="1">
            <a:off x="4235343" y="2898959"/>
            <a:ext cx="182880" cy="0"/>
          </a:xfrm>
          <a:prstGeom prst="straightConnector1">
            <a:avLst/>
          </a:prstGeom>
          <a:ln w="12700" cmpd="sng">
            <a:solidFill>
              <a:srgbClr val="7F7F7F"/>
            </a:solidFill>
            <a:tailEnd type="arrow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3A647DD-152B-E3F1-1797-50B97FA04A5B}"/>
              </a:ext>
            </a:extLst>
          </p:cNvPr>
          <p:cNvSpPr txBox="1"/>
          <p:nvPr/>
        </p:nvSpPr>
        <p:spPr>
          <a:xfrm rot="10800000">
            <a:off x="4565336" y="4386233"/>
            <a:ext cx="683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…..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3E0B840-DC62-5C74-B875-6814275E6224}"/>
              </a:ext>
            </a:extLst>
          </p:cNvPr>
          <p:cNvGrpSpPr/>
          <p:nvPr/>
        </p:nvGrpSpPr>
        <p:grpSpPr>
          <a:xfrm flipH="1">
            <a:off x="3615417" y="3607887"/>
            <a:ext cx="1634990" cy="787517"/>
            <a:chOff x="645395" y="1614815"/>
            <a:chExt cx="1634990" cy="787517"/>
          </a:xfr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6F4A586-397D-C4E8-013E-09B16F33ABD5}"/>
                </a:ext>
              </a:extLst>
            </p:cNvPr>
            <p:cNvSpPr/>
            <p:nvPr/>
          </p:nvSpPr>
          <p:spPr>
            <a:xfrm>
              <a:off x="645395" y="2353439"/>
              <a:ext cx="114167" cy="457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5A79E1A-FC3F-94E3-8F0D-77773739263B}"/>
                </a:ext>
              </a:extLst>
            </p:cNvPr>
            <p:cNvSpPr/>
            <p:nvPr/>
          </p:nvSpPr>
          <p:spPr>
            <a:xfrm>
              <a:off x="794621" y="2256479"/>
              <a:ext cx="114167" cy="14585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8A27778-49C9-FFC3-4882-F9E113C50EC2}"/>
                </a:ext>
              </a:extLst>
            </p:cNvPr>
            <p:cNvSpPr/>
            <p:nvPr/>
          </p:nvSpPr>
          <p:spPr>
            <a:xfrm>
              <a:off x="947020" y="2083596"/>
              <a:ext cx="114167" cy="317866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6FCDB00-9322-21A1-A1C0-0845C3A31FF7}"/>
                </a:ext>
              </a:extLst>
            </p:cNvPr>
            <p:cNvSpPr/>
            <p:nvPr/>
          </p:nvSpPr>
          <p:spPr>
            <a:xfrm>
              <a:off x="1099421" y="1794347"/>
              <a:ext cx="114167" cy="60711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6E55CA-FB95-1805-AFF2-B943D0336207}"/>
                </a:ext>
              </a:extLst>
            </p:cNvPr>
            <p:cNvSpPr/>
            <p:nvPr/>
          </p:nvSpPr>
          <p:spPr>
            <a:xfrm>
              <a:off x="1251819" y="1614815"/>
              <a:ext cx="114167" cy="783471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9A73C59-1602-70D7-3CE2-D6882B1899C8}"/>
                </a:ext>
              </a:extLst>
            </p:cNvPr>
            <p:cNvSpPr/>
            <p:nvPr/>
          </p:nvSpPr>
          <p:spPr>
            <a:xfrm>
              <a:off x="1404219" y="1614815"/>
              <a:ext cx="114167" cy="786645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6CFDFFB-5590-928E-523C-881D09C5A8B3}"/>
                </a:ext>
              </a:extLst>
            </p:cNvPr>
            <p:cNvSpPr/>
            <p:nvPr/>
          </p:nvSpPr>
          <p:spPr>
            <a:xfrm>
              <a:off x="1556619" y="1794348"/>
              <a:ext cx="114167" cy="60711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152DC3D-3122-DE9D-8C20-F3C472A70F74}"/>
                </a:ext>
              </a:extLst>
            </p:cNvPr>
            <p:cNvSpPr/>
            <p:nvPr/>
          </p:nvSpPr>
          <p:spPr>
            <a:xfrm>
              <a:off x="1709019" y="1927224"/>
              <a:ext cx="114167" cy="474237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376D2A-B4F1-C728-221C-22BC90D8FB95}"/>
                </a:ext>
              </a:extLst>
            </p:cNvPr>
            <p:cNvSpPr/>
            <p:nvPr/>
          </p:nvSpPr>
          <p:spPr>
            <a:xfrm>
              <a:off x="1861419" y="2143441"/>
              <a:ext cx="114167" cy="2580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8107532-4272-AAC9-5E2F-B95C57D00B00}"/>
                </a:ext>
              </a:extLst>
            </p:cNvPr>
            <p:cNvSpPr/>
            <p:nvPr/>
          </p:nvSpPr>
          <p:spPr>
            <a:xfrm>
              <a:off x="2013819" y="2289727"/>
              <a:ext cx="114167" cy="111733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9209F50-3DF8-9C7C-B14A-FEEE53A955F4}"/>
                </a:ext>
              </a:extLst>
            </p:cNvPr>
            <p:cNvSpPr/>
            <p:nvPr/>
          </p:nvSpPr>
          <p:spPr>
            <a:xfrm>
              <a:off x="2166218" y="2355740"/>
              <a:ext cx="114167" cy="4571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1FABFC-30D3-1065-BAA6-845B0ACD4C72}"/>
              </a:ext>
            </a:extLst>
          </p:cNvPr>
          <p:cNvGrpSpPr/>
          <p:nvPr/>
        </p:nvGrpSpPr>
        <p:grpSpPr>
          <a:xfrm>
            <a:off x="2545909" y="1907809"/>
            <a:ext cx="1634992" cy="859283"/>
            <a:chOff x="645393" y="1543050"/>
            <a:chExt cx="1634992" cy="859283"/>
          </a:xfrm>
          <a:gradFill flip="none" rotWithShape="1">
            <a:gsLst>
              <a:gs pos="39000">
                <a:schemeClr val="tx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16200000" scaled="0"/>
            <a:tileRect/>
          </a:gra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C4E64CA-D503-42F4-090A-509F720ACBDF}"/>
                </a:ext>
              </a:extLst>
            </p:cNvPr>
            <p:cNvSpPr/>
            <p:nvPr/>
          </p:nvSpPr>
          <p:spPr>
            <a:xfrm>
              <a:off x="645393" y="2222499"/>
              <a:ext cx="114167" cy="17665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6178515-211F-BF5F-BD82-37C699878E75}"/>
                </a:ext>
              </a:extLst>
            </p:cNvPr>
            <p:cNvSpPr/>
            <p:nvPr/>
          </p:nvSpPr>
          <p:spPr>
            <a:xfrm>
              <a:off x="794618" y="1927224"/>
              <a:ext cx="114167" cy="47510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7C9013D-00D5-4329-0A6E-C0916D4E105E}"/>
                </a:ext>
              </a:extLst>
            </p:cNvPr>
            <p:cNvSpPr/>
            <p:nvPr/>
          </p:nvSpPr>
          <p:spPr>
            <a:xfrm>
              <a:off x="947018" y="1689100"/>
              <a:ext cx="114167" cy="712362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E0BBD8A-10C5-6FA6-9039-C13816CE12A7}"/>
                </a:ext>
              </a:extLst>
            </p:cNvPr>
            <p:cNvSpPr/>
            <p:nvPr/>
          </p:nvSpPr>
          <p:spPr>
            <a:xfrm>
              <a:off x="1099418" y="1543050"/>
              <a:ext cx="114167" cy="858412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DFC2C5-4CFF-452A-1D23-93C8B189D6CA}"/>
                </a:ext>
              </a:extLst>
            </p:cNvPr>
            <p:cNvSpPr/>
            <p:nvPr/>
          </p:nvSpPr>
          <p:spPr>
            <a:xfrm>
              <a:off x="1251818" y="1568449"/>
              <a:ext cx="114167" cy="829837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2FDAC03-FFB0-DF6D-56D6-3BB279A62F09}"/>
                </a:ext>
              </a:extLst>
            </p:cNvPr>
            <p:cNvSpPr/>
            <p:nvPr/>
          </p:nvSpPr>
          <p:spPr>
            <a:xfrm>
              <a:off x="1404218" y="1689099"/>
              <a:ext cx="114167" cy="712361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79CB74-8EC4-BC9F-3949-80C42213319A}"/>
                </a:ext>
              </a:extLst>
            </p:cNvPr>
            <p:cNvSpPr/>
            <p:nvPr/>
          </p:nvSpPr>
          <p:spPr>
            <a:xfrm>
              <a:off x="1556618" y="1895475"/>
              <a:ext cx="114167" cy="505986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6281579-32D9-AAB8-8276-7D5BA9EFDC84}"/>
                </a:ext>
              </a:extLst>
            </p:cNvPr>
            <p:cNvSpPr/>
            <p:nvPr/>
          </p:nvSpPr>
          <p:spPr>
            <a:xfrm>
              <a:off x="1709018" y="2149475"/>
              <a:ext cx="114167" cy="251986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A6ABE54-D806-9A07-AB5F-F15F6A19EBF1}"/>
                </a:ext>
              </a:extLst>
            </p:cNvPr>
            <p:cNvSpPr/>
            <p:nvPr/>
          </p:nvSpPr>
          <p:spPr>
            <a:xfrm>
              <a:off x="1861418" y="2273299"/>
              <a:ext cx="114167" cy="128161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B16B9CB-DB08-8D6A-31BA-9ABD165B18A3}"/>
                </a:ext>
              </a:extLst>
            </p:cNvPr>
            <p:cNvSpPr/>
            <p:nvPr/>
          </p:nvSpPr>
          <p:spPr>
            <a:xfrm>
              <a:off x="2013818" y="2330450"/>
              <a:ext cx="114167" cy="71010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E8445DB-4EB0-CE94-07B7-E7A734C0CB52}"/>
                </a:ext>
              </a:extLst>
            </p:cNvPr>
            <p:cNvSpPr/>
            <p:nvPr/>
          </p:nvSpPr>
          <p:spPr>
            <a:xfrm>
              <a:off x="2166218" y="2355740"/>
              <a:ext cx="114167" cy="45719"/>
            </a:xfrm>
            <a:prstGeom prst="rect">
              <a:avLst/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7223AD3-0F04-94D7-13C0-5E9D72D3F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8070" y="3618324"/>
            <a:ext cx="1329186" cy="44498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A46968F-5431-5663-AD7D-5F98B6EC77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4701" y="2098532"/>
            <a:ext cx="1347739" cy="447310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E811BCD-8D45-662A-31AF-37BAEBE24483}"/>
              </a:ext>
            </a:extLst>
          </p:cNvPr>
          <p:cNvCxnSpPr/>
          <p:nvPr/>
        </p:nvCxnSpPr>
        <p:spPr>
          <a:xfrm flipH="1" flipV="1">
            <a:off x="2357181" y="1409971"/>
            <a:ext cx="0" cy="137160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D48D7E9-FC54-321B-C703-8B2ECF3139F9}"/>
              </a:ext>
            </a:extLst>
          </p:cNvPr>
          <p:cNvCxnSpPr/>
          <p:nvPr/>
        </p:nvCxnSpPr>
        <p:spPr>
          <a:xfrm flipH="1" flipV="1">
            <a:off x="2366871" y="3039769"/>
            <a:ext cx="0" cy="137160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52AF920-EB71-5466-35BB-D1FEC64D3555}"/>
              </a:ext>
            </a:extLst>
          </p:cNvPr>
          <p:cNvCxnSpPr/>
          <p:nvPr/>
        </p:nvCxnSpPr>
        <p:spPr>
          <a:xfrm flipH="1" flipV="1">
            <a:off x="6862170" y="2275817"/>
            <a:ext cx="0" cy="137160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reeform 32">
            <a:extLst>
              <a:ext uri="{FF2B5EF4-FFF2-40B4-BE49-F238E27FC236}">
                <a16:creationId xmlns:a16="http://schemas.microsoft.com/office/drawing/2014/main" id="{F3B05FAD-52AB-B9D6-9C7B-26D97B907572}"/>
              </a:ext>
            </a:extLst>
          </p:cNvPr>
          <p:cNvSpPr/>
          <p:nvPr/>
        </p:nvSpPr>
        <p:spPr>
          <a:xfrm>
            <a:off x="6882640" y="2816798"/>
            <a:ext cx="2963364" cy="825156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63364" h="825156">
                <a:moveTo>
                  <a:pt x="0" y="820696"/>
                </a:moveTo>
                <a:cubicBezTo>
                  <a:pt x="134305" y="826885"/>
                  <a:pt x="607155" y="825029"/>
                  <a:pt x="798400" y="824410"/>
                </a:cubicBezTo>
                <a:cubicBezTo>
                  <a:pt x="989645" y="823791"/>
                  <a:pt x="1065771" y="828743"/>
                  <a:pt x="1147468" y="816983"/>
                </a:cubicBezTo>
                <a:cubicBezTo>
                  <a:pt x="1229165" y="805223"/>
                  <a:pt x="1238449" y="773039"/>
                  <a:pt x="1288581" y="753852"/>
                </a:cubicBezTo>
                <a:cubicBezTo>
                  <a:pt x="1338713" y="734665"/>
                  <a:pt x="1396891" y="735904"/>
                  <a:pt x="1448261" y="701863"/>
                </a:cubicBezTo>
                <a:cubicBezTo>
                  <a:pt x="1499631" y="667822"/>
                  <a:pt x="1546668" y="611500"/>
                  <a:pt x="1596800" y="549607"/>
                </a:cubicBezTo>
                <a:cubicBezTo>
                  <a:pt x="1646932" y="487714"/>
                  <a:pt x="1699540" y="389305"/>
                  <a:pt x="1749053" y="330507"/>
                </a:cubicBezTo>
                <a:cubicBezTo>
                  <a:pt x="1798566" y="271709"/>
                  <a:pt x="1843128" y="248191"/>
                  <a:pt x="1893879" y="196820"/>
                </a:cubicBezTo>
                <a:cubicBezTo>
                  <a:pt x="1944630" y="145449"/>
                  <a:pt x="2000951" y="51372"/>
                  <a:pt x="2053559" y="22283"/>
                </a:cubicBezTo>
                <a:cubicBezTo>
                  <a:pt x="2106167" y="-6806"/>
                  <a:pt x="2160013" y="-8044"/>
                  <a:pt x="2209526" y="22283"/>
                </a:cubicBezTo>
                <a:cubicBezTo>
                  <a:pt x="2259039" y="52610"/>
                  <a:pt x="2300506" y="126263"/>
                  <a:pt x="2350638" y="204247"/>
                </a:cubicBezTo>
                <a:cubicBezTo>
                  <a:pt x="2400770" y="282231"/>
                  <a:pt x="2460186" y="414062"/>
                  <a:pt x="2510318" y="490190"/>
                </a:cubicBezTo>
                <a:cubicBezTo>
                  <a:pt x="2560450" y="566318"/>
                  <a:pt x="2601918" y="615831"/>
                  <a:pt x="2651431" y="661013"/>
                </a:cubicBezTo>
                <a:cubicBezTo>
                  <a:pt x="2700944" y="706194"/>
                  <a:pt x="2755408" y="735284"/>
                  <a:pt x="2807397" y="761279"/>
                </a:cubicBezTo>
                <a:cubicBezTo>
                  <a:pt x="2859386" y="787274"/>
                  <a:pt x="2963364" y="816983"/>
                  <a:pt x="2963364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59725F4F-2EFC-F3C6-3EF7-D7DA68FF6C79}"/>
              </a:ext>
            </a:extLst>
          </p:cNvPr>
          <p:cNvSpPr/>
          <p:nvPr/>
        </p:nvSpPr>
        <p:spPr>
          <a:xfrm>
            <a:off x="6889926" y="2773953"/>
            <a:ext cx="2956079" cy="880577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6079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  <a:cubicBezTo>
                  <a:pt x="2161405" y="869733"/>
                  <a:pt x="2956079" y="862434"/>
                  <a:pt x="2956079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99BE674-C064-49E3-C959-DB7D2F9AA56C}"/>
              </a:ext>
            </a:extLst>
          </p:cNvPr>
          <p:cNvCxnSpPr/>
          <p:nvPr/>
        </p:nvCxnSpPr>
        <p:spPr>
          <a:xfrm>
            <a:off x="6862170" y="3644696"/>
            <a:ext cx="3196118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7D9B6A5-8809-A2B7-B3F7-6141E8721E0F}"/>
              </a:ext>
            </a:extLst>
          </p:cNvPr>
          <p:cNvSpPr txBox="1"/>
          <p:nvPr/>
        </p:nvSpPr>
        <p:spPr>
          <a:xfrm>
            <a:off x="10028558" y="342539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"/>
                <a:cs typeface="Times"/>
              </a:rPr>
              <a:t>x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C777D62-25F8-70CE-AF6A-FE6C9DD11A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9601" y="2421062"/>
            <a:ext cx="726077" cy="23774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1E65BBA-82E5-05F2-D228-DC50BEEACE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1206" y="2418878"/>
            <a:ext cx="726080" cy="23774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F5961A2-465B-86C5-46D0-7915859456BB}"/>
              </a:ext>
            </a:extLst>
          </p:cNvPr>
          <p:cNvSpPr txBox="1"/>
          <p:nvPr/>
        </p:nvSpPr>
        <p:spPr>
          <a:xfrm>
            <a:off x="6739388" y="1898647"/>
            <a:ext cx="25917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Gill Sans MT" panose="020B0502020104020203" pitchFamily="34" charset="77"/>
                <a:cs typeface="Arial"/>
              </a:rPr>
              <a:t>Funciones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densidad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 de </a:t>
            </a:r>
            <a:r>
              <a:rPr lang="en-US" sz="1200" dirty="0" err="1">
                <a:latin typeface="Gill Sans MT" panose="020B0502020104020203" pitchFamily="34" charset="77"/>
                <a:cs typeface="Arial"/>
              </a:rPr>
              <a:t>probabilidad</a:t>
            </a:r>
            <a:endParaRPr lang="en-US" sz="1200" dirty="0">
              <a:latin typeface="Gill Sans MT" panose="020B0502020104020203" pitchFamily="34" charset="77"/>
              <a:cs typeface="Arial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88E95A68-0726-B04A-CBA0-5DC05D236A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8933" y="3872676"/>
            <a:ext cx="1840174" cy="53424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4AADFDC-E803-CEB1-E8C5-3AC88A874E2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9600" y="3872676"/>
            <a:ext cx="1840174" cy="534244"/>
          </a:xfrm>
          <a:prstGeom prst="rect">
            <a:avLst/>
          </a:prstGeom>
        </p:spPr>
      </p:pic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09CEAFD-DF97-E730-E1C0-FFC345054674}"/>
              </a:ext>
            </a:extLst>
          </p:cNvPr>
          <p:cNvCxnSpPr>
            <a:endCxn id="40" idx="0"/>
          </p:cNvCxnSpPr>
          <p:nvPr/>
        </p:nvCxnSpPr>
        <p:spPr>
          <a:xfrm flipH="1">
            <a:off x="7389021" y="3378358"/>
            <a:ext cx="214553" cy="494318"/>
          </a:xfrm>
          <a:prstGeom prst="line">
            <a:avLst/>
          </a:prstGeom>
          <a:ln w="3175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4005568-D07A-5314-1AE2-A5715946DE6E}"/>
              </a:ext>
            </a:extLst>
          </p:cNvPr>
          <p:cNvCxnSpPr/>
          <p:nvPr/>
        </p:nvCxnSpPr>
        <p:spPr>
          <a:xfrm>
            <a:off x="9057547" y="3386123"/>
            <a:ext cx="338130" cy="534173"/>
          </a:xfrm>
          <a:prstGeom prst="line">
            <a:avLst/>
          </a:prstGeom>
          <a:ln w="3175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 Box 2">
            <a:extLst>
              <a:ext uri="{FF2B5EF4-FFF2-40B4-BE49-F238E27FC236}">
                <a16:creationId xmlns:a16="http://schemas.microsoft.com/office/drawing/2014/main" id="{DB9B0868-73A1-ED89-2AE0-763124DBDB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152401"/>
            <a:ext cx="422827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sz="2800" dirty="0">
                <a:solidFill>
                  <a:schemeClr val="accent2"/>
                </a:solidFill>
                <a:latin typeface="Gill Sans MT" panose="020B0502020104020203" pitchFamily="34" charset="77"/>
              </a:rPr>
              <a:t>Distribución de Frecuencias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7700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F2D8910-32F8-E045-C435-E82DBDBA520C}"/>
              </a:ext>
            </a:extLst>
          </p:cNvPr>
          <p:cNvSpPr/>
          <p:nvPr/>
        </p:nvSpPr>
        <p:spPr>
          <a:xfrm>
            <a:off x="3464706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8A50177-F904-5B22-1E43-B94D10465AA3}"/>
              </a:ext>
            </a:extLst>
          </p:cNvPr>
          <p:cNvSpPr/>
          <p:nvPr/>
        </p:nvSpPr>
        <p:spPr>
          <a:xfrm>
            <a:off x="6588689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53D8448-3B8A-6D25-47C3-B873D3A57668}"/>
              </a:ext>
            </a:extLst>
          </p:cNvPr>
          <p:cNvSpPr/>
          <p:nvPr/>
        </p:nvSpPr>
        <p:spPr>
          <a:xfrm>
            <a:off x="4806499" y="3016677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15C0FB4-26C4-8FBC-5606-D4B118EF8300}"/>
              </a:ext>
            </a:extLst>
          </p:cNvPr>
          <p:cNvSpPr/>
          <p:nvPr/>
        </p:nvSpPr>
        <p:spPr>
          <a:xfrm>
            <a:off x="3894970" y="2984543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0EDCC1E-ECAB-F528-AA60-A5E6C3035FF4}"/>
              </a:ext>
            </a:extLst>
          </p:cNvPr>
          <p:cNvCxnSpPr/>
          <p:nvPr/>
        </p:nvCxnSpPr>
        <p:spPr>
          <a:xfrm flipV="1">
            <a:off x="3707910" y="3644975"/>
            <a:ext cx="1905143" cy="5685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69DAFA3-EE5C-E406-15B3-0939D7CE6E3E}"/>
              </a:ext>
            </a:extLst>
          </p:cNvPr>
          <p:cNvSpPr txBox="1"/>
          <p:nvPr/>
        </p:nvSpPr>
        <p:spPr>
          <a:xfrm>
            <a:off x="5375480" y="360208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71526C-625B-9FF0-60CE-52B5CBEDC06A}"/>
              </a:ext>
            </a:extLst>
          </p:cNvPr>
          <p:cNvCxnSpPr/>
          <p:nvPr/>
        </p:nvCxnSpPr>
        <p:spPr>
          <a:xfrm>
            <a:off x="6588689" y="3647817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CFC953B-B92E-F98E-FAB1-A9B4E625DFB0}"/>
              </a:ext>
            </a:extLst>
          </p:cNvPr>
          <p:cNvSpPr txBox="1"/>
          <p:nvPr/>
        </p:nvSpPr>
        <p:spPr>
          <a:xfrm>
            <a:off x="8534709" y="3604927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2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576832E0-C667-7B60-1BE5-9CA7D5811C72}"/>
              </a:ext>
            </a:extLst>
          </p:cNvPr>
          <p:cNvSpPr/>
          <p:nvPr/>
        </p:nvSpPr>
        <p:spPr>
          <a:xfrm>
            <a:off x="7709966" y="3032239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39E39375-09C5-FDCF-3BBC-817CD49DEDFC}"/>
              </a:ext>
            </a:extLst>
          </p:cNvPr>
          <p:cNvSpPr/>
          <p:nvPr/>
        </p:nvSpPr>
        <p:spPr>
          <a:xfrm>
            <a:off x="7299071" y="3000105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15BE04A-B12F-CF79-EF5F-5DEB63C4D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438" y="2805289"/>
            <a:ext cx="904875" cy="1619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F5CCE23-02D5-E9E7-B924-D5D832E5A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481" y="2802906"/>
            <a:ext cx="904875" cy="1619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E3A123E-127C-68A9-8615-C8F5CDE3A9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453" y="2822618"/>
            <a:ext cx="904875" cy="1619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FDF6ED7-E0C0-ECB4-8BDE-0B4193884E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924" y="2822897"/>
            <a:ext cx="904875" cy="161925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5CA053DC-AA99-20A8-646C-425C3F57C6D5}"/>
              </a:ext>
            </a:extLst>
          </p:cNvPr>
          <p:cNvSpPr/>
          <p:nvPr/>
        </p:nvSpPr>
        <p:spPr>
          <a:xfrm>
            <a:off x="9071442" y="3032237"/>
            <a:ext cx="164592" cy="173814"/>
          </a:xfrm>
          <a:prstGeom prst="ellipse">
            <a:avLst/>
          </a:prstGeom>
          <a:ln>
            <a:solidFill>
              <a:srgbClr val="9BD2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090F4AA-98FA-53C9-57A2-C6B8F207C48D}"/>
              </a:ext>
            </a:extLst>
          </p:cNvPr>
          <p:cNvSpPr/>
          <p:nvPr/>
        </p:nvSpPr>
        <p:spPr>
          <a:xfrm>
            <a:off x="9071442" y="3428271"/>
            <a:ext cx="164592" cy="173814"/>
          </a:xfrm>
          <a:prstGeom prst="ellipse">
            <a:avLst/>
          </a:prstGeom>
          <a:solidFill>
            <a:srgbClr val="F6D8BF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F5522B0-AC94-DAE4-EF1D-D6AF7612784A}"/>
              </a:ext>
            </a:extLst>
          </p:cNvPr>
          <p:cNvSpPr txBox="1"/>
          <p:nvPr/>
        </p:nvSpPr>
        <p:spPr>
          <a:xfrm>
            <a:off x="9311473" y="2980644"/>
            <a:ext cx="9115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No-Target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39BEEB-6E91-E7CA-28F1-EB3B64D15042}"/>
              </a:ext>
            </a:extLst>
          </p:cNvPr>
          <p:cNvSpPr txBox="1"/>
          <p:nvPr/>
        </p:nvSpPr>
        <p:spPr>
          <a:xfrm>
            <a:off x="9311472" y="3358447"/>
            <a:ext cx="6306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Target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69B041-09B3-8F9C-54FE-DEB37282DA54}"/>
              </a:ext>
            </a:extLst>
          </p:cNvPr>
          <p:cNvSpPr txBox="1"/>
          <p:nvPr/>
        </p:nvSpPr>
        <p:spPr>
          <a:xfrm>
            <a:off x="1617644" y="250119"/>
            <a:ext cx="485100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400" dirty="0">
                <a:solidFill>
                  <a:schemeClr val="accent2"/>
                </a:solidFill>
                <a:latin typeface="Gill Sans MT" panose="020B0502020104020203" pitchFamily="34" charset="77"/>
              </a:rPr>
              <a:t>Ejercicio: Selección de Características</a:t>
            </a:r>
          </a:p>
          <a:p>
            <a:endParaRPr lang="en-CL" dirty="0"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latin typeface="Gill Sans MT" panose="020B0502020104020203" pitchFamily="34" charset="77"/>
              </a:rPr>
              <a:t>Entre la a) y la b), cuál es la mejor?</a:t>
            </a:r>
          </a:p>
          <a:p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6E3732-2009-04EB-772A-1F65850E2CDF}"/>
              </a:ext>
            </a:extLst>
          </p:cNvPr>
          <p:cNvSpPr txBox="1"/>
          <p:nvPr/>
        </p:nvSpPr>
        <p:spPr>
          <a:xfrm>
            <a:off x="3141781" y="2838131"/>
            <a:ext cx="3498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a)                                             b)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99D7DE5D-5C22-8596-B9D7-4CE754874C8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68366" y="20290"/>
            <a:ext cx="4158484" cy="2065193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C581AAB-E10D-B707-3A30-75E7C002904F}"/>
              </a:ext>
            </a:extLst>
          </p:cNvPr>
          <p:cNvSpPr txBox="1"/>
          <p:nvPr/>
        </p:nvSpPr>
        <p:spPr>
          <a:xfrm>
            <a:off x="7921252" y="2004862"/>
            <a:ext cx="1075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200" dirty="0">
                <a:latin typeface="Gill Sans MT" panose="020B0502020104020203" pitchFamily="34" charset="77"/>
              </a:rPr>
              <a:t>a)               b)</a:t>
            </a:r>
          </a:p>
        </p:txBody>
      </p:sp>
    </p:spTree>
    <p:extLst>
      <p:ext uri="{BB962C8B-B14F-4D97-AF65-F5344CB8AC3E}">
        <p14:creationId xmlns:p14="http://schemas.microsoft.com/office/powerpoint/2010/main" val="11272479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54309-0749-3071-77A0-D78EDDCB7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0B35AE1-DE3B-1533-9FAD-37180E3CDEC6}"/>
              </a:ext>
            </a:extLst>
          </p:cNvPr>
          <p:cNvSpPr/>
          <p:nvPr/>
        </p:nvSpPr>
        <p:spPr>
          <a:xfrm>
            <a:off x="3464706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07C31A-CB30-2B1D-66BA-1E91DA0ACEB2}"/>
              </a:ext>
            </a:extLst>
          </p:cNvPr>
          <p:cNvSpPr/>
          <p:nvPr/>
        </p:nvSpPr>
        <p:spPr>
          <a:xfrm>
            <a:off x="3462862" y="459689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978F083-9A12-75AE-063E-DC4F082EE1D7}"/>
              </a:ext>
            </a:extLst>
          </p:cNvPr>
          <p:cNvSpPr/>
          <p:nvPr/>
        </p:nvSpPr>
        <p:spPr>
          <a:xfrm>
            <a:off x="6588689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C4FA23F-CF9C-841E-29C1-459DC50B3B1A}"/>
              </a:ext>
            </a:extLst>
          </p:cNvPr>
          <p:cNvSpPr/>
          <p:nvPr/>
        </p:nvSpPr>
        <p:spPr>
          <a:xfrm>
            <a:off x="4806499" y="3016677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175B53F-92F1-734D-F5B7-7C8D59844A32}"/>
              </a:ext>
            </a:extLst>
          </p:cNvPr>
          <p:cNvSpPr/>
          <p:nvPr/>
        </p:nvSpPr>
        <p:spPr>
          <a:xfrm>
            <a:off x="3894970" y="2984543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7F51E2E-31D3-3B4F-330B-3E586E6B08C1}"/>
              </a:ext>
            </a:extLst>
          </p:cNvPr>
          <p:cNvSpPr/>
          <p:nvPr/>
        </p:nvSpPr>
        <p:spPr>
          <a:xfrm>
            <a:off x="4577684" y="484842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819F73F6-1294-0417-32E5-D5DD3A84DA55}"/>
              </a:ext>
            </a:extLst>
          </p:cNvPr>
          <p:cNvSpPr/>
          <p:nvPr/>
        </p:nvSpPr>
        <p:spPr>
          <a:xfrm>
            <a:off x="3707843" y="481628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BB07ACB-1844-7BEF-77FF-696C29157A1B}"/>
              </a:ext>
            </a:extLst>
          </p:cNvPr>
          <p:cNvCxnSpPr/>
          <p:nvPr/>
        </p:nvCxnSpPr>
        <p:spPr>
          <a:xfrm flipV="1">
            <a:off x="3707910" y="3644975"/>
            <a:ext cx="1905143" cy="5685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E00E9BF-E3DE-1895-0EEF-E8358C17CA4A}"/>
              </a:ext>
            </a:extLst>
          </p:cNvPr>
          <p:cNvSpPr txBox="1"/>
          <p:nvPr/>
        </p:nvSpPr>
        <p:spPr>
          <a:xfrm>
            <a:off x="5375480" y="360208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D50AF3D-5385-5F21-A1BA-9F82F86BC4E1}"/>
              </a:ext>
            </a:extLst>
          </p:cNvPr>
          <p:cNvCxnSpPr/>
          <p:nvPr/>
        </p:nvCxnSpPr>
        <p:spPr>
          <a:xfrm>
            <a:off x="6588689" y="3647817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11943E0-9234-BB66-158C-6972D9870B1E}"/>
              </a:ext>
            </a:extLst>
          </p:cNvPr>
          <p:cNvSpPr txBox="1"/>
          <p:nvPr/>
        </p:nvSpPr>
        <p:spPr>
          <a:xfrm>
            <a:off x="8534709" y="3604927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2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627C8DC-9D6E-71EB-D97C-409F7C31CC1D}"/>
              </a:ext>
            </a:extLst>
          </p:cNvPr>
          <p:cNvCxnSpPr/>
          <p:nvPr/>
        </p:nvCxnSpPr>
        <p:spPr>
          <a:xfrm>
            <a:off x="3476618" y="547770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CA60608-2E53-D077-520A-9BC2281A949E}"/>
              </a:ext>
            </a:extLst>
          </p:cNvPr>
          <p:cNvSpPr txBox="1"/>
          <p:nvPr/>
        </p:nvSpPr>
        <p:spPr>
          <a:xfrm>
            <a:off x="5422638" y="543481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EB79FB6-54FB-6265-E939-0982B713C43B}"/>
              </a:ext>
            </a:extLst>
          </p:cNvPr>
          <p:cNvSpPr/>
          <p:nvPr/>
        </p:nvSpPr>
        <p:spPr>
          <a:xfrm>
            <a:off x="6573259" y="459405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5583AD90-3F93-2F38-2FF1-D044C296F8E8}"/>
              </a:ext>
            </a:extLst>
          </p:cNvPr>
          <p:cNvSpPr/>
          <p:nvPr/>
        </p:nvSpPr>
        <p:spPr>
          <a:xfrm>
            <a:off x="7297355" y="4835203"/>
            <a:ext cx="1262531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2653EB13-D8D6-ADB2-88DA-D1AD4A3AF451}"/>
              </a:ext>
            </a:extLst>
          </p:cNvPr>
          <p:cNvSpPr/>
          <p:nvPr/>
        </p:nvSpPr>
        <p:spPr>
          <a:xfrm>
            <a:off x="6977880" y="4813202"/>
            <a:ext cx="1441658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991ACA-7946-8F77-7926-4DD09E45C168}"/>
              </a:ext>
            </a:extLst>
          </p:cNvPr>
          <p:cNvCxnSpPr/>
          <p:nvPr/>
        </p:nvCxnSpPr>
        <p:spPr>
          <a:xfrm>
            <a:off x="6573259" y="5472022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BE1BA85-FF03-34D7-283F-99EF5BD3237C}"/>
              </a:ext>
            </a:extLst>
          </p:cNvPr>
          <p:cNvSpPr txBox="1"/>
          <p:nvPr/>
        </p:nvSpPr>
        <p:spPr>
          <a:xfrm>
            <a:off x="8519278" y="5429133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4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9352135-37B4-F2AE-D300-FE0A0C1F27A7}"/>
              </a:ext>
            </a:extLst>
          </p:cNvPr>
          <p:cNvSpPr/>
          <p:nvPr/>
        </p:nvSpPr>
        <p:spPr>
          <a:xfrm>
            <a:off x="7709966" y="3032239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E2C67C1E-A3CD-5A6A-1B1C-11314C27C553}"/>
              </a:ext>
            </a:extLst>
          </p:cNvPr>
          <p:cNvSpPr/>
          <p:nvPr/>
        </p:nvSpPr>
        <p:spPr>
          <a:xfrm>
            <a:off x="7299071" y="3000105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B0EDCB-8EB1-126A-1C3F-832CA8794E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438" y="2805289"/>
            <a:ext cx="904875" cy="1619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C40533E-2419-C42F-7C8E-CF6B81949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481" y="2802906"/>
            <a:ext cx="904875" cy="1619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70BF875-0B2B-4A53-38A4-D6E9295B6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453" y="2822618"/>
            <a:ext cx="904875" cy="1619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4D45591-2BE5-5844-9A86-DC994C7D6C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924" y="2822897"/>
            <a:ext cx="904875" cy="16192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EE036AC-DD23-B667-F43F-34578FA4D3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2876" y="4632918"/>
            <a:ext cx="904875" cy="1619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4D58782-FA6C-CA97-C63B-C26BCF1913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8309" y="4637819"/>
            <a:ext cx="904875" cy="1619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BE6AFA7D-61F7-0216-47DC-98B6D390AD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5990" y="4629832"/>
            <a:ext cx="904875" cy="161925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DE8792AA-F326-66BF-BA3D-77B1EFD9CA01}"/>
              </a:ext>
            </a:extLst>
          </p:cNvPr>
          <p:cNvSpPr/>
          <p:nvPr/>
        </p:nvSpPr>
        <p:spPr>
          <a:xfrm>
            <a:off x="9071442" y="3032237"/>
            <a:ext cx="164592" cy="173814"/>
          </a:xfrm>
          <a:prstGeom prst="ellipse">
            <a:avLst/>
          </a:prstGeom>
          <a:ln>
            <a:solidFill>
              <a:srgbClr val="9BD2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459C235-8B20-788E-A5A6-718B0C9BE879}"/>
              </a:ext>
            </a:extLst>
          </p:cNvPr>
          <p:cNvSpPr/>
          <p:nvPr/>
        </p:nvSpPr>
        <p:spPr>
          <a:xfrm>
            <a:off x="9071442" y="3428271"/>
            <a:ext cx="164592" cy="173814"/>
          </a:xfrm>
          <a:prstGeom prst="ellipse">
            <a:avLst/>
          </a:prstGeom>
          <a:solidFill>
            <a:srgbClr val="F6D8BF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18A9281-3F1E-89E8-20F8-34FD10BDC149}"/>
              </a:ext>
            </a:extLst>
          </p:cNvPr>
          <p:cNvSpPr txBox="1"/>
          <p:nvPr/>
        </p:nvSpPr>
        <p:spPr>
          <a:xfrm>
            <a:off x="9311473" y="2980644"/>
            <a:ext cx="9115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No-Target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6FFE38-C375-7C57-92D4-EDDE065F2CF4}"/>
              </a:ext>
            </a:extLst>
          </p:cNvPr>
          <p:cNvSpPr txBox="1"/>
          <p:nvPr/>
        </p:nvSpPr>
        <p:spPr>
          <a:xfrm>
            <a:off x="9311472" y="3358447"/>
            <a:ext cx="6306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Target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D24C4EC0-FB47-92E7-FA14-A1FB64488D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3325" y="4636126"/>
            <a:ext cx="904875" cy="1619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66C337-E3AD-0A5B-983B-CFE021130161}"/>
              </a:ext>
            </a:extLst>
          </p:cNvPr>
          <p:cNvSpPr txBox="1"/>
          <p:nvPr/>
        </p:nvSpPr>
        <p:spPr>
          <a:xfrm>
            <a:off x="3143456" y="4618360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c)                                             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2EF650-2F5E-A7B8-F256-C588C1B15141}"/>
              </a:ext>
            </a:extLst>
          </p:cNvPr>
          <p:cNvSpPr txBox="1"/>
          <p:nvPr/>
        </p:nvSpPr>
        <p:spPr>
          <a:xfrm>
            <a:off x="1617644" y="250119"/>
            <a:ext cx="4851008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400" dirty="0">
                <a:solidFill>
                  <a:schemeClr val="accent2"/>
                </a:solidFill>
                <a:latin typeface="Gill Sans MT" panose="020B0502020104020203" pitchFamily="34" charset="77"/>
              </a:rPr>
              <a:t>Ejercicio: Selección de Características</a:t>
            </a:r>
          </a:p>
          <a:p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Entre la a) y la b), cuál es la mejor?</a:t>
            </a:r>
          </a:p>
          <a:p>
            <a:pPr marL="342900" indent="-342900">
              <a:buAutoNum type="arabicParenR"/>
            </a:pPr>
            <a:endParaRPr lang="en-CL" dirty="0"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latin typeface="Gill Sans MT" panose="020B0502020104020203" pitchFamily="34" charset="77"/>
              </a:rPr>
              <a:t>Entre la c) y la d) cuál es mejor?</a:t>
            </a:r>
          </a:p>
          <a:p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49803D-1D94-FB88-C6A1-C979B645F578}"/>
              </a:ext>
            </a:extLst>
          </p:cNvPr>
          <p:cNvSpPr txBox="1"/>
          <p:nvPr/>
        </p:nvSpPr>
        <p:spPr>
          <a:xfrm>
            <a:off x="3141781" y="2838131"/>
            <a:ext cx="3498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a)                                             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D361AA-550F-288E-C249-A56ADF0BDCB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468366" y="20290"/>
            <a:ext cx="4158484" cy="206519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65FBF4C-32B5-7F22-3F8C-DEEA14E048D0}"/>
              </a:ext>
            </a:extLst>
          </p:cNvPr>
          <p:cNvSpPr txBox="1"/>
          <p:nvPr/>
        </p:nvSpPr>
        <p:spPr>
          <a:xfrm>
            <a:off x="7921252" y="2004862"/>
            <a:ext cx="2533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200" dirty="0">
                <a:solidFill>
                  <a:schemeClr val="bg1">
                    <a:lumMod val="75000"/>
                  </a:schemeClr>
                </a:solidFill>
                <a:latin typeface="Gill Sans MT" panose="020B0502020104020203" pitchFamily="34" charset="77"/>
              </a:rPr>
              <a:t>a)               b) </a:t>
            </a:r>
            <a:r>
              <a:rPr lang="en-CL" sz="1200" dirty="0">
                <a:latin typeface="Gill Sans MT" panose="020B0502020104020203" pitchFamily="34" charset="77"/>
              </a:rPr>
              <a:t>             c)              d)</a:t>
            </a:r>
          </a:p>
        </p:txBody>
      </p:sp>
    </p:spTree>
    <p:extLst>
      <p:ext uri="{BB962C8B-B14F-4D97-AF65-F5344CB8AC3E}">
        <p14:creationId xmlns:p14="http://schemas.microsoft.com/office/powerpoint/2010/main" val="3219552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4FA1E-9D64-1A02-961F-EA5F622AA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4E6478F-E71D-D67E-DBCA-A58CC1A28BF5}"/>
              </a:ext>
            </a:extLst>
          </p:cNvPr>
          <p:cNvSpPr/>
          <p:nvPr/>
        </p:nvSpPr>
        <p:spPr>
          <a:xfrm>
            <a:off x="3464706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2EFDAE9-527B-4187-AE6D-22FDCB890A4D}"/>
              </a:ext>
            </a:extLst>
          </p:cNvPr>
          <p:cNvSpPr/>
          <p:nvPr/>
        </p:nvSpPr>
        <p:spPr>
          <a:xfrm>
            <a:off x="3462862" y="459689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ABF6349-5723-1618-BC18-E30D61A89A46}"/>
              </a:ext>
            </a:extLst>
          </p:cNvPr>
          <p:cNvSpPr/>
          <p:nvPr/>
        </p:nvSpPr>
        <p:spPr>
          <a:xfrm>
            <a:off x="6588689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79997C32-9BC8-B961-CF3B-8DCB59F188A8}"/>
              </a:ext>
            </a:extLst>
          </p:cNvPr>
          <p:cNvSpPr/>
          <p:nvPr/>
        </p:nvSpPr>
        <p:spPr>
          <a:xfrm>
            <a:off x="4806499" y="3016677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BF64DE3D-5922-AA40-093E-BDE45E15A119}"/>
              </a:ext>
            </a:extLst>
          </p:cNvPr>
          <p:cNvSpPr/>
          <p:nvPr/>
        </p:nvSpPr>
        <p:spPr>
          <a:xfrm>
            <a:off x="3894970" y="2984543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A6722D2-7905-0CD3-96AA-844FE61A0DC5}"/>
              </a:ext>
            </a:extLst>
          </p:cNvPr>
          <p:cNvSpPr/>
          <p:nvPr/>
        </p:nvSpPr>
        <p:spPr>
          <a:xfrm>
            <a:off x="4577684" y="484842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134045D-81F1-621C-5D3C-36BE74F3738F}"/>
              </a:ext>
            </a:extLst>
          </p:cNvPr>
          <p:cNvSpPr/>
          <p:nvPr/>
        </p:nvSpPr>
        <p:spPr>
          <a:xfrm>
            <a:off x="3707843" y="481628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8C64F1F-BD52-1B4C-B69D-F06E85D9288D}"/>
              </a:ext>
            </a:extLst>
          </p:cNvPr>
          <p:cNvCxnSpPr/>
          <p:nvPr/>
        </p:nvCxnSpPr>
        <p:spPr>
          <a:xfrm flipV="1">
            <a:off x="3707910" y="3644975"/>
            <a:ext cx="1905143" cy="5685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C8E807D-DC56-9BD6-6CD9-09D8F03F12B3}"/>
              </a:ext>
            </a:extLst>
          </p:cNvPr>
          <p:cNvSpPr txBox="1"/>
          <p:nvPr/>
        </p:nvSpPr>
        <p:spPr>
          <a:xfrm>
            <a:off x="5375480" y="360208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7635FD-5814-7F54-0614-68CD38873A47}"/>
              </a:ext>
            </a:extLst>
          </p:cNvPr>
          <p:cNvCxnSpPr/>
          <p:nvPr/>
        </p:nvCxnSpPr>
        <p:spPr>
          <a:xfrm>
            <a:off x="6588689" y="3647817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3BBC0B3-6F54-9A4E-E72E-BA9F747B231E}"/>
              </a:ext>
            </a:extLst>
          </p:cNvPr>
          <p:cNvSpPr txBox="1"/>
          <p:nvPr/>
        </p:nvSpPr>
        <p:spPr>
          <a:xfrm>
            <a:off x="8534709" y="3604927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2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15D9A9-D17E-8DC1-D13E-67BDE80233D4}"/>
              </a:ext>
            </a:extLst>
          </p:cNvPr>
          <p:cNvCxnSpPr/>
          <p:nvPr/>
        </p:nvCxnSpPr>
        <p:spPr>
          <a:xfrm>
            <a:off x="3476618" y="547770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BA4BA2B-E56E-FF2A-670C-5A73FFE371CC}"/>
              </a:ext>
            </a:extLst>
          </p:cNvPr>
          <p:cNvSpPr txBox="1"/>
          <p:nvPr/>
        </p:nvSpPr>
        <p:spPr>
          <a:xfrm>
            <a:off x="5422638" y="543481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35DD6E9-00CA-7171-6118-BACB236B20AE}"/>
              </a:ext>
            </a:extLst>
          </p:cNvPr>
          <p:cNvSpPr/>
          <p:nvPr/>
        </p:nvSpPr>
        <p:spPr>
          <a:xfrm>
            <a:off x="6573259" y="459405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1704AAF8-5ABB-F184-E13B-39D21B5E4AF8}"/>
              </a:ext>
            </a:extLst>
          </p:cNvPr>
          <p:cNvSpPr/>
          <p:nvPr/>
        </p:nvSpPr>
        <p:spPr>
          <a:xfrm>
            <a:off x="7297355" y="4835203"/>
            <a:ext cx="1262531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C6996DCA-51E3-3903-0023-AF7C330CECA2}"/>
              </a:ext>
            </a:extLst>
          </p:cNvPr>
          <p:cNvSpPr/>
          <p:nvPr/>
        </p:nvSpPr>
        <p:spPr>
          <a:xfrm>
            <a:off x="6977880" y="4813202"/>
            <a:ext cx="1441658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E06C552-E9DB-1957-583B-371D7EF2E6CC}"/>
              </a:ext>
            </a:extLst>
          </p:cNvPr>
          <p:cNvCxnSpPr/>
          <p:nvPr/>
        </p:nvCxnSpPr>
        <p:spPr>
          <a:xfrm>
            <a:off x="6573259" y="5472022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90E30E7-0D2A-5094-2F2A-AE088CEEA92A}"/>
              </a:ext>
            </a:extLst>
          </p:cNvPr>
          <p:cNvSpPr txBox="1"/>
          <p:nvPr/>
        </p:nvSpPr>
        <p:spPr>
          <a:xfrm>
            <a:off x="8519278" y="5429133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4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764EFCE-8B0C-7AA0-8098-FAF6FD3E6DCF}"/>
              </a:ext>
            </a:extLst>
          </p:cNvPr>
          <p:cNvSpPr/>
          <p:nvPr/>
        </p:nvSpPr>
        <p:spPr>
          <a:xfrm>
            <a:off x="7709966" y="3032239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8C49B2F3-671B-1E69-505B-5E270AAEC7F2}"/>
              </a:ext>
            </a:extLst>
          </p:cNvPr>
          <p:cNvSpPr/>
          <p:nvPr/>
        </p:nvSpPr>
        <p:spPr>
          <a:xfrm>
            <a:off x="7299071" y="3000105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46492FE-D9EA-5639-C441-2FFB7132E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438" y="2805289"/>
            <a:ext cx="904875" cy="1619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32EA45C-25D2-34C4-80A0-DB029977A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481" y="2802906"/>
            <a:ext cx="904875" cy="1619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C775A6B-F077-6610-A68F-779BD5A973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453" y="2822618"/>
            <a:ext cx="904875" cy="1619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23F430D-4E6D-68B2-D1EA-0D2B4B2AED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924" y="2822897"/>
            <a:ext cx="904875" cy="16192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86BBF87-7D47-5FD4-A015-55756D301F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2876" y="4632918"/>
            <a:ext cx="904875" cy="1619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965D309-315A-796A-4F3C-D5AF8C01DA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8309" y="4637819"/>
            <a:ext cx="904875" cy="1619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84D9910-3EB5-FB95-15D0-3FC5DE79E6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5990" y="4629832"/>
            <a:ext cx="904875" cy="161925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70B9B86D-6DF1-17E5-321E-D1FEBC6F59DA}"/>
              </a:ext>
            </a:extLst>
          </p:cNvPr>
          <p:cNvSpPr/>
          <p:nvPr/>
        </p:nvSpPr>
        <p:spPr>
          <a:xfrm>
            <a:off x="9071442" y="3032237"/>
            <a:ext cx="164592" cy="173814"/>
          </a:xfrm>
          <a:prstGeom prst="ellipse">
            <a:avLst/>
          </a:prstGeom>
          <a:ln>
            <a:solidFill>
              <a:srgbClr val="9BD2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8569EE2-7286-61FF-EE81-73A82EEECCED}"/>
              </a:ext>
            </a:extLst>
          </p:cNvPr>
          <p:cNvSpPr/>
          <p:nvPr/>
        </p:nvSpPr>
        <p:spPr>
          <a:xfrm>
            <a:off x="9071442" y="3428271"/>
            <a:ext cx="164592" cy="173814"/>
          </a:xfrm>
          <a:prstGeom prst="ellipse">
            <a:avLst/>
          </a:prstGeom>
          <a:solidFill>
            <a:srgbClr val="F6D8BF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F14D49-E03D-2715-BD7E-1E6DFA9721ED}"/>
              </a:ext>
            </a:extLst>
          </p:cNvPr>
          <p:cNvSpPr txBox="1"/>
          <p:nvPr/>
        </p:nvSpPr>
        <p:spPr>
          <a:xfrm>
            <a:off x="9311473" y="2980644"/>
            <a:ext cx="9115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No-Target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A3EDB87-1893-2474-CF52-08C7B5A97707}"/>
              </a:ext>
            </a:extLst>
          </p:cNvPr>
          <p:cNvSpPr txBox="1"/>
          <p:nvPr/>
        </p:nvSpPr>
        <p:spPr>
          <a:xfrm>
            <a:off x="9311472" y="3358447"/>
            <a:ext cx="6306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Target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0A64364-3A25-A77B-6FA1-84CB74806E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3325" y="4636126"/>
            <a:ext cx="904875" cy="1619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50711D-EF54-4BDC-1A2A-E43503AE03D5}"/>
              </a:ext>
            </a:extLst>
          </p:cNvPr>
          <p:cNvSpPr txBox="1"/>
          <p:nvPr/>
        </p:nvSpPr>
        <p:spPr>
          <a:xfrm>
            <a:off x="3141781" y="2838131"/>
            <a:ext cx="3498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a)                                             b)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8F8BC-696C-3620-E330-456BDC4398B9}"/>
              </a:ext>
            </a:extLst>
          </p:cNvPr>
          <p:cNvSpPr txBox="1"/>
          <p:nvPr/>
        </p:nvSpPr>
        <p:spPr>
          <a:xfrm>
            <a:off x="3143456" y="4618360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c)                                             d)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6612F3-F003-8B3A-1F53-2946E1418CC2}"/>
              </a:ext>
            </a:extLst>
          </p:cNvPr>
          <p:cNvSpPr txBox="1"/>
          <p:nvPr/>
        </p:nvSpPr>
        <p:spPr>
          <a:xfrm>
            <a:off x="1617644" y="250119"/>
            <a:ext cx="485100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400" dirty="0">
                <a:solidFill>
                  <a:schemeClr val="accent2"/>
                </a:solidFill>
                <a:latin typeface="Gill Sans MT" panose="020B0502020104020203" pitchFamily="34" charset="77"/>
              </a:rPr>
              <a:t>Ejercicio: Selección de Características</a:t>
            </a:r>
          </a:p>
          <a:p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Entre la a) y la b), cuál es la mejor?</a:t>
            </a:r>
          </a:p>
          <a:p>
            <a:pPr marL="342900" indent="-342900">
              <a:buAutoNum type="arabicParenR"/>
            </a:pPr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Entre la c) y la d) cuál es mejor?</a:t>
            </a:r>
          </a:p>
          <a:p>
            <a:pPr marL="342900" indent="-342900">
              <a:buAutoNum type="arabicParenR"/>
            </a:pPr>
            <a:endParaRPr lang="en-CL" dirty="0"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latin typeface="Gill Sans MT" panose="020B0502020104020203" pitchFamily="34" charset="77"/>
              </a:rPr>
              <a:t>Y cuál es la mejor de todas?</a:t>
            </a:r>
          </a:p>
          <a:p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83BF45-E477-3221-9C59-089478729396}"/>
              </a:ext>
            </a:extLst>
          </p:cNvPr>
          <p:cNvSpPr txBox="1"/>
          <p:nvPr/>
        </p:nvSpPr>
        <p:spPr>
          <a:xfrm>
            <a:off x="7921252" y="2004862"/>
            <a:ext cx="2533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200" dirty="0">
                <a:latin typeface="Gill Sans MT" panose="020B0502020104020203" pitchFamily="34" charset="77"/>
              </a:rPr>
              <a:t>a)               b)              c)              d)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32F247-64A9-D347-5594-98E2AE4E963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468366" y="20290"/>
            <a:ext cx="4158484" cy="2065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52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03D0E-00A9-BF58-FABF-047C6D2E4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798486-6EA6-D505-4CE4-A07157992FF5}"/>
              </a:ext>
            </a:extLst>
          </p:cNvPr>
          <p:cNvSpPr/>
          <p:nvPr/>
        </p:nvSpPr>
        <p:spPr>
          <a:xfrm>
            <a:off x="3464706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AAE161-0198-F35B-D31B-BC5230B8B566}"/>
              </a:ext>
            </a:extLst>
          </p:cNvPr>
          <p:cNvSpPr/>
          <p:nvPr/>
        </p:nvSpPr>
        <p:spPr>
          <a:xfrm>
            <a:off x="3462862" y="459689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1D46E85-07F6-DEAA-6B10-C4DABB6B6E58}"/>
              </a:ext>
            </a:extLst>
          </p:cNvPr>
          <p:cNvSpPr/>
          <p:nvPr/>
        </p:nvSpPr>
        <p:spPr>
          <a:xfrm>
            <a:off x="6588689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8BA93FD-2970-B83B-E0BD-3E6BB3A0C728}"/>
              </a:ext>
            </a:extLst>
          </p:cNvPr>
          <p:cNvSpPr/>
          <p:nvPr/>
        </p:nvSpPr>
        <p:spPr>
          <a:xfrm>
            <a:off x="4806499" y="3016677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819DBF4-A063-CC9B-7D8D-A43607700351}"/>
              </a:ext>
            </a:extLst>
          </p:cNvPr>
          <p:cNvSpPr/>
          <p:nvPr/>
        </p:nvSpPr>
        <p:spPr>
          <a:xfrm>
            <a:off x="3894970" y="2984543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CC6C7B6-17F9-EDEB-494E-44D0AA21B15C}"/>
              </a:ext>
            </a:extLst>
          </p:cNvPr>
          <p:cNvSpPr/>
          <p:nvPr/>
        </p:nvSpPr>
        <p:spPr>
          <a:xfrm>
            <a:off x="4577684" y="484842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4BFC808C-8936-9D25-3A4D-734E915A426E}"/>
              </a:ext>
            </a:extLst>
          </p:cNvPr>
          <p:cNvSpPr/>
          <p:nvPr/>
        </p:nvSpPr>
        <p:spPr>
          <a:xfrm>
            <a:off x="3707843" y="481628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5B2D8CA-5E7F-792B-0A4C-7C463D832531}"/>
              </a:ext>
            </a:extLst>
          </p:cNvPr>
          <p:cNvCxnSpPr/>
          <p:nvPr/>
        </p:nvCxnSpPr>
        <p:spPr>
          <a:xfrm flipV="1">
            <a:off x="3707910" y="3644975"/>
            <a:ext cx="1905143" cy="5685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D2009E6-E686-61CB-0539-48B1356DA9E6}"/>
              </a:ext>
            </a:extLst>
          </p:cNvPr>
          <p:cNvSpPr txBox="1"/>
          <p:nvPr/>
        </p:nvSpPr>
        <p:spPr>
          <a:xfrm>
            <a:off x="5375480" y="360208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159724-7EB4-0FAA-DD73-4A5670FEFAC2}"/>
              </a:ext>
            </a:extLst>
          </p:cNvPr>
          <p:cNvCxnSpPr/>
          <p:nvPr/>
        </p:nvCxnSpPr>
        <p:spPr>
          <a:xfrm>
            <a:off x="6588689" y="3647817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4B1444F-A295-0733-8C27-D26C379E861C}"/>
              </a:ext>
            </a:extLst>
          </p:cNvPr>
          <p:cNvSpPr txBox="1"/>
          <p:nvPr/>
        </p:nvSpPr>
        <p:spPr>
          <a:xfrm>
            <a:off x="8534709" y="3604927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2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BAC919F-4456-BBD9-71D2-A60CF5439971}"/>
              </a:ext>
            </a:extLst>
          </p:cNvPr>
          <p:cNvCxnSpPr/>
          <p:nvPr/>
        </p:nvCxnSpPr>
        <p:spPr>
          <a:xfrm>
            <a:off x="3476618" y="547770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926DC67-AB7B-359D-1BD6-B5F655C845A6}"/>
              </a:ext>
            </a:extLst>
          </p:cNvPr>
          <p:cNvSpPr txBox="1"/>
          <p:nvPr/>
        </p:nvSpPr>
        <p:spPr>
          <a:xfrm>
            <a:off x="5422638" y="543481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F2E100F-D04A-B822-0856-2104403725BB}"/>
              </a:ext>
            </a:extLst>
          </p:cNvPr>
          <p:cNvSpPr/>
          <p:nvPr/>
        </p:nvSpPr>
        <p:spPr>
          <a:xfrm>
            <a:off x="6573259" y="459405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E9C2110B-C6DC-E9E6-A8DD-DC14E58E6400}"/>
              </a:ext>
            </a:extLst>
          </p:cNvPr>
          <p:cNvSpPr/>
          <p:nvPr/>
        </p:nvSpPr>
        <p:spPr>
          <a:xfrm>
            <a:off x="7297355" y="4835203"/>
            <a:ext cx="1262531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33161161-A7A2-75C6-C2F6-07F64FA4A28E}"/>
              </a:ext>
            </a:extLst>
          </p:cNvPr>
          <p:cNvSpPr/>
          <p:nvPr/>
        </p:nvSpPr>
        <p:spPr>
          <a:xfrm>
            <a:off x="6977880" y="4813202"/>
            <a:ext cx="1441658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4ECBD5-439D-0FCA-35D5-E90CE8F2C20E}"/>
              </a:ext>
            </a:extLst>
          </p:cNvPr>
          <p:cNvCxnSpPr/>
          <p:nvPr/>
        </p:nvCxnSpPr>
        <p:spPr>
          <a:xfrm>
            <a:off x="6573259" y="5472022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4752BED-7980-0267-6B3B-72F0E182B2C0}"/>
              </a:ext>
            </a:extLst>
          </p:cNvPr>
          <p:cNvSpPr txBox="1"/>
          <p:nvPr/>
        </p:nvSpPr>
        <p:spPr>
          <a:xfrm>
            <a:off x="8519278" y="5429133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4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8D397364-E7A0-596E-253A-0EA89F543551}"/>
              </a:ext>
            </a:extLst>
          </p:cNvPr>
          <p:cNvSpPr/>
          <p:nvPr/>
        </p:nvSpPr>
        <p:spPr>
          <a:xfrm>
            <a:off x="7709966" y="3032239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B34ECFE6-3A47-B97E-BE0B-95B8B60F0B42}"/>
              </a:ext>
            </a:extLst>
          </p:cNvPr>
          <p:cNvSpPr/>
          <p:nvPr/>
        </p:nvSpPr>
        <p:spPr>
          <a:xfrm>
            <a:off x="7299071" y="3000105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CBB317B-3D03-E457-510A-51B1862F6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438" y="2805289"/>
            <a:ext cx="904875" cy="1619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E6D2C22-9806-C8F2-85E0-A202AF867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481" y="2802906"/>
            <a:ext cx="904875" cy="1619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3029C5A-AF00-A5E5-074B-E8A1D14A6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453" y="2822618"/>
            <a:ext cx="904875" cy="1619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483950-6E1D-5B41-710E-956275F8D6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924" y="2822897"/>
            <a:ext cx="904875" cy="16192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F8FF57D-08F7-A98A-739E-2E9590B753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2876" y="4632918"/>
            <a:ext cx="904875" cy="1619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949B178-3152-E9AA-2CA6-1FB6845226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8309" y="4637819"/>
            <a:ext cx="904875" cy="1619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D9F2977-1AB2-8042-B1C6-5F03E79820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5990" y="4629832"/>
            <a:ext cx="904875" cy="161925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B19D9E27-B0FF-9159-B8D5-71173DA20AB2}"/>
              </a:ext>
            </a:extLst>
          </p:cNvPr>
          <p:cNvSpPr/>
          <p:nvPr/>
        </p:nvSpPr>
        <p:spPr>
          <a:xfrm>
            <a:off x="9071442" y="3032237"/>
            <a:ext cx="164592" cy="173814"/>
          </a:xfrm>
          <a:prstGeom prst="ellipse">
            <a:avLst/>
          </a:prstGeom>
          <a:ln>
            <a:solidFill>
              <a:srgbClr val="9BD2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274FF50-1D9A-0B8C-1433-CF669460D1C6}"/>
              </a:ext>
            </a:extLst>
          </p:cNvPr>
          <p:cNvSpPr/>
          <p:nvPr/>
        </p:nvSpPr>
        <p:spPr>
          <a:xfrm>
            <a:off x="9071442" y="3428271"/>
            <a:ext cx="164592" cy="173814"/>
          </a:xfrm>
          <a:prstGeom prst="ellipse">
            <a:avLst/>
          </a:prstGeom>
          <a:solidFill>
            <a:srgbClr val="F6D8BF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1E324BB-BFFE-2B2E-802F-674712A3C04C}"/>
              </a:ext>
            </a:extLst>
          </p:cNvPr>
          <p:cNvSpPr txBox="1"/>
          <p:nvPr/>
        </p:nvSpPr>
        <p:spPr>
          <a:xfrm>
            <a:off x="9311473" y="2980644"/>
            <a:ext cx="9115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No-Target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2F88C8-ABFE-8434-93DC-385923CDA40A}"/>
              </a:ext>
            </a:extLst>
          </p:cNvPr>
          <p:cNvSpPr txBox="1"/>
          <p:nvPr/>
        </p:nvSpPr>
        <p:spPr>
          <a:xfrm>
            <a:off x="9311472" y="3358447"/>
            <a:ext cx="6306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Target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7ED2070-95A2-1A61-99B5-C6EFA9F35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3325" y="4636126"/>
            <a:ext cx="904875" cy="1619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417E76-E343-2BD4-5D59-B66CD1DE1BB6}"/>
              </a:ext>
            </a:extLst>
          </p:cNvPr>
          <p:cNvSpPr txBox="1"/>
          <p:nvPr/>
        </p:nvSpPr>
        <p:spPr>
          <a:xfrm>
            <a:off x="6691239" y="250119"/>
            <a:ext cx="333136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L" dirty="0">
              <a:latin typeface="Gill Sans MT" panose="020B0502020104020203" pitchFamily="34" charset="77"/>
            </a:endParaRPr>
          </a:p>
          <a:p>
            <a:endParaRPr lang="en-CL" dirty="0">
              <a:latin typeface="Gill Sans MT" panose="020B0502020104020203" pitchFamily="34" charset="77"/>
            </a:endParaRPr>
          </a:p>
          <a:p>
            <a:r>
              <a:rPr lang="en-CL" dirty="0">
                <a:latin typeface="Gill Sans MT" panose="020B0502020104020203" pitchFamily="34" charset="77"/>
              </a:rPr>
              <a:t>4)   Cómo medir la separabilidad?</a:t>
            </a:r>
          </a:p>
          <a:p>
            <a:endParaRPr lang="en-CL" dirty="0">
              <a:latin typeface="Gill Sans MT" panose="020B0502020104020203" pitchFamily="34" charset="77"/>
            </a:endParaRPr>
          </a:p>
          <a:p>
            <a:endParaRPr lang="en-CL" dirty="0"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endParaRPr lang="en-CL" dirty="0">
              <a:latin typeface="Gill Sans MT" panose="020B0502020104020203" pitchFamily="34" charset="77"/>
            </a:endParaRPr>
          </a:p>
          <a:p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60A29D-0EFE-D500-02C3-D05D78C432CB}"/>
              </a:ext>
            </a:extLst>
          </p:cNvPr>
          <p:cNvSpPr txBox="1"/>
          <p:nvPr/>
        </p:nvSpPr>
        <p:spPr>
          <a:xfrm>
            <a:off x="3141781" y="2838131"/>
            <a:ext cx="3498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a)                                             b)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53FE25-6626-79FA-E3DF-B469D71548C9}"/>
              </a:ext>
            </a:extLst>
          </p:cNvPr>
          <p:cNvSpPr txBox="1"/>
          <p:nvPr/>
        </p:nvSpPr>
        <p:spPr>
          <a:xfrm>
            <a:off x="3143456" y="4618360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c)                                             d)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E3F9DA-341F-66D7-7E3C-679EA5A1C9E8}"/>
              </a:ext>
            </a:extLst>
          </p:cNvPr>
          <p:cNvSpPr txBox="1"/>
          <p:nvPr/>
        </p:nvSpPr>
        <p:spPr>
          <a:xfrm>
            <a:off x="1617644" y="250119"/>
            <a:ext cx="485100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400" dirty="0">
                <a:solidFill>
                  <a:schemeClr val="accent2"/>
                </a:solidFill>
                <a:latin typeface="Gill Sans MT" panose="020B0502020104020203" pitchFamily="34" charset="77"/>
              </a:rPr>
              <a:t>Ejercicio: Selección de Características</a:t>
            </a:r>
          </a:p>
          <a:p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Entre la a) y la b), cuál es la mejor?</a:t>
            </a:r>
          </a:p>
          <a:p>
            <a:pPr marL="342900" indent="-342900">
              <a:buAutoNum type="arabicParenR"/>
            </a:pPr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Entre la c) y la d) cuál es mejor?</a:t>
            </a:r>
          </a:p>
          <a:p>
            <a:pPr marL="342900" indent="-342900">
              <a:buAutoNum type="arabicParenR"/>
            </a:pPr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Y cuál es la mejor de todas?</a:t>
            </a:r>
          </a:p>
          <a:p>
            <a:endParaRPr lang="en-CL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929833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DE559-06F0-5EF8-F935-F8BC2CC99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707280F-2D7D-0535-8F5A-4F1D730DEFFA}"/>
              </a:ext>
            </a:extLst>
          </p:cNvPr>
          <p:cNvSpPr/>
          <p:nvPr/>
        </p:nvSpPr>
        <p:spPr>
          <a:xfrm>
            <a:off x="3464706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2F5D05-D92C-120F-30AC-396D84204E3A}"/>
              </a:ext>
            </a:extLst>
          </p:cNvPr>
          <p:cNvSpPr/>
          <p:nvPr/>
        </p:nvSpPr>
        <p:spPr>
          <a:xfrm>
            <a:off x="3462862" y="459689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4444A2F-1394-8D8B-99F7-0B2DA79D7EE8}"/>
              </a:ext>
            </a:extLst>
          </p:cNvPr>
          <p:cNvSpPr/>
          <p:nvPr/>
        </p:nvSpPr>
        <p:spPr>
          <a:xfrm>
            <a:off x="6588689" y="2769848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788A89D-1612-2979-8F21-3ECFA19827F0}"/>
              </a:ext>
            </a:extLst>
          </p:cNvPr>
          <p:cNvSpPr/>
          <p:nvPr/>
        </p:nvSpPr>
        <p:spPr>
          <a:xfrm>
            <a:off x="4806499" y="3016677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B8F1A8D-495A-772B-EBC0-80E735F118E9}"/>
              </a:ext>
            </a:extLst>
          </p:cNvPr>
          <p:cNvSpPr/>
          <p:nvPr/>
        </p:nvSpPr>
        <p:spPr>
          <a:xfrm>
            <a:off x="3894970" y="2984543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F6DB5B1-0E7D-1A07-ECBA-3C3D89F7220B}"/>
              </a:ext>
            </a:extLst>
          </p:cNvPr>
          <p:cNvSpPr/>
          <p:nvPr/>
        </p:nvSpPr>
        <p:spPr>
          <a:xfrm>
            <a:off x="4577684" y="484842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8DD20C21-BCEE-9266-4248-152264899A11}"/>
              </a:ext>
            </a:extLst>
          </p:cNvPr>
          <p:cNvSpPr/>
          <p:nvPr/>
        </p:nvSpPr>
        <p:spPr>
          <a:xfrm>
            <a:off x="3707843" y="481628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EDC88F-785D-A600-2575-385EA7CD04C2}"/>
              </a:ext>
            </a:extLst>
          </p:cNvPr>
          <p:cNvCxnSpPr/>
          <p:nvPr/>
        </p:nvCxnSpPr>
        <p:spPr>
          <a:xfrm flipV="1">
            <a:off x="3707910" y="3644975"/>
            <a:ext cx="1905143" cy="5685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9C5A45F-0520-3848-74BD-0BA2ED92643C}"/>
              </a:ext>
            </a:extLst>
          </p:cNvPr>
          <p:cNvSpPr txBox="1"/>
          <p:nvPr/>
        </p:nvSpPr>
        <p:spPr>
          <a:xfrm>
            <a:off x="5375480" y="360208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C2C88E-4D53-A936-C4D6-8ACDA3A36D91}"/>
              </a:ext>
            </a:extLst>
          </p:cNvPr>
          <p:cNvCxnSpPr/>
          <p:nvPr/>
        </p:nvCxnSpPr>
        <p:spPr>
          <a:xfrm>
            <a:off x="6588689" y="3647817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01B578-201D-F2D1-B426-39FF68E24096}"/>
              </a:ext>
            </a:extLst>
          </p:cNvPr>
          <p:cNvSpPr txBox="1"/>
          <p:nvPr/>
        </p:nvSpPr>
        <p:spPr>
          <a:xfrm>
            <a:off x="8534709" y="3604927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2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D383B08-CBD9-DD7E-DE40-BEDDA70F4D38}"/>
              </a:ext>
            </a:extLst>
          </p:cNvPr>
          <p:cNvCxnSpPr/>
          <p:nvPr/>
        </p:nvCxnSpPr>
        <p:spPr>
          <a:xfrm>
            <a:off x="3476618" y="547770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2373423-1C16-CE66-B842-9013A7D00414}"/>
              </a:ext>
            </a:extLst>
          </p:cNvPr>
          <p:cNvSpPr txBox="1"/>
          <p:nvPr/>
        </p:nvSpPr>
        <p:spPr>
          <a:xfrm>
            <a:off x="5422638" y="543481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AE85474-94EF-BD8C-BDAF-496F09E54639}"/>
              </a:ext>
            </a:extLst>
          </p:cNvPr>
          <p:cNvSpPr/>
          <p:nvPr/>
        </p:nvSpPr>
        <p:spPr>
          <a:xfrm>
            <a:off x="6573259" y="459405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5FA811C0-0A41-40D4-2F53-C95C0002D04B}"/>
              </a:ext>
            </a:extLst>
          </p:cNvPr>
          <p:cNvSpPr/>
          <p:nvPr/>
        </p:nvSpPr>
        <p:spPr>
          <a:xfrm>
            <a:off x="7297355" y="4835203"/>
            <a:ext cx="1262531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158B3BE-708F-74E1-55F0-A4DDB199CE3B}"/>
              </a:ext>
            </a:extLst>
          </p:cNvPr>
          <p:cNvSpPr/>
          <p:nvPr/>
        </p:nvSpPr>
        <p:spPr>
          <a:xfrm>
            <a:off x="6977880" y="4813202"/>
            <a:ext cx="1441658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604969-ED27-5A5F-C004-8631DFF0E2E7}"/>
              </a:ext>
            </a:extLst>
          </p:cNvPr>
          <p:cNvCxnSpPr/>
          <p:nvPr/>
        </p:nvCxnSpPr>
        <p:spPr>
          <a:xfrm>
            <a:off x="6573259" y="5472022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146E10-1384-1DF9-E895-C487695ED48F}"/>
              </a:ext>
            </a:extLst>
          </p:cNvPr>
          <p:cNvSpPr txBox="1"/>
          <p:nvPr/>
        </p:nvSpPr>
        <p:spPr>
          <a:xfrm>
            <a:off x="8519278" y="5429133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4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F26FA78-9560-C60B-0501-B0C6292A806C}"/>
              </a:ext>
            </a:extLst>
          </p:cNvPr>
          <p:cNvSpPr/>
          <p:nvPr/>
        </p:nvSpPr>
        <p:spPr>
          <a:xfrm>
            <a:off x="7709966" y="3032239"/>
            <a:ext cx="422573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AD5FC871-DEF7-FBC8-052A-BE0E93BF6D46}"/>
              </a:ext>
            </a:extLst>
          </p:cNvPr>
          <p:cNvSpPr/>
          <p:nvPr/>
        </p:nvSpPr>
        <p:spPr>
          <a:xfrm>
            <a:off x="7299071" y="3000105"/>
            <a:ext cx="422573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EF7959C-CDE1-8F97-3FE6-4E56AD223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438" y="2805289"/>
            <a:ext cx="904875" cy="1619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A7ECD25-8AF8-2FB6-B85A-BA9112CE6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481" y="2802906"/>
            <a:ext cx="904875" cy="1619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DDF7769-39F2-3118-E806-F17E27F54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453" y="2822618"/>
            <a:ext cx="904875" cy="1619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27662D4-5A26-CCEA-9DBF-2BC908A35A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924" y="2822897"/>
            <a:ext cx="904875" cy="16192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10C188A-2B9C-BC6F-9554-886991B6F8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2876" y="4632918"/>
            <a:ext cx="904875" cy="1619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CEFA807-5A8D-1BE8-8D01-6369CD7AA0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8309" y="4637819"/>
            <a:ext cx="904875" cy="1619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5BA29F4-AB39-FD4B-35C3-A9F87CCD25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5990" y="4629832"/>
            <a:ext cx="904875" cy="161925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BD75C660-7122-6B1E-9506-2264AFA67253}"/>
              </a:ext>
            </a:extLst>
          </p:cNvPr>
          <p:cNvSpPr/>
          <p:nvPr/>
        </p:nvSpPr>
        <p:spPr>
          <a:xfrm>
            <a:off x="9071442" y="3032237"/>
            <a:ext cx="164592" cy="173814"/>
          </a:xfrm>
          <a:prstGeom prst="ellipse">
            <a:avLst/>
          </a:prstGeom>
          <a:ln>
            <a:solidFill>
              <a:srgbClr val="9BD2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A965E90-D876-588E-0420-70A8A34EB14F}"/>
              </a:ext>
            </a:extLst>
          </p:cNvPr>
          <p:cNvSpPr/>
          <p:nvPr/>
        </p:nvSpPr>
        <p:spPr>
          <a:xfrm>
            <a:off x="9071442" y="3428271"/>
            <a:ext cx="164592" cy="173814"/>
          </a:xfrm>
          <a:prstGeom prst="ellipse">
            <a:avLst/>
          </a:prstGeom>
          <a:solidFill>
            <a:srgbClr val="F6D8BF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sz="1350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2D4ED3-673A-1ED0-C7E8-296B3388FF45}"/>
              </a:ext>
            </a:extLst>
          </p:cNvPr>
          <p:cNvSpPr txBox="1"/>
          <p:nvPr/>
        </p:nvSpPr>
        <p:spPr>
          <a:xfrm>
            <a:off x="9311473" y="2980644"/>
            <a:ext cx="9115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No-Target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3073FF-1B39-BF89-287B-6DFE1106C800}"/>
              </a:ext>
            </a:extLst>
          </p:cNvPr>
          <p:cNvSpPr txBox="1"/>
          <p:nvPr/>
        </p:nvSpPr>
        <p:spPr>
          <a:xfrm>
            <a:off x="9311472" y="3358447"/>
            <a:ext cx="6306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350" dirty="0">
                <a:latin typeface="Gill Sans MT" panose="020B0502020104020203" pitchFamily="34" charset="77"/>
              </a:rPr>
              <a:t>Target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6B94238-5FCB-42B0-D3B6-8CA345D258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3325" y="4636126"/>
            <a:ext cx="904875" cy="1619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AF8518-E6F5-67EB-87A2-256E4523DC2C}"/>
              </a:ext>
            </a:extLst>
          </p:cNvPr>
          <p:cNvSpPr txBox="1"/>
          <p:nvPr/>
        </p:nvSpPr>
        <p:spPr>
          <a:xfrm>
            <a:off x="3143456" y="4618360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c)                                             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6D7DB9-D5D1-A0A4-4957-04F8BD0577AA}"/>
              </a:ext>
            </a:extLst>
          </p:cNvPr>
          <p:cNvSpPr txBox="1"/>
          <p:nvPr/>
        </p:nvSpPr>
        <p:spPr>
          <a:xfrm>
            <a:off x="6691240" y="250118"/>
            <a:ext cx="379398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L" dirty="0">
              <a:latin typeface="Gill Sans MT" panose="020B0502020104020203" pitchFamily="34" charset="77"/>
            </a:endParaRPr>
          </a:p>
          <a:p>
            <a:endParaRPr lang="en-CL" dirty="0">
              <a:latin typeface="Gill Sans MT" panose="020B0502020104020203" pitchFamily="34" charset="77"/>
            </a:endParaRPr>
          </a:p>
          <a:p>
            <a:r>
              <a:rPr lang="en-CL" dirty="0">
                <a:latin typeface="Gill Sans MT" panose="020B0502020104020203" pitchFamily="34" charset="77"/>
              </a:rPr>
              <a:t>4)   Cómo medir la separabilidad?</a:t>
            </a:r>
          </a:p>
          <a:p>
            <a:endParaRPr lang="en-CL" dirty="0">
              <a:latin typeface="Gill Sans MT" panose="020B0502020104020203" pitchFamily="34" charset="77"/>
            </a:endParaRPr>
          </a:p>
          <a:p>
            <a:r>
              <a:rPr lang="en-CL" dirty="0">
                <a:latin typeface="Gill Sans MT" panose="020B0502020104020203" pitchFamily="34" charset="77"/>
              </a:rPr>
              <a:t>(qué nota le ponemos, y cómo calcular</a:t>
            </a:r>
          </a:p>
          <a:p>
            <a:r>
              <a:rPr lang="en-CL" dirty="0">
                <a:latin typeface="Gill Sans MT" panose="020B0502020104020203" pitchFamily="34" charset="77"/>
              </a:rPr>
              <a:t>esta nota de manera objetiva?)</a:t>
            </a:r>
          </a:p>
          <a:p>
            <a:pPr marL="342900" indent="-342900">
              <a:buAutoNum type="arabicParenR"/>
            </a:pPr>
            <a:endParaRPr lang="en-CL" dirty="0">
              <a:latin typeface="Gill Sans MT" panose="020B0502020104020203" pitchFamily="34" charset="77"/>
            </a:endParaRPr>
          </a:p>
          <a:p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31DA4A-8EEB-74BB-FF71-545CBAB137D9}"/>
              </a:ext>
            </a:extLst>
          </p:cNvPr>
          <p:cNvSpPr txBox="1"/>
          <p:nvPr/>
        </p:nvSpPr>
        <p:spPr>
          <a:xfrm>
            <a:off x="4029383" y="3926703"/>
            <a:ext cx="4750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J = 7.0                                                     J = 5.6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E95EA7-5190-C6F8-92B1-8B95988F59AC}"/>
              </a:ext>
            </a:extLst>
          </p:cNvPr>
          <p:cNvSpPr txBox="1"/>
          <p:nvPr/>
        </p:nvSpPr>
        <p:spPr>
          <a:xfrm>
            <a:off x="4073697" y="5794881"/>
            <a:ext cx="4750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J = 4.1                                                     J = 2.7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C9E25F-86F0-82E2-7C76-E012107F6328}"/>
              </a:ext>
            </a:extLst>
          </p:cNvPr>
          <p:cNvSpPr txBox="1"/>
          <p:nvPr/>
        </p:nvSpPr>
        <p:spPr>
          <a:xfrm>
            <a:off x="3141781" y="2838131"/>
            <a:ext cx="3498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a)                                             b)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6A1204-1561-41E4-18A7-3FD2592B8C8A}"/>
              </a:ext>
            </a:extLst>
          </p:cNvPr>
          <p:cNvSpPr txBox="1"/>
          <p:nvPr/>
        </p:nvSpPr>
        <p:spPr>
          <a:xfrm>
            <a:off x="1617644" y="250119"/>
            <a:ext cx="485100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400" dirty="0">
                <a:solidFill>
                  <a:schemeClr val="accent2"/>
                </a:solidFill>
                <a:latin typeface="Gill Sans MT" panose="020B0502020104020203" pitchFamily="34" charset="77"/>
              </a:rPr>
              <a:t>Ejercicio: Selección de Características</a:t>
            </a:r>
          </a:p>
          <a:p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Entre la a) y la b), cuál es la mejor?</a:t>
            </a:r>
          </a:p>
          <a:p>
            <a:pPr marL="342900" indent="-342900">
              <a:buAutoNum type="arabicParenR"/>
            </a:pPr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Entre la c) y la d) cuál es mejor?</a:t>
            </a:r>
          </a:p>
          <a:p>
            <a:pPr marL="342900" indent="-342900">
              <a:buAutoNum type="arabicParenR"/>
            </a:pPr>
            <a:endParaRPr lang="en-CL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r>
              <a:rPr lang="en-CL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Y cuál es la mejor de todas?</a:t>
            </a:r>
          </a:p>
          <a:p>
            <a:endParaRPr lang="en-CL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34071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81607-C6FD-C2D7-5BE4-ACEF8ED49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F4876A-218A-3CCC-20FE-FCA5D1A5BEC7}"/>
              </a:ext>
            </a:extLst>
          </p:cNvPr>
          <p:cNvSpPr/>
          <p:nvPr/>
        </p:nvSpPr>
        <p:spPr>
          <a:xfrm>
            <a:off x="1500701" y="142161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08702E-183A-F3D8-A52F-E4C02EACABD9}"/>
              </a:ext>
            </a:extLst>
          </p:cNvPr>
          <p:cNvSpPr/>
          <p:nvPr/>
        </p:nvSpPr>
        <p:spPr>
          <a:xfrm>
            <a:off x="2615523" y="167314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79EAE81-201C-5FA9-5CA1-0FBB47D94E45}"/>
              </a:ext>
            </a:extLst>
          </p:cNvPr>
          <p:cNvSpPr/>
          <p:nvPr/>
        </p:nvSpPr>
        <p:spPr>
          <a:xfrm>
            <a:off x="1745682" y="164100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6CFD091-B2F1-B26F-DAB2-053883057914}"/>
              </a:ext>
            </a:extLst>
          </p:cNvPr>
          <p:cNvCxnSpPr/>
          <p:nvPr/>
        </p:nvCxnSpPr>
        <p:spPr>
          <a:xfrm>
            <a:off x="1514457" y="230242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E72792-AB5F-7C72-F2AC-32A12208AA4C}"/>
              </a:ext>
            </a:extLst>
          </p:cNvPr>
          <p:cNvSpPr txBox="1"/>
          <p:nvPr/>
        </p:nvSpPr>
        <p:spPr>
          <a:xfrm>
            <a:off x="3460477" y="225953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7336FD-4F18-4C57-A0CD-3218348CA2FA}"/>
              </a:ext>
            </a:extLst>
          </p:cNvPr>
          <p:cNvSpPr txBox="1"/>
          <p:nvPr/>
        </p:nvSpPr>
        <p:spPr>
          <a:xfrm>
            <a:off x="3707546" y="1814495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C7B200BD-64AC-FE81-4BD4-B5E60BC9E05D}"/>
              </a:ext>
            </a:extLst>
          </p:cNvPr>
          <p:cNvSpPr/>
          <p:nvPr/>
        </p:nvSpPr>
        <p:spPr>
          <a:xfrm>
            <a:off x="5062422" y="142161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1997EB52-AF97-D1CB-3F0A-28AAE048B76D}"/>
              </a:ext>
            </a:extLst>
          </p:cNvPr>
          <p:cNvSpPr/>
          <p:nvPr/>
        </p:nvSpPr>
        <p:spPr>
          <a:xfrm>
            <a:off x="5996620" y="167314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59FCA432-518A-92F2-0D1F-2DC7A007D1FE}"/>
              </a:ext>
            </a:extLst>
          </p:cNvPr>
          <p:cNvSpPr/>
          <p:nvPr/>
        </p:nvSpPr>
        <p:spPr>
          <a:xfrm>
            <a:off x="5420293" y="164100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4EE90E0-CB92-EFE5-7C1E-42D48463C00B}"/>
              </a:ext>
            </a:extLst>
          </p:cNvPr>
          <p:cNvCxnSpPr/>
          <p:nvPr/>
        </p:nvCxnSpPr>
        <p:spPr>
          <a:xfrm>
            <a:off x="5076178" y="230242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372C025-0FD2-A18E-0792-CB8CFA095BB3}"/>
              </a:ext>
            </a:extLst>
          </p:cNvPr>
          <p:cNvSpPr txBox="1"/>
          <p:nvPr/>
        </p:nvSpPr>
        <p:spPr>
          <a:xfrm>
            <a:off x="7022198" y="225953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3F2BC3A-840A-ADD2-A285-12FD2B2CC729}"/>
              </a:ext>
            </a:extLst>
          </p:cNvPr>
          <p:cNvSpPr txBox="1"/>
          <p:nvPr/>
        </p:nvSpPr>
        <p:spPr>
          <a:xfrm>
            <a:off x="7156308" y="1831427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6DCADD94-35FB-9790-1913-D420E5805575}"/>
              </a:ext>
            </a:extLst>
          </p:cNvPr>
          <p:cNvSpPr/>
          <p:nvPr/>
        </p:nvSpPr>
        <p:spPr>
          <a:xfrm>
            <a:off x="8511184" y="1438542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15E29D45-0F23-AE9E-418C-B9D7B4B367E1}"/>
              </a:ext>
            </a:extLst>
          </p:cNvPr>
          <p:cNvSpPr/>
          <p:nvPr/>
        </p:nvSpPr>
        <p:spPr>
          <a:xfrm>
            <a:off x="9355070" y="1690074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42EA5F26-9800-BF4E-674D-3D36759DE5EF}"/>
              </a:ext>
            </a:extLst>
          </p:cNvPr>
          <p:cNvSpPr/>
          <p:nvPr/>
        </p:nvSpPr>
        <p:spPr>
          <a:xfrm>
            <a:off x="9049679" y="1657940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80712C0-678B-174B-CD53-FDE6568DD0AC}"/>
              </a:ext>
            </a:extLst>
          </p:cNvPr>
          <p:cNvCxnSpPr/>
          <p:nvPr/>
        </p:nvCxnSpPr>
        <p:spPr>
          <a:xfrm>
            <a:off x="8524940" y="2319353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A8107C5-CE6F-BC88-C0F8-17B2FD5130E9}"/>
              </a:ext>
            </a:extLst>
          </p:cNvPr>
          <p:cNvSpPr txBox="1"/>
          <p:nvPr/>
        </p:nvSpPr>
        <p:spPr>
          <a:xfrm>
            <a:off x="10470960" y="2276464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209379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5D1FC-8560-C653-806F-2FE9A3CCB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5387428-B483-614B-1A7E-2A0F999B6FD4}"/>
              </a:ext>
            </a:extLst>
          </p:cNvPr>
          <p:cNvSpPr/>
          <p:nvPr/>
        </p:nvSpPr>
        <p:spPr>
          <a:xfrm>
            <a:off x="1500701" y="142161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B07BC63-B11E-1D5D-6768-223E6A8D7B58}"/>
              </a:ext>
            </a:extLst>
          </p:cNvPr>
          <p:cNvSpPr/>
          <p:nvPr/>
        </p:nvSpPr>
        <p:spPr>
          <a:xfrm>
            <a:off x="2615523" y="167314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4F24410F-165C-1186-F30C-A2CBC11B1DDD}"/>
              </a:ext>
            </a:extLst>
          </p:cNvPr>
          <p:cNvSpPr/>
          <p:nvPr/>
        </p:nvSpPr>
        <p:spPr>
          <a:xfrm>
            <a:off x="1745682" y="164100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951D4A-89F2-241D-436B-40B2F8A2FF02}"/>
              </a:ext>
            </a:extLst>
          </p:cNvPr>
          <p:cNvCxnSpPr/>
          <p:nvPr/>
        </p:nvCxnSpPr>
        <p:spPr>
          <a:xfrm>
            <a:off x="1514457" y="230242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0FC445-C760-A853-C0B9-4692AD72821A}"/>
              </a:ext>
            </a:extLst>
          </p:cNvPr>
          <p:cNvSpPr txBox="1"/>
          <p:nvPr/>
        </p:nvSpPr>
        <p:spPr>
          <a:xfrm>
            <a:off x="3460477" y="225953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F0DA3B-94DF-3F4C-EA03-20609275F588}"/>
              </a:ext>
            </a:extLst>
          </p:cNvPr>
          <p:cNvSpPr txBox="1"/>
          <p:nvPr/>
        </p:nvSpPr>
        <p:spPr>
          <a:xfrm>
            <a:off x="2849512" y="472273"/>
            <a:ext cx="4425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IDEA:                                          maximizar!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AC783E-BE4A-BA78-6DDE-B5D65E09964E}"/>
              </a:ext>
            </a:extLst>
          </p:cNvPr>
          <p:cNvSpPr txBox="1"/>
          <p:nvPr/>
        </p:nvSpPr>
        <p:spPr>
          <a:xfrm>
            <a:off x="3707546" y="1814495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3112D580-7257-89F4-7BC7-5912AF606144}"/>
              </a:ext>
            </a:extLst>
          </p:cNvPr>
          <p:cNvSpPr/>
          <p:nvPr/>
        </p:nvSpPr>
        <p:spPr>
          <a:xfrm>
            <a:off x="5062422" y="142161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032A3B7-EE92-9BEF-F145-D716AF0221A9}"/>
              </a:ext>
            </a:extLst>
          </p:cNvPr>
          <p:cNvSpPr/>
          <p:nvPr/>
        </p:nvSpPr>
        <p:spPr>
          <a:xfrm>
            <a:off x="5996620" y="167314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00E43522-4C92-507F-C8E2-8CE87D184C39}"/>
              </a:ext>
            </a:extLst>
          </p:cNvPr>
          <p:cNvSpPr/>
          <p:nvPr/>
        </p:nvSpPr>
        <p:spPr>
          <a:xfrm>
            <a:off x="5420293" y="164100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4972707-A534-5078-460B-D3487334CA0E}"/>
              </a:ext>
            </a:extLst>
          </p:cNvPr>
          <p:cNvCxnSpPr/>
          <p:nvPr/>
        </p:nvCxnSpPr>
        <p:spPr>
          <a:xfrm>
            <a:off x="5076178" y="230242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2A5A0C1-99F3-4B06-8908-7518913B3E84}"/>
              </a:ext>
            </a:extLst>
          </p:cNvPr>
          <p:cNvSpPr txBox="1"/>
          <p:nvPr/>
        </p:nvSpPr>
        <p:spPr>
          <a:xfrm>
            <a:off x="7022198" y="225953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4B9DBBB-7075-1C53-A123-F461702B1E35}"/>
              </a:ext>
            </a:extLst>
          </p:cNvPr>
          <p:cNvSpPr txBox="1"/>
          <p:nvPr/>
        </p:nvSpPr>
        <p:spPr>
          <a:xfrm>
            <a:off x="7156308" y="1831427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DA71BDA4-B65E-CD4D-E9AB-226C1533146A}"/>
              </a:ext>
            </a:extLst>
          </p:cNvPr>
          <p:cNvSpPr/>
          <p:nvPr/>
        </p:nvSpPr>
        <p:spPr>
          <a:xfrm>
            <a:off x="8511184" y="1438542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FB785730-4D02-9605-2307-C58221EAFE09}"/>
              </a:ext>
            </a:extLst>
          </p:cNvPr>
          <p:cNvSpPr/>
          <p:nvPr/>
        </p:nvSpPr>
        <p:spPr>
          <a:xfrm>
            <a:off x="9355070" y="1690074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F40CA10A-7741-CF14-28EE-0175CFF0F6AF}"/>
              </a:ext>
            </a:extLst>
          </p:cNvPr>
          <p:cNvSpPr/>
          <p:nvPr/>
        </p:nvSpPr>
        <p:spPr>
          <a:xfrm>
            <a:off x="9049679" y="1657940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1AAEECD-9601-164C-D38A-C28B71FA73FF}"/>
              </a:ext>
            </a:extLst>
          </p:cNvPr>
          <p:cNvCxnSpPr/>
          <p:nvPr/>
        </p:nvCxnSpPr>
        <p:spPr>
          <a:xfrm>
            <a:off x="8524940" y="2319353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B7F0446-0C9F-6B6D-8214-166BEE164F00}"/>
              </a:ext>
            </a:extLst>
          </p:cNvPr>
          <p:cNvSpPr txBox="1"/>
          <p:nvPr/>
        </p:nvSpPr>
        <p:spPr>
          <a:xfrm>
            <a:off x="10470960" y="2276464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EB76AC-7A45-5503-5278-F632B398DDF2}"/>
              </a:ext>
            </a:extLst>
          </p:cNvPr>
          <p:cNvSpPr txBox="1"/>
          <p:nvPr/>
        </p:nvSpPr>
        <p:spPr>
          <a:xfrm>
            <a:off x="3301298" y="2876018"/>
            <a:ext cx="6615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dirty="0">
                <a:latin typeface="Gill Sans MT" panose="020B0502020104020203" pitchFamily="34" charset="77"/>
              </a:rPr>
              <a:t>Medir la separación de las distribuciones, </a:t>
            </a:r>
          </a:p>
          <a:p>
            <a:pPr algn="ctr"/>
            <a:r>
              <a:rPr lang="en-CL" dirty="0">
                <a:latin typeface="Gill Sans MT" panose="020B0502020104020203" pitchFamily="34" charset="77"/>
              </a:rPr>
              <a:t>entre mayor sea la distancia entre las medias, mejor es la separación.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AD6E2C7-1D0D-BD9E-FDF4-CE5DF84D1FD1}"/>
              </a:ext>
            </a:extLst>
          </p:cNvPr>
          <p:cNvSpPr/>
          <p:nvPr/>
        </p:nvSpPr>
        <p:spPr>
          <a:xfrm>
            <a:off x="978568" y="1267326"/>
            <a:ext cx="10282990" cy="2390274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746AF-94A5-CA3C-1599-61CE724A12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95" r="33524" b="54547"/>
          <a:stretch>
            <a:fillRect/>
          </a:stretch>
        </p:blipFill>
        <p:spPr>
          <a:xfrm>
            <a:off x="4123732" y="430567"/>
            <a:ext cx="1796483" cy="40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87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111D9-CE95-7AF2-8EBD-3C07E34DA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F7983E9-3F02-BCD4-5B72-7533DD2D3D48}"/>
              </a:ext>
            </a:extLst>
          </p:cNvPr>
          <p:cNvSpPr/>
          <p:nvPr/>
        </p:nvSpPr>
        <p:spPr>
          <a:xfrm>
            <a:off x="1514457" y="395720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5FD95B85-E7A4-FCBC-05EE-B01165F10985}"/>
              </a:ext>
            </a:extLst>
          </p:cNvPr>
          <p:cNvSpPr/>
          <p:nvPr/>
        </p:nvSpPr>
        <p:spPr>
          <a:xfrm>
            <a:off x="3173237" y="4208735"/>
            <a:ext cx="24828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67F838D-C15F-B14D-355D-A101ACCC1BE6}"/>
              </a:ext>
            </a:extLst>
          </p:cNvPr>
          <p:cNvSpPr/>
          <p:nvPr/>
        </p:nvSpPr>
        <p:spPr>
          <a:xfrm>
            <a:off x="1804595" y="4176601"/>
            <a:ext cx="336199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7F1E80D-00B2-C44E-B71C-7AF9539E28F6}"/>
              </a:ext>
            </a:extLst>
          </p:cNvPr>
          <p:cNvCxnSpPr/>
          <p:nvPr/>
        </p:nvCxnSpPr>
        <p:spPr>
          <a:xfrm>
            <a:off x="1528213" y="4838014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7946A46-D535-5517-AFB3-F3F968D4046C}"/>
              </a:ext>
            </a:extLst>
          </p:cNvPr>
          <p:cNvSpPr txBox="1"/>
          <p:nvPr/>
        </p:nvSpPr>
        <p:spPr>
          <a:xfrm>
            <a:off x="3474233" y="479512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A3C63D9-9E86-ED06-2873-9DC082EBE7CC}"/>
              </a:ext>
            </a:extLst>
          </p:cNvPr>
          <p:cNvSpPr txBox="1"/>
          <p:nvPr/>
        </p:nvSpPr>
        <p:spPr>
          <a:xfrm>
            <a:off x="3721302" y="4350088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7B1C4E25-59D3-5D6A-258E-20AF4762E71D}"/>
              </a:ext>
            </a:extLst>
          </p:cNvPr>
          <p:cNvSpPr/>
          <p:nvPr/>
        </p:nvSpPr>
        <p:spPr>
          <a:xfrm>
            <a:off x="5076178" y="395720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DA9628B0-B23C-E004-324C-1C7CAE1A433D}"/>
              </a:ext>
            </a:extLst>
          </p:cNvPr>
          <p:cNvSpPr/>
          <p:nvPr/>
        </p:nvSpPr>
        <p:spPr>
          <a:xfrm>
            <a:off x="6405491" y="4208735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9E20E014-8DB7-91C7-0E19-1223DE7BAAF9}"/>
              </a:ext>
            </a:extLst>
          </p:cNvPr>
          <p:cNvSpPr/>
          <p:nvPr/>
        </p:nvSpPr>
        <p:spPr>
          <a:xfrm>
            <a:off x="5321160" y="4176601"/>
            <a:ext cx="661951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FEE8C4C-79EB-7A29-76FE-F18A5AD69533}"/>
              </a:ext>
            </a:extLst>
          </p:cNvPr>
          <p:cNvCxnSpPr/>
          <p:nvPr/>
        </p:nvCxnSpPr>
        <p:spPr>
          <a:xfrm>
            <a:off x="5089934" y="4838014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CFCB88B-19F3-A5E1-7D43-A40307DDC4D1}"/>
              </a:ext>
            </a:extLst>
          </p:cNvPr>
          <p:cNvSpPr txBox="1"/>
          <p:nvPr/>
        </p:nvSpPr>
        <p:spPr>
          <a:xfrm>
            <a:off x="7035954" y="479512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0A2355B-95EC-7604-45A3-574779DD3B15}"/>
              </a:ext>
            </a:extLst>
          </p:cNvPr>
          <p:cNvSpPr txBox="1"/>
          <p:nvPr/>
        </p:nvSpPr>
        <p:spPr>
          <a:xfrm>
            <a:off x="7170064" y="4367020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54B70F74-7318-B841-8548-1B50D97CF8EB}"/>
              </a:ext>
            </a:extLst>
          </p:cNvPr>
          <p:cNvSpPr/>
          <p:nvPr/>
        </p:nvSpPr>
        <p:spPr>
          <a:xfrm>
            <a:off x="8524940" y="3974135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5E789746-6965-BC78-90D0-AFA35DB5E38B}"/>
              </a:ext>
            </a:extLst>
          </p:cNvPr>
          <p:cNvSpPr/>
          <p:nvPr/>
        </p:nvSpPr>
        <p:spPr>
          <a:xfrm>
            <a:off x="9933276" y="4225667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687D38B7-2E07-825E-D939-F219CEEF6E69}"/>
              </a:ext>
            </a:extLst>
          </p:cNvPr>
          <p:cNvSpPr/>
          <p:nvPr/>
        </p:nvSpPr>
        <p:spPr>
          <a:xfrm>
            <a:off x="8498988" y="4193533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46639DA-72FA-6262-3D60-D6DAA18ED44D}"/>
              </a:ext>
            </a:extLst>
          </p:cNvPr>
          <p:cNvCxnSpPr/>
          <p:nvPr/>
        </p:nvCxnSpPr>
        <p:spPr>
          <a:xfrm>
            <a:off x="8538696" y="4854946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CE94CFCC-B0FD-14F0-BA66-1829F9D13E99}"/>
              </a:ext>
            </a:extLst>
          </p:cNvPr>
          <p:cNvSpPr txBox="1"/>
          <p:nvPr/>
        </p:nvSpPr>
        <p:spPr>
          <a:xfrm>
            <a:off x="10484716" y="4812057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342460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E301-924C-DA9D-1DAA-8CBF3AB8F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D80B671B-76D7-E62F-93DF-38DECDE1A716}"/>
              </a:ext>
            </a:extLst>
          </p:cNvPr>
          <p:cNvSpPr/>
          <p:nvPr/>
        </p:nvSpPr>
        <p:spPr>
          <a:xfrm>
            <a:off x="1514457" y="395720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5C7BEA2E-7B5B-FB13-B87B-F1BDE6D2D015}"/>
              </a:ext>
            </a:extLst>
          </p:cNvPr>
          <p:cNvSpPr/>
          <p:nvPr/>
        </p:nvSpPr>
        <p:spPr>
          <a:xfrm>
            <a:off x="3173237" y="4208735"/>
            <a:ext cx="24828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E4FA2A64-7FA3-43E8-7E72-16840BA4DDDA}"/>
              </a:ext>
            </a:extLst>
          </p:cNvPr>
          <p:cNvSpPr/>
          <p:nvPr/>
        </p:nvSpPr>
        <p:spPr>
          <a:xfrm>
            <a:off x="1804595" y="4176601"/>
            <a:ext cx="336199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596E381-DE04-B46B-42C0-29C987D5460E}"/>
              </a:ext>
            </a:extLst>
          </p:cNvPr>
          <p:cNvCxnSpPr/>
          <p:nvPr/>
        </p:nvCxnSpPr>
        <p:spPr>
          <a:xfrm>
            <a:off x="1528213" y="4838014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9A113D2-2168-AA8D-66ED-A8DB430A4A64}"/>
              </a:ext>
            </a:extLst>
          </p:cNvPr>
          <p:cNvSpPr txBox="1"/>
          <p:nvPr/>
        </p:nvSpPr>
        <p:spPr>
          <a:xfrm>
            <a:off x="3474233" y="479512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220C3C-EB6C-3503-2C62-73CC636BB060}"/>
              </a:ext>
            </a:extLst>
          </p:cNvPr>
          <p:cNvSpPr txBox="1"/>
          <p:nvPr/>
        </p:nvSpPr>
        <p:spPr>
          <a:xfrm>
            <a:off x="3721302" y="4350088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AE79A610-551D-1664-8F72-3D5A2CA2A886}"/>
              </a:ext>
            </a:extLst>
          </p:cNvPr>
          <p:cNvSpPr/>
          <p:nvPr/>
        </p:nvSpPr>
        <p:spPr>
          <a:xfrm>
            <a:off x="5076178" y="395720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A7E3825A-8996-C7FB-B63E-86DBE73B9B0D}"/>
              </a:ext>
            </a:extLst>
          </p:cNvPr>
          <p:cNvSpPr/>
          <p:nvPr/>
        </p:nvSpPr>
        <p:spPr>
          <a:xfrm>
            <a:off x="6405491" y="4208735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5056C49D-5E2B-38EC-9B60-D5395C7F5C49}"/>
              </a:ext>
            </a:extLst>
          </p:cNvPr>
          <p:cNvSpPr/>
          <p:nvPr/>
        </p:nvSpPr>
        <p:spPr>
          <a:xfrm>
            <a:off x="5321160" y="4176601"/>
            <a:ext cx="661951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E9191A3-54F1-195A-8144-BC3D3495D1A2}"/>
              </a:ext>
            </a:extLst>
          </p:cNvPr>
          <p:cNvCxnSpPr/>
          <p:nvPr/>
        </p:nvCxnSpPr>
        <p:spPr>
          <a:xfrm>
            <a:off x="5089934" y="4838014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C19A574-FA97-8860-A4AC-9A7E0B623AAB}"/>
              </a:ext>
            </a:extLst>
          </p:cNvPr>
          <p:cNvSpPr txBox="1"/>
          <p:nvPr/>
        </p:nvSpPr>
        <p:spPr>
          <a:xfrm>
            <a:off x="7035954" y="479512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B182E76-0DFA-EFB9-129D-6519A42DD6F7}"/>
              </a:ext>
            </a:extLst>
          </p:cNvPr>
          <p:cNvSpPr txBox="1"/>
          <p:nvPr/>
        </p:nvSpPr>
        <p:spPr>
          <a:xfrm>
            <a:off x="7170064" y="4367020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307E4611-F918-6ACF-1628-86A04203355B}"/>
              </a:ext>
            </a:extLst>
          </p:cNvPr>
          <p:cNvSpPr/>
          <p:nvPr/>
        </p:nvSpPr>
        <p:spPr>
          <a:xfrm>
            <a:off x="8524940" y="3974135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F59FAE8-9108-978E-2858-600B8E00AAD7}"/>
              </a:ext>
            </a:extLst>
          </p:cNvPr>
          <p:cNvSpPr/>
          <p:nvPr/>
        </p:nvSpPr>
        <p:spPr>
          <a:xfrm>
            <a:off x="9933276" y="4225667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BE2D30DA-F549-6F58-8850-8AA6B780EBB5}"/>
              </a:ext>
            </a:extLst>
          </p:cNvPr>
          <p:cNvSpPr/>
          <p:nvPr/>
        </p:nvSpPr>
        <p:spPr>
          <a:xfrm>
            <a:off x="8498988" y="4193533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17E6EC1-EFF7-3C61-C72F-7E68A9841F6B}"/>
              </a:ext>
            </a:extLst>
          </p:cNvPr>
          <p:cNvCxnSpPr/>
          <p:nvPr/>
        </p:nvCxnSpPr>
        <p:spPr>
          <a:xfrm>
            <a:off x="8538696" y="4854946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EB87381C-5DB6-802F-94F8-21104E9277A3}"/>
              </a:ext>
            </a:extLst>
          </p:cNvPr>
          <p:cNvSpPr txBox="1"/>
          <p:nvPr/>
        </p:nvSpPr>
        <p:spPr>
          <a:xfrm>
            <a:off x="10484716" y="4812057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A9BBAB-2ACD-5957-D436-39BCFF60B780}"/>
              </a:ext>
            </a:extLst>
          </p:cNvPr>
          <p:cNvSpPr txBox="1"/>
          <p:nvPr/>
        </p:nvSpPr>
        <p:spPr>
          <a:xfrm>
            <a:off x="3705741" y="5269265"/>
            <a:ext cx="5468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dirty="0">
                <a:latin typeface="Gill Sans MT" panose="020B0502020104020203" pitchFamily="34" charset="77"/>
              </a:rPr>
              <a:t>Medir la dispersión de las distribuciones, </a:t>
            </a:r>
          </a:p>
          <a:p>
            <a:pPr algn="ctr"/>
            <a:r>
              <a:rPr lang="en-CL" dirty="0">
                <a:latin typeface="Gill Sans MT" panose="020B0502020104020203" pitchFamily="34" charset="77"/>
              </a:rPr>
              <a:t>entre más angostas las campanas mejor es la separación.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72648C0-CBC4-6DD3-2DC7-D970A3F12431}"/>
              </a:ext>
            </a:extLst>
          </p:cNvPr>
          <p:cNvSpPr/>
          <p:nvPr/>
        </p:nvSpPr>
        <p:spPr>
          <a:xfrm>
            <a:off x="978568" y="3796732"/>
            <a:ext cx="10282990" cy="2390274"/>
          </a:xfrm>
          <a:prstGeom prst="round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A0DAF8-CE5A-5FDB-DAEF-38998E920976}"/>
              </a:ext>
            </a:extLst>
          </p:cNvPr>
          <p:cNvSpPr txBox="1"/>
          <p:nvPr/>
        </p:nvSpPr>
        <p:spPr>
          <a:xfrm>
            <a:off x="2849512" y="6327175"/>
            <a:ext cx="4379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IDEA:                                          minimizar!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BED159-7948-1CEA-39BD-393EB84998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95" t="56390" r="33524" b="2213"/>
          <a:stretch>
            <a:fillRect/>
          </a:stretch>
        </p:blipFill>
        <p:spPr>
          <a:xfrm>
            <a:off x="4123732" y="6351856"/>
            <a:ext cx="1796483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8260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49C3C-C266-E716-7684-D4145DA3F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5357727-7C97-73DB-23D7-29B5A6E9F1DE}"/>
              </a:ext>
            </a:extLst>
          </p:cNvPr>
          <p:cNvSpPr/>
          <p:nvPr/>
        </p:nvSpPr>
        <p:spPr>
          <a:xfrm>
            <a:off x="1500701" y="142161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C28B1A98-0AB9-30E7-745A-1F182CAB3866}"/>
              </a:ext>
            </a:extLst>
          </p:cNvPr>
          <p:cNvSpPr/>
          <p:nvPr/>
        </p:nvSpPr>
        <p:spPr>
          <a:xfrm>
            <a:off x="2615523" y="167314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7F1A42AA-344F-232F-B354-58B45C3EA0DC}"/>
              </a:ext>
            </a:extLst>
          </p:cNvPr>
          <p:cNvSpPr/>
          <p:nvPr/>
        </p:nvSpPr>
        <p:spPr>
          <a:xfrm>
            <a:off x="1745682" y="164100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64BF02-87D2-9661-D310-609924CB26DC}"/>
              </a:ext>
            </a:extLst>
          </p:cNvPr>
          <p:cNvCxnSpPr/>
          <p:nvPr/>
        </p:nvCxnSpPr>
        <p:spPr>
          <a:xfrm>
            <a:off x="1514457" y="230242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B9B4400-5B90-0A09-0E73-830A670C1C3E}"/>
              </a:ext>
            </a:extLst>
          </p:cNvPr>
          <p:cNvSpPr txBox="1"/>
          <p:nvPr/>
        </p:nvSpPr>
        <p:spPr>
          <a:xfrm>
            <a:off x="3460477" y="225953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15748D-5560-5F24-CB57-BB255953AF58}"/>
              </a:ext>
            </a:extLst>
          </p:cNvPr>
          <p:cNvSpPr txBox="1"/>
          <p:nvPr/>
        </p:nvSpPr>
        <p:spPr>
          <a:xfrm>
            <a:off x="2849512" y="472273"/>
            <a:ext cx="1789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IDEA GENERAL: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1E77AC-4F4C-99C7-6229-93BF1D2484B8}"/>
              </a:ext>
            </a:extLst>
          </p:cNvPr>
          <p:cNvSpPr txBox="1"/>
          <p:nvPr/>
        </p:nvSpPr>
        <p:spPr>
          <a:xfrm>
            <a:off x="3707546" y="1814495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7B13FF0-4D04-2386-BEB9-A20882864975}"/>
              </a:ext>
            </a:extLst>
          </p:cNvPr>
          <p:cNvSpPr/>
          <p:nvPr/>
        </p:nvSpPr>
        <p:spPr>
          <a:xfrm>
            <a:off x="5062422" y="1421610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E00AA8EF-9F51-C42A-0B53-832AFA1F3210}"/>
              </a:ext>
            </a:extLst>
          </p:cNvPr>
          <p:cNvSpPr/>
          <p:nvPr/>
        </p:nvSpPr>
        <p:spPr>
          <a:xfrm>
            <a:off x="5996620" y="1673142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CA7E3BB6-54C4-9AE6-E224-B3620974B68D}"/>
              </a:ext>
            </a:extLst>
          </p:cNvPr>
          <p:cNvSpPr/>
          <p:nvPr/>
        </p:nvSpPr>
        <p:spPr>
          <a:xfrm>
            <a:off x="5420293" y="1641008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0B201C4-7005-FCB7-C2B9-196FF1CD2632}"/>
              </a:ext>
            </a:extLst>
          </p:cNvPr>
          <p:cNvCxnSpPr/>
          <p:nvPr/>
        </p:nvCxnSpPr>
        <p:spPr>
          <a:xfrm>
            <a:off x="5076178" y="2302421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B0FD552C-D177-A79B-51F4-26C1A39D7064}"/>
              </a:ext>
            </a:extLst>
          </p:cNvPr>
          <p:cNvSpPr txBox="1"/>
          <p:nvPr/>
        </p:nvSpPr>
        <p:spPr>
          <a:xfrm>
            <a:off x="7022198" y="2259532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9F7C45-46A3-B954-4AA7-AB21EA2276F1}"/>
              </a:ext>
            </a:extLst>
          </p:cNvPr>
          <p:cNvSpPr txBox="1"/>
          <p:nvPr/>
        </p:nvSpPr>
        <p:spPr>
          <a:xfrm>
            <a:off x="7156308" y="1831427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C2BD7F97-B9AC-CCD4-F798-305BCE427535}"/>
              </a:ext>
            </a:extLst>
          </p:cNvPr>
          <p:cNvSpPr/>
          <p:nvPr/>
        </p:nvSpPr>
        <p:spPr>
          <a:xfrm>
            <a:off x="8511184" y="1438542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A3926340-CDBD-A151-78F1-33006DA10DBC}"/>
              </a:ext>
            </a:extLst>
          </p:cNvPr>
          <p:cNvSpPr/>
          <p:nvPr/>
        </p:nvSpPr>
        <p:spPr>
          <a:xfrm>
            <a:off x="9355070" y="1690074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CBB5B1FA-26F9-6D74-E5C8-F63B23C4ABAB}"/>
              </a:ext>
            </a:extLst>
          </p:cNvPr>
          <p:cNvSpPr/>
          <p:nvPr/>
        </p:nvSpPr>
        <p:spPr>
          <a:xfrm>
            <a:off x="9049679" y="1657940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F663A41-8048-E731-69CE-BAB8758328CD}"/>
              </a:ext>
            </a:extLst>
          </p:cNvPr>
          <p:cNvCxnSpPr/>
          <p:nvPr/>
        </p:nvCxnSpPr>
        <p:spPr>
          <a:xfrm>
            <a:off x="8524940" y="2319353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D6F764B-873B-F50C-5C32-217D578B4201}"/>
              </a:ext>
            </a:extLst>
          </p:cNvPr>
          <p:cNvSpPr txBox="1"/>
          <p:nvPr/>
        </p:nvSpPr>
        <p:spPr>
          <a:xfrm>
            <a:off x="10470960" y="2276464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17B5E7B4-D45F-E6E7-E264-C1946F75A8A1}"/>
              </a:ext>
            </a:extLst>
          </p:cNvPr>
          <p:cNvSpPr/>
          <p:nvPr/>
        </p:nvSpPr>
        <p:spPr>
          <a:xfrm>
            <a:off x="1514457" y="395720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B6E2C62F-F2DC-03C1-8687-07FB54BD8A5D}"/>
              </a:ext>
            </a:extLst>
          </p:cNvPr>
          <p:cNvSpPr/>
          <p:nvPr/>
        </p:nvSpPr>
        <p:spPr>
          <a:xfrm>
            <a:off x="3173237" y="4208735"/>
            <a:ext cx="24828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C625830A-CC1F-BD6A-73BF-503E8B0C8DA2}"/>
              </a:ext>
            </a:extLst>
          </p:cNvPr>
          <p:cNvSpPr/>
          <p:nvPr/>
        </p:nvSpPr>
        <p:spPr>
          <a:xfrm>
            <a:off x="1804595" y="4176601"/>
            <a:ext cx="336199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5BFFA26-5AC9-BAE8-5CDE-CD4FA2D4DC1B}"/>
              </a:ext>
            </a:extLst>
          </p:cNvPr>
          <p:cNvCxnSpPr/>
          <p:nvPr/>
        </p:nvCxnSpPr>
        <p:spPr>
          <a:xfrm>
            <a:off x="1528213" y="4838014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5F5268E1-51C2-2817-41B3-1E2DA5112E0B}"/>
              </a:ext>
            </a:extLst>
          </p:cNvPr>
          <p:cNvSpPr txBox="1"/>
          <p:nvPr/>
        </p:nvSpPr>
        <p:spPr>
          <a:xfrm>
            <a:off x="3474233" y="479512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3C5E14-A42D-873C-42CF-AC836273A310}"/>
              </a:ext>
            </a:extLst>
          </p:cNvPr>
          <p:cNvSpPr txBox="1"/>
          <p:nvPr/>
        </p:nvSpPr>
        <p:spPr>
          <a:xfrm>
            <a:off x="3721302" y="4350088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96087AA-4FB5-E556-B68D-0D513780F0B1}"/>
              </a:ext>
            </a:extLst>
          </p:cNvPr>
          <p:cNvSpPr/>
          <p:nvPr/>
        </p:nvSpPr>
        <p:spPr>
          <a:xfrm>
            <a:off x="5076178" y="3957203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93C09EA6-D71C-DA99-B31C-82A761634621}"/>
              </a:ext>
            </a:extLst>
          </p:cNvPr>
          <p:cNvSpPr/>
          <p:nvPr/>
        </p:nvSpPr>
        <p:spPr>
          <a:xfrm>
            <a:off x="6405491" y="4208735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E786B10B-A7B1-515C-EAFC-F3CEE9873BBE}"/>
              </a:ext>
            </a:extLst>
          </p:cNvPr>
          <p:cNvSpPr/>
          <p:nvPr/>
        </p:nvSpPr>
        <p:spPr>
          <a:xfrm>
            <a:off x="5321160" y="4176601"/>
            <a:ext cx="661951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ADB00E4A-2B41-BE60-C9D3-189CCE7475E1}"/>
              </a:ext>
            </a:extLst>
          </p:cNvPr>
          <p:cNvCxnSpPr/>
          <p:nvPr/>
        </p:nvCxnSpPr>
        <p:spPr>
          <a:xfrm>
            <a:off x="5089934" y="4838014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FD9630C-E67C-FF09-F85F-0ABED14517B4}"/>
              </a:ext>
            </a:extLst>
          </p:cNvPr>
          <p:cNvSpPr txBox="1"/>
          <p:nvPr/>
        </p:nvSpPr>
        <p:spPr>
          <a:xfrm>
            <a:off x="7035954" y="4795125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45933C-5B6A-57C2-2EF2-5589BE11C511}"/>
              </a:ext>
            </a:extLst>
          </p:cNvPr>
          <p:cNvSpPr txBox="1"/>
          <p:nvPr/>
        </p:nvSpPr>
        <p:spPr>
          <a:xfrm>
            <a:off x="7170064" y="4367020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MEJOR QUE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4B735B87-E697-1FA4-DBF9-357302C0AB9D}"/>
              </a:ext>
            </a:extLst>
          </p:cNvPr>
          <p:cNvSpPr/>
          <p:nvPr/>
        </p:nvSpPr>
        <p:spPr>
          <a:xfrm>
            <a:off x="8524940" y="3974135"/>
            <a:ext cx="2199023" cy="1155102"/>
          </a:xfrm>
          <a:prstGeom prst="roundRect">
            <a:avLst>
              <a:gd name="adj" fmla="val 10459"/>
            </a:avLst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167259A9-DC73-FA80-371B-A4EEE3D6ADB9}"/>
              </a:ext>
            </a:extLst>
          </p:cNvPr>
          <p:cNvSpPr/>
          <p:nvPr/>
        </p:nvSpPr>
        <p:spPr>
          <a:xfrm>
            <a:off x="9933276" y="4225667"/>
            <a:ext cx="893849" cy="612737"/>
          </a:xfrm>
          <a:custGeom>
            <a:avLst/>
            <a:gdLst>
              <a:gd name="connsiteX0" fmla="*/ 0 w 2963364"/>
              <a:gd name="connsiteY0" fmla="*/ 820696 h 820696"/>
              <a:gd name="connsiteX1" fmla="*/ 1147468 w 2963364"/>
              <a:gd name="connsiteY1" fmla="*/ 816983 h 820696"/>
              <a:gd name="connsiteX2" fmla="*/ 1288581 w 2963364"/>
              <a:gd name="connsiteY2" fmla="*/ 753852 h 820696"/>
              <a:gd name="connsiteX3" fmla="*/ 1448261 w 2963364"/>
              <a:gd name="connsiteY3" fmla="*/ 701863 h 820696"/>
              <a:gd name="connsiteX4" fmla="*/ 1596800 w 2963364"/>
              <a:gd name="connsiteY4" fmla="*/ 549607 h 820696"/>
              <a:gd name="connsiteX5" fmla="*/ 1749053 w 2963364"/>
              <a:gd name="connsiteY5" fmla="*/ 330507 h 820696"/>
              <a:gd name="connsiteX6" fmla="*/ 1893879 w 2963364"/>
              <a:gd name="connsiteY6" fmla="*/ 196820 h 820696"/>
              <a:gd name="connsiteX7" fmla="*/ 2053559 w 2963364"/>
              <a:gd name="connsiteY7" fmla="*/ 22283 h 820696"/>
              <a:gd name="connsiteX8" fmla="*/ 2209526 w 2963364"/>
              <a:gd name="connsiteY8" fmla="*/ 22283 h 820696"/>
              <a:gd name="connsiteX9" fmla="*/ 2350638 w 2963364"/>
              <a:gd name="connsiteY9" fmla="*/ 204247 h 820696"/>
              <a:gd name="connsiteX10" fmla="*/ 2510318 w 2963364"/>
              <a:gd name="connsiteY10" fmla="*/ 490190 h 820696"/>
              <a:gd name="connsiteX11" fmla="*/ 2651431 w 2963364"/>
              <a:gd name="connsiteY11" fmla="*/ 661013 h 820696"/>
              <a:gd name="connsiteX12" fmla="*/ 2807397 w 2963364"/>
              <a:gd name="connsiteY12" fmla="*/ 761279 h 820696"/>
              <a:gd name="connsiteX13" fmla="*/ 2963364 w 2963364"/>
              <a:gd name="connsiteY13" fmla="*/ 816983 h 820696"/>
              <a:gd name="connsiteX0" fmla="*/ 0 w 2963364"/>
              <a:gd name="connsiteY0" fmla="*/ 820696 h 857295"/>
              <a:gd name="connsiteX1" fmla="*/ 1147468 w 2963364"/>
              <a:gd name="connsiteY1" fmla="*/ 816983 h 857295"/>
              <a:gd name="connsiteX2" fmla="*/ 1288581 w 2963364"/>
              <a:gd name="connsiteY2" fmla="*/ 753852 h 857295"/>
              <a:gd name="connsiteX3" fmla="*/ 1448261 w 2963364"/>
              <a:gd name="connsiteY3" fmla="*/ 701863 h 857295"/>
              <a:gd name="connsiteX4" fmla="*/ 1596800 w 2963364"/>
              <a:gd name="connsiteY4" fmla="*/ 549607 h 857295"/>
              <a:gd name="connsiteX5" fmla="*/ 1749053 w 2963364"/>
              <a:gd name="connsiteY5" fmla="*/ 330507 h 857295"/>
              <a:gd name="connsiteX6" fmla="*/ 1893879 w 2963364"/>
              <a:gd name="connsiteY6" fmla="*/ 196820 h 857295"/>
              <a:gd name="connsiteX7" fmla="*/ 2053559 w 2963364"/>
              <a:gd name="connsiteY7" fmla="*/ 22283 h 857295"/>
              <a:gd name="connsiteX8" fmla="*/ 2209526 w 2963364"/>
              <a:gd name="connsiteY8" fmla="*/ 22283 h 857295"/>
              <a:gd name="connsiteX9" fmla="*/ 2350638 w 2963364"/>
              <a:gd name="connsiteY9" fmla="*/ 204247 h 857295"/>
              <a:gd name="connsiteX10" fmla="*/ 2510318 w 2963364"/>
              <a:gd name="connsiteY10" fmla="*/ 490190 h 857295"/>
              <a:gd name="connsiteX11" fmla="*/ 2651431 w 2963364"/>
              <a:gd name="connsiteY11" fmla="*/ 661013 h 857295"/>
              <a:gd name="connsiteX12" fmla="*/ 2807397 w 2963364"/>
              <a:gd name="connsiteY12" fmla="*/ 761279 h 857295"/>
              <a:gd name="connsiteX13" fmla="*/ 2963364 w 2963364"/>
              <a:gd name="connsiteY13" fmla="*/ 816983 h 857295"/>
              <a:gd name="connsiteX0" fmla="*/ 0 w 2963364"/>
              <a:gd name="connsiteY0" fmla="*/ 820696 h 857840"/>
              <a:gd name="connsiteX1" fmla="*/ 805827 w 2963364"/>
              <a:gd name="connsiteY1" fmla="*/ 857832 h 857840"/>
              <a:gd name="connsiteX2" fmla="*/ 1147468 w 2963364"/>
              <a:gd name="connsiteY2" fmla="*/ 816983 h 857840"/>
              <a:gd name="connsiteX3" fmla="*/ 1288581 w 2963364"/>
              <a:gd name="connsiteY3" fmla="*/ 753852 h 857840"/>
              <a:gd name="connsiteX4" fmla="*/ 1448261 w 2963364"/>
              <a:gd name="connsiteY4" fmla="*/ 701863 h 857840"/>
              <a:gd name="connsiteX5" fmla="*/ 1596800 w 2963364"/>
              <a:gd name="connsiteY5" fmla="*/ 549607 h 857840"/>
              <a:gd name="connsiteX6" fmla="*/ 1749053 w 2963364"/>
              <a:gd name="connsiteY6" fmla="*/ 330507 h 857840"/>
              <a:gd name="connsiteX7" fmla="*/ 1893879 w 2963364"/>
              <a:gd name="connsiteY7" fmla="*/ 196820 h 857840"/>
              <a:gd name="connsiteX8" fmla="*/ 2053559 w 2963364"/>
              <a:gd name="connsiteY8" fmla="*/ 22283 h 857840"/>
              <a:gd name="connsiteX9" fmla="*/ 2209526 w 2963364"/>
              <a:gd name="connsiteY9" fmla="*/ 22283 h 857840"/>
              <a:gd name="connsiteX10" fmla="*/ 2350638 w 2963364"/>
              <a:gd name="connsiteY10" fmla="*/ 204247 h 857840"/>
              <a:gd name="connsiteX11" fmla="*/ 2510318 w 2963364"/>
              <a:gd name="connsiteY11" fmla="*/ 490190 h 857840"/>
              <a:gd name="connsiteX12" fmla="*/ 2651431 w 2963364"/>
              <a:gd name="connsiteY12" fmla="*/ 661013 h 857840"/>
              <a:gd name="connsiteX13" fmla="*/ 2807397 w 2963364"/>
              <a:gd name="connsiteY13" fmla="*/ 761279 h 857840"/>
              <a:gd name="connsiteX14" fmla="*/ 2963364 w 2963364"/>
              <a:gd name="connsiteY14" fmla="*/ 816983 h 857840"/>
              <a:gd name="connsiteX0" fmla="*/ 0 w 2963364"/>
              <a:gd name="connsiteY0" fmla="*/ 820696 h 825156"/>
              <a:gd name="connsiteX1" fmla="*/ 798400 w 2963364"/>
              <a:gd name="connsiteY1" fmla="*/ 824410 h 825156"/>
              <a:gd name="connsiteX2" fmla="*/ 1147468 w 2963364"/>
              <a:gd name="connsiteY2" fmla="*/ 816983 h 825156"/>
              <a:gd name="connsiteX3" fmla="*/ 1288581 w 2963364"/>
              <a:gd name="connsiteY3" fmla="*/ 753852 h 825156"/>
              <a:gd name="connsiteX4" fmla="*/ 1448261 w 2963364"/>
              <a:gd name="connsiteY4" fmla="*/ 701863 h 825156"/>
              <a:gd name="connsiteX5" fmla="*/ 1596800 w 2963364"/>
              <a:gd name="connsiteY5" fmla="*/ 549607 h 825156"/>
              <a:gd name="connsiteX6" fmla="*/ 1749053 w 2963364"/>
              <a:gd name="connsiteY6" fmla="*/ 330507 h 825156"/>
              <a:gd name="connsiteX7" fmla="*/ 1893879 w 2963364"/>
              <a:gd name="connsiteY7" fmla="*/ 196820 h 825156"/>
              <a:gd name="connsiteX8" fmla="*/ 2053559 w 2963364"/>
              <a:gd name="connsiteY8" fmla="*/ 22283 h 825156"/>
              <a:gd name="connsiteX9" fmla="*/ 2209526 w 2963364"/>
              <a:gd name="connsiteY9" fmla="*/ 22283 h 825156"/>
              <a:gd name="connsiteX10" fmla="*/ 2350638 w 2963364"/>
              <a:gd name="connsiteY10" fmla="*/ 204247 h 825156"/>
              <a:gd name="connsiteX11" fmla="*/ 2510318 w 2963364"/>
              <a:gd name="connsiteY11" fmla="*/ 490190 h 825156"/>
              <a:gd name="connsiteX12" fmla="*/ 2651431 w 2963364"/>
              <a:gd name="connsiteY12" fmla="*/ 661013 h 825156"/>
              <a:gd name="connsiteX13" fmla="*/ 2807397 w 2963364"/>
              <a:gd name="connsiteY13" fmla="*/ 761279 h 825156"/>
              <a:gd name="connsiteX14" fmla="*/ 2963364 w 2963364"/>
              <a:gd name="connsiteY14" fmla="*/ 816983 h 825156"/>
              <a:gd name="connsiteX0" fmla="*/ 0 w 2164964"/>
              <a:gd name="connsiteY0" fmla="*/ 824410 h 824930"/>
              <a:gd name="connsiteX1" fmla="*/ 349068 w 2164964"/>
              <a:gd name="connsiteY1" fmla="*/ 816983 h 824930"/>
              <a:gd name="connsiteX2" fmla="*/ 490181 w 2164964"/>
              <a:gd name="connsiteY2" fmla="*/ 753852 h 824930"/>
              <a:gd name="connsiteX3" fmla="*/ 649861 w 2164964"/>
              <a:gd name="connsiteY3" fmla="*/ 701863 h 824930"/>
              <a:gd name="connsiteX4" fmla="*/ 798400 w 2164964"/>
              <a:gd name="connsiteY4" fmla="*/ 549607 h 824930"/>
              <a:gd name="connsiteX5" fmla="*/ 950653 w 2164964"/>
              <a:gd name="connsiteY5" fmla="*/ 330507 h 824930"/>
              <a:gd name="connsiteX6" fmla="*/ 1095479 w 2164964"/>
              <a:gd name="connsiteY6" fmla="*/ 196820 h 824930"/>
              <a:gd name="connsiteX7" fmla="*/ 1255159 w 2164964"/>
              <a:gd name="connsiteY7" fmla="*/ 22283 h 824930"/>
              <a:gd name="connsiteX8" fmla="*/ 1411126 w 2164964"/>
              <a:gd name="connsiteY8" fmla="*/ 22283 h 824930"/>
              <a:gd name="connsiteX9" fmla="*/ 1552238 w 2164964"/>
              <a:gd name="connsiteY9" fmla="*/ 204247 h 824930"/>
              <a:gd name="connsiteX10" fmla="*/ 1711918 w 2164964"/>
              <a:gd name="connsiteY10" fmla="*/ 490190 h 824930"/>
              <a:gd name="connsiteX11" fmla="*/ 1853031 w 2164964"/>
              <a:gd name="connsiteY11" fmla="*/ 661013 h 824930"/>
              <a:gd name="connsiteX12" fmla="*/ 2008997 w 2164964"/>
              <a:gd name="connsiteY12" fmla="*/ 761279 h 824930"/>
              <a:gd name="connsiteX13" fmla="*/ 2164964 w 2164964"/>
              <a:gd name="connsiteY13" fmla="*/ 816983 h 824930"/>
              <a:gd name="connsiteX0" fmla="*/ 0 w 1815896"/>
              <a:gd name="connsiteY0" fmla="*/ 816983 h 816983"/>
              <a:gd name="connsiteX1" fmla="*/ 141113 w 1815896"/>
              <a:gd name="connsiteY1" fmla="*/ 753852 h 816983"/>
              <a:gd name="connsiteX2" fmla="*/ 300793 w 1815896"/>
              <a:gd name="connsiteY2" fmla="*/ 701863 h 816983"/>
              <a:gd name="connsiteX3" fmla="*/ 449332 w 1815896"/>
              <a:gd name="connsiteY3" fmla="*/ 549607 h 816983"/>
              <a:gd name="connsiteX4" fmla="*/ 601585 w 1815896"/>
              <a:gd name="connsiteY4" fmla="*/ 330507 h 816983"/>
              <a:gd name="connsiteX5" fmla="*/ 746411 w 1815896"/>
              <a:gd name="connsiteY5" fmla="*/ 196820 h 816983"/>
              <a:gd name="connsiteX6" fmla="*/ 906091 w 1815896"/>
              <a:gd name="connsiteY6" fmla="*/ 22283 h 816983"/>
              <a:gd name="connsiteX7" fmla="*/ 1062058 w 1815896"/>
              <a:gd name="connsiteY7" fmla="*/ 22283 h 816983"/>
              <a:gd name="connsiteX8" fmla="*/ 1203170 w 1815896"/>
              <a:gd name="connsiteY8" fmla="*/ 204247 h 816983"/>
              <a:gd name="connsiteX9" fmla="*/ 1362850 w 1815896"/>
              <a:gd name="connsiteY9" fmla="*/ 490190 h 816983"/>
              <a:gd name="connsiteX10" fmla="*/ 1503963 w 1815896"/>
              <a:gd name="connsiteY10" fmla="*/ 661013 h 816983"/>
              <a:gd name="connsiteX11" fmla="*/ 1659929 w 1815896"/>
              <a:gd name="connsiteY11" fmla="*/ 761279 h 816983"/>
              <a:gd name="connsiteX12" fmla="*/ 1815896 w 1815896"/>
              <a:gd name="connsiteY12" fmla="*/ 816983 h 816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15896" h="816983">
                <a:moveTo>
                  <a:pt x="0" y="816983"/>
                </a:moveTo>
                <a:cubicBezTo>
                  <a:pt x="81697" y="805223"/>
                  <a:pt x="90981" y="773039"/>
                  <a:pt x="141113" y="753852"/>
                </a:cubicBezTo>
                <a:cubicBezTo>
                  <a:pt x="191245" y="734665"/>
                  <a:pt x="249423" y="735904"/>
                  <a:pt x="300793" y="701863"/>
                </a:cubicBezTo>
                <a:cubicBezTo>
                  <a:pt x="352163" y="667822"/>
                  <a:pt x="399200" y="611500"/>
                  <a:pt x="449332" y="549607"/>
                </a:cubicBezTo>
                <a:cubicBezTo>
                  <a:pt x="499464" y="487714"/>
                  <a:pt x="552072" y="389305"/>
                  <a:pt x="601585" y="330507"/>
                </a:cubicBezTo>
                <a:cubicBezTo>
                  <a:pt x="651098" y="271709"/>
                  <a:pt x="695660" y="248191"/>
                  <a:pt x="746411" y="196820"/>
                </a:cubicBezTo>
                <a:cubicBezTo>
                  <a:pt x="797162" y="145449"/>
                  <a:pt x="853483" y="51372"/>
                  <a:pt x="906091" y="22283"/>
                </a:cubicBezTo>
                <a:cubicBezTo>
                  <a:pt x="958699" y="-6806"/>
                  <a:pt x="1012545" y="-8044"/>
                  <a:pt x="1062058" y="22283"/>
                </a:cubicBezTo>
                <a:cubicBezTo>
                  <a:pt x="1111571" y="52610"/>
                  <a:pt x="1153038" y="126263"/>
                  <a:pt x="1203170" y="204247"/>
                </a:cubicBezTo>
                <a:cubicBezTo>
                  <a:pt x="1253302" y="282231"/>
                  <a:pt x="1312718" y="414062"/>
                  <a:pt x="1362850" y="490190"/>
                </a:cubicBezTo>
                <a:cubicBezTo>
                  <a:pt x="1412982" y="566318"/>
                  <a:pt x="1454450" y="615831"/>
                  <a:pt x="1503963" y="661013"/>
                </a:cubicBezTo>
                <a:cubicBezTo>
                  <a:pt x="1553476" y="706194"/>
                  <a:pt x="1607940" y="735284"/>
                  <a:pt x="1659929" y="761279"/>
                </a:cubicBezTo>
                <a:cubicBezTo>
                  <a:pt x="1711918" y="787274"/>
                  <a:pt x="1815896" y="816983"/>
                  <a:pt x="1815896" y="816983"/>
                </a:cubicBezTo>
              </a:path>
            </a:pathLst>
          </a:custGeom>
          <a:solidFill>
            <a:srgbClr val="FAC090">
              <a:alpha val="53000"/>
            </a:srgbClr>
          </a:solidFill>
          <a:ln>
            <a:solidFill>
              <a:srgbClr val="E4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B4A6CA6-3AAB-5355-F69D-95782FDEB2DF}"/>
              </a:ext>
            </a:extLst>
          </p:cNvPr>
          <p:cNvSpPr/>
          <p:nvPr/>
        </p:nvSpPr>
        <p:spPr>
          <a:xfrm>
            <a:off x="8498988" y="4193533"/>
            <a:ext cx="999844" cy="660433"/>
          </a:xfrm>
          <a:custGeom>
            <a:avLst/>
            <a:gdLst>
              <a:gd name="connsiteX0" fmla="*/ 0 w 2956079"/>
              <a:gd name="connsiteY0" fmla="*/ 873383 h 891292"/>
              <a:gd name="connsiteX1" fmla="*/ 93062 w 2956079"/>
              <a:gd name="connsiteY1" fmla="*/ 873383 h 891292"/>
              <a:gd name="connsiteX2" fmla="*/ 229917 w 2956079"/>
              <a:gd name="connsiteY2" fmla="*/ 687255 h 891292"/>
              <a:gd name="connsiteX3" fmla="*/ 377721 w 2956079"/>
              <a:gd name="connsiteY3" fmla="*/ 380691 h 891292"/>
              <a:gd name="connsiteX4" fmla="*/ 525525 w 2956079"/>
              <a:gd name="connsiteY4" fmla="*/ 150768 h 891292"/>
              <a:gd name="connsiteX5" fmla="*/ 673329 w 2956079"/>
              <a:gd name="connsiteY5" fmla="*/ 8435 h 891292"/>
              <a:gd name="connsiteX6" fmla="*/ 837556 w 2956079"/>
              <a:gd name="connsiteY6" fmla="*/ 30332 h 891292"/>
              <a:gd name="connsiteX7" fmla="*/ 979885 w 2956079"/>
              <a:gd name="connsiteY7" fmla="*/ 145294 h 891292"/>
              <a:gd name="connsiteX8" fmla="*/ 1138638 w 2956079"/>
              <a:gd name="connsiteY8" fmla="*/ 358794 h 891292"/>
              <a:gd name="connsiteX9" fmla="*/ 1275493 w 2956079"/>
              <a:gd name="connsiteY9" fmla="*/ 610614 h 891292"/>
              <a:gd name="connsiteX10" fmla="*/ 1439720 w 2956079"/>
              <a:gd name="connsiteY10" fmla="*/ 731050 h 891292"/>
              <a:gd name="connsiteX11" fmla="*/ 1592998 w 2956079"/>
              <a:gd name="connsiteY11" fmla="*/ 791268 h 891292"/>
              <a:gd name="connsiteX12" fmla="*/ 1746276 w 2956079"/>
              <a:gd name="connsiteY12" fmla="*/ 818640 h 891292"/>
              <a:gd name="connsiteX13" fmla="*/ 1959771 w 2956079"/>
              <a:gd name="connsiteY13" fmla="*/ 862434 h 891292"/>
              <a:gd name="connsiteX14" fmla="*/ 2956079 w 2956079"/>
              <a:gd name="connsiteY14" fmla="*/ 862434 h 891292"/>
              <a:gd name="connsiteX0" fmla="*/ 0 w 2956079"/>
              <a:gd name="connsiteY0" fmla="*/ 873383 h 880577"/>
              <a:gd name="connsiteX1" fmla="*/ 93062 w 2956079"/>
              <a:gd name="connsiteY1" fmla="*/ 873383 h 880577"/>
              <a:gd name="connsiteX2" fmla="*/ 229917 w 2956079"/>
              <a:gd name="connsiteY2" fmla="*/ 687255 h 880577"/>
              <a:gd name="connsiteX3" fmla="*/ 377721 w 2956079"/>
              <a:gd name="connsiteY3" fmla="*/ 380691 h 880577"/>
              <a:gd name="connsiteX4" fmla="*/ 525525 w 2956079"/>
              <a:gd name="connsiteY4" fmla="*/ 150768 h 880577"/>
              <a:gd name="connsiteX5" fmla="*/ 673329 w 2956079"/>
              <a:gd name="connsiteY5" fmla="*/ 8435 h 880577"/>
              <a:gd name="connsiteX6" fmla="*/ 837556 w 2956079"/>
              <a:gd name="connsiteY6" fmla="*/ 30332 h 880577"/>
              <a:gd name="connsiteX7" fmla="*/ 979885 w 2956079"/>
              <a:gd name="connsiteY7" fmla="*/ 145294 h 880577"/>
              <a:gd name="connsiteX8" fmla="*/ 1138638 w 2956079"/>
              <a:gd name="connsiteY8" fmla="*/ 358794 h 880577"/>
              <a:gd name="connsiteX9" fmla="*/ 1275493 w 2956079"/>
              <a:gd name="connsiteY9" fmla="*/ 610614 h 880577"/>
              <a:gd name="connsiteX10" fmla="*/ 1439720 w 2956079"/>
              <a:gd name="connsiteY10" fmla="*/ 731050 h 880577"/>
              <a:gd name="connsiteX11" fmla="*/ 1592998 w 2956079"/>
              <a:gd name="connsiteY11" fmla="*/ 791268 h 880577"/>
              <a:gd name="connsiteX12" fmla="*/ 1746276 w 2956079"/>
              <a:gd name="connsiteY12" fmla="*/ 818640 h 880577"/>
              <a:gd name="connsiteX13" fmla="*/ 1959771 w 2956079"/>
              <a:gd name="connsiteY13" fmla="*/ 862434 h 880577"/>
              <a:gd name="connsiteX14" fmla="*/ 2956079 w 2956079"/>
              <a:gd name="connsiteY14" fmla="*/ 862434 h 880577"/>
              <a:gd name="connsiteX0" fmla="*/ 0 w 1959771"/>
              <a:gd name="connsiteY0" fmla="*/ 873383 h 880577"/>
              <a:gd name="connsiteX1" fmla="*/ 93062 w 1959771"/>
              <a:gd name="connsiteY1" fmla="*/ 873383 h 880577"/>
              <a:gd name="connsiteX2" fmla="*/ 229917 w 1959771"/>
              <a:gd name="connsiteY2" fmla="*/ 687255 h 880577"/>
              <a:gd name="connsiteX3" fmla="*/ 377721 w 1959771"/>
              <a:gd name="connsiteY3" fmla="*/ 380691 h 880577"/>
              <a:gd name="connsiteX4" fmla="*/ 525525 w 1959771"/>
              <a:gd name="connsiteY4" fmla="*/ 150768 h 880577"/>
              <a:gd name="connsiteX5" fmla="*/ 673329 w 1959771"/>
              <a:gd name="connsiteY5" fmla="*/ 8435 h 880577"/>
              <a:gd name="connsiteX6" fmla="*/ 837556 w 1959771"/>
              <a:gd name="connsiteY6" fmla="*/ 30332 h 880577"/>
              <a:gd name="connsiteX7" fmla="*/ 979885 w 1959771"/>
              <a:gd name="connsiteY7" fmla="*/ 145294 h 880577"/>
              <a:gd name="connsiteX8" fmla="*/ 1138638 w 1959771"/>
              <a:gd name="connsiteY8" fmla="*/ 358794 h 880577"/>
              <a:gd name="connsiteX9" fmla="*/ 1275493 w 1959771"/>
              <a:gd name="connsiteY9" fmla="*/ 610614 h 880577"/>
              <a:gd name="connsiteX10" fmla="*/ 1439720 w 1959771"/>
              <a:gd name="connsiteY10" fmla="*/ 731050 h 880577"/>
              <a:gd name="connsiteX11" fmla="*/ 1592998 w 1959771"/>
              <a:gd name="connsiteY11" fmla="*/ 791268 h 880577"/>
              <a:gd name="connsiteX12" fmla="*/ 1746276 w 1959771"/>
              <a:gd name="connsiteY12" fmla="*/ 818640 h 880577"/>
              <a:gd name="connsiteX13" fmla="*/ 1959771 w 1959771"/>
              <a:gd name="connsiteY13" fmla="*/ 862434 h 880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59771" h="880577">
                <a:moveTo>
                  <a:pt x="0" y="873383"/>
                </a:moveTo>
                <a:cubicBezTo>
                  <a:pt x="27371" y="888893"/>
                  <a:pt x="54743" y="874695"/>
                  <a:pt x="93062" y="873383"/>
                </a:cubicBezTo>
                <a:cubicBezTo>
                  <a:pt x="131381" y="872071"/>
                  <a:pt x="182474" y="769370"/>
                  <a:pt x="229917" y="687255"/>
                </a:cubicBezTo>
                <a:cubicBezTo>
                  <a:pt x="277360" y="605140"/>
                  <a:pt x="328453" y="470105"/>
                  <a:pt x="377721" y="380691"/>
                </a:cubicBezTo>
                <a:cubicBezTo>
                  <a:pt x="426989" y="291277"/>
                  <a:pt x="476257" y="212811"/>
                  <a:pt x="525525" y="150768"/>
                </a:cubicBezTo>
                <a:cubicBezTo>
                  <a:pt x="574793" y="88725"/>
                  <a:pt x="621324" y="28508"/>
                  <a:pt x="673329" y="8435"/>
                </a:cubicBezTo>
                <a:cubicBezTo>
                  <a:pt x="725334" y="-11638"/>
                  <a:pt x="786463" y="7522"/>
                  <a:pt x="837556" y="30332"/>
                </a:cubicBezTo>
                <a:cubicBezTo>
                  <a:pt x="888649" y="53142"/>
                  <a:pt x="929705" y="90550"/>
                  <a:pt x="979885" y="145294"/>
                </a:cubicBezTo>
                <a:cubicBezTo>
                  <a:pt x="1030065" y="200038"/>
                  <a:pt x="1089370" y="281241"/>
                  <a:pt x="1138638" y="358794"/>
                </a:cubicBezTo>
                <a:cubicBezTo>
                  <a:pt x="1187906" y="436347"/>
                  <a:pt x="1225313" y="548571"/>
                  <a:pt x="1275493" y="610614"/>
                </a:cubicBezTo>
                <a:cubicBezTo>
                  <a:pt x="1325673" y="672657"/>
                  <a:pt x="1386803" y="700941"/>
                  <a:pt x="1439720" y="731050"/>
                </a:cubicBezTo>
                <a:cubicBezTo>
                  <a:pt x="1492638" y="761159"/>
                  <a:pt x="1541905" y="776670"/>
                  <a:pt x="1592998" y="791268"/>
                </a:cubicBezTo>
                <a:cubicBezTo>
                  <a:pt x="1644091" y="805866"/>
                  <a:pt x="1685147" y="806779"/>
                  <a:pt x="1746276" y="818640"/>
                </a:cubicBezTo>
                <a:cubicBezTo>
                  <a:pt x="1807405" y="830501"/>
                  <a:pt x="1758137" y="855135"/>
                  <a:pt x="1959771" y="862434"/>
                </a:cubicBezTo>
              </a:path>
            </a:pathLst>
          </a:custGeom>
          <a:solidFill>
            <a:schemeClr val="accent1">
              <a:lumMod val="60000"/>
              <a:lumOff val="40000"/>
              <a:alpha val="51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 dirty="0">
              <a:latin typeface="Gill Sans MT" panose="020B0502020104020203" pitchFamily="34" charset="77"/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9FBCD2F-1617-A6CA-4847-4D97EC0CD6C1}"/>
              </a:ext>
            </a:extLst>
          </p:cNvPr>
          <p:cNvCxnSpPr/>
          <p:nvPr/>
        </p:nvCxnSpPr>
        <p:spPr>
          <a:xfrm>
            <a:off x="8538696" y="4854946"/>
            <a:ext cx="218359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E88CFE3-C1C4-C640-95C9-467B113D4E6D}"/>
              </a:ext>
            </a:extLst>
          </p:cNvPr>
          <p:cNvSpPr txBox="1"/>
          <p:nvPr/>
        </p:nvSpPr>
        <p:spPr>
          <a:xfrm>
            <a:off x="10484716" y="4812057"/>
            <a:ext cx="2808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Gill Sans MT" panose="020B0502020104020203" pitchFamily="34" charset="77"/>
                <a:cs typeface="Times"/>
              </a:rPr>
              <a:t>x</a:t>
            </a:r>
            <a:r>
              <a:rPr lang="en-US" sz="900" baseline="-25000" dirty="0">
                <a:latin typeface="Gill Sans MT" panose="020B0502020104020203" pitchFamily="34" charset="77"/>
                <a:cs typeface="Times"/>
              </a:rPr>
              <a:t>3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C88535-108E-A940-F7CB-02991403FBD1}"/>
              </a:ext>
            </a:extLst>
          </p:cNvPr>
          <p:cNvSpPr/>
          <p:nvPr/>
        </p:nvSpPr>
        <p:spPr>
          <a:xfrm>
            <a:off x="978568" y="1267326"/>
            <a:ext cx="10282990" cy="2390274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86962B4-F1EF-0E88-1C66-5DB86EC7DE59}"/>
              </a:ext>
            </a:extLst>
          </p:cNvPr>
          <p:cNvSpPr/>
          <p:nvPr/>
        </p:nvSpPr>
        <p:spPr>
          <a:xfrm>
            <a:off x="978568" y="3796732"/>
            <a:ext cx="10282990" cy="2390274"/>
          </a:xfrm>
          <a:prstGeom prst="round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D367D0-34E7-22A9-1611-4C7DB0CC8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114" y="143750"/>
            <a:ext cx="3558688" cy="892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A1E293-CAD7-C98B-052D-5B785B691CFF}"/>
              </a:ext>
            </a:extLst>
          </p:cNvPr>
          <p:cNvSpPr txBox="1"/>
          <p:nvPr/>
        </p:nvSpPr>
        <p:spPr>
          <a:xfrm>
            <a:off x="3301298" y="2876018"/>
            <a:ext cx="6615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dirty="0">
                <a:latin typeface="Gill Sans MT" panose="020B0502020104020203" pitchFamily="34" charset="77"/>
              </a:rPr>
              <a:t>Medir la separación de las distribuciones, </a:t>
            </a:r>
          </a:p>
          <a:p>
            <a:pPr algn="ctr"/>
            <a:r>
              <a:rPr lang="en-CL" dirty="0">
                <a:latin typeface="Gill Sans MT" panose="020B0502020104020203" pitchFamily="34" charset="77"/>
              </a:rPr>
              <a:t>entre mayor sea la distancia entre las medias, mejor es la separación.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0D7F3E-AE01-A532-8B8C-E3EE8406BB60}"/>
              </a:ext>
            </a:extLst>
          </p:cNvPr>
          <p:cNvSpPr txBox="1"/>
          <p:nvPr/>
        </p:nvSpPr>
        <p:spPr>
          <a:xfrm>
            <a:off x="3705741" y="5269265"/>
            <a:ext cx="5468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dirty="0">
                <a:latin typeface="Gill Sans MT" panose="020B0502020104020203" pitchFamily="34" charset="77"/>
              </a:rPr>
              <a:t>Medir la dispersión de las distribuciones, </a:t>
            </a:r>
          </a:p>
          <a:p>
            <a:pPr algn="ctr"/>
            <a:r>
              <a:rPr lang="en-CL" dirty="0">
                <a:latin typeface="Gill Sans MT" panose="020B0502020104020203" pitchFamily="34" charset="77"/>
              </a:rPr>
              <a:t>entre más angostas las campanas mejor es la separación. </a:t>
            </a:r>
          </a:p>
        </p:txBody>
      </p:sp>
    </p:spTree>
    <p:extLst>
      <p:ext uri="{BB962C8B-B14F-4D97-AF65-F5344CB8AC3E}">
        <p14:creationId xmlns:p14="http://schemas.microsoft.com/office/powerpoint/2010/main" val="18381275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DDF2BD-8357-C787-48D0-ABA08105E0D7}"/>
              </a:ext>
            </a:extLst>
          </p:cNvPr>
          <p:cNvSpPr txBox="1"/>
          <p:nvPr/>
        </p:nvSpPr>
        <p:spPr>
          <a:xfrm>
            <a:off x="2753066" y="2463351"/>
            <a:ext cx="6685869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200" dirty="0">
                <a:latin typeface="Gill Sans MT" panose="020B0502020104020203" pitchFamily="34" charset="77"/>
              </a:rPr>
              <a:t>Con </a:t>
            </a:r>
            <a:r>
              <a:rPr lang="en-CL" sz="3200" dirty="0">
                <a:solidFill>
                  <a:schemeClr val="accent2"/>
                </a:solidFill>
                <a:latin typeface="Gill Sans MT" panose="020B0502020104020203" pitchFamily="34" charset="77"/>
              </a:rPr>
              <a:t>una sola característica </a:t>
            </a:r>
            <a:r>
              <a:rPr lang="en-CL" sz="3200" dirty="0">
                <a:latin typeface="Gill Sans MT" panose="020B0502020104020203" pitchFamily="34" charset="77"/>
              </a:rPr>
              <a:t>es sencillo: </a:t>
            </a:r>
          </a:p>
          <a:p>
            <a:pPr algn="ctr"/>
            <a:r>
              <a:rPr lang="en-CL" sz="3200" dirty="0">
                <a:latin typeface="Gill Sans MT" panose="020B0502020104020203" pitchFamily="34" charset="77"/>
              </a:rPr>
              <a:t>hay que medir medias y varianzas</a:t>
            </a:r>
          </a:p>
          <a:p>
            <a:pPr algn="ctr"/>
            <a:r>
              <a:rPr lang="en-US" sz="3200" dirty="0">
                <a:latin typeface="Gill Sans MT" panose="020B0502020104020203" pitchFamily="34" charset="77"/>
              </a:rPr>
              <a:t>y</a:t>
            </a:r>
            <a:r>
              <a:rPr lang="en-CL" sz="3200" dirty="0">
                <a:latin typeface="Gill Sans MT" panose="020B0502020104020203" pitchFamily="34" charset="77"/>
              </a:rPr>
              <a:t> calcular J,</a:t>
            </a:r>
          </a:p>
          <a:p>
            <a:pPr algn="ctr"/>
            <a:r>
              <a:rPr lang="en-CL" sz="3200" dirty="0">
                <a:latin typeface="Gill Sans MT" panose="020B0502020104020203" pitchFamily="34" charset="77"/>
              </a:rPr>
              <a:t>pero ¿qué pasa con </a:t>
            </a:r>
            <a:r>
              <a:rPr lang="en-CL" sz="3200" dirty="0">
                <a:solidFill>
                  <a:schemeClr val="accent2"/>
                </a:solidFill>
                <a:latin typeface="Gill Sans MT" panose="020B0502020104020203" pitchFamily="34" charset="77"/>
              </a:rPr>
              <a:t>dos características</a:t>
            </a:r>
            <a:r>
              <a:rPr lang="en-CL" sz="3200" dirty="0">
                <a:latin typeface="Gill Sans MT" panose="020B0502020104020203" pitchFamily="34" charset="7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0719D-0ECF-945C-5C32-E7EC8FEC2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656" y="1228270"/>
            <a:ext cx="3558688" cy="89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70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815" y="2206951"/>
            <a:ext cx="8577691" cy="26663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44815" y="1899538"/>
            <a:ext cx="6789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cs typeface="Arial"/>
              </a:rPr>
              <a:t>Malo                                                   Bueno                                                 Muy bueno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996910" y="1872960"/>
            <a:ext cx="2729366" cy="3247321"/>
          </a:xfrm>
          <a:prstGeom prst="roundRect">
            <a:avLst>
              <a:gd name="adj" fmla="val 6379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7668197" y="1872960"/>
            <a:ext cx="2729366" cy="3247321"/>
          </a:xfrm>
          <a:prstGeom prst="roundRect">
            <a:avLst>
              <a:gd name="adj" fmla="val 5908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xfrm>
            <a:off x="4831448" y="1872960"/>
            <a:ext cx="2729366" cy="3247321"/>
          </a:xfrm>
          <a:prstGeom prst="roundRect">
            <a:avLst>
              <a:gd name="adj" fmla="val 5123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2003410" y="2985315"/>
            <a:ext cx="2632091" cy="2030498"/>
            <a:chOff x="479409" y="2985315"/>
            <a:chExt cx="2632091" cy="2030498"/>
          </a:xfrm>
        </p:grpSpPr>
        <p:cxnSp>
          <p:nvCxnSpPr>
            <p:cNvPr id="69" name="Straight Arrow Connector 68"/>
            <p:cNvCxnSpPr/>
            <p:nvPr/>
          </p:nvCxnSpPr>
          <p:spPr>
            <a:xfrm>
              <a:off x="2484438" y="3226182"/>
              <a:ext cx="627062" cy="36132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/>
            <p:cNvSpPr txBox="1"/>
            <p:nvPr/>
          </p:nvSpPr>
          <p:spPr>
            <a:xfrm>
              <a:off x="479409" y="4541524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  <p:cxnSp>
          <p:nvCxnSpPr>
            <p:cNvPr id="21" name="Straight Arrow Connector 20"/>
            <p:cNvCxnSpPr/>
            <p:nvPr/>
          </p:nvCxnSpPr>
          <p:spPr>
            <a:xfrm flipV="1">
              <a:off x="743309" y="3135198"/>
              <a:ext cx="162142" cy="188061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2729396" y="2985315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23" name="Straight Arrow Connector 22"/>
            <p:cNvCxnSpPr/>
            <p:nvPr/>
          </p:nvCxnSpPr>
          <p:spPr>
            <a:xfrm>
              <a:off x="905451" y="3135198"/>
              <a:ext cx="598705" cy="35833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4838685" y="2985315"/>
            <a:ext cx="2632091" cy="2030498"/>
            <a:chOff x="479409" y="2985315"/>
            <a:chExt cx="2632091" cy="2030498"/>
          </a:xfrm>
        </p:grpSpPr>
        <p:cxnSp>
          <p:nvCxnSpPr>
            <p:cNvPr id="39" name="Straight Arrow Connector 38"/>
            <p:cNvCxnSpPr/>
            <p:nvPr/>
          </p:nvCxnSpPr>
          <p:spPr>
            <a:xfrm>
              <a:off x="2379663" y="3226182"/>
              <a:ext cx="731837" cy="36132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479409" y="4541524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  <p:cxnSp>
          <p:nvCxnSpPr>
            <p:cNvPr id="42" name="Straight Arrow Connector 41"/>
            <p:cNvCxnSpPr/>
            <p:nvPr/>
          </p:nvCxnSpPr>
          <p:spPr>
            <a:xfrm flipV="1">
              <a:off x="743309" y="3135198"/>
              <a:ext cx="162142" cy="188061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2729396" y="2985315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905451" y="3135198"/>
              <a:ext cx="430430" cy="35833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/>
          <p:cNvGrpSpPr/>
          <p:nvPr/>
        </p:nvGrpSpPr>
        <p:grpSpPr>
          <a:xfrm>
            <a:off x="7672879" y="2985315"/>
            <a:ext cx="2660066" cy="2030498"/>
            <a:chOff x="479409" y="2985315"/>
            <a:chExt cx="2660066" cy="2030498"/>
          </a:xfrm>
        </p:grpSpPr>
        <p:cxnSp>
          <p:nvCxnSpPr>
            <p:cNvPr id="46" name="Straight Arrow Connector 45"/>
            <p:cNvCxnSpPr/>
            <p:nvPr/>
          </p:nvCxnSpPr>
          <p:spPr>
            <a:xfrm>
              <a:off x="2367443" y="3222633"/>
              <a:ext cx="772032" cy="45276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/>
            <p:cNvSpPr txBox="1"/>
            <p:nvPr/>
          </p:nvSpPr>
          <p:spPr>
            <a:xfrm>
              <a:off x="479409" y="4541524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  <p:cxnSp>
          <p:nvCxnSpPr>
            <p:cNvPr id="48" name="Straight Arrow Connector 47"/>
            <p:cNvCxnSpPr/>
            <p:nvPr/>
          </p:nvCxnSpPr>
          <p:spPr>
            <a:xfrm flipV="1">
              <a:off x="743309" y="3135198"/>
              <a:ext cx="162142" cy="188061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2729396" y="2985315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50" name="Straight Arrow Connector 49"/>
            <p:cNvCxnSpPr/>
            <p:nvPr/>
          </p:nvCxnSpPr>
          <p:spPr>
            <a:xfrm>
              <a:off x="905451" y="3135198"/>
              <a:ext cx="243392" cy="1754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1" name="Straight Arrow Connector 50"/>
          <p:cNvCxnSpPr/>
          <p:nvPr/>
        </p:nvCxnSpPr>
        <p:spPr>
          <a:xfrm>
            <a:off x="8870447" y="3178144"/>
            <a:ext cx="487867" cy="38895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7713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942" y="459047"/>
            <a:ext cx="8577691" cy="2666388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2031537" y="1237411"/>
            <a:ext cx="2632091" cy="2030498"/>
            <a:chOff x="479409" y="2985315"/>
            <a:chExt cx="2632091" cy="2030498"/>
          </a:xfrm>
        </p:grpSpPr>
        <p:cxnSp>
          <p:nvCxnSpPr>
            <p:cNvPr id="69" name="Straight Arrow Connector 68"/>
            <p:cNvCxnSpPr/>
            <p:nvPr/>
          </p:nvCxnSpPr>
          <p:spPr>
            <a:xfrm>
              <a:off x="2484438" y="3226182"/>
              <a:ext cx="627062" cy="36132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/>
            <p:cNvSpPr txBox="1"/>
            <p:nvPr/>
          </p:nvSpPr>
          <p:spPr>
            <a:xfrm>
              <a:off x="479409" y="4541524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  <p:cxnSp>
          <p:nvCxnSpPr>
            <p:cNvPr id="21" name="Straight Arrow Connector 20"/>
            <p:cNvCxnSpPr/>
            <p:nvPr/>
          </p:nvCxnSpPr>
          <p:spPr>
            <a:xfrm flipV="1">
              <a:off x="743309" y="3135198"/>
              <a:ext cx="162142" cy="188061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2729396" y="2985315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23" name="Straight Arrow Connector 22"/>
            <p:cNvCxnSpPr/>
            <p:nvPr/>
          </p:nvCxnSpPr>
          <p:spPr>
            <a:xfrm>
              <a:off x="905451" y="3135198"/>
              <a:ext cx="598705" cy="35833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4866812" y="1237411"/>
            <a:ext cx="2632091" cy="2030498"/>
            <a:chOff x="479409" y="2985315"/>
            <a:chExt cx="2632091" cy="2030498"/>
          </a:xfrm>
        </p:grpSpPr>
        <p:cxnSp>
          <p:nvCxnSpPr>
            <p:cNvPr id="39" name="Straight Arrow Connector 38"/>
            <p:cNvCxnSpPr/>
            <p:nvPr/>
          </p:nvCxnSpPr>
          <p:spPr>
            <a:xfrm>
              <a:off x="2379663" y="3226182"/>
              <a:ext cx="731837" cy="36132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479409" y="4541524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  <p:cxnSp>
          <p:nvCxnSpPr>
            <p:cNvPr id="42" name="Straight Arrow Connector 41"/>
            <p:cNvCxnSpPr/>
            <p:nvPr/>
          </p:nvCxnSpPr>
          <p:spPr>
            <a:xfrm flipV="1">
              <a:off x="743309" y="3135198"/>
              <a:ext cx="162142" cy="188061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2729396" y="2985315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905451" y="3135198"/>
              <a:ext cx="430430" cy="35833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/>
          <p:cNvGrpSpPr/>
          <p:nvPr/>
        </p:nvGrpSpPr>
        <p:grpSpPr>
          <a:xfrm>
            <a:off x="7701006" y="1237411"/>
            <a:ext cx="2660066" cy="2030498"/>
            <a:chOff x="479409" y="2985315"/>
            <a:chExt cx="2660066" cy="2030498"/>
          </a:xfrm>
        </p:grpSpPr>
        <p:cxnSp>
          <p:nvCxnSpPr>
            <p:cNvPr id="46" name="Straight Arrow Connector 45"/>
            <p:cNvCxnSpPr/>
            <p:nvPr/>
          </p:nvCxnSpPr>
          <p:spPr>
            <a:xfrm>
              <a:off x="2367443" y="3222633"/>
              <a:ext cx="772032" cy="45276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/>
            <p:cNvSpPr txBox="1"/>
            <p:nvPr/>
          </p:nvSpPr>
          <p:spPr>
            <a:xfrm>
              <a:off x="479409" y="4541524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  <p:cxnSp>
          <p:nvCxnSpPr>
            <p:cNvPr id="48" name="Straight Arrow Connector 47"/>
            <p:cNvCxnSpPr/>
            <p:nvPr/>
          </p:nvCxnSpPr>
          <p:spPr>
            <a:xfrm flipV="1">
              <a:off x="743309" y="3135198"/>
              <a:ext cx="162142" cy="188061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2729396" y="2985315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50" name="Straight Arrow Connector 49"/>
            <p:cNvCxnSpPr/>
            <p:nvPr/>
          </p:nvCxnSpPr>
          <p:spPr>
            <a:xfrm>
              <a:off x="905451" y="3135198"/>
              <a:ext cx="243392" cy="17545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1" name="Straight Arrow Connector 50"/>
          <p:cNvCxnSpPr/>
          <p:nvPr/>
        </p:nvCxnSpPr>
        <p:spPr>
          <a:xfrm>
            <a:off x="8898574" y="1430240"/>
            <a:ext cx="487867" cy="38895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Screen Shot 2015-02-24 at 9.34.16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088" y="3510775"/>
            <a:ext cx="8444335" cy="2804218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7696324" y="125055"/>
            <a:ext cx="2729366" cy="6440934"/>
          </a:xfrm>
          <a:prstGeom prst="roundRect">
            <a:avLst>
              <a:gd name="adj" fmla="val 5908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xfrm>
            <a:off x="4859575" y="125055"/>
            <a:ext cx="2729366" cy="6440934"/>
          </a:xfrm>
          <a:prstGeom prst="roundRect">
            <a:avLst>
              <a:gd name="adj" fmla="val 5123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xfrm>
            <a:off x="2025037" y="125055"/>
            <a:ext cx="2729366" cy="6440934"/>
          </a:xfrm>
          <a:prstGeom prst="roundRect">
            <a:avLst>
              <a:gd name="adj" fmla="val 6379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/>
          <p:cNvGrpSpPr/>
          <p:nvPr/>
        </p:nvGrpSpPr>
        <p:grpSpPr>
          <a:xfrm>
            <a:off x="1972721" y="3643998"/>
            <a:ext cx="2783867" cy="2663696"/>
            <a:chOff x="584800" y="3643998"/>
            <a:chExt cx="2783867" cy="2663696"/>
          </a:xfrm>
        </p:grpSpPr>
        <p:cxnSp>
          <p:nvCxnSpPr>
            <p:cNvPr id="27" name="Straight Arrow Connector 26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30" name="Straight Arrow Connector 29"/>
            <p:cNvCxnSpPr/>
            <p:nvPr/>
          </p:nvCxnSpPr>
          <p:spPr>
            <a:xfrm>
              <a:off x="85681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838708" y="3643998"/>
            <a:ext cx="2783867" cy="2663696"/>
            <a:chOff x="584800" y="3643998"/>
            <a:chExt cx="2783867" cy="2663696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53" name="Group 52"/>
          <p:cNvGrpSpPr/>
          <p:nvPr/>
        </p:nvGrpSpPr>
        <p:grpSpPr>
          <a:xfrm>
            <a:off x="7697473" y="3652296"/>
            <a:ext cx="2783867" cy="2663696"/>
            <a:chOff x="584800" y="3643998"/>
            <a:chExt cx="2783867" cy="2663696"/>
          </a:xfrm>
        </p:grpSpPr>
        <p:cxnSp>
          <p:nvCxnSpPr>
            <p:cNvPr id="54" name="Straight Arrow Connector 53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56" name="Straight Arrow Connector 55"/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99D8311-C34D-2399-7860-4318374BFEDC}"/>
              </a:ext>
            </a:extLst>
          </p:cNvPr>
          <p:cNvSpPr txBox="1"/>
          <p:nvPr/>
        </p:nvSpPr>
        <p:spPr>
          <a:xfrm>
            <a:off x="2044815" y="132732"/>
            <a:ext cx="6789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cs typeface="Arial"/>
              </a:rPr>
              <a:t>Malo                                                   Bueno                                                 Muy bueno</a:t>
            </a:r>
          </a:p>
        </p:txBody>
      </p:sp>
    </p:spTree>
    <p:extLst>
      <p:ext uri="{BB962C8B-B14F-4D97-AF65-F5344CB8AC3E}">
        <p14:creationId xmlns:p14="http://schemas.microsoft.com/office/powerpoint/2010/main" val="1010032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5-02-24 at 10.53.56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348" y="3327386"/>
            <a:ext cx="8681760" cy="2595193"/>
          </a:xfrm>
          <a:prstGeom prst="rect">
            <a:avLst/>
          </a:prstGeom>
        </p:spPr>
      </p:pic>
      <p:pic>
        <p:nvPicPr>
          <p:cNvPr id="5" name="Picture 4" descr="Screen Shot 2015-02-24 at 9.34.16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840" y="0"/>
            <a:ext cx="8444335" cy="2804218"/>
          </a:xfrm>
          <a:prstGeom prst="rect">
            <a:avLst/>
          </a:prstGeom>
        </p:spPr>
      </p:pic>
      <p:grpSp>
        <p:nvGrpSpPr>
          <p:cNvPr id="6" name="Group 5"/>
          <p:cNvGrpSpPr/>
          <p:nvPr/>
        </p:nvGrpSpPr>
        <p:grpSpPr>
          <a:xfrm>
            <a:off x="1862473" y="133223"/>
            <a:ext cx="2783867" cy="2663696"/>
            <a:chOff x="584800" y="3643998"/>
            <a:chExt cx="2783867" cy="2663696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85681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728460" y="133223"/>
            <a:ext cx="2783867" cy="2663696"/>
            <a:chOff x="584800" y="3643998"/>
            <a:chExt cx="2783867" cy="2663696"/>
          </a:xfrm>
        </p:grpSpPr>
        <p:cxnSp>
          <p:nvCxnSpPr>
            <p:cNvPr id="12" name="Straight Arrow Connector 11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587225" y="141521"/>
            <a:ext cx="2783867" cy="2663696"/>
            <a:chOff x="584800" y="3643998"/>
            <a:chExt cx="2783867" cy="2663696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1865463" y="3258882"/>
            <a:ext cx="2783867" cy="2663696"/>
            <a:chOff x="584800" y="3643998"/>
            <a:chExt cx="2783867" cy="2663696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85681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4731450" y="3258882"/>
            <a:ext cx="2783867" cy="2663696"/>
            <a:chOff x="584800" y="3643998"/>
            <a:chExt cx="2783867" cy="2663696"/>
          </a:xfrm>
        </p:grpSpPr>
        <p:cxnSp>
          <p:nvCxnSpPr>
            <p:cNvPr id="27" name="Straight Arrow Connector 26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29" name="Straight Arrow Connector 28"/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7590215" y="3267180"/>
            <a:ext cx="2783867" cy="2663696"/>
            <a:chOff x="584800" y="3643998"/>
            <a:chExt cx="2783867" cy="2663696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34" name="Straight Arrow Connector 33"/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800ADBB-9F48-474A-8009-F7195552A84D}"/>
              </a:ext>
            </a:extLst>
          </p:cNvPr>
          <p:cNvGrpSpPr/>
          <p:nvPr/>
        </p:nvGrpSpPr>
        <p:grpSpPr>
          <a:xfrm>
            <a:off x="1728639" y="4509914"/>
            <a:ext cx="8910414" cy="2391740"/>
            <a:chOff x="155787" y="3826331"/>
            <a:chExt cx="8910414" cy="239174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3B9B4B3-24D4-BE49-8913-3ED0902272AC}"/>
                </a:ext>
              </a:extLst>
            </p:cNvPr>
            <p:cNvSpPr txBox="1"/>
            <p:nvPr/>
          </p:nvSpPr>
          <p:spPr>
            <a:xfrm>
              <a:off x="1227322" y="3828468"/>
              <a:ext cx="96051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J  = 0.45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5C0724A-5ABE-C642-90DD-045CB87A154C}"/>
                </a:ext>
              </a:extLst>
            </p:cNvPr>
            <p:cNvSpPr txBox="1"/>
            <p:nvPr/>
          </p:nvSpPr>
          <p:spPr>
            <a:xfrm>
              <a:off x="4190057" y="3828468"/>
              <a:ext cx="96051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J  = 3.87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E2A12A-0769-BA44-83BA-80763981159D}"/>
                </a:ext>
              </a:extLst>
            </p:cNvPr>
            <p:cNvSpPr txBox="1"/>
            <p:nvPr/>
          </p:nvSpPr>
          <p:spPr>
            <a:xfrm>
              <a:off x="6961252" y="3826331"/>
              <a:ext cx="96051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J  = 6.78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6D81FFF-F329-ED4C-A9FC-201EA2CBC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45201" y="4478171"/>
              <a:ext cx="2921000" cy="17399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6365FB57-9471-0F47-8167-5B8AA5674B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4115"/>
            <a:stretch/>
          </p:blipFill>
          <p:spPr>
            <a:xfrm>
              <a:off x="155787" y="4506334"/>
              <a:ext cx="3009900" cy="1631761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11D728A7-C4A5-564D-905A-2D03290C0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16767" y="4417613"/>
              <a:ext cx="2510466" cy="15158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37127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FD00D-9C07-818F-FCBC-6FA2E0E9F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5-02-24 at 10.53.56 AM.png">
            <a:extLst>
              <a:ext uri="{FF2B5EF4-FFF2-40B4-BE49-F238E27FC236}">
                <a16:creationId xmlns:a16="http://schemas.microsoft.com/office/drawing/2014/main" id="{C2C40185-C09C-0F47-C492-609024868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348" y="2541566"/>
            <a:ext cx="8681760" cy="2595193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EC222361-22D7-F642-7FCD-2E8251920061}"/>
              </a:ext>
            </a:extLst>
          </p:cNvPr>
          <p:cNvGrpSpPr/>
          <p:nvPr/>
        </p:nvGrpSpPr>
        <p:grpSpPr>
          <a:xfrm>
            <a:off x="1865463" y="2473062"/>
            <a:ext cx="2783867" cy="2663696"/>
            <a:chOff x="584800" y="3643998"/>
            <a:chExt cx="2783867" cy="266369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203E554-9A18-1C86-8F32-4442250E7058}"/>
                </a:ext>
              </a:extLst>
            </p:cNvPr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BF7BE3-E827-6A49-A894-69C7A0B1C891}"/>
                </a:ext>
              </a:extLst>
            </p:cNvPr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D9F8187-1EA4-F249-5B42-5118569F5DAA}"/>
                </a:ext>
              </a:extLst>
            </p:cNvPr>
            <p:cNvCxnSpPr/>
            <p:nvPr/>
          </p:nvCxnSpPr>
          <p:spPr>
            <a:xfrm>
              <a:off x="85681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B5EFBFD-AD2F-9F2B-993D-34EF02A9E0C0}"/>
                </a:ext>
              </a:extLst>
            </p:cNvPr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C81ACB9-5B84-F9D3-DE67-76C464257A04}"/>
              </a:ext>
            </a:extLst>
          </p:cNvPr>
          <p:cNvGrpSpPr/>
          <p:nvPr/>
        </p:nvGrpSpPr>
        <p:grpSpPr>
          <a:xfrm>
            <a:off x="4731450" y="2473062"/>
            <a:ext cx="2783867" cy="2663696"/>
            <a:chOff x="584800" y="3643998"/>
            <a:chExt cx="2783867" cy="2663696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7B52CBB-1C7D-7324-0979-244708CA3CFB}"/>
                </a:ext>
              </a:extLst>
            </p:cNvPr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3444A08-C039-AB7F-EB26-0B16A88794CE}"/>
                </a:ext>
              </a:extLst>
            </p:cNvPr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D8867AE-FC2D-AF3A-2AB9-7A68D4440FC1}"/>
                </a:ext>
              </a:extLst>
            </p:cNvPr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CDC711D-4C8B-1CF0-C4E2-ED5B5F6126E5}"/>
                </a:ext>
              </a:extLst>
            </p:cNvPr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4DB47DC-2696-55C4-106A-610C1C6587A7}"/>
              </a:ext>
            </a:extLst>
          </p:cNvPr>
          <p:cNvGrpSpPr/>
          <p:nvPr/>
        </p:nvGrpSpPr>
        <p:grpSpPr>
          <a:xfrm>
            <a:off x="7590215" y="2481360"/>
            <a:ext cx="2783867" cy="2663696"/>
            <a:chOff x="584800" y="3643998"/>
            <a:chExt cx="2783867" cy="266369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740EEB9-EA32-AF51-869B-1E5653C725A9}"/>
                </a:ext>
              </a:extLst>
            </p:cNvPr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350B156-DCC8-AD6A-183D-FDC3C214B98A}"/>
                </a:ext>
              </a:extLst>
            </p:cNvPr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3B81A1D-03CD-B320-82A8-BF2F187008F9}"/>
                </a:ext>
              </a:extLst>
            </p:cNvPr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C62F827-7D70-B4A5-E400-FB73DFB3EB1B}"/>
                </a:ext>
              </a:extLst>
            </p:cNvPr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DEA596E-3439-367C-E891-8AE813CFB418}"/>
              </a:ext>
            </a:extLst>
          </p:cNvPr>
          <p:cNvSpPr txBox="1"/>
          <p:nvPr/>
        </p:nvSpPr>
        <p:spPr>
          <a:xfrm>
            <a:off x="2886299" y="437005"/>
            <a:ext cx="6517105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Con más características: </a:t>
            </a:r>
          </a:p>
          <a:p>
            <a:pPr marL="342900" indent="-342900">
              <a:buAutoNum type="arabicParenR"/>
            </a:pPr>
            <a:r>
              <a:rPr lang="en-CL" dirty="0">
                <a:latin typeface="Gill Sans MT" panose="020B0502020104020203" pitchFamily="34" charset="77"/>
              </a:rPr>
              <a:t>Hay que maximizar las distancias entre los centros de cada nube</a:t>
            </a:r>
          </a:p>
          <a:p>
            <a:endParaRPr lang="en-CL" dirty="0">
              <a:latin typeface="Gill Sans MT" panose="020B0502020104020203" pitchFamily="34" charset="77"/>
            </a:endParaRPr>
          </a:p>
          <a:p>
            <a:pPr marL="342900" indent="-342900">
              <a:buAutoNum type="arabicParenR"/>
            </a:pPr>
            <a:endParaRPr lang="en-CL" dirty="0">
              <a:latin typeface="Gill Sans MT" panose="020B0502020104020203" pitchFamily="34" charset="77"/>
            </a:endParaRPr>
          </a:p>
          <a:p>
            <a:r>
              <a:rPr lang="en-CL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</a:rPr>
              <a:t>Aquí: Una nube es el conjunto de puntos que pertence a una clase 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E7DFC8D-13F4-95A9-D262-C387B80E08F3}"/>
              </a:ext>
            </a:extLst>
          </p:cNvPr>
          <p:cNvCxnSpPr/>
          <p:nvPr/>
        </p:nvCxnSpPr>
        <p:spPr>
          <a:xfrm>
            <a:off x="3100388" y="3429000"/>
            <a:ext cx="300037" cy="300038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A4FF7CB-16FD-88A1-4146-549D24322A89}"/>
              </a:ext>
            </a:extLst>
          </p:cNvPr>
          <p:cNvCxnSpPr>
            <a:cxnSpLocks/>
          </p:cNvCxnSpPr>
          <p:nvPr/>
        </p:nvCxnSpPr>
        <p:spPr>
          <a:xfrm>
            <a:off x="6142635" y="3484517"/>
            <a:ext cx="586502" cy="501420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B81E400-BABC-198A-CDEC-CFF21E8FEF78}"/>
              </a:ext>
            </a:extLst>
          </p:cNvPr>
          <p:cNvCxnSpPr>
            <a:cxnSpLocks/>
          </p:cNvCxnSpPr>
          <p:nvPr/>
        </p:nvCxnSpPr>
        <p:spPr>
          <a:xfrm>
            <a:off x="8687028" y="3328309"/>
            <a:ext cx="1106584" cy="1254283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7177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EDE9E-AFBB-FF1A-ED28-533D42411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5-02-24 at 10.53.56 AM.png">
            <a:extLst>
              <a:ext uri="{FF2B5EF4-FFF2-40B4-BE49-F238E27FC236}">
                <a16:creationId xmlns:a16="http://schemas.microsoft.com/office/drawing/2014/main" id="{6A1E5B6A-7AE7-E15B-117D-BA256C11B6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348" y="2541566"/>
            <a:ext cx="8681760" cy="2595193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CF25337-821D-A5E4-4840-BC48498BEB66}"/>
              </a:ext>
            </a:extLst>
          </p:cNvPr>
          <p:cNvGrpSpPr/>
          <p:nvPr/>
        </p:nvGrpSpPr>
        <p:grpSpPr>
          <a:xfrm>
            <a:off x="1865463" y="2473062"/>
            <a:ext cx="2783867" cy="2663696"/>
            <a:chOff x="584800" y="3643998"/>
            <a:chExt cx="2783867" cy="266369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269C7F-5911-9E8F-D181-8560762B5DF6}"/>
                </a:ext>
              </a:extLst>
            </p:cNvPr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4D3999E-9EF3-C128-8784-6B14B6AEC53B}"/>
                </a:ext>
              </a:extLst>
            </p:cNvPr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2838B4F-B4B3-9BC2-E320-A40F5DE66C75}"/>
                </a:ext>
              </a:extLst>
            </p:cNvPr>
            <p:cNvCxnSpPr/>
            <p:nvPr/>
          </p:nvCxnSpPr>
          <p:spPr>
            <a:xfrm>
              <a:off x="85681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8245DD6-0F79-910F-4BB6-301FC7DDC12D}"/>
                </a:ext>
              </a:extLst>
            </p:cNvPr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3A6661E-14FD-2EE4-8AFA-2F9FD365105E}"/>
              </a:ext>
            </a:extLst>
          </p:cNvPr>
          <p:cNvGrpSpPr/>
          <p:nvPr/>
        </p:nvGrpSpPr>
        <p:grpSpPr>
          <a:xfrm>
            <a:off x="4731450" y="2473062"/>
            <a:ext cx="2783867" cy="2663696"/>
            <a:chOff x="584800" y="3643998"/>
            <a:chExt cx="2783867" cy="2663696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3C565C6A-516B-9866-B47C-E577716E4711}"/>
                </a:ext>
              </a:extLst>
            </p:cNvPr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345FE5B-B96C-50FF-826A-44A55171861A}"/>
                </a:ext>
              </a:extLst>
            </p:cNvPr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37D115B-988F-E8BE-8419-31AD509B5EAF}"/>
                </a:ext>
              </a:extLst>
            </p:cNvPr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E82C3C8-850D-41E8-8E26-F3ADE8C2F16F}"/>
                </a:ext>
              </a:extLst>
            </p:cNvPr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EEB18CC-9813-BCE7-F519-54E52AE07141}"/>
              </a:ext>
            </a:extLst>
          </p:cNvPr>
          <p:cNvGrpSpPr/>
          <p:nvPr/>
        </p:nvGrpSpPr>
        <p:grpSpPr>
          <a:xfrm>
            <a:off x="7590215" y="2481360"/>
            <a:ext cx="2783867" cy="2663696"/>
            <a:chOff x="584800" y="3643998"/>
            <a:chExt cx="2783867" cy="266369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78E17495-E2E6-4210-63FA-B60EA60C50C0}"/>
                </a:ext>
              </a:extLst>
            </p:cNvPr>
            <p:cNvCxnSpPr/>
            <p:nvPr/>
          </p:nvCxnSpPr>
          <p:spPr>
            <a:xfrm>
              <a:off x="855872" y="3651297"/>
              <a:ext cx="2368630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0868501-C431-FC6B-0012-46337E050AA6}"/>
                </a:ext>
              </a:extLst>
            </p:cNvPr>
            <p:cNvSpPr txBox="1"/>
            <p:nvPr/>
          </p:nvSpPr>
          <p:spPr>
            <a:xfrm>
              <a:off x="3063775" y="3651297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2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1EF50B5-50FA-1A7B-3A51-3D13138DA245}"/>
                </a:ext>
              </a:extLst>
            </p:cNvPr>
            <p:cNvCxnSpPr/>
            <p:nvPr/>
          </p:nvCxnSpPr>
          <p:spPr>
            <a:xfrm>
              <a:off x="843587" y="3643998"/>
              <a:ext cx="0" cy="2663696"/>
            </a:xfrm>
            <a:prstGeom prst="straightConnector1">
              <a:avLst/>
            </a:prstGeom>
            <a:ln w="28575" cmpd="sng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629F887-3E20-0377-57E0-E7204DB13576}"/>
                </a:ext>
              </a:extLst>
            </p:cNvPr>
            <p:cNvSpPr txBox="1"/>
            <p:nvPr/>
          </p:nvSpPr>
          <p:spPr>
            <a:xfrm>
              <a:off x="584800" y="5909273"/>
              <a:ext cx="3048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>
                  <a:latin typeface="Times"/>
                  <a:cs typeface="Times"/>
                </a:rPr>
                <a:t>x</a:t>
              </a:r>
              <a:r>
                <a:rPr lang="en-US" sz="1200" baseline="-25000" dirty="0">
                  <a:latin typeface="Times"/>
                  <a:cs typeface="Times"/>
                </a:rPr>
                <a:t>1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B9D1B94-A847-59A0-1B13-6EC6ECEB733C}"/>
              </a:ext>
            </a:extLst>
          </p:cNvPr>
          <p:cNvSpPr txBox="1"/>
          <p:nvPr/>
        </p:nvSpPr>
        <p:spPr>
          <a:xfrm>
            <a:off x="2886299" y="437005"/>
            <a:ext cx="6517105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Con más características: </a:t>
            </a:r>
          </a:p>
          <a:p>
            <a:pPr marL="342900" indent="-342900">
              <a:buAutoNum type="arabicParenR"/>
            </a:pPr>
            <a:r>
              <a:rPr lang="en-CL" dirty="0">
                <a:latin typeface="Gill Sans MT" panose="020B0502020104020203" pitchFamily="34" charset="77"/>
              </a:rPr>
              <a:t>Hay que maximizar las distancias entre los centros de cada nube</a:t>
            </a:r>
          </a:p>
          <a:p>
            <a:pPr marL="342900" indent="-3429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H</a:t>
            </a:r>
            <a:r>
              <a:rPr lang="en-CL" dirty="0">
                <a:latin typeface="Gill Sans MT" panose="020B0502020104020203" pitchFamily="34" charset="77"/>
              </a:rPr>
              <a:t>ay que minimizar la dispersión de cada nube</a:t>
            </a:r>
          </a:p>
          <a:p>
            <a:pPr marL="342900" indent="-342900">
              <a:buAutoNum type="arabicParenR"/>
            </a:pPr>
            <a:endParaRPr lang="en-CL" dirty="0">
              <a:latin typeface="Gill Sans MT" panose="020B0502020104020203" pitchFamily="34" charset="77"/>
            </a:endParaRPr>
          </a:p>
          <a:p>
            <a:r>
              <a:rPr lang="en-CL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</a:rPr>
              <a:t>Aquí: Una nube es el conjunto de puntos que pertence a una clase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5F47D6-CA2D-2BCC-089C-F1688789F193}"/>
              </a:ext>
            </a:extLst>
          </p:cNvPr>
          <p:cNvSpPr txBox="1"/>
          <p:nvPr/>
        </p:nvSpPr>
        <p:spPr>
          <a:xfrm>
            <a:off x="2691726" y="5553607"/>
            <a:ext cx="6545574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Cómo escoger las mejores características? Se escogen aquelllas que:</a:t>
            </a:r>
          </a:p>
          <a:p>
            <a:pPr marL="342900" indent="-342900">
              <a:buAutoNum type="arabicParenR"/>
            </a:pPr>
            <a:r>
              <a:rPr lang="en-CL" dirty="0">
                <a:latin typeface="Gill Sans MT" panose="020B0502020104020203" pitchFamily="34" charset="77"/>
              </a:rPr>
              <a:t>maximicen las distancias entre los centros de cada nube, y </a:t>
            </a:r>
          </a:p>
          <a:p>
            <a:pPr marL="342900" indent="-342900">
              <a:buAutoNum type="arabicParenR"/>
            </a:pPr>
            <a:r>
              <a:rPr lang="es-419" dirty="0">
                <a:latin typeface="Gill Sans MT" panose="020B0502020104020203" pitchFamily="34" charset="77"/>
              </a:rPr>
              <a:t>minimicen</a:t>
            </a:r>
            <a:r>
              <a:rPr lang="en-CL" dirty="0">
                <a:latin typeface="Gill Sans MT" panose="020B0502020104020203" pitchFamily="34" charset="77"/>
              </a:rPr>
              <a:t> la dispersión de cada nube 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2418C7-5A16-2FFF-C1A4-07735323574C}"/>
              </a:ext>
            </a:extLst>
          </p:cNvPr>
          <p:cNvCxnSpPr/>
          <p:nvPr/>
        </p:nvCxnSpPr>
        <p:spPr>
          <a:xfrm>
            <a:off x="3100388" y="3429000"/>
            <a:ext cx="300037" cy="300038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B455B0E-5D13-FD44-8D10-7DAB55BE8C1B}"/>
              </a:ext>
            </a:extLst>
          </p:cNvPr>
          <p:cNvCxnSpPr>
            <a:cxnSpLocks/>
          </p:cNvCxnSpPr>
          <p:nvPr/>
        </p:nvCxnSpPr>
        <p:spPr>
          <a:xfrm>
            <a:off x="6142635" y="3484517"/>
            <a:ext cx="586502" cy="501420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B27569-EF26-094E-5BA0-3A0BBE4AA0FE}"/>
              </a:ext>
            </a:extLst>
          </p:cNvPr>
          <p:cNvCxnSpPr>
            <a:cxnSpLocks/>
          </p:cNvCxnSpPr>
          <p:nvPr/>
        </p:nvCxnSpPr>
        <p:spPr>
          <a:xfrm>
            <a:off x="8687028" y="3328309"/>
            <a:ext cx="1106584" cy="1254283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8F98C5B2-EB88-25AF-6AA6-372F9F87C0E5}"/>
              </a:ext>
            </a:extLst>
          </p:cNvPr>
          <p:cNvSpPr/>
          <p:nvPr/>
        </p:nvSpPr>
        <p:spPr>
          <a:xfrm>
            <a:off x="8443245" y="3076486"/>
            <a:ext cx="525623" cy="589660"/>
          </a:xfrm>
          <a:prstGeom prst="ellipse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C9D363E-C7FB-A7A2-B7BF-E984F95321E4}"/>
              </a:ext>
            </a:extLst>
          </p:cNvPr>
          <p:cNvSpPr/>
          <p:nvPr/>
        </p:nvSpPr>
        <p:spPr>
          <a:xfrm>
            <a:off x="9498730" y="4287762"/>
            <a:ext cx="525623" cy="589660"/>
          </a:xfrm>
          <a:prstGeom prst="ellipse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DF6F912-0E2B-CA8A-8F57-7B6AD1583E72}"/>
              </a:ext>
            </a:extLst>
          </p:cNvPr>
          <p:cNvSpPr/>
          <p:nvPr/>
        </p:nvSpPr>
        <p:spPr>
          <a:xfrm>
            <a:off x="5570669" y="3010451"/>
            <a:ext cx="1102428" cy="923329"/>
          </a:xfrm>
          <a:prstGeom prst="ellipse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6607D8E-EC46-B429-AB4F-BD3461478FCB}"/>
              </a:ext>
            </a:extLst>
          </p:cNvPr>
          <p:cNvSpPr/>
          <p:nvPr/>
        </p:nvSpPr>
        <p:spPr>
          <a:xfrm>
            <a:off x="6180301" y="3485005"/>
            <a:ext cx="1102428" cy="923329"/>
          </a:xfrm>
          <a:prstGeom prst="ellipse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73531C7-7A77-7578-E3D0-FDFD8DF94997}"/>
              </a:ext>
            </a:extLst>
          </p:cNvPr>
          <p:cNvSpPr/>
          <p:nvPr/>
        </p:nvSpPr>
        <p:spPr>
          <a:xfrm>
            <a:off x="2480099" y="3049718"/>
            <a:ext cx="1410969" cy="1214065"/>
          </a:xfrm>
          <a:prstGeom prst="ellipse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D06C761-DEE5-952E-FE56-9E93210E086C}"/>
              </a:ext>
            </a:extLst>
          </p:cNvPr>
          <p:cNvSpPr/>
          <p:nvPr/>
        </p:nvSpPr>
        <p:spPr>
          <a:xfrm>
            <a:off x="2824809" y="3284991"/>
            <a:ext cx="1410969" cy="1214065"/>
          </a:xfrm>
          <a:prstGeom prst="ellipse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6965813-8BBF-282D-85BC-6ADB21344B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38812" y1="21231" x2="30663" y2="24923"/>
                        <a14:foregroundMark x1="68370" y1="34462" x2="51657" y2="52000"/>
                        <a14:foregroundMark x1="51657" y1="52000" x2="45718" y2="62615"/>
                        <a14:foregroundMark x1="45718" y1="62615" x2="38950" y2="60154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05931" y="3317754"/>
            <a:ext cx="914357" cy="82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71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25ED0-F867-1EED-9978-690158EF4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58528-760F-62D0-4C5C-5F711C3F31F9}"/>
              </a:ext>
            </a:extLst>
          </p:cNvPr>
          <p:cNvSpPr txBox="1"/>
          <p:nvPr/>
        </p:nvSpPr>
        <p:spPr>
          <a:xfrm>
            <a:off x="1543066" y="2118522"/>
            <a:ext cx="91058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419" sz="3200" dirty="0">
                <a:latin typeface="Gill Sans MT" panose="020B0502020104020203" pitchFamily="34" charset="77"/>
              </a:rPr>
              <a:t>¿Cómo calcular J en términos generales </a:t>
            </a:r>
          </a:p>
          <a:p>
            <a:pPr algn="ctr"/>
            <a:r>
              <a:rPr lang="es-419" sz="3200" dirty="0">
                <a:latin typeface="Gill Sans MT" panose="020B0502020104020203" pitchFamily="34" charset="77"/>
              </a:rPr>
              <a:t>para más características y más clases?</a:t>
            </a:r>
            <a:endParaRPr lang="en-CL" sz="3200" dirty="0">
              <a:latin typeface="Gill Sans MT" panose="020B0502020104020203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BDB0EF-AE5B-379E-0DF0-978BDBBC9157}"/>
              </a:ext>
            </a:extLst>
          </p:cNvPr>
          <p:cNvSpPr txBox="1"/>
          <p:nvPr/>
        </p:nvSpPr>
        <p:spPr>
          <a:xfrm>
            <a:off x="319785" y="4200869"/>
            <a:ext cx="115524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419" sz="3200" dirty="0">
                <a:solidFill>
                  <a:schemeClr val="accent2"/>
                </a:solidFill>
                <a:latin typeface="Gill Sans MT" panose="020B0502020104020203" pitchFamily="34" charset="77"/>
              </a:rPr>
              <a:t>RECORDAR: </a:t>
            </a:r>
          </a:p>
          <a:p>
            <a:pPr algn="ctr"/>
            <a:r>
              <a:rPr lang="es-419" sz="3200" dirty="0">
                <a:solidFill>
                  <a:schemeClr val="accent2"/>
                </a:solidFill>
                <a:latin typeface="Gill Sans MT" panose="020B0502020104020203" pitchFamily="34" charset="77"/>
              </a:rPr>
              <a:t>La variable J es un escalar que mide la separabilidad entre las clases </a:t>
            </a:r>
          </a:p>
          <a:p>
            <a:pPr algn="ctr"/>
            <a:r>
              <a:rPr lang="es-419" sz="3200" dirty="0">
                <a:solidFill>
                  <a:schemeClr val="accent2"/>
                </a:solidFill>
                <a:latin typeface="Gill Sans MT" panose="020B0502020104020203" pitchFamily="34" charset="77"/>
              </a:rPr>
              <a:t>(dado un conjunto de características)</a:t>
            </a:r>
            <a:endParaRPr lang="en-CL" sz="32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466789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A35E2-74DB-724D-B87A-50507D79A1AE}"/>
              </a:ext>
            </a:extLst>
          </p:cNvPr>
          <p:cNvSpPr txBox="1"/>
          <p:nvPr/>
        </p:nvSpPr>
        <p:spPr>
          <a:xfrm>
            <a:off x="2693553" y="2721114"/>
            <a:ext cx="75282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Ejemplo</a:t>
            </a:r>
            <a:r>
              <a:rPr lang="en-US" sz="4000" dirty="0">
                <a:latin typeface="Gill Sans MT" panose="020B0502020104020203" pitchFamily="34" charset="77"/>
              </a:rPr>
              <a:t>: </a:t>
            </a:r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3 </a:t>
            </a:r>
            <a:r>
              <a:rPr lang="en-US" sz="4000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clases</a:t>
            </a:r>
            <a:r>
              <a:rPr lang="en-US" sz="4000" dirty="0">
                <a:latin typeface="Gill Sans MT" panose="020B0502020104020203" pitchFamily="34" charset="77"/>
              </a:rPr>
              <a:t> y </a:t>
            </a:r>
            <a:r>
              <a:rPr lang="en-US" sz="4000" dirty="0">
                <a:solidFill>
                  <a:srgbClr val="00B050"/>
                </a:solidFill>
                <a:latin typeface="Gill Sans MT" panose="020B0502020104020203" pitchFamily="34" charset="77"/>
              </a:rPr>
              <a:t>2 </a:t>
            </a:r>
            <a:r>
              <a:rPr lang="en-US" sz="4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características</a:t>
            </a:r>
            <a:endParaRPr lang="en-US" sz="4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62D861C-815F-9347-9385-707A5E2B1451}"/>
              </a:ext>
            </a:extLst>
          </p:cNvPr>
          <p:cNvGrpSpPr/>
          <p:nvPr/>
        </p:nvGrpSpPr>
        <p:grpSpPr>
          <a:xfrm>
            <a:off x="7880350" y="3468912"/>
            <a:ext cx="1308100" cy="1312639"/>
            <a:chOff x="6356350" y="3468911"/>
            <a:chExt cx="1308100" cy="131263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381537F-6691-F741-91AC-75FE107AB4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56350" y="4311650"/>
              <a:ext cx="1308100" cy="469900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74D8CD8-107A-F14B-88E5-EB8A8BC0AD87}"/>
                </a:ext>
              </a:extLst>
            </p:cNvPr>
            <p:cNvCxnSpPr/>
            <p:nvPr/>
          </p:nvCxnSpPr>
          <p:spPr>
            <a:xfrm>
              <a:off x="6995886" y="3468911"/>
              <a:ext cx="0" cy="769258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5051A94-729A-2948-AE4B-DB715C6CC6DA}"/>
              </a:ext>
            </a:extLst>
          </p:cNvPr>
          <p:cNvGrpSpPr/>
          <p:nvPr/>
        </p:nvGrpSpPr>
        <p:grpSpPr>
          <a:xfrm>
            <a:off x="4697186" y="330045"/>
            <a:ext cx="1955800" cy="2521701"/>
            <a:chOff x="3173186" y="330044"/>
            <a:chExt cx="1955800" cy="25217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6082CF1-31B4-8D4C-9343-CD057FF9E80B}"/>
                </a:ext>
              </a:extLst>
            </p:cNvPr>
            <p:cNvGrpSpPr/>
            <p:nvPr/>
          </p:nvGrpSpPr>
          <p:grpSpPr>
            <a:xfrm>
              <a:off x="3173186" y="1579930"/>
              <a:ext cx="1955800" cy="1271815"/>
              <a:chOff x="3173186" y="1579930"/>
              <a:chExt cx="1955800" cy="1271815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B6F33AE-38F6-4846-9B7E-DF51023CE9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73186" y="1579930"/>
                <a:ext cx="1955800" cy="342900"/>
              </a:xfrm>
              <a:prstGeom prst="rect">
                <a:avLst/>
              </a:prstGeom>
            </p:spPr>
          </p:pic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11F43EF1-E346-4E43-A497-6485D1BC3E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29315" y="2104573"/>
                <a:ext cx="0" cy="747172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E86558B-974D-BE45-A31E-264D63AB7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06459" y="330044"/>
              <a:ext cx="1727200" cy="10287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916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746DDD-A757-5145-BE98-D9C510624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699882"/>
            <a:ext cx="6906040" cy="5731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519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EE52E98-7640-384E-9B05-585240DE2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699882"/>
            <a:ext cx="6906040" cy="573130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10D8D59-6D93-5640-8EF0-22F84017264A}"/>
              </a:ext>
            </a:extLst>
          </p:cNvPr>
          <p:cNvSpPr/>
          <p:nvPr/>
        </p:nvSpPr>
        <p:spPr>
          <a:xfrm>
            <a:off x="4137994" y="2544415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57C39A-0F38-B94C-A28D-2CA05D2757EF}"/>
              </a:ext>
            </a:extLst>
          </p:cNvPr>
          <p:cNvSpPr/>
          <p:nvPr/>
        </p:nvSpPr>
        <p:spPr>
          <a:xfrm>
            <a:off x="6109251" y="2557669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8873679-14EB-9E44-BFB7-13F5F8050AB9}"/>
              </a:ext>
            </a:extLst>
          </p:cNvPr>
          <p:cNvSpPr/>
          <p:nvPr/>
        </p:nvSpPr>
        <p:spPr>
          <a:xfrm>
            <a:off x="6092689" y="4191001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AC1028-9050-FF48-88A2-E9A1D4AA2E69}"/>
              </a:ext>
            </a:extLst>
          </p:cNvPr>
          <p:cNvSpPr/>
          <p:nvPr/>
        </p:nvSpPr>
        <p:spPr>
          <a:xfrm>
            <a:off x="9122620" y="1733247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A6C736-A7AD-3D4B-808A-A2926DD56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2775"/>
            <a:ext cx="3810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AC818A-14B3-6C44-AD6C-8B839DC57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780" y="2436189"/>
            <a:ext cx="3937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B7DBE7-64E0-7941-8C32-07210B6AE6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638" y="2446128"/>
            <a:ext cx="3937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8F92D7-3582-ED47-B37E-180132EB4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9317" y="1625021"/>
            <a:ext cx="406400" cy="355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E0418A-0D8C-CD40-A257-D6E3153E19FB}"/>
              </a:ext>
            </a:extLst>
          </p:cNvPr>
          <p:cNvSpPr txBox="1"/>
          <p:nvPr/>
        </p:nvSpPr>
        <p:spPr>
          <a:xfrm>
            <a:off x="8769577" y="962822"/>
            <a:ext cx="174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Centro de Masa </a:t>
            </a:r>
          </a:p>
          <a:p>
            <a:r>
              <a:rPr lang="en-US" dirty="0">
                <a:latin typeface="Gill Sans MT" panose="020B0502020104020203" pitchFamily="34" charset="77"/>
              </a:rPr>
              <a:t>de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537CF51-8ECA-3140-B050-EE19DE10C3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9370" y="2162144"/>
            <a:ext cx="9906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0096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EE52E98-7640-384E-9B05-585240DE2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699882"/>
            <a:ext cx="6906040" cy="573130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10D8D59-6D93-5640-8EF0-22F84017264A}"/>
              </a:ext>
            </a:extLst>
          </p:cNvPr>
          <p:cNvSpPr/>
          <p:nvPr/>
        </p:nvSpPr>
        <p:spPr>
          <a:xfrm>
            <a:off x="4137994" y="2544415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57C39A-0F38-B94C-A28D-2CA05D2757EF}"/>
              </a:ext>
            </a:extLst>
          </p:cNvPr>
          <p:cNvSpPr/>
          <p:nvPr/>
        </p:nvSpPr>
        <p:spPr>
          <a:xfrm>
            <a:off x="6109251" y="2557669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8873679-14EB-9E44-BFB7-13F5F8050AB9}"/>
              </a:ext>
            </a:extLst>
          </p:cNvPr>
          <p:cNvSpPr/>
          <p:nvPr/>
        </p:nvSpPr>
        <p:spPr>
          <a:xfrm>
            <a:off x="6092689" y="4191001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AC1028-9050-FF48-88A2-E9A1D4AA2E69}"/>
              </a:ext>
            </a:extLst>
          </p:cNvPr>
          <p:cNvSpPr/>
          <p:nvPr/>
        </p:nvSpPr>
        <p:spPr>
          <a:xfrm>
            <a:off x="9122620" y="1733247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A6C736-A7AD-3D4B-808A-A2926DD56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2775"/>
            <a:ext cx="3810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AC818A-14B3-6C44-AD6C-8B839DC57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780" y="2436189"/>
            <a:ext cx="3937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B7DBE7-64E0-7941-8C32-07210B6AE6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638" y="2446128"/>
            <a:ext cx="3937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8F92D7-3582-ED47-B37E-180132EB4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9317" y="1625021"/>
            <a:ext cx="406400" cy="355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E0418A-0D8C-CD40-A257-D6E3153E19FB}"/>
              </a:ext>
            </a:extLst>
          </p:cNvPr>
          <p:cNvSpPr txBox="1"/>
          <p:nvPr/>
        </p:nvSpPr>
        <p:spPr>
          <a:xfrm>
            <a:off x="8769577" y="962822"/>
            <a:ext cx="174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Centro de Masa </a:t>
            </a:r>
          </a:p>
          <a:p>
            <a:r>
              <a:rPr lang="en-US" dirty="0">
                <a:latin typeface="Gill Sans MT" panose="020B0502020104020203" pitchFamily="34" charset="77"/>
              </a:rPr>
              <a:t>de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5-point Star 13">
            <a:extLst>
              <a:ext uri="{FF2B5EF4-FFF2-40B4-BE49-F238E27FC236}">
                <a16:creationId xmlns:a16="http://schemas.microsoft.com/office/drawing/2014/main" id="{C4899D84-7FAD-F14B-B8C7-9A5397DACEDE}"/>
              </a:ext>
            </a:extLst>
          </p:cNvPr>
          <p:cNvSpPr/>
          <p:nvPr/>
        </p:nvSpPr>
        <p:spPr>
          <a:xfrm>
            <a:off x="5131904" y="3160644"/>
            <a:ext cx="308113" cy="268357"/>
          </a:xfrm>
          <a:prstGeom prst="star5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5-point Star 14">
            <a:extLst>
              <a:ext uri="{FF2B5EF4-FFF2-40B4-BE49-F238E27FC236}">
                <a16:creationId xmlns:a16="http://schemas.microsoft.com/office/drawing/2014/main" id="{5F680F04-40B5-DA48-A97C-7D610B4426A3}"/>
              </a:ext>
            </a:extLst>
          </p:cNvPr>
          <p:cNvSpPr/>
          <p:nvPr/>
        </p:nvSpPr>
        <p:spPr>
          <a:xfrm>
            <a:off x="9099415" y="3938800"/>
            <a:ext cx="308113" cy="268357"/>
          </a:xfrm>
          <a:prstGeom prst="star5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E498C16-28D4-FD42-9A44-B5F95AE172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5420" y="3155121"/>
            <a:ext cx="203200" cy="2921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FDF72E4-991C-BA4F-BDBE-A4577B6E7401}"/>
              </a:ext>
            </a:extLst>
          </p:cNvPr>
          <p:cNvSpPr txBox="1"/>
          <p:nvPr/>
        </p:nvSpPr>
        <p:spPr>
          <a:xfrm>
            <a:off x="8840452" y="2791790"/>
            <a:ext cx="16637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Centro de Masa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de </a:t>
            </a:r>
            <a:r>
              <a:rPr lang="en-US" dirty="0" err="1">
                <a:latin typeface="Gill Sans MT" panose="020B0502020104020203" pitchFamily="34" charset="77"/>
              </a:rPr>
              <a:t>todas</a:t>
            </a:r>
            <a:r>
              <a:rPr lang="en-US" dirty="0">
                <a:latin typeface="Gill Sans MT" panose="020B0502020104020203" pitchFamily="34" charset="77"/>
              </a:rPr>
              <a:t> las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BF16B7-063C-0E4E-8B10-98A1D23F74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2303" y="3938799"/>
            <a:ext cx="203200" cy="2921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37CF51-8ECA-3140-B050-EE19DE10C3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9370" y="2162144"/>
            <a:ext cx="9906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9893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EE52E98-7640-384E-9B05-585240DE2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699882"/>
            <a:ext cx="6906040" cy="573130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10D8D59-6D93-5640-8EF0-22F84017264A}"/>
              </a:ext>
            </a:extLst>
          </p:cNvPr>
          <p:cNvSpPr/>
          <p:nvPr/>
        </p:nvSpPr>
        <p:spPr>
          <a:xfrm>
            <a:off x="4137994" y="2544415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57C39A-0F38-B94C-A28D-2CA05D2757EF}"/>
              </a:ext>
            </a:extLst>
          </p:cNvPr>
          <p:cNvSpPr/>
          <p:nvPr/>
        </p:nvSpPr>
        <p:spPr>
          <a:xfrm>
            <a:off x="6109251" y="2557669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8873679-14EB-9E44-BFB7-13F5F8050AB9}"/>
              </a:ext>
            </a:extLst>
          </p:cNvPr>
          <p:cNvSpPr/>
          <p:nvPr/>
        </p:nvSpPr>
        <p:spPr>
          <a:xfrm>
            <a:off x="6092689" y="4191001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AC1028-9050-FF48-88A2-E9A1D4AA2E69}"/>
              </a:ext>
            </a:extLst>
          </p:cNvPr>
          <p:cNvSpPr/>
          <p:nvPr/>
        </p:nvSpPr>
        <p:spPr>
          <a:xfrm>
            <a:off x="9122620" y="1733247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A6C736-A7AD-3D4B-808A-A2926DD56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2775"/>
            <a:ext cx="3810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AC818A-14B3-6C44-AD6C-8B839DC57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780" y="2436189"/>
            <a:ext cx="3937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B7DBE7-64E0-7941-8C32-07210B6AE6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638" y="2446128"/>
            <a:ext cx="3937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8F92D7-3582-ED47-B37E-180132EB4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9317" y="1625021"/>
            <a:ext cx="406400" cy="355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E0418A-0D8C-CD40-A257-D6E3153E19FB}"/>
              </a:ext>
            </a:extLst>
          </p:cNvPr>
          <p:cNvSpPr txBox="1"/>
          <p:nvPr/>
        </p:nvSpPr>
        <p:spPr>
          <a:xfrm>
            <a:off x="8769577" y="962822"/>
            <a:ext cx="174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Centro de Masa </a:t>
            </a:r>
          </a:p>
          <a:p>
            <a:r>
              <a:rPr lang="en-US" dirty="0">
                <a:latin typeface="Gill Sans MT" panose="020B0502020104020203" pitchFamily="34" charset="77"/>
              </a:rPr>
              <a:t>de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5-point Star 13">
            <a:extLst>
              <a:ext uri="{FF2B5EF4-FFF2-40B4-BE49-F238E27FC236}">
                <a16:creationId xmlns:a16="http://schemas.microsoft.com/office/drawing/2014/main" id="{C4899D84-7FAD-F14B-B8C7-9A5397DACEDE}"/>
              </a:ext>
            </a:extLst>
          </p:cNvPr>
          <p:cNvSpPr/>
          <p:nvPr/>
        </p:nvSpPr>
        <p:spPr>
          <a:xfrm>
            <a:off x="5131904" y="3160644"/>
            <a:ext cx="308113" cy="268357"/>
          </a:xfrm>
          <a:prstGeom prst="star5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5-point Star 14">
            <a:extLst>
              <a:ext uri="{FF2B5EF4-FFF2-40B4-BE49-F238E27FC236}">
                <a16:creationId xmlns:a16="http://schemas.microsoft.com/office/drawing/2014/main" id="{5F680F04-40B5-DA48-A97C-7D610B4426A3}"/>
              </a:ext>
            </a:extLst>
          </p:cNvPr>
          <p:cNvSpPr/>
          <p:nvPr/>
        </p:nvSpPr>
        <p:spPr>
          <a:xfrm>
            <a:off x="9099415" y="3938800"/>
            <a:ext cx="308113" cy="268357"/>
          </a:xfrm>
          <a:prstGeom prst="star5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E498C16-28D4-FD42-9A44-B5F95AE172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5420" y="3155121"/>
            <a:ext cx="203200" cy="2921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FDF72E4-991C-BA4F-BDBE-A4577B6E7401}"/>
              </a:ext>
            </a:extLst>
          </p:cNvPr>
          <p:cNvSpPr txBox="1"/>
          <p:nvPr/>
        </p:nvSpPr>
        <p:spPr>
          <a:xfrm>
            <a:off x="8840452" y="2791790"/>
            <a:ext cx="16637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Centro de Masa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de </a:t>
            </a:r>
            <a:r>
              <a:rPr lang="en-US" dirty="0" err="1">
                <a:latin typeface="Gill Sans MT" panose="020B0502020104020203" pitchFamily="34" charset="77"/>
              </a:rPr>
              <a:t>todas</a:t>
            </a:r>
            <a:r>
              <a:rPr lang="en-US" dirty="0">
                <a:latin typeface="Gill Sans MT" panose="020B0502020104020203" pitchFamily="34" charset="77"/>
              </a:rPr>
              <a:t> las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BF16B7-063C-0E4E-8B10-98A1D23F74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2303" y="3938799"/>
            <a:ext cx="203200" cy="2921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37CF51-8ECA-3140-B050-EE19DE10C3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9370" y="2162144"/>
            <a:ext cx="990600" cy="177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EDD404B-0A08-6741-8DC8-0070CBE9E60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8727" y="5771322"/>
            <a:ext cx="431800" cy="3048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55129EA-7F87-EB44-8424-40A21FF925F4}"/>
              </a:ext>
            </a:extLst>
          </p:cNvPr>
          <p:cNvSpPr txBox="1"/>
          <p:nvPr/>
        </p:nvSpPr>
        <p:spPr>
          <a:xfrm>
            <a:off x="8781631" y="4793424"/>
            <a:ext cx="1663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a priori de que </a:t>
            </a:r>
            <a:r>
              <a:rPr lang="en-US" dirty="0" err="1">
                <a:latin typeface="Gill Sans MT" panose="020B0502020104020203" pitchFamily="34" charset="77"/>
              </a:rPr>
              <a:t>ocurra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13139004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1236A22D-0981-FA47-A8D0-769E6DAF1268}"/>
              </a:ext>
            </a:extLst>
          </p:cNvPr>
          <p:cNvSpPr/>
          <p:nvPr/>
        </p:nvSpPr>
        <p:spPr>
          <a:xfrm>
            <a:off x="6850809" y="5150612"/>
            <a:ext cx="3499139" cy="152848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F4C60E2A-C56A-7E4A-80A6-61207B1186C4}"/>
              </a:ext>
            </a:extLst>
          </p:cNvPr>
          <p:cNvSpPr/>
          <p:nvPr/>
        </p:nvSpPr>
        <p:spPr>
          <a:xfrm>
            <a:off x="6850809" y="3318444"/>
            <a:ext cx="3499139" cy="169087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BC5FC3C-FF37-454E-AA9E-A7714DE20DC6}"/>
              </a:ext>
            </a:extLst>
          </p:cNvPr>
          <p:cNvSpPr/>
          <p:nvPr/>
        </p:nvSpPr>
        <p:spPr>
          <a:xfrm>
            <a:off x="6850809" y="2443367"/>
            <a:ext cx="3499139" cy="68745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225FE0-C5D3-714B-88F5-1C5B24755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147" y="2443366"/>
            <a:ext cx="5098722" cy="44527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B424E4-C4BC-4E47-AA93-26BE11128D24}"/>
              </a:ext>
            </a:extLst>
          </p:cNvPr>
          <p:cNvSpPr txBox="1"/>
          <p:nvPr/>
        </p:nvSpPr>
        <p:spPr>
          <a:xfrm>
            <a:off x="2118929" y="51355"/>
            <a:ext cx="77787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Matriz</a:t>
            </a:r>
            <a:r>
              <a:rPr lang="en-US" sz="4000" dirty="0">
                <a:latin typeface="Gill Sans MT" panose="020B0502020104020203" pitchFamily="34" charset="77"/>
              </a:rPr>
              <a:t> de </a:t>
            </a:r>
            <a:r>
              <a:rPr lang="en-US" sz="4000" dirty="0" err="1">
                <a:latin typeface="Gill Sans MT" panose="020B0502020104020203" pitchFamily="34" charset="77"/>
              </a:rPr>
              <a:t>Covarianza</a:t>
            </a:r>
            <a:r>
              <a:rPr lang="en-US" sz="4000" dirty="0">
                <a:latin typeface="Gill Sans MT" panose="020B0502020104020203" pitchFamily="34" charset="77"/>
              </a:rPr>
              <a:t>          </a:t>
            </a:r>
            <a:r>
              <a:rPr lang="en-US" sz="2400" dirty="0">
                <a:latin typeface="Gill Sans MT" panose="020B0502020104020203" pitchFamily="34" charset="77"/>
              </a:rPr>
              <a:t>(</a:t>
            </a:r>
            <a:r>
              <a:rPr lang="en-US" sz="2400" dirty="0" err="1">
                <a:latin typeface="Gill Sans MT" panose="020B0502020104020203" pitchFamily="34" charset="77"/>
              </a:rPr>
              <a:t>recordatorio</a:t>
            </a:r>
            <a:r>
              <a:rPr lang="en-US" sz="2400" dirty="0">
                <a:latin typeface="Gill Sans MT" panose="020B0502020104020203" pitchFamily="34" charset="77"/>
              </a:rPr>
              <a:t>)</a:t>
            </a:r>
            <a:endParaRPr lang="en-US" sz="4000" dirty="0">
              <a:latin typeface="Gill Sans MT" panose="020B0502020104020203" pitchFamily="34" charset="77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EA97D5-A5C0-994A-A191-2DFFA8CD5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992" y="1135705"/>
            <a:ext cx="5443883" cy="12037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85B9FC9-A472-514F-B094-2CDDBF45CE0C}"/>
              </a:ext>
            </a:extLst>
          </p:cNvPr>
          <p:cNvSpPr txBox="1"/>
          <p:nvPr/>
        </p:nvSpPr>
        <p:spPr>
          <a:xfrm>
            <a:off x="7497801" y="2589856"/>
            <a:ext cx="2130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número</a:t>
            </a:r>
            <a:r>
              <a:rPr lang="en-US" dirty="0">
                <a:latin typeface="Gill Sans MT" panose="020B0502020104020203" pitchFamily="34" charset="77"/>
              </a:rPr>
              <a:t> de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7749E1-44C9-B74A-B236-0C3E40481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9893" y="2532510"/>
            <a:ext cx="482600" cy="4445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30A0E8A-38C2-7E47-B983-42CB7D8FD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959" y="3729954"/>
            <a:ext cx="2077966" cy="114753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288A1F6-F0C4-8745-8483-6CEA692EC0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4959" y="5519944"/>
            <a:ext cx="2971800" cy="5588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3E79DD4E-77FF-D641-8102-D4345A89FA77}"/>
              </a:ext>
            </a:extLst>
          </p:cNvPr>
          <p:cNvSpPr/>
          <p:nvPr/>
        </p:nvSpPr>
        <p:spPr>
          <a:xfrm>
            <a:off x="7824840" y="3329951"/>
            <a:ext cx="16311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imes New Roman" panose="02020603050405020304" pitchFamily="18" charset="0"/>
              </a:rPr>
              <a:t>centro</a:t>
            </a:r>
            <a:r>
              <a:rPr lang="en-US" dirty="0">
                <a:latin typeface="Gill Sans MT" panose="020B0502020104020203" pitchFamily="34" charset="77"/>
                <a:cs typeface="Times New Roman" panose="02020603050405020304" pitchFamily="18" charset="0"/>
              </a:rPr>
              <a:t> de masa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EDCA31B-F8B4-404D-B26D-EE70A9CD99CB}"/>
              </a:ext>
            </a:extLst>
          </p:cNvPr>
          <p:cNvSpPr/>
          <p:nvPr/>
        </p:nvSpPr>
        <p:spPr>
          <a:xfrm>
            <a:off x="8033568" y="5150612"/>
            <a:ext cx="10734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muestra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56112D1-A9C9-6F4E-89B5-227DA02ADD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9177" y="6320248"/>
            <a:ext cx="1079500" cy="215900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640B4C30-0193-C74D-8BB1-691798B12566}"/>
              </a:ext>
            </a:extLst>
          </p:cNvPr>
          <p:cNvGrpSpPr/>
          <p:nvPr/>
        </p:nvGrpSpPr>
        <p:grpSpPr>
          <a:xfrm>
            <a:off x="4195507" y="4029703"/>
            <a:ext cx="5587254" cy="698085"/>
            <a:chOff x="2671507" y="3771288"/>
            <a:chExt cx="5587254" cy="698085"/>
          </a:xfrm>
        </p:grpSpPr>
        <p:sp>
          <p:nvSpPr>
            <p:cNvPr id="51" name="5-point Star 50">
              <a:extLst>
                <a:ext uri="{FF2B5EF4-FFF2-40B4-BE49-F238E27FC236}">
                  <a16:creationId xmlns:a16="http://schemas.microsoft.com/office/drawing/2014/main" id="{CF02BF9A-DF96-9B41-B406-F4399F19E746}"/>
                </a:ext>
              </a:extLst>
            </p:cNvPr>
            <p:cNvSpPr/>
            <p:nvPr/>
          </p:nvSpPr>
          <p:spPr>
            <a:xfrm>
              <a:off x="7950648" y="3771288"/>
              <a:ext cx="308113" cy="268357"/>
            </a:xfrm>
            <a:prstGeom prst="star5">
              <a:avLst/>
            </a:prstGeom>
            <a:solidFill>
              <a:srgbClr val="FFC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4" name="5-point Star 53">
              <a:extLst>
                <a:ext uri="{FF2B5EF4-FFF2-40B4-BE49-F238E27FC236}">
                  <a16:creationId xmlns:a16="http://schemas.microsoft.com/office/drawing/2014/main" id="{499F792A-3BE4-D84F-89A0-3F28C26DA38B}"/>
                </a:ext>
              </a:extLst>
            </p:cNvPr>
            <p:cNvSpPr/>
            <p:nvPr/>
          </p:nvSpPr>
          <p:spPr>
            <a:xfrm>
              <a:off x="2671507" y="4201016"/>
              <a:ext cx="308113" cy="268357"/>
            </a:xfrm>
            <a:prstGeom prst="star5">
              <a:avLst/>
            </a:prstGeom>
            <a:solidFill>
              <a:srgbClr val="FFC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9E9CA87-2621-8347-B350-D8909A6ADF55}"/>
              </a:ext>
            </a:extLst>
          </p:cNvPr>
          <p:cNvGrpSpPr/>
          <p:nvPr/>
        </p:nvGrpSpPr>
        <p:grpSpPr>
          <a:xfrm>
            <a:off x="5080002" y="5461888"/>
            <a:ext cx="1770807" cy="393004"/>
            <a:chOff x="3556001" y="5203474"/>
            <a:chExt cx="1770807" cy="393004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711933C-1179-9E40-9BEC-6B42423DA4E4}"/>
                </a:ext>
              </a:extLst>
            </p:cNvPr>
            <p:cNvSpPr/>
            <p:nvPr/>
          </p:nvSpPr>
          <p:spPr>
            <a:xfrm>
              <a:off x="3556001" y="5203474"/>
              <a:ext cx="217714" cy="279400"/>
            </a:xfrm>
            <a:prstGeom prst="ellipse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258EF25-665F-F14F-9773-919F4B98CD62}"/>
                </a:ext>
              </a:extLst>
            </p:cNvPr>
            <p:cNvCxnSpPr>
              <a:cxnSpLocks/>
            </p:cNvCxnSpPr>
            <p:nvPr/>
          </p:nvCxnSpPr>
          <p:spPr>
            <a:xfrm>
              <a:off x="3741832" y="5381997"/>
              <a:ext cx="1584976" cy="2144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785C8D6-F106-22E9-3940-B8E6C8BF4A86}"/>
              </a:ext>
            </a:extLst>
          </p:cNvPr>
          <p:cNvGrpSpPr/>
          <p:nvPr/>
        </p:nvGrpSpPr>
        <p:grpSpPr>
          <a:xfrm>
            <a:off x="4803913" y="1972298"/>
            <a:ext cx="1341174" cy="3178315"/>
            <a:chOff x="3279913" y="1713883"/>
            <a:chExt cx="1341174" cy="3178315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DED487-5E00-30B4-6B5C-B1060B994D2F}"/>
                </a:ext>
              </a:extLst>
            </p:cNvPr>
            <p:cNvSpPr/>
            <p:nvPr/>
          </p:nvSpPr>
          <p:spPr>
            <a:xfrm rot="16200000">
              <a:off x="3864937" y="1237134"/>
              <a:ext cx="279401" cy="1232899"/>
            </a:xfrm>
            <a:prstGeom prst="leftBrac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dirty="0">
                <a:latin typeface="Gill Sans MT" panose="020B0502020104020203" pitchFamily="34" charset="77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60115FA-9AC0-0962-58FE-84B6012A90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79913" y="2184952"/>
              <a:ext cx="698315" cy="270724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210560-4B0E-53B0-76BA-9FCB8C96F5FF}"/>
              </a:ext>
            </a:extLst>
          </p:cNvPr>
          <p:cNvCxnSpPr/>
          <p:nvPr/>
        </p:nvCxnSpPr>
        <p:spPr>
          <a:xfrm>
            <a:off x="4346714" y="4641571"/>
            <a:ext cx="854765" cy="101525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4625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CCA787-9A7F-8C42-AF45-C883A056A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035" y="1538515"/>
            <a:ext cx="2271826" cy="18423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49DF97-C9F0-2742-A6E2-98A7B5F302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892"/>
          <a:stretch/>
        </p:blipFill>
        <p:spPr>
          <a:xfrm>
            <a:off x="2043390" y="4242605"/>
            <a:ext cx="2123803" cy="1054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B48F98-7C98-0647-9E61-989F74E16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497" y="1604807"/>
            <a:ext cx="2271826" cy="18684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50F360-A501-A74C-B190-0DD239FA59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9172" y="1604807"/>
            <a:ext cx="2273838" cy="18684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30E251-A682-3E46-B3E3-A3853449BA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2293" y="4272422"/>
            <a:ext cx="2120900" cy="965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69FBC5-4DB1-E643-88E4-ABE847A579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2299" y="4282361"/>
            <a:ext cx="2159000" cy="9271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A23DD72-42F7-7BB4-527F-A0E348FB190B}"/>
              </a:ext>
            </a:extLst>
          </p:cNvPr>
          <p:cNvSpPr txBox="1"/>
          <p:nvPr/>
        </p:nvSpPr>
        <p:spPr>
          <a:xfrm>
            <a:off x="2118930" y="51355"/>
            <a:ext cx="73627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Matriz</a:t>
            </a:r>
            <a:r>
              <a:rPr lang="en-US" sz="4000" dirty="0">
                <a:latin typeface="Gill Sans MT" panose="020B0502020104020203" pitchFamily="34" charset="77"/>
              </a:rPr>
              <a:t> de </a:t>
            </a:r>
            <a:r>
              <a:rPr lang="en-US" sz="4000" dirty="0" err="1">
                <a:latin typeface="Gill Sans MT" panose="020B0502020104020203" pitchFamily="34" charset="77"/>
              </a:rPr>
              <a:t>Covarianza</a:t>
            </a:r>
            <a:r>
              <a:rPr lang="en-US" sz="4000" dirty="0">
                <a:latin typeface="Gill Sans MT" panose="020B0502020104020203" pitchFamily="34" charset="77"/>
              </a:rPr>
              <a:t>          </a:t>
            </a:r>
            <a:r>
              <a:rPr lang="en-US" sz="2400" dirty="0">
                <a:latin typeface="Gill Sans MT" panose="020B0502020104020203" pitchFamily="34" charset="77"/>
              </a:rPr>
              <a:t>(</a:t>
            </a:r>
            <a:r>
              <a:rPr lang="en-US" sz="2400" dirty="0" err="1">
                <a:latin typeface="Gill Sans MT" panose="020B0502020104020203" pitchFamily="34" charset="77"/>
              </a:rPr>
              <a:t>ejemplos</a:t>
            </a:r>
            <a:r>
              <a:rPr lang="en-US" sz="2400" dirty="0">
                <a:latin typeface="Gill Sans MT" panose="020B0502020104020203" pitchFamily="34" charset="77"/>
              </a:rPr>
              <a:t>)</a:t>
            </a:r>
            <a:endParaRPr lang="en-US" sz="40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88377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EE52E98-7640-384E-9B05-585240DE2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699882"/>
            <a:ext cx="6906040" cy="573130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10D8D59-6D93-5640-8EF0-22F84017264A}"/>
              </a:ext>
            </a:extLst>
          </p:cNvPr>
          <p:cNvSpPr/>
          <p:nvPr/>
        </p:nvSpPr>
        <p:spPr>
          <a:xfrm>
            <a:off x="4137994" y="2544415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57C39A-0F38-B94C-A28D-2CA05D2757EF}"/>
              </a:ext>
            </a:extLst>
          </p:cNvPr>
          <p:cNvSpPr/>
          <p:nvPr/>
        </p:nvSpPr>
        <p:spPr>
          <a:xfrm>
            <a:off x="6109251" y="2557669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8873679-14EB-9E44-BFB7-13F5F8050AB9}"/>
              </a:ext>
            </a:extLst>
          </p:cNvPr>
          <p:cNvSpPr/>
          <p:nvPr/>
        </p:nvSpPr>
        <p:spPr>
          <a:xfrm>
            <a:off x="6092689" y="4191001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AC1028-9050-FF48-88A2-E9A1D4AA2E69}"/>
              </a:ext>
            </a:extLst>
          </p:cNvPr>
          <p:cNvSpPr/>
          <p:nvPr/>
        </p:nvSpPr>
        <p:spPr>
          <a:xfrm>
            <a:off x="9122620" y="1733247"/>
            <a:ext cx="109331" cy="13914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A6C736-A7AD-3D4B-808A-A2926DD56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2775"/>
            <a:ext cx="3810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AC818A-14B3-6C44-AD6C-8B839DC57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780" y="2436189"/>
            <a:ext cx="3937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B7DBE7-64E0-7941-8C32-07210B6AE6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638" y="2446128"/>
            <a:ext cx="393700" cy="3556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8F92D7-3582-ED47-B37E-180132EB4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9317" y="1625021"/>
            <a:ext cx="406400" cy="355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E0418A-0D8C-CD40-A257-D6E3153E19FB}"/>
              </a:ext>
            </a:extLst>
          </p:cNvPr>
          <p:cNvSpPr txBox="1"/>
          <p:nvPr/>
        </p:nvSpPr>
        <p:spPr>
          <a:xfrm>
            <a:off x="8769577" y="962822"/>
            <a:ext cx="174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Centro de Masa </a:t>
            </a:r>
          </a:p>
          <a:p>
            <a:r>
              <a:rPr lang="en-US" dirty="0">
                <a:latin typeface="Gill Sans MT" panose="020B0502020104020203" pitchFamily="34" charset="77"/>
              </a:rPr>
              <a:t>de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5-point Star 13">
            <a:extLst>
              <a:ext uri="{FF2B5EF4-FFF2-40B4-BE49-F238E27FC236}">
                <a16:creationId xmlns:a16="http://schemas.microsoft.com/office/drawing/2014/main" id="{C4899D84-7FAD-F14B-B8C7-9A5397DACEDE}"/>
              </a:ext>
            </a:extLst>
          </p:cNvPr>
          <p:cNvSpPr/>
          <p:nvPr/>
        </p:nvSpPr>
        <p:spPr>
          <a:xfrm>
            <a:off x="5131904" y="3160644"/>
            <a:ext cx="308113" cy="268357"/>
          </a:xfrm>
          <a:prstGeom prst="star5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5-point Star 14">
            <a:extLst>
              <a:ext uri="{FF2B5EF4-FFF2-40B4-BE49-F238E27FC236}">
                <a16:creationId xmlns:a16="http://schemas.microsoft.com/office/drawing/2014/main" id="{5F680F04-40B5-DA48-A97C-7D610B4426A3}"/>
              </a:ext>
            </a:extLst>
          </p:cNvPr>
          <p:cNvSpPr/>
          <p:nvPr/>
        </p:nvSpPr>
        <p:spPr>
          <a:xfrm>
            <a:off x="9099415" y="3938800"/>
            <a:ext cx="308113" cy="268357"/>
          </a:xfrm>
          <a:prstGeom prst="star5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E498C16-28D4-FD42-9A44-B5F95AE172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5420" y="3155121"/>
            <a:ext cx="203200" cy="2921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FDF72E4-991C-BA4F-BDBE-A4577B6E7401}"/>
              </a:ext>
            </a:extLst>
          </p:cNvPr>
          <p:cNvSpPr txBox="1"/>
          <p:nvPr/>
        </p:nvSpPr>
        <p:spPr>
          <a:xfrm>
            <a:off x="8840452" y="2791790"/>
            <a:ext cx="16637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Centro de Masa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de </a:t>
            </a:r>
            <a:r>
              <a:rPr lang="en-US" dirty="0" err="1">
                <a:latin typeface="Gill Sans MT" panose="020B0502020104020203" pitchFamily="34" charset="77"/>
              </a:rPr>
              <a:t>todas</a:t>
            </a:r>
            <a:r>
              <a:rPr lang="en-US" dirty="0">
                <a:latin typeface="Gill Sans MT" panose="020B0502020104020203" pitchFamily="34" charset="77"/>
              </a:rPr>
              <a:t> las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BF16B7-063C-0E4E-8B10-98A1D23F74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2303" y="3938799"/>
            <a:ext cx="203200" cy="2921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37CF51-8ECA-3140-B050-EE19DE10C3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9370" y="2162144"/>
            <a:ext cx="990600" cy="177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EDD404B-0A08-6741-8DC8-0070CBE9E60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8727" y="5771322"/>
            <a:ext cx="431800" cy="3048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55129EA-7F87-EB44-8424-40A21FF925F4}"/>
              </a:ext>
            </a:extLst>
          </p:cNvPr>
          <p:cNvSpPr txBox="1"/>
          <p:nvPr/>
        </p:nvSpPr>
        <p:spPr>
          <a:xfrm>
            <a:off x="8781631" y="4793424"/>
            <a:ext cx="1663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a priori de que </a:t>
            </a:r>
            <a:r>
              <a:rPr lang="en-US" dirty="0" err="1">
                <a:latin typeface="Gill Sans MT" panose="020B0502020104020203" pitchFamily="34" charset="77"/>
              </a:rPr>
              <a:t>ocurra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7D906-79A1-6942-B7CB-57F65E769004}"/>
              </a:ext>
            </a:extLst>
          </p:cNvPr>
          <p:cNvSpPr txBox="1"/>
          <p:nvPr/>
        </p:nvSpPr>
        <p:spPr>
          <a:xfrm>
            <a:off x="2118929" y="220318"/>
            <a:ext cx="27401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Definiciones</a:t>
            </a:r>
            <a:endParaRPr lang="en-US" sz="40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7880163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C199BEB5-C6F4-2048-90BC-9EF28C6FA447}"/>
              </a:ext>
            </a:extLst>
          </p:cNvPr>
          <p:cNvSpPr txBox="1"/>
          <p:nvPr/>
        </p:nvSpPr>
        <p:spPr>
          <a:xfrm>
            <a:off x="1741558" y="235621"/>
            <a:ext cx="90331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Covarianza</a:t>
            </a:r>
            <a:r>
              <a:rPr lang="en-US" sz="4000" dirty="0">
                <a:latin typeface="Gill Sans MT" panose="020B0502020104020203" pitchFamily="34" charset="77"/>
              </a:rPr>
              <a:t>  Inter-</a:t>
            </a:r>
            <a:r>
              <a:rPr lang="en-US" sz="4000" dirty="0" err="1">
                <a:latin typeface="Gill Sans MT" panose="020B0502020104020203" pitchFamily="34" charset="77"/>
              </a:rPr>
              <a:t>Clase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2800" dirty="0">
                <a:latin typeface="Gill Sans MT" panose="020B0502020104020203" pitchFamily="34" charset="77"/>
              </a:rPr>
              <a:t>(between class covariance)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D29C53-8D40-244A-B71E-9E993068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27" y="1126126"/>
            <a:ext cx="4291377" cy="738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3FFC82-A5F8-294B-BB1C-E00468204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801" y="1715882"/>
            <a:ext cx="6052457" cy="5022915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71AEBFFE-15AD-3E47-99A9-F8259A045FD6}"/>
              </a:ext>
            </a:extLst>
          </p:cNvPr>
          <p:cNvSpPr/>
          <p:nvPr/>
        </p:nvSpPr>
        <p:spPr>
          <a:xfrm>
            <a:off x="5052395" y="3400761"/>
            <a:ext cx="95818" cy="11867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70136D1-BFBC-2B44-BBDB-857EA274C380}"/>
              </a:ext>
            </a:extLst>
          </p:cNvPr>
          <p:cNvSpPr/>
          <p:nvPr/>
        </p:nvSpPr>
        <p:spPr>
          <a:xfrm>
            <a:off x="6878509" y="3414016"/>
            <a:ext cx="95818" cy="11867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3CE02A6-9769-184C-9A76-29F7D2652A12}"/>
              </a:ext>
            </a:extLst>
          </p:cNvPr>
          <p:cNvSpPr/>
          <p:nvPr/>
        </p:nvSpPr>
        <p:spPr>
          <a:xfrm>
            <a:off x="6832919" y="4916716"/>
            <a:ext cx="95818" cy="11867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1E12BB2-0426-6443-AA35-A5D68621E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2931" y="4808489"/>
            <a:ext cx="333909" cy="311648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BDF1BD8-B616-F14C-9B9B-A8175B14D7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4182" y="3292534"/>
            <a:ext cx="345039" cy="311648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73BE0B8-2E0C-A647-AB9D-FA911762C2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897" y="3302474"/>
            <a:ext cx="345039" cy="311648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9" name="5-point Star 18">
            <a:extLst>
              <a:ext uri="{FF2B5EF4-FFF2-40B4-BE49-F238E27FC236}">
                <a16:creationId xmlns:a16="http://schemas.microsoft.com/office/drawing/2014/main" id="{28BFBB8C-D37B-E549-8AD9-AF1ADF86CF18}"/>
              </a:ext>
            </a:extLst>
          </p:cNvPr>
          <p:cNvSpPr/>
          <p:nvPr/>
        </p:nvSpPr>
        <p:spPr>
          <a:xfrm>
            <a:off x="6118875" y="3813786"/>
            <a:ext cx="270030" cy="228877"/>
          </a:xfrm>
          <a:prstGeom prst="star5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0FA8D40-1B5C-2A4D-B5E0-457593999E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2392" y="3808264"/>
            <a:ext cx="178085" cy="255997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D01DCAF-CD0A-2640-985D-7B4D60C6B2D5}"/>
              </a:ext>
            </a:extLst>
          </p:cNvPr>
          <p:cNvGrpSpPr/>
          <p:nvPr/>
        </p:nvGrpSpPr>
        <p:grpSpPr>
          <a:xfrm>
            <a:off x="5134181" y="3502057"/>
            <a:ext cx="1780524" cy="1432038"/>
            <a:chOff x="3765677" y="3570368"/>
            <a:chExt cx="1780524" cy="1432038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2E9D7F7-5F9C-9A41-90FD-97ED5206997F}"/>
                </a:ext>
              </a:extLst>
            </p:cNvPr>
            <p:cNvCxnSpPr>
              <a:cxnSpLocks/>
              <a:endCxn id="12" idx="3"/>
            </p:cNvCxnSpPr>
            <p:nvPr/>
          </p:nvCxnSpPr>
          <p:spPr>
            <a:xfrm flipV="1">
              <a:off x="4876800" y="3583623"/>
              <a:ext cx="647237" cy="494892"/>
            </a:xfrm>
            <a:prstGeom prst="straightConnector1">
              <a:avLst/>
            </a:prstGeom>
            <a:ln w="3492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D3DB55C-9B4E-BF44-B6D3-C8AFC993A784}"/>
                </a:ext>
              </a:extLst>
            </p:cNvPr>
            <p:cNvCxnSpPr>
              <a:cxnSpLocks/>
              <a:endCxn id="14" idx="7"/>
            </p:cNvCxnSpPr>
            <p:nvPr/>
          </p:nvCxnSpPr>
          <p:spPr>
            <a:xfrm>
              <a:off x="4876800" y="4078514"/>
              <a:ext cx="669401" cy="923892"/>
            </a:xfrm>
            <a:prstGeom prst="straightConnector1">
              <a:avLst/>
            </a:prstGeom>
            <a:ln w="3492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A8AAE63-CB30-3F48-A115-C53F56F428C5}"/>
                </a:ext>
              </a:extLst>
            </p:cNvPr>
            <p:cNvCxnSpPr>
              <a:cxnSpLocks/>
              <a:stCxn id="11" idx="5"/>
            </p:cNvCxnSpPr>
            <p:nvPr/>
          </p:nvCxnSpPr>
          <p:spPr>
            <a:xfrm>
              <a:off x="3765677" y="3570368"/>
              <a:ext cx="1111123" cy="508146"/>
            </a:xfrm>
            <a:prstGeom prst="straightConnector1">
              <a:avLst/>
            </a:prstGeom>
            <a:ln w="3492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406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A545C93E-1A62-F74F-8905-1104EE98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64" y="3036056"/>
            <a:ext cx="4058835" cy="354068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C199BEB5-C6F4-2048-90BC-9EF28C6FA447}"/>
              </a:ext>
            </a:extLst>
          </p:cNvPr>
          <p:cNvSpPr txBox="1"/>
          <p:nvPr/>
        </p:nvSpPr>
        <p:spPr>
          <a:xfrm>
            <a:off x="1812038" y="144658"/>
            <a:ext cx="8678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Covarianza</a:t>
            </a:r>
            <a:r>
              <a:rPr lang="en-US" sz="4000" dirty="0">
                <a:latin typeface="Gill Sans MT" panose="020B0502020104020203" pitchFamily="34" charset="77"/>
              </a:rPr>
              <a:t>  Intra-</a:t>
            </a:r>
            <a:r>
              <a:rPr lang="en-US" sz="4000" dirty="0" err="1">
                <a:latin typeface="Gill Sans MT" panose="020B0502020104020203" pitchFamily="34" charset="77"/>
              </a:rPr>
              <a:t>Clase</a:t>
            </a:r>
            <a:r>
              <a:rPr lang="en-US" sz="2800" dirty="0">
                <a:latin typeface="Gill Sans MT" panose="020B0502020104020203" pitchFamily="34" charset="77"/>
              </a:rPr>
              <a:t> (within-class covariance)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A4E59B-1548-4C4C-ADEC-467DBADA6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557" y="1065090"/>
            <a:ext cx="2456688" cy="10500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78001DD-4BF2-7C46-9678-6D526C978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557" y="2354664"/>
            <a:ext cx="5943600" cy="1099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D4C050-7755-4A4F-A6BB-97C26F366B03}"/>
              </a:ext>
            </a:extLst>
          </p:cNvPr>
          <p:cNvSpPr txBox="1"/>
          <p:nvPr/>
        </p:nvSpPr>
        <p:spPr>
          <a:xfrm>
            <a:off x="2249558" y="4214696"/>
            <a:ext cx="2412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Covarianza</a:t>
            </a:r>
            <a:r>
              <a:rPr lang="en-US" dirty="0">
                <a:latin typeface="Gill Sans MT" panose="020B0502020104020203" pitchFamily="34" charset="77"/>
              </a:rPr>
              <a:t> de la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A59298B-103D-3A4D-83DA-0878355EA6B8}"/>
              </a:ext>
            </a:extLst>
          </p:cNvPr>
          <p:cNvCxnSpPr/>
          <p:nvPr/>
        </p:nvCxnSpPr>
        <p:spPr>
          <a:xfrm flipV="1">
            <a:off x="2498035" y="3299797"/>
            <a:ext cx="0" cy="859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F46E7D26-5BB5-524D-ADC9-290E5ECD4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35" y="5436704"/>
            <a:ext cx="584200" cy="4572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4E60F854-FA3E-F542-A6B7-BD8136BF5834}"/>
              </a:ext>
            </a:extLst>
          </p:cNvPr>
          <p:cNvSpPr txBox="1"/>
          <p:nvPr/>
        </p:nvSpPr>
        <p:spPr>
          <a:xfrm>
            <a:off x="2792457" y="5480638"/>
            <a:ext cx="2227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muestras</a:t>
            </a:r>
            <a:r>
              <a:rPr lang="en-US" dirty="0">
                <a:latin typeface="Gill Sans MT" panose="020B0502020104020203" pitchFamily="34" charset="77"/>
              </a:rPr>
              <a:t> de la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ACB381-4FD9-DA42-939D-E641873A26A1}"/>
              </a:ext>
            </a:extLst>
          </p:cNvPr>
          <p:cNvSpPr txBox="1"/>
          <p:nvPr/>
        </p:nvSpPr>
        <p:spPr>
          <a:xfrm>
            <a:off x="5592419" y="1379344"/>
            <a:ext cx="42844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Promedio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ponderado</a:t>
            </a:r>
            <a:r>
              <a:rPr lang="en-US" dirty="0">
                <a:latin typeface="Gill Sans MT" panose="020B0502020104020203" pitchFamily="34" charset="77"/>
              </a:rPr>
              <a:t> de las </a:t>
            </a:r>
            <a:r>
              <a:rPr lang="en-US" dirty="0" err="1">
                <a:latin typeface="Gill Sans MT" panose="020B0502020104020203" pitchFamily="34" charset="77"/>
              </a:rPr>
              <a:t>Covarianzas</a:t>
            </a:r>
            <a:r>
              <a:rPr lang="en-US" dirty="0">
                <a:latin typeface="Gill Sans MT" panose="020B0502020104020203" pitchFamily="34" charset="77"/>
              </a:rPr>
              <a:t> de </a:t>
            </a:r>
          </a:p>
          <a:p>
            <a:r>
              <a:rPr lang="en-US" dirty="0">
                <a:latin typeface="Gill Sans MT" panose="020B0502020104020203" pitchFamily="34" charset="77"/>
              </a:rPr>
              <a:t>la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51493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A545C93E-1A62-F74F-8905-1104EE98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64" y="3036056"/>
            <a:ext cx="4058835" cy="354068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C199BEB5-C6F4-2048-90BC-9EF28C6FA447}"/>
              </a:ext>
            </a:extLst>
          </p:cNvPr>
          <p:cNvSpPr txBox="1"/>
          <p:nvPr/>
        </p:nvSpPr>
        <p:spPr>
          <a:xfrm>
            <a:off x="1812038" y="144658"/>
            <a:ext cx="8678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Covarianza</a:t>
            </a:r>
            <a:r>
              <a:rPr lang="en-US" sz="4000" dirty="0">
                <a:latin typeface="Gill Sans MT" panose="020B0502020104020203" pitchFamily="34" charset="77"/>
              </a:rPr>
              <a:t>  Intra-</a:t>
            </a:r>
            <a:r>
              <a:rPr lang="en-US" sz="4000" dirty="0" err="1">
                <a:latin typeface="Gill Sans MT" panose="020B0502020104020203" pitchFamily="34" charset="77"/>
              </a:rPr>
              <a:t>Clase</a:t>
            </a:r>
            <a:r>
              <a:rPr lang="en-US" sz="2800" dirty="0">
                <a:latin typeface="Gill Sans MT" panose="020B0502020104020203" pitchFamily="34" charset="77"/>
              </a:rPr>
              <a:t> (within-class covariance)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A4E59B-1548-4C4C-ADEC-467DBADA6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557" y="1065090"/>
            <a:ext cx="2456688" cy="10500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78001DD-4BF2-7C46-9678-6D526C978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557" y="2354664"/>
            <a:ext cx="5943600" cy="1099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D4C050-7755-4A4F-A6BB-97C26F366B03}"/>
              </a:ext>
            </a:extLst>
          </p:cNvPr>
          <p:cNvSpPr txBox="1"/>
          <p:nvPr/>
        </p:nvSpPr>
        <p:spPr>
          <a:xfrm>
            <a:off x="2249558" y="4214696"/>
            <a:ext cx="2412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Covarianza</a:t>
            </a:r>
            <a:r>
              <a:rPr lang="en-US" dirty="0">
                <a:latin typeface="Gill Sans MT" panose="020B0502020104020203" pitchFamily="34" charset="77"/>
              </a:rPr>
              <a:t> de la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A59298B-103D-3A4D-83DA-0878355EA6B8}"/>
              </a:ext>
            </a:extLst>
          </p:cNvPr>
          <p:cNvCxnSpPr/>
          <p:nvPr/>
        </p:nvCxnSpPr>
        <p:spPr>
          <a:xfrm flipV="1">
            <a:off x="2498035" y="3299797"/>
            <a:ext cx="0" cy="859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4E411AC-EE8B-E049-8593-51D3EA86288F}"/>
              </a:ext>
            </a:extLst>
          </p:cNvPr>
          <p:cNvSpPr txBox="1"/>
          <p:nvPr/>
        </p:nvSpPr>
        <p:spPr>
          <a:xfrm>
            <a:off x="5592419" y="1379344"/>
            <a:ext cx="42844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Promedio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ponderado</a:t>
            </a:r>
            <a:r>
              <a:rPr lang="en-US" dirty="0">
                <a:latin typeface="Gill Sans MT" panose="020B0502020104020203" pitchFamily="34" charset="77"/>
              </a:rPr>
              <a:t> de las </a:t>
            </a:r>
            <a:r>
              <a:rPr lang="en-US" dirty="0" err="1">
                <a:latin typeface="Gill Sans MT" panose="020B0502020104020203" pitchFamily="34" charset="77"/>
              </a:rPr>
              <a:t>Covarianzas</a:t>
            </a:r>
            <a:r>
              <a:rPr lang="en-US" dirty="0">
                <a:latin typeface="Gill Sans MT" panose="020B0502020104020203" pitchFamily="34" charset="77"/>
              </a:rPr>
              <a:t> de </a:t>
            </a:r>
          </a:p>
          <a:p>
            <a:r>
              <a:rPr lang="en-US" dirty="0">
                <a:latin typeface="Gill Sans MT" panose="020B0502020104020203" pitchFamily="34" charset="77"/>
              </a:rPr>
              <a:t>la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46E7D26-5BB5-524D-ADC9-290E5ECD4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35" y="5436704"/>
            <a:ext cx="584200" cy="4572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4E60F854-FA3E-F542-A6B7-BD8136BF5834}"/>
              </a:ext>
            </a:extLst>
          </p:cNvPr>
          <p:cNvSpPr txBox="1"/>
          <p:nvPr/>
        </p:nvSpPr>
        <p:spPr>
          <a:xfrm>
            <a:off x="2792457" y="5480638"/>
            <a:ext cx="2227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muestras</a:t>
            </a:r>
            <a:r>
              <a:rPr lang="en-US" dirty="0">
                <a:latin typeface="Gill Sans MT" panose="020B0502020104020203" pitchFamily="34" charset="77"/>
              </a:rPr>
              <a:t> de la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F8FC986-164D-804D-A87C-FD32B69B0553}"/>
              </a:ext>
            </a:extLst>
          </p:cNvPr>
          <p:cNvSpPr/>
          <p:nvPr/>
        </p:nvSpPr>
        <p:spPr>
          <a:xfrm>
            <a:off x="7643316" y="4464613"/>
            <a:ext cx="1756228" cy="1791583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EF5CAC23-8A0D-C147-8806-2F160ADD23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5693" y="5665304"/>
            <a:ext cx="508000" cy="40640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82688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A545C93E-1A62-F74F-8905-1104EE98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64" y="3036056"/>
            <a:ext cx="4058835" cy="354068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C199BEB5-C6F4-2048-90BC-9EF28C6FA447}"/>
              </a:ext>
            </a:extLst>
          </p:cNvPr>
          <p:cNvSpPr txBox="1"/>
          <p:nvPr/>
        </p:nvSpPr>
        <p:spPr>
          <a:xfrm>
            <a:off x="1812038" y="144658"/>
            <a:ext cx="8678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Covarianza</a:t>
            </a:r>
            <a:r>
              <a:rPr lang="en-US" sz="4000" dirty="0">
                <a:latin typeface="Gill Sans MT" panose="020B0502020104020203" pitchFamily="34" charset="77"/>
              </a:rPr>
              <a:t>  Intra-</a:t>
            </a:r>
            <a:r>
              <a:rPr lang="en-US" sz="4000" dirty="0" err="1">
                <a:latin typeface="Gill Sans MT" panose="020B0502020104020203" pitchFamily="34" charset="77"/>
              </a:rPr>
              <a:t>Clase</a:t>
            </a:r>
            <a:r>
              <a:rPr lang="en-US" sz="2800" dirty="0">
                <a:latin typeface="Gill Sans MT" panose="020B0502020104020203" pitchFamily="34" charset="77"/>
              </a:rPr>
              <a:t> (within-class covariance)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A4E59B-1548-4C4C-ADEC-467DBADA6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557" y="1065090"/>
            <a:ext cx="2456688" cy="10500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78001DD-4BF2-7C46-9678-6D526C978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557" y="2354664"/>
            <a:ext cx="5943600" cy="1099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D4C050-7755-4A4F-A6BB-97C26F366B03}"/>
              </a:ext>
            </a:extLst>
          </p:cNvPr>
          <p:cNvSpPr txBox="1"/>
          <p:nvPr/>
        </p:nvSpPr>
        <p:spPr>
          <a:xfrm>
            <a:off x="2249558" y="4214696"/>
            <a:ext cx="2412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Covarianza</a:t>
            </a:r>
            <a:r>
              <a:rPr lang="en-US" dirty="0">
                <a:latin typeface="Gill Sans MT" panose="020B0502020104020203" pitchFamily="34" charset="77"/>
              </a:rPr>
              <a:t> de la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A59298B-103D-3A4D-83DA-0878355EA6B8}"/>
              </a:ext>
            </a:extLst>
          </p:cNvPr>
          <p:cNvCxnSpPr/>
          <p:nvPr/>
        </p:nvCxnSpPr>
        <p:spPr>
          <a:xfrm flipV="1">
            <a:off x="2498035" y="3299797"/>
            <a:ext cx="0" cy="859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4E411AC-EE8B-E049-8593-51D3EA86288F}"/>
              </a:ext>
            </a:extLst>
          </p:cNvPr>
          <p:cNvSpPr txBox="1"/>
          <p:nvPr/>
        </p:nvSpPr>
        <p:spPr>
          <a:xfrm>
            <a:off x="5592419" y="1379344"/>
            <a:ext cx="42844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Promedio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ponderado</a:t>
            </a:r>
            <a:r>
              <a:rPr lang="en-US" dirty="0">
                <a:latin typeface="Gill Sans MT" panose="020B0502020104020203" pitchFamily="34" charset="77"/>
              </a:rPr>
              <a:t> de las </a:t>
            </a:r>
            <a:r>
              <a:rPr lang="en-US" dirty="0" err="1">
                <a:latin typeface="Gill Sans MT" panose="020B0502020104020203" pitchFamily="34" charset="77"/>
              </a:rPr>
              <a:t>Covarianzas</a:t>
            </a:r>
            <a:r>
              <a:rPr lang="en-US" dirty="0">
                <a:latin typeface="Gill Sans MT" panose="020B0502020104020203" pitchFamily="34" charset="77"/>
              </a:rPr>
              <a:t> de </a:t>
            </a:r>
          </a:p>
          <a:p>
            <a:r>
              <a:rPr lang="en-US" dirty="0">
                <a:latin typeface="Gill Sans MT" panose="020B0502020104020203" pitchFamily="34" charset="77"/>
              </a:rPr>
              <a:t>la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46E7D26-5BB5-524D-ADC9-290E5ECD4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35" y="5436704"/>
            <a:ext cx="584200" cy="4572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4E60F854-FA3E-F542-A6B7-BD8136BF5834}"/>
              </a:ext>
            </a:extLst>
          </p:cNvPr>
          <p:cNvSpPr txBox="1"/>
          <p:nvPr/>
        </p:nvSpPr>
        <p:spPr>
          <a:xfrm>
            <a:off x="2792457" y="5480638"/>
            <a:ext cx="2227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muestras</a:t>
            </a:r>
            <a:r>
              <a:rPr lang="en-US" dirty="0">
                <a:latin typeface="Gill Sans MT" panose="020B0502020104020203" pitchFamily="34" charset="77"/>
              </a:rPr>
              <a:t> de la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F8FC986-164D-804D-A87C-FD32B69B0553}"/>
              </a:ext>
            </a:extLst>
          </p:cNvPr>
          <p:cNvSpPr/>
          <p:nvPr/>
        </p:nvSpPr>
        <p:spPr>
          <a:xfrm>
            <a:off x="6235427" y="3376045"/>
            <a:ext cx="1756228" cy="1791583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D04C579-EF00-C944-A85A-F858CC69C4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5194" y="5286831"/>
            <a:ext cx="520700" cy="40640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7536376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A545C93E-1A62-F74F-8905-1104EE98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64" y="3036056"/>
            <a:ext cx="4058835" cy="354068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C199BEB5-C6F4-2048-90BC-9EF28C6FA447}"/>
              </a:ext>
            </a:extLst>
          </p:cNvPr>
          <p:cNvSpPr txBox="1"/>
          <p:nvPr/>
        </p:nvSpPr>
        <p:spPr>
          <a:xfrm>
            <a:off x="1812038" y="144658"/>
            <a:ext cx="8678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Covarianza</a:t>
            </a:r>
            <a:r>
              <a:rPr lang="en-US" sz="4000" dirty="0">
                <a:latin typeface="Gill Sans MT" panose="020B0502020104020203" pitchFamily="34" charset="77"/>
              </a:rPr>
              <a:t>  Intra-</a:t>
            </a:r>
            <a:r>
              <a:rPr lang="en-US" sz="4000" dirty="0" err="1">
                <a:latin typeface="Gill Sans MT" panose="020B0502020104020203" pitchFamily="34" charset="77"/>
              </a:rPr>
              <a:t>Clase</a:t>
            </a:r>
            <a:r>
              <a:rPr lang="en-US" sz="2800" dirty="0">
                <a:latin typeface="Gill Sans MT" panose="020B0502020104020203" pitchFamily="34" charset="77"/>
              </a:rPr>
              <a:t> (within-class covariance)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A4E59B-1548-4C4C-ADEC-467DBADA6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557" y="1065090"/>
            <a:ext cx="2456688" cy="10500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78001DD-4BF2-7C46-9678-6D526C978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557" y="2354664"/>
            <a:ext cx="5943600" cy="1099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D4C050-7755-4A4F-A6BB-97C26F366B03}"/>
              </a:ext>
            </a:extLst>
          </p:cNvPr>
          <p:cNvSpPr txBox="1"/>
          <p:nvPr/>
        </p:nvSpPr>
        <p:spPr>
          <a:xfrm>
            <a:off x="2249558" y="4214696"/>
            <a:ext cx="2412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Covarianza</a:t>
            </a:r>
            <a:r>
              <a:rPr lang="en-US" dirty="0">
                <a:latin typeface="Gill Sans MT" panose="020B0502020104020203" pitchFamily="34" charset="77"/>
              </a:rPr>
              <a:t> de la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A59298B-103D-3A4D-83DA-0878355EA6B8}"/>
              </a:ext>
            </a:extLst>
          </p:cNvPr>
          <p:cNvCxnSpPr/>
          <p:nvPr/>
        </p:nvCxnSpPr>
        <p:spPr>
          <a:xfrm flipV="1">
            <a:off x="2498035" y="3299797"/>
            <a:ext cx="0" cy="859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4E411AC-EE8B-E049-8593-51D3EA86288F}"/>
              </a:ext>
            </a:extLst>
          </p:cNvPr>
          <p:cNvSpPr txBox="1"/>
          <p:nvPr/>
        </p:nvSpPr>
        <p:spPr>
          <a:xfrm>
            <a:off x="5592419" y="1379344"/>
            <a:ext cx="42844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Promedio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ponderado</a:t>
            </a:r>
            <a:r>
              <a:rPr lang="en-US" dirty="0">
                <a:latin typeface="Gill Sans MT" panose="020B0502020104020203" pitchFamily="34" charset="77"/>
              </a:rPr>
              <a:t> de las </a:t>
            </a:r>
            <a:r>
              <a:rPr lang="en-US" dirty="0" err="1">
                <a:latin typeface="Gill Sans MT" panose="020B0502020104020203" pitchFamily="34" charset="77"/>
              </a:rPr>
              <a:t>Covarianzas</a:t>
            </a:r>
            <a:r>
              <a:rPr lang="en-US" dirty="0">
                <a:latin typeface="Gill Sans MT" panose="020B0502020104020203" pitchFamily="34" charset="77"/>
              </a:rPr>
              <a:t> de </a:t>
            </a:r>
          </a:p>
          <a:p>
            <a:r>
              <a:rPr lang="en-US" dirty="0">
                <a:latin typeface="Gill Sans MT" panose="020B0502020104020203" pitchFamily="34" charset="77"/>
              </a:rPr>
              <a:t>la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46E7D26-5BB5-524D-ADC9-290E5ECD4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35" y="5436704"/>
            <a:ext cx="584200" cy="4572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4E60F854-FA3E-F542-A6B7-BD8136BF5834}"/>
              </a:ext>
            </a:extLst>
          </p:cNvPr>
          <p:cNvSpPr txBox="1"/>
          <p:nvPr/>
        </p:nvSpPr>
        <p:spPr>
          <a:xfrm>
            <a:off x="2792457" y="5480638"/>
            <a:ext cx="2227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muestras</a:t>
            </a:r>
            <a:r>
              <a:rPr lang="en-US" dirty="0">
                <a:latin typeface="Gill Sans MT" panose="020B0502020104020203" pitchFamily="34" charset="77"/>
              </a:rPr>
              <a:t> de la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F8FC986-164D-804D-A87C-FD32B69B0553}"/>
              </a:ext>
            </a:extLst>
          </p:cNvPr>
          <p:cNvSpPr/>
          <p:nvPr/>
        </p:nvSpPr>
        <p:spPr>
          <a:xfrm>
            <a:off x="7628802" y="3332499"/>
            <a:ext cx="1756228" cy="1791583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A449D56E-0CF4-4546-8615-43DF15B5B6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221" y="4198258"/>
            <a:ext cx="520700" cy="40640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8567050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C199BEB5-C6F4-2048-90BC-9EF28C6FA447}"/>
              </a:ext>
            </a:extLst>
          </p:cNvPr>
          <p:cNvSpPr txBox="1"/>
          <p:nvPr/>
        </p:nvSpPr>
        <p:spPr>
          <a:xfrm>
            <a:off x="2648678" y="283740"/>
            <a:ext cx="7570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Gill Sans MT" panose="020B0502020104020203" pitchFamily="34" charset="77"/>
              </a:rPr>
              <a:t>Estrategia</a:t>
            </a:r>
            <a:r>
              <a:rPr lang="en-US" sz="2800" dirty="0">
                <a:latin typeface="Gill Sans MT" panose="020B0502020104020203" pitchFamily="34" charset="77"/>
              </a:rPr>
              <a:t>: </a:t>
            </a:r>
            <a:r>
              <a:rPr lang="en-US" sz="2800" dirty="0">
                <a:solidFill>
                  <a:srgbClr val="FF0000"/>
                </a:solidFill>
                <a:latin typeface="Gill Sans MT" panose="020B0502020104020203" pitchFamily="34" charset="77"/>
              </a:rPr>
              <a:t>Inter-Class HIGH</a:t>
            </a:r>
            <a:r>
              <a:rPr lang="en-US" sz="2800" dirty="0">
                <a:latin typeface="Gill Sans MT" panose="020B0502020104020203" pitchFamily="34" charset="77"/>
              </a:rPr>
              <a:t>  +   </a:t>
            </a:r>
            <a:r>
              <a:rPr lang="en-US" sz="2800" dirty="0">
                <a:solidFill>
                  <a:srgbClr val="0432FF"/>
                </a:solidFill>
                <a:latin typeface="Gill Sans MT" panose="020B0502020104020203" pitchFamily="34" charset="77"/>
              </a:rPr>
              <a:t>Intra-Class LOW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82D79F8-5E23-0A4E-B163-A5AAED8A5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657" y="1112378"/>
            <a:ext cx="6052457" cy="5022915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2D469A7B-E0B6-294F-A910-D515AFDE8A50}"/>
              </a:ext>
            </a:extLst>
          </p:cNvPr>
          <p:cNvSpPr/>
          <p:nvPr/>
        </p:nvSpPr>
        <p:spPr>
          <a:xfrm>
            <a:off x="5043251" y="2797257"/>
            <a:ext cx="95818" cy="11867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C10A02D-1235-F149-A634-C0E1D0C2181A}"/>
              </a:ext>
            </a:extLst>
          </p:cNvPr>
          <p:cNvSpPr/>
          <p:nvPr/>
        </p:nvSpPr>
        <p:spPr>
          <a:xfrm>
            <a:off x="6869365" y="2810512"/>
            <a:ext cx="95818" cy="11867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0792535-B03B-C547-AE61-CBEAB57C84DD}"/>
              </a:ext>
            </a:extLst>
          </p:cNvPr>
          <p:cNvSpPr/>
          <p:nvPr/>
        </p:nvSpPr>
        <p:spPr>
          <a:xfrm>
            <a:off x="6823775" y="4313212"/>
            <a:ext cx="95818" cy="11867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1E6194A-B6B5-A944-8672-79C222B89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787" y="4204985"/>
            <a:ext cx="333909" cy="311648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B4D7D4-DAF2-044A-9739-982A22760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5038" y="2689030"/>
            <a:ext cx="345039" cy="311648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BF03BCA-5C84-5E46-AF3E-060FBDA995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753" y="2698970"/>
            <a:ext cx="345039" cy="311648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0" name="5-point Star 19">
            <a:extLst>
              <a:ext uri="{FF2B5EF4-FFF2-40B4-BE49-F238E27FC236}">
                <a16:creationId xmlns:a16="http://schemas.microsoft.com/office/drawing/2014/main" id="{5B482E99-1E84-2244-B038-E90223FCB90C}"/>
              </a:ext>
            </a:extLst>
          </p:cNvPr>
          <p:cNvSpPr/>
          <p:nvPr/>
        </p:nvSpPr>
        <p:spPr>
          <a:xfrm>
            <a:off x="6109731" y="3210282"/>
            <a:ext cx="270030" cy="228877"/>
          </a:xfrm>
          <a:prstGeom prst="star5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599FEA3-4F81-C443-8D08-86B9076607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3248" y="3204760"/>
            <a:ext cx="178085" cy="255997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0B7A75CB-6643-9E4A-AB3C-5EE48F308E95}"/>
              </a:ext>
            </a:extLst>
          </p:cNvPr>
          <p:cNvGrpSpPr/>
          <p:nvPr/>
        </p:nvGrpSpPr>
        <p:grpSpPr>
          <a:xfrm>
            <a:off x="5125037" y="2898553"/>
            <a:ext cx="1780524" cy="1432038"/>
            <a:chOff x="3756533" y="2966864"/>
            <a:chExt cx="1780524" cy="1432038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E86DA8C-816B-D04C-A755-AF4B7AF9067C}"/>
                </a:ext>
              </a:extLst>
            </p:cNvPr>
            <p:cNvCxnSpPr>
              <a:cxnSpLocks/>
              <a:endCxn id="15" idx="3"/>
            </p:cNvCxnSpPr>
            <p:nvPr/>
          </p:nvCxnSpPr>
          <p:spPr>
            <a:xfrm flipV="1">
              <a:off x="4867656" y="2980119"/>
              <a:ext cx="647237" cy="494892"/>
            </a:xfrm>
            <a:prstGeom prst="straightConnector1">
              <a:avLst/>
            </a:prstGeom>
            <a:ln w="34925"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F9C3D7E-8F27-0F4F-B950-1655FE5E4D42}"/>
                </a:ext>
              </a:extLst>
            </p:cNvPr>
            <p:cNvCxnSpPr>
              <a:cxnSpLocks/>
              <a:endCxn id="16" idx="7"/>
            </p:cNvCxnSpPr>
            <p:nvPr/>
          </p:nvCxnSpPr>
          <p:spPr>
            <a:xfrm>
              <a:off x="4867656" y="3475010"/>
              <a:ext cx="669401" cy="923892"/>
            </a:xfrm>
            <a:prstGeom prst="straightConnector1">
              <a:avLst/>
            </a:prstGeom>
            <a:ln w="34925"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3FACA0A-83D5-1741-A2AE-2747BA551A76}"/>
                </a:ext>
              </a:extLst>
            </p:cNvPr>
            <p:cNvCxnSpPr>
              <a:cxnSpLocks/>
              <a:stCxn id="14" idx="5"/>
            </p:cNvCxnSpPr>
            <p:nvPr/>
          </p:nvCxnSpPr>
          <p:spPr>
            <a:xfrm>
              <a:off x="3756533" y="2966864"/>
              <a:ext cx="1111123" cy="508146"/>
            </a:xfrm>
            <a:prstGeom prst="straightConnector1">
              <a:avLst/>
            </a:prstGeom>
            <a:ln w="34925"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Oval 25">
            <a:extLst>
              <a:ext uri="{FF2B5EF4-FFF2-40B4-BE49-F238E27FC236}">
                <a16:creationId xmlns:a16="http://schemas.microsoft.com/office/drawing/2014/main" id="{605758DA-408F-E54D-8AEF-8CCEB2AD26B5}"/>
              </a:ext>
            </a:extLst>
          </p:cNvPr>
          <p:cNvSpPr/>
          <p:nvPr/>
        </p:nvSpPr>
        <p:spPr>
          <a:xfrm>
            <a:off x="4312921" y="2148840"/>
            <a:ext cx="1540327" cy="1444752"/>
          </a:xfrm>
          <a:prstGeom prst="ellipse">
            <a:avLst/>
          </a:prstGeom>
          <a:solidFill>
            <a:srgbClr val="DBEEF4">
              <a:alpha val="36078"/>
            </a:srgbClr>
          </a:solidFill>
          <a:ln w="28575">
            <a:solidFill>
              <a:srgbClr val="0432F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BAAA224-F7D6-CF4E-8FE1-19E15B58B33E}"/>
              </a:ext>
            </a:extLst>
          </p:cNvPr>
          <p:cNvSpPr/>
          <p:nvPr/>
        </p:nvSpPr>
        <p:spPr>
          <a:xfrm>
            <a:off x="6099202" y="3667083"/>
            <a:ext cx="1540327" cy="1444752"/>
          </a:xfrm>
          <a:prstGeom prst="ellipse">
            <a:avLst/>
          </a:prstGeom>
          <a:solidFill>
            <a:schemeClr val="accent3">
              <a:lumMod val="20000"/>
              <a:lumOff val="80000"/>
              <a:alpha val="36078"/>
            </a:schemeClr>
          </a:solidFill>
          <a:ln w="28575">
            <a:solidFill>
              <a:srgbClr val="0432F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0F44DD7-CCCE-9C49-85C0-806B980CCA5A}"/>
              </a:ext>
            </a:extLst>
          </p:cNvPr>
          <p:cNvSpPr/>
          <p:nvPr/>
        </p:nvSpPr>
        <p:spPr>
          <a:xfrm>
            <a:off x="6147111" y="2088135"/>
            <a:ext cx="1540327" cy="1444752"/>
          </a:xfrm>
          <a:prstGeom prst="ellipse">
            <a:avLst/>
          </a:prstGeom>
          <a:solidFill>
            <a:schemeClr val="accent6">
              <a:lumMod val="20000"/>
              <a:lumOff val="80000"/>
              <a:alpha val="36078"/>
            </a:schemeClr>
          </a:solidFill>
          <a:ln w="28575">
            <a:solidFill>
              <a:srgbClr val="0432FF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9596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C199BEB5-C6F4-2048-90BC-9EF28C6FA447}"/>
              </a:ext>
            </a:extLst>
          </p:cNvPr>
          <p:cNvSpPr txBox="1"/>
          <p:nvPr/>
        </p:nvSpPr>
        <p:spPr>
          <a:xfrm>
            <a:off x="1884769" y="395126"/>
            <a:ext cx="40302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Criterio</a:t>
            </a:r>
            <a:r>
              <a:rPr lang="en-US" sz="4000" dirty="0">
                <a:latin typeface="Gill Sans MT" panose="020B0502020104020203" pitchFamily="34" charset="77"/>
              </a:rPr>
              <a:t> de Fisher: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D29C53-8D40-244A-B71E-9E9930680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80" y="2213111"/>
            <a:ext cx="4291377" cy="738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A21CD80-78E0-4742-9714-1BD871DBD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557" y="1958486"/>
            <a:ext cx="2456688" cy="10500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951F9EA-9FEA-EE4A-95F6-56D7381E09FF}"/>
              </a:ext>
            </a:extLst>
          </p:cNvPr>
          <p:cNvSpPr txBox="1"/>
          <p:nvPr/>
        </p:nvSpPr>
        <p:spPr>
          <a:xfrm>
            <a:off x="1971925" y="1282581"/>
            <a:ext cx="3566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Gill Sans MT" panose="020B0502020104020203" pitchFamily="34" charset="77"/>
              </a:rPr>
              <a:t>Covarianza</a:t>
            </a:r>
            <a:r>
              <a:rPr lang="en-US" sz="2800" dirty="0">
                <a:latin typeface="Gill Sans MT" panose="020B0502020104020203" pitchFamily="34" charset="77"/>
              </a:rPr>
              <a:t>  Intra-</a:t>
            </a:r>
            <a:r>
              <a:rPr lang="en-US" sz="2800" dirty="0" err="1">
                <a:latin typeface="Gill Sans MT" panose="020B0502020104020203" pitchFamily="34" charset="77"/>
              </a:rPr>
              <a:t>Clase</a:t>
            </a:r>
            <a:endParaRPr lang="en-US" sz="2800" dirty="0">
              <a:latin typeface="Gill Sans MT" panose="020B050202010402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F38E94-4E57-AB44-99C4-060E6E537DD5}"/>
              </a:ext>
            </a:extLst>
          </p:cNvPr>
          <p:cNvSpPr txBox="1"/>
          <p:nvPr/>
        </p:nvSpPr>
        <p:spPr>
          <a:xfrm>
            <a:off x="5948146" y="1282581"/>
            <a:ext cx="35892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Gill Sans MT" panose="020B0502020104020203" pitchFamily="34" charset="77"/>
              </a:rPr>
              <a:t>Covarianza</a:t>
            </a:r>
            <a:r>
              <a:rPr lang="en-US" sz="2800" dirty="0">
                <a:latin typeface="Gill Sans MT" panose="020B0502020104020203" pitchFamily="34" charset="77"/>
              </a:rPr>
              <a:t>  Inter-</a:t>
            </a:r>
            <a:r>
              <a:rPr lang="en-US" sz="2800" dirty="0" err="1">
                <a:latin typeface="Gill Sans MT" panose="020B0502020104020203" pitchFamily="34" charset="77"/>
              </a:rPr>
              <a:t>Clase</a:t>
            </a:r>
            <a:endParaRPr lang="en-US" sz="2800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9C1E9-4CB5-054B-8024-DE9809CF8A55}"/>
              </a:ext>
            </a:extLst>
          </p:cNvPr>
          <p:cNvSpPr txBox="1"/>
          <p:nvPr/>
        </p:nvSpPr>
        <p:spPr>
          <a:xfrm>
            <a:off x="6870771" y="3174666"/>
            <a:ext cx="176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DEBE SER ALTA!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03AEA8-8342-F04C-8DBB-23EF0FF50BD4}"/>
              </a:ext>
            </a:extLst>
          </p:cNvPr>
          <p:cNvSpPr txBox="1"/>
          <p:nvPr/>
        </p:nvSpPr>
        <p:spPr>
          <a:xfrm>
            <a:off x="2656844" y="3174666"/>
            <a:ext cx="1769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DEBE SER BAJA!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8C0584-6037-E343-8A68-09E383F466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517" y="4472039"/>
            <a:ext cx="3594100" cy="5715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A882995-8FB4-C849-8AEF-AA91D6D81250}"/>
              </a:ext>
            </a:extLst>
          </p:cNvPr>
          <p:cNvSpPr txBox="1"/>
          <p:nvPr/>
        </p:nvSpPr>
        <p:spPr>
          <a:xfrm>
            <a:off x="5458714" y="6025570"/>
            <a:ext cx="2066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Suma de la diagonal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FB69CD-36A9-FA46-8A45-B4318B27F32B}"/>
              </a:ext>
            </a:extLst>
          </p:cNvPr>
          <p:cNvCxnSpPr/>
          <p:nvPr/>
        </p:nvCxnSpPr>
        <p:spPr>
          <a:xfrm flipV="1">
            <a:off x="5707191" y="5110671"/>
            <a:ext cx="0" cy="859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4058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C199BEB5-C6F4-2048-90BC-9EF28C6FA447}"/>
              </a:ext>
            </a:extLst>
          </p:cNvPr>
          <p:cNvSpPr txBox="1"/>
          <p:nvPr/>
        </p:nvSpPr>
        <p:spPr>
          <a:xfrm>
            <a:off x="1884769" y="395126"/>
            <a:ext cx="40302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Criterio</a:t>
            </a:r>
            <a:r>
              <a:rPr lang="en-US" sz="4000" dirty="0">
                <a:latin typeface="Gill Sans MT" panose="020B0502020104020203" pitchFamily="34" charset="77"/>
              </a:rPr>
              <a:t> de Fisher: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51F9EA-9FEA-EE4A-95F6-56D7381E09FF}"/>
              </a:ext>
            </a:extLst>
          </p:cNvPr>
          <p:cNvSpPr txBox="1"/>
          <p:nvPr/>
        </p:nvSpPr>
        <p:spPr>
          <a:xfrm>
            <a:off x="1971926" y="1688980"/>
            <a:ext cx="82896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Se </a:t>
            </a:r>
            <a:r>
              <a:rPr lang="en-US" sz="2800" dirty="0" err="1">
                <a:latin typeface="Gill Sans MT" panose="020B0502020104020203" pitchFamily="34" charset="77"/>
              </a:rPr>
              <a:t>puede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  <a:r>
              <a:rPr lang="en-US" sz="2800" dirty="0" err="1">
                <a:latin typeface="Gill Sans MT" panose="020B0502020104020203" pitchFamily="34" charset="77"/>
              </a:rPr>
              <a:t>aplicar</a:t>
            </a:r>
            <a:r>
              <a:rPr lang="en-US" sz="2800" dirty="0">
                <a:latin typeface="Gill Sans MT" panose="020B0502020104020203" pitchFamily="34" charset="77"/>
              </a:rPr>
              <a:t> para un </a:t>
            </a:r>
            <a:r>
              <a:rPr lang="en-US" sz="2800" dirty="0" err="1">
                <a:latin typeface="Gill Sans MT" panose="020B0502020104020203" pitchFamily="34" charset="77"/>
              </a:rPr>
              <a:t>problema</a:t>
            </a:r>
            <a:r>
              <a:rPr lang="en-US" sz="2800" dirty="0">
                <a:latin typeface="Gill Sans MT" panose="020B0502020104020203" pitchFamily="34" charset="77"/>
              </a:rPr>
              <a:t> de </a:t>
            </a:r>
            <a:r>
              <a:rPr lang="en-US" sz="2800" dirty="0" err="1">
                <a:latin typeface="Gill Sans MT" panose="020B0502020104020203" pitchFamily="34" charset="77"/>
              </a:rPr>
              <a:t>clasificación</a:t>
            </a:r>
            <a:r>
              <a:rPr lang="en-US" sz="2800" dirty="0">
                <a:latin typeface="Gill Sans MT" panose="020B0502020104020203" pitchFamily="34" charset="77"/>
              </a:rPr>
              <a:t> de K </a:t>
            </a:r>
            <a:r>
              <a:rPr lang="en-US" sz="2800" dirty="0" err="1">
                <a:latin typeface="Gill Sans MT" panose="020B0502020104020203" pitchFamily="34" charset="77"/>
              </a:rPr>
              <a:t>clases</a:t>
            </a:r>
            <a:r>
              <a:rPr lang="en-US" sz="2800" dirty="0">
                <a:latin typeface="Gill Sans MT" panose="020B0502020104020203" pitchFamily="34" charset="77"/>
              </a:rPr>
              <a:t> y m </a:t>
            </a:r>
            <a:r>
              <a:rPr lang="en-US" sz="2800" dirty="0" err="1">
                <a:latin typeface="Gill Sans MT" panose="020B0502020104020203" pitchFamily="34" charset="77"/>
              </a:rPr>
              <a:t>características</a:t>
            </a:r>
            <a:r>
              <a:rPr lang="en-US" sz="2800" dirty="0">
                <a:latin typeface="Gill Sans MT" panose="020B0502020104020203" pitchFamily="34" charset="77"/>
              </a:rPr>
              <a:t>.</a:t>
            </a:r>
          </a:p>
          <a:p>
            <a:endParaRPr lang="en-US" sz="2800" dirty="0">
              <a:latin typeface="Gill Sans MT" panose="020B0502020104020203" pitchFamily="34" charset="77"/>
            </a:endParaRPr>
          </a:p>
          <a:p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</a:rPr>
              <a:t>Las matrices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covarianza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</a:rPr>
              <a:t> son de m x m, J es un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escalar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8D2260E-B9A8-5048-9B72-E53A9607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7517" y="4472039"/>
            <a:ext cx="3594100" cy="5715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758AD8B-F26A-DD4B-A4D2-ADF76D6558D6}"/>
              </a:ext>
            </a:extLst>
          </p:cNvPr>
          <p:cNvSpPr txBox="1"/>
          <p:nvPr/>
        </p:nvSpPr>
        <p:spPr>
          <a:xfrm>
            <a:off x="5458714" y="6025570"/>
            <a:ext cx="2066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Suma de la diagonal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7CBD3E1-ABFA-BC41-A030-2DF4B7460B50}"/>
              </a:ext>
            </a:extLst>
          </p:cNvPr>
          <p:cNvCxnSpPr/>
          <p:nvPr/>
        </p:nvCxnSpPr>
        <p:spPr>
          <a:xfrm flipV="1">
            <a:off x="5707191" y="5110671"/>
            <a:ext cx="0" cy="859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32F787-2BE9-0162-3C5C-19FA9E63519B}"/>
              </a:ext>
            </a:extLst>
          </p:cNvPr>
          <p:cNvSpPr txBox="1"/>
          <p:nvPr/>
        </p:nvSpPr>
        <p:spPr>
          <a:xfrm rot="19377494">
            <a:off x="-625329" y="2090171"/>
            <a:ext cx="8343845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s-419" sz="2800" dirty="0">
                <a:solidFill>
                  <a:srgbClr val="FF0000"/>
                </a:solidFill>
                <a:latin typeface="Gill Sans MT" panose="020B0502020104020203" pitchFamily="34" charset="77"/>
              </a:rPr>
              <a:t>RECORDAR: </a:t>
            </a:r>
          </a:p>
          <a:p>
            <a:pPr algn="ctr"/>
            <a:endParaRPr lang="es-419" sz="2800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ctr"/>
            <a:r>
              <a:rPr lang="es-419" sz="2800" dirty="0">
                <a:solidFill>
                  <a:srgbClr val="FF0000"/>
                </a:solidFill>
                <a:latin typeface="Gill Sans MT" panose="020B0502020104020203" pitchFamily="34" charset="77"/>
              </a:rPr>
              <a:t>La variable J es un escalar que mide la separabilidad entre las clases </a:t>
            </a:r>
          </a:p>
          <a:p>
            <a:pPr algn="ctr"/>
            <a:r>
              <a:rPr lang="es-419" sz="2800" dirty="0">
                <a:solidFill>
                  <a:srgbClr val="FF0000"/>
                </a:solidFill>
                <a:latin typeface="Gill Sans MT" panose="020B0502020104020203" pitchFamily="34" charset="77"/>
              </a:rPr>
              <a:t>(dado un conjunto de características)</a:t>
            </a:r>
          </a:p>
          <a:p>
            <a:pPr algn="ctr"/>
            <a:endParaRPr lang="es-419" sz="28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39902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B277CA0B-87E5-104F-98ED-D61D36BAFF20}"/>
              </a:ext>
            </a:extLst>
          </p:cNvPr>
          <p:cNvSpPr txBox="1"/>
          <p:nvPr/>
        </p:nvSpPr>
        <p:spPr>
          <a:xfrm>
            <a:off x="1728901" y="978892"/>
            <a:ext cx="939888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2"/>
                </a:solidFill>
                <a:latin typeface="Gill Sans MT" panose="020B0502020104020203" pitchFamily="34" charset="77"/>
              </a:rPr>
              <a:t>Algoritmo “Clean” (paso “0”)
</a:t>
            </a:r>
          </a:p>
          <a:p>
            <a:r>
              <a:rPr lang="en-US" sz="2000" i="1" dirty="0">
                <a:latin typeface="Gill Sans MT" panose="020B0502020104020203" pitchFamily="34" charset="77"/>
              </a:rPr>
              <a:t>(</a:t>
            </a:r>
            <a:r>
              <a:rPr lang="en-US" sz="2000" i="1" dirty="0" err="1">
                <a:latin typeface="Gill Sans MT" panose="020B0502020104020203" pitchFamily="34" charset="77"/>
              </a:rPr>
              <a:t>este</a:t>
            </a:r>
            <a:r>
              <a:rPr lang="en-US" sz="2000" i="1" dirty="0">
                <a:latin typeface="Gill Sans MT" panose="020B0502020104020203" pitchFamily="34" charset="77"/>
              </a:rPr>
              <a:t> paso </a:t>
            </a:r>
            <a:r>
              <a:rPr lang="en-US" sz="2000" i="1" dirty="0" err="1">
                <a:latin typeface="Gill Sans MT" panose="020B0502020104020203" pitchFamily="34" charset="77"/>
              </a:rPr>
              <a:t>debe</a:t>
            </a:r>
            <a:r>
              <a:rPr lang="en-US" sz="2000" i="1" dirty="0">
                <a:latin typeface="Gill Sans MT" panose="020B0502020104020203" pitchFamily="34" charset="77"/>
              </a:rPr>
              <a:t> </a:t>
            </a:r>
            <a:r>
              <a:rPr lang="en-US" sz="2000" i="1" dirty="0" err="1">
                <a:latin typeface="Gill Sans MT" panose="020B0502020104020203" pitchFamily="34" charset="77"/>
              </a:rPr>
              <a:t>realizarse</a:t>
            </a:r>
            <a:r>
              <a:rPr lang="en-US" sz="2000" i="1" dirty="0">
                <a:latin typeface="Gill Sans MT" panose="020B0502020104020203" pitchFamily="34" charset="77"/>
              </a:rPr>
              <a:t> antes de </a:t>
            </a:r>
            <a:r>
              <a:rPr lang="en-US" sz="2000" i="1" dirty="0" err="1">
                <a:latin typeface="Gill Sans MT" panose="020B0502020104020203" pitchFamily="34" charset="77"/>
              </a:rPr>
              <a:t>cualquier</a:t>
            </a:r>
            <a:r>
              <a:rPr lang="en-US" sz="2000" i="1" dirty="0">
                <a:latin typeface="Gill Sans MT" panose="020B0502020104020203" pitchFamily="34" charset="77"/>
              </a:rPr>
              <a:t> </a:t>
            </a:r>
            <a:r>
              <a:rPr lang="en-US" sz="2000" i="1" dirty="0" err="1">
                <a:latin typeface="Gill Sans MT" panose="020B0502020104020203" pitchFamily="34" charset="77"/>
              </a:rPr>
              <a:t>algoritmo</a:t>
            </a:r>
            <a:r>
              <a:rPr lang="en-US" sz="2000" i="1" dirty="0">
                <a:latin typeface="Gill Sans MT" panose="020B0502020104020203" pitchFamily="34" charset="77"/>
              </a:rPr>
              <a:t> de </a:t>
            </a:r>
            <a:r>
              <a:rPr lang="en-US" sz="2000" i="1" dirty="0" err="1">
                <a:latin typeface="Gill Sans MT" panose="020B0502020104020203" pitchFamily="34" charset="77"/>
              </a:rPr>
              <a:t>selección</a:t>
            </a:r>
            <a:r>
              <a:rPr lang="en-US" sz="2000" i="1" dirty="0">
                <a:latin typeface="Gill Sans MT" panose="020B0502020104020203" pitchFamily="34" charset="77"/>
              </a:rPr>
              <a:t> de </a:t>
            </a:r>
            <a:r>
              <a:rPr lang="en-US" sz="2000" i="1" dirty="0" err="1">
                <a:latin typeface="Gill Sans MT" panose="020B0502020104020203" pitchFamily="34" charset="77"/>
              </a:rPr>
              <a:t>características</a:t>
            </a:r>
            <a:r>
              <a:rPr lang="en-US" sz="2000" i="1" dirty="0">
                <a:latin typeface="Gill Sans MT" panose="020B0502020104020203" pitchFamily="34" charset="77"/>
              </a:rPr>
              <a:t> y </a:t>
            </a:r>
            <a:r>
              <a:rPr lang="en-US" sz="2000" i="1" dirty="0" err="1">
                <a:latin typeface="Gill Sans MT" panose="020B0502020104020203" pitchFamily="34" charset="77"/>
              </a:rPr>
              <a:t>cualquier</a:t>
            </a:r>
            <a:r>
              <a:rPr lang="en-US" sz="2000" i="1" dirty="0">
                <a:latin typeface="Gill Sans MT" panose="020B0502020104020203" pitchFamily="34" charset="77"/>
              </a:rPr>
              <a:t> </a:t>
            </a:r>
            <a:r>
              <a:rPr lang="en-US" sz="2000" i="1" dirty="0" err="1">
                <a:latin typeface="Gill Sans MT" panose="020B0502020104020203" pitchFamily="34" charset="77"/>
              </a:rPr>
              <a:t>normalización</a:t>
            </a:r>
            <a:r>
              <a:rPr lang="en-US" sz="2000" i="1" dirty="0">
                <a:latin typeface="Gill Sans MT" panose="020B0502020104020203" pitchFamily="34" charset="77"/>
              </a:rPr>
              <a:t>)
</a:t>
            </a:r>
          </a:p>
          <a:p>
            <a:pPr marL="514350" indent="-514350">
              <a:buAutoNum type="arabicPeriod"/>
            </a:pPr>
            <a:r>
              <a:rPr lang="en-US" sz="2800" dirty="0" err="1">
                <a:latin typeface="Gill Sans MT" panose="020B0502020104020203" pitchFamily="34" charset="77"/>
              </a:rPr>
              <a:t>Calcular</a:t>
            </a:r>
            <a:r>
              <a:rPr lang="en-US" sz="2800" dirty="0">
                <a:latin typeface="Gill Sans MT" panose="020B0502020104020203" pitchFamily="34" charset="77"/>
              </a:rPr>
              <a:t> la </a:t>
            </a:r>
            <a:r>
              <a:rPr lang="en-US" sz="2800" dirty="0" err="1">
                <a:latin typeface="Gill Sans MT" panose="020B0502020104020203" pitchFamily="34" charset="77"/>
              </a:rPr>
              <a:t>correlación</a:t>
            </a:r>
            <a:r>
              <a:rPr lang="en-US" sz="2800" dirty="0">
                <a:latin typeface="Gill Sans MT" panose="020B0502020104020203" pitchFamily="34" charset="77"/>
              </a:rPr>
              <a:t> entre columnas de X</a:t>
            </a:r>
          </a:p>
          <a:p>
            <a:pPr marL="514350" indent="-514350">
              <a:buAutoNum type="arabicPeriod"/>
            </a:pPr>
            <a:endParaRPr lang="en-US" sz="2800" dirty="0">
              <a:latin typeface="Gill Sans MT" panose="020B0502020104020203" pitchFamily="34" charset="77"/>
            </a:endParaRPr>
          </a:p>
          <a:p>
            <a:pPr marL="514350" indent="-514350">
              <a:buAutoNum type="arabicPeriod"/>
            </a:pPr>
            <a:r>
              <a:rPr lang="en-US" sz="2800" dirty="0">
                <a:latin typeface="Gill Sans MT" panose="020B0502020104020203" pitchFamily="34" charset="77"/>
              </a:rPr>
              <a:t>Si hay columnas </a:t>
            </a:r>
            <a:r>
              <a:rPr lang="en-US" sz="2800" dirty="0" err="1">
                <a:latin typeface="Gill Sans MT" panose="020B0502020104020203" pitchFamily="34" charset="77"/>
              </a:rPr>
              <a:t>altamente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  <a:r>
              <a:rPr lang="en-US" sz="2800" dirty="0" err="1">
                <a:latin typeface="Gill Sans MT" panose="020B0502020104020203" pitchFamily="34" charset="77"/>
              </a:rPr>
              <a:t>correlacionadas</a:t>
            </a:r>
            <a:r>
              <a:rPr lang="en-US" sz="2800" dirty="0">
                <a:latin typeface="Gill Sans MT" panose="020B0502020104020203" pitchFamily="34" charset="77"/>
              </a:rPr>
              <a:t>, </a:t>
            </a:r>
            <a:r>
              <a:rPr lang="en-US" sz="2800" dirty="0" err="1">
                <a:latin typeface="Gill Sans MT" panose="020B0502020104020203" pitchFamily="34" charset="77"/>
              </a:rPr>
              <a:t>selecciona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  <a:r>
              <a:rPr lang="en-US" sz="2800" dirty="0" err="1">
                <a:latin typeface="Gill Sans MT" panose="020B0502020104020203" pitchFamily="34" charset="77"/>
              </a:rPr>
              <a:t>una</a:t>
            </a:r>
            <a:r>
              <a:rPr lang="en-US" sz="2800" dirty="0">
                <a:latin typeface="Gill Sans MT" panose="020B0502020104020203" pitchFamily="34" charset="77"/>
              </a:rPr>
              <a:t> al azar y </a:t>
            </a:r>
            <a:r>
              <a:rPr lang="en-US" sz="2800" dirty="0" err="1">
                <a:latin typeface="Gill Sans MT" panose="020B0502020104020203" pitchFamily="34" charset="77"/>
              </a:rPr>
              <a:t>elimina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  <a:r>
              <a:rPr lang="en-US" sz="2800" dirty="0" err="1">
                <a:latin typeface="Gill Sans MT" panose="020B0502020104020203" pitchFamily="34" charset="77"/>
              </a:rPr>
              <a:t>el</a:t>
            </a:r>
            <a:r>
              <a:rPr lang="en-US" sz="2800" dirty="0">
                <a:latin typeface="Gill Sans MT" panose="020B0502020104020203" pitchFamily="34" charset="77"/>
              </a:rPr>
              <a:t> resto</a:t>
            </a:r>
          </a:p>
          <a:p>
            <a:pPr marL="514350" indent="-514350">
              <a:buAutoNum type="arabicPeriod"/>
            </a:pPr>
            <a:endParaRPr lang="en-US" sz="2800" dirty="0">
              <a:latin typeface="Gill Sans MT" panose="020B0502020104020203" pitchFamily="34" charset="77"/>
            </a:endParaRPr>
          </a:p>
          <a:p>
            <a:pPr marL="514350" indent="-514350">
              <a:buAutoNum type="arabicPeriod"/>
            </a:pPr>
            <a:r>
              <a:rPr lang="en-US" sz="2800" dirty="0">
                <a:latin typeface="Gill Sans MT" panose="020B0502020104020203" pitchFamily="34" charset="77"/>
              </a:rPr>
              <a:t>Eliminar </a:t>
            </a:r>
            <a:r>
              <a:rPr lang="en-US" sz="2800" dirty="0" err="1">
                <a:latin typeface="Gill Sans MT" panose="020B0502020104020203" pitchFamily="34" charset="77"/>
              </a:rPr>
              <a:t>características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  <a:r>
              <a:rPr lang="en-US" sz="2800" dirty="0" err="1">
                <a:latin typeface="Gill Sans MT" panose="020B0502020104020203" pitchFamily="34" charset="77"/>
              </a:rPr>
              <a:t>constantes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</a:p>
          <a:p>
            <a:r>
              <a:rPr lang="en-US" sz="2800" dirty="0">
                <a:latin typeface="Gill Sans MT" panose="020B0502020104020203" pitchFamily="34" charset="77"/>
              </a:rPr>
              <a:t>	(</a:t>
            </a:r>
            <a:r>
              <a:rPr lang="en-US" sz="2800" dirty="0" err="1">
                <a:latin typeface="Gill Sans MT" panose="020B0502020104020203" pitchFamily="34" charset="77"/>
              </a:rPr>
              <a:t>desviación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  <a:r>
              <a:rPr lang="en-US" sz="2800" dirty="0" err="1">
                <a:latin typeface="Gill Sans MT" panose="020B0502020104020203" pitchFamily="34" charset="77"/>
              </a:rPr>
              <a:t>estándar</a:t>
            </a:r>
            <a:r>
              <a:rPr lang="en-US" sz="2800" dirty="0">
                <a:latin typeface="Gill Sans MT" panose="020B0502020104020203" pitchFamily="34" charset="77"/>
              </a:rPr>
              <a:t> &lt;10</a:t>
            </a:r>
            <a:r>
              <a:rPr lang="en-US" sz="2800" baseline="30000" dirty="0">
                <a:latin typeface="Gill Sans MT" panose="020B0502020104020203" pitchFamily="34" charset="77"/>
              </a:rPr>
              <a:t>-8</a:t>
            </a:r>
            <a:r>
              <a:rPr lang="en-US" sz="2800" dirty="0">
                <a:latin typeface="Gill Sans MT" panose="020B0502020104020203" pitchFamily="34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677520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2437884" y="2767280"/>
            <a:ext cx="710636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 err="1">
                <a:latin typeface="Gill Sans MT" panose="020B0502020104020203" pitchFamily="34" charset="77"/>
              </a:rPr>
              <a:t>Ejemplo</a:t>
            </a:r>
            <a:r>
              <a:rPr lang="en-US" sz="4000" dirty="0">
                <a:latin typeface="Gill Sans MT" panose="020B0502020104020203" pitchFamily="34" charset="77"/>
              </a:rPr>
              <a:t>: 
de 9 </a:t>
            </a:r>
            <a:r>
              <a:rPr lang="en-US" sz="4000" dirty="0" err="1">
                <a:latin typeface="Gill Sans MT" panose="020B0502020104020203" pitchFamily="34" charset="77"/>
              </a:rPr>
              <a:t>características</a:t>
            </a:r>
            <a:r>
              <a:rPr lang="en-US" sz="4000" dirty="0">
                <a:latin typeface="Gill Sans MT" panose="020B0502020104020203" pitchFamily="34" charset="77"/>
              </a:rPr>
              <a:t>, </a:t>
            </a:r>
            <a:r>
              <a:rPr lang="en-US" sz="4000" dirty="0" err="1">
                <a:latin typeface="Gill Sans MT" panose="020B0502020104020203" pitchFamily="34" charset="77"/>
              </a:rPr>
              <a:t>seleccionar</a:t>
            </a:r>
            <a:r>
              <a:rPr lang="en-US" sz="4000" dirty="0">
                <a:latin typeface="Gill Sans MT" panose="020B0502020104020203" pitchFamily="34" charset="77"/>
              </a:rPr>
              <a:t> 3</a:t>
            </a:r>
          </a:p>
        </p:txBody>
      </p:sp>
    </p:spTree>
    <p:extLst>
      <p:ext uri="{BB962C8B-B14F-4D97-AF65-F5344CB8AC3E}">
        <p14:creationId xmlns:p14="http://schemas.microsoft.com/office/powerpoint/2010/main" val="20607132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4051008" y="960476"/>
            <a:ext cx="82612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m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076" y="972961"/>
            <a:ext cx="800476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p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389020" y="17203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31910" y="1423120"/>
          <a:ext cx="2656546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44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4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5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6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7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8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9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86050" y="1423120"/>
          <a:ext cx="893292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1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2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3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6" name="Oval 15"/>
          <p:cNvSpPr/>
          <p:nvPr/>
        </p:nvSpPr>
        <p:spPr>
          <a:xfrm>
            <a:off x="3554966" y="609046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4153406" y="608799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046977" y="609171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903611" y="608923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9971" y="609295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316331" y="609048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3" name="Elbow Connector 22"/>
          <p:cNvCxnSpPr>
            <a:stCxn id="18" idx="4"/>
            <a:endCxn id="19" idx="4"/>
          </p:cNvCxnSpPr>
          <p:nvPr/>
        </p:nvCxnSpPr>
        <p:spPr>
          <a:xfrm rot="5400000" flipH="1" flipV="1">
            <a:off x="7496916" y="3707875"/>
            <a:ext cx="2475" cy="4856634"/>
          </a:xfrm>
          <a:prstGeom prst="bentConnector3">
            <a:avLst>
              <a:gd name="adj1" fmla="val -469228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/>
          <p:cNvCxnSpPr>
            <a:stCxn id="17" idx="4"/>
            <a:endCxn id="20" idx="4"/>
          </p:cNvCxnSpPr>
          <p:nvPr/>
        </p:nvCxnSpPr>
        <p:spPr>
          <a:xfrm rot="16200000" flipH="1">
            <a:off x="6902066" y="3407909"/>
            <a:ext cx="4965" cy="5456565"/>
          </a:xfrm>
          <a:prstGeom prst="bentConnector3">
            <a:avLst>
              <a:gd name="adj1" fmla="val 449476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79842" y="3503658"/>
            <a:ext cx="81785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09" y="5773342"/>
            <a:ext cx="368300" cy="317500"/>
          </a:xfrm>
          <a:prstGeom prst="rect">
            <a:avLst/>
          </a:prstGeom>
        </p:spPr>
      </p:pic>
      <p:cxnSp>
        <p:nvCxnSpPr>
          <p:cNvPr id="46" name="Straight Arrow Connector 45"/>
          <p:cNvCxnSpPr/>
          <p:nvPr/>
        </p:nvCxnSpPr>
        <p:spPr>
          <a:xfrm>
            <a:off x="8609052" y="17376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99874" y="3520958"/>
            <a:ext cx="81785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cxnSp>
        <p:nvCxnSpPr>
          <p:cNvPr id="48" name="Straight Arrow Connector 47"/>
          <p:cNvCxnSpPr>
            <a:cxnSpLocks/>
          </p:cNvCxnSpPr>
          <p:nvPr/>
        </p:nvCxnSpPr>
        <p:spPr>
          <a:xfrm flipH="1">
            <a:off x="3116494" y="1257101"/>
            <a:ext cx="2671962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H="1">
            <a:off x="9141114" y="1274742"/>
            <a:ext cx="95146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/>
          <p:cNvCxnSpPr>
            <a:stCxn id="16" idx="4"/>
            <a:endCxn id="21" idx="4"/>
          </p:cNvCxnSpPr>
          <p:nvPr/>
        </p:nvCxnSpPr>
        <p:spPr>
          <a:xfrm rot="16200000" flipH="1">
            <a:off x="6458501" y="3255509"/>
            <a:ext cx="15" cy="5761365"/>
          </a:xfrm>
          <a:prstGeom prst="bentConnector3">
            <a:avLst>
              <a:gd name="adj1" fmla="val 2147483647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749161" y="561223"/>
            <a:ext cx="638084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cs typeface="Arial"/>
              </a:rPr>
              <a:t>Extracted features                                                                         Selected features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742" y="5765263"/>
            <a:ext cx="279400" cy="317500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066589" y="1432852"/>
          <a:ext cx="297764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d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977335" y="1089220"/>
            <a:ext cx="5277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MT" panose="020B0502020104020203" pitchFamily="34" charset="77"/>
                <a:cs typeface="Arial"/>
              </a:rPr>
              <a:t>labels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AA0A39-5971-6AD7-DF56-892230B8F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7701" y="5828908"/>
            <a:ext cx="2667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006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18AC3-2DF4-D256-EB59-488A87E1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6D65B8-6E6B-9A61-C32F-F72A74219D83}"/>
              </a:ext>
            </a:extLst>
          </p:cNvPr>
          <p:cNvSpPr txBox="1"/>
          <p:nvPr/>
        </p:nvSpPr>
        <p:spPr>
          <a:xfrm>
            <a:off x="2537173" y="1228397"/>
            <a:ext cx="711765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Métodos</a:t>
            </a:r>
            <a:r>
              <a:rPr lang="en-US" sz="4800" dirty="0">
                <a:solidFill>
                  <a:schemeClr val="accent2"/>
                </a:solidFill>
                <a:latin typeface="Gill Sans MT" panose="020B0502020104020203" pitchFamily="34" charset="77"/>
              </a:rPr>
              <a:t> de </a:t>
            </a:r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Selección</a:t>
            </a:r>
            <a:endParaRPr lang="en-US" sz="4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algn="ctr"/>
            <a:endParaRPr lang="en-US" sz="4000" dirty="0"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 err="1"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latin typeface="Gill Sans MT" panose="020B0502020104020203" pitchFamily="34" charset="77"/>
              </a:rPr>
              <a:t>Exhaustiva</a:t>
            </a:r>
            <a:endParaRPr lang="en-US" sz="4000" dirty="0"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>
                <a:latin typeface="Gill Sans MT" panose="020B0502020104020203" pitchFamily="34" charset="77"/>
              </a:rPr>
              <a:t>SFS (</a:t>
            </a:r>
            <a:r>
              <a:rPr lang="en-US" sz="4000" dirty="0" err="1"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latin typeface="Gill Sans MT" panose="020B0502020104020203" pitchFamily="34" charset="77"/>
              </a:rPr>
              <a:t>hacia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latin typeface="Gill Sans MT" panose="020B0502020104020203" pitchFamily="34" charset="77"/>
              </a:rPr>
              <a:t>adelante</a:t>
            </a:r>
            <a:r>
              <a:rPr lang="en-US" sz="4000" dirty="0">
                <a:latin typeface="Gill Sans MT" panose="020B0502020104020203" pitchFamily="34" charset="77"/>
              </a:rPr>
              <a:t>)</a:t>
            </a:r>
          </a:p>
          <a:p>
            <a:pPr marL="742950" indent="-742950">
              <a:buAutoNum type="arabicPeriod"/>
            </a:pPr>
            <a:r>
              <a:rPr lang="en-US" sz="4000" dirty="0">
                <a:latin typeface="Gill Sans MT" panose="020B0502020104020203" pitchFamily="34" charset="77"/>
              </a:rPr>
              <a:t>SBS (</a:t>
            </a:r>
            <a:r>
              <a:rPr lang="en-US" sz="4000" dirty="0" err="1"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latin typeface="Gill Sans MT" panose="020B0502020104020203" pitchFamily="34" charset="77"/>
              </a:rPr>
              <a:t>hacia</a:t>
            </a:r>
            <a:r>
              <a:rPr lang="en-US" sz="4000" dirty="0">
                <a:latin typeface="Gill Sans MT" panose="020B0502020104020203" pitchFamily="34" charset="77"/>
              </a:rPr>
              <a:t> atrás)</a:t>
            </a:r>
          </a:p>
          <a:p>
            <a:pPr marL="742950" indent="-742950">
              <a:buAutoNum type="arabicPeriod"/>
            </a:pPr>
            <a:r>
              <a:rPr lang="en-US" sz="4000" dirty="0">
                <a:latin typeface="Gill Sans MT" panose="020B0502020104020203" pitchFamily="34" charset="77"/>
              </a:rPr>
              <a:t>Plus r Take Away s</a:t>
            </a:r>
          </a:p>
          <a:p>
            <a:pPr marL="742950" indent="-742950">
              <a:buAutoNum type="arabicPeriod"/>
            </a:pPr>
            <a:r>
              <a:rPr lang="en-US" sz="4000" dirty="0">
                <a:latin typeface="Gill Sans MT" panose="020B0502020104020203" pitchFamily="34" charset="77"/>
              </a:rPr>
              <a:t>Branch &amp; Bound</a:t>
            </a:r>
          </a:p>
        </p:txBody>
      </p:sp>
    </p:spTree>
    <p:extLst>
      <p:ext uri="{BB962C8B-B14F-4D97-AF65-F5344CB8AC3E}">
        <p14:creationId xmlns:p14="http://schemas.microsoft.com/office/powerpoint/2010/main" val="7533594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ACD8B-8A6E-8E97-0B22-3B3D438F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0F6822-0A7B-1B19-D654-75FAA3C3B36A}"/>
              </a:ext>
            </a:extLst>
          </p:cNvPr>
          <p:cNvSpPr txBox="1"/>
          <p:nvPr/>
        </p:nvSpPr>
        <p:spPr>
          <a:xfrm>
            <a:off x="2537173" y="1228397"/>
            <a:ext cx="718177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Métodos</a:t>
            </a:r>
            <a:r>
              <a:rPr lang="en-US" sz="4800" dirty="0">
                <a:solidFill>
                  <a:schemeClr val="accent2"/>
                </a:solidFill>
                <a:latin typeface="Gill Sans MT" panose="020B0502020104020203" pitchFamily="34" charset="77"/>
              </a:rPr>
              <a:t> de </a:t>
            </a:r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Selección</a:t>
            </a:r>
            <a:endParaRPr lang="en-US" sz="4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algn="ctr"/>
            <a:endParaRPr lang="en-US" sz="4000" dirty="0"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 err="1"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latin typeface="Gill Sans MT" panose="020B0502020104020203" pitchFamily="34" charset="77"/>
              </a:rPr>
              <a:t>Exhaustiva</a:t>
            </a:r>
            <a:endParaRPr lang="en-US" sz="4000" dirty="0"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SFS (</a:t>
            </a: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hacia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adelante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)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SBS (</a:t>
            </a: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hacia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 atrás)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Plus r Take Away s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Branch &amp; Bound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8D742-A0DC-CB84-CC1F-D3D217468B7B}"/>
              </a:ext>
            </a:extLst>
          </p:cNvPr>
          <p:cNvSpPr txBox="1"/>
          <p:nvPr/>
        </p:nvSpPr>
        <p:spPr>
          <a:xfrm rot="2025845">
            <a:off x="8489343" y="2377855"/>
            <a:ext cx="233096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de 9 </a:t>
            </a:r>
            <a:r>
              <a:rPr lang="en-US" sz="2000" dirty="0" err="1">
                <a:solidFill>
                  <a:srgbClr val="0432FF"/>
                </a:solidFill>
                <a:latin typeface="Gill Sans MT" panose="020B0502020104020203" pitchFamily="34" charset="77"/>
              </a:rPr>
              <a:t>características</a:t>
            </a:r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, </a:t>
            </a:r>
            <a:r>
              <a:rPr lang="en-US" sz="2000" dirty="0" err="1">
                <a:solidFill>
                  <a:srgbClr val="0432FF"/>
                </a:solidFill>
                <a:latin typeface="Gill Sans MT" panose="020B0502020104020203" pitchFamily="34" charset="77"/>
              </a:rPr>
              <a:t>seleccionar</a:t>
            </a:r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 3</a:t>
            </a:r>
            <a:endParaRPr lang="en-CL" sz="2000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7912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2405188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2772741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3140294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3507847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3863176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4230729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4598282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4965835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5333388" y="1414849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01410F-78CF-7C4B-AB8C-FC2048B550CA}"/>
              </a:ext>
            </a:extLst>
          </p:cNvPr>
          <p:cNvSpPr txBox="1"/>
          <p:nvPr/>
        </p:nvSpPr>
        <p:spPr>
          <a:xfrm>
            <a:off x="2863703" y="2573079"/>
            <a:ext cx="2931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Todas combinaciones de tres: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5F115D-039C-0845-A7B2-237E785EDDD7}"/>
              </a:ext>
            </a:extLst>
          </p:cNvPr>
          <p:cNvSpPr txBox="1"/>
          <p:nvPr/>
        </p:nvSpPr>
        <p:spPr>
          <a:xfrm>
            <a:off x="6714124" y="2573079"/>
            <a:ext cx="1064715" cy="156042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     1     2     3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1     2     4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1     2     5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1     2     6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1     2     7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1     2     8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1     2     9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1     3     4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1     3     5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1     3     6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1     3     7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1     3     8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1     3     9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1     4     5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1     4     6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1     4     7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1     4     8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1     4     9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1     5     6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1     5     7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1     5     8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1     5     9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1     6     7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1     6     8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1     6     9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1     7     8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1     7     9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1     8     9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2     3     4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2     3     5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2     3     6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2     3     7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2     3     8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2     3     9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2     4     5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2     4     6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2     4     7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2     4     8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2     4     9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2     5     6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2     5     7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2     5     8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2     5     9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2     6     7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2     6     8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2     6     9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2     7     8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2     7     9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2     8     9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3     4     5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3     4     6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3     4     7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3     4     8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3     4     9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3     5     6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3     5     7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3     5     8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3     5     9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3     6     7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3     6     8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3     6     9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3     7     8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3     7     9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3     8     9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4     5     6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4     5     7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4     5     8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4     5     9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4     6     7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4     6     8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4     6     9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4     7     8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4     7     9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4     8     9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5     6     7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5     6     8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5     6     9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5     7     8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5     7     9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5     8     9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6     7     8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6     7     9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6     8     9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     7     8     9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5486E11-A2F8-7A4F-8B3E-9CC824EB1A8E}"/>
              </a:ext>
            </a:extLst>
          </p:cNvPr>
          <p:cNvGrpSpPr/>
          <p:nvPr/>
        </p:nvGrpSpPr>
        <p:grpSpPr>
          <a:xfrm>
            <a:off x="2920290" y="3875710"/>
            <a:ext cx="2300063" cy="830997"/>
            <a:chOff x="1653815" y="3825904"/>
            <a:chExt cx="2300063" cy="83099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9012775-3785-D849-9482-34F0AE86DB8D}"/>
                </a:ext>
              </a:extLst>
            </p:cNvPr>
            <p:cNvSpPr txBox="1"/>
            <p:nvPr/>
          </p:nvSpPr>
          <p:spPr>
            <a:xfrm>
              <a:off x="1653815" y="3825904"/>
              <a:ext cx="92525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800" dirty="0">
                  <a:latin typeface="Gill Sans MT" panose="020B0502020104020203" pitchFamily="34" charset="77"/>
                </a:rPr>
                <a:t>(  )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263AEF7-9608-0C4F-B02A-452C9D58B218}"/>
                </a:ext>
              </a:extLst>
            </p:cNvPr>
            <p:cNvSpPr txBox="1"/>
            <p:nvPr/>
          </p:nvSpPr>
          <p:spPr>
            <a:xfrm>
              <a:off x="1949556" y="3939504"/>
              <a:ext cx="30168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9</a:t>
              </a:r>
            </a:p>
            <a:p>
              <a:r>
                <a:rPr lang="en-US" dirty="0">
                  <a:latin typeface="Gill Sans MT" panose="020B0502020104020203" pitchFamily="34" charset="77"/>
                </a:rPr>
                <a:t>3</a:t>
              </a:r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4B61EC5E-ACEF-C149-9DFA-91C232F919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8778" y="3948320"/>
              <a:ext cx="1435100" cy="596900"/>
            </a:xfrm>
            <a:prstGeom prst="rect">
              <a:avLst/>
            </a:prstGeom>
          </p:spPr>
        </p:pic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2514FD9E-6D17-534C-AF45-A5084E810BB6}"/>
              </a:ext>
            </a:extLst>
          </p:cNvPr>
          <p:cNvSpPr txBox="1"/>
          <p:nvPr/>
        </p:nvSpPr>
        <p:spPr>
          <a:xfrm>
            <a:off x="2257647" y="5645888"/>
            <a:ext cx="3690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Para m = 20, hay 1140 combinaciones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1559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22 -0.15162 L -0.00191 -3.01667 " pathEditMode="relative" rAng="0" ptsTypes="AA">
                                      <p:cBhvr>
                                        <p:cTn id="6" dur="5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6" y="-1432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5003531" y="1714209"/>
            <a:ext cx="1066360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6" idx="4"/>
            <a:endCxn id="3" idx="1"/>
          </p:cNvCxnSpPr>
          <p:nvPr/>
        </p:nvCxnSpPr>
        <p:spPr>
          <a:xfrm>
            <a:off x="5371084" y="1714210"/>
            <a:ext cx="705502" cy="624117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43692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5003531" y="1714209"/>
            <a:ext cx="1066360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7" idx="4"/>
            <a:endCxn id="3" idx="1"/>
          </p:cNvCxnSpPr>
          <p:nvPr/>
        </p:nvCxnSpPr>
        <p:spPr>
          <a:xfrm>
            <a:off x="5738638" y="1714210"/>
            <a:ext cx="337949" cy="624117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58540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5003531" y="1714209"/>
            <a:ext cx="1066360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8" idx="4"/>
            <a:endCxn id="3" idx="0"/>
          </p:cNvCxnSpPr>
          <p:nvPr/>
        </p:nvCxnSpPr>
        <p:spPr>
          <a:xfrm flipH="1">
            <a:off x="6092752" y="1714209"/>
            <a:ext cx="1215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52894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5003531" y="1714209"/>
            <a:ext cx="1066360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9" idx="4"/>
            <a:endCxn id="3" idx="0"/>
          </p:cNvCxnSpPr>
          <p:nvPr/>
        </p:nvCxnSpPr>
        <p:spPr>
          <a:xfrm flipH="1">
            <a:off x="6092751" y="1714209"/>
            <a:ext cx="368768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3351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5003531" y="1714209"/>
            <a:ext cx="1066360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10" idx="4"/>
            <a:endCxn id="3" idx="0"/>
          </p:cNvCxnSpPr>
          <p:nvPr/>
        </p:nvCxnSpPr>
        <p:spPr>
          <a:xfrm flipH="1">
            <a:off x="6092752" y="1714209"/>
            <a:ext cx="736321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5392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5003531" y="1714209"/>
            <a:ext cx="1066360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11" idx="4"/>
            <a:endCxn id="3" idx="0"/>
          </p:cNvCxnSpPr>
          <p:nvPr/>
        </p:nvCxnSpPr>
        <p:spPr>
          <a:xfrm flipH="1">
            <a:off x="6092751" y="1714209"/>
            <a:ext cx="1103874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41100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5003531" y="1714209"/>
            <a:ext cx="1066360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12" idx="4"/>
            <a:endCxn id="3" idx="0"/>
          </p:cNvCxnSpPr>
          <p:nvPr/>
        </p:nvCxnSpPr>
        <p:spPr>
          <a:xfrm flipH="1">
            <a:off x="6092752" y="1714209"/>
            <a:ext cx="1471427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33789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6" idx="4"/>
          </p:cNvCxnSpPr>
          <p:nvPr/>
        </p:nvCxnSpPr>
        <p:spPr>
          <a:xfrm>
            <a:off x="5371085" y="1714209"/>
            <a:ext cx="698807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7" idx="4"/>
            <a:endCxn id="3" idx="0"/>
          </p:cNvCxnSpPr>
          <p:nvPr/>
        </p:nvCxnSpPr>
        <p:spPr>
          <a:xfrm>
            <a:off x="5738637" y="1714209"/>
            <a:ext cx="354114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6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6" idx="4"/>
          </p:cNvCxnSpPr>
          <p:nvPr/>
        </p:nvCxnSpPr>
        <p:spPr>
          <a:xfrm>
            <a:off x="5371085" y="1714209"/>
            <a:ext cx="698807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8" idx="4"/>
            <a:endCxn id="3" idx="0"/>
          </p:cNvCxnSpPr>
          <p:nvPr/>
        </p:nvCxnSpPr>
        <p:spPr>
          <a:xfrm flipH="1">
            <a:off x="6092752" y="1714209"/>
            <a:ext cx="1215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56713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6" idx="4"/>
          </p:cNvCxnSpPr>
          <p:nvPr/>
        </p:nvCxnSpPr>
        <p:spPr>
          <a:xfrm>
            <a:off x="5371085" y="1714209"/>
            <a:ext cx="698807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9" idx="4"/>
            <a:endCxn id="3" idx="0"/>
          </p:cNvCxnSpPr>
          <p:nvPr/>
        </p:nvCxnSpPr>
        <p:spPr>
          <a:xfrm flipH="1">
            <a:off x="6092751" y="1714209"/>
            <a:ext cx="368768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8452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6" idx="4"/>
          </p:cNvCxnSpPr>
          <p:nvPr/>
        </p:nvCxnSpPr>
        <p:spPr>
          <a:xfrm>
            <a:off x="5371085" y="1714209"/>
            <a:ext cx="698807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10" idx="4"/>
            <a:endCxn id="3" idx="0"/>
          </p:cNvCxnSpPr>
          <p:nvPr/>
        </p:nvCxnSpPr>
        <p:spPr>
          <a:xfrm flipH="1">
            <a:off x="6092752" y="1714209"/>
            <a:ext cx="736321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550116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6" idx="4"/>
          </p:cNvCxnSpPr>
          <p:nvPr/>
        </p:nvCxnSpPr>
        <p:spPr>
          <a:xfrm>
            <a:off x="5371085" y="1714209"/>
            <a:ext cx="698807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11" idx="4"/>
            <a:endCxn id="3" idx="0"/>
          </p:cNvCxnSpPr>
          <p:nvPr/>
        </p:nvCxnSpPr>
        <p:spPr>
          <a:xfrm flipH="1">
            <a:off x="6092751" y="1714209"/>
            <a:ext cx="1103874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3620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6" idx="4"/>
          </p:cNvCxnSpPr>
          <p:nvPr/>
        </p:nvCxnSpPr>
        <p:spPr>
          <a:xfrm>
            <a:off x="5371085" y="1714209"/>
            <a:ext cx="698807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12" idx="3"/>
            <a:endCxn id="3" idx="0"/>
          </p:cNvCxnSpPr>
          <p:nvPr/>
        </p:nvCxnSpPr>
        <p:spPr>
          <a:xfrm flipH="1">
            <a:off x="6092751" y="1681269"/>
            <a:ext cx="1390172" cy="649181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3910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4661379" y="1708667"/>
            <a:ext cx="1431373" cy="621782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6" idx="4"/>
          </p:cNvCxnSpPr>
          <p:nvPr/>
        </p:nvCxnSpPr>
        <p:spPr>
          <a:xfrm>
            <a:off x="5371085" y="1714209"/>
            <a:ext cx="698807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12" idx="3"/>
            <a:endCxn id="3" idx="0"/>
          </p:cNvCxnSpPr>
          <p:nvPr/>
        </p:nvCxnSpPr>
        <p:spPr>
          <a:xfrm flipH="1">
            <a:off x="6092751" y="1681269"/>
            <a:ext cx="1390172" cy="649181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3675342-EC6B-954F-BCB7-07033B812D7F}"/>
              </a:ext>
            </a:extLst>
          </p:cNvPr>
          <p:cNvSpPr txBox="1"/>
          <p:nvPr/>
        </p:nvSpPr>
        <p:spPr>
          <a:xfrm>
            <a:off x="5540883" y="1883456"/>
            <a:ext cx="1191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etcetera....</a:t>
            </a:r>
          </a:p>
        </p:txBody>
      </p:sp>
    </p:spTree>
    <p:extLst>
      <p:ext uri="{BB962C8B-B14F-4D97-AF65-F5344CB8AC3E}">
        <p14:creationId xmlns:p14="http://schemas.microsoft.com/office/powerpoint/2010/main" val="1710551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8365735-74EB-C747-9260-45B2C1EF3CB9}"/>
              </a:ext>
            </a:extLst>
          </p:cNvPr>
          <p:cNvSpPr/>
          <p:nvPr/>
        </p:nvSpPr>
        <p:spPr>
          <a:xfrm>
            <a:off x="6069892" y="2330450"/>
            <a:ext cx="45719" cy="5378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47120E-5B8B-1B4B-B2D3-B175551D4B60}"/>
              </a:ext>
            </a:extLst>
          </p:cNvPr>
          <p:cNvSpPr/>
          <p:nvPr/>
        </p:nvSpPr>
        <p:spPr>
          <a:xfrm>
            <a:off x="5668912" y="2675765"/>
            <a:ext cx="855722" cy="34228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Gill Sans MT" panose="020B0502020104020203" pitchFamily="34" charset="77"/>
              </a:rPr>
              <a:t>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4CF54-AC49-EE47-A8A7-E4D31598A65D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6096001" y="2407148"/>
            <a:ext cx="773" cy="268616"/>
          </a:xfrm>
          <a:prstGeom prst="straightConnector1">
            <a:avLst/>
          </a:prstGeom>
          <a:ln w="6350"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C416CF-17CE-0644-A7FC-1B6B30918FF7}"/>
              </a:ext>
            </a:extLst>
          </p:cNvPr>
          <p:cNvCxnSpPr>
            <a:cxnSpLocks/>
            <a:stCxn id="10" idx="4"/>
            <a:endCxn id="3" idx="0"/>
          </p:cNvCxnSpPr>
          <p:nvPr/>
        </p:nvCxnSpPr>
        <p:spPr>
          <a:xfrm flipH="1">
            <a:off x="6092752" y="1714209"/>
            <a:ext cx="736321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9B96EEC-9980-2A43-880B-B8113A11AFCD}"/>
              </a:ext>
            </a:extLst>
          </p:cNvPr>
          <p:cNvSpPr txBox="1"/>
          <p:nvPr/>
        </p:nvSpPr>
        <p:spPr>
          <a:xfrm>
            <a:off x="5657166" y="4233338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 &gt; </a:t>
            </a:r>
            <a:r>
              <a:rPr lang="en-US" dirty="0" err="1">
                <a:latin typeface="Gill Sans MT" panose="020B0502020104020203" pitchFamily="34" charset="77"/>
              </a:rPr>
              <a:t>J</a:t>
            </a:r>
            <a:r>
              <a:rPr lang="en-US" baseline="-25000" dirty="0" err="1">
                <a:latin typeface="Gill Sans MT" panose="020B0502020104020203" pitchFamily="34" charset="77"/>
              </a:rPr>
              <a:t>max</a:t>
            </a:r>
            <a:r>
              <a:rPr lang="en-US" baseline="-25000" dirty="0">
                <a:latin typeface="Gill Sans MT" panose="020B0502020104020203" pitchFamily="34" charset="77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?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42000" y="3039537"/>
            <a:ext cx="260431" cy="1096528"/>
            <a:chOff x="3251199" y="2269067"/>
            <a:chExt cx="260431" cy="109652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>
              <a:cxnSpLocks/>
            </p:cNvCxnSpPr>
            <p:nvPr/>
          </p:nvCxnSpPr>
          <p:spPr>
            <a:xfrm>
              <a:off x="3511630" y="2274737"/>
              <a:ext cx="0" cy="1090858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02D01A-BAD9-764A-99F7-1ADDF1502489}"/>
              </a:ext>
            </a:extLst>
          </p:cNvPr>
          <p:cNvCxnSpPr>
            <a:cxnSpLocks/>
            <a:stCxn id="11" idx="4"/>
          </p:cNvCxnSpPr>
          <p:nvPr/>
        </p:nvCxnSpPr>
        <p:spPr>
          <a:xfrm flipH="1">
            <a:off x="6069891" y="1714209"/>
            <a:ext cx="1126734" cy="616240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FE707C3-265B-554C-BA04-604B1CE14FE6}"/>
              </a:ext>
            </a:extLst>
          </p:cNvPr>
          <p:cNvCxnSpPr>
            <a:cxnSpLocks/>
            <a:stCxn id="12" idx="3"/>
            <a:endCxn id="3" idx="0"/>
          </p:cNvCxnSpPr>
          <p:nvPr/>
        </p:nvCxnSpPr>
        <p:spPr>
          <a:xfrm flipH="1">
            <a:off x="6092751" y="1681269"/>
            <a:ext cx="1390172" cy="649181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86117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90EF4CB-20AC-5C4E-B63E-2326C11DDE29}"/>
              </a:ext>
            </a:extLst>
          </p:cNvPr>
          <p:cNvSpPr txBox="1"/>
          <p:nvPr/>
        </p:nvSpPr>
        <p:spPr>
          <a:xfrm>
            <a:off x="2050917" y="1432380"/>
            <a:ext cx="10193816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Example: Selection of 3 features from 9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score_max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0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for i1 = 1,2, … 7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for i2 = i1+1, … 8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for i3 = i2+1,… 9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Xsel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X(:,(i1,i2,i3))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score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(Xsel)  	  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evaluation of the score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if score&gt;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score_max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sel_indices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(i1,i2,i3)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score_max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score	  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update maximum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end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end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end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OUTPUT: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sel_indices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1AE79-787E-E745-875F-E701FB8B5165}"/>
              </a:ext>
            </a:extLst>
          </p:cNvPr>
          <p:cNvSpPr txBox="1"/>
          <p:nvPr/>
        </p:nvSpPr>
        <p:spPr>
          <a:xfrm>
            <a:off x="2050916" y="510363"/>
            <a:ext cx="74440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Gill Sans MT" panose="020B0502020104020203" pitchFamily="34" charset="77"/>
              </a:rPr>
              <a:t>Exhaustive Search Algorithm - Example</a:t>
            </a:r>
          </a:p>
        </p:txBody>
      </p:sp>
    </p:spTree>
    <p:extLst>
      <p:ext uri="{BB962C8B-B14F-4D97-AF65-F5344CB8AC3E}">
        <p14:creationId xmlns:p14="http://schemas.microsoft.com/office/powerpoint/2010/main" val="27553294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90EF4CB-20AC-5C4E-B63E-2326C11DDE29}"/>
              </a:ext>
            </a:extLst>
          </p:cNvPr>
          <p:cNvSpPr txBox="1"/>
          <p:nvPr/>
        </p:nvSpPr>
        <p:spPr>
          <a:xfrm>
            <a:off x="2050917" y="1432380"/>
            <a:ext cx="9777035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Selection of p features from m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   = </a:t>
            </a:r>
            <a:r>
              <a:rPr lang="en-US" i="1" dirty="0">
                <a:latin typeface="Consolas" panose="020B0609020204030204" pitchFamily="49" charset="0"/>
                <a:cs typeface="Consolas" panose="020B0609020204030204" pitchFamily="49" charset="0"/>
              </a:rPr>
              <a:t>all combinations of p numbers taken from m numbers*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i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i="1" dirty="0">
                <a:latin typeface="Consolas" panose="020B0609020204030204" pitchFamily="49" charset="0"/>
                <a:cs typeface="Consolas" panose="020B0609020204030204" pitchFamily="49" charset="0"/>
              </a:rPr>
              <a:t>number of combinations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score_max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0	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initialization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for j = 1 to N    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evaluation of all combinations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sj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S(j,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:) 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columns of X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score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(X(:,st),d)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evaluation of the score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if score&gt;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score_max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sel_indices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sj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score_max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score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update maximum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end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OUTPUT: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sel_indices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In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Matlab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nchoosek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in Python: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scipy.misc.comb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1AE79-787E-E745-875F-E701FB8B5165}"/>
              </a:ext>
            </a:extLst>
          </p:cNvPr>
          <p:cNvSpPr txBox="1"/>
          <p:nvPr/>
        </p:nvSpPr>
        <p:spPr>
          <a:xfrm>
            <a:off x="2050916" y="510363"/>
            <a:ext cx="73290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Gill Sans MT" panose="020B0502020104020203" pitchFamily="34" charset="77"/>
              </a:rPr>
              <a:t>Exhaustive Search Algorithm - General</a:t>
            </a:r>
          </a:p>
        </p:txBody>
      </p:sp>
    </p:spTree>
    <p:extLst>
      <p:ext uri="{BB962C8B-B14F-4D97-AF65-F5344CB8AC3E}">
        <p14:creationId xmlns:p14="http://schemas.microsoft.com/office/powerpoint/2010/main" val="359929972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C80C3-6D50-91C3-8C01-D904AC533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4F75CF-C5AA-F00F-A99E-50CABEC2FCAE}"/>
              </a:ext>
            </a:extLst>
          </p:cNvPr>
          <p:cNvSpPr txBox="1"/>
          <p:nvPr/>
        </p:nvSpPr>
        <p:spPr>
          <a:xfrm>
            <a:off x="2537173" y="1228397"/>
            <a:ext cx="718177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Métodos</a:t>
            </a:r>
            <a:r>
              <a:rPr lang="en-US" sz="4800" dirty="0">
                <a:solidFill>
                  <a:schemeClr val="accent2"/>
                </a:solidFill>
                <a:latin typeface="Gill Sans MT" panose="020B0502020104020203" pitchFamily="34" charset="77"/>
              </a:rPr>
              <a:t> de </a:t>
            </a:r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Selección</a:t>
            </a:r>
            <a:endParaRPr lang="en-US" sz="4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algn="ctr"/>
            <a:endParaRPr lang="en-US" sz="4000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Exhaustiva</a:t>
            </a:r>
            <a:endParaRPr lang="en-US" sz="4000" dirty="0">
              <a:solidFill>
                <a:schemeClr val="bg1">
                  <a:lumMod val="65000"/>
                </a:schemeClr>
              </a:solidFill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>
                <a:latin typeface="Gill Sans MT" panose="020B0502020104020203" pitchFamily="34" charset="77"/>
              </a:rPr>
              <a:t>SFS (</a:t>
            </a:r>
            <a:r>
              <a:rPr lang="en-US" sz="4000" dirty="0" err="1"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latin typeface="Gill Sans MT" panose="020B0502020104020203" pitchFamily="34" charset="77"/>
              </a:rPr>
              <a:t>hacia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latin typeface="Gill Sans MT" panose="020B0502020104020203" pitchFamily="34" charset="77"/>
              </a:rPr>
              <a:t>adelante</a:t>
            </a:r>
            <a:r>
              <a:rPr lang="en-US" sz="4000" dirty="0">
                <a:latin typeface="Gill Sans MT" panose="020B0502020104020203" pitchFamily="34" charset="77"/>
              </a:rPr>
              <a:t>)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SBS (</a:t>
            </a: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hacia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 atrás)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Plus r Take Away s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65000"/>
                  </a:schemeClr>
                </a:solidFill>
                <a:latin typeface="Gill Sans MT" panose="020B0502020104020203" pitchFamily="34" charset="77"/>
              </a:rPr>
              <a:t>Branch &amp; Bound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066310-419E-76F0-7200-2EDF41C99709}"/>
              </a:ext>
            </a:extLst>
          </p:cNvPr>
          <p:cNvSpPr txBox="1"/>
          <p:nvPr/>
        </p:nvSpPr>
        <p:spPr>
          <a:xfrm rot="2025845">
            <a:off x="9208871" y="2917501"/>
            <a:ext cx="233096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de 9 </a:t>
            </a:r>
            <a:r>
              <a:rPr lang="en-US" sz="2000" dirty="0" err="1">
                <a:solidFill>
                  <a:srgbClr val="0432FF"/>
                </a:solidFill>
                <a:latin typeface="Gill Sans MT" panose="020B0502020104020203" pitchFamily="34" charset="77"/>
              </a:rPr>
              <a:t>características</a:t>
            </a:r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, </a:t>
            </a:r>
            <a:r>
              <a:rPr lang="en-US" sz="2000" dirty="0" err="1">
                <a:solidFill>
                  <a:srgbClr val="0432FF"/>
                </a:solidFill>
                <a:latin typeface="Gill Sans MT" panose="020B0502020104020203" pitchFamily="34" charset="77"/>
              </a:rPr>
              <a:t>seleccionar</a:t>
            </a:r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 3</a:t>
            </a:r>
            <a:endParaRPr lang="en-CL" sz="2000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7068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4047001" y="960476"/>
            <a:ext cx="83413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m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075" y="972961"/>
            <a:ext cx="800476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p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389020" y="17203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31910" y="1423120"/>
          <a:ext cx="2656546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44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4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5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6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7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8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9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86050" y="1423120"/>
          <a:ext cx="893292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1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2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3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6" name="Oval 15"/>
          <p:cNvSpPr/>
          <p:nvPr/>
        </p:nvSpPr>
        <p:spPr>
          <a:xfrm>
            <a:off x="3554966" y="609046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4153406" y="608799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046977" y="609171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903611" y="608923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609971" y="609295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316331" y="609048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3" name="Elbow Connector 22"/>
          <p:cNvCxnSpPr>
            <a:stCxn id="18" idx="4"/>
            <a:endCxn id="19" idx="4"/>
          </p:cNvCxnSpPr>
          <p:nvPr/>
        </p:nvCxnSpPr>
        <p:spPr>
          <a:xfrm rot="5400000" flipH="1" flipV="1">
            <a:off x="7496916" y="3707875"/>
            <a:ext cx="2475" cy="4856634"/>
          </a:xfrm>
          <a:prstGeom prst="bentConnector3">
            <a:avLst>
              <a:gd name="adj1" fmla="val -469228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/>
          <p:cNvCxnSpPr>
            <a:stCxn id="17" idx="4"/>
            <a:endCxn id="20" idx="4"/>
          </p:cNvCxnSpPr>
          <p:nvPr/>
        </p:nvCxnSpPr>
        <p:spPr>
          <a:xfrm rot="16200000" flipH="1">
            <a:off x="6902066" y="3407909"/>
            <a:ext cx="4965" cy="5456565"/>
          </a:xfrm>
          <a:prstGeom prst="bentConnector3">
            <a:avLst>
              <a:gd name="adj1" fmla="val 449476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79842" y="3503658"/>
            <a:ext cx="81785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09" y="5773342"/>
            <a:ext cx="368300" cy="317500"/>
          </a:xfrm>
          <a:prstGeom prst="rect">
            <a:avLst/>
          </a:prstGeom>
        </p:spPr>
      </p:pic>
      <p:cxnSp>
        <p:nvCxnSpPr>
          <p:cNvPr id="46" name="Straight Arrow Connector 45"/>
          <p:cNvCxnSpPr/>
          <p:nvPr/>
        </p:nvCxnSpPr>
        <p:spPr>
          <a:xfrm>
            <a:off x="8609052" y="17376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99874" y="3520958"/>
            <a:ext cx="81785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cxnSp>
        <p:nvCxnSpPr>
          <p:cNvPr id="48" name="Straight Arrow Connector 47"/>
          <p:cNvCxnSpPr>
            <a:cxnSpLocks/>
          </p:cNvCxnSpPr>
          <p:nvPr/>
        </p:nvCxnSpPr>
        <p:spPr>
          <a:xfrm flipH="1">
            <a:off x="3116494" y="1257101"/>
            <a:ext cx="2671962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H="1">
            <a:off x="9141114" y="1274742"/>
            <a:ext cx="95146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/>
          <p:cNvCxnSpPr>
            <a:stCxn id="16" idx="4"/>
            <a:endCxn id="21" idx="4"/>
          </p:cNvCxnSpPr>
          <p:nvPr/>
        </p:nvCxnSpPr>
        <p:spPr>
          <a:xfrm rot="16200000" flipH="1">
            <a:off x="6458501" y="3255509"/>
            <a:ext cx="15" cy="5761365"/>
          </a:xfrm>
          <a:prstGeom prst="bentConnector3">
            <a:avLst>
              <a:gd name="adj1" fmla="val 2147483647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749161" y="561223"/>
            <a:ext cx="638084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cs typeface="Arial"/>
              </a:rPr>
              <a:t>Extracted features                                                                         Selected features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742" y="5765263"/>
            <a:ext cx="279400" cy="317500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066589" y="1432852"/>
          <a:ext cx="297764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d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977335" y="1089220"/>
            <a:ext cx="5277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MT" panose="020B0502020104020203" pitchFamily="34" charset="77"/>
                <a:cs typeface="Arial"/>
              </a:rPr>
              <a:t>labels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79F127-9B5D-639F-AE11-CF59299FF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992" y="5828908"/>
            <a:ext cx="2667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8126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4661378" y="1708667"/>
            <a:ext cx="1863256" cy="1309386"/>
            <a:chOff x="2394887" y="1358335"/>
            <a:chExt cx="1863256" cy="1309386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2394887" y="1358335"/>
              <a:ext cx="1863256" cy="1309386"/>
              <a:chOff x="2394887" y="1358335"/>
              <a:chExt cx="1863256" cy="1309386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endCxn id="3" idx="0"/>
              </p:cNvCxnSpPr>
              <p:nvPr/>
            </p:nvCxnSpPr>
            <p:spPr>
              <a:xfrm>
                <a:off x="2394887" y="1358335"/>
                <a:ext cx="1431373" cy="621782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210317" y="1895821"/>
              <a:ext cx="858308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501413" y="1879290"/>
              <a:ext cx="926313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0.75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6" y="1320804"/>
            <a:ext cx="1222417" cy="567267"/>
            <a:chOff x="67733" y="550333"/>
            <a:chExt cx="1222417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074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  0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088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4661378" y="1708667"/>
            <a:ext cx="1863256" cy="1309386"/>
            <a:chOff x="2394887" y="1358335"/>
            <a:chExt cx="1863256" cy="1309386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2394887" y="1358335"/>
              <a:ext cx="1863256" cy="1309386"/>
              <a:chOff x="2394887" y="1358335"/>
              <a:chExt cx="1863256" cy="1309386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endCxn id="3" idx="0"/>
              </p:cNvCxnSpPr>
              <p:nvPr/>
            </p:nvCxnSpPr>
            <p:spPr>
              <a:xfrm>
                <a:off x="2394887" y="1358335"/>
                <a:ext cx="1431373" cy="621782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210317" y="1895821"/>
              <a:ext cx="858308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501413" y="1879290"/>
              <a:ext cx="926313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0.75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0.75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48393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003532" y="1714209"/>
            <a:ext cx="1521103" cy="1303844"/>
            <a:chOff x="2737040" y="1363877"/>
            <a:chExt cx="1521103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2737040" y="1363877"/>
              <a:ext cx="1521103" cy="1303844"/>
              <a:chOff x="2737040" y="1363877"/>
              <a:chExt cx="1521103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5" idx="4"/>
                <a:endCxn id="3" idx="0"/>
              </p:cNvCxnSpPr>
              <p:nvPr/>
            </p:nvCxnSpPr>
            <p:spPr>
              <a:xfrm>
                <a:off x="2737040" y="1363877"/>
                <a:ext cx="1089220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210317" y="1895821"/>
              <a:ext cx="858308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400829" y="1879290"/>
              <a:ext cx="926313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0.51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0.75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799511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371084" y="1714209"/>
            <a:ext cx="1153550" cy="1303844"/>
            <a:chOff x="3104593" y="1363877"/>
            <a:chExt cx="1153550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104593" y="1363877"/>
              <a:ext cx="1153550" cy="1303844"/>
              <a:chOff x="3104593" y="1363877"/>
              <a:chExt cx="1153550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6" idx="4"/>
                <a:endCxn id="3" idx="0"/>
              </p:cNvCxnSpPr>
              <p:nvPr/>
            </p:nvCxnSpPr>
            <p:spPr>
              <a:xfrm>
                <a:off x="3104593" y="1363877"/>
                <a:ext cx="721667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210317" y="1895821"/>
              <a:ext cx="858308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336821" y="1879290"/>
              <a:ext cx="926313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0.24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0.75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367395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7" idx="4"/>
                <a:endCxn id="3" idx="0"/>
              </p:cNvCxnSpPr>
              <p:nvPr/>
            </p:nvCxnSpPr>
            <p:spPr>
              <a:xfrm>
                <a:off x="3472146" y="1363877"/>
                <a:ext cx="354114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237749" y="1895821"/>
              <a:ext cx="858308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336821" y="1879290"/>
              <a:ext cx="1287835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0.64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0.75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1307955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8" idx="4"/>
                <a:endCxn id="3" idx="0"/>
              </p:cNvCxnSpPr>
              <p:nvPr/>
            </p:nvCxnSpPr>
            <p:spPr>
              <a:xfrm flipH="1">
                <a:off x="3826260" y="1363877"/>
                <a:ext cx="1215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237749" y="1895821"/>
              <a:ext cx="858308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629864" y="1879290"/>
              <a:ext cx="994792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0.93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0.93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416665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9" idx="4"/>
                <a:endCxn id="3" idx="0"/>
              </p:cNvCxnSpPr>
              <p:nvPr/>
            </p:nvCxnSpPr>
            <p:spPr>
              <a:xfrm flipH="1">
                <a:off x="3826260" y="1363877"/>
                <a:ext cx="368768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365765" y="1895821"/>
              <a:ext cx="858308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629864" y="1879290"/>
              <a:ext cx="994792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0.62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0.93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26420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1160160" cy="1303844"/>
            <a:chOff x="3402421" y="1363877"/>
            <a:chExt cx="1160160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1160160" cy="1303844"/>
              <a:chOff x="3402421" y="1363877"/>
              <a:chExt cx="1160160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10" idx="4"/>
                <a:endCxn id="3" idx="0"/>
              </p:cNvCxnSpPr>
              <p:nvPr/>
            </p:nvCxnSpPr>
            <p:spPr>
              <a:xfrm flipH="1">
                <a:off x="3826260" y="1363877"/>
                <a:ext cx="736321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256037" y="1895821"/>
              <a:ext cx="812780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811874" y="1879290"/>
              <a:ext cx="812781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1.47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1.47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125258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3" y="1714209"/>
            <a:ext cx="1527713" cy="1303844"/>
            <a:chOff x="3402421" y="1363877"/>
            <a:chExt cx="1527713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1527713" cy="1303844"/>
              <a:chOff x="3402421" y="1363877"/>
              <a:chExt cx="1527713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11" idx="4"/>
                <a:endCxn id="3" idx="0"/>
              </p:cNvCxnSpPr>
              <p:nvPr/>
            </p:nvCxnSpPr>
            <p:spPr>
              <a:xfrm flipH="1">
                <a:off x="3826260" y="1363877"/>
                <a:ext cx="1103874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0"/>
            <a:ext cx="1489946" cy="648532"/>
            <a:chOff x="4210317" y="1642220"/>
            <a:chExt cx="1489946" cy="6485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377223" y="1895821"/>
              <a:ext cx="482457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512891" y="1879250"/>
              <a:ext cx="482458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0.27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1.47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097422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1895266" cy="1303844"/>
            <a:chOff x="3402421" y="1363877"/>
            <a:chExt cx="1895266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1895266" cy="1303844"/>
              <a:chOff x="3402421" y="1363877"/>
              <a:chExt cx="1895266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12" idx="4"/>
                <a:endCxn id="3" idx="0"/>
              </p:cNvCxnSpPr>
              <p:nvPr/>
            </p:nvCxnSpPr>
            <p:spPr>
              <a:xfrm flipH="1">
                <a:off x="3826260" y="1363877"/>
                <a:ext cx="1471427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B1C5EA-AF3F-3F4B-985C-95881922BD5C}"/>
              </a:ext>
            </a:extLst>
          </p:cNvPr>
          <p:cNvGrpSpPr/>
          <p:nvPr/>
        </p:nvGrpSpPr>
        <p:grpSpPr>
          <a:xfrm>
            <a:off x="7029719" y="2412691"/>
            <a:ext cx="1489946" cy="648797"/>
            <a:chOff x="4210317" y="1642220"/>
            <a:chExt cx="1489946" cy="64879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2C96E3B-4C13-9942-BA3F-1DBEEC79C7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0317" y="1642220"/>
              <a:ext cx="0" cy="648532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2DFD252-6089-9A45-B87E-5CC2C3B084A5}"/>
                </a:ext>
              </a:extLst>
            </p:cNvPr>
            <p:cNvCxnSpPr>
              <a:cxnSpLocks/>
            </p:cNvCxnSpPr>
            <p:nvPr/>
          </p:nvCxnSpPr>
          <p:spPr>
            <a:xfrm>
              <a:off x="4210317" y="2288031"/>
              <a:ext cx="1489946" cy="0"/>
            </a:xfrm>
            <a:prstGeom prst="straightConnector1">
              <a:avLst/>
            </a:prstGeom>
            <a:ln w="12700">
              <a:solidFill>
                <a:schemeClr val="tx1">
                  <a:lumMod val="85000"/>
                  <a:lumOff val="15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99D1143-2822-6F4F-9A56-FD671B74D8C7}"/>
                </a:ext>
              </a:extLst>
            </p:cNvPr>
            <p:cNvSpPr/>
            <p:nvPr/>
          </p:nvSpPr>
          <p:spPr>
            <a:xfrm>
              <a:off x="4377223" y="1895821"/>
              <a:ext cx="792179" cy="370151"/>
            </a:xfrm>
            <a:custGeom>
              <a:avLst/>
              <a:gdLst>
                <a:gd name="connsiteX0" fmla="*/ 0 w 2963364"/>
                <a:gd name="connsiteY0" fmla="*/ 820696 h 820696"/>
                <a:gd name="connsiteX1" fmla="*/ 1147468 w 2963364"/>
                <a:gd name="connsiteY1" fmla="*/ 816983 h 820696"/>
                <a:gd name="connsiteX2" fmla="*/ 1288581 w 2963364"/>
                <a:gd name="connsiteY2" fmla="*/ 753852 h 820696"/>
                <a:gd name="connsiteX3" fmla="*/ 1448261 w 2963364"/>
                <a:gd name="connsiteY3" fmla="*/ 701863 h 820696"/>
                <a:gd name="connsiteX4" fmla="*/ 1596800 w 2963364"/>
                <a:gd name="connsiteY4" fmla="*/ 549607 h 820696"/>
                <a:gd name="connsiteX5" fmla="*/ 1749053 w 2963364"/>
                <a:gd name="connsiteY5" fmla="*/ 330507 h 820696"/>
                <a:gd name="connsiteX6" fmla="*/ 1893879 w 2963364"/>
                <a:gd name="connsiteY6" fmla="*/ 196820 h 820696"/>
                <a:gd name="connsiteX7" fmla="*/ 2053559 w 2963364"/>
                <a:gd name="connsiteY7" fmla="*/ 22283 h 820696"/>
                <a:gd name="connsiteX8" fmla="*/ 2209526 w 2963364"/>
                <a:gd name="connsiteY8" fmla="*/ 22283 h 820696"/>
                <a:gd name="connsiteX9" fmla="*/ 2350638 w 2963364"/>
                <a:gd name="connsiteY9" fmla="*/ 204247 h 820696"/>
                <a:gd name="connsiteX10" fmla="*/ 2510318 w 2963364"/>
                <a:gd name="connsiteY10" fmla="*/ 490190 h 820696"/>
                <a:gd name="connsiteX11" fmla="*/ 2651431 w 2963364"/>
                <a:gd name="connsiteY11" fmla="*/ 661013 h 820696"/>
                <a:gd name="connsiteX12" fmla="*/ 2807397 w 2963364"/>
                <a:gd name="connsiteY12" fmla="*/ 761279 h 820696"/>
                <a:gd name="connsiteX13" fmla="*/ 2963364 w 2963364"/>
                <a:gd name="connsiteY13" fmla="*/ 816983 h 820696"/>
                <a:gd name="connsiteX0" fmla="*/ 0 w 2963364"/>
                <a:gd name="connsiteY0" fmla="*/ 820696 h 857295"/>
                <a:gd name="connsiteX1" fmla="*/ 1147468 w 2963364"/>
                <a:gd name="connsiteY1" fmla="*/ 816983 h 857295"/>
                <a:gd name="connsiteX2" fmla="*/ 1288581 w 2963364"/>
                <a:gd name="connsiteY2" fmla="*/ 753852 h 857295"/>
                <a:gd name="connsiteX3" fmla="*/ 1448261 w 2963364"/>
                <a:gd name="connsiteY3" fmla="*/ 701863 h 857295"/>
                <a:gd name="connsiteX4" fmla="*/ 1596800 w 2963364"/>
                <a:gd name="connsiteY4" fmla="*/ 549607 h 857295"/>
                <a:gd name="connsiteX5" fmla="*/ 1749053 w 2963364"/>
                <a:gd name="connsiteY5" fmla="*/ 330507 h 857295"/>
                <a:gd name="connsiteX6" fmla="*/ 1893879 w 2963364"/>
                <a:gd name="connsiteY6" fmla="*/ 196820 h 857295"/>
                <a:gd name="connsiteX7" fmla="*/ 2053559 w 2963364"/>
                <a:gd name="connsiteY7" fmla="*/ 22283 h 857295"/>
                <a:gd name="connsiteX8" fmla="*/ 2209526 w 2963364"/>
                <a:gd name="connsiteY8" fmla="*/ 22283 h 857295"/>
                <a:gd name="connsiteX9" fmla="*/ 2350638 w 2963364"/>
                <a:gd name="connsiteY9" fmla="*/ 204247 h 857295"/>
                <a:gd name="connsiteX10" fmla="*/ 2510318 w 2963364"/>
                <a:gd name="connsiteY10" fmla="*/ 490190 h 857295"/>
                <a:gd name="connsiteX11" fmla="*/ 2651431 w 2963364"/>
                <a:gd name="connsiteY11" fmla="*/ 661013 h 857295"/>
                <a:gd name="connsiteX12" fmla="*/ 2807397 w 2963364"/>
                <a:gd name="connsiteY12" fmla="*/ 761279 h 857295"/>
                <a:gd name="connsiteX13" fmla="*/ 2963364 w 2963364"/>
                <a:gd name="connsiteY13" fmla="*/ 816983 h 857295"/>
                <a:gd name="connsiteX0" fmla="*/ 0 w 2963364"/>
                <a:gd name="connsiteY0" fmla="*/ 820696 h 857840"/>
                <a:gd name="connsiteX1" fmla="*/ 805827 w 2963364"/>
                <a:gd name="connsiteY1" fmla="*/ 857832 h 857840"/>
                <a:gd name="connsiteX2" fmla="*/ 1147468 w 2963364"/>
                <a:gd name="connsiteY2" fmla="*/ 816983 h 857840"/>
                <a:gd name="connsiteX3" fmla="*/ 1288581 w 2963364"/>
                <a:gd name="connsiteY3" fmla="*/ 753852 h 857840"/>
                <a:gd name="connsiteX4" fmla="*/ 1448261 w 2963364"/>
                <a:gd name="connsiteY4" fmla="*/ 701863 h 857840"/>
                <a:gd name="connsiteX5" fmla="*/ 1596800 w 2963364"/>
                <a:gd name="connsiteY5" fmla="*/ 549607 h 857840"/>
                <a:gd name="connsiteX6" fmla="*/ 1749053 w 2963364"/>
                <a:gd name="connsiteY6" fmla="*/ 330507 h 857840"/>
                <a:gd name="connsiteX7" fmla="*/ 1893879 w 2963364"/>
                <a:gd name="connsiteY7" fmla="*/ 196820 h 857840"/>
                <a:gd name="connsiteX8" fmla="*/ 2053559 w 2963364"/>
                <a:gd name="connsiteY8" fmla="*/ 22283 h 857840"/>
                <a:gd name="connsiteX9" fmla="*/ 2209526 w 2963364"/>
                <a:gd name="connsiteY9" fmla="*/ 22283 h 857840"/>
                <a:gd name="connsiteX10" fmla="*/ 2350638 w 2963364"/>
                <a:gd name="connsiteY10" fmla="*/ 204247 h 857840"/>
                <a:gd name="connsiteX11" fmla="*/ 2510318 w 2963364"/>
                <a:gd name="connsiteY11" fmla="*/ 490190 h 857840"/>
                <a:gd name="connsiteX12" fmla="*/ 2651431 w 2963364"/>
                <a:gd name="connsiteY12" fmla="*/ 661013 h 857840"/>
                <a:gd name="connsiteX13" fmla="*/ 2807397 w 2963364"/>
                <a:gd name="connsiteY13" fmla="*/ 761279 h 857840"/>
                <a:gd name="connsiteX14" fmla="*/ 2963364 w 2963364"/>
                <a:gd name="connsiteY14" fmla="*/ 816983 h 857840"/>
                <a:gd name="connsiteX0" fmla="*/ 0 w 2963364"/>
                <a:gd name="connsiteY0" fmla="*/ 820696 h 825156"/>
                <a:gd name="connsiteX1" fmla="*/ 798400 w 2963364"/>
                <a:gd name="connsiteY1" fmla="*/ 824410 h 825156"/>
                <a:gd name="connsiteX2" fmla="*/ 1147468 w 2963364"/>
                <a:gd name="connsiteY2" fmla="*/ 816983 h 825156"/>
                <a:gd name="connsiteX3" fmla="*/ 1288581 w 2963364"/>
                <a:gd name="connsiteY3" fmla="*/ 753852 h 825156"/>
                <a:gd name="connsiteX4" fmla="*/ 1448261 w 2963364"/>
                <a:gd name="connsiteY4" fmla="*/ 701863 h 825156"/>
                <a:gd name="connsiteX5" fmla="*/ 1596800 w 2963364"/>
                <a:gd name="connsiteY5" fmla="*/ 549607 h 825156"/>
                <a:gd name="connsiteX6" fmla="*/ 1749053 w 2963364"/>
                <a:gd name="connsiteY6" fmla="*/ 330507 h 825156"/>
                <a:gd name="connsiteX7" fmla="*/ 1893879 w 2963364"/>
                <a:gd name="connsiteY7" fmla="*/ 196820 h 825156"/>
                <a:gd name="connsiteX8" fmla="*/ 2053559 w 2963364"/>
                <a:gd name="connsiteY8" fmla="*/ 22283 h 825156"/>
                <a:gd name="connsiteX9" fmla="*/ 2209526 w 2963364"/>
                <a:gd name="connsiteY9" fmla="*/ 22283 h 825156"/>
                <a:gd name="connsiteX10" fmla="*/ 2350638 w 2963364"/>
                <a:gd name="connsiteY10" fmla="*/ 204247 h 825156"/>
                <a:gd name="connsiteX11" fmla="*/ 2510318 w 2963364"/>
                <a:gd name="connsiteY11" fmla="*/ 490190 h 825156"/>
                <a:gd name="connsiteX12" fmla="*/ 2651431 w 2963364"/>
                <a:gd name="connsiteY12" fmla="*/ 661013 h 825156"/>
                <a:gd name="connsiteX13" fmla="*/ 2807397 w 2963364"/>
                <a:gd name="connsiteY13" fmla="*/ 761279 h 825156"/>
                <a:gd name="connsiteX14" fmla="*/ 2963364 w 2963364"/>
                <a:gd name="connsiteY14" fmla="*/ 816983 h 825156"/>
                <a:gd name="connsiteX0" fmla="*/ 0 w 2164964"/>
                <a:gd name="connsiteY0" fmla="*/ 824410 h 824930"/>
                <a:gd name="connsiteX1" fmla="*/ 349068 w 2164964"/>
                <a:gd name="connsiteY1" fmla="*/ 816983 h 824930"/>
                <a:gd name="connsiteX2" fmla="*/ 490181 w 2164964"/>
                <a:gd name="connsiteY2" fmla="*/ 753852 h 824930"/>
                <a:gd name="connsiteX3" fmla="*/ 649861 w 2164964"/>
                <a:gd name="connsiteY3" fmla="*/ 701863 h 824930"/>
                <a:gd name="connsiteX4" fmla="*/ 798400 w 2164964"/>
                <a:gd name="connsiteY4" fmla="*/ 549607 h 824930"/>
                <a:gd name="connsiteX5" fmla="*/ 950653 w 2164964"/>
                <a:gd name="connsiteY5" fmla="*/ 330507 h 824930"/>
                <a:gd name="connsiteX6" fmla="*/ 1095479 w 2164964"/>
                <a:gd name="connsiteY6" fmla="*/ 196820 h 824930"/>
                <a:gd name="connsiteX7" fmla="*/ 1255159 w 2164964"/>
                <a:gd name="connsiteY7" fmla="*/ 22283 h 824930"/>
                <a:gd name="connsiteX8" fmla="*/ 1411126 w 2164964"/>
                <a:gd name="connsiteY8" fmla="*/ 22283 h 824930"/>
                <a:gd name="connsiteX9" fmla="*/ 1552238 w 2164964"/>
                <a:gd name="connsiteY9" fmla="*/ 204247 h 824930"/>
                <a:gd name="connsiteX10" fmla="*/ 1711918 w 2164964"/>
                <a:gd name="connsiteY10" fmla="*/ 490190 h 824930"/>
                <a:gd name="connsiteX11" fmla="*/ 1853031 w 2164964"/>
                <a:gd name="connsiteY11" fmla="*/ 661013 h 824930"/>
                <a:gd name="connsiteX12" fmla="*/ 2008997 w 2164964"/>
                <a:gd name="connsiteY12" fmla="*/ 761279 h 824930"/>
                <a:gd name="connsiteX13" fmla="*/ 2164964 w 2164964"/>
                <a:gd name="connsiteY13" fmla="*/ 816983 h 824930"/>
                <a:gd name="connsiteX0" fmla="*/ 0 w 1815896"/>
                <a:gd name="connsiteY0" fmla="*/ 816983 h 816983"/>
                <a:gd name="connsiteX1" fmla="*/ 141113 w 1815896"/>
                <a:gd name="connsiteY1" fmla="*/ 753852 h 816983"/>
                <a:gd name="connsiteX2" fmla="*/ 300793 w 1815896"/>
                <a:gd name="connsiteY2" fmla="*/ 701863 h 816983"/>
                <a:gd name="connsiteX3" fmla="*/ 449332 w 1815896"/>
                <a:gd name="connsiteY3" fmla="*/ 549607 h 816983"/>
                <a:gd name="connsiteX4" fmla="*/ 601585 w 1815896"/>
                <a:gd name="connsiteY4" fmla="*/ 330507 h 816983"/>
                <a:gd name="connsiteX5" fmla="*/ 746411 w 1815896"/>
                <a:gd name="connsiteY5" fmla="*/ 196820 h 816983"/>
                <a:gd name="connsiteX6" fmla="*/ 906091 w 1815896"/>
                <a:gd name="connsiteY6" fmla="*/ 22283 h 816983"/>
                <a:gd name="connsiteX7" fmla="*/ 1062058 w 1815896"/>
                <a:gd name="connsiteY7" fmla="*/ 22283 h 816983"/>
                <a:gd name="connsiteX8" fmla="*/ 1203170 w 1815896"/>
                <a:gd name="connsiteY8" fmla="*/ 204247 h 816983"/>
                <a:gd name="connsiteX9" fmla="*/ 1362850 w 1815896"/>
                <a:gd name="connsiteY9" fmla="*/ 490190 h 816983"/>
                <a:gd name="connsiteX10" fmla="*/ 1503963 w 1815896"/>
                <a:gd name="connsiteY10" fmla="*/ 661013 h 816983"/>
                <a:gd name="connsiteX11" fmla="*/ 1659929 w 1815896"/>
                <a:gd name="connsiteY11" fmla="*/ 761279 h 816983"/>
                <a:gd name="connsiteX12" fmla="*/ 1815896 w 1815896"/>
                <a:gd name="connsiteY12" fmla="*/ 816983 h 81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5896" h="816983">
                  <a:moveTo>
                    <a:pt x="0" y="816983"/>
                  </a:moveTo>
                  <a:cubicBezTo>
                    <a:pt x="81697" y="805223"/>
                    <a:pt x="90981" y="773039"/>
                    <a:pt x="141113" y="753852"/>
                  </a:cubicBezTo>
                  <a:cubicBezTo>
                    <a:pt x="191245" y="734665"/>
                    <a:pt x="249423" y="735904"/>
                    <a:pt x="300793" y="701863"/>
                  </a:cubicBezTo>
                  <a:cubicBezTo>
                    <a:pt x="352163" y="667822"/>
                    <a:pt x="399200" y="611500"/>
                    <a:pt x="449332" y="549607"/>
                  </a:cubicBezTo>
                  <a:cubicBezTo>
                    <a:pt x="499464" y="487714"/>
                    <a:pt x="552072" y="389305"/>
                    <a:pt x="601585" y="330507"/>
                  </a:cubicBezTo>
                  <a:cubicBezTo>
                    <a:pt x="651098" y="271709"/>
                    <a:pt x="695660" y="248191"/>
                    <a:pt x="746411" y="196820"/>
                  </a:cubicBezTo>
                  <a:cubicBezTo>
                    <a:pt x="797162" y="145449"/>
                    <a:pt x="853483" y="51372"/>
                    <a:pt x="906091" y="22283"/>
                  </a:cubicBezTo>
                  <a:cubicBezTo>
                    <a:pt x="958699" y="-6806"/>
                    <a:pt x="1012545" y="-8044"/>
                    <a:pt x="1062058" y="22283"/>
                  </a:cubicBezTo>
                  <a:cubicBezTo>
                    <a:pt x="1111571" y="52610"/>
                    <a:pt x="1153038" y="126263"/>
                    <a:pt x="1203170" y="204247"/>
                  </a:cubicBezTo>
                  <a:cubicBezTo>
                    <a:pt x="1253302" y="282231"/>
                    <a:pt x="1312718" y="414062"/>
                    <a:pt x="1362850" y="490190"/>
                  </a:cubicBezTo>
                  <a:cubicBezTo>
                    <a:pt x="1412982" y="566318"/>
                    <a:pt x="1454450" y="615831"/>
                    <a:pt x="1503963" y="661013"/>
                  </a:cubicBezTo>
                  <a:cubicBezTo>
                    <a:pt x="1553476" y="706194"/>
                    <a:pt x="1607940" y="735284"/>
                    <a:pt x="1659929" y="761279"/>
                  </a:cubicBezTo>
                  <a:cubicBezTo>
                    <a:pt x="1711918" y="787274"/>
                    <a:pt x="1815896" y="816983"/>
                    <a:pt x="1815896" y="816983"/>
                  </a:cubicBezTo>
                </a:path>
              </a:pathLst>
            </a:custGeom>
            <a:solidFill>
              <a:srgbClr val="FAC090">
                <a:alpha val="53000"/>
              </a:srgbClr>
            </a:solidFill>
            <a:ln>
              <a:solidFill>
                <a:srgbClr val="E46C0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5B4A7B-886A-2349-8ABF-3A3FACF254E1}"/>
                </a:ext>
              </a:extLst>
            </p:cNvPr>
            <p:cNvSpPr/>
            <p:nvPr/>
          </p:nvSpPr>
          <p:spPr>
            <a:xfrm>
              <a:off x="4291627" y="1892053"/>
              <a:ext cx="1260520" cy="398964"/>
            </a:xfrm>
            <a:custGeom>
              <a:avLst/>
              <a:gdLst>
                <a:gd name="connsiteX0" fmla="*/ 0 w 2956079"/>
                <a:gd name="connsiteY0" fmla="*/ 873383 h 891292"/>
                <a:gd name="connsiteX1" fmla="*/ 93062 w 2956079"/>
                <a:gd name="connsiteY1" fmla="*/ 873383 h 891292"/>
                <a:gd name="connsiteX2" fmla="*/ 229917 w 2956079"/>
                <a:gd name="connsiteY2" fmla="*/ 687255 h 891292"/>
                <a:gd name="connsiteX3" fmla="*/ 377721 w 2956079"/>
                <a:gd name="connsiteY3" fmla="*/ 380691 h 891292"/>
                <a:gd name="connsiteX4" fmla="*/ 525525 w 2956079"/>
                <a:gd name="connsiteY4" fmla="*/ 150768 h 891292"/>
                <a:gd name="connsiteX5" fmla="*/ 673329 w 2956079"/>
                <a:gd name="connsiteY5" fmla="*/ 8435 h 891292"/>
                <a:gd name="connsiteX6" fmla="*/ 837556 w 2956079"/>
                <a:gd name="connsiteY6" fmla="*/ 30332 h 891292"/>
                <a:gd name="connsiteX7" fmla="*/ 979885 w 2956079"/>
                <a:gd name="connsiteY7" fmla="*/ 145294 h 891292"/>
                <a:gd name="connsiteX8" fmla="*/ 1138638 w 2956079"/>
                <a:gd name="connsiteY8" fmla="*/ 358794 h 891292"/>
                <a:gd name="connsiteX9" fmla="*/ 1275493 w 2956079"/>
                <a:gd name="connsiteY9" fmla="*/ 610614 h 891292"/>
                <a:gd name="connsiteX10" fmla="*/ 1439720 w 2956079"/>
                <a:gd name="connsiteY10" fmla="*/ 731050 h 891292"/>
                <a:gd name="connsiteX11" fmla="*/ 1592998 w 2956079"/>
                <a:gd name="connsiteY11" fmla="*/ 791268 h 891292"/>
                <a:gd name="connsiteX12" fmla="*/ 1746276 w 2956079"/>
                <a:gd name="connsiteY12" fmla="*/ 818640 h 891292"/>
                <a:gd name="connsiteX13" fmla="*/ 1959771 w 2956079"/>
                <a:gd name="connsiteY13" fmla="*/ 862434 h 891292"/>
                <a:gd name="connsiteX14" fmla="*/ 2956079 w 2956079"/>
                <a:gd name="connsiteY14" fmla="*/ 862434 h 891292"/>
                <a:gd name="connsiteX0" fmla="*/ 0 w 2956079"/>
                <a:gd name="connsiteY0" fmla="*/ 873383 h 880577"/>
                <a:gd name="connsiteX1" fmla="*/ 93062 w 2956079"/>
                <a:gd name="connsiteY1" fmla="*/ 873383 h 880577"/>
                <a:gd name="connsiteX2" fmla="*/ 229917 w 2956079"/>
                <a:gd name="connsiteY2" fmla="*/ 687255 h 880577"/>
                <a:gd name="connsiteX3" fmla="*/ 377721 w 2956079"/>
                <a:gd name="connsiteY3" fmla="*/ 380691 h 880577"/>
                <a:gd name="connsiteX4" fmla="*/ 525525 w 2956079"/>
                <a:gd name="connsiteY4" fmla="*/ 150768 h 880577"/>
                <a:gd name="connsiteX5" fmla="*/ 673329 w 2956079"/>
                <a:gd name="connsiteY5" fmla="*/ 8435 h 880577"/>
                <a:gd name="connsiteX6" fmla="*/ 837556 w 2956079"/>
                <a:gd name="connsiteY6" fmla="*/ 30332 h 880577"/>
                <a:gd name="connsiteX7" fmla="*/ 979885 w 2956079"/>
                <a:gd name="connsiteY7" fmla="*/ 145294 h 880577"/>
                <a:gd name="connsiteX8" fmla="*/ 1138638 w 2956079"/>
                <a:gd name="connsiteY8" fmla="*/ 358794 h 880577"/>
                <a:gd name="connsiteX9" fmla="*/ 1275493 w 2956079"/>
                <a:gd name="connsiteY9" fmla="*/ 610614 h 880577"/>
                <a:gd name="connsiteX10" fmla="*/ 1439720 w 2956079"/>
                <a:gd name="connsiteY10" fmla="*/ 731050 h 880577"/>
                <a:gd name="connsiteX11" fmla="*/ 1592998 w 2956079"/>
                <a:gd name="connsiteY11" fmla="*/ 791268 h 880577"/>
                <a:gd name="connsiteX12" fmla="*/ 1746276 w 2956079"/>
                <a:gd name="connsiteY12" fmla="*/ 818640 h 880577"/>
                <a:gd name="connsiteX13" fmla="*/ 1959771 w 2956079"/>
                <a:gd name="connsiteY13" fmla="*/ 862434 h 880577"/>
                <a:gd name="connsiteX14" fmla="*/ 2956079 w 2956079"/>
                <a:gd name="connsiteY14" fmla="*/ 862434 h 880577"/>
                <a:gd name="connsiteX0" fmla="*/ 0 w 1959771"/>
                <a:gd name="connsiteY0" fmla="*/ 873383 h 880577"/>
                <a:gd name="connsiteX1" fmla="*/ 93062 w 1959771"/>
                <a:gd name="connsiteY1" fmla="*/ 873383 h 880577"/>
                <a:gd name="connsiteX2" fmla="*/ 229917 w 1959771"/>
                <a:gd name="connsiteY2" fmla="*/ 687255 h 880577"/>
                <a:gd name="connsiteX3" fmla="*/ 377721 w 1959771"/>
                <a:gd name="connsiteY3" fmla="*/ 380691 h 880577"/>
                <a:gd name="connsiteX4" fmla="*/ 525525 w 1959771"/>
                <a:gd name="connsiteY4" fmla="*/ 150768 h 880577"/>
                <a:gd name="connsiteX5" fmla="*/ 673329 w 1959771"/>
                <a:gd name="connsiteY5" fmla="*/ 8435 h 880577"/>
                <a:gd name="connsiteX6" fmla="*/ 837556 w 1959771"/>
                <a:gd name="connsiteY6" fmla="*/ 30332 h 880577"/>
                <a:gd name="connsiteX7" fmla="*/ 979885 w 1959771"/>
                <a:gd name="connsiteY7" fmla="*/ 145294 h 880577"/>
                <a:gd name="connsiteX8" fmla="*/ 1138638 w 1959771"/>
                <a:gd name="connsiteY8" fmla="*/ 358794 h 880577"/>
                <a:gd name="connsiteX9" fmla="*/ 1275493 w 1959771"/>
                <a:gd name="connsiteY9" fmla="*/ 610614 h 880577"/>
                <a:gd name="connsiteX10" fmla="*/ 1439720 w 1959771"/>
                <a:gd name="connsiteY10" fmla="*/ 731050 h 880577"/>
                <a:gd name="connsiteX11" fmla="*/ 1592998 w 1959771"/>
                <a:gd name="connsiteY11" fmla="*/ 791268 h 880577"/>
                <a:gd name="connsiteX12" fmla="*/ 1746276 w 1959771"/>
                <a:gd name="connsiteY12" fmla="*/ 818640 h 880577"/>
                <a:gd name="connsiteX13" fmla="*/ 1959771 w 1959771"/>
                <a:gd name="connsiteY13" fmla="*/ 862434 h 88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9771" h="880577">
                  <a:moveTo>
                    <a:pt x="0" y="873383"/>
                  </a:moveTo>
                  <a:cubicBezTo>
                    <a:pt x="27371" y="888893"/>
                    <a:pt x="54743" y="874695"/>
                    <a:pt x="93062" y="873383"/>
                  </a:cubicBezTo>
                  <a:cubicBezTo>
                    <a:pt x="131381" y="872071"/>
                    <a:pt x="182474" y="769370"/>
                    <a:pt x="229917" y="687255"/>
                  </a:cubicBezTo>
                  <a:cubicBezTo>
                    <a:pt x="277360" y="605140"/>
                    <a:pt x="328453" y="470105"/>
                    <a:pt x="377721" y="380691"/>
                  </a:cubicBezTo>
                  <a:cubicBezTo>
                    <a:pt x="426989" y="291277"/>
                    <a:pt x="476257" y="212811"/>
                    <a:pt x="525525" y="150768"/>
                  </a:cubicBezTo>
                  <a:cubicBezTo>
                    <a:pt x="574793" y="88725"/>
                    <a:pt x="621324" y="28508"/>
                    <a:pt x="673329" y="8435"/>
                  </a:cubicBezTo>
                  <a:cubicBezTo>
                    <a:pt x="725334" y="-11638"/>
                    <a:pt x="786463" y="7522"/>
                    <a:pt x="837556" y="30332"/>
                  </a:cubicBezTo>
                  <a:cubicBezTo>
                    <a:pt x="888649" y="53142"/>
                    <a:pt x="929705" y="90550"/>
                    <a:pt x="979885" y="145294"/>
                  </a:cubicBezTo>
                  <a:cubicBezTo>
                    <a:pt x="1030065" y="200038"/>
                    <a:pt x="1089370" y="281241"/>
                    <a:pt x="1138638" y="358794"/>
                  </a:cubicBezTo>
                  <a:cubicBezTo>
                    <a:pt x="1187906" y="436347"/>
                    <a:pt x="1225313" y="548571"/>
                    <a:pt x="1275493" y="610614"/>
                  </a:cubicBezTo>
                  <a:cubicBezTo>
                    <a:pt x="1325673" y="672657"/>
                    <a:pt x="1386803" y="700941"/>
                    <a:pt x="1439720" y="731050"/>
                  </a:cubicBezTo>
                  <a:cubicBezTo>
                    <a:pt x="1492638" y="761159"/>
                    <a:pt x="1541905" y="776670"/>
                    <a:pt x="1592998" y="791268"/>
                  </a:cubicBezTo>
                  <a:cubicBezTo>
                    <a:pt x="1644091" y="805866"/>
                    <a:pt x="1685147" y="806779"/>
                    <a:pt x="1746276" y="818640"/>
                  </a:cubicBezTo>
                  <a:cubicBezTo>
                    <a:pt x="1807405" y="830501"/>
                    <a:pt x="1758137" y="855135"/>
                    <a:pt x="1959771" y="862434"/>
                  </a:cubicBezTo>
                </a:path>
              </a:pathLst>
            </a:custGeom>
            <a:solidFill>
              <a:schemeClr val="accent1">
                <a:lumMod val="60000"/>
                <a:lumOff val="40000"/>
                <a:alpha val="51000"/>
              </a:schemeClr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CD77DE-C5B4-0548-B1A8-684A00E1500D}"/>
              </a:ext>
            </a:extLst>
          </p:cNvPr>
          <p:cNvGrpSpPr/>
          <p:nvPr/>
        </p:nvGrpSpPr>
        <p:grpSpPr>
          <a:xfrm>
            <a:off x="5657166" y="3858998"/>
            <a:ext cx="944489" cy="743673"/>
            <a:chOff x="3040971" y="3088527"/>
            <a:chExt cx="944489" cy="743673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A9D87CC-BAED-0F49-AFE1-E4158F9F94F1}"/>
                </a:ext>
              </a:extLst>
            </p:cNvPr>
            <p:cNvCxnSpPr/>
            <p:nvPr/>
          </p:nvCxnSpPr>
          <p:spPr>
            <a:xfrm>
              <a:off x="3513800" y="308852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B96EEC-9980-2A43-880B-B8113A11AFCD}"/>
                </a:ext>
              </a:extLst>
            </p:cNvPr>
            <p:cNvSpPr txBox="1"/>
            <p:nvPr/>
          </p:nvSpPr>
          <p:spPr>
            <a:xfrm>
              <a:off x="3040971" y="346286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 &gt; </a:t>
              </a:r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baseline="-25000" dirty="0">
                  <a:latin typeface="Gill Sans MT" panose="020B0502020104020203" pitchFamily="34" charset="77"/>
                </a:rPr>
                <a:t> </a:t>
              </a:r>
              <a:r>
                <a:rPr lang="en-US" dirty="0">
                  <a:latin typeface="Gill Sans MT" panose="020B0502020104020203" pitchFamily="34" charset="77"/>
                </a:rPr>
                <a:t>?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8C6633B-046B-244A-8297-D28A6DE1184C}"/>
              </a:ext>
            </a:extLst>
          </p:cNvPr>
          <p:cNvGrpSpPr/>
          <p:nvPr/>
        </p:nvGrpSpPr>
        <p:grpSpPr>
          <a:xfrm>
            <a:off x="5814223" y="3039537"/>
            <a:ext cx="593432" cy="763298"/>
            <a:chOff x="3223423" y="2269067"/>
            <a:chExt cx="593432" cy="7632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046E1AC-4804-CE41-8ADF-31FED32B27F6}"/>
                </a:ext>
              </a:extLst>
            </p:cNvPr>
            <p:cNvCxnSpPr/>
            <p:nvPr/>
          </p:nvCxnSpPr>
          <p:spPr>
            <a:xfrm>
              <a:off x="3511630" y="2274737"/>
              <a:ext cx="3218" cy="278309"/>
            </a:xfrm>
            <a:prstGeom prst="straightConnector1">
              <a:avLst/>
            </a:prstGeom>
            <a:ln w="635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A785A2-C575-F04E-B3BC-F6E487316726}"/>
                </a:ext>
              </a:extLst>
            </p:cNvPr>
            <p:cNvSpPr txBox="1"/>
            <p:nvPr/>
          </p:nvSpPr>
          <p:spPr>
            <a:xfrm>
              <a:off x="3251199" y="2269067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F89B38-D11F-F246-9C2F-76045772A5C8}"/>
                </a:ext>
              </a:extLst>
            </p:cNvPr>
            <p:cNvSpPr txBox="1"/>
            <p:nvPr/>
          </p:nvSpPr>
          <p:spPr>
            <a:xfrm>
              <a:off x="3223423" y="2663033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0.13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1.47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634434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6714161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1.53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1.47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FB77F9-0E42-094F-87AC-D28AE9BCACCE}"/>
              </a:ext>
            </a:extLst>
          </p:cNvPr>
          <p:cNvGrpSpPr/>
          <p:nvPr/>
        </p:nvGrpSpPr>
        <p:grpSpPr>
          <a:xfrm>
            <a:off x="4630436" y="1315415"/>
            <a:ext cx="1894198" cy="1702638"/>
            <a:chOff x="3106436" y="1315415"/>
            <a:chExt cx="1894198" cy="1702638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F32E55B-B634-B747-9A91-CFD3BA61BE46}"/>
                </a:ext>
              </a:extLst>
            </p:cNvPr>
            <p:cNvGrpSpPr/>
            <p:nvPr/>
          </p:nvGrpSpPr>
          <p:grpSpPr>
            <a:xfrm>
              <a:off x="3111978" y="1714209"/>
              <a:ext cx="1888656" cy="1303844"/>
              <a:chOff x="2369487" y="1363877"/>
              <a:chExt cx="1888656" cy="1303844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8365735-74EB-C747-9260-45B2C1EF3CB9}"/>
                  </a:ext>
                </a:extLst>
              </p:cNvPr>
              <p:cNvSpPr/>
              <p:nvPr/>
            </p:nvSpPr>
            <p:spPr>
              <a:xfrm>
                <a:off x="3803400" y="1980117"/>
                <a:ext cx="45719" cy="53789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1C5E7966-3344-DC42-8E10-F7993D87919F}"/>
                  </a:ext>
                </a:extLst>
              </p:cNvPr>
              <p:cNvGrpSpPr/>
              <p:nvPr/>
            </p:nvGrpSpPr>
            <p:grpSpPr>
              <a:xfrm>
                <a:off x="2369487" y="1363877"/>
                <a:ext cx="1888656" cy="1303844"/>
                <a:chOff x="2369487" y="1363877"/>
                <a:chExt cx="1888656" cy="1303844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4447120E-5B8B-1B4B-B2D3-B175551D4B60}"/>
                    </a:ext>
                  </a:extLst>
                </p:cNvPr>
                <p:cNvSpPr/>
                <p:nvPr/>
              </p:nvSpPr>
              <p:spPr>
                <a:xfrm>
                  <a:off x="3402421" y="2325432"/>
                  <a:ext cx="855722" cy="342289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Gill Sans MT" panose="020B0502020104020203" pitchFamily="34" charset="77"/>
                    </a:rPr>
                    <a:t>score</a:t>
                  </a:r>
                </a:p>
              </p:txBody>
            </p: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7C74CF54-AC49-EE47-A8A7-E4D31598A65D}"/>
                    </a:ext>
                  </a:extLst>
                </p:cNvPr>
                <p:cNvCxnSpPr>
                  <a:cxnSpLocks/>
                  <a:endCxn id="2" idx="0"/>
                </p:cNvCxnSpPr>
                <p:nvPr/>
              </p:nvCxnSpPr>
              <p:spPr>
                <a:xfrm>
                  <a:off x="3829509" y="2056816"/>
                  <a:ext cx="773" cy="268616"/>
                </a:xfrm>
                <a:prstGeom prst="straightConnector1">
                  <a:avLst/>
                </a:prstGeom>
                <a:ln w="6350">
                  <a:tailEnd type="triangle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A1C416CF-17CE-0644-A7FC-1B6B30918FF7}"/>
                    </a:ext>
                  </a:extLst>
                </p:cNvPr>
                <p:cNvCxnSpPr>
                  <a:cxnSpLocks/>
                  <a:stCxn id="4" idx="4"/>
                  <a:endCxn id="3" idx="0"/>
                </p:cNvCxnSpPr>
                <p:nvPr/>
              </p:nvCxnSpPr>
              <p:spPr>
                <a:xfrm>
                  <a:off x="2369487" y="1363877"/>
                  <a:ext cx="1456773" cy="616240"/>
                </a:xfrm>
                <a:prstGeom prst="line">
                  <a:avLst/>
                </a:prstGeom>
                <a:ln w="6350"/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6436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0469BDA0-17F0-0143-9BEA-AD21BCA3B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795" y="2249002"/>
            <a:ext cx="1399457" cy="153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81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4.81481E-6 L -0.18021 -0.0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010" y="-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4526132" y="1119161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1.53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1.53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FB77F9-0E42-094F-87AC-D28AE9BCACCE}"/>
              </a:ext>
            </a:extLst>
          </p:cNvPr>
          <p:cNvGrpSpPr/>
          <p:nvPr/>
        </p:nvGrpSpPr>
        <p:grpSpPr>
          <a:xfrm>
            <a:off x="4630436" y="1315415"/>
            <a:ext cx="1894198" cy="1702638"/>
            <a:chOff x="3106436" y="1315415"/>
            <a:chExt cx="1894198" cy="1702638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F32E55B-B634-B747-9A91-CFD3BA61BE46}"/>
                </a:ext>
              </a:extLst>
            </p:cNvPr>
            <p:cNvGrpSpPr/>
            <p:nvPr/>
          </p:nvGrpSpPr>
          <p:grpSpPr>
            <a:xfrm>
              <a:off x="3111978" y="1714209"/>
              <a:ext cx="1888656" cy="1303844"/>
              <a:chOff x="2369487" y="1363877"/>
              <a:chExt cx="1888656" cy="1303844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8365735-74EB-C747-9260-45B2C1EF3CB9}"/>
                  </a:ext>
                </a:extLst>
              </p:cNvPr>
              <p:cNvSpPr/>
              <p:nvPr/>
            </p:nvSpPr>
            <p:spPr>
              <a:xfrm>
                <a:off x="3803400" y="1980117"/>
                <a:ext cx="45719" cy="53789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1C5E7966-3344-DC42-8E10-F7993D87919F}"/>
                  </a:ext>
                </a:extLst>
              </p:cNvPr>
              <p:cNvGrpSpPr/>
              <p:nvPr/>
            </p:nvGrpSpPr>
            <p:grpSpPr>
              <a:xfrm>
                <a:off x="2369487" y="1363877"/>
                <a:ext cx="1888656" cy="1303844"/>
                <a:chOff x="2369487" y="1363877"/>
                <a:chExt cx="1888656" cy="1303844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4447120E-5B8B-1B4B-B2D3-B175551D4B60}"/>
                    </a:ext>
                  </a:extLst>
                </p:cNvPr>
                <p:cNvSpPr/>
                <p:nvPr/>
              </p:nvSpPr>
              <p:spPr>
                <a:xfrm>
                  <a:off x="3402421" y="2325432"/>
                  <a:ext cx="855722" cy="342289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Gill Sans MT" panose="020B0502020104020203" pitchFamily="34" charset="77"/>
                    </a:rPr>
                    <a:t>score</a:t>
                  </a:r>
                </a:p>
              </p:txBody>
            </p: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7C74CF54-AC49-EE47-A8A7-E4D31598A65D}"/>
                    </a:ext>
                  </a:extLst>
                </p:cNvPr>
                <p:cNvCxnSpPr>
                  <a:cxnSpLocks/>
                  <a:endCxn id="2" idx="0"/>
                </p:cNvCxnSpPr>
                <p:nvPr/>
              </p:nvCxnSpPr>
              <p:spPr>
                <a:xfrm>
                  <a:off x="3829509" y="2056816"/>
                  <a:ext cx="773" cy="268616"/>
                </a:xfrm>
                <a:prstGeom prst="straightConnector1">
                  <a:avLst/>
                </a:prstGeom>
                <a:ln w="6350">
                  <a:tailEnd type="triangle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A1C416CF-17CE-0644-A7FC-1B6B30918FF7}"/>
                    </a:ext>
                  </a:extLst>
                </p:cNvPr>
                <p:cNvCxnSpPr>
                  <a:cxnSpLocks/>
                  <a:stCxn id="4" idx="4"/>
                  <a:endCxn id="3" idx="0"/>
                </p:cNvCxnSpPr>
                <p:nvPr/>
              </p:nvCxnSpPr>
              <p:spPr>
                <a:xfrm>
                  <a:off x="2369487" y="1363877"/>
                  <a:ext cx="1456773" cy="616240"/>
                </a:xfrm>
                <a:prstGeom prst="line">
                  <a:avLst/>
                </a:prstGeom>
                <a:ln w="6350"/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6436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0469BDA0-17F0-0143-9BEA-AD21BCA3B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795" y="2249002"/>
            <a:ext cx="1399457" cy="153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89026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4885363" y="1119161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1.51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1.53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003532" y="1714209"/>
            <a:ext cx="1521103" cy="1303844"/>
            <a:chOff x="2737040" y="1363877"/>
            <a:chExt cx="1521103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2737040" y="1363877"/>
              <a:ext cx="1521103" cy="1303844"/>
              <a:chOff x="2737040" y="1363877"/>
              <a:chExt cx="1521103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5" idx="4"/>
                <a:endCxn id="3" idx="0"/>
              </p:cNvCxnSpPr>
              <p:nvPr/>
            </p:nvCxnSpPr>
            <p:spPr>
              <a:xfrm>
                <a:off x="2737040" y="1363877"/>
                <a:ext cx="1089220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5FDC898-B0A3-B540-A7B9-21FB890B8172}"/>
              </a:ext>
            </a:extLst>
          </p:cNvPr>
          <p:cNvCxnSpPr>
            <a:cxnSpLocks/>
          </p:cNvCxnSpPr>
          <p:nvPr/>
        </p:nvCxnSpPr>
        <p:spPr>
          <a:xfrm flipV="1">
            <a:off x="5000553" y="1315416"/>
            <a:ext cx="0" cy="173861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0469BDA0-17F0-0143-9BEA-AD21BCA3B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6849795" y="2249002"/>
            <a:ext cx="1399457" cy="153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92562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2.31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2.31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371084" y="1714209"/>
            <a:ext cx="1153550" cy="1303844"/>
            <a:chOff x="3104593" y="1363877"/>
            <a:chExt cx="1153550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104593" y="1363877"/>
              <a:ext cx="1153550" cy="1303844"/>
              <a:chOff x="3104593" y="1363877"/>
              <a:chExt cx="1153550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6" idx="4"/>
                <a:endCxn id="3" idx="0"/>
              </p:cNvCxnSpPr>
              <p:nvPr/>
            </p:nvCxnSpPr>
            <p:spPr>
              <a:xfrm>
                <a:off x="3104593" y="1363877"/>
                <a:ext cx="721667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9B449-8E67-3943-BC09-2E1DD4BDD0D0}"/>
              </a:ext>
            </a:extLst>
          </p:cNvPr>
          <p:cNvGrpSpPr/>
          <p:nvPr/>
        </p:nvGrpSpPr>
        <p:grpSpPr>
          <a:xfrm>
            <a:off x="5255478" y="1119160"/>
            <a:ext cx="229823" cy="370116"/>
            <a:chOff x="3361362" y="1119160"/>
            <a:chExt cx="229823" cy="37011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E63CF81-3DEC-614B-BBF0-63D2E4807976}"/>
                </a:ext>
              </a:extLst>
            </p:cNvPr>
            <p:cNvSpPr/>
            <p:nvPr/>
          </p:nvSpPr>
          <p:spPr>
            <a:xfrm>
              <a:off x="3361362" y="1119160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7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6553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Picture 37">
            <a:extLst>
              <a:ext uri="{FF2B5EF4-FFF2-40B4-BE49-F238E27FC236}">
                <a16:creationId xmlns:a16="http://schemas.microsoft.com/office/drawing/2014/main" id="{B9CC34EE-DA21-7F4B-A241-C418225E7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287" y="2375380"/>
            <a:ext cx="1378771" cy="1392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71539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2.27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2.31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7" idx="4"/>
                <a:endCxn id="3" idx="0"/>
              </p:cNvCxnSpPr>
              <p:nvPr/>
            </p:nvCxnSpPr>
            <p:spPr>
              <a:xfrm>
                <a:off x="3472146" y="1363877"/>
                <a:ext cx="354114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9B449-8E67-3943-BC09-2E1DD4BDD0D0}"/>
              </a:ext>
            </a:extLst>
          </p:cNvPr>
          <p:cNvGrpSpPr/>
          <p:nvPr/>
        </p:nvGrpSpPr>
        <p:grpSpPr>
          <a:xfrm>
            <a:off x="5614705" y="1119160"/>
            <a:ext cx="229823" cy="370116"/>
            <a:chOff x="3361362" y="1119160"/>
            <a:chExt cx="229823" cy="37011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E63CF81-3DEC-614B-BBF0-63D2E4807976}"/>
                </a:ext>
              </a:extLst>
            </p:cNvPr>
            <p:cNvSpPr/>
            <p:nvPr/>
          </p:nvSpPr>
          <p:spPr>
            <a:xfrm>
              <a:off x="3361362" y="1119160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7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6553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Picture 37">
            <a:extLst>
              <a:ext uri="{FF2B5EF4-FFF2-40B4-BE49-F238E27FC236}">
                <a16:creationId xmlns:a16="http://schemas.microsoft.com/office/drawing/2014/main" id="{B9CC34EE-DA21-7F4B-A241-C418225E7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247856">
            <a:off x="6861077" y="2168552"/>
            <a:ext cx="1378771" cy="1392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67051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2.17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2.31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8" idx="4"/>
                <a:endCxn id="3" idx="0"/>
              </p:cNvCxnSpPr>
              <p:nvPr/>
            </p:nvCxnSpPr>
            <p:spPr>
              <a:xfrm flipH="1">
                <a:off x="3826260" y="1363877"/>
                <a:ext cx="1215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9B449-8E67-3943-BC09-2E1DD4BDD0D0}"/>
              </a:ext>
            </a:extLst>
          </p:cNvPr>
          <p:cNvGrpSpPr/>
          <p:nvPr/>
        </p:nvGrpSpPr>
        <p:grpSpPr>
          <a:xfrm>
            <a:off x="5973934" y="1119160"/>
            <a:ext cx="229823" cy="370116"/>
            <a:chOff x="3361362" y="1119160"/>
            <a:chExt cx="229823" cy="37011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E63CF81-3DEC-614B-BBF0-63D2E4807976}"/>
                </a:ext>
              </a:extLst>
            </p:cNvPr>
            <p:cNvSpPr/>
            <p:nvPr/>
          </p:nvSpPr>
          <p:spPr>
            <a:xfrm>
              <a:off x="3361362" y="1119160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7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6553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61B93508-319D-3643-8286-4D71BA075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3580716">
            <a:off x="6947824" y="2273994"/>
            <a:ext cx="1437543" cy="1451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0788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1.93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2.31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9" idx="4"/>
                <a:endCxn id="3" idx="0"/>
              </p:cNvCxnSpPr>
              <p:nvPr/>
            </p:nvCxnSpPr>
            <p:spPr>
              <a:xfrm flipH="1">
                <a:off x="3826260" y="1363877"/>
                <a:ext cx="368768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9B449-8E67-3943-BC09-2E1DD4BDD0D0}"/>
              </a:ext>
            </a:extLst>
          </p:cNvPr>
          <p:cNvGrpSpPr/>
          <p:nvPr/>
        </p:nvGrpSpPr>
        <p:grpSpPr>
          <a:xfrm>
            <a:off x="6333162" y="1119160"/>
            <a:ext cx="229823" cy="370116"/>
            <a:chOff x="3361362" y="1119160"/>
            <a:chExt cx="229823" cy="37011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E63CF81-3DEC-614B-BBF0-63D2E4807976}"/>
                </a:ext>
              </a:extLst>
            </p:cNvPr>
            <p:cNvSpPr/>
            <p:nvPr/>
          </p:nvSpPr>
          <p:spPr>
            <a:xfrm>
              <a:off x="3361362" y="1119160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7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6553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61B93508-319D-3643-8286-4D71BA075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4783919" flipH="1" flipV="1">
            <a:off x="6840285" y="2140858"/>
            <a:ext cx="1412441" cy="1426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4576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3.63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3.63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3" y="1714209"/>
            <a:ext cx="1527713" cy="1303844"/>
            <a:chOff x="3402421" y="1363877"/>
            <a:chExt cx="1527713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1527713" cy="1303844"/>
              <a:chOff x="3402421" y="1363877"/>
              <a:chExt cx="1527713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11" idx="4"/>
                <a:endCxn id="3" idx="0"/>
              </p:cNvCxnSpPr>
              <p:nvPr/>
            </p:nvCxnSpPr>
            <p:spPr>
              <a:xfrm flipH="1">
                <a:off x="3826260" y="1363877"/>
                <a:ext cx="1103874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9B449-8E67-3943-BC09-2E1DD4BDD0D0}"/>
              </a:ext>
            </a:extLst>
          </p:cNvPr>
          <p:cNvGrpSpPr/>
          <p:nvPr/>
        </p:nvGrpSpPr>
        <p:grpSpPr>
          <a:xfrm>
            <a:off x="7073391" y="1119160"/>
            <a:ext cx="229823" cy="370116"/>
            <a:chOff x="3361362" y="1119160"/>
            <a:chExt cx="229823" cy="37011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E63CF81-3DEC-614B-BBF0-63D2E4807976}"/>
                </a:ext>
              </a:extLst>
            </p:cNvPr>
            <p:cNvSpPr/>
            <p:nvPr/>
          </p:nvSpPr>
          <p:spPr>
            <a:xfrm>
              <a:off x="3361362" y="1119160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7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6553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DE730A1-CB2A-6846-807F-751FFC296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986" y="2435661"/>
            <a:ext cx="1149277" cy="92059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2D50A41-59DF-8D4F-B60B-AB33C0696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887" y="2948557"/>
            <a:ext cx="885413" cy="1049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25496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1.55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3.63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1895266" cy="1303844"/>
            <a:chOff x="3402421" y="1363877"/>
            <a:chExt cx="1895266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1895266" cy="1303844"/>
              <a:chOff x="3402421" y="1363877"/>
              <a:chExt cx="1895266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12" idx="4"/>
                <a:endCxn id="3" idx="0"/>
              </p:cNvCxnSpPr>
              <p:nvPr/>
            </p:nvCxnSpPr>
            <p:spPr>
              <a:xfrm flipH="1">
                <a:off x="3826260" y="1363877"/>
                <a:ext cx="1471427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9B449-8E67-3943-BC09-2E1DD4BDD0D0}"/>
              </a:ext>
            </a:extLst>
          </p:cNvPr>
          <p:cNvGrpSpPr/>
          <p:nvPr/>
        </p:nvGrpSpPr>
        <p:grpSpPr>
          <a:xfrm>
            <a:off x="7443508" y="1119160"/>
            <a:ext cx="229823" cy="370116"/>
            <a:chOff x="3361362" y="1119160"/>
            <a:chExt cx="229823" cy="37011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E63CF81-3DEC-614B-BBF0-63D2E4807976}"/>
                </a:ext>
              </a:extLst>
            </p:cNvPr>
            <p:cNvSpPr/>
            <p:nvPr/>
          </p:nvSpPr>
          <p:spPr>
            <a:xfrm>
              <a:off x="3361362" y="1119160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7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6553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B5EA4626-1F2A-E24C-8643-88982788A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1119763">
            <a:off x="6849795" y="2249002"/>
            <a:ext cx="1399457" cy="153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0480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081714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3.65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3.63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4635978" y="1714209"/>
            <a:ext cx="1888656" cy="1303844"/>
            <a:chOff x="2369487" y="1363877"/>
            <a:chExt cx="1888656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2369487" y="1363877"/>
              <a:ext cx="1888656" cy="1303844"/>
              <a:chOff x="2369487" y="1363877"/>
              <a:chExt cx="1888656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4" idx="4"/>
                <a:endCxn id="3" idx="0"/>
              </p:cNvCxnSpPr>
              <p:nvPr/>
            </p:nvCxnSpPr>
            <p:spPr>
              <a:xfrm>
                <a:off x="2369487" y="1363877"/>
                <a:ext cx="1456773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9B449-8E67-3943-BC09-2E1DD4BDD0D0}"/>
              </a:ext>
            </a:extLst>
          </p:cNvPr>
          <p:cNvGrpSpPr/>
          <p:nvPr/>
        </p:nvGrpSpPr>
        <p:grpSpPr>
          <a:xfrm>
            <a:off x="7443508" y="1119160"/>
            <a:ext cx="229823" cy="370116"/>
            <a:chOff x="3361362" y="1119160"/>
            <a:chExt cx="229823" cy="37011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E63CF81-3DEC-614B-BBF0-63D2E4807976}"/>
                </a:ext>
              </a:extLst>
            </p:cNvPr>
            <p:cNvSpPr/>
            <p:nvPr/>
          </p:nvSpPr>
          <p:spPr>
            <a:xfrm>
              <a:off x="3361362" y="1119160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7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6553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039FA-F865-8D45-84D9-45AF73969A03}"/>
              </a:ext>
            </a:extLst>
          </p:cNvPr>
          <p:cNvCxnSpPr>
            <a:cxnSpLocks/>
          </p:cNvCxnSpPr>
          <p:nvPr/>
        </p:nvCxnSpPr>
        <p:spPr>
          <a:xfrm flipV="1">
            <a:off x="4621158" y="964183"/>
            <a:ext cx="0" cy="173861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47C4BE9-3544-2D4D-B7A3-E5FCDF86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350" y="1949714"/>
            <a:ext cx="2310390" cy="179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80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254 L -0.24088 0.0018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83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81481E-6 L -0.21171 -0.106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586" y="-532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4518772" y="734706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3.65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3.65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4635978" y="1714209"/>
            <a:ext cx="1888656" cy="1303844"/>
            <a:chOff x="2369487" y="1363877"/>
            <a:chExt cx="1888656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2369487" y="1363877"/>
              <a:ext cx="1888656" cy="1303844"/>
              <a:chOff x="2369487" y="1363877"/>
              <a:chExt cx="1888656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4" idx="4"/>
                <a:endCxn id="3" idx="0"/>
              </p:cNvCxnSpPr>
              <p:nvPr/>
            </p:nvCxnSpPr>
            <p:spPr>
              <a:xfrm>
                <a:off x="2369487" y="1363877"/>
                <a:ext cx="1456773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9B449-8E67-3943-BC09-2E1DD4BDD0D0}"/>
              </a:ext>
            </a:extLst>
          </p:cNvPr>
          <p:cNvGrpSpPr/>
          <p:nvPr/>
        </p:nvGrpSpPr>
        <p:grpSpPr>
          <a:xfrm>
            <a:off x="4518773" y="1119160"/>
            <a:ext cx="229823" cy="370116"/>
            <a:chOff x="3361362" y="1119160"/>
            <a:chExt cx="229823" cy="37011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E63CF81-3DEC-614B-BBF0-63D2E4807976}"/>
                </a:ext>
              </a:extLst>
            </p:cNvPr>
            <p:cNvSpPr/>
            <p:nvPr/>
          </p:nvSpPr>
          <p:spPr>
            <a:xfrm>
              <a:off x="3361362" y="1119160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7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5FDC898-B0A3-B540-A7B9-21FB890B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6553" y="1315415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039FA-F865-8D45-84D9-45AF73969A03}"/>
              </a:ext>
            </a:extLst>
          </p:cNvPr>
          <p:cNvCxnSpPr>
            <a:cxnSpLocks/>
          </p:cNvCxnSpPr>
          <p:nvPr/>
        </p:nvCxnSpPr>
        <p:spPr>
          <a:xfrm flipV="1">
            <a:off x="4621158" y="964183"/>
            <a:ext cx="0" cy="173861"/>
          </a:xfrm>
          <a:prstGeom prst="line">
            <a:avLst/>
          </a:prstGeom>
          <a:ln w="63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47C4BE9-3544-2D4D-B7A3-E5FCDF86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350" y="1949714"/>
            <a:ext cx="2310390" cy="179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56993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3.82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3.82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003532" y="1714209"/>
            <a:ext cx="1521103" cy="1303844"/>
            <a:chOff x="2737040" y="1363877"/>
            <a:chExt cx="1521103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2737040" y="1363877"/>
              <a:ext cx="1521103" cy="1303844"/>
              <a:chOff x="2737040" y="1363877"/>
              <a:chExt cx="1521103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5" idx="4"/>
                <a:endCxn id="3" idx="0"/>
              </p:cNvCxnSpPr>
              <p:nvPr/>
            </p:nvCxnSpPr>
            <p:spPr>
              <a:xfrm>
                <a:off x="2737040" y="1363877"/>
                <a:ext cx="1089220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DF3FA8D-DC19-4F40-8B07-D8E23D230946}"/>
              </a:ext>
            </a:extLst>
          </p:cNvPr>
          <p:cNvGrpSpPr/>
          <p:nvPr/>
        </p:nvGrpSpPr>
        <p:grpSpPr>
          <a:xfrm>
            <a:off x="4881849" y="734706"/>
            <a:ext cx="229824" cy="754571"/>
            <a:chOff x="2994771" y="734705"/>
            <a:chExt cx="229824" cy="754571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B424A8-96DE-3D42-A98B-1539E5271135}"/>
                </a:ext>
              </a:extLst>
            </p:cNvPr>
            <p:cNvSpPr/>
            <p:nvPr/>
          </p:nvSpPr>
          <p:spPr>
            <a:xfrm>
              <a:off x="2994771" y="734705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8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F9B449-8E67-3943-BC09-2E1DD4BDD0D0}"/>
                </a:ext>
              </a:extLst>
            </p:cNvPr>
            <p:cNvGrpSpPr/>
            <p:nvPr/>
          </p:nvGrpSpPr>
          <p:grpSpPr>
            <a:xfrm>
              <a:off x="2994772" y="1119160"/>
              <a:ext cx="229823" cy="370116"/>
              <a:chOff x="3361362" y="1119160"/>
              <a:chExt cx="229823" cy="370116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E63CF81-3DEC-614B-BBF0-63D2E4807976}"/>
                  </a:ext>
                </a:extLst>
              </p:cNvPr>
              <p:cNvSpPr/>
              <p:nvPr/>
            </p:nvSpPr>
            <p:spPr>
              <a:xfrm>
                <a:off x="3361362" y="1119160"/>
                <a:ext cx="229823" cy="224933"/>
              </a:xfrm>
              <a:prstGeom prst="ellipse">
                <a:avLst/>
              </a:prstGeom>
              <a:solidFill>
                <a:srgbClr val="92D050"/>
              </a:solidFill>
              <a:ln w="12700">
                <a:solidFill>
                  <a:schemeClr val="tx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7</a:t>
                </a: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5FDC898-B0A3-B540-A7B9-21FB890B81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76553" y="1315415"/>
                <a:ext cx="0" cy="173861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B039FA-F865-8D45-84D9-45AF73969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7158" y="964182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47C4BE9-3544-2D4D-B7A3-E5FCDF86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709350" y="1986003"/>
            <a:ext cx="2310390" cy="172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08014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3.70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3.82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371084" y="1714209"/>
            <a:ext cx="1153550" cy="1303844"/>
            <a:chOff x="3104593" y="1363877"/>
            <a:chExt cx="1153550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104593" y="1363877"/>
              <a:ext cx="1153550" cy="1303844"/>
              <a:chOff x="3104593" y="1363877"/>
              <a:chExt cx="1153550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6" idx="4"/>
                <a:endCxn id="3" idx="0"/>
              </p:cNvCxnSpPr>
              <p:nvPr/>
            </p:nvCxnSpPr>
            <p:spPr>
              <a:xfrm>
                <a:off x="3104593" y="1363877"/>
                <a:ext cx="721667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DF3FA8D-DC19-4F40-8B07-D8E23D230946}"/>
              </a:ext>
            </a:extLst>
          </p:cNvPr>
          <p:cNvGrpSpPr/>
          <p:nvPr/>
        </p:nvGrpSpPr>
        <p:grpSpPr>
          <a:xfrm>
            <a:off x="5251648" y="734706"/>
            <a:ext cx="229824" cy="754571"/>
            <a:chOff x="2994771" y="734705"/>
            <a:chExt cx="229824" cy="754571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B424A8-96DE-3D42-A98B-1539E5271135}"/>
                </a:ext>
              </a:extLst>
            </p:cNvPr>
            <p:cNvSpPr/>
            <p:nvPr/>
          </p:nvSpPr>
          <p:spPr>
            <a:xfrm>
              <a:off x="2994771" y="734705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8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F9B449-8E67-3943-BC09-2E1DD4BDD0D0}"/>
                </a:ext>
              </a:extLst>
            </p:cNvPr>
            <p:cNvGrpSpPr/>
            <p:nvPr/>
          </p:nvGrpSpPr>
          <p:grpSpPr>
            <a:xfrm>
              <a:off x="2994772" y="1119160"/>
              <a:ext cx="229823" cy="370116"/>
              <a:chOff x="3361362" y="1119160"/>
              <a:chExt cx="229823" cy="370116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E63CF81-3DEC-614B-BBF0-63D2E4807976}"/>
                  </a:ext>
                </a:extLst>
              </p:cNvPr>
              <p:cNvSpPr/>
              <p:nvPr/>
            </p:nvSpPr>
            <p:spPr>
              <a:xfrm>
                <a:off x="3361362" y="1119160"/>
                <a:ext cx="229823" cy="224933"/>
              </a:xfrm>
              <a:prstGeom prst="ellipse">
                <a:avLst/>
              </a:prstGeom>
              <a:solidFill>
                <a:srgbClr val="92D050"/>
              </a:solidFill>
              <a:ln w="12700">
                <a:solidFill>
                  <a:schemeClr val="tx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7</a:t>
                </a: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5FDC898-B0A3-B540-A7B9-21FB890B81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76553" y="1315415"/>
                <a:ext cx="0" cy="173861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B039FA-F865-8D45-84D9-45AF73969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7158" y="964182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47C4BE9-3544-2D4D-B7A3-E5FCDF86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05632" y="1986003"/>
            <a:ext cx="2117827" cy="172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1536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3.70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3.82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7" idx="4"/>
                <a:endCxn id="3" idx="0"/>
              </p:cNvCxnSpPr>
              <p:nvPr/>
            </p:nvCxnSpPr>
            <p:spPr>
              <a:xfrm>
                <a:off x="3472146" y="1363877"/>
                <a:ext cx="354114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DF3FA8D-DC19-4F40-8B07-D8E23D230946}"/>
              </a:ext>
            </a:extLst>
          </p:cNvPr>
          <p:cNvGrpSpPr/>
          <p:nvPr/>
        </p:nvGrpSpPr>
        <p:grpSpPr>
          <a:xfrm>
            <a:off x="5621447" y="734706"/>
            <a:ext cx="229824" cy="754571"/>
            <a:chOff x="2994771" y="734705"/>
            <a:chExt cx="229824" cy="754571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B424A8-96DE-3D42-A98B-1539E5271135}"/>
                </a:ext>
              </a:extLst>
            </p:cNvPr>
            <p:cNvSpPr/>
            <p:nvPr/>
          </p:nvSpPr>
          <p:spPr>
            <a:xfrm>
              <a:off x="2994771" y="734705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8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F9B449-8E67-3943-BC09-2E1DD4BDD0D0}"/>
                </a:ext>
              </a:extLst>
            </p:cNvPr>
            <p:cNvGrpSpPr/>
            <p:nvPr/>
          </p:nvGrpSpPr>
          <p:grpSpPr>
            <a:xfrm>
              <a:off x="2994772" y="1119160"/>
              <a:ext cx="229823" cy="370116"/>
              <a:chOff x="3361362" y="1119160"/>
              <a:chExt cx="229823" cy="370116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E63CF81-3DEC-614B-BBF0-63D2E4807976}"/>
                  </a:ext>
                </a:extLst>
              </p:cNvPr>
              <p:cNvSpPr/>
              <p:nvPr/>
            </p:nvSpPr>
            <p:spPr>
              <a:xfrm>
                <a:off x="3361362" y="1119160"/>
                <a:ext cx="229823" cy="224933"/>
              </a:xfrm>
              <a:prstGeom prst="ellipse">
                <a:avLst/>
              </a:prstGeom>
              <a:solidFill>
                <a:srgbClr val="92D050"/>
              </a:solidFill>
              <a:ln w="12700">
                <a:solidFill>
                  <a:schemeClr val="tx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7</a:t>
                </a: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5FDC898-B0A3-B540-A7B9-21FB890B81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76553" y="1315415"/>
                <a:ext cx="0" cy="173861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B039FA-F865-8D45-84D9-45AF73969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7158" y="964182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47C4BE9-3544-2D4D-B7A3-E5FCDF86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05632" y="2010366"/>
            <a:ext cx="2117827" cy="167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12036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3.94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3.94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8" idx="4"/>
                <a:endCxn id="3" idx="0"/>
              </p:cNvCxnSpPr>
              <p:nvPr/>
            </p:nvCxnSpPr>
            <p:spPr>
              <a:xfrm flipH="1">
                <a:off x="3826260" y="1363877"/>
                <a:ext cx="1215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DF3FA8D-DC19-4F40-8B07-D8E23D230946}"/>
              </a:ext>
            </a:extLst>
          </p:cNvPr>
          <p:cNvGrpSpPr/>
          <p:nvPr/>
        </p:nvGrpSpPr>
        <p:grpSpPr>
          <a:xfrm>
            <a:off x="5977804" y="734706"/>
            <a:ext cx="229824" cy="754571"/>
            <a:chOff x="2994771" y="734705"/>
            <a:chExt cx="229824" cy="754571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B424A8-96DE-3D42-A98B-1539E5271135}"/>
                </a:ext>
              </a:extLst>
            </p:cNvPr>
            <p:cNvSpPr/>
            <p:nvPr/>
          </p:nvSpPr>
          <p:spPr>
            <a:xfrm>
              <a:off x="2994771" y="734705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8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F9B449-8E67-3943-BC09-2E1DD4BDD0D0}"/>
                </a:ext>
              </a:extLst>
            </p:cNvPr>
            <p:cNvGrpSpPr/>
            <p:nvPr/>
          </p:nvGrpSpPr>
          <p:grpSpPr>
            <a:xfrm>
              <a:off x="2994772" y="1119160"/>
              <a:ext cx="229823" cy="370116"/>
              <a:chOff x="3361362" y="1119160"/>
              <a:chExt cx="229823" cy="370116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E63CF81-3DEC-614B-BBF0-63D2E4807976}"/>
                  </a:ext>
                </a:extLst>
              </p:cNvPr>
              <p:cNvSpPr/>
              <p:nvPr/>
            </p:nvSpPr>
            <p:spPr>
              <a:xfrm>
                <a:off x="3361362" y="1119160"/>
                <a:ext cx="229823" cy="224933"/>
              </a:xfrm>
              <a:prstGeom prst="ellipse">
                <a:avLst/>
              </a:prstGeom>
              <a:solidFill>
                <a:srgbClr val="92D050"/>
              </a:solidFill>
              <a:ln w="12700">
                <a:solidFill>
                  <a:schemeClr val="tx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7</a:t>
                </a: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5FDC898-B0A3-B540-A7B9-21FB890B81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76553" y="1315415"/>
                <a:ext cx="0" cy="173861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B039FA-F865-8D45-84D9-45AF73969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7158" y="964182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47C4BE9-3544-2D4D-B7A3-E5FCDF86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05632" y="2018375"/>
            <a:ext cx="2117827" cy="165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70089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3.64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3.94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855722" cy="1303844"/>
            <a:chOff x="3402421" y="1363877"/>
            <a:chExt cx="855722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855722" cy="1303844"/>
              <a:chOff x="3402421" y="1363877"/>
              <a:chExt cx="855722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9" idx="4"/>
                <a:endCxn id="3" idx="0"/>
              </p:cNvCxnSpPr>
              <p:nvPr/>
            </p:nvCxnSpPr>
            <p:spPr>
              <a:xfrm flipH="1">
                <a:off x="3826260" y="1363877"/>
                <a:ext cx="368768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DF3FA8D-DC19-4F40-8B07-D8E23D230946}"/>
              </a:ext>
            </a:extLst>
          </p:cNvPr>
          <p:cNvGrpSpPr/>
          <p:nvPr/>
        </p:nvGrpSpPr>
        <p:grpSpPr>
          <a:xfrm>
            <a:off x="6334158" y="734706"/>
            <a:ext cx="229824" cy="754571"/>
            <a:chOff x="2994771" y="734705"/>
            <a:chExt cx="229824" cy="754571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B424A8-96DE-3D42-A98B-1539E5271135}"/>
                </a:ext>
              </a:extLst>
            </p:cNvPr>
            <p:cNvSpPr/>
            <p:nvPr/>
          </p:nvSpPr>
          <p:spPr>
            <a:xfrm>
              <a:off x="2994771" y="734705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8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F9B449-8E67-3943-BC09-2E1DD4BDD0D0}"/>
                </a:ext>
              </a:extLst>
            </p:cNvPr>
            <p:cNvGrpSpPr/>
            <p:nvPr/>
          </p:nvGrpSpPr>
          <p:grpSpPr>
            <a:xfrm>
              <a:off x="2994772" y="1119160"/>
              <a:ext cx="229823" cy="370116"/>
              <a:chOff x="3361362" y="1119160"/>
              <a:chExt cx="229823" cy="370116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E63CF81-3DEC-614B-BBF0-63D2E4807976}"/>
                  </a:ext>
                </a:extLst>
              </p:cNvPr>
              <p:cNvSpPr/>
              <p:nvPr/>
            </p:nvSpPr>
            <p:spPr>
              <a:xfrm>
                <a:off x="3361362" y="1119160"/>
                <a:ext cx="229823" cy="224933"/>
              </a:xfrm>
              <a:prstGeom prst="ellipse">
                <a:avLst/>
              </a:prstGeom>
              <a:solidFill>
                <a:srgbClr val="92D050"/>
              </a:solidFill>
              <a:ln w="12700">
                <a:solidFill>
                  <a:schemeClr val="tx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7</a:t>
                </a: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5FDC898-B0A3-B540-A7B9-21FB890B81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76553" y="1315415"/>
                <a:ext cx="0" cy="173861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B039FA-F865-8D45-84D9-45AF73969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7158" y="964182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47C4BE9-3544-2D4D-B7A3-E5FCDF86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05632" y="2054282"/>
            <a:ext cx="2117827" cy="15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94977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E4057A-ED96-EB43-9739-11A8775C0B15}"/>
              </a:ext>
            </a:extLst>
          </p:cNvPr>
          <p:cNvGrpSpPr/>
          <p:nvPr/>
        </p:nvGrpSpPr>
        <p:grpSpPr>
          <a:xfrm>
            <a:off x="5657166" y="3039538"/>
            <a:ext cx="944489" cy="1563133"/>
            <a:chOff x="4133165" y="3039537"/>
            <a:chExt cx="944489" cy="15631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2CD77DE-C5B4-0548-B1A8-684A00E1500D}"/>
                </a:ext>
              </a:extLst>
            </p:cNvPr>
            <p:cNvGrpSpPr/>
            <p:nvPr/>
          </p:nvGrpSpPr>
          <p:grpSpPr>
            <a:xfrm>
              <a:off x="4133165" y="3858997"/>
              <a:ext cx="944489" cy="743673"/>
              <a:chOff x="3040971" y="3088527"/>
              <a:chExt cx="944489" cy="743673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A9D87CC-BAED-0F49-AFE1-E4158F9F94F1}"/>
                  </a:ext>
                </a:extLst>
              </p:cNvPr>
              <p:cNvCxnSpPr/>
              <p:nvPr/>
            </p:nvCxnSpPr>
            <p:spPr>
              <a:xfrm>
                <a:off x="3513800" y="308852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B96EEC-9980-2A43-880B-B8113A11AFCD}"/>
                  </a:ext>
                </a:extLst>
              </p:cNvPr>
              <p:cNvSpPr txBox="1"/>
              <p:nvPr/>
            </p:nvSpPr>
            <p:spPr>
              <a:xfrm>
                <a:off x="3040971" y="3462868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 &gt; </a:t>
                </a:r>
                <a:r>
                  <a:rPr lang="en-US" dirty="0" err="1">
                    <a:latin typeface="Gill Sans MT" panose="020B0502020104020203" pitchFamily="34" charset="77"/>
                  </a:rPr>
                  <a:t>J</a:t>
                </a:r>
                <a:r>
                  <a:rPr lang="en-US" baseline="-25000" dirty="0" err="1">
                    <a:latin typeface="Gill Sans MT" panose="020B0502020104020203" pitchFamily="34" charset="77"/>
                  </a:rPr>
                  <a:t>max</a:t>
                </a:r>
                <a:r>
                  <a:rPr lang="en-US" baseline="-25000" dirty="0">
                    <a:latin typeface="Gill Sans MT" panose="020B0502020104020203" pitchFamily="34" charset="77"/>
                  </a:rPr>
                  <a:t> </a:t>
                </a:r>
                <a:r>
                  <a:rPr lang="en-US" dirty="0">
                    <a:latin typeface="Gill Sans MT" panose="020B0502020104020203" pitchFamily="34" charset="77"/>
                  </a:rPr>
                  <a:t>?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8C6633B-046B-244A-8297-D28A6DE1184C}"/>
                </a:ext>
              </a:extLst>
            </p:cNvPr>
            <p:cNvGrpSpPr/>
            <p:nvPr/>
          </p:nvGrpSpPr>
          <p:grpSpPr>
            <a:xfrm>
              <a:off x="4290223" y="3039537"/>
              <a:ext cx="593432" cy="763298"/>
              <a:chOff x="3223423" y="2269067"/>
              <a:chExt cx="593432" cy="76329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D046E1AC-4804-CE41-8ADF-31FED32B27F6}"/>
                  </a:ext>
                </a:extLst>
              </p:cNvPr>
              <p:cNvCxnSpPr/>
              <p:nvPr/>
            </p:nvCxnSpPr>
            <p:spPr>
              <a:xfrm>
                <a:off x="3511630" y="2274737"/>
                <a:ext cx="3218" cy="278309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8A785A2-C575-F04E-B3BC-F6E487316726}"/>
                  </a:ext>
                </a:extLst>
              </p:cNvPr>
              <p:cNvSpPr txBox="1"/>
              <p:nvPr/>
            </p:nvSpPr>
            <p:spPr>
              <a:xfrm>
                <a:off x="3251199" y="2269067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J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F89B38-D11F-F246-9C2F-76045772A5C8}"/>
                  </a:ext>
                </a:extLst>
              </p:cNvPr>
              <p:cNvSpPr txBox="1"/>
              <p:nvPr/>
            </p:nvSpPr>
            <p:spPr>
              <a:xfrm>
                <a:off x="3223423" y="2663033"/>
                <a:ext cx="593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3.72</a:t>
                </a:r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ADB93B-B1F3-454F-874A-D6D7EC8124CF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3136B1-9278-B14B-8ED9-F956CCC9B1E3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925CCE-8C01-314D-9F36-1F221FE1A8F9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3.94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3F1D27-2129-D24A-9E52-2711A010B39B}"/>
              </a:ext>
            </a:extLst>
          </p:cNvPr>
          <p:cNvGrpSpPr/>
          <p:nvPr/>
        </p:nvGrpSpPr>
        <p:grpSpPr>
          <a:xfrm>
            <a:off x="3498344" y="1888071"/>
            <a:ext cx="2973454" cy="2947697"/>
            <a:chOff x="1974344" y="1888070"/>
            <a:chExt cx="2973454" cy="2947697"/>
          </a:xfrm>
        </p:grpSpPr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3507387C-DF90-A94A-A307-31795DB03CF6}"/>
                </a:ext>
              </a:extLst>
            </p:cNvPr>
            <p:cNvCxnSpPr>
              <a:stCxn id="36" idx="2"/>
              <a:endCxn id="17" idx="2"/>
            </p:cNvCxnSpPr>
            <p:nvPr/>
          </p:nvCxnSpPr>
          <p:spPr>
            <a:xfrm rot="5400000" flipH="1">
              <a:off x="1932577" y="1929837"/>
              <a:ext cx="2714600" cy="2631066"/>
            </a:xfrm>
            <a:prstGeom prst="bentConnector3">
              <a:avLst>
                <a:gd name="adj1" fmla="val -8421"/>
              </a:avLst>
            </a:prstGeom>
            <a:ln w="12700"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80A37EE-FBCE-6B4B-B3D5-D8DEF97A569E}"/>
                </a:ext>
              </a:extLst>
            </p:cNvPr>
            <p:cNvSpPr txBox="1"/>
            <p:nvPr/>
          </p:nvSpPr>
          <p:spPr>
            <a:xfrm>
              <a:off x="4591610" y="4589546"/>
              <a:ext cx="3561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yes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32E55B-B634-B747-9A91-CFD3BA61BE46}"/>
              </a:ext>
            </a:extLst>
          </p:cNvPr>
          <p:cNvGrpSpPr/>
          <p:nvPr/>
        </p:nvGrpSpPr>
        <p:grpSpPr>
          <a:xfrm>
            <a:off x="5668912" y="1714209"/>
            <a:ext cx="1895266" cy="1303844"/>
            <a:chOff x="3402421" y="1363877"/>
            <a:chExt cx="1895266" cy="130384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365735-74EB-C747-9260-45B2C1EF3CB9}"/>
                </a:ext>
              </a:extLst>
            </p:cNvPr>
            <p:cNvSpPr/>
            <p:nvPr/>
          </p:nvSpPr>
          <p:spPr>
            <a:xfrm>
              <a:off x="3803400" y="1980117"/>
              <a:ext cx="45719" cy="53789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C5E7966-3344-DC42-8E10-F7993D87919F}"/>
                </a:ext>
              </a:extLst>
            </p:cNvPr>
            <p:cNvGrpSpPr/>
            <p:nvPr/>
          </p:nvGrpSpPr>
          <p:grpSpPr>
            <a:xfrm>
              <a:off x="3402421" y="1363877"/>
              <a:ext cx="1895266" cy="1303844"/>
              <a:chOff x="3402421" y="1363877"/>
              <a:chExt cx="1895266" cy="130384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447120E-5B8B-1B4B-B2D3-B175551D4B60}"/>
                  </a:ext>
                </a:extLst>
              </p:cNvPr>
              <p:cNvSpPr/>
              <p:nvPr/>
            </p:nvSpPr>
            <p:spPr>
              <a:xfrm>
                <a:off x="3402421" y="2325432"/>
                <a:ext cx="855722" cy="34228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score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C74CF54-AC49-EE47-A8A7-E4D31598A65D}"/>
                  </a:ext>
                </a:extLst>
              </p:cNvPr>
              <p:cNvCxnSpPr>
                <a:cxnSpLocks/>
                <a:endCxn id="2" idx="0"/>
              </p:cNvCxnSpPr>
              <p:nvPr/>
            </p:nvCxnSpPr>
            <p:spPr>
              <a:xfrm>
                <a:off x="3829509" y="2056816"/>
                <a:ext cx="773" cy="268616"/>
              </a:xfrm>
              <a:prstGeom prst="straightConnector1">
                <a:avLst/>
              </a:prstGeom>
              <a:ln w="6350">
                <a:tailEnd type="triangl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1C416CF-17CE-0644-A7FC-1B6B30918FF7}"/>
                  </a:ext>
                </a:extLst>
              </p:cNvPr>
              <p:cNvCxnSpPr>
                <a:cxnSpLocks/>
                <a:stCxn id="12" idx="4"/>
                <a:endCxn id="3" idx="0"/>
              </p:cNvCxnSpPr>
              <p:nvPr/>
            </p:nvCxnSpPr>
            <p:spPr>
              <a:xfrm flipH="1">
                <a:off x="3826260" y="1363877"/>
                <a:ext cx="1471427" cy="616240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DF3FA8D-DC19-4F40-8B07-D8E23D230946}"/>
              </a:ext>
            </a:extLst>
          </p:cNvPr>
          <p:cNvGrpSpPr/>
          <p:nvPr/>
        </p:nvGrpSpPr>
        <p:grpSpPr>
          <a:xfrm>
            <a:off x="7430097" y="734706"/>
            <a:ext cx="229824" cy="754571"/>
            <a:chOff x="2994771" y="734705"/>
            <a:chExt cx="229824" cy="754571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B424A8-96DE-3D42-A98B-1539E5271135}"/>
                </a:ext>
              </a:extLst>
            </p:cNvPr>
            <p:cNvSpPr/>
            <p:nvPr/>
          </p:nvSpPr>
          <p:spPr>
            <a:xfrm>
              <a:off x="2994771" y="734705"/>
              <a:ext cx="229823" cy="224933"/>
            </a:xfrm>
            <a:prstGeom prst="ellipse">
              <a:avLst/>
            </a:prstGeom>
            <a:solidFill>
              <a:srgbClr val="92D050"/>
            </a:solidFill>
            <a:ln w="127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Gill Sans MT" panose="020B0502020104020203" pitchFamily="34" charset="77"/>
                </a:rPr>
                <a:t>8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3F9B449-8E67-3943-BC09-2E1DD4BDD0D0}"/>
                </a:ext>
              </a:extLst>
            </p:cNvPr>
            <p:cNvGrpSpPr/>
            <p:nvPr/>
          </p:nvGrpSpPr>
          <p:grpSpPr>
            <a:xfrm>
              <a:off x="2994772" y="1119160"/>
              <a:ext cx="229823" cy="370116"/>
              <a:chOff x="3361362" y="1119160"/>
              <a:chExt cx="229823" cy="370116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E63CF81-3DEC-614B-BBF0-63D2E4807976}"/>
                  </a:ext>
                </a:extLst>
              </p:cNvPr>
              <p:cNvSpPr/>
              <p:nvPr/>
            </p:nvSpPr>
            <p:spPr>
              <a:xfrm>
                <a:off x="3361362" y="1119160"/>
                <a:ext cx="229823" cy="224933"/>
              </a:xfrm>
              <a:prstGeom prst="ellipse">
                <a:avLst/>
              </a:prstGeom>
              <a:solidFill>
                <a:srgbClr val="92D050"/>
              </a:solidFill>
              <a:ln w="12700">
                <a:solidFill>
                  <a:schemeClr val="tx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Gill Sans MT" panose="020B0502020104020203" pitchFamily="34" charset="77"/>
                  </a:rPr>
                  <a:t>7</a:t>
                </a: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5FDC898-B0A3-B540-A7B9-21FB890B81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76553" y="1315415"/>
                <a:ext cx="0" cy="173861"/>
              </a:xfrm>
              <a:prstGeom prst="line">
                <a:avLst/>
              </a:prstGeom>
              <a:ln w="6350"/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B039FA-F865-8D45-84D9-45AF73969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7158" y="964182"/>
              <a:ext cx="0" cy="173861"/>
            </a:xfrm>
            <a:prstGeom prst="line">
              <a:avLst/>
            </a:prstGeom>
            <a:ln w="635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47C4BE9-3544-2D4D-B7A3-E5FCDF8647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46905" y="2054282"/>
            <a:ext cx="2035281" cy="15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6172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29DACA-DC6B-064A-BE80-E2C75FCE6400}"/>
              </a:ext>
            </a:extLst>
          </p:cNvPr>
          <p:cNvSpPr/>
          <p:nvPr/>
        </p:nvSpPr>
        <p:spPr>
          <a:xfrm>
            <a:off x="45210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ABDA32-7802-C740-9B6E-E2D44B2CBABD}"/>
              </a:ext>
            </a:extLst>
          </p:cNvPr>
          <p:cNvSpPr/>
          <p:nvPr/>
        </p:nvSpPr>
        <p:spPr>
          <a:xfrm>
            <a:off x="4888620" y="1489277"/>
            <a:ext cx="229823" cy="2249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46889C-5E09-8B45-90B2-1C1403C5E4E1}"/>
              </a:ext>
            </a:extLst>
          </p:cNvPr>
          <p:cNvSpPr/>
          <p:nvPr/>
        </p:nvSpPr>
        <p:spPr>
          <a:xfrm>
            <a:off x="5256173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2F73FF-BCBB-9C40-9C2F-A4098EDCEFEB}"/>
              </a:ext>
            </a:extLst>
          </p:cNvPr>
          <p:cNvSpPr/>
          <p:nvPr/>
        </p:nvSpPr>
        <p:spPr>
          <a:xfrm>
            <a:off x="5623726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580FE2C-81A2-C347-A10D-D1627749D287}"/>
              </a:ext>
            </a:extLst>
          </p:cNvPr>
          <p:cNvSpPr/>
          <p:nvPr/>
        </p:nvSpPr>
        <p:spPr>
          <a:xfrm>
            <a:off x="5979055" y="1489277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7DF04E-3F03-A549-A99F-CF52B49939F0}"/>
              </a:ext>
            </a:extLst>
          </p:cNvPr>
          <p:cNvSpPr/>
          <p:nvPr/>
        </p:nvSpPr>
        <p:spPr>
          <a:xfrm>
            <a:off x="6346608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94DD6B-0DB3-6F42-B17C-D15FFE6A50F4}"/>
              </a:ext>
            </a:extLst>
          </p:cNvPr>
          <p:cNvSpPr/>
          <p:nvPr/>
        </p:nvSpPr>
        <p:spPr>
          <a:xfrm>
            <a:off x="7449267" y="1489277"/>
            <a:ext cx="229823" cy="22493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9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AB424A8-96DE-3D42-A98B-1539E5271135}"/>
              </a:ext>
            </a:extLst>
          </p:cNvPr>
          <p:cNvSpPr/>
          <p:nvPr/>
        </p:nvSpPr>
        <p:spPr>
          <a:xfrm>
            <a:off x="7430098" y="734706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8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63CF81-3DEC-614B-BBF0-63D2E4807976}"/>
              </a:ext>
            </a:extLst>
          </p:cNvPr>
          <p:cNvSpPr/>
          <p:nvPr/>
        </p:nvSpPr>
        <p:spPr>
          <a:xfrm>
            <a:off x="7430099" y="1119161"/>
            <a:ext cx="229823" cy="224933"/>
          </a:xfrm>
          <a:prstGeom prst="ellipse">
            <a:avLst/>
          </a:prstGeom>
          <a:solidFill>
            <a:srgbClr val="92D050"/>
          </a:solidFill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ill Sans MT" panose="020B0502020104020203" pitchFamily="34" charset="77"/>
              </a:rPr>
              <a:t>7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8ECE214-7B3B-BF41-B2DF-9E27519F797E}"/>
              </a:ext>
            </a:extLst>
          </p:cNvPr>
          <p:cNvGrpSpPr/>
          <p:nvPr/>
        </p:nvGrpSpPr>
        <p:grpSpPr>
          <a:xfrm>
            <a:off x="2887135" y="1320804"/>
            <a:ext cx="1267368" cy="567267"/>
            <a:chOff x="67733" y="550333"/>
            <a:chExt cx="1267368" cy="567267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E38500A-1371-C444-89FC-B21E07A960B6}"/>
                </a:ext>
              </a:extLst>
            </p:cNvPr>
            <p:cNvSpPr/>
            <p:nvPr/>
          </p:nvSpPr>
          <p:spPr>
            <a:xfrm>
              <a:off x="67733" y="550333"/>
              <a:ext cx="1222417" cy="56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C289BAF-F9AA-F449-A11E-9CE939EDCB22}"/>
                </a:ext>
              </a:extLst>
            </p:cNvPr>
            <p:cNvSpPr txBox="1"/>
            <p:nvPr/>
          </p:nvSpPr>
          <p:spPr>
            <a:xfrm>
              <a:off x="106880" y="638139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</a:rPr>
                <a:t>J</a:t>
              </a:r>
              <a:r>
                <a:rPr lang="en-US" baseline="-25000" dirty="0" err="1">
                  <a:latin typeface="Gill Sans MT" panose="020B0502020104020203" pitchFamily="34" charset="77"/>
                </a:rPr>
                <a:t>max</a:t>
              </a:r>
              <a:r>
                <a:rPr lang="en-US" dirty="0">
                  <a:latin typeface="Gill Sans MT" panose="020B0502020104020203" pitchFamily="34" charset="77"/>
                </a:rPr>
                <a:t> =  3.94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5272323-7CFE-5D44-AD9A-51B1F99D8C33}"/>
              </a:ext>
            </a:extLst>
          </p:cNvPr>
          <p:cNvSpPr txBox="1"/>
          <p:nvPr/>
        </p:nvSpPr>
        <p:spPr>
          <a:xfrm>
            <a:off x="1982978" y="4338918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Características seleccionadas</a:t>
            </a:r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AB6B1DC-E73A-604A-8E7D-9B73C3267B77}"/>
              </a:ext>
            </a:extLst>
          </p:cNvPr>
          <p:cNvGrpSpPr/>
          <p:nvPr/>
        </p:nvGrpSpPr>
        <p:grpSpPr>
          <a:xfrm>
            <a:off x="4618075" y="2690434"/>
            <a:ext cx="2163395" cy="1672467"/>
            <a:chOff x="3094074" y="2690433"/>
            <a:chExt cx="2163395" cy="1672467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40AE3B8-4BC0-D04C-A12B-9781E562BB27}"/>
                </a:ext>
              </a:extLst>
            </p:cNvPr>
            <p:cNvCxnSpPr/>
            <p:nvPr/>
          </p:nvCxnSpPr>
          <p:spPr>
            <a:xfrm flipV="1">
              <a:off x="3496008" y="3115345"/>
              <a:ext cx="0" cy="124401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AA059758-477E-1C48-9904-B6B52CD5555A}"/>
                </a:ext>
              </a:extLst>
            </p:cNvPr>
            <p:cNvCxnSpPr>
              <a:cxnSpLocks/>
            </p:cNvCxnSpPr>
            <p:nvPr/>
          </p:nvCxnSpPr>
          <p:spPr>
            <a:xfrm>
              <a:off x="3496008" y="4362900"/>
              <a:ext cx="176146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15D8AEB-74F4-DB4A-A608-860BE89D5305}"/>
                </a:ext>
              </a:extLst>
            </p:cNvPr>
            <p:cNvSpPr/>
            <p:nvPr/>
          </p:nvSpPr>
          <p:spPr>
            <a:xfrm>
              <a:off x="3777482" y="3774562"/>
              <a:ext cx="229777" cy="570607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B2B4DF21-FE20-3F47-8272-78B4CDCDF83F}"/>
                </a:ext>
              </a:extLst>
            </p:cNvPr>
            <p:cNvSpPr/>
            <p:nvPr/>
          </p:nvSpPr>
          <p:spPr>
            <a:xfrm>
              <a:off x="4105319" y="3101160"/>
              <a:ext cx="248932" cy="12440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EDC07FF-31E6-564D-AED4-83BFEED4D283}"/>
                </a:ext>
              </a:extLst>
            </p:cNvPr>
            <p:cNvSpPr/>
            <p:nvPr/>
          </p:nvSpPr>
          <p:spPr>
            <a:xfrm>
              <a:off x="4435945" y="2955856"/>
              <a:ext cx="248932" cy="138784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4495CB-66DC-F24A-A40F-7B6565EE6296}"/>
                </a:ext>
              </a:extLst>
            </p:cNvPr>
            <p:cNvSpPr txBox="1"/>
            <p:nvPr/>
          </p:nvSpPr>
          <p:spPr>
            <a:xfrm>
              <a:off x="3094074" y="2955852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J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08B29D8-AB28-7B45-82AA-BB12C4166D3A}"/>
                </a:ext>
              </a:extLst>
            </p:cNvPr>
            <p:cNvSpPr txBox="1"/>
            <p:nvPr/>
          </p:nvSpPr>
          <p:spPr>
            <a:xfrm>
              <a:off x="4376738" y="2690433"/>
              <a:ext cx="41389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3.94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4B8BC41-D36E-8B4B-B475-E473C7521A63}"/>
                </a:ext>
              </a:extLst>
            </p:cNvPr>
            <p:cNvSpPr txBox="1"/>
            <p:nvPr/>
          </p:nvSpPr>
          <p:spPr>
            <a:xfrm>
              <a:off x="4018770" y="2842833"/>
              <a:ext cx="41389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3.63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F54666E-EDFC-1246-93A3-D5E748501325}"/>
                </a:ext>
              </a:extLst>
            </p:cNvPr>
            <p:cNvSpPr txBox="1"/>
            <p:nvPr/>
          </p:nvSpPr>
          <p:spPr>
            <a:xfrm>
              <a:off x="3682066" y="3548128"/>
              <a:ext cx="41389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Gill Sans MT" panose="020B0502020104020203" pitchFamily="34" charset="77"/>
                </a:rPr>
                <a:t>1.47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52112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5 -0.00324 L -0.17435 0.48704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815" y="245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3.7037E-7 L -0.1457 0.5419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292" y="2708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-4.81481E-6 L 0.00026 0.43264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216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0" grpId="0" animBg="1"/>
      <p:bldP spid="19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90EF4CB-20AC-5C4E-B63E-2326C11DDE29}"/>
              </a:ext>
            </a:extLst>
          </p:cNvPr>
          <p:cNvSpPr txBox="1"/>
          <p:nvPr/>
        </p:nvSpPr>
        <p:spPr>
          <a:xfrm>
            <a:off x="1732421" y="1432380"/>
            <a:ext cx="10953640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   = [ ]  		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selected features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   = ones(m,1)  	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the m features are available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Jmax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0		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initialization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for j = 1 to p         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 features to be selected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for k = 1 to m      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X has m features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if a(k)  ==  1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is feature k available?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[s, k]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columns of X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J = score(X(st,:),d)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evaluation of the score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if J&gt;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Jmax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k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Jmax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J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update maximum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	end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	end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end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a(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0	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selected feature is no available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s = [s,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kmax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					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update selected features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1AE79-787E-E745-875F-E701FB8B5165}"/>
              </a:ext>
            </a:extLst>
          </p:cNvPr>
          <p:cNvSpPr txBox="1"/>
          <p:nvPr/>
        </p:nvSpPr>
        <p:spPr>
          <a:xfrm>
            <a:off x="2050916" y="510363"/>
            <a:ext cx="27798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Gill Sans MT" panose="020B0502020104020203" pitchFamily="34" charset="77"/>
              </a:rPr>
              <a:t>SFS Algorithm</a:t>
            </a:r>
          </a:p>
        </p:txBody>
      </p:sp>
    </p:spTree>
    <p:extLst>
      <p:ext uri="{BB962C8B-B14F-4D97-AF65-F5344CB8AC3E}">
        <p14:creationId xmlns:p14="http://schemas.microsoft.com/office/powerpoint/2010/main" val="59937064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895F5-5CAA-2A73-E02C-EA7C20DB9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48EE129-D4B0-2FA1-609A-3A2693C85B5F}"/>
              </a:ext>
            </a:extLst>
          </p:cNvPr>
          <p:cNvSpPr txBox="1"/>
          <p:nvPr/>
        </p:nvSpPr>
        <p:spPr>
          <a:xfrm>
            <a:off x="2537173" y="1228397"/>
            <a:ext cx="718177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Métodos</a:t>
            </a:r>
            <a:r>
              <a:rPr lang="en-US" sz="4800" dirty="0">
                <a:solidFill>
                  <a:schemeClr val="accent2"/>
                </a:solidFill>
                <a:latin typeface="Gill Sans MT" panose="020B0502020104020203" pitchFamily="34" charset="77"/>
              </a:rPr>
              <a:t> de </a:t>
            </a:r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Selección</a:t>
            </a:r>
            <a:endParaRPr lang="en-US" sz="4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algn="ctr"/>
            <a:endParaRPr lang="en-US" sz="4000" dirty="0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Exhaustiva</a:t>
            </a:r>
            <a:endParaRPr lang="en-US" sz="4000" dirty="0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SFS (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hacia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adelante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)</a:t>
            </a:r>
          </a:p>
          <a:p>
            <a:pPr marL="742950" indent="-742950">
              <a:buAutoNum type="arabicPeriod"/>
            </a:pPr>
            <a:r>
              <a:rPr lang="en-US" sz="4000" dirty="0">
                <a:latin typeface="Gill Sans MT" panose="020B0502020104020203" pitchFamily="34" charset="77"/>
              </a:rPr>
              <a:t>SBS (</a:t>
            </a:r>
            <a:r>
              <a:rPr lang="en-US" sz="4000" dirty="0" err="1"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latin typeface="Gill Sans MT" panose="020B0502020104020203" pitchFamily="34" charset="77"/>
              </a:rPr>
              <a:t>hacia</a:t>
            </a:r>
            <a:r>
              <a:rPr lang="en-US" sz="4000" dirty="0">
                <a:latin typeface="Gill Sans MT" panose="020B0502020104020203" pitchFamily="34" charset="77"/>
              </a:rPr>
              <a:t> atrás)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Plus r Take Away s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Branch &amp; Bound</a:t>
            </a:r>
          </a:p>
        </p:txBody>
      </p:sp>
    </p:spTree>
    <p:extLst>
      <p:ext uri="{BB962C8B-B14F-4D97-AF65-F5344CB8AC3E}">
        <p14:creationId xmlns:p14="http://schemas.microsoft.com/office/powerpoint/2010/main" val="345269680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2E92C-6331-8BF8-B110-A4787CEB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762B90-32BF-99F7-1591-04F417DE8D94}"/>
              </a:ext>
            </a:extLst>
          </p:cNvPr>
          <p:cNvSpPr txBox="1"/>
          <p:nvPr/>
        </p:nvSpPr>
        <p:spPr>
          <a:xfrm>
            <a:off x="2537173" y="1228397"/>
            <a:ext cx="718177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Métodos</a:t>
            </a:r>
            <a:r>
              <a:rPr lang="en-US" sz="4800" dirty="0">
                <a:solidFill>
                  <a:schemeClr val="accent2"/>
                </a:solidFill>
                <a:latin typeface="Gill Sans MT" panose="020B0502020104020203" pitchFamily="34" charset="77"/>
              </a:rPr>
              <a:t> de </a:t>
            </a:r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Selección</a:t>
            </a:r>
            <a:endParaRPr lang="en-US" sz="4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algn="ctr"/>
            <a:endParaRPr lang="en-US" sz="4000" dirty="0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Exhaustiva</a:t>
            </a:r>
            <a:endParaRPr lang="en-US" sz="4000" dirty="0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SFS (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hacia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adelante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)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SBS (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hacia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atrás)</a:t>
            </a:r>
          </a:p>
          <a:p>
            <a:pPr marL="742950" indent="-742950">
              <a:buAutoNum type="arabicPeriod"/>
            </a:pPr>
            <a:r>
              <a:rPr lang="en-US" sz="4000" dirty="0">
                <a:latin typeface="Gill Sans MT" panose="020B0502020104020203" pitchFamily="34" charset="77"/>
              </a:rPr>
              <a:t>Plus r Take Away s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Branch &amp; Bound</a:t>
            </a:r>
          </a:p>
        </p:txBody>
      </p:sp>
    </p:spTree>
    <p:extLst>
      <p:ext uri="{BB962C8B-B14F-4D97-AF65-F5344CB8AC3E}">
        <p14:creationId xmlns:p14="http://schemas.microsoft.com/office/powerpoint/2010/main" val="4886011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6F1F3-65C3-2563-BEDE-2B130021E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191732-44CB-8E7D-770D-DAE881C4C9D3}"/>
              </a:ext>
            </a:extLst>
          </p:cNvPr>
          <p:cNvSpPr txBox="1"/>
          <p:nvPr/>
        </p:nvSpPr>
        <p:spPr>
          <a:xfrm>
            <a:off x="2537173" y="1228397"/>
            <a:ext cx="718177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Métodos</a:t>
            </a:r>
            <a:r>
              <a:rPr lang="en-US" sz="4800" dirty="0">
                <a:solidFill>
                  <a:schemeClr val="accent2"/>
                </a:solidFill>
                <a:latin typeface="Gill Sans MT" panose="020B0502020104020203" pitchFamily="34" charset="77"/>
              </a:rPr>
              <a:t> de </a:t>
            </a:r>
            <a:r>
              <a:rPr lang="en-US" sz="48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Selección</a:t>
            </a:r>
            <a:endParaRPr lang="en-US" sz="4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algn="ctr"/>
            <a:endParaRPr lang="en-US" sz="4000" dirty="0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Exhaustiva</a:t>
            </a:r>
            <a:endParaRPr lang="en-US" sz="4000" dirty="0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SFS (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hacia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adelante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)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SBS (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búsqueda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  <a:r>
              <a:rPr lang="en-US" sz="4000" dirty="0" err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hacia</a:t>
            </a: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atrás)</a:t>
            </a:r>
          </a:p>
          <a:p>
            <a:pPr marL="742950" indent="-742950">
              <a:buAutoNum type="arabicPeriod"/>
            </a:pPr>
            <a:r>
              <a:rPr lang="en-US" sz="4000" dirty="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Plus r Take Away s</a:t>
            </a:r>
          </a:p>
          <a:p>
            <a:pPr marL="742950" indent="-742950">
              <a:buAutoNum type="arabicPeriod"/>
            </a:pPr>
            <a:r>
              <a:rPr lang="en-US" sz="4000" dirty="0">
                <a:latin typeface="Gill Sans MT" panose="020B0502020104020203" pitchFamily="34" charset="77"/>
              </a:rPr>
              <a:t>Branch &amp; Bound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693D16-BDDD-E190-5B0B-5536830E68C8}"/>
              </a:ext>
            </a:extLst>
          </p:cNvPr>
          <p:cNvSpPr txBox="1"/>
          <p:nvPr/>
        </p:nvSpPr>
        <p:spPr>
          <a:xfrm rot="2025845">
            <a:off x="7323724" y="5103489"/>
            <a:ext cx="233096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de 5 </a:t>
            </a:r>
            <a:r>
              <a:rPr lang="en-US" sz="2000" dirty="0" err="1">
                <a:solidFill>
                  <a:srgbClr val="0432FF"/>
                </a:solidFill>
                <a:latin typeface="Gill Sans MT" panose="020B0502020104020203" pitchFamily="34" charset="77"/>
              </a:rPr>
              <a:t>características</a:t>
            </a:r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, </a:t>
            </a:r>
            <a:r>
              <a:rPr lang="en-US" sz="2000" dirty="0" err="1">
                <a:solidFill>
                  <a:srgbClr val="0432FF"/>
                </a:solidFill>
                <a:latin typeface="Gill Sans MT" panose="020B0502020104020203" pitchFamily="34" charset="77"/>
              </a:rPr>
              <a:t>seleccionar</a:t>
            </a:r>
            <a:r>
              <a:rPr lang="en-US" sz="2000" dirty="0">
                <a:solidFill>
                  <a:srgbClr val="0432FF"/>
                </a:solidFill>
                <a:latin typeface="Gill Sans MT" panose="020B0502020104020203" pitchFamily="34" charset="77"/>
              </a:rPr>
              <a:t> 3</a:t>
            </a:r>
            <a:endParaRPr lang="en-CL" sz="2000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021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F08C-6948-4980-376F-514BC9A1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B7FAC270-B8E9-950C-0C53-6E8BAB862420}"/>
              </a:ext>
            </a:extLst>
          </p:cNvPr>
          <p:cNvSpPr txBox="1"/>
          <p:nvPr/>
        </p:nvSpPr>
        <p:spPr>
          <a:xfrm>
            <a:off x="3527451" y="960476"/>
            <a:ext cx="83413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m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E2513F-22E4-8F3A-1CE1-A7818C1D1766}"/>
              </a:ext>
            </a:extLst>
          </p:cNvPr>
          <p:cNvSpPr txBox="1"/>
          <p:nvPr/>
        </p:nvSpPr>
        <p:spPr>
          <a:xfrm>
            <a:off x="9217075" y="972961"/>
            <a:ext cx="800476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p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FB9148-5866-912A-E476-EA3EFCD6CCEC}"/>
              </a:ext>
            </a:extLst>
          </p:cNvPr>
          <p:cNvCxnSpPr/>
          <p:nvPr/>
        </p:nvCxnSpPr>
        <p:spPr>
          <a:xfrm>
            <a:off x="2389020" y="17203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7CBDFF-4429-B2DE-E86F-FE06BBB0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255457"/>
              </p:ext>
            </p:extLst>
          </p:nvPr>
        </p:nvGraphicFramePr>
        <p:xfrm>
          <a:off x="3131910" y="1423120"/>
          <a:ext cx="1488820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4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5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AF2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2298DD-927C-92E7-9EFD-6B523EA0AEBF}"/>
              </a:ext>
            </a:extLst>
          </p:cNvPr>
          <p:cNvGraphicFramePr>
            <a:graphicFrameLocks noGrp="1"/>
          </p:cNvGraphicFramePr>
          <p:nvPr/>
        </p:nvGraphicFramePr>
        <p:xfrm>
          <a:off x="9186050" y="1423120"/>
          <a:ext cx="893292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1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2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3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493E676D-1602-93F0-9DC6-1434E2A04633}"/>
              </a:ext>
            </a:extLst>
          </p:cNvPr>
          <p:cNvSpPr/>
          <p:nvPr/>
        </p:nvSpPr>
        <p:spPr>
          <a:xfrm>
            <a:off x="3554966" y="609046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07B65A4-130F-03BB-16FC-69D2973D4ADB}"/>
              </a:ext>
            </a:extLst>
          </p:cNvPr>
          <p:cNvSpPr/>
          <p:nvPr/>
        </p:nvSpPr>
        <p:spPr>
          <a:xfrm>
            <a:off x="4153406" y="608799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5F9BD21-2844-EBF4-CA5A-D7C8F6CAA95A}"/>
              </a:ext>
            </a:extLst>
          </p:cNvPr>
          <p:cNvSpPr/>
          <p:nvPr/>
        </p:nvSpPr>
        <p:spPr>
          <a:xfrm>
            <a:off x="4444302" y="609171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C388E09-7EF0-5826-DB75-EE661BD32CED}"/>
              </a:ext>
            </a:extLst>
          </p:cNvPr>
          <p:cNvSpPr/>
          <p:nvPr/>
        </p:nvSpPr>
        <p:spPr>
          <a:xfrm>
            <a:off x="9903611" y="608923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03BBF1-A080-681C-6FD3-74A4910FCEBD}"/>
              </a:ext>
            </a:extLst>
          </p:cNvPr>
          <p:cNvSpPr/>
          <p:nvPr/>
        </p:nvSpPr>
        <p:spPr>
          <a:xfrm>
            <a:off x="9609971" y="609295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0835F26-8C99-0AB3-BB05-CC812AAEDF47}"/>
              </a:ext>
            </a:extLst>
          </p:cNvPr>
          <p:cNvSpPr/>
          <p:nvPr/>
        </p:nvSpPr>
        <p:spPr>
          <a:xfrm>
            <a:off x="9316331" y="609048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7AEC74EF-8918-CC70-99AF-831A2BBAE3B3}"/>
              </a:ext>
            </a:extLst>
          </p:cNvPr>
          <p:cNvCxnSpPr>
            <a:stCxn id="18" idx="4"/>
            <a:endCxn id="19" idx="4"/>
          </p:cNvCxnSpPr>
          <p:nvPr/>
        </p:nvCxnSpPr>
        <p:spPr>
          <a:xfrm rot="5400000" flipH="1" flipV="1">
            <a:off x="7195578" y="3406538"/>
            <a:ext cx="2475" cy="5459309"/>
          </a:xfrm>
          <a:prstGeom prst="bentConnector3">
            <a:avLst>
              <a:gd name="adj1" fmla="val -5038020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99FD53B3-82E4-2BA6-3B4F-D5AFD62F098C}"/>
              </a:ext>
            </a:extLst>
          </p:cNvPr>
          <p:cNvCxnSpPr>
            <a:stCxn id="17" idx="4"/>
            <a:endCxn id="20" idx="4"/>
          </p:cNvCxnSpPr>
          <p:nvPr/>
        </p:nvCxnSpPr>
        <p:spPr>
          <a:xfrm rot="16200000" flipH="1">
            <a:off x="6902066" y="3407909"/>
            <a:ext cx="4965" cy="5456565"/>
          </a:xfrm>
          <a:prstGeom prst="bentConnector3">
            <a:avLst>
              <a:gd name="adj1" fmla="val 449476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FA8668C-3770-523F-89AD-7EF7588AC669}"/>
              </a:ext>
            </a:extLst>
          </p:cNvPr>
          <p:cNvSpPr txBox="1"/>
          <p:nvPr/>
        </p:nvSpPr>
        <p:spPr>
          <a:xfrm>
            <a:off x="1979842" y="3503658"/>
            <a:ext cx="81785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ACFCA58-6F39-C4F9-7458-439BBA1D0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09" y="5773342"/>
            <a:ext cx="368300" cy="317500"/>
          </a:xfrm>
          <a:prstGeom prst="rect">
            <a:avLst/>
          </a:prstGeom>
        </p:spPr>
      </p:pic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27C438C-20B4-62F8-DCE8-DFFAEE179C13}"/>
              </a:ext>
            </a:extLst>
          </p:cNvPr>
          <p:cNvCxnSpPr/>
          <p:nvPr/>
        </p:nvCxnSpPr>
        <p:spPr>
          <a:xfrm>
            <a:off x="8609052" y="17376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3A48E11-FBC5-C6D5-7D86-1FCFF05FF305}"/>
              </a:ext>
            </a:extLst>
          </p:cNvPr>
          <p:cNvSpPr txBox="1"/>
          <p:nvPr/>
        </p:nvSpPr>
        <p:spPr>
          <a:xfrm>
            <a:off x="8199874" y="3520958"/>
            <a:ext cx="81785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>
                <a:latin typeface="Gill Sans MT" panose="020B0502020104020203" pitchFamily="34" charset="77"/>
              </a:rPr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0D19899-868F-3530-CD93-84ADCAC62A1B}"/>
              </a:ext>
            </a:extLst>
          </p:cNvPr>
          <p:cNvCxnSpPr>
            <a:cxnSpLocks/>
          </p:cNvCxnSpPr>
          <p:nvPr/>
        </p:nvCxnSpPr>
        <p:spPr>
          <a:xfrm flipH="1" flipV="1">
            <a:off x="3116494" y="1257101"/>
            <a:ext cx="1504236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044274D-C1AA-B7C4-A83B-EDBA3165AA06}"/>
              </a:ext>
            </a:extLst>
          </p:cNvPr>
          <p:cNvCxnSpPr/>
          <p:nvPr/>
        </p:nvCxnSpPr>
        <p:spPr>
          <a:xfrm flipH="1">
            <a:off x="9141114" y="1274742"/>
            <a:ext cx="95146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0C4EE9AC-BA5C-0EE9-ABC9-D3F9374153A3}"/>
              </a:ext>
            </a:extLst>
          </p:cNvPr>
          <p:cNvCxnSpPr>
            <a:stCxn id="16" idx="4"/>
            <a:endCxn id="21" idx="4"/>
          </p:cNvCxnSpPr>
          <p:nvPr/>
        </p:nvCxnSpPr>
        <p:spPr>
          <a:xfrm rot="16200000" flipH="1">
            <a:off x="6458501" y="3255509"/>
            <a:ext cx="15" cy="5761365"/>
          </a:xfrm>
          <a:prstGeom prst="bentConnector3">
            <a:avLst>
              <a:gd name="adj1" fmla="val 2147483647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ECD9DCD8-4781-F77D-7ECB-FD89F124F8AA}"/>
              </a:ext>
            </a:extLst>
          </p:cNvPr>
          <p:cNvSpPr txBox="1"/>
          <p:nvPr/>
        </p:nvSpPr>
        <p:spPr>
          <a:xfrm>
            <a:off x="3229611" y="561223"/>
            <a:ext cx="717593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cs typeface="Arial"/>
              </a:rPr>
              <a:t>Extracted features                                                                                         Selected features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EF46B6-578E-2E6E-0DC3-20C8DB0D8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742" y="5765263"/>
            <a:ext cx="279400" cy="317500"/>
          </a:xfrm>
          <a:prstGeom prst="rect">
            <a:avLst/>
          </a:prstGeom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9375D2C7-DC03-9363-FBF4-8778774B779E}"/>
              </a:ext>
            </a:extLst>
          </p:cNvPr>
          <p:cNvGraphicFramePr>
            <a:graphicFrameLocks noGrp="1"/>
          </p:cNvGraphicFramePr>
          <p:nvPr/>
        </p:nvGraphicFramePr>
        <p:xfrm>
          <a:off x="7066589" y="1432852"/>
          <a:ext cx="297764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d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AE0A45B-B77F-8E41-1AF5-F8E96D98E7B7}"/>
              </a:ext>
            </a:extLst>
          </p:cNvPr>
          <p:cNvSpPr txBox="1"/>
          <p:nvPr/>
        </p:nvSpPr>
        <p:spPr>
          <a:xfrm>
            <a:off x="6977335" y="1089220"/>
            <a:ext cx="5277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MT" panose="020B0502020104020203" pitchFamily="34" charset="77"/>
                <a:cs typeface="Arial"/>
              </a:rPr>
              <a:t>labels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E71194-E712-B6FF-52B6-F428136D95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992" y="5828908"/>
            <a:ext cx="2667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51286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6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3557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3558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3559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3560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3561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F26D3AA0-11DC-8F7F-AB1B-754ACD4D4B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E45BCE-ECF2-797D-9AEB-E9D97008D9BA}"/>
              </a:ext>
            </a:extLst>
          </p:cNvPr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725254-0F6B-C3EB-9900-67A3098EAD9F}"/>
              </a:ext>
            </a:extLst>
          </p:cNvPr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2C9E9-50CA-CA81-7097-F16F6244C82A}"/>
              </a:ext>
            </a:extLst>
          </p:cNvPr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22449634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8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269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1271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1272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273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1274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303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3" name="Text Box 3"/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 Statement: Given 5 features (1,2,3,4,5), select the best 3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7820E7-B7DA-9AEE-3A05-5EA0BB43F956}"/>
              </a:ext>
            </a:extLst>
          </p:cNvPr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BC8219-920B-F16E-FC22-1AC25F819650}"/>
              </a:ext>
            </a:extLst>
          </p:cNvPr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9C7C65-136C-F93D-87D8-C3F7A8F64797}"/>
              </a:ext>
            </a:extLst>
          </p:cNvPr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394136229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318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3319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3320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321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3322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323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324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325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326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13331" name="AutoShape 19"/>
          <p:cNvCxnSpPr>
            <a:cxnSpLocks noChangeShapeType="1"/>
            <a:stCxn id="13322" idx="4"/>
            <a:endCxn id="13323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3332" name="AutoShape 20"/>
          <p:cNvCxnSpPr>
            <a:cxnSpLocks noChangeShapeType="1"/>
            <a:stCxn id="13322" idx="4"/>
            <a:endCxn id="13324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3333" name="AutoShape 21"/>
          <p:cNvCxnSpPr>
            <a:cxnSpLocks noChangeShapeType="1"/>
            <a:stCxn id="13322" idx="4"/>
            <a:endCxn id="13325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3334" name="AutoShape 22"/>
          <p:cNvCxnSpPr>
            <a:cxnSpLocks noChangeShapeType="1"/>
            <a:stCxn id="13322" idx="4"/>
            <a:endCxn id="13326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3351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3352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3353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3354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3355" name="Text Box 43"/>
          <p:cNvSpPr txBox="1">
            <a:spLocks noChangeArrowheads="1"/>
          </p:cNvSpPr>
          <p:nvPr/>
        </p:nvSpPr>
        <p:spPr bwMode="auto">
          <a:xfrm>
            <a:off x="805815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3357" name="Oval 45"/>
          <p:cNvSpPr>
            <a:spLocks noChangeArrowheads="1"/>
          </p:cNvSpPr>
          <p:nvPr/>
        </p:nvSpPr>
        <p:spPr bwMode="auto">
          <a:xfrm>
            <a:off x="9191626" y="4365626"/>
            <a:ext cx="144463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358" name="Text Box 46"/>
          <p:cNvSpPr txBox="1">
            <a:spLocks noChangeArrowheads="1"/>
          </p:cNvSpPr>
          <p:nvPr/>
        </p:nvSpPr>
        <p:spPr bwMode="auto">
          <a:xfrm>
            <a:off x="9336088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</a:rPr>
              <a:t>1234</a:t>
            </a:r>
            <a:endParaRPr lang="es-ES" sz="1400" dirty="0">
              <a:solidFill>
                <a:schemeClr val="tx1">
                  <a:lumMod val="50000"/>
                  <a:lumOff val="50000"/>
                </a:schemeClr>
              </a:solidFill>
              <a:latin typeface="Gill Sans MT" panose="020B0502020104020203" pitchFamily="34" charset="77"/>
            </a:endParaRPr>
          </a:p>
        </p:txBody>
      </p:sp>
      <p:sp>
        <p:nvSpPr>
          <p:cNvPr id="13359" name="Text Box 47"/>
          <p:cNvSpPr txBox="1">
            <a:spLocks noChangeArrowheads="1"/>
          </p:cNvSpPr>
          <p:nvPr/>
        </p:nvSpPr>
        <p:spPr bwMode="auto">
          <a:xfrm>
            <a:off x="8616950" y="4437063"/>
            <a:ext cx="1892300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ctr"/>
            <a:r>
              <a:rPr lang="es-CL" sz="1000">
                <a:latin typeface="Gill Sans MT" panose="020B0502020104020203" pitchFamily="34" charset="77"/>
              </a:rPr>
              <a:t>Esta combinación no es necesaria (como veremos más adelante)</a:t>
            </a:r>
            <a:endParaRPr lang="es-ES" sz="1000" dirty="0">
              <a:latin typeface="Gill Sans MT" panose="020B0502020104020203" pitchFamily="34" charset="77"/>
            </a:endParaRPr>
          </a:p>
        </p:txBody>
      </p:sp>
      <p:cxnSp>
        <p:nvCxnSpPr>
          <p:cNvPr id="13360" name="AutoShape 48"/>
          <p:cNvCxnSpPr>
            <a:cxnSpLocks noChangeShapeType="1"/>
            <a:stCxn id="13322" idx="4"/>
            <a:endCxn id="13357" idx="0"/>
          </p:cNvCxnSpPr>
          <p:nvPr/>
        </p:nvCxnSpPr>
        <p:spPr bwMode="auto">
          <a:xfrm>
            <a:off x="5953126" y="3573463"/>
            <a:ext cx="3311525" cy="792162"/>
          </a:xfrm>
          <a:prstGeom prst="straightConnector1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  <a:prstDash val="dash"/>
            <a:round/>
            <a:headEnd/>
            <a:tailEnd type="triangle" w="med" len="med"/>
          </a:ln>
          <a:effectLst/>
        </p:spPr>
      </p:cxnSp>
      <p:sp>
        <p:nvSpPr>
          <p:cNvPr id="2" name="Text Box 3">
            <a:extLst>
              <a:ext uri="{FF2B5EF4-FFF2-40B4-BE49-F238E27FC236}">
                <a16:creationId xmlns:a16="http://schemas.microsoft.com/office/drawing/2014/main" id="{4E8AC356-EED7-B937-B93A-7886A09111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78333F-1E25-DE53-245C-3608BE237AC1}"/>
              </a:ext>
            </a:extLst>
          </p:cNvPr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4353CB-4B81-7D56-90CE-5B4FC24019BE}"/>
              </a:ext>
            </a:extLst>
          </p:cNvPr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41C0F5-62C5-64FE-29EF-F4F48E4BCACB}"/>
              </a:ext>
            </a:extLst>
          </p:cNvPr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238777368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2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8133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8134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48135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48136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8137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48138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8139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8140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8141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8142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48143" name="AutoShape 15"/>
          <p:cNvCxnSpPr>
            <a:cxnSpLocks noChangeShapeType="1"/>
            <a:stCxn id="48138" idx="4"/>
            <a:endCxn id="48139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48144" name="AutoShape 16"/>
          <p:cNvCxnSpPr>
            <a:cxnSpLocks noChangeShapeType="1"/>
            <a:stCxn id="48138" idx="4"/>
            <a:endCxn id="48140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48145" name="AutoShape 17"/>
          <p:cNvCxnSpPr>
            <a:cxnSpLocks noChangeShapeType="1"/>
            <a:stCxn id="48138" idx="4"/>
            <a:endCxn id="48141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48146" name="AutoShape 18"/>
          <p:cNvCxnSpPr>
            <a:cxnSpLocks noChangeShapeType="1"/>
            <a:stCxn id="48138" idx="4"/>
            <a:endCxn id="48142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48147" name="Text Box 1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148" name="Text Box 2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149" name="Text Box 2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150" name="Text Box 2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151" name="Text Box 23"/>
          <p:cNvSpPr txBox="1">
            <a:spLocks noChangeArrowheads="1"/>
          </p:cNvSpPr>
          <p:nvPr/>
        </p:nvSpPr>
        <p:spPr bwMode="auto">
          <a:xfrm>
            <a:off x="805815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0E09582D-84C6-0714-A345-D7F6EFD267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019359-AB16-70D3-4194-4F44AC6CE020}"/>
              </a:ext>
            </a:extLst>
          </p:cNvPr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F045E8-2154-2CD6-1126-35E1EE81B851}"/>
              </a:ext>
            </a:extLst>
          </p:cNvPr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D857B1-73B8-8587-DC19-62A1B89D4361}"/>
              </a:ext>
            </a:extLst>
          </p:cNvPr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108280365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65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66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5367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5368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69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5370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71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72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73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74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75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15379" name="AutoShape 19"/>
          <p:cNvCxnSpPr>
            <a:cxnSpLocks noChangeShapeType="1"/>
            <a:stCxn id="15370" idx="4"/>
            <a:endCxn id="15371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5380" name="AutoShape 20"/>
          <p:cNvCxnSpPr>
            <a:cxnSpLocks noChangeShapeType="1"/>
            <a:stCxn id="15370" idx="4"/>
            <a:endCxn id="15372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5381" name="AutoShape 21"/>
          <p:cNvCxnSpPr>
            <a:cxnSpLocks noChangeShapeType="1"/>
            <a:stCxn id="15370" idx="4"/>
            <a:endCxn id="15373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5382" name="AutoShape 22"/>
          <p:cNvCxnSpPr>
            <a:cxnSpLocks noChangeShapeType="1"/>
            <a:stCxn id="15370" idx="4"/>
            <a:endCxn id="15374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5383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84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385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15389" name="AutoShape 29"/>
          <p:cNvCxnSpPr>
            <a:cxnSpLocks noChangeShapeType="1"/>
            <a:stCxn id="15371" idx="4"/>
            <a:endCxn id="15384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5390" name="AutoShape 30"/>
          <p:cNvCxnSpPr>
            <a:cxnSpLocks noChangeShapeType="1"/>
            <a:stCxn id="15371" idx="4"/>
            <a:endCxn id="15383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5391" name="AutoShape 31"/>
          <p:cNvCxnSpPr>
            <a:cxnSpLocks noChangeShapeType="1"/>
            <a:stCxn id="15371" idx="4"/>
            <a:endCxn id="15375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5392" name="AutoShape 32"/>
          <p:cNvCxnSpPr>
            <a:cxnSpLocks noChangeShapeType="1"/>
            <a:stCxn id="15371" idx="4"/>
            <a:endCxn id="15385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5399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5400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5401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5402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5403" name="Text Box 43"/>
          <p:cNvSpPr txBox="1">
            <a:spLocks noChangeArrowheads="1"/>
          </p:cNvSpPr>
          <p:nvPr/>
        </p:nvSpPr>
        <p:spPr bwMode="auto">
          <a:xfrm>
            <a:off x="805815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5404" name="Text Box 44"/>
          <p:cNvSpPr txBox="1">
            <a:spLocks noChangeArrowheads="1"/>
          </p:cNvSpPr>
          <p:nvPr/>
        </p:nvSpPr>
        <p:spPr bwMode="auto">
          <a:xfrm>
            <a:off x="2640014" y="5516564"/>
            <a:ext cx="17588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09CEF317-BBD6-4D3D-CE46-7B48FDBB3C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F97DFF-646F-E975-985B-6B6AD67FD232}"/>
              </a:ext>
            </a:extLst>
          </p:cNvPr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92DA9A-F8ED-3A35-BAB4-D0BFC5712D0E}"/>
              </a:ext>
            </a:extLst>
          </p:cNvPr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8705A7-44C2-84D7-4C3C-3BC670BADC42}"/>
              </a:ext>
            </a:extLst>
          </p:cNvPr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4856275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13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7416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7418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19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20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21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22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23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24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17427" name="AutoShape 19"/>
          <p:cNvCxnSpPr>
            <a:cxnSpLocks noChangeShapeType="1"/>
            <a:stCxn id="17418" idx="4"/>
            <a:endCxn id="17419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28" name="AutoShape 20"/>
          <p:cNvCxnSpPr>
            <a:cxnSpLocks noChangeShapeType="1"/>
            <a:stCxn id="17418" idx="4"/>
            <a:endCxn id="17420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29" name="AutoShape 21"/>
          <p:cNvCxnSpPr>
            <a:cxnSpLocks noChangeShapeType="1"/>
            <a:stCxn id="17418" idx="4"/>
            <a:endCxn id="17421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30" name="AutoShape 22"/>
          <p:cNvCxnSpPr>
            <a:cxnSpLocks noChangeShapeType="1"/>
            <a:stCxn id="17418" idx="4"/>
            <a:endCxn id="17422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7431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32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33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34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435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17437" name="AutoShape 29"/>
          <p:cNvCxnSpPr>
            <a:cxnSpLocks noChangeShapeType="1"/>
            <a:stCxn id="17419" idx="4"/>
            <a:endCxn id="17432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38" name="AutoShape 30"/>
          <p:cNvCxnSpPr>
            <a:cxnSpLocks noChangeShapeType="1"/>
            <a:stCxn id="17419" idx="4"/>
            <a:endCxn id="17431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39" name="AutoShape 31"/>
          <p:cNvCxnSpPr>
            <a:cxnSpLocks noChangeShapeType="1"/>
            <a:stCxn id="17419" idx="4"/>
            <a:endCxn id="17423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40" name="AutoShape 32"/>
          <p:cNvCxnSpPr>
            <a:cxnSpLocks noChangeShapeType="1"/>
            <a:stCxn id="17419" idx="4"/>
            <a:endCxn id="17433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41" name="AutoShape 33"/>
          <p:cNvCxnSpPr>
            <a:cxnSpLocks noChangeShapeType="1"/>
            <a:endCxn id="17434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42" name="AutoShape 34"/>
          <p:cNvCxnSpPr>
            <a:cxnSpLocks noChangeShapeType="1"/>
            <a:endCxn id="17424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443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7447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7448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7449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7450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7451" name="Text Box 43"/>
          <p:cNvSpPr txBox="1">
            <a:spLocks noChangeArrowheads="1"/>
          </p:cNvSpPr>
          <p:nvPr/>
        </p:nvSpPr>
        <p:spPr bwMode="auto">
          <a:xfrm>
            <a:off x="805815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7452" name="Text Box 44"/>
          <p:cNvSpPr txBox="1">
            <a:spLocks noChangeArrowheads="1"/>
          </p:cNvSpPr>
          <p:nvPr/>
        </p:nvSpPr>
        <p:spPr bwMode="auto">
          <a:xfrm>
            <a:off x="2640013" y="5516564"/>
            <a:ext cx="380905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7453" name="Text Box 45"/>
          <p:cNvSpPr txBox="1">
            <a:spLocks noChangeArrowheads="1"/>
          </p:cNvSpPr>
          <p:nvPr/>
        </p:nvSpPr>
        <p:spPr bwMode="auto">
          <a:xfrm>
            <a:off x="4295775" y="5734050"/>
            <a:ext cx="194468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ctr"/>
            <a:r>
              <a:rPr lang="es-CL" sz="1000" dirty="0">
                <a:latin typeface="Gill Sans MT" panose="020B0502020104020203" pitchFamily="34" charset="77"/>
              </a:rPr>
              <a:t>345 no es necesario porque ya </a:t>
            </a:r>
          </a:p>
          <a:p>
            <a:pPr algn="ctr"/>
            <a:r>
              <a:rPr lang="es-CL" sz="1000" dirty="0">
                <a:latin typeface="Gill Sans MT" panose="020B0502020104020203" pitchFamily="34" charset="77"/>
              </a:rPr>
              <a:t>fue considerada</a:t>
            </a:r>
            <a:endParaRPr lang="es-ES" sz="1000" dirty="0">
              <a:latin typeface="Gill Sans MT" panose="020B0502020104020203" pitchFamily="34" charset="77"/>
            </a:endParaRP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E0D0EC7C-0F1C-D71A-B805-7E092A5D15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DA9C25-E754-8D79-C4E0-51C0801B5038}"/>
              </a:ext>
            </a:extLst>
          </p:cNvPr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CF52FF-B3FD-FBAD-94DD-689004BCECA5}"/>
              </a:ext>
            </a:extLst>
          </p:cNvPr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20B282-F6DE-58CD-C1FA-AAEAEEE2D18D}"/>
              </a:ext>
            </a:extLst>
          </p:cNvPr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239941608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6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946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946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6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6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6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7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7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7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7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19475" name="AutoShape 19"/>
          <p:cNvCxnSpPr>
            <a:cxnSpLocks noChangeShapeType="1"/>
            <a:stCxn id="19466" idx="4"/>
            <a:endCxn id="1946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76" name="AutoShape 20"/>
          <p:cNvCxnSpPr>
            <a:cxnSpLocks noChangeShapeType="1"/>
            <a:stCxn id="19466" idx="4"/>
            <a:endCxn id="1946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77" name="AutoShape 21"/>
          <p:cNvCxnSpPr>
            <a:cxnSpLocks noChangeShapeType="1"/>
            <a:stCxn id="19466" idx="4"/>
            <a:endCxn id="1946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78" name="AutoShape 22"/>
          <p:cNvCxnSpPr>
            <a:cxnSpLocks noChangeShapeType="1"/>
            <a:stCxn id="19466" idx="4"/>
            <a:endCxn id="1947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947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8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8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8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8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48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19485" name="AutoShape 29"/>
          <p:cNvCxnSpPr>
            <a:cxnSpLocks noChangeShapeType="1"/>
            <a:stCxn id="19467" idx="4"/>
            <a:endCxn id="1948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86" name="AutoShape 30"/>
          <p:cNvCxnSpPr>
            <a:cxnSpLocks noChangeShapeType="1"/>
            <a:stCxn id="19467" idx="4"/>
            <a:endCxn id="1947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87" name="AutoShape 31"/>
          <p:cNvCxnSpPr>
            <a:cxnSpLocks noChangeShapeType="1"/>
            <a:stCxn id="19467" idx="4"/>
            <a:endCxn id="1947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88" name="AutoShape 32"/>
          <p:cNvCxnSpPr>
            <a:cxnSpLocks noChangeShapeType="1"/>
            <a:stCxn id="19467" idx="4"/>
            <a:endCxn id="1948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89" name="AutoShape 33"/>
          <p:cNvCxnSpPr>
            <a:cxnSpLocks noChangeShapeType="1"/>
            <a:endCxn id="1948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90" name="AutoShape 34"/>
          <p:cNvCxnSpPr>
            <a:cxnSpLocks noChangeShapeType="1"/>
            <a:endCxn id="1947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9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92" name="AutoShape 36"/>
          <p:cNvCxnSpPr>
            <a:cxnSpLocks noChangeShapeType="1"/>
            <a:stCxn id="19469" idx="4"/>
            <a:endCxn id="1947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493" name="AutoShape 37"/>
          <p:cNvCxnSpPr>
            <a:cxnSpLocks noChangeShapeType="1"/>
            <a:endCxn id="1948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949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949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949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949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9499" name="Text Box 43"/>
          <p:cNvSpPr txBox="1">
            <a:spLocks noChangeArrowheads="1"/>
          </p:cNvSpPr>
          <p:nvPr/>
        </p:nvSpPr>
        <p:spPr bwMode="auto">
          <a:xfrm>
            <a:off x="805815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9500" name="Text Box 44"/>
          <p:cNvSpPr txBox="1">
            <a:spLocks noChangeArrowheads="1"/>
          </p:cNvSpPr>
          <p:nvPr/>
        </p:nvSpPr>
        <p:spPr bwMode="auto">
          <a:xfrm>
            <a:off x="2640013" y="5516564"/>
            <a:ext cx="489428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19501" name="Text Box 45"/>
          <p:cNvSpPr txBox="1">
            <a:spLocks noChangeArrowheads="1"/>
          </p:cNvSpPr>
          <p:nvPr/>
        </p:nvSpPr>
        <p:spPr bwMode="auto">
          <a:xfrm>
            <a:off x="5880100" y="5805488"/>
            <a:ext cx="194468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ctr"/>
            <a:r>
              <a:rPr lang="es-CL" sz="1000" dirty="0">
                <a:latin typeface="Gill Sans MT" panose="020B0502020104020203" pitchFamily="34" charset="77"/>
              </a:rPr>
              <a:t>ya se habían considerado los tríos 145 y 245</a:t>
            </a:r>
            <a:endParaRPr lang="es-ES" sz="1000" dirty="0">
              <a:latin typeface="Gill Sans MT" panose="020B0502020104020203" pitchFamily="34" charset="77"/>
            </a:endParaRP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1B241D6B-00A3-02CD-7E28-914098269E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B56BBE-F480-315C-B839-8220450D34C7}"/>
              </a:ext>
            </a:extLst>
          </p:cNvPr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2CC69-DB15-144A-5926-F1DA26E22CC4}"/>
              </a:ext>
            </a:extLst>
          </p:cNvPr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278F99-46F4-D1C8-BC50-6CF08CDBF247}"/>
              </a:ext>
            </a:extLst>
          </p:cNvPr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17668454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8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09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10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1511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1512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13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1514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15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16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17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18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19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20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21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22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21523" name="AutoShape 19"/>
          <p:cNvCxnSpPr>
            <a:cxnSpLocks noChangeShapeType="1"/>
            <a:stCxn id="21514" idx="4"/>
            <a:endCxn id="21515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24" name="AutoShape 20"/>
          <p:cNvCxnSpPr>
            <a:cxnSpLocks noChangeShapeType="1"/>
            <a:stCxn id="21514" idx="4"/>
            <a:endCxn id="21516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25" name="AutoShape 21"/>
          <p:cNvCxnSpPr>
            <a:cxnSpLocks noChangeShapeType="1"/>
            <a:stCxn id="21514" idx="4"/>
            <a:endCxn id="21517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26" name="AutoShape 22"/>
          <p:cNvCxnSpPr>
            <a:cxnSpLocks noChangeShapeType="1"/>
            <a:stCxn id="21514" idx="4"/>
            <a:endCxn id="21518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21527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28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29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30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31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532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21533" name="AutoShape 29"/>
          <p:cNvCxnSpPr>
            <a:cxnSpLocks noChangeShapeType="1"/>
            <a:stCxn id="21515" idx="4"/>
            <a:endCxn id="21528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34" name="AutoShape 30"/>
          <p:cNvCxnSpPr>
            <a:cxnSpLocks noChangeShapeType="1"/>
            <a:stCxn id="21515" idx="4"/>
            <a:endCxn id="21527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35" name="AutoShape 31"/>
          <p:cNvCxnSpPr>
            <a:cxnSpLocks noChangeShapeType="1"/>
            <a:stCxn id="21515" idx="4"/>
            <a:endCxn id="21519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36" name="AutoShape 32"/>
          <p:cNvCxnSpPr>
            <a:cxnSpLocks noChangeShapeType="1"/>
            <a:stCxn id="21515" idx="4"/>
            <a:endCxn id="21529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37" name="AutoShape 33"/>
          <p:cNvCxnSpPr>
            <a:cxnSpLocks noChangeShapeType="1"/>
            <a:endCxn id="21530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38" name="AutoShape 34"/>
          <p:cNvCxnSpPr>
            <a:cxnSpLocks noChangeShapeType="1"/>
            <a:endCxn id="21520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39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40" name="AutoShape 36"/>
          <p:cNvCxnSpPr>
            <a:cxnSpLocks noChangeShapeType="1"/>
            <a:stCxn id="21517" idx="4"/>
            <a:endCxn id="21521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41" name="AutoShape 37"/>
          <p:cNvCxnSpPr>
            <a:cxnSpLocks noChangeShapeType="1"/>
            <a:endCxn id="21532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1542" name="AutoShape 38"/>
          <p:cNvCxnSpPr>
            <a:cxnSpLocks noChangeShapeType="1"/>
            <a:stCxn id="21518" idx="4"/>
            <a:endCxn id="21522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21543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1544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1545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1546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1547" name="Text Box 43"/>
          <p:cNvSpPr txBox="1">
            <a:spLocks noChangeArrowheads="1"/>
          </p:cNvSpPr>
          <p:nvPr/>
        </p:nvSpPr>
        <p:spPr bwMode="auto">
          <a:xfrm>
            <a:off x="805815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1549" name="Text Box 45"/>
          <p:cNvSpPr txBox="1">
            <a:spLocks noChangeArrowheads="1"/>
          </p:cNvSpPr>
          <p:nvPr/>
        </p:nvSpPr>
        <p:spPr bwMode="auto">
          <a:xfrm>
            <a:off x="7389820" y="5805488"/>
            <a:ext cx="1441450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/>
            <a:r>
              <a:rPr lang="es-CL" sz="1000" dirty="0">
                <a:latin typeface="Gill Sans MT" panose="020B0502020104020203" pitchFamily="34" charset="77"/>
              </a:rPr>
              <a:t>Ya se habían considerado 235, 135 y 125</a:t>
            </a:r>
            <a:endParaRPr lang="es-ES" sz="1000" dirty="0">
              <a:latin typeface="Gill Sans MT" panose="020B0502020104020203" pitchFamily="34" charset="77"/>
            </a:endParaRP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42EA060A-F69B-5130-F9A8-1CE6BFDCFC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69DADA-D6EA-D634-C523-87C652BC96DE}"/>
              </a:ext>
            </a:extLst>
          </p:cNvPr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17029C-9E69-C9FC-CFB7-0512B40440C4}"/>
              </a:ext>
            </a:extLst>
          </p:cNvPr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CAAC35-2D63-6452-3882-C829D87403B0}"/>
              </a:ext>
            </a:extLst>
          </p:cNvPr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  <p:sp>
        <p:nvSpPr>
          <p:cNvPr id="6" name="Text Box 44">
            <a:extLst>
              <a:ext uri="{FF2B5EF4-FFF2-40B4-BE49-F238E27FC236}">
                <a16:creationId xmlns:a16="http://schemas.microsoft.com/office/drawing/2014/main" id="{8A98ABDE-0496-ECA1-A47F-2218D34856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8253943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8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29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52231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52232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52234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35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36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37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38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39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40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41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42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52243" name="AutoShape 19"/>
          <p:cNvCxnSpPr>
            <a:cxnSpLocks noChangeShapeType="1"/>
            <a:stCxn id="52234" idx="4"/>
            <a:endCxn id="52235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44" name="AutoShape 20"/>
          <p:cNvCxnSpPr>
            <a:cxnSpLocks noChangeShapeType="1"/>
            <a:stCxn id="52234" idx="4"/>
            <a:endCxn id="52236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45" name="AutoShape 21"/>
          <p:cNvCxnSpPr>
            <a:cxnSpLocks noChangeShapeType="1"/>
            <a:stCxn id="52234" idx="4"/>
            <a:endCxn id="52237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46" name="AutoShape 22"/>
          <p:cNvCxnSpPr>
            <a:cxnSpLocks noChangeShapeType="1"/>
            <a:stCxn id="52234" idx="4"/>
            <a:endCxn id="52238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52247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48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49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50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51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52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52253" name="AutoShape 29"/>
          <p:cNvCxnSpPr>
            <a:cxnSpLocks noChangeShapeType="1"/>
            <a:stCxn id="52235" idx="4"/>
            <a:endCxn id="52248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54" name="AutoShape 30"/>
          <p:cNvCxnSpPr>
            <a:cxnSpLocks noChangeShapeType="1"/>
            <a:stCxn id="52235" idx="4"/>
            <a:endCxn id="52247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55" name="AutoShape 31"/>
          <p:cNvCxnSpPr>
            <a:cxnSpLocks noChangeShapeType="1"/>
            <a:stCxn id="52235" idx="4"/>
            <a:endCxn id="52239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56" name="AutoShape 32"/>
          <p:cNvCxnSpPr>
            <a:cxnSpLocks noChangeShapeType="1"/>
            <a:stCxn id="52235" idx="4"/>
            <a:endCxn id="52249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57" name="AutoShape 33"/>
          <p:cNvCxnSpPr>
            <a:cxnSpLocks noChangeShapeType="1"/>
            <a:endCxn id="52250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58" name="AutoShape 34"/>
          <p:cNvCxnSpPr>
            <a:cxnSpLocks noChangeShapeType="1"/>
            <a:endCxn id="52240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59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60" name="AutoShape 36"/>
          <p:cNvCxnSpPr>
            <a:cxnSpLocks noChangeShapeType="1"/>
            <a:stCxn id="52237" idx="4"/>
            <a:endCxn id="52241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61" name="AutoShape 37"/>
          <p:cNvCxnSpPr>
            <a:cxnSpLocks noChangeShapeType="1"/>
            <a:endCxn id="52252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62" name="AutoShape 38"/>
          <p:cNvCxnSpPr>
            <a:cxnSpLocks noChangeShapeType="1"/>
            <a:stCxn id="52238" idx="4"/>
            <a:endCxn id="52242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52263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2264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2265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2266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805815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52270" name="AutoShape 46"/>
          <p:cNvCxnSpPr>
            <a:cxnSpLocks noChangeShapeType="1"/>
          </p:cNvCxnSpPr>
          <p:nvPr/>
        </p:nvCxnSpPr>
        <p:spPr bwMode="auto">
          <a:xfrm>
            <a:off x="5951539" y="3573463"/>
            <a:ext cx="3311525" cy="792162"/>
          </a:xfrm>
          <a:prstGeom prst="straightConnector1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  <a:prstDash val="dash"/>
            <a:round/>
            <a:headEnd/>
            <a:tailEnd type="triangle" w="med" len="med"/>
          </a:ln>
          <a:effectLst/>
        </p:spPr>
      </p:cxn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93345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</a:rPr>
              <a:t>1234</a:t>
            </a:r>
            <a:endParaRPr lang="es-ES" sz="1400" dirty="0">
              <a:solidFill>
                <a:schemeClr val="tx1">
                  <a:lumMod val="50000"/>
                  <a:lumOff val="50000"/>
                </a:schemeClr>
              </a:solidFill>
              <a:latin typeface="Gill Sans MT" panose="020B0502020104020203" pitchFamily="34" charset="77"/>
            </a:endParaRPr>
          </a:p>
        </p:txBody>
      </p:sp>
      <p:sp>
        <p:nvSpPr>
          <p:cNvPr id="52272" name="Oval 48"/>
          <p:cNvSpPr>
            <a:spLocks noChangeArrowheads="1"/>
          </p:cNvSpPr>
          <p:nvPr/>
        </p:nvSpPr>
        <p:spPr bwMode="auto">
          <a:xfrm>
            <a:off x="919162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2273" name="Text Box 49"/>
          <p:cNvSpPr txBox="1">
            <a:spLocks noChangeArrowheads="1"/>
          </p:cNvSpPr>
          <p:nvPr/>
        </p:nvSpPr>
        <p:spPr bwMode="auto">
          <a:xfrm>
            <a:off x="8616950" y="4437063"/>
            <a:ext cx="1892300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ctr"/>
            <a:r>
              <a:rPr lang="es-CL" sz="1000" dirty="0">
                <a:latin typeface="Gill Sans MT" panose="020B0502020104020203" pitchFamily="34" charset="77"/>
              </a:rPr>
              <a:t>Ya se habían considerado los tríos de 1234 (234, 134, 124 y 123).</a:t>
            </a:r>
            <a:endParaRPr lang="es-ES" sz="1000" dirty="0">
              <a:latin typeface="Gill Sans MT" panose="020B0502020104020203" pitchFamily="34" charset="7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702944" y="2987661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02944" y="3933057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1)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02944" y="4941169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(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sacando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Trebuchet MS"/>
              </a:rPr>
              <a:t> 2)</a:t>
            </a: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7E764785-9393-10AC-A94C-823A96504F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 Box 44">
            <a:extLst>
              <a:ext uri="{FF2B5EF4-FFF2-40B4-BE49-F238E27FC236}">
                <a16:creationId xmlns:a16="http://schemas.microsoft.com/office/drawing/2014/main" id="{89211F54-D018-1DA5-BF32-A82984F83F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9067209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6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77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78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54279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54280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81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54282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83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84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85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86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87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88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89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90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54291" name="AutoShape 19"/>
          <p:cNvCxnSpPr>
            <a:cxnSpLocks noChangeShapeType="1"/>
            <a:stCxn id="54282" idx="4"/>
            <a:endCxn id="54283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292" name="AutoShape 20"/>
          <p:cNvCxnSpPr>
            <a:cxnSpLocks noChangeShapeType="1"/>
            <a:stCxn id="54282" idx="4"/>
            <a:endCxn id="54284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293" name="AutoShape 21"/>
          <p:cNvCxnSpPr>
            <a:cxnSpLocks noChangeShapeType="1"/>
            <a:stCxn id="54282" idx="4"/>
            <a:endCxn id="54285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294" name="AutoShape 22"/>
          <p:cNvCxnSpPr>
            <a:cxnSpLocks noChangeShapeType="1"/>
            <a:stCxn id="54282" idx="4"/>
            <a:endCxn id="54286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54295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96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97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98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299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4300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54301" name="AutoShape 29"/>
          <p:cNvCxnSpPr>
            <a:cxnSpLocks noChangeShapeType="1"/>
            <a:stCxn id="54283" idx="4"/>
            <a:endCxn id="54296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02" name="AutoShape 30"/>
          <p:cNvCxnSpPr>
            <a:cxnSpLocks noChangeShapeType="1"/>
            <a:stCxn id="54283" idx="4"/>
            <a:endCxn id="54295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03" name="AutoShape 31"/>
          <p:cNvCxnSpPr>
            <a:cxnSpLocks noChangeShapeType="1"/>
            <a:stCxn id="54283" idx="4"/>
            <a:endCxn id="54287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04" name="AutoShape 32"/>
          <p:cNvCxnSpPr>
            <a:cxnSpLocks noChangeShapeType="1"/>
            <a:stCxn id="54283" idx="4"/>
            <a:endCxn id="54297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05" name="AutoShape 33"/>
          <p:cNvCxnSpPr>
            <a:cxnSpLocks noChangeShapeType="1"/>
            <a:endCxn id="54298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06" name="AutoShape 34"/>
          <p:cNvCxnSpPr>
            <a:cxnSpLocks noChangeShapeType="1"/>
            <a:endCxn id="54288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07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08" name="AutoShape 36"/>
          <p:cNvCxnSpPr>
            <a:cxnSpLocks noChangeShapeType="1"/>
            <a:stCxn id="54285" idx="4"/>
            <a:endCxn id="54289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09" name="AutoShape 37"/>
          <p:cNvCxnSpPr>
            <a:cxnSpLocks noChangeShapeType="1"/>
            <a:endCxn id="54300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4310" name="AutoShape 38"/>
          <p:cNvCxnSpPr>
            <a:cxnSpLocks noChangeShapeType="1"/>
            <a:stCxn id="54286" idx="4"/>
            <a:endCxn id="54290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54311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4312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4313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4314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4315" name="Text Box 43"/>
          <p:cNvSpPr txBox="1">
            <a:spLocks noChangeArrowheads="1"/>
          </p:cNvSpPr>
          <p:nvPr/>
        </p:nvSpPr>
        <p:spPr bwMode="auto">
          <a:xfrm>
            <a:off x="805815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54321" name="Text Box 49"/>
          <p:cNvSpPr txBox="1">
            <a:spLocks noChangeArrowheads="1"/>
          </p:cNvSpPr>
          <p:nvPr/>
        </p:nvSpPr>
        <p:spPr bwMode="auto">
          <a:xfrm>
            <a:off x="2711450" y="5805489"/>
            <a:ext cx="6192838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sz="1000" dirty="0">
                <a:latin typeface="Gill Sans MT" panose="020B0502020104020203" pitchFamily="34" charset="77"/>
              </a:rPr>
              <a:t>En el Level 2 están todas las combinaciones posibles de 3 características.</a:t>
            </a:r>
            <a:endParaRPr lang="es-ES" sz="1000" dirty="0">
              <a:latin typeface="Gill Sans MT" panose="020B0502020104020203" pitchFamily="34" charset="77"/>
            </a:endParaRP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F17E7951-033E-C6B0-2345-0864D9789F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 Box 44">
            <a:extLst>
              <a:ext uri="{FF2B5EF4-FFF2-40B4-BE49-F238E27FC236}">
                <a16:creationId xmlns:a16="http://schemas.microsoft.com/office/drawing/2014/main" id="{4B670104-A58B-4712-FE20-A53436A827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6934961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991EC22E-C221-A976-FD8B-B1B4797D6B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3" name="Text Box 44">
            <a:extLst>
              <a:ext uri="{FF2B5EF4-FFF2-40B4-BE49-F238E27FC236}">
                <a16:creationId xmlns:a16="http://schemas.microsoft.com/office/drawing/2014/main" id="{585206BC-2AD3-EA73-B109-DD3DF8507D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8554851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477144AE-814E-F484-54C2-A075E67199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4" name="Text Box 44">
            <a:extLst>
              <a:ext uri="{FF2B5EF4-FFF2-40B4-BE49-F238E27FC236}">
                <a16:creationId xmlns:a16="http://schemas.microsoft.com/office/drawing/2014/main" id="{4A628A4D-6672-8AF0-3520-1BC8035D8C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2197178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482C2D80-000D-40BF-6079-3C04C67E69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6" name="Text Box 44">
            <a:extLst>
              <a:ext uri="{FF2B5EF4-FFF2-40B4-BE49-F238E27FC236}">
                <a16:creationId xmlns:a16="http://schemas.microsoft.com/office/drawing/2014/main" id="{FFB5975F-A655-9C2F-C4E2-790277681D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5131482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53490049-CD65-CC0F-4F80-959EE42950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8" name="Text Box 44">
            <a:extLst>
              <a:ext uri="{FF2B5EF4-FFF2-40B4-BE49-F238E27FC236}">
                <a16:creationId xmlns:a16="http://schemas.microsoft.com/office/drawing/2014/main" id="{37253572-D028-22A2-CFB9-0A1CC07577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8718362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Text Box 48">
            <a:extLst>
              <a:ext uri="{FF2B5EF4-FFF2-40B4-BE49-F238E27FC236}">
                <a16:creationId xmlns:a16="http://schemas.microsoft.com/office/drawing/2014/main" id="{BA6DC1FA-D340-1C24-BDF2-D446BF83CB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77 usando 123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999BC904-89E5-8B95-3339-63F0079EB7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" name="Text Box 44">
            <a:extLst>
              <a:ext uri="{FF2B5EF4-FFF2-40B4-BE49-F238E27FC236}">
                <a16:creationId xmlns:a16="http://schemas.microsoft.com/office/drawing/2014/main" id="{44D351FB-27F1-838C-8202-EAF105614C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5299613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77 usando 123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Text Box 3">
            <a:extLst>
              <a:ext uri="{FF2B5EF4-FFF2-40B4-BE49-F238E27FC236}">
                <a16:creationId xmlns:a16="http://schemas.microsoft.com/office/drawing/2014/main" id="{523D8A39-5397-1A42-78B9-5DE275195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3" name="Text Box 44">
            <a:extLst>
              <a:ext uri="{FF2B5EF4-FFF2-40B4-BE49-F238E27FC236}">
                <a16:creationId xmlns:a16="http://schemas.microsoft.com/office/drawing/2014/main" id="{EEE510D0-4503-F712-89FC-A0C3848C8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6584318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77 usando 123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78BC7CC4-9BD0-2D5F-8DCC-F77E16B04F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5" name="Text Box 44">
            <a:extLst>
              <a:ext uri="{FF2B5EF4-FFF2-40B4-BE49-F238E27FC236}">
                <a16:creationId xmlns:a16="http://schemas.microsoft.com/office/drawing/2014/main" id="{E7FF160A-EB5C-6156-E887-661F31313D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30025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Line 51">
            <a:extLst>
              <a:ext uri="{FF2B5EF4-FFF2-40B4-BE49-F238E27FC236}">
                <a16:creationId xmlns:a16="http://schemas.microsoft.com/office/drawing/2014/main" id="{D800FE43-DBCD-18CC-BE6E-5D1CBD2883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53425" y="4575078"/>
            <a:ext cx="1119" cy="7336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39">
            <a:extLst>
              <a:ext uri="{FF2B5EF4-FFF2-40B4-BE49-F238E27FC236}">
                <a16:creationId xmlns:a16="http://schemas.microsoft.com/office/drawing/2014/main" id="{C7B74A20-3E37-243D-FA3F-0A1A1ECFA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992" y="529500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J=78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330413-6F57-F037-B327-72CEB09E057C}"/>
              </a:ext>
            </a:extLst>
          </p:cNvPr>
          <p:cNvSpPr/>
          <p:nvPr/>
        </p:nvSpPr>
        <p:spPr>
          <a:xfrm>
            <a:off x="7441519" y="6180933"/>
            <a:ext cx="262892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Como 78&gt;77, la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selección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125 es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mejor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que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la 123</a:t>
            </a:r>
            <a:endParaRPr lang="es-ES" sz="1400" dirty="0">
              <a:solidFill>
                <a:srgbClr val="7F7F7F"/>
              </a:solidFill>
              <a:latin typeface="Gill Sans MT" panose="020B0502020104020203" pitchFamily="34" charset="77"/>
            </a:endParaRPr>
          </a:p>
        </p:txBody>
      </p:sp>
      <p:sp>
        <p:nvSpPr>
          <p:cNvPr id="17" name="Text Box 3">
            <a:extLst>
              <a:ext uri="{FF2B5EF4-FFF2-40B4-BE49-F238E27FC236}">
                <a16:creationId xmlns:a16="http://schemas.microsoft.com/office/drawing/2014/main" id="{391E6BAC-E747-1C10-18CD-382E85786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8" name="Text Box 44">
            <a:extLst>
              <a:ext uri="{FF2B5EF4-FFF2-40B4-BE49-F238E27FC236}">
                <a16:creationId xmlns:a16="http://schemas.microsoft.com/office/drawing/2014/main" id="{C6B36577-1488-3364-7775-877DDC84CE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108722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Line 51">
            <a:extLst>
              <a:ext uri="{FF2B5EF4-FFF2-40B4-BE49-F238E27FC236}">
                <a16:creationId xmlns:a16="http://schemas.microsoft.com/office/drawing/2014/main" id="{D800FE43-DBCD-18CC-BE6E-5D1CBD2883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53425" y="4575078"/>
            <a:ext cx="1119" cy="7336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39">
            <a:extLst>
              <a:ext uri="{FF2B5EF4-FFF2-40B4-BE49-F238E27FC236}">
                <a16:creationId xmlns:a16="http://schemas.microsoft.com/office/drawing/2014/main" id="{C7B74A20-3E37-243D-FA3F-0A1A1ECFA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992" y="529500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J=78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6" name="Line 48">
            <a:extLst>
              <a:ext uri="{FF2B5EF4-FFF2-40B4-BE49-F238E27FC236}">
                <a16:creationId xmlns:a16="http://schemas.microsoft.com/office/drawing/2014/main" id="{9F539BFF-4429-6E3F-6256-38048FA57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1539" y="3716338"/>
            <a:ext cx="503237" cy="5778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" name="Line 49">
            <a:extLst>
              <a:ext uri="{FF2B5EF4-FFF2-40B4-BE49-F238E27FC236}">
                <a16:creationId xmlns:a16="http://schemas.microsoft.com/office/drawing/2014/main" id="{03CE202D-612A-5D7C-DCFF-CFB38638AD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91176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0" name="Text Box 39">
            <a:extLst>
              <a:ext uri="{FF2B5EF4-FFF2-40B4-BE49-F238E27FC236}">
                <a16:creationId xmlns:a16="http://schemas.microsoft.com/office/drawing/2014/main" id="{107DCC51-7DA6-7F62-E859-FB82A02CA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7974" y="4500849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8" name="Text Box 3">
            <a:extLst>
              <a:ext uri="{FF2B5EF4-FFF2-40B4-BE49-F238E27FC236}">
                <a16:creationId xmlns:a16="http://schemas.microsoft.com/office/drawing/2014/main" id="{A9AC8186-E109-0391-07A4-1425EBD6D7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19" name="Text Box 44">
            <a:extLst>
              <a:ext uri="{FF2B5EF4-FFF2-40B4-BE49-F238E27FC236}">
                <a16:creationId xmlns:a16="http://schemas.microsoft.com/office/drawing/2014/main" id="{212A718D-F24C-AB21-EFFF-3D4C263C81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8337718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Line 51">
            <a:extLst>
              <a:ext uri="{FF2B5EF4-FFF2-40B4-BE49-F238E27FC236}">
                <a16:creationId xmlns:a16="http://schemas.microsoft.com/office/drawing/2014/main" id="{D800FE43-DBCD-18CC-BE6E-5D1CBD2883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53425" y="4575078"/>
            <a:ext cx="1119" cy="7336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39">
            <a:extLst>
              <a:ext uri="{FF2B5EF4-FFF2-40B4-BE49-F238E27FC236}">
                <a16:creationId xmlns:a16="http://schemas.microsoft.com/office/drawing/2014/main" id="{C7B74A20-3E37-243D-FA3F-0A1A1ECFA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992" y="529500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J=78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6" name="Line 48">
            <a:extLst>
              <a:ext uri="{FF2B5EF4-FFF2-40B4-BE49-F238E27FC236}">
                <a16:creationId xmlns:a16="http://schemas.microsoft.com/office/drawing/2014/main" id="{9F539BFF-4429-6E3F-6256-38048FA57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1539" y="3716338"/>
            <a:ext cx="503237" cy="5778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" name="Line 49">
            <a:extLst>
              <a:ext uri="{FF2B5EF4-FFF2-40B4-BE49-F238E27FC236}">
                <a16:creationId xmlns:a16="http://schemas.microsoft.com/office/drawing/2014/main" id="{03CE202D-612A-5D7C-DCFF-CFB38638AD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91176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0" name="Text Box 39">
            <a:extLst>
              <a:ext uri="{FF2B5EF4-FFF2-40B4-BE49-F238E27FC236}">
                <a16:creationId xmlns:a16="http://schemas.microsoft.com/office/drawing/2014/main" id="{107DCC51-7DA6-7F62-E859-FB82A02CA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7974" y="4500849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1600C4-7442-D164-24AE-5F2F1724B00D}"/>
              </a:ext>
            </a:extLst>
          </p:cNvPr>
          <p:cNvSpPr/>
          <p:nvPr/>
        </p:nvSpPr>
        <p:spPr>
          <a:xfrm>
            <a:off x="7486487" y="6030952"/>
            <a:ext cx="278622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No es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necesario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evaluar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los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tríos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145, 135 y 134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porque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J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será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&lt; 60 </a:t>
            </a:r>
          </a:p>
          <a:p>
            <a:pPr algn="ctr"/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entonces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J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será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&lt; 78</a:t>
            </a:r>
            <a:endParaRPr lang="es-ES" sz="1400" dirty="0">
              <a:solidFill>
                <a:srgbClr val="7F7F7F"/>
              </a:solidFill>
              <a:latin typeface="Gill Sans MT" panose="020B0502020104020203" pitchFamily="34" charset="77"/>
            </a:endParaRPr>
          </a:p>
        </p:txBody>
      </p:sp>
      <p:sp>
        <p:nvSpPr>
          <p:cNvPr id="19" name="Text Box 3">
            <a:extLst>
              <a:ext uri="{FF2B5EF4-FFF2-40B4-BE49-F238E27FC236}">
                <a16:creationId xmlns:a16="http://schemas.microsoft.com/office/drawing/2014/main" id="{6FCBC370-A667-7B25-C2B2-A4131DC8D4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1" name="Text Box 44">
            <a:extLst>
              <a:ext uri="{FF2B5EF4-FFF2-40B4-BE49-F238E27FC236}">
                <a16:creationId xmlns:a16="http://schemas.microsoft.com/office/drawing/2014/main" id="{D95C6B70-2BB6-D222-89B2-321676473C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505150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Line 51">
            <a:extLst>
              <a:ext uri="{FF2B5EF4-FFF2-40B4-BE49-F238E27FC236}">
                <a16:creationId xmlns:a16="http://schemas.microsoft.com/office/drawing/2014/main" id="{D800FE43-DBCD-18CC-BE6E-5D1CBD2883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53425" y="4575078"/>
            <a:ext cx="1119" cy="7336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39">
            <a:extLst>
              <a:ext uri="{FF2B5EF4-FFF2-40B4-BE49-F238E27FC236}">
                <a16:creationId xmlns:a16="http://schemas.microsoft.com/office/drawing/2014/main" id="{C7B74A20-3E37-243D-FA3F-0A1A1ECFA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992" y="529500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J=78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6" name="Line 48">
            <a:extLst>
              <a:ext uri="{FF2B5EF4-FFF2-40B4-BE49-F238E27FC236}">
                <a16:creationId xmlns:a16="http://schemas.microsoft.com/office/drawing/2014/main" id="{9F539BFF-4429-6E3F-6256-38048FA57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1539" y="3716338"/>
            <a:ext cx="503237" cy="5778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" name="Line 49">
            <a:extLst>
              <a:ext uri="{FF2B5EF4-FFF2-40B4-BE49-F238E27FC236}">
                <a16:creationId xmlns:a16="http://schemas.microsoft.com/office/drawing/2014/main" id="{03CE202D-612A-5D7C-DCFF-CFB38638AD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91176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0" name="Text Box 39">
            <a:extLst>
              <a:ext uri="{FF2B5EF4-FFF2-40B4-BE49-F238E27FC236}">
                <a16:creationId xmlns:a16="http://schemas.microsoft.com/office/drawing/2014/main" id="{107DCC51-7DA6-7F62-E859-FB82A02CA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7974" y="4500849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9" name="Text Box 3">
            <a:extLst>
              <a:ext uri="{FF2B5EF4-FFF2-40B4-BE49-F238E27FC236}">
                <a16:creationId xmlns:a16="http://schemas.microsoft.com/office/drawing/2014/main" id="{821AB7B3-1D09-324B-E2BD-829E5D9F0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1" name="Text Box 44">
            <a:extLst>
              <a:ext uri="{FF2B5EF4-FFF2-40B4-BE49-F238E27FC236}">
                <a16:creationId xmlns:a16="http://schemas.microsoft.com/office/drawing/2014/main" id="{91DF0BC2-9F77-D1CC-D19A-8E9F2B3469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</a:t>
            </a:r>
            <a:r>
              <a:rPr lang="es-CL" sz="1400" dirty="0">
                <a:solidFill>
                  <a:schemeClr val="bg1"/>
                </a:solidFill>
                <a:latin typeface="Gill Sans MT" panose="020B0502020104020203" pitchFamily="34" charset="77"/>
              </a:rPr>
              <a:t>145    135    134 </a:t>
            </a:r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5664426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Line 51">
            <a:extLst>
              <a:ext uri="{FF2B5EF4-FFF2-40B4-BE49-F238E27FC236}">
                <a16:creationId xmlns:a16="http://schemas.microsoft.com/office/drawing/2014/main" id="{D800FE43-DBCD-18CC-BE6E-5D1CBD2883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53425" y="4575078"/>
            <a:ext cx="1119" cy="7336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39">
            <a:extLst>
              <a:ext uri="{FF2B5EF4-FFF2-40B4-BE49-F238E27FC236}">
                <a16:creationId xmlns:a16="http://schemas.microsoft.com/office/drawing/2014/main" id="{C7B74A20-3E37-243D-FA3F-0A1A1ECFA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992" y="529500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J=78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6" name="Line 48">
            <a:extLst>
              <a:ext uri="{FF2B5EF4-FFF2-40B4-BE49-F238E27FC236}">
                <a16:creationId xmlns:a16="http://schemas.microsoft.com/office/drawing/2014/main" id="{9F539BFF-4429-6E3F-6256-38048FA57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1539" y="3716338"/>
            <a:ext cx="503237" cy="5778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" name="Line 49">
            <a:extLst>
              <a:ext uri="{FF2B5EF4-FFF2-40B4-BE49-F238E27FC236}">
                <a16:creationId xmlns:a16="http://schemas.microsoft.com/office/drawing/2014/main" id="{03CE202D-612A-5D7C-DCFF-CFB38638AD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91176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0" name="Text Box 39">
            <a:extLst>
              <a:ext uri="{FF2B5EF4-FFF2-40B4-BE49-F238E27FC236}">
                <a16:creationId xmlns:a16="http://schemas.microsoft.com/office/drawing/2014/main" id="{107DCC51-7DA6-7F62-E859-FB82A02CA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7974" y="4500849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9" name="Line 51">
            <a:extLst>
              <a:ext uri="{FF2B5EF4-FFF2-40B4-BE49-F238E27FC236}">
                <a16:creationId xmlns:a16="http://schemas.microsoft.com/office/drawing/2014/main" id="{CC88A1AC-E632-1F31-E8AF-B83755F8D9C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303839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" name="Line 52">
            <a:extLst>
              <a:ext uri="{FF2B5EF4-FFF2-40B4-BE49-F238E27FC236}">
                <a16:creationId xmlns:a16="http://schemas.microsoft.com/office/drawing/2014/main" id="{0FDA810D-F06C-4E91-A3D3-9B15829F2E9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40239" y="3860801"/>
            <a:ext cx="935037" cy="3603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2DDF1289-D61D-5C14-A1A2-F710F57C50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1908" y="4495270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J=65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8" name="Text Box 3">
            <a:extLst>
              <a:ext uri="{FF2B5EF4-FFF2-40B4-BE49-F238E27FC236}">
                <a16:creationId xmlns:a16="http://schemas.microsoft.com/office/drawing/2014/main" id="{A64A8117-8B9E-D164-040E-C80999CD1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3" name="Text Box 44">
            <a:extLst>
              <a:ext uri="{FF2B5EF4-FFF2-40B4-BE49-F238E27FC236}">
                <a16:creationId xmlns:a16="http://schemas.microsoft.com/office/drawing/2014/main" id="{2B90D3CA-83E5-7537-D41B-D5C94DDD69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</a:t>
            </a:r>
            <a:r>
              <a:rPr lang="es-CL" sz="1400" dirty="0">
                <a:solidFill>
                  <a:schemeClr val="bg1"/>
                </a:solidFill>
                <a:latin typeface="Gill Sans MT" panose="020B0502020104020203" pitchFamily="34" charset="77"/>
              </a:rPr>
              <a:t>145    135    134 </a:t>
            </a:r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5020675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Line 51">
            <a:extLst>
              <a:ext uri="{FF2B5EF4-FFF2-40B4-BE49-F238E27FC236}">
                <a16:creationId xmlns:a16="http://schemas.microsoft.com/office/drawing/2014/main" id="{D800FE43-DBCD-18CC-BE6E-5D1CBD2883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53425" y="4575078"/>
            <a:ext cx="1119" cy="7336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39">
            <a:extLst>
              <a:ext uri="{FF2B5EF4-FFF2-40B4-BE49-F238E27FC236}">
                <a16:creationId xmlns:a16="http://schemas.microsoft.com/office/drawing/2014/main" id="{C7B74A20-3E37-243D-FA3F-0A1A1ECFA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992" y="529500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J=78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6" name="Line 48">
            <a:extLst>
              <a:ext uri="{FF2B5EF4-FFF2-40B4-BE49-F238E27FC236}">
                <a16:creationId xmlns:a16="http://schemas.microsoft.com/office/drawing/2014/main" id="{9F539BFF-4429-6E3F-6256-38048FA57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1539" y="3716338"/>
            <a:ext cx="503237" cy="5778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" name="Line 49">
            <a:extLst>
              <a:ext uri="{FF2B5EF4-FFF2-40B4-BE49-F238E27FC236}">
                <a16:creationId xmlns:a16="http://schemas.microsoft.com/office/drawing/2014/main" id="{03CE202D-612A-5D7C-DCFF-CFB38638AD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91176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0" name="Text Box 39">
            <a:extLst>
              <a:ext uri="{FF2B5EF4-FFF2-40B4-BE49-F238E27FC236}">
                <a16:creationId xmlns:a16="http://schemas.microsoft.com/office/drawing/2014/main" id="{107DCC51-7DA6-7F62-E859-FB82A02CA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7974" y="4500849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9" name="Line 51">
            <a:extLst>
              <a:ext uri="{FF2B5EF4-FFF2-40B4-BE49-F238E27FC236}">
                <a16:creationId xmlns:a16="http://schemas.microsoft.com/office/drawing/2014/main" id="{CC88A1AC-E632-1F31-E8AF-B83755F8D9C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303839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" name="Line 52">
            <a:extLst>
              <a:ext uri="{FF2B5EF4-FFF2-40B4-BE49-F238E27FC236}">
                <a16:creationId xmlns:a16="http://schemas.microsoft.com/office/drawing/2014/main" id="{0FDA810D-F06C-4E91-A3D3-9B15829F2E9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40239" y="3860801"/>
            <a:ext cx="935037" cy="3603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2DDF1289-D61D-5C14-A1A2-F710F57C50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1908" y="4495270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J=65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23" name="Text Box 3">
            <a:extLst>
              <a:ext uri="{FF2B5EF4-FFF2-40B4-BE49-F238E27FC236}">
                <a16:creationId xmlns:a16="http://schemas.microsoft.com/office/drawing/2014/main" id="{6FD897F7-2CE7-5D94-D871-84902049E4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4" name="Text Box 44">
            <a:extLst>
              <a:ext uri="{FF2B5EF4-FFF2-40B4-BE49-F238E27FC236}">
                <a16:creationId xmlns:a16="http://schemas.microsoft.com/office/drawing/2014/main" id="{CF3204D0-A2B3-6EF2-B229-5CA26ACCF5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</a:t>
            </a:r>
            <a:r>
              <a:rPr lang="es-CL" sz="1400" dirty="0">
                <a:solidFill>
                  <a:schemeClr val="bg1"/>
                </a:solidFill>
                <a:latin typeface="Gill Sans MT" panose="020B0502020104020203" pitchFamily="34" charset="77"/>
              </a:rPr>
              <a:t>145    135    134 </a:t>
            </a:r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7EB46A-7949-2F2B-7C7F-8D0F8CCC8B90}"/>
              </a:ext>
            </a:extLst>
          </p:cNvPr>
          <p:cNvSpPr/>
          <p:nvPr/>
        </p:nvSpPr>
        <p:spPr>
          <a:xfrm>
            <a:off x="7486487" y="6030952"/>
            <a:ext cx="278622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No es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necesario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evaluar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los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tríos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345, 235 y 234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porque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J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será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&lt; 65 </a:t>
            </a:r>
          </a:p>
          <a:p>
            <a:pPr algn="ctr"/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entonces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J </a:t>
            </a:r>
            <a:r>
              <a:rPr lang="en-US" sz="1400" dirty="0" err="1">
                <a:solidFill>
                  <a:srgbClr val="7F7F7F"/>
                </a:solidFill>
                <a:latin typeface="Gill Sans MT" panose="020B0502020104020203" pitchFamily="34" charset="77"/>
              </a:rPr>
              <a:t>será</a:t>
            </a:r>
            <a:r>
              <a:rPr lang="en-US" sz="1400" dirty="0">
                <a:solidFill>
                  <a:srgbClr val="7F7F7F"/>
                </a:solidFill>
                <a:latin typeface="Gill Sans MT" panose="020B0502020104020203" pitchFamily="34" charset="77"/>
              </a:rPr>
              <a:t> &lt; 78</a:t>
            </a:r>
            <a:endParaRPr lang="es-ES" sz="1400" dirty="0">
              <a:solidFill>
                <a:srgbClr val="7F7F7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99904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Line 51">
            <a:extLst>
              <a:ext uri="{FF2B5EF4-FFF2-40B4-BE49-F238E27FC236}">
                <a16:creationId xmlns:a16="http://schemas.microsoft.com/office/drawing/2014/main" id="{D800FE43-DBCD-18CC-BE6E-5D1CBD2883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53425" y="4575078"/>
            <a:ext cx="1119" cy="7336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39">
            <a:extLst>
              <a:ext uri="{FF2B5EF4-FFF2-40B4-BE49-F238E27FC236}">
                <a16:creationId xmlns:a16="http://schemas.microsoft.com/office/drawing/2014/main" id="{C7B74A20-3E37-243D-FA3F-0A1A1ECFA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992" y="529500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J=78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6" name="Line 48">
            <a:extLst>
              <a:ext uri="{FF2B5EF4-FFF2-40B4-BE49-F238E27FC236}">
                <a16:creationId xmlns:a16="http://schemas.microsoft.com/office/drawing/2014/main" id="{9F539BFF-4429-6E3F-6256-38048FA57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1539" y="3716338"/>
            <a:ext cx="503237" cy="5778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" name="Line 49">
            <a:extLst>
              <a:ext uri="{FF2B5EF4-FFF2-40B4-BE49-F238E27FC236}">
                <a16:creationId xmlns:a16="http://schemas.microsoft.com/office/drawing/2014/main" id="{03CE202D-612A-5D7C-DCFF-CFB38638AD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91176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0" name="Text Box 39">
            <a:extLst>
              <a:ext uri="{FF2B5EF4-FFF2-40B4-BE49-F238E27FC236}">
                <a16:creationId xmlns:a16="http://schemas.microsoft.com/office/drawing/2014/main" id="{107DCC51-7DA6-7F62-E859-FB82A02CA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7974" y="4500849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9" name="Line 51">
            <a:extLst>
              <a:ext uri="{FF2B5EF4-FFF2-40B4-BE49-F238E27FC236}">
                <a16:creationId xmlns:a16="http://schemas.microsoft.com/office/drawing/2014/main" id="{CC88A1AC-E632-1F31-E8AF-B83755F8D9C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303839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" name="Line 52">
            <a:extLst>
              <a:ext uri="{FF2B5EF4-FFF2-40B4-BE49-F238E27FC236}">
                <a16:creationId xmlns:a16="http://schemas.microsoft.com/office/drawing/2014/main" id="{0FDA810D-F06C-4E91-A3D3-9B15829F2E9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40239" y="3860801"/>
            <a:ext cx="935037" cy="3603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2DDF1289-D61D-5C14-A1A2-F710F57C50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1908" y="4495270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J=65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8" name="Text Box 3">
            <a:extLst>
              <a:ext uri="{FF2B5EF4-FFF2-40B4-BE49-F238E27FC236}">
                <a16:creationId xmlns:a16="http://schemas.microsoft.com/office/drawing/2014/main" id="{FEFCC7FC-9909-AB97-4F90-2F6BC28AE4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3" name="Text Box 44">
            <a:extLst>
              <a:ext uri="{FF2B5EF4-FFF2-40B4-BE49-F238E27FC236}">
                <a16:creationId xmlns:a16="http://schemas.microsoft.com/office/drawing/2014/main" id="{FD1EE892-929D-9FA1-0A67-6F20082D36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chemeClr val="bg1"/>
                </a:solidFill>
                <a:latin typeface="Gill Sans MT" panose="020B0502020104020203" pitchFamily="34" charset="77"/>
              </a:rPr>
              <a:t>345   245   235    234 </a:t>
            </a:r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      </a:t>
            </a:r>
            <a:r>
              <a:rPr lang="es-CL" sz="1400" dirty="0">
                <a:solidFill>
                  <a:schemeClr val="bg1"/>
                </a:solidFill>
                <a:latin typeface="Gill Sans MT" panose="020B0502020104020203" pitchFamily="34" charset="77"/>
              </a:rPr>
              <a:t>145    135    134 </a:t>
            </a:r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4453387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91BC248E-57A5-E6EB-49EC-710966C30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2143" y="320367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J=92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Line 45">
            <a:extLst>
              <a:ext uri="{FF2B5EF4-FFF2-40B4-BE49-F238E27FC236}">
                <a16:creationId xmlns:a16="http://schemas.microsoft.com/office/drawing/2014/main" id="{484BBE6E-587A-79B7-0FF2-07831CEC02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32625" y="35734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0B32B720-3343-98B2-B5D7-63C97D48D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6979" y="4149081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J=82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5" name="Line 47">
            <a:extLst>
              <a:ext uri="{FF2B5EF4-FFF2-40B4-BE49-F238E27FC236}">
                <a16:creationId xmlns:a16="http://schemas.microsoft.com/office/drawing/2014/main" id="{2434BD33-922D-3090-5482-A61519AD5CB5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304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Text Box 39">
            <a:extLst>
              <a:ext uri="{FF2B5EF4-FFF2-40B4-BE49-F238E27FC236}">
                <a16:creationId xmlns:a16="http://schemas.microsoft.com/office/drawing/2014/main" id="{060648B5-4245-9F78-F552-FFE07B62E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946" y="550713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J=77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Line 48">
            <a:extLst>
              <a:ext uri="{FF2B5EF4-FFF2-40B4-BE49-F238E27FC236}">
                <a16:creationId xmlns:a16="http://schemas.microsoft.com/office/drawing/2014/main" id="{4E1E50B3-B046-0275-1B5A-2D3077DE8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663" y="4581525"/>
            <a:ext cx="0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8" name="Line 49">
            <a:extLst>
              <a:ext uri="{FF2B5EF4-FFF2-40B4-BE49-F238E27FC236}">
                <a16:creationId xmlns:a16="http://schemas.microsoft.com/office/drawing/2014/main" id="{B30F1B6E-DBE3-1F8D-B2E0-D7746378A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0" y="3789363"/>
            <a:ext cx="935038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AE0B2C06-D5B3-1224-DA80-503ECC0EE2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1901" y="3860801"/>
            <a:ext cx="288925" cy="2889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" name="Text Box 39">
            <a:extLst>
              <a:ext uri="{FF2B5EF4-FFF2-40B4-BE49-F238E27FC236}">
                <a16:creationId xmlns:a16="http://schemas.microsoft.com/office/drawing/2014/main" id="{8E1FFD1C-F521-62FE-3034-8FEF8FED6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1" y="4476154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J=80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2" name="Text Box 48">
            <a:extLst>
              <a:ext uri="{FF2B5EF4-FFF2-40B4-BE49-F238E27FC236}">
                <a16:creationId xmlns:a16="http://schemas.microsoft.com/office/drawing/2014/main" id="{3653F266-4908-D464-B585-58864BEA5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Line 51">
            <a:extLst>
              <a:ext uri="{FF2B5EF4-FFF2-40B4-BE49-F238E27FC236}">
                <a16:creationId xmlns:a16="http://schemas.microsoft.com/office/drawing/2014/main" id="{8805C153-25EE-BAFC-2AE1-089F684672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6726" y="4581525"/>
            <a:ext cx="358775" cy="647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59A5FEB7-2A7C-C475-EFB7-39F11D0E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8391" y="5290443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J=76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4" name="Line 51">
            <a:extLst>
              <a:ext uri="{FF2B5EF4-FFF2-40B4-BE49-F238E27FC236}">
                <a16:creationId xmlns:a16="http://schemas.microsoft.com/office/drawing/2014/main" id="{D800FE43-DBCD-18CC-BE6E-5D1CBD2883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53425" y="4575078"/>
            <a:ext cx="1119" cy="733621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39">
            <a:extLst>
              <a:ext uri="{FF2B5EF4-FFF2-40B4-BE49-F238E27FC236}">
                <a16:creationId xmlns:a16="http://schemas.microsoft.com/office/drawing/2014/main" id="{C7B74A20-3E37-243D-FA3F-0A1A1ECFA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3992" y="5295008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J=78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6" name="Line 48">
            <a:extLst>
              <a:ext uri="{FF2B5EF4-FFF2-40B4-BE49-F238E27FC236}">
                <a16:creationId xmlns:a16="http://schemas.microsoft.com/office/drawing/2014/main" id="{9F539BFF-4429-6E3F-6256-38048FA572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1539" y="3716338"/>
            <a:ext cx="503237" cy="5778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7" name="Line 49">
            <a:extLst>
              <a:ext uri="{FF2B5EF4-FFF2-40B4-BE49-F238E27FC236}">
                <a16:creationId xmlns:a16="http://schemas.microsoft.com/office/drawing/2014/main" id="{03CE202D-612A-5D7C-DCFF-CFB38638AD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91176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0" name="Text Box 39">
            <a:extLst>
              <a:ext uri="{FF2B5EF4-FFF2-40B4-BE49-F238E27FC236}">
                <a16:creationId xmlns:a16="http://schemas.microsoft.com/office/drawing/2014/main" id="{107DCC51-7DA6-7F62-E859-FB82A02CA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7974" y="4500849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J=60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9" name="Line 51">
            <a:extLst>
              <a:ext uri="{FF2B5EF4-FFF2-40B4-BE49-F238E27FC236}">
                <a16:creationId xmlns:a16="http://schemas.microsoft.com/office/drawing/2014/main" id="{CC88A1AC-E632-1F31-E8AF-B83755F8D9C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303839" y="3789363"/>
            <a:ext cx="288925" cy="3603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med" len="med"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" name="Line 52">
            <a:extLst>
              <a:ext uri="{FF2B5EF4-FFF2-40B4-BE49-F238E27FC236}">
                <a16:creationId xmlns:a16="http://schemas.microsoft.com/office/drawing/2014/main" id="{0FDA810D-F06C-4E91-A3D3-9B15829F2E9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40239" y="3860801"/>
            <a:ext cx="935037" cy="3603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2DDF1289-D61D-5C14-A1A2-F710F57C50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1908" y="4495270"/>
            <a:ext cx="513282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J=65</a:t>
            </a:r>
            <a:endParaRPr lang="es-ES" sz="1400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F5F375-8A38-E29A-D118-8562129E4D0B}"/>
              </a:ext>
            </a:extLst>
          </p:cNvPr>
          <p:cNvSpPr/>
          <p:nvPr/>
        </p:nvSpPr>
        <p:spPr>
          <a:xfrm>
            <a:off x="2855640" y="1628800"/>
            <a:ext cx="662473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>
                <a:solidFill>
                  <a:srgbClr val="FF6600"/>
                </a:solidFill>
                <a:latin typeface="Gill Sans MT" panose="020B0502020104020203" pitchFamily="34" charset="77"/>
              </a:rPr>
              <a:t>Encontramos el máximo global tras 8 evaluaciones (usando B&amp;B)</a:t>
            </a:r>
            <a:endParaRPr lang="es-ES" sz="1600" dirty="0">
              <a:solidFill>
                <a:srgbClr val="FF6600"/>
              </a:solidFill>
              <a:latin typeface="Gill Sans MT" panose="020B0502020104020203" pitchFamily="34" charset="77"/>
            </a:endParaRPr>
          </a:p>
        </p:txBody>
      </p:sp>
      <p:sp>
        <p:nvSpPr>
          <p:cNvPr id="23" name="Text Box 3">
            <a:extLst>
              <a:ext uri="{FF2B5EF4-FFF2-40B4-BE49-F238E27FC236}">
                <a16:creationId xmlns:a16="http://schemas.microsoft.com/office/drawing/2014/main" id="{00674A63-D67A-14AD-3EB2-91C753B5A3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24" name="Text Box 44">
            <a:extLst>
              <a:ext uri="{FF2B5EF4-FFF2-40B4-BE49-F238E27FC236}">
                <a16:creationId xmlns:a16="http://schemas.microsoft.com/office/drawing/2014/main" id="{0A10821F-B16F-7461-7B09-32A39EA397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chemeClr val="bg1"/>
                </a:solidFill>
                <a:latin typeface="Gill Sans MT" panose="020B0502020104020203" pitchFamily="34" charset="77"/>
              </a:rPr>
              <a:t>345   245   235    234 </a:t>
            </a:r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      </a:t>
            </a:r>
            <a:r>
              <a:rPr lang="es-CL" sz="1400" dirty="0">
                <a:solidFill>
                  <a:schemeClr val="bg1"/>
                </a:solidFill>
                <a:latin typeface="Gill Sans MT" panose="020B0502020104020203" pitchFamily="34" charset="77"/>
              </a:rPr>
              <a:t>145    135    134 </a:t>
            </a:r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7646649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Line 4"/>
          <p:cNvSpPr>
            <a:spLocks noChangeShapeType="1"/>
          </p:cNvSpPr>
          <p:nvPr/>
        </p:nvSpPr>
        <p:spPr bwMode="auto">
          <a:xfrm>
            <a:off x="2135188" y="4437063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1" name="Line 5"/>
          <p:cNvSpPr>
            <a:spLocks noChangeShapeType="1"/>
          </p:cNvSpPr>
          <p:nvPr/>
        </p:nvSpPr>
        <p:spPr bwMode="auto">
          <a:xfrm>
            <a:off x="2135188" y="3500438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2" name="Text Box 6"/>
          <p:cNvSpPr txBox="1">
            <a:spLocks noChangeArrowheads="1"/>
          </p:cNvSpPr>
          <p:nvPr/>
        </p:nvSpPr>
        <p:spPr bwMode="auto">
          <a:xfrm>
            <a:off x="1703388" y="3284538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0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1703388" y="4221163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1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>
            <a:off x="2135188" y="5445125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703388" y="5229225"/>
            <a:ext cx="923586" cy="36933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Level</a:t>
            </a:r>
            <a:r>
              <a:rPr lang="es-CL" dirty="0">
                <a:latin typeface="Gill Sans MT" panose="020B0502020104020203" pitchFamily="34" charset="77"/>
              </a:rPr>
              <a:t> 2 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9226" name="Oval 10"/>
          <p:cNvSpPr>
            <a:spLocks noChangeArrowheads="1"/>
          </p:cNvSpPr>
          <p:nvPr/>
        </p:nvSpPr>
        <p:spPr bwMode="auto">
          <a:xfrm>
            <a:off x="5880101" y="34290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7" name="Oval 11"/>
          <p:cNvSpPr>
            <a:spLocks noChangeArrowheads="1"/>
          </p:cNvSpPr>
          <p:nvPr/>
        </p:nvSpPr>
        <p:spPr bwMode="auto">
          <a:xfrm>
            <a:off x="3719513" y="436403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8" name="Oval 12"/>
          <p:cNvSpPr>
            <a:spLocks noChangeArrowheads="1"/>
          </p:cNvSpPr>
          <p:nvPr/>
        </p:nvSpPr>
        <p:spPr bwMode="auto">
          <a:xfrm>
            <a:off x="5159376" y="43656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29" name="Oval 13"/>
          <p:cNvSpPr>
            <a:spLocks noChangeArrowheads="1"/>
          </p:cNvSpPr>
          <p:nvPr/>
        </p:nvSpPr>
        <p:spPr bwMode="auto">
          <a:xfrm>
            <a:off x="6599238" y="4365626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0" name="Oval 14"/>
          <p:cNvSpPr>
            <a:spLocks noChangeArrowheads="1"/>
          </p:cNvSpPr>
          <p:nvPr/>
        </p:nvSpPr>
        <p:spPr bwMode="auto">
          <a:xfrm>
            <a:off x="8039101" y="4367213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1" name="Oval 15"/>
          <p:cNvSpPr>
            <a:spLocks noChangeArrowheads="1"/>
          </p:cNvSpPr>
          <p:nvPr/>
        </p:nvSpPr>
        <p:spPr bwMode="auto">
          <a:xfrm>
            <a:off x="36480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2" name="Oval 16"/>
          <p:cNvSpPr>
            <a:spLocks noChangeArrowheads="1"/>
          </p:cNvSpPr>
          <p:nvPr/>
        </p:nvSpPr>
        <p:spPr bwMode="auto">
          <a:xfrm>
            <a:off x="51593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3" name="Oval 17"/>
          <p:cNvSpPr>
            <a:spLocks noChangeArrowheads="1"/>
          </p:cNvSpPr>
          <p:nvPr/>
        </p:nvSpPr>
        <p:spPr bwMode="auto">
          <a:xfrm>
            <a:off x="659923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34" name="Oval 18"/>
          <p:cNvSpPr>
            <a:spLocks noChangeArrowheads="1"/>
          </p:cNvSpPr>
          <p:nvPr/>
        </p:nvSpPr>
        <p:spPr bwMode="auto">
          <a:xfrm>
            <a:off x="8039101" y="537527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35" name="AutoShape 19"/>
          <p:cNvCxnSpPr>
            <a:cxnSpLocks noChangeShapeType="1"/>
            <a:stCxn id="9226" idx="4"/>
            <a:endCxn id="9227" idx="0"/>
          </p:cNvCxnSpPr>
          <p:nvPr/>
        </p:nvCxnSpPr>
        <p:spPr bwMode="auto">
          <a:xfrm flipH="1">
            <a:off x="3792539" y="3573464"/>
            <a:ext cx="2160587" cy="79057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6" name="AutoShape 20"/>
          <p:cNvCxnSpPr>
            <a:cxnSpLocks noChangeShapeType="1"/>
            <a:stCxn id="9226" idx="4"/>
            <a:endCxn id="9228" idx="0"/>
          </p:cNvCxnSpPr>
          <p:nvPr/>
        </p:nvCxnSpPr>
        <p:spPr bwMode="auto">
          <a:xfrm flipH="1">
            <a:off x="5232401" y="3573463"/>
            <a:ext cx="720725" cy="792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7" name="AutoShape 21"/>
          <p:cNvCxnSpPr>
            <a:cxnSpLocks noChangeShapeType="1"/>
            <a:stCxn id="9226" idx="4"/>
            <a:endCxn id="9229" idx="1"/>
          </p:cNvCxnSpPr>
          <p:nvPr/>
        </p:nvCxnSpPr>
        <p:spPr bwMode="auto">
          <a:xfrm>
            <a:off x="5953125" y="3573463"/>
            <a:ext cx="666750" cy="812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38" name="AutoShape 22"/>
          <p:cNvCxnSpPr>
            <a:cxnSpLocks noChangeShapeType="1"/>
            <a:stCxn id="9226" idx="4"/>
            <a:endCxn id="9230" idx="1"/>
          </p:cNvCxnSpPr>
          <p:nvPr/>
        </p:nvCxnSpPr>
        <p:spPr bwMode="auto">
          <a:xfrm>
            <a:off x="5953126" y="3573464"/>
            <a:ext cx="2106613" cy="8143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39" name="Oval 23"/>
          <p:cNvSpPr>
            <a:spLocks noChangeArrowheads="1"/>
          </p:cNvSpPr>
          <p:nvPr/>
        </p:nvSpPr>
        <p:spPr bwMode="auto">
          <a:xfrm>
            <a:off x="32162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0" name="Oval 24"/>
          <p:cNvSpPr>
            <a:spLocks noChangeArrowheads="1"/>
          </p:cNvSpPr>
          <p:nvPr/>
        </p:nvSpPr>
        <p:spPr bwMode="auto">
          <a:xfrm>
            <a:off x="2782888" y="5373688"/>
            <a:ext cx="144462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1" name="Oval 25"/>
          <p:cNvSpPr>
            <a:spLocks noChangeArrowheads="1"/>
          </p:cNvSpPr>
          <p:nvPr/>
        </p:nvSpPr>
        <p:spPr bwMode="auto">
          <a:xfrm>
            <a:off x="40798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2" name="Oval 26"/>
          <p:cNvSpPr>
            <a:spLocks noChangeArrowheads="1"/>
          </p:cNvSpPr>
          <p:nvPr/>
        </p:nvSpPr>
        <p:spPr bwMode="auto">
          <a:xfrm>
            <a:off x="4727576" y="5373688"/>
            <a:ext cx="144463" cy="1444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3" name="Oval 27"/>
          <p:cNvSpPr>
            <a:spLocks noChangeArrowheads="1"/>
          </p:cNvSpPr>
          <p:nvPr/>
        </p:nvSpPr>
        <p:spPr bwMode="auto">
          <a:xfrm>
            <a:off x="5591176" y="53721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7031038" y="5372101"/>
            <a:ext cx="144462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9245" name="AutoShape 29"/>
          <p:cNvCxnSpPr>
            <a:cxnSpLocks noChangeShapeType="1"/>
            <a:stCxn id="9227" idx="4"/>
            <a:endCxn id="9240" idx="0"/>
          </p:cNvCxnSpPr>
          <p:nvPr/>
        </p:nvCxnSpPr>
        <p:spPr bwMode="auto">
          <a:xfrm flipH="1">
            <a:off x="2855914" y="4508500"/>
            <a:ext cx="936625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6" name="AutoShape 30"/>
          <p:cNvCxnSpPr>
            <a:cxnSpLocks noChangeShapeType="1"/>
            <a:stCxn id="9227" idx="4"/>
            <a:endCxn id="9239" idx="0"/>
          </p:cNvCxnSpPr>
          <p:nvPr/>
        </p:nvCxnSpPr>
        <p:spPr bwMode="auto">
          <a:xfrm flipH="1">
            <a:off x="3289300" y="4508500"/>
            <a:ext cx="503238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7" name="AutoShape 31"/>
          <p:cNvCxnSpPr>
            <a:cxnSpLocks noChangeShapeType="1"/>
            <a:stCxn id="9227" idx="4"/>
            <a:endCxn id="9231" idx="0"/>
          </p:cNvCxnSpPr>
          <p:nvPr/>
        </p:nvCxnSpPr>
        <p:spPr bwMode="auto">
          <a:xfrm flipH="1">
            <a:off x="3721100" y="4508500"/>
            <a:ext cx="71438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8" name="AutoShape 32"/>
          <p:cNvCxnSpPr>
            <a:cxnSpLocks noChangeShapeType="1"/>
            <a:stCxn id="9227" idx="4"/>
            <a:endCxn id="9241" idx="0"/>
          </p:cNvCxnSpPr>
          <p:nvPr/>
        </p:nvCxnSpPr>
        <p:spPr bwMode="auto">
          <a:xfrm>
            <a:off x="3792538" y="4508500"/>
            <a:ext cx="360362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49" name="AutoShape 33"/>
          <p:cNvCxnSpPr>
            <a:cxnSpLocks noChangeShapeType="1"/>
            <a:endCxn id="9242" idx="0"/>
          </p:cNvCxnSpPr>
          <p:nvPr/>
        </p:nvCxnSpPr>
        <p:spPr bwMode="auto">
          <a:xfrm flipH="1">
            <a:off x="48006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0" name="AutoShape 34"/>
          <p:cNvCxnSpPr>
            <a:cxnSpLocks noChangeShapeType="1"/>
            <a:endCxn id="9232" idx="0"/>
          </p:cNvCxnSpPr>
          <p:nvPr/>
        </p:nvCxnSpPr>
        <p:spPr bwMode="auto">
          <a:xfrm>
            <a:off x="5232400" y="4508500"/>
            <a:ext cx="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1" name="AutoShape 35"/>
          <p:cNvCxnSpPr>
            <a:cxnSpLocks noChangeShapeType="1"/>
          </p:cNvCxnSpPr>
          <p:nvPr/>
        </p:nvCxnSpPr>
        <p:spPr bwMode="auto">
          <a:xfrm>
            <a:off x="5232400" y="4508500"/>
            <a:ext cx="431800" cy="8651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2" name="AutoShape 36"/>
          <p:cNvCxnSpPr>
            <a:cxnSpLocks noChangeShapeType="1"/>
            <a:stCxn id="9229" idx="4"/>
            <a:endCxn id="9233" idx="0"/>
          </p:cNvCxnSpPr>
          <p:nvPr/>
        </p:nvCxnSpPr>
        <p:spPr bwMode="auto">
          <a:xfrm>
            <a:off x="6672263" y="4510088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3" name="AutoShape 37"/>
          <p:cNvCxnSpPr>
            <a:cxnSpLocks noChangeShapeType="1"/>
            <a:endCxn id="9244" idx="0"/>
          </p:cNvCxnSpPr>
          <p:nvPr/>
        </p:nvCxnSpPr>
        <p:spPr bwMode="auto">
          <a:xfrm>
            <a:off x="6672263" y="4508500"/>
            <a:ext cx="43180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9254" name="AutoShape 38"/>
          <p:cNvCxnSpPr>
            <a:cxnSpLocks noChangeShapeType="1"/>
            <a:stCxn id="9230" idx="4"/>
            <a:endCxn id="9234" idx="0"/>
          </p:cNvCxnSpPr>
          <p:nvPr/>
        </p:nvCxnSpPr>
        <p:spPr bwMode="auto">
          <a:xfrm>
            <a:off x="8112125" y="4511675"/>
            <a:ext cx="0" cy="863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9255" name="Text Box 39"/>
          <p:cNvSpPr txBox="1">
            <a:spLocks noChangeArrowheads="1"/>
          </p:cNvSpPr>
          <p:nvPr/>
        </p:nvSpPr>
        <p:spPr bwMode="auto">
          <a:xfrm>
            <a:off x="5948363" y="3213100"/>
            <a:ext cx="6524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6" name="Text Box 40"/>
          <p:cNvSpPr txBox="1">
            <a:spLocks noChangeArrowheads="1"/>
          </p:cNvSpPr>
          <p:nvPr/>
        </p:nvSpPr>
        <p:spPr bwMode="auto">
          <a:xfrm>
            <a:off x="395287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2345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7" name="Text Box 41"/>
          <p:cNvSpPr txBox="1">
            <a:spLocks noChangeArrowheads="1"/>
          </p:cNvSpPr>
          <p:nvPr/>
        </p:nvSpPr>
        <p:spPr bwMode="auto">
          <a:xfrm>
            <a:off x="532130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1345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8" name="Text Box 42"/>
          <p:cNvSpPr txBox="1">
            <a:spLocks noChangeArrowheads="1"/>
          </p:cNvSpPr>
          <p:nvPr/>
        </p:nvSpPr>
        <p:spPr bwMode="auto">
          <a:xfrm>
            <a:off x="6689725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1245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9259" name="Text Box 43"/>
          <p:cNvSpPr txBox="1">
            <a:spLocks noChangeArrowheads="1"/>
          </p:cNvSpPr>
          <p:nvPr/>
        </p:nvSpPr>
        <p:spPr bwMode="auto">
          <a:xfrm>
            <a:off x="8057480" y="4149725"/>
            <a:ext cx="558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1235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D81261-57EB-2C8C-D60D-3BC0F417B5A8}"/>
              </a:ext>
            </a:extLst>
          </p:cNvPr>
          <p:cNvSpPr/>
          <p:nvPr/>
        </p:nvSpPr>
        <p:spPr>
          <a:xfrm>
            <a:off x="2063552" y="1628800"/>
            <a:ext cx="76328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>
                <a:solidFill>
                  <a:srgbClr val="FF6600"/>
                </a:solidFill>
                <a:latin typeface="Gill Sans MT" panose="020B0502020104020203" pitchFamily="34" charset="77"/>
              </a:rPr>
              <a:t>Encontramos el máximo global tras 10 evaluaciones (usando Búsqueda Exhaustiva)</a:t>
            </a:r>
            <a:endParaRPr lang="es-ES" sz="1600" dirty="0">
              <a:solidFill>
                <a:srgbClr val="FF6600"/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Text Box 48">
            <a:extLst>
              <a:ext uri="{FF2B5EF4-FFF2-40B4-BE49-F238E27FC236}">
                <a16:creationId xmlns:a16="http://schemas.microsoft.com/office/drawing/2014/main" id="{6EC9AF9E-FCCE-2702-8973-0348BD2DB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881" y="6228020"/>
            <a:ext cx="2494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>
                <a:solidFill>
                  <a:srgbClr val="FF0000"/>
                </a:solidFill>
                <a:latin typeface="Gill Sans MT" panose="020B0502020104020203" pitchFamily="34" charset="77"/>
              </a:rPr>
              <a:t>Mejor J = 78 usando 125</a:t>
            </a:r>
            <a:endParaRPr lang="es-E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C5B45B04-677F-C512-03C2-FF988CED3D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9" y="784225"/>
            <a:ext cx="8156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CL" dirty="0">
                <a:latin typeface="Gill Sans MT" panose="020B0502020104020203" pitchFamily="34" charset="77"/>
              </a:rPr>
              <a:t>Problema: Dadas 5 características (1,2,3,4,5), selecciona las 3 mejores</a:t>
            </a:r>
            <a:endParaRPr lang="es-ES" dirty="0">
              <a:latin typeface="Gill Sans MT" panose="020B0502020104020203" pitchFamily="34" charset="77"/>
            </a:endParaRPr>
          </a:p>
        </p:txBody>
      </p:sp>
      <p:sp>
        <p:nvSpPr>
          <p:cNvPr id="5" name="Text Box 44">
            <a:extLst>
              <a:ext uri="{FF2B5EF4-FFF2-40B4-BE49-F238E27FC236}">
                <a16:creationId xmlns:a16="http://schemas.microsoft.com/office/drawing/2014/main" id="{BA992E7D-EA58-89C1-DEC4-829A429046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516564"/>
            <a:ext cx="5859296" cy="307777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1400" dirty="0">
                <a:solidFill>
                  <a:srgbClr val="0000FF"/>
                </a:solidFill>
                <a:latin typeface="Gill Sans MT" panose="020B0502020104020203" pitchFamily="34" charset="77"/>
              </a:rPr>
              <a:t>345   245   235    234       145    135    134              125   124               123   </a:t>
            </a:r>
            <a:endParaRPr lang="es-ES" sz="1400" dirty="0">
              <a:solidFill>
                <a:srgbClr val="0000FF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03243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1302</TotalTime>
  <Words>4875</Words>
  <Application>Microsoft Macintosh PowerPoint</Application>
  <PresentationFormat>Widescreen</PresentationFormat>
  <Paragraphs>1689</Paragraphs>
  <Slides>142</Slides>
  <Notes>28</Notes>
  <HiddenSlides>2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142</vt:i4>
      </vt:variant>
    </vt:vector>
  </HeadingPairs>
  <TitlesOfParts>
    <vt:vector size="148" baseType="lpstr">
      <vt:lpstr>Arial</vt:lpstr>
      <vt:lpstr>Consolas</vt:lpstr>
      <vt:lpstr>Gill Sans MT</vt:lpstr>
      <vt:lpstr>Times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35</cp:revision>
  <dcterms:created xsi:type="dcterms:W3CDTF">2026-03-08T16:41:49Z</dcterms:created>
  <dcterms:modified xsi:type="dcterms:W3CDTF">2026-04-22T22:54:03Z</dcterms:modified>
</cp:coreProperties>
</file>