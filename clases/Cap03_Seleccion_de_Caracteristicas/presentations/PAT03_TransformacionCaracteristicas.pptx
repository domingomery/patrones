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54"/>
  </p:notesMasterIdLst>
  <p:sldIdLst>
    <p:sldId id="257" r:id="rId2"/>
    <p:sldId id="256" r:id="rId3"/>
    <p:sldId id="258" r:id="rId4"/>
    <p:sldId id="305" r:id="rId5"/>
    <p:sldId id="306" r:id="rId6"/>
    <p:sldId id="307" r:id="rId7"/>
    <p:sldId id="308" r:id="rId8"/>
    <p:sldId id="309" r:id="rId9"/>
    <p:sldId id="310" r:id="rId10"/>
    <p:sldId id="311" r:id="rId11"/>
    <p:sldId id="312" r:id="rId12"/>
    <p:sldId id="314" r:id="rId13"/>
    <p:sldId id="315" r:id="rId14"/>
    <p:sldId id="316" r:id="rId15"/>
    <p:sldId id="317" r:id="rId16"/>
    <p:sldId id="351" r:id="rId17"/>
    <p:sldId id="318" r:id="rId18"/>
    <p:sldId id="319" r:id="rId19"/>
    <p:sldId id="320" r:id="rId20"/>
    <p:sldId id="321" r:id="rId21"/>
    <p:sldId id="322" r:id="rId22"/>
    <p:sldId id="323" r:id="rId23"/>
    <p:sldId id="324" r:id="rId24"/>
    <p:sldId id="291" r:id="rId25"/>
    <p:sldId id="342" r:id="rId26"/>
    <p:sldId id="353" r:id="rId27"/>
    <p:sldId id="343" r:id="rId28"/>
    <p:sldId id="354" r:id="rId29"/>
    <p:sldId id="269" r:id="rId30"/>
    <p:sldId id="287" r:id="rId31"/>
    <p:sldId id="327" r:id="rId32"/>
    <p:sldId id="292" r:id="rId33"/>
    <p:sldId id="329" r:id="rId34"/>
    <p:sldId id="331" r:id="rId35"/>
    <p:sldId id="332" r:id="rId36"/>
    <p:sldId id="335" r:id="rId37"/>
    <p:sldId id="349" r:id="rId38"/>
    <p:sldId id="334" r:id="rId39"/>
    <p:sldId id="350" r:id="rId40"/>
    <p:sldId id="355" r:id="rId41"/>
    <p:sldId id="336" r:id="rId42"/>
    <p:sldId id="337" r:id="rId43"/>
    <p:sldId id="338" r:id="rId44"/>
    <p:sldId id="339" r:id="rId45"/>
    <p:sldId id="340" r:id="rId46"/>
    <p:sldId id="357" r:id="rId47"/>
    <p:sldId id="356" r:id="rId48"/>
    <p:sldId id="341" r:id="rId49"/>
    <p:sldId id="344" r:id="rId50"/>
    <p:sldId id="347" r:id="rId51"/>
    <p:sldId id="345" r:id="rId52"/>
    <p:sldId id="346" r:id="rId53"/>
  </p:sldIdLst>
  <p:sldSz cx="12192000" cy="6858000"/>
  <p:notesSz cx="6858000" cy="9144000"/>
  <p:defaultTextStyle>
    <a:defPPr>
      <a:defRPr lang="en-C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21212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0201"/>
    <p:restoredTop sz="94658"/>
  </p:normalViewPr>
  <p:slideViewPr>
    <p:cSldViewPr snapToGrid="0">
      <p:cViewPr varScale="1">
        <p:scale>
          <a:sx n="91" d="100"/>
          <a:sy n="91" d="100"/>
        </p:scale>
        <p:origin x="224" y="8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" d="1"/>
        <a:sy n="1" d="1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presProps" Target="pres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tableStyles" Target="tableStyles.xml"/><Relationship Id="rId5" Type="http://schemas.openxmlformats.org/officeDocument/2006/relationships/slide" Target="slides/slide4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viewProps" Target="viewProp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theme" Target="theme/theme1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 b="0" i="0">
                <a:latin typeface="Gill Sans MT" panose="020B0502020104020203" pitchFamily="34" charset="77"/>
              </a:defRPr>
            </a:lvl1pPr>
          </a:lstStyle>
          <a:p>
            <a:endParaRPr lang="en-CL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 b="0" i="0">
                <a:latin typeface="Gill Sans MT" panose="020B0502020104020203" pitchFamily="34" charset="77"/>
              </a:defRPr>
            </a:lvl1pPr>
          </a:lstStyle>
          <a:p>
            <a:fld id="{1249748F-0FE7-C64C-B0B9-9306A54D4824}" type="datetimeFigureOut">
              <a:rPr lang="en-CL" smtClean="0"/>
              <a:pPr/>
              <a:t>27-04-26</a:t>
            </a:fld>
            <a:endParaRPr lang="en-CL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CL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 b="0" i="0">
                <a:latin typeface="Gill Sans MT" panose="020B0502020104020203" pitchFamily="34" charset="77"/>
              </a:defRPr>
            </a:lvl1pPr>
          </a:lstStyle>
          <a:p>
            <a:endParaRPr lang="en-CL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 b="0" i="0">
                <a:latin typeface="Gill Sans MT" panose="020B0502020104020203" pitchFamily="34" charset="77"/>
              </a:defRPr>
            </a:lvl1pPr>
          </a:lstStyle>
          <a:p>
            <a:fld id="{8C36E6B2-EC45-1147-8496-DFA2586CC8C4}" type="slidenum">
              <a:rPr lang="en-CL" smtClean="0"/>
              <a:pPr/>
              <a:t>‹#›</a:t>
            </a:fld>
            <a:endParaRPr lang="en-CL" dirty="0"/>
          </a:p>
        </p:txBody>
      </p:sp>
    </p:spTree>
    <p:extLst>
      <p:ext uri="{BB962C8B-B14F-4D97-AF65-F5344CB8AC3E}">
        <p14:creationId xmlns:p14="http://schemas.microsoft.com/office/powerpoint/2010/main" val="303457104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b="0" i="0" kern="1200">
        <a:solidFill>
          <a:schemeClr val="tx1"/>
        </a:solidFill>
        <a:latin typeface="Gill Sans MT" panose="020B0502020104020203" pitchFamily="34" charset="77"/>
        <a:ea typeface="+mn-ea"/>
        <a:cs typeface="+mn-cs"/>
      </a:defRPr>
    </a:lvl1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DB8DC0-3787-B971-5D00-8727CB18CCA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CL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84A3FB4-AFDF-6CFB-84FB-E0438C517C0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C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32F51BE-7742-8427-323B-6746C92764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457589-72F1-974D-B204-6AE212262628}" type="datetimeFigureOut">
              <a:rPr lang="en-CL" smtClean="0"/>
              <a:t>27-04-26</a:t>
            </a:fld>
            <a:endParaRPr lang="en-C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317082A-B0F6-05B3-4148-6F125B3BEC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35BB3A-30A8-1717-EEEF-CCDD19DE17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6AE8E3-C79C-E14F-9140-34B0C7F543F1}" type="slidenum">
              <a:rPr lang="en-CL" smtClean="0"/>
              <a:t>‹#›</a:t>
            </a:fld>
            <a:endParaRPr lang="en-CL"/>
          </a:p>
        </p:txBody>
      </p:sp>
    </p:spTree>
    <p:extLst>
      <p:ext uri="{BB962C8B-B14F-4D97-AF65-F5344CB8AC3E}">
        <p14:creationId xmlns:p14="http://schemas.microsoft.com/office/powerpoint/2010/main" val="340187608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6E5084-85EB-0ADC-D7F0-0DA592CEDE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EA50CEA-EC43-5349-1EBB-8F562F4E7D8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A6EC922-A7D2-9731-7041-D7AC6FB838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457589-72F1-974D-B204-6AE212262628}" type="datetimeFigureOut">
              <a:rPr lang="en-CL" smtClean="0"/>
              <a:t>27-04-26</a:t>
            </a:fld>
            <a:endParaRPr lang="en-C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7AEC05-6729-F167-4DA1-FB23E0490B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46505FA-C70E-C130-A20D-DB301157A7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6AE8E3-C79C-E14F-9140-34B0C7F543F1}" type="slidenum">
              <a:rPr lang="en-CL" smtClean="0"/>
              <a:t>‹#›</a:t>
            </a:fld>
            <a:endParaRPr lang="en-CL"/>
          </a:p>
        </p:txBody>
      </p:sp>
    </p:spTree>
    <p:extLst>
      <p:ext uri="{BB962C8B-B14F-4D97-AF65-F5344CB8AC3E}">
        <p14:creationId xmlns:p14="http://schemas.microsoft.com/office/powerpoint/2010/main" val="37885062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4F4697-BA84-150B-4C2D-F847137962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C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B49B2F4-202A-2BB1-535C-1A428E58FCE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30EE603-A515-38A5-01CB-993F9D3E6C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457589-72F1-974D-B204-6AE212262628}" type="datetimeFigureOut">
              <a:rPr lang="en-CL" smtClean="0"/>
              <a:t>27-04-26</a:t>
            </a:fld>
            <a:endParaRPr lang="en-C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C6D1643-6231-F3E2-610F-D775A2BB96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D27DCF5-082A-FB09-50BE-837F0ACE12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6AE8E3-C79C-E14F-9140-34B0C7F543F1}" type="slidenum">
              <a:rPr lang="en-CL" smtClean="0"/>
              <a:t>‹#›</a:t>
            </a:fld>
            <a:endParaRPr lang="en-CL"/>
          </a:p>
        </p:txBody>
      </p:sp>
    </p:spTree>
    <p:extLst>
      <p:ext uri="{BB962C8B-B14F-4D97-AF65-F5344CB8AC3E}">
        <p14:creationId xmlns:p14="http://schemas.microsoft.com/office/powerpoint/2010/main" val="232677979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EC9F8F-3D31-5054-B98B-32951A3473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C103B9-D8C0-4B32-EE45-9BD12EF747C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L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652F047-75A3-523A-D879-40B2EDA8D16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L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E9FB8B8-5B4E-1775-617E-5E75D094A4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457589-72F1-974D-B204-6AE212262628}" type="datetimeFigureOut">
              <a:rPr lang="en-CL" smtClean="0"/>
              <a:t>27-04-26</a:t>
            </a:fld>
            <a:endParaRPr lang="en-C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CB9D2B7-35C0-0726-D40B-546E245F6F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C310F33-EF19-5FAC-1C0C-CC049E95FB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6AE8E3-C79C-E14F-9140-34B0C7F543F1}" type="slidenum">
              <a:rPr lang="en-CL" smtClean="0"/>
              <a:t>‹#›</a:t>
            </a:fld>
            <a:endParaRPr lang="en-CL"/>
          </a:p>
        </p:txBody>
      </p:sp>
    </p:spTree>
    <p:extLst>
      <p:ext uri="{BB962C8B-B14F-4D97-AF65-F5344CB8AC3E}">
        <p14:creationId xmlns:p14="http://schemas.microsoft.com/office/powerpoint/2010/main" val="326502645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E2880C-73E3-54CD-F870-565E8A1B15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C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A35B4E4-4FDE-76FD-67FE-AC9066C11EF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5CE05A7-4548-3D67-22C7-AE2D1FA3252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L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123D907-7359-B8EC-9C20-35EBC1A8C60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8E90DD8-E513-9D1B-B62B-8CD564AF803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L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B7A1F58-D509-1FFB-BFE0-0B0A48435D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457589-72F1-974D-B204-6AE212262628}" type="datetimeFigureOut">
              <a:rPr lang="en-CL" smtClean="0"/>
              <a:t>27-04-26</a:t>
            </a:fld>
            <a:endParaRPr lang="en-CL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61A7296-B85D-0D25-EB6E-7FAF5D12D1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L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531504A-0C9E-5FD4-88B8-34EEA65744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6AE8E3-C79C-E14F-9140-34B0C7F543F1}" type="slidenum">
              <a:rPr lang="en-CL" smtClean="0"/>
              <a:t>‹#›</a:t>
            </a:fld>
            <a:endParaRPr lang="en-CL"/>
          </a:p>
        </p:txBody>
      </p:sp>
    </p:spTree>
    <p:extLst>
      <p:ext uri="{BB962C8B-B14F-4D97-AF65-F5344CB8AC3E}">
        <p14:creationId xmlns:p14="http://schemas.microsoft.com/office/powerpoint/2010/main" val="404005096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EB930F-82FE-3339-6D9E-1DCC65EE1D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L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11259F5-F978-F338-03E4-3952DD8EFF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457589-72F1-974D-B204-6AE212262628}" type="datetimeFigureOut">
              <a:rPr lang="en-CL" smtClean="0"/>
              <a:t>27-04-26</a:t>
            </a:fld>
            <a:endParaRPr lang="en-CL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BFFF779-7E7D-359E-E5CD-14EA90664F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L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73397C7-7E22-651A-C048-37C544FF4C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6AE8E3-C79C-E14F-9140-34B0C7F543F1}" type="slidenum">
              <a:rPr lang="en-CL" smtClean="0"/>
              <a:t>‹#›</a:t>
            </a:fld>
            <a:endParaRPr lang="en-CL"/>
          </a:p>
        </p:txBody>
      </p:sp>
    </p:spTree>
    <p:extLst>
      <p:ext uri="{BB962C8B-B14F-4D97-AF65-F5344CB8AC3E}">
        <p14:creationId xmlns:p14="http://schemas.microsoft.com/office/powerpoint/2010/main" val="36275006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D637C7D-F2B3-C204-E8FB-4C5FB6A767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457589-72F1-974D-B204-6AE212262628}" type="datetimeFigureOut">
              <a:rPr lang="en-CL" smtClean="0"/>
              <a:t>27-04-26</a:t>
            </a:fld>
            <a:endParaRPr lang="en-CL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EEFEE0D-AE5F-8253-4CF5-C157DB29DA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L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1587494-01E2-375D-3A6E-278594CEBE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6AE8E3-C79C-E14F-9140-34B0C7F543F1}" type="slidenum">
              <a:rPr lang="en-CL" smtClean="0"/>
              <a:t>‹#›</a:t>
            </a:fld>
            <a:endParaRPr lang="en-CL"/>
          </a:p>
        </p:txBody>
      </p:sp>
    </p:spTree>
    <p:extLst>
      <p:ext uri="{BB962C8B-B14F-4D97-AF65-F5344CB8AC3E}">
        <p14:creationId xmlns:p14="http://schemas.microsoft.com/office/powerpoint/2010/main" val="321766040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E2A152-0160-E38E-9640-CE00E472C8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6EEA249-D00C-C8BF-F952-C8F00CAC92A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L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548AD5D-DACB-DF63-8FE5-FD4EB5F134A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CDFD239-CEB5-6239-AE07-3B04DD523B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457589-72F1-974D-B204-6AE212262628}" type="datetimeFigureOut">
              <a:rPr lang="en-CL" smtClean="0"/>
              <a:t>27-04-26</a:t>
            </a:fld>
            <a:endParaRPr lang="en-C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D6E91D8-CA73-7BEA-3043-ED8929AA7C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FBF3F48-2CE1-5E7C-C6F3-86C5FE51C9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6AE8E3-C79C-E14F-9140-34B0C7F543F1}" type="slidenum">
              <a:rPr lang="en-CL" smtClean="0"/>
              <a:t>‹#›</a:t>
            </a:fld>
            <a:endParaRPr lang="en-CL"/>
          </a:p>
        </p:txBody>
      </p:sp>
    </p:spTree>
    <p:extLst>
      <p:ext uri="{BB962C8B-B14F-4D97-AF65-F5344CB8AC3E}">
        <p14:creationId xmlns:p14="http://schemas.microsoft.com/office/powerpoint/2010/main" val="170426608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8182A3-0F8B-CC16-20BE-CAA209EB50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L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553BF4D-06F1-F555-7BCE-8DDE12ECAC3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CL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578D79A-13B1-0A13-045B-552423534D6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60F8041-19BA-61C7-2614-452EAEA622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457589-72F1-974D-B204-6AE212262628}" type="datetimeFigureOut">
              <a:rPr lang="en-CL" smtClean="0"/>
              <a:t>27-04-26</a:t>
            </a:fld>
            <a:endParaRPr lang="en-C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92DDC1A-06C5-55BB-AD73-4558907A0B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4EA2152-78EF-2AC4-BAFC-1632F3AC7D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6AE8E3-C79C-E14F-9140-34B0C7F543F1}" type="slidenum">
              <a:rPr lang="en-CL" smtClean="0"/>
              <a:t>‹#›</a:t>
            </a:fld>
            <a:endParaRPr lang="en-CL"/>
          </a:p>
        </p:txBody>
      </p:sp>
    </p:spTree>
    <p:extLst>
      <p:ext uri="{BB962C8B-B14F-4D97-AF65-F5344CB8AC3E}">
        <p14:creationId xmlns:p14="http://schemas.microsoft.com/office/powerpoint/2010/main" val="403336784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CE0AD8-C101-EB20-BB37-5C26D22B6B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L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F2D8A52-99B4-C6B9-B1AB-C4AEFAF4B4E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1B50266-8A1C-5C52-C130-674316BD03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457589-72F1-974D-B204-6AE212262628}" type="datetimeFigureOut">
              <a:rPr lang="en-CL" smtClean="0"/>
              <a:t>27-04-26</a:t>
            </a:fld>
            <a:endParaRPr lang="en-C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B48F916-6B33-A387-4535-E912E9B6DC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0D0DE79-9DC5-1075-5BCE-A06034D3D1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6AE8E3-C79C-E14F-9140-34B0C7F543F1}" type="slidenum">
              <a:rPr lang="en-CL" smtClean="0"/>
              <a:t>‹#›</a:t>
            </a:fld>
            <a:endParaRPr lang="en-CL"/>
          </a:p>
        </p:txBody>
      </p:sp>
    </p:spTree>
    <p:extLst>
      <p:ext uri="{BB962C8B-B14F-4D97-AF65-F5344CB8AC3E}">
        <p14:creationId xmlns:p14="http://schemas.microsoft.com/office/powerpoint/2010/main" val="31117305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3487A33-D0CF-C093-B49B-3DC54A000AF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CL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71C567E-C21C-371B-9E0F-758B9066F6B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B7ED834-5694-C52C-4AFB-CC7182B183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457589-72F1-974D-B204-6AE212262628}" type="datetimeFigureOut">
              <a:rPr lang="en-CL" smtClean="0"/>
              <a:t>27-04-26</a:t>
            </a:fld>
            <a:endParaRPr lang="en-C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0784DEE-BCC0-3112-ED29-8778C02F02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EB55837-C56A-6554-DF4C-C991A899FF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6AE8E3-C79C-E14F-9140-34B0C7F543F1}" type="slidenum">
              <a:rPr lang="en-CL" smtClean="0"/>
              <a:t>‹#›</a:t>
            </a:fld>
            <a:endParaRPr lang="en-CL"/>
          </a:p>
        </p:txBody>
      </p:sp>
    </p:spTree>
    <p:extLst>
      <p:ext uri="{BB962C8B-B14F-4D97-AF65-F5344CB8AC3E}">
        <p14:creationId xmlns:p14="http://schemas.microsoft.com/office/powerpoint/2010/main" val="320505785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3788CC3-6112-0648-6A8C-40A7C66249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  <a:endParaRPr lang="en-CL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5BAA52D-33E4-8E14-0BD4-6371720A8D4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CL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80AAD87-BD69-6E51-34E6-999EF832788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="0" i="0">
                <a:solidFill>
                  <a:schemeClr val="tx1">
                    <a:tint val="82000"/>
                  </a:schemeClr>
                </a:solidFill>
                <a:latin typeface="Gill Sans MT" panose="020B0502020104020203" pitchFamily="34" charset="77"/>
              </a:defRPr>
            </a:lvl1pPr>
          </a:lstStyle>
          <a:p>
            <a:fld id="{2C457589-72F1-974D-B204-6AE212262628}" type="datetimeFigureOut">
              <a:rPr lang="en-CL" smtClean="0"/>
              <a:pPr/>
              <a:t>27-04-26</a:t>
            </a:fld>
            <a:endParaRPr lang="en-CL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E1F1805-E127-5436-F4BD-B493F4465B7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="0" i="0">
                <a:solidFill>
                  <a:schemeClr val="tx1">
                    <a:tint val="82000"/>
                  </a:schemeClr>
                </a:solidFill>
                <a:latin typeface="Gill Sans MT" panose="020B0502020104020203" pitchFamily="34" charset="77"/>
              </a:defRPr>
            </a:lvl1pPr>
          </a:lstStyle>
          <a:p>
            <a:endParaRPr lang="en-CL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F0709C2-DDB7-3E94-C59E-462FCDB3376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="0" i="0">
                <a:solidFill>
                  <a:schemeClr val="tx1">
                    <a:tint val="82000"/>
                  </a:schemeClr>
                </a:solidFill>
                <a:latin typeface="Gill Sans MT" panose="020B0502020104020203" pitchFamily="34" charset="77"/>
              </a:defRPr>
            </a:lvl1pPr>
          </a:lstStyle>
          <a:p>
            <a:fld id="{006AE8E3-C79C-E14F-9140-34B0C7F543F1}" type="slidenum">
              <a:rPr lang="en-CL" smtClean="0"/>
              <a:pPr/>
              <a:t>‹#›</a:t>
            </a:fld>
            <a:endParaRPr lang="en-CL" dirty="0"/>
          </a:p>
        </p:txBody>
      </p:sp>
    </p:spTree>
    <p:extLst>
      <p:ext uri="{BB962C8B-B14F-4D97-AF65-F5344CB8AC3E}">
        <p14:creationId xmlns:p14="http://schemas.microsoft.com/office/powerpoint/2010/main" val="424805266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b="0" i="0" kern="1200">
          <a:solidFill>
            <a:schemeClr val="tx1"/>
          </a:solidFill>
          <a:latin typeface="Gill Sans MT" panose="020B0502020104020203" pitchFamily="34" charset="77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b="0" i="0" kern="1200">
          <a:solidFill>
            <a:schemeClr val="tx1"/>
          </a:solidFill>
          <a:latin typeface="Gill Sans MT" panose="020B0502020104020203" pitchFamily="34" charset="77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b="0" i="0" kern="1200">
          <a:solidFill>
            <a:schemeClr val="tx1"/>
          </a:solidFill>
          <a:latin typeface="Gill Sans MT" panose="020B0502020104020203" pitchFamily="34" charset="77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b="0" i="0" kern="1200">
          <a:solidFill>
            <a:schemeClr val="tx1"/>
          </a:solidFill>
          <a:latin typeface="Gill Sans MT" panose="020B0502020104020203" pitchFamily="34" charset="77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b="0" i="0" kern="1200">
          <a:solidFill>
            <a:schemeClr val="tx1"/>
          </a:solidFill>
          <a:latin typeface="Gill Sans MT" panose="020B0502020104020203" pitchFamily="34" charset="77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b="0" i="0" kern="1200">
          <a:solidFill>
            <a:schemeClr val="tx1"/>
          </a:solidFill>
          <a:latin typeface="Gill Sans MT" panose="020B0502020104020203" pitchFamily="34" charset="77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C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://domingomery.ing.uc.cl/" TargetMode="Externa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emf"/><Relationship Id="rId7" Type="http://schemas.openxmlformats.org/officeDocument/2006/relationships/image" Target="../media/image9.emf"/><Relationship Id="rId2" Type="http://schemas.openxmlformats.org/officeDocument/2006/relationships/image" Target="../media/image4.emf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emf"/><Relationship Id="rId5" Type="http://schemas.openxmlformats.org/officeDocument/2006/relationships/image" Target="../media/image7.emf"/><Relationship Id="rId4" Type="http://schemas.openxmlformats.org/officeDocument/2006/relationships/image" Target="../media/image6.emf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emf"/><Relationship Id="rId2" Type="http://schemas.openxmlformats.org/officeDocument/2006/relationships/image" Target="../media/image7.emf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emf"/><Relationship Id="rId5" Type="http://schemas.openxmlformats.org/officeDocument/2006/relationships/image" Target="../media/image12.emf"/><Relationship Id="rId4" Type="http://schemas.openxmlformats.org/officeDocument/2006/relationships/image" Target="../media/image11.emf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emf"/><Relationship Id="rId3" Type="http://schemas.openxmlformats.org/officeDocument/2006/relationships/image" Target="../media/image15.emf"/><Relationship Id="rId7" Type="http://schemas.openxmlformats.org/officeDocument/2006/relationships/image" Target="../media/image19.emf"/><Relationship Id="rId2" Type="http://schemas.openxmlformats.org/officeDocument/2006/relationships/image" Target="../media/image14.emf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8.emf"/><Relationship Id="rId5" Type="http://schemas.openxmlformats.org/officeDocument/2006/relationships/image" Target="../media/image17.emf"/><Relationship Id="rId4" Type="http://schemas.openxmlformats.org/officeDocument/2006/relationships/image" Target="../media/image16.emf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emf"/><Relationship Id="rId3" Type="http://schemas.openxmlformats.org/officeDocument/2006/relationships/image" Target="../media/image22.emf"/><Relationship Id="rId7" Type="http://schemas.openxmlformats.org/officeDocument/2006/relationships/image" Target="../media/image19.emf"/><Relationship Id="rId2" Type="http://schemas.openxmlformats.org/officeDocument/2006/relationships/image" Target="../media/image21.emf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4.emf"/><Relationship Id="rId5" Type="http://schemas.openxmlformats.org/officeDocument/2006/relationships/image" Target="../media/image23.emf"/><Relationship Id="rId4" Type="http://schemas.openxmlformats.org/officeDocument/2006/relationships/image" Target="../media/image6.emf"/><Relationship Id="rId9" Type="http://schemas.openxmlformats.org/officeDocument/2006/relationships/image" Target="../media/image25.emf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32.emf"/><Relationship Id="rId3" Type="http://schemas.openxmlformats.org/officeDocument/2006/relationships/image" Target="../media/image27.emf"/><Relationship Id="rId7" Type="http://schemas.openxmlformats.org/officeDocument/2006/relationships/image" Target="../media/image31.emf"/><Relationship Id="rId2" Type="http://schemas.openxmlformats.org/officeDocument/2006/relationships/image" Target="../media/image26.emf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0.emf"/><Relationship Id="rId5" Type="http://schemas.openxmlformats.org/officeDocument/2006/relationships/image" Target="../media/image29.emf"/><Relationship Id="rId10" Type="http://schemas.openxmlformats.org/officeDocument/2006/relationships/image" Target="../media/image34.emf"/><Relationship Id="rId4" Type="http://schemas.openxmlformats.org/officeDocument/2006/relationships/image" Target="../media/image28.emf"/><Relationship Id="rId9" Type="http://schemas.openxmlformats.org/officeDocument/2006/relationships/image" Target="../media/image33.emf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emf"/><Relationship Id="rId2" Type="http://schemas.openxmlformats.org/officeDocument/2006/relationships/image" Target="../media/image35.emf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8.emf"/><Relationship Id="rId4" Type="http://schemas.openxmlformats.org/officeDocument/2006/relationships/image" Target="../media/image37.emf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emf"/><Relationship Id="rId2" Type="http://schemas.openxmlformats.org/officeDocument/2006/relationships/image" Target="../media/image39.emf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2.emf"/><Relationship Id="rId4" Type="http://schemas.openxmlformats.org/officeDocument/2006/relationships/image" Target="../media/image41.emf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emf"/><Relationship Id="rId2" Type="http://schemas.openxmlformats.org/officeDocument/2006/relationships/image" Target="../media/image39.emf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4.emf"/><Relationship Id="rId5" Type="http://schemas.openxmlformats.org/officeDocument/2006/relationships/image" Target="../media/image43.emf"/><Relationship Id="rId4" Type="http://schemas.openxmlformats.org/officeDocument/2006/relationships/image" Target="../media/image41.emf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emf"/><Relationship Id="rId7" Type="http://schemas.openxmlformats.org/officeDocument/2006/relationships/image" Target="../media/image49.emf"/><Relationship Id="rId2" Type="http://schemas.openxmlformats.org/officeDocument/2006/relationships/image" Target="../media/image44.emf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8.emf"/><Relationship Id="rId5" Type="http://schemas.openxmlformats.org/officeDocument/2006/relationships/image" Target="../media/image47.emf"/><Relationship Id="rId4" Type="http://schemas.openxmlformats.org/officeDocument/2006/relationships/image" Target="../media/image46.emf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7" Type="http://schemas.openxmlformats.org/officeDocument/2006/relationships/image" Target="../media/image55.png"/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4.png"/><Relationship Id="rId5" Type="http://schemas.openxmlformats.org/officeDocument/2006/relationships/image" Target="../media/image53.png"/><Relationship Id="rId4" Type="http://schemas.openxmlformats.org/officeDocument/2006/relationships/image" Target="../media/image52.png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.emf"/><Relationship Id="rId2" Type="http://schemas.openxmlformats.org/officeDocument/2006/relationships/image" Target="../media/image56.emf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0.emf"/><Relationship Id="rId5" Type="http://schemas.openxmlformats.org/officeDocument/2006/relationships/image" Target="../media/image59.png"/><Relationship Id="rId4" Type="http://schemas.openxmlformats.org/officeDocument/2006/relationships/image" Target="../media/image58.png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63.emf"/><Relationship Id="rId3" Type="http://schemas.openxmlformats.org/officeDocument/2006/relationships/image" Target="../media/image40.emf"/><Relationship Id="rId7" Type="http://schemas.openxmlformats.org/officeDocument/2006/relationships/image" Target="../media/image44.emf"/><Relationship Id="rId2" Type="http://schemas.openxmlformats.org/officeDocument/2006/relationships/image" Target="../media/image39.emf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2.emf"/><Relationship Id="rId5" Type="http://schemas.openxmlformats.org/officeDocument/2006/relationships/image" Target="../media/image61.emf"/><Relationship Id="rId4" Type="http://schemas.openxmlformats.org/officeDocument/2006/relationships/image" Target="../media/image43.emf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5.emf"/><Relationship Id="rId7" Type="http://schemas.openxmlformats.org/officeDocument/2006/relationships/image" Target="../media/image68.emf"/><Relationship Id="rId2" Type="http://schemas.openxmlformats.org/officeDocument/2006/relationships/image" Target="../media/image64.emf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7.emf"/><Relationship Id="rId5" Type="http://schemas.openxmlformats.org/officeDocument/2006/relationships/image" Target="../media/image61.emf"/><Relationship Id="rId4" Type="http://schemas.openxmlformats.org/officeDocument/2006/relationships/image" Target="../media/image66.emf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9.emf"/><Relationship Id="rId2" Type="http://schemas.openxmlformats.org/officeDocument/2006/relationships/image" Target="../media/image68.emf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1.emf"/><Relationship Id="rId4" Type="http://schemas.openxmlformats.org/officeDocument/2006/relationships/image" Target="../media/image70.emf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2.emf"/><Relationship Id="rId2" Type="http://schemas.openxmlformats.org/officeDocument/2006/relationships/image" Target="../media/image72.emf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5.emf"/><Relationship Id="rId5" Type="http://schemas.openxmlformats.org/officeDocument/2006/relationships/image" Target="../media/image74.emf"/><Relationship Id="rId4" Type="http://schemas.openxmlformats.org/officeDocument/2006/relationships/image" Target="../media/image73.emf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6.emf"/><Relationship Id="rId2" Type="http://schemas.openxmlformats.org/officeDocument/2006/relationships/image" Target="../media/image75.emf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7.emf"/><Relationship Id="rId2" Type="http://schemas.openxmlformats.org/officeDocument/2006/relationships/image" Target="../media/image75.emf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9.emf"/><Relationship Id="rId2" Type="http://schemas.openxmlformats.org/officeDocument/2006/relationships/image" Target="../media/image78.emf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0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2.emf"/><Relationship Id="rId7" Type="http://schemas.openxmlformats.org/officeDocument/2006/relationships/image" Target="../media/image85.png"/><Relationship Id="rId2" Type="http://schemas.openxmlformats.org/officeDocument/2006/relationships/image" Target="../media/image8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4.png"/><Relationship Id="rId5" Type="http://schemas.openxmlformats.org/officeDocument/2006/relationships/image" Target="../media/image4.emf"/><Relationship Id="rId4" Type="http://schemas.openxmlformats.org/officeDocument/2006/relationships/image" Target="../media/image83.emf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5.png"/><Relationship Id="rId7" Type="http://schemas.openxmlformats.org/officeDocument/2006/relationships/image" Target="../media/image84.png"/><Relationship Id="rId2" Type="http://schemas.openxmlformats.org/officeDocument/2006/relationships/image" Target="../media/image8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emf"/><Relationship Id="rId5" Type="http://schemas.openxmlformats.org/officeDocument/2006/relationships/image" Target="../media/image83.emf"/><Relationship Id="rId4" Type="http://schemas.openxmlformats.org/officeDocument/2006/relationships/image" Target="../media/image82.emf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6.emf"/><Relationship Id="rId2" Type="http://schemas.openxmlformats.org/officeDocument/2006/relationships/image" Target="../media/image82.emf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7.emf"/></Relationships>
</file>

<file path=ppt/slides/_rels/slide30.xml.rels><?xml version="1.0" encoding="UTF-8" standalone="yes"?>
<Relationships xmlns="http://schemas.openxmlformats.org/package/2006/relationships"><Relationship Id="rId8" Type="http://schemas.openxmlformats.org/officeDocument/2006/relationships/image" Target="../media/image91.emf"/><Relationship Id="rId3" Type="http://schemas.openxmlformats.org/officeDocument/2006/relationships/image" Target="../media/image86.emf"/><Relationship Id="rId7" Type="http://schemas.openxmlformats.org/officeDocument/2006/relationships/image" Target="../media/image90.png"/><Relationship Id="rId2" Type="http://schemas.openxmlformats.org/officeDocument/2006/relationships/image" Target="../media/image82.emf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9.emf"/><Relationship Id="rId5" Type="http://schemas.openxmlformats.org/officeDocument/2006/relationships/image" Target="../media/image83.emf"/><Relationship Id="rId4" Type="http://schemas.openxmlformats.org/officeDocument/2006/relationships/image" Target="../media/image88.emf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3.emf"/><Relationship Id="rId2" Type="http://schemas.openxmlformats.org/officeDocument/2006/relationships/image" Target="../media/image92.emf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.emf"/><Relationship Id="rId2" Type="http://schemas.openxmlformats.org/officeDocument/2006/relationships/image" Target="../media/image56.emf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94.emf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5.emf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1.emf"/><Relationship Id="rId3" Type="http://schemas.openxmlformats.org/officeDocument/2006/relationships/image" Target="../media/image97.png"/><Relationship Id="rId7" Type="http://schemas.openxmlformats.org/officeDocument/2006/relationships/image" Target="../media/image100.emf"/><Relationship Id="rId2" Type="http://schemas.openxmlformats.org/officeDocument/2006/relationships/image" Target="../media/image9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9.emf"/><Relationship Id="rId5" Type="http://schemas.openxmlformats.org/officeDocument/2006/relationships/image" Target="../media/image98.emf"/><Relationship Id="rId4" Type="http://schemas.openxmlformats.org/officeDocument/2006/relationships/image" Target="../media/image4.emf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3.png"/><Relationship Id="rId7" Type="http://schemas.openxmlformats.org/officeDocument/2006/relationships/image" Target="../media/image107.png"/><Relationship Id="rId2" Type="http://schemas.openxmlformats.org/officeDocument/2006/relationships/image" Target="../media/image10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6.png"/><Relationship Id="rId5" Type="http://schemas.openxmlformats.org/officeDocument/2006/relationships/image" Target="../media/image105.png"/><Relationship Id="rId4" Type="http://schemas.openxmlformats.org/officeDocument/2006/relationships/image" Target="../media/image104.png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.emf"/><Relationship Id="rId2" Type="http://schemas.openxmlformats.org/officeDocument/2006/relationships/image" Target="../media/image56.emf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8.emf"/><Relationship Id="rId2" Type="http://schemas.openxmlformats.org/officeDocument/2006/relationships/image" Target="../media/image56.emf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9.emf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6.emf"/><Relationship Id="rId2" Type="http://schemas.openxmlformats.org/officeDocument/2006/relationships/image" Target="../media/image108.emf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10.emf"/><Relationship Id="rId4" Type="http://schemas.openxmlformats.org/officeDocument/2006/relationships/image" Target="../media/image57.emf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6.emf"/><Relationship Id="rId2" Type="http://schemas.openxmlformats.org/officeDocument/2006/relationships/image" Target="../media/image108.emf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1.emf"/><Relationship Id="rId5" Type="http://schemas.openxmlformats.org/officeDocument/2006/relationships/image" Target="../media/image110.emf"/><Relationship Id="rId4" Type="http://schemas.openxmlformats.org/officeDocument/2006/relationships/image" Target="../media/image57.emf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6.emf"/><Relationship Id="rId2" Type="http://schemas.openxmlformats.org/officeDocument/2006/relationships/image" Target="../media/image108.emf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1.emf"/><Relationship Id="rId5" Type="http://schemas.openxmlformats.org/officeDocument/2006/relationships/image" Target="../media/image110.emf"/><Relationship Id="rId4" Type="http://schemas.openxmlformats.org/officeDocument/2006/relationships/image" Target="../media/image57.emf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.emf"/><Relationship Id="rId2" Type="http://schemas.openxmlformats.org/officeDocument/2006/relationships/image" Target="../media/image112.emf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hyperlink" Target="http://compneurosci.com/wiki/images/4/42/Intro_to_PCA_and_ICA.pdf" TargetMode="External"/><Relationship Id="rId2" Type="http://schemas.openxmlformats.org/officeDocument/2006/relationships/image" Target="../media/image113.png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5.emf"/><Relationship Id="rId2" Type="http://schemas.openxmlformats.org/officeDocument/2006/relationships/image" Target="../media/image114.emf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3A2C7284-77CC-FC88-ACE0-20E53773C64D}"/>
              </a:ext>
            </a:extLst>
          </p:cNvPr>
          <p:cNvSpPr/>
          <p:nvPr/>
        </p:nvSpPr>
        <p:spPr>
          <a:xfrm>
            <a:off x="925897" y="683627"/>
            <a:ext cx="10340205" cy="847417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L" dirty="0">
              <a:latin typeface="Gill Sans MT" panose="020B0502020104020203" pitchFamily="34" charset="7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876E2BE-1E76-0F44-8020-A654157CDF76}"/>
              </a:ext>
            </a:extLst>
          </p:cNvPr>
          <p:cNvSpPr txBox="1"/>
          <p:nvPr/>
        </p:nvSpPr>
        <p:spPr>
          <a:xfrm>
            <a:off x="925898" y="3991689"/>
            <a:ext cx="3783921" cy="212365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3600" noProof="1">
                <a:solidFill>
                  <a:srgbClr val="0041A1"/>
                </a:solidFill>
                <a:latin typeface="Gill Sans MT" panose="020B0502020104020203" pitchFamily="34" charset="77"/>
              </a:rPr>
              <a:t>Domingo Mery</a:t>
            </a:r>
          </a:p>
          <a:p>
            <a:endParaRPr lang="es-ES_tradnl" sz="2400" noProof="1">
              <a:solidFill>
                <a:schemeClr val="bg1">
                  <a:lumMod val="50000"/>
                </a:schemeClr>
              </a:solidFill>
              <a:latin typeface="Gill Sans MT" panose="020B0502020104020203" pitchFamily="34" charset="77"/>
            </a:endParaRPr>
          </a:p>
          <a:p>
            <a:r>
              <a:rPr lang="es-ES_tradnl" sz="2400" noProof="1">
                <a:solidFill>
                  <a:schemeClr val="bg1">
                    <a:lumMod val="50000"/>
                  </a:schemeClr>
                </a:solidFill>
                <a:latin typeface="Gill Sans MT" panose="020B0502020104020203" pitchFamily="34" charset="77"/>
              </a:rPr>
              <a:t>Ciencia de la Computación</a:t>
            </a:r>
          </a:p>
          <a:p>
            <a:r>
              <a:rPr lang="es-ES_tradnl" sz="2400" noProof="1">
                <a:solidFill>
                  <a:schemeClr val="bg1">
                    <a:lumMod val="50000"/>
                  </a:schemeClr>
                </a:solidFill>
                <a:latin typeface="Gill Sans MT" panose="020B0502020104020203" pitchFamily="34" charset="77"/>
              </a:rPr>
              <a:t>Universidad Católica – Chile</a:t>
            </a:r>
          </a:p>
          <a:p>
            <a:r>
              <a:rPr lang="es-ES_tradnl" sz="2400" noProof="1">
                <a:solidFill>
                  <a:schemeClr val="bg1">
                    <a:lumMod val="50000"/>
                  </a:schemeClr>
                </a:solidFill>
                <a:latin typeface="Gill Sans MT" panose="020B0502020104020203" pitchFamily="34" charset="77"/>
                <a:hlinkClick r:id="rId2"/>
              </a:rPr>
              <a:t>http://domingomery.ing.uc.cl</a:t>
            </a:r>
            <a:r>
              <a:rPr lang="es-ES_tradnl" sz="2400" noProof="1">
                <a:solidFill>
                  <a:schemeClr val="bg1">
                    <a:lumMod val="50000"/>
                  </a:schemeClr>
                </a:solidFill>
                <a:latin typeface="Gill Sans MT" panose="020B0502020104020203" pitchFamily="34" charset="77"/>
              </a:rPr>
              <a:t> 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A0B8274-BF81-6D48-B1EC-87E4CF24BC51}"/>
              </a:ext>
            </a:extLst>
          </p:cNvPr>
          <p:cNvSpPr txBox="1"/>
          <p:nvPr/>
        </p:nvSpPr>
        <p:spPr>
          <a:xfrm>
            <a:off x="925898" y="546159"/>
            <a:ext cx="6803850" cy="98488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4400" noProof="1">
                <a:solidFill>
                  <a:schemeClr val="accent2"/>
                </a:solidFill>
                <a:latin typeface="Gill Sans MT" panose="020B0502020104020203" pitchFamily="34" charset="77"/>
              </a:rPr>
              <a:t>Reconocimiento de Patrones</a:t>
            </a:r>
          </a:p>
          <a:p>
            <a:r>
              <a:rPr lang="es-ES_tradnl" sz="1400" noProof="1">
                <a:solidFill>
                  <a:schemeClr val="accent1">
                    <a:lumMod val="60000"/>
                    <a:lumOff val="40000"/>
                  </a:schemeClr>
                </a:solidFill>
                <a:latin typeface="Gill Sans MT" panose="020B0502020104020203" pitchFamily="34" charset="77"/>
              </a:rPr>
              <a:t>Versión 2026</a:t>
            </a:r>
          </a:p>
        </p:txBody>
      </p:sp>
      <p:pic>
        <p:nvPicPr>
          <p:cNvPr id="32" name="Picture 31">
            <a:extLst>
              <a:ext uri="{FF2B5EF4-FFF2-40B4-BE49-F238E27FC236}">
                <a16:creationId xmlns:a16="http://schemas.microsoft.com/office/drawing/2014/main" id="{1F84582F-25ED-D64F-A141-4702851F27A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82889" y="4153426"/>
            <a:ext cx="671000" cy="39600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F09BC001-F490-B55D-4087-04CD68E211CA}"/>
              </a:ext>
            </a:extLst>
          </p:cNvPr>
          <p:cNvSpPr txBox="1"/>
          <p:nvPr/>
        </p:nvSpPr>
        <p:spPr>
          <a:xfrm>
            <a:off x="925898" y="2363235"/>
            <a:ext cx="7982570" cy="98488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4400" noProof="1">
                <a:latin typeface="Gill Sans MT" panose="020B0502020104020203" pitchFamily="34" charset="77"/>
              </a:rPr>
              <a:t>Transformación de Características</a:t>
            </a:r>
            <a:endParaRPr lang="es-ES_tradnl" sz="1400" noProof="1">
              <a:latin typeface="Gill Sans MT" panose="020B0502020104020203" pitchFamily="34" charset="77"/>
            </a:endParaRPr>
          </a:p>
          <a:p>
            <a:r>
              <a:rPr lang="es-ES_tradnl" sz="1400" noProof="1">
                <a:solidFill>
                  <a:schemeClr val="bg1">
                    <a:lumMod val="50000"/>
                  </a:schemeClr>
                </a:solidFill>
                <a:latin typeface="Gill Sans MT" panose="020B0502020104020203" pitchFamily="34" charset="77"/>
              </a:rPr>
              <a:t>( CAPÍTULO III )</a:t>
            </a:r>
            <a:endParaRPr lang="es-ES_tradnl" sz="4400" noProof="1">
              <a:solidFill>
                <a:schemeClr val="bg1">
                  <a:lumMod val="50000"/>
                </a:schemeClr>
              </a:solidFill>
              <a:latin typeface="Gill Sans MT" panose="020B0502020104020203" pitchFamily="34" charset="77"/>
            </a:endParaRPr>
          </a:p>
        </p:txBody>
      </p:sp>
      <p:pic>
        <p:nvPicPr>
          <p:cNvPr id="4" name="Picture 3" descr="Screen Shot 2014-07-28 at 3.30.32 PM.png">
            <a:extLst>
              <a:ext uri="{FF2B5EF4-FFF2-40B4-BE49-F238E27FC236}">
                <a16:creationId xmlns:a16="http://schemas.microsoft.com/office/drawing/2014/main" id="{F713277D-8D19-F8E9-D0C7-160CDCD11B4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77883" y="683626"/>
            <a:ext cx="2688219" cy="847417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EF7C2C46-FB77-25C3-BA3D-A0231C48A0BC}"/>
              </a:ext>
            </a:extLst>
          </p:cNvPr>
          <p:cNvSpPr/>
          <p:nvPr/>
        </p:nvSpPr>
        <p:spPr>
          <a:xfrm>
            <a:off x="8532327" y="889536"/>
            <a:ext cx="94889" cy="94882"/>
          </a:xfrm>
          <a:prstGeom prst="rect">
            <a:avLst/>
          </a:prstGeom>
          <a:solidFill>
            <a:srgbClr val="FF0000">
              <a:alpha val="7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1821CF4-4421-1287-4A0F-68915CE9BDF0}"/>
              </a:ext>
            </a:extLst>
          </p:cNvPr>
          <p:cNvSpPr/>
          <p:nvPr/>
        </p:nvSpPr>
        <p:spPr>
          <a:xfrm>
            <a:off x="9457147" y="1041936"/>
            <a:ext cx="94889" cy="94882"/>
          </a:xfrm>
          <a:prstGeom prst="rect">
            <a:avLst/>
          </a:prstGeom>
          <a:solidFill>
            <a:srgbClr val="FFD300">
              <a:alpha val="7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3B697AF8-DB10-A907-E9A0-11DBFF2F41AD}"/>
              </a:ext>
            </a:extLst>
          </p:cNvPr>
          <p:cNvSpPr/>
          <p:nvPr/>
        </p:nvSpPr>
        <p:spPr>
          <a:xfrm>
            <a:off x="8450280" y="1194336"/>
            <a:ext cx="94889" cy="94882"/>
          </a:xfrm>
          <a:prstGeom prst="rect">
            <a:avLst/>
          </a:prstGeom>
          <a:solidFill>
            <a:srgbClr val="3366FF">
              <a:alpha val="7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2433E66E-94EA-0AAE-A7DB-7F462B910E03}"/>
              </a:ext>
            </a:extLst>
          </p:cNvPr>
          <p:cNvSpPr/>
          <p:nvPr/>
        </p:nvSpPr>
        <p:spPr>
          <a:xfrm>
            <a:off x="9200620" y="814788"/>
            <a:ext cx="94889" cy="94882"/>
          </a:xfrm>
          <a:prstGeom prst="rect">
            <a:avLst/>
          </a:prstGeom>
          <a:solidFill>
            <a:schemeClr val="bg1">
              <a:alpha val="73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57468F98-E38C-0CEE-B1A7-0C8769B40381}"/>
              </a:ext>
            </a:extLst>
          </p:cNvPr>
          <p:cNvSpPr/>
          <p:nvPr/>
        </p:nvSpPr>
        <p:spPr>
          <a:xfrm>
            <a:off x="9043304" y="1325718"/>
            <a:ext cx="94889" cy="94882"/>
          </a:xfrm>
          <a:prstGeom prst="rect">
            <a:avLst/>
          </a:prstGeom>
          <a:solidFill>
            <a:srgbClr val="00FF00">
              <a:alpha val="7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A79D8CD-C231-4DE6-AA5C-A1BCDA84C7E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97730" y="3433480"/>
            <a:ext cx="2705100" cy="2984500"/>
          </a:xfrm>
          <a:prstGeom prst="rect">
            <a:avLst/>
          </a:prstGeom>
        </p:spPr>
      </p:pic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09F278C1-8414-D04A-A560-76E5BFB11E2D}"/>
              </a:ext>
            </a:extLst>
          </p:cNvPr>
          <p:cNvCxnSpPr>
            <a:cxnSpLocks/>
          </p:cNvCxnSpPr>
          <p:nvPr/>
        </p:nvCxnSpPr>
        <p:spPr>
          <a:xfrm flipV="1">
            <a:off x="7766810" y="4351426"/>
            <a:ext cx="1371383" cy="118085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F7FBC7E5-B906-3052-7B65-03F7AAB31E02}"/>
              </a:ext>
            </a:extLst>
          </p:cNvPr>
          <p:cNvCxnSpPr>
            <a:cxnSpLocks/>
          </p:cNvCxnSpPr>
          <p:nvPr/>
        </p:nvCxnSpPr>
        <p:spPr>
          <a:xfrm>
            <a:off x="7729750" y="4153428"/>
            <a:ext cx="1565759" cy="181503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249406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500"/>
                            </p:stCondLst>
                            <p:childTnLst>
                              <p:par>
                                <p:cTn id="10" presetID="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1000"/>
                            </p:stCondLst>
                            <p:childTnLst>
                              <p:par>
                                <p:cTn id="15" presetID="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1500"/>
                            </p:stCondLst>
                            <p:childTnLst>
                              <p:par>
                                <p:cTn id="20" presetID="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2000"/>
                            </p:stCondLst>
                            <p:childTnLst>
                              <p:par>
                                <p:cTn id="25" presetID="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1DE6D48E-7E37-B74D-8B04-DC91E8A0E09A}"/>
              </a:ext>
            </a:extLst>
          </p:cNvPr>
          <p:cNvSpPr txBox="1"/>
          <p:nvPr/>
        </p:nvSpPr>
        <p:spPr>
          <a:xfrm>
            <a:off x="280530" y="2964032"/>
            <a:ext cx="118487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>
                <a:latin typeface="Gill Sans MT" panose="020B0502020104020203" pitchFamily="34" charset="77"/>
              </a:rPr>
              <a:t>Features &amp;</a:t>
            </a:r>
          </a:p>
          <a:p>
            <a:pPr algn="ctr"/>
            <a:r>
              <a:rPr lang="en-US" dirty="0">
                <a:latin typeface="Gill Sans MT" panose="020B0502020104020203" pitchFamily="34" charset="77"/>
              </a:rPr>
              <a:t>Labels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413D0C9C-71E0-7246-81AC-03006E9CAE30}"/>
              </a:ext>
            </a:extLst>
          </p:cNvPr>
          <p:cNvSpPr/>
          <p:nvPr/>
        </p:nvSpPr>
        <p:spPr>
          <a:xfrm>
            <a:off x="3902035" y="1865871"/>
            <a:ext cx="1185494" cy="945931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Gill Sans MT" panose="020B0502020104020203" pitchFamily="34" charset="77"/>
              </a:rPr>
              <a:t>Cleaning</a:t>
            </a: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05863649-5FC6-6D4B-8829-AB000041A0F2}"/>
              </a:ext>
            </a:extLst>
          </p:cNvPr>
          <p:cNvSpPr/>
          <p:nvPr/>
        </p:nvSpPr>
        <p:spPr>
          <a:xfrm>
            <a:off x="3902034" y="3757733"/>
            <a:ext cx="1185494" cy="945931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Gill Sans MT" panose="020B0502020104020203" pitchFamily="34" charset="77"/>
              </a:rPr>
              <a:t>Clean</a:t>
            </a:r>
          </a:p>
          <a:p>
            <a:pPr algn="ctr"/>
            <a:r>
              <a:rPr lang="en-US" dirty="0">
                <a:latin typeface="Gill Sans MT" panose="020B0502020104020203" pitchFamily="34" charset="77"/>
              </a:rPr>
              <a:t>Features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2AC45AE5-249E-A74B-A888-6ACD84B9BB40}"/>
              </a:ext>
            </a:extLst>
          </p:cNvPr>
          <p:cNvCxnSpPr>
            <a:cxnSpLocks/>
            <a:stCxn id="7" idx="2"/>
            <a:endCxn id="10" idx="0"/>
          </p:cNvCxnSpPr>
          <p:nvPr/>
        </p:nvCxnSpPr>
        <p:spPr>
          <a:xfrm flipH="1">
            <a:off x="4494781" y="2811802"/>
            <a:ext cx="1" cy="945931"/>
          </a:xfrm>
          <a:prstGeom prst="straightConnector1">
            <a:avLst/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sp>
        <p:nvSpPr>
          <p:cNvPr id="18" name="Rounded Rectangle 17">
            <a:extLst>
              <a:ext uri="{FF2B5EF4-FFF2-40B4-BE49-F238E27FC236}">
                <a16:creationId xmlns:a16="http://schemas.microsoft.com/office/drawing/2014/main" id="{E5F04E49-C1A7-5243-B82B-8EF1018BFD8B}"/>
              </a:ext>
            </a:extLst>
          </p:cNvPr>
          <p:cNvSpPr/>
          <p:nvPr/>
        </p:nvSpPr>
        <p:spPr>
          <a:xfrm>
            <a:off x="5388960" y="1865871"/>
            <a:ext cx="1296324" cy="945931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Gill Sans MT" panose="020B0502020104020203" pitchFamily="34" charset="77"/>
              </a:rPr>
              <a:t>Normalization</a:t>
            </a:r>
          </a:p>
        </p:txBody>
      </p:sp>
      <p:sp>
        <p:nvSpPr>
          <p:cNvPr id="19" name="Rounded Rectangle 18">
            <a:extLst>
              <a:ext uri="{FF2B5EF4-FFF2-40B4-BE49-F238E27FC236}">
                <a16:creationId xmlns:a16="http://schemas.microsoft.com/office/drawing/2014/main" id="{465D0504-00EC-3D46-9F45-717631A2011B}"/>
              </a:ext>
            </a:extLst>
          </p:cNvPr>
          <p:cNvSpPr/>
          <p:nvPr/>
        </p:nvSpPr>
        <p:spPr>
          <a:xfrm>
            <a:off x="5388959" y="3757733"/>
            <a:ext cx="1296324" cy="945931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Gill Sans MT" panose="020B0502020104020203" pitchFamily="34" charset="77"/>
              </a:rPr>
              <a:t>Normalize</a:t>
            </a:r>
          </a:p>
          <a:p>
            <a:pPr algn="ctr"/>
            <a:r>
              <a:rPr lang="en-US" dirty="0">
                <a:latin typeface="Gill Sans MT" panose="020B0502020104020203" pitchFamily="34" charset="77"/>
              </a:rPr>
              <a:t>Features</a:t>
            </a:r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45E2FA02-B069-3149-AFBA-C5FF580D5936}"/>
              </a:ext>
            </a:extLst>
          </p:cNvPr>
          <p:cNvCxnSpPr>
            <a:cxnSpLocks/>
            <a:stCxn id="18" idx="2"/>
            <a:endCxn id="19" idx="0"/>
          </p:cNvCxnSpPr>
          <p:nvPr/>
        </p:nvCxnSpPr>
        <p:spPr>
          <a:xfrm flipH="1">
            <a:off x="6037121" y="2811802"/>
            <a:ext cx="1" cy="945931"/>
          </a:xfrm>
          <a:prstGeom prst="straightConnector1">
            <a:avLst/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09140BA2-2AFF-3649-875B-09D895D04EC1}"/>
              </a:ext>
            </a:extLst>
          </p:cNvPr>
          <p:cNvCxnSpPr>
            <a:cxnSpLocks/>
            <a:stCxn id="7" idx="3"/>
            <a:endCxn id="18" idx="1"/>
          </p:cNvCxnSpPr>
          <p:nvPr/>
        </p:nvCxnSpPr>
        <p:spPr>
          <a:xfrm>
            <a:off x="5087529" y="2338837"/>
            <a:ext cx="301431" cy="0"/>
          </a:xfrm>
          <a:prstGeom prst="straightConnector1">
            <a:avLst/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sp>
        <p:nvSpPr>
          <p:cNvPr id="26" name="Rounded Rectangle 25">
            <a:extLst>
              <a:ext uri="{FF2B5EF4-FFF2-40B4-BE49-F238E27FC236}">
                <a16:creationId xmlns:a16="http://schemas.microsoft.com/office/drawing/2014/main" id="{DFD7DA71-0067-CB4E-9683-61FD4F07DEFC}"/>
              </a:ext>
            </a:extLst>
          </p:cNvPr>
          <p:cNvSpPr/>
          <p:nvPr/>
        </p:nvSpPr>
        <p:spPr>
          <a:xfrm>
            <a:off x="6982689" y="1865728"/>
            <a:ext cx="1296324" cy="945931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Gill Sans MT" panose="020B0502020104020203" pitchFamily="34" charset="77"/>
              </a:rPr>
              <a:t>Selection</a:t>
            </a:r>
          </a:p>
        </p:txBody>
      </p:sp>
      <p:sp>
        <p:nvSpPr>
          <p:cNvPr id="27" name="Rounded Rectangle 26">
            <a:extLst>
              <a:ext uri="{FF2B5EF4-FFF2-40B4-BE49-F238E27FC236}">
                <a16:creationId xmlns:a16="http://schemas.microsoft.com/office/drawing/2014/main" id="{6376F1E8-F01F-3B4D-97BA-AB1521AD7D1E}"/>
              </a:ext>
            </a:extLst>
          </p:cNvPr>
          <p:cNvSpPr/>
          <p:nvPr/>
        </p:nvSpPr>
        <p:spPr>
          <a:xfrm>
            <a:off x="6982688" y="3757590"/>
            <a:ext cx="1296324" cy="945931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Gill Sans MT" panose="020B0502020104020203" pitchFamily="34" charset="77"/>
              </a:rPr>
              <a:t>Select</a:t>
            </a:r>
          </a:p>
          <a:p>
            <a:pPr algn="ctr"/>
            <a:r>
              <a:rPr lang="en-US" dirty="0">
                <a:latin typeface="Gill Sans MT" panose="020B0502020104020203" pitchFamily="34" charset="77"/>
              </a:rPr>
              <a:t>Features</a:t>
            </a:r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1B9DC4DB-6672-E944-9F12-F4F20CDA19B2}"/>
              </a:ext>
            </a:extLst>
          </p:cNvPr>
          <p:cNvCxnSpPr>
            <a:cxnSpLocks/>
            <a:stCxn id="26" idx="2"/>
            <a:endCxn id="27" idx="0"/>
          </p:cNvCxnSpPr>
          <p:nvPr/>
        </p:nvCxnSpPr>
        <p:spPr>
          <a:xfrm flipH="1">
            <a:off x="7630850" y="2811659"/>
            <a:ext cx="1" cy="945931"/>
          </a:xfrm>
          <a:prstGeom prst="straightConnector1">
            <a:avLst/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21E2462F-23DF-9242-984C-6AF20E9EE768}"/>
              </a:ext>
            </a:extLst>
          </p:cNvPr>
          <p:cNvCxnSpPr>
            <a:cxnSpLocks/>
            <a:stCxn id="18" idx="3"/>
            <a:endCxn id="26" idx="1"/>
          </p:cNvCxnSpPr>
          <p:nvPr/>
        </p:nvCxnSpPr>
        <p:spPr>
          <a:xfrm flipV="1">
            <a:off x="6685284" y="2338694"/>
            <a:ext cx="297405" cy="143"/>
          </a:xfrm>
          <a:prstGeom prst="straightConnector1">
            <a:avLst/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3A44DFF4-2630-B841-9C39-088F788FE967}"/>
              </a:ext>
            </a:extLst>
          </p:cNvPr>
          <p:cNvCxnSpPr>
            <a:cxnSpLocks/>
            <a:stCxn id="10" idx="3"/>
            <a:endCxn id="19" idx="1"/>
          </p:cNvCxnSpPr>
          <p:nvPr/>
        </p:nvCxnSpPr>
        <p:spPr>
          <a:xfrm>
            <a:off x="5087528" y="4230699"/>
            <a:ext cx="301431" cy="0"/>
          </a:xfrm>
          <a:prstGeom prst="straightConnector1">
            <a:avLst/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269E2336-1BB2-D544-9AE5-B4067E653BF9}"/>
              </a:ext>
            </a:extLst>
          </p:cNvPr>
          <p:cNvCxnSpPr>
            <a:cxnSpLocks/>
            <a:stCxn id="19" idx="3"/>
            <a:endCxn id="27" idx="1"/>
          </p:cNvCxnSpPr>
          <p:nvPr/>
        </p:nvCxnSpPr>
        <p:spPr>
          <a:xfrm flipV="1">
            <a:off x="6685283" y="4230556"/>
            <a:ext cx="297405" cy="143"/>
          </a:xfrm>
          <a:prstGeom prst="straightConnector1">
            <a:avLst/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sp>
        <p:nvSpPr>
          <p:cNvPr id="45" name="Rounded Rectangle 44">
            <a:extLst>
              <a:ext uri="{FF2B5EF4-FFF2-40B4-BE49-F238E27FC236}">
                <a16:creationId xmlns:a16="http://schemas.microsoft.com/office/drawing/2014/main" id="{C97078E9-628A-BB4E-A204-3A7820B0DF6D}"/>
              </a:ext>
            </a:extLst>
          </p:cNvPr>
          <p:cNvSpPr/>
          <p:nvPr/>
        </p:nvSpPr>
        <p:spPr>
          <a:xfrm>
            <a:off x="8576415" y="1865728"/>
            <a:ext cx="1556125" cy="945931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Gill Sans MT" panose="020B0502020104020203" pitchFamily="34" charset="77"/>
              </a:rPr>
              <a:t>Train</a:t>
            </a:r>
          </a:p>
        </p:txBody>
      </p:sp>
      <p:sp>
        <p:nvSpPr>
          <p:cNvPr id="46" name="Rounded Rectangle 45">
            <a:extLst>
              <a:ext uri="{FF2B5EF4-FFF2-40B4-BE49-F238E27FC236}">
                <a16:creationId xmlns:a16="http://schemas.microsoft.com/office/drawing/2014/main" id="{E20AE725-03F9-CE4F-837E-27D4EE206339}"/>
              </a:ext>
            </a:extLst>
          </p:cNvPr>
          <p:cNvSpPr/>
          <p:nvPr/>
        </p:nvSpPr>
        <p:spPr>
          <a:xfrm>
            <a:off x="8576415" y="3757590"/>
            <a:ext cx="1556126" cy="945931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Gill Sans MT" panose="020B0502020104020203" pitchFamily="34" charset="77"/>
              </a:rPr>
              <a:t>Classify</a:t>
            </a:r>
          </a:p>
        </p:txBody>
      </p: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33B2209D-1185-2842-8D3C-DA7D3748697F}"/>
              </a:ext>
            </a:extLst>
          </p:cNvPr>
          <p:cNvCxnSpPr>
            <a:cxnSpLocks/>
            <a:stCxn id="45" idx="2"/>
            <a:endCxn id="46" idx="0"/>
          </p:cNvCxnSpPr>
          <p:nvPr/>
        </p:nvCxnSpPr>
        <p:spPr>
          <a:xfrm>
            <a:off x="9354478" y="2811659"/>
            <a:ext cx="0" cy="945931"/>
          </a:xfrm>
          <a:prstGeom prst="straightConnector1">
            <a:avLst/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C88A2615-5FC3-1F47-B17A-69CE522BAF19}"/>
              </a:ext>
            </a:extLst>
          </p:cNvPr>
          <p:cNvCxnSpPr>
            <a:cxnSpLocks/>
            <a:stCxn id="27" idx="3"/>
            <a:endCxn id="46" idx="1"/>
          </p:cNvCxnSpPr>
          <p:nvPr/>
        </p:nvCxnSpPr>
        <p:spPr>
          <a:xfrm>
            <a:off x="8279012" y="4230556"/>
            <a:ext cx="297403" cy="0"/>
          </a:xfrm>
          <a:prstGeom prst="straightConnector1">
            <a:avLst/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62" name="Elbow Connector 61">
            <a:extLst>
              <a:ext uri="{FF2B5EF4-FFF2-40B4-BE49-F238E27FC236}">
                <a16:creationId xmlns:a16="http://schemas.microsoft.com/office/drawing/2014/main" id="{77FFF02D-A8ED-8843-B31A-AFDE69261198}"/>
              </a:ext>
            </a:extLst>
          </p:cNvPr>
          <p:cNvCxnSpPr>
            <a:cxnSpLocks/>
            <a:endCxn id="7" idx="1"/>
          </p:cNvCxnSpPr>
          <p:nvPr/>
        </p:nvCxnSpPr>
        <p:spPr>
          <a:xfrm rot="5400000" flipH="1" flipV="1">
            <a:off x="3088220" y="1997987"/>
            <a:ext cx="472965" cy="1154666"/>
          </a:xfrm>
          <a:prstGeom prst="bentConnector2">
            <a:avLst/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sp>
        <p:nvSpPr>
          <p:cNvPr id="65" name="TextBox 64">
            <a:extLst>
              <a:ext uri="{FF2B5EF4-FFF2-40B4-BE49-F238E27FC236}">
                <a16:creationId xmlns:a16="http://schemas.microsoft.com/office/drawing/2014/main" id="{FAC7B1FE-334F-124C-934E-77034DF2DBEC}"/>
              </a:ext>
            </a:extLst>
          </p:cNvPr>
          <p:cNvSpPr txBox="1"/>
          <p:nvPr/>
        </p:nvSpPr>
        <p:spPr>
          <a:xfrm>
            <a:off x="2298403" y="1645429"/>
            <a:ext cx="74251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 err="1">
                <a:latin typeface="Courier" pitchFamily="2" charset="0"/>
              </a:rPr>
              <a:t>ytrain</a:t>
            </a:r>
            <a:endParaRPr lang="en-US" sz="1200" dirty="0">
              <a:latin typeface="Courier" pitchFamily="2" charset="0"/>
            </a:endParaRP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985D38A5-3B9C-7543-A955-FFF40ADEF916}"/>
              </a:ext>
            </a:extLst>
          </p:cNvPr>
          <p:cNvSpPr txBox="1"/>
          <p:nvPr/>
        </p:nvSpPr>
        <p:spPr>
          <a:xfrm>
            <a:off x="2757009" y="2343444"/>
            <a:ext cx="74251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 err="1">
                <a:latin typeface="Courier" pitchFamily="2" charset="0"/>
              </a:rPr>
              <a:t>Xtrain</a:t>
            </a:r>
            <a:endParaRPr lang="en-US" sz="1200" dirty="0">
              <a:latin typeface="Courier" pitchFamily="2" charset="0"/>
            </a:endParaRPr>
          </a:p>
        </p:txBody>
      </p:sp>
      <p:cxnSp>
        <p:nvCxnSpPr>
          <p:cNvPr id="67" name="Elbow Connector 66">
            <a:extLst>
              <a:ext uri="{FF2B5EF4-FFF2-40B4-BE49-F238E27FC236}">
                <a16:creationId xmlns:a16="http://schemas.microsoft.com/office/drawing/2014/main" id="{ED0A7CEE-47E4-2748-B000-EF8B6F820E06}"/>
              </a:ext>
            </a:extLst>
          </p:cNvPr>
          <p:cNvCxnSpPr>
            <a:cxnSpLocks/>
            <a:endCxn id="10" idx="1"/>
          </p:cNvCxnSpPr>
          <p:nvPr/>
        </p:nvCxnSpPr>
        <p:spPr>
          <a:xfrm rot="16200000" flipH="1">
            <a:off x="3088218" y="3416883"/>
            <a:ext cx="472966" cy="1154665"/>
          </a:xfrm>
          <a:prstGeom prst="bentConnector2">
            <a:avLst/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sp>
        <p:nvSpPr>
          <p:cNvPr id="70" name="TextBox 69">
            <a:extLst>
              <a:ext uri="{FF2B5EF4-FFF2-40B4-BE49-F238E27FC236}">
                <a16:creationId xmlns:a16="http://schemas.microsoft.com/office/drawing/2014/main" id="{956118C5-F9B0-1C40-AFF9-7E747A23455B}"/>
              </a:ext>
            </a:extLst>
          </p:cNvPr>
          <p:cNvSpPr txBox="1"/>
          <p:nvPr/>
        </p:nvSpPr>
        <p:spPr>
          <a:xfrm>
            <a:off x="2760066" y="3960052"/>
            <a:ext cx="64953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 err="1">
                <a:latin typeface="Courier" pitchFamily="2" charset="0"/>
              </a:rPr>
              <a:t>Xtest</a:t>
            </a:r>
            <a:endParaRPr lang="en-US" sz="1200" dirty="0">
              <a:latin typeface="Courier" pitchFamily="2" charset="0"/>
            </a:endParaRPr>
          </a:p>
        </p:txBody>
      </p:sp>
      <p:sp>
        <p:nvSpPr>
          <p:cNvPr id="71" name="Oval 70">
            <a:extLst>
              <a:ext uri="{FF2B5EF4-FFF2-40B4-BE49-F238E27FC236}">
                <a16:creationId xmlns:a16="http://schemas.microsoft.com/office/drawing/2014/main" id="{B2E0B8C0-6F9D-E94B-8071-7418C32DEE4D}"/>
              </a:ext>
            </a:extLst>
          </p:cNvPr>
          <p:cNvSpPr/>
          <p:nvPr/>
        </p:nvSpPr>
        <p:spPr>
          <a:xfrm>
            <a:off x="10527957" y="4035190"/>
            <a:ext cx="358345" cy="39073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cxnSp>
        <p:nvCxnSpPr>
          <p:cNvPr id="72" name="Straight Arrow Connector 71">
            <a:extLst>
              <a:ext uri="{FF2B5EF4-FFF2-40B4-BE49-F238E27FC236}">
                <a16:creationId xmlns:a16="http://schemas.microsoft.com/office/drawing/2014/main" id="{94DFC47A-7FA8-6847-AFC2-E13C5EEC3B31}"/>
              </a:ext>
            </a:extLst>
          </p:cNvPr>
          <p:cNvCxnSpPr>
            <a:cxnSpLocks/>
            <a:stCxn id="46" idx="3"/>
            <a:endCxn id="71" idx="2"/>
          </p:cNvCxnSpPr>
          <p:nvPr/>
        </p:nvCxnSpPr>
        <p:spPr>
          <a:xfrm flipV="1">
            <a:off x="10132541" y="4230555"/>
            <a:ext cx="395416" cy="1"/>
          </a:xfrm>
          <a:prstGeom prst="straightConnector1">
            <a:avLst/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76" name="Elbow Connector 75">
            <a:extLst>
              <a:ext uri="{FF2B5EF4-FFF2-40B4-BE49-F238E27FC236}">
                <a16:creationId xmlns:a16="http://schemas.microsoft.com/office/drawing/2014/main" id="{BC6856AA-62D8-5647-A322-98178AF41D4A}"/>
              </a:ext>
            </a:extLst>
          </p:cNvPr>
          <p:cNvCxnSpPr>
            <a:cxnSpLocks/>
            <a:endCxn id="26" idx="0"/>
          </p:cNvCxnSpPr>
          <p:nvPr/>
        </p:nvCxnSpPr>
        <p:spPr>
          <a:xfrm rot="5400000" flipH="1" flipV="1">
            <a:off x="4493650" y="-325399"/>
            <a:ext cx="946074" cy="5328328"/>
          </a:xfrm>
          <a:prstGeom prst="bentConnector3">
            <a:avLst>
              <a:gd name="adj1" fmla="val 124163"/>
            </a:avLst>
          </a:prstGeom>
          <a:ln w="31750"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79" name="Elbow Connector 78">
            <a:extLst>
              <a:ext uri="{FF2B5EF4-FFF2-40B4-BE49-F238E27FC236}">
                <a16:creationId xmlns:a16="http://schemas.microsoft.com/office/drawing/2014/main" id="{E8E6A699-C147-394B-A3BC-3C60E525E806}"/>
              </a:ext>
            </a:extLst>
          </p:cNvPr>
          <p:cNvCxnSpPr>
            <a:cxnSpLocks/>
            <a:endCxn id="71" idx="4"/>
          </p:cNvCxnSpPr>
          <p:nvPr/>
        </p:nvCxnSpPr>
        <p:spPr>
          <a:xfrm rot="16200000" flipH="1">
            <a:off x="6170733" y="-110478"/>
            <a:ext cx="668187" cy="8404608"/>
          </a:xfrm>
          <a:prstGeom prst="bentConnector3">
            <a:avLst>
              <a:gd name="adj1" fmla="val 171198"/>
            </a:avLst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sp>
        <p:nvSpPr>
          <p:cNvPr id="84" name="TextBox 83">
            <a:extLst>
              <a:ext uri="{FF2B5EF4-FFF2-40B4-BE49-F238E27FC236}">
                <a16:creationId xmlns:a16="http://schemas.microsoft.com/office/drawing/2014/main" id="{A6EAAEC3-0FDE-D04F-A4AE-687FD0C3B25D}"/>
              </a:ext>
            </a:extLst>
          </p:cNvPr>
          <p:cNvSpPr txBox="1"/>
          <p:nvPr/>
        </p:nvSpPr>
        <p:spPr>
          <a:xfrm>
            <a:off x="2312886" y="4617711"/>
            <a:ext cx="64953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 err="1">
                <a:latin typeface="Courier" pitchFamily="2" charset="0"/>
              </a:rPr>
              <a:t>ytest</a:t>
            </a:r>
            <a:endParaRPr lang="en-US" sz="1200" dirty="0">
              <a:latin typeface="Courier" pitchFamily="2" charset="0"/>
            </a:endParaRPr>
          </a:p>
        </p:txBody>
      </p:sp>
      <p:cxnSp>
        <p:nvCxnSpPr>
          <p:cNvPr id="85" name="Straight Arrow Connector 84">
            <a:extLst>
              <a:ext uri="{FF2B5EF4-FFF2-40B4-BE49-F238E27FC236}">
                <a16:creationId xmlns:a16="http://schemas.microsoft.com/office/drawing/2014/main" id="{B602F283-7EAF-2C48-8D38-E293B7B43324}"/>
              </a:ext>
            </a:extLst>
          </p:cNvPr>
          <p:cNvCxnSpPr>
            <a:cxnSpLocks/>
          </p:cNvCxnSpPr>
          <p:nvPr/>
        </p:nvCxnSpPr>
        <p:spPr>
          <a:xfrm flipV="1">
            <a:off x="1388119" y="3284624"/>
            <a:ext cx="540000" cy="1"/>
          </a:xfrm>
          <a:prstGeom prst="straightConnector1">
            <a:avLst/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87" name="Straight Arrow Connector 86">
            <a:extLst>
              <a:ext uri="{FF2B5EF4-FFF2-40B4-BE49-F238E27FC236}">
                <a16:creationId xmlns:a16="http://schemas.microsoft.com/office/drawing/2014/main" id="{7C0AFF82-2FA7-094D-A8E3-C6AFCA08FE44}"/>
              </a:ext>
            </a:extLst>
          </p:cNvPr>
          <p:cNvCxnSpPr>
            <a:cxnSpLocks/>
            <a:stCxn id="26" idx="3"/>
            <a:endCxn id="45" idx="1"/>
          </p:cNvCxnSpPr>
          <p:nvPr/>
        </p:nvCxnSpPr>
        <p:spPr>
          <a:xfrm>
            <a:off x="8279013" y="2338694"/>
            <a:ext cx="297402" cy="0"/>
          </a:xfrm>
          <a:prstGeom prst="straightConnector1">
            <a:avLst/>
          </a:prstGeom>
          <a:ln w="31750"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sp>
        <p:nvSpPr>
          <p:cNvPr id="90" name="Rectangle 89">
            <a:extLst>
              <a:ext uri="{FF2B5EF4-FFF2-40B4-BE49-F238E27FC236}">
                <a16:creationId xmlns:a16="http://schemas.microsoft.com/office/drawing/2014/main" id="{EB3FAC02-6FE3-044A-BFF1-9D1076514340}"/>
              </a:ext>
            </a:extLst>
          </p:cNvPr>
          <p:cNvSpPr/>
          <p:nvPr/>
        </p:nvSpPr>
        <p:spPr>
          <a:xfrm>
            <a:off x="10555044" y="3936308"/>
            <a:ext cx="300082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800" dirty="0">
                <a:solidFill>
                  <a:schemeClr val="bg1"/>
                </a:solidFill>
                <a:latin typeface="Gill Sans MT" panose="020B0502020104020203" pitchFamily="34" charset="77"/>
              </a:rPr>
              <a:t>-</a:t>
            </a:r>
          </a:p>
        </p:txBody>
      </p:sp>
      <p:cxnSp>
        <p:nvCxnSpPr>
          <p:cNvPr id="92" name="Elbow Connector 91">
            <a:extLst>
              <a:ext uri="{FF2B5EF4-FFF2-40B4-BE49-F238E27FC236}">
                <a16:creationId xmlns:a16="http://schemas.microsoft.com/office/drawing/2014/main" id="{7956D393-E893-E84E-B03E-920AF5D64E97}"/>
              </a:ext>
            </a:extLst>
          </p:cNvPr>
          <p:cNvCxnSpPr>
            <a:cxnSpLocks/>
            <a:endCxn id="45" idx="0"/>
          </p:cNvCxnSpPr>
          <p:nvPr/>
        </p:nvCxnSpPr>
        <p:spPr>
          <a:xfrm rot="5400000" flipH="1" flipV="1">
            <a:off x="5355463" y="-1187212"/>
            <a:ext cx="946074" cy="7051955"/>
          </a:xfrm>
          <a:prstGeom prst="bentConnector3">
            <a:avLst>
              <a:gd name="adj1" fmla="val 124163"/>
            </a:avLst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sp>
        <p:nvSpPr>
          <p:cNvPr id="95" name="Rounded Rectangle 94">
            <a:extLst>
              <a:ext uri="{FF2B5EF4-FFF2-40B4-BE49-F238E27FC236}">
                <a16:creationId xmlns:a16="http://schemas.microsoft.com/office/drawing/2014/main" id="{D3517EFD-B9EB-8846-A1CB-CF503A7E8BB5}"/>
              </a:ext>
            </a:extLst>
          </p:cNvPr>
          <p:cNvSpPr/>
          <p:nvPr/>
        </p:nvSpPr>
        <p:spPr>
          <a:xfrm>
            <a:off x="1932199" y="2811802"/>
            <a:ext cx="1185494" cy="945931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Gill Sans MT" panose="020B0502020104020203" pitchFamily="34" charset="77"/>
              </a:rPr>
              <a:t>Split</a:t>
            </a:r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B0086021-8CB2-EC47-AD49-94705C6D6C8E}"/>
              </a:ext>
            </a:extLst>
          </p:cNvPr>
          <p:cNvSpPr txBox="1"/>
          <p:nvPr/>
        </p:nvSpPr>
        <p:spPr>
          <a:xfrm>
            <a:off x="4556566" y="614591"/>
            <a:ext cx="130035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 err="1">
                <a:latin typeface="Courier" pitchFamily="2" charset="0"/>
              </a:rPr>
              <a:t>Xtrain_clean</a:t>
            </a:r>
            <a:endParaRPr lang="en-US" sz="1200" dirty="0">
              <a:latin typeface="Courier" pitchFamily="2" charset="0"/>
            </a:endParaRPr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C7D38ABA-5393-9045-8FC6-7871AF55F7C2}"/>
              </a:ext>
            </a:extLst>
          </p:cNvPr>
          <p:cNvSpPr txBox="1"/>
          <p:nvPr/>
        </p:nvSpPr>
        <p:spPr>
          <a:xfrm>
            <a:off x="6193223" y="614590"/>
            <a:ext cx="120738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 err="1">
                <a:latin typeface="Courier" pitchFamily="2" charset="0"/>
              </a:rPr>
              <a:t>Xtrain_norm</a:t>
            </a:r>
            <a:endParaRPr lang="en-US" sz="1200" dirty="0">
              <a:latin typeface="Courier" pitchFamily="2" charset="0"/>
            </a:endParaRPr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603A48E1-28AE-D44D-8AFE-840C09CEB274}"/>
              </a:ext>
            </a:extLst>
          </p:cNvPr>
          <p:cNvSpPr txBox="1"/>
          <p:nvPr/>
        </p:nvSpPr>
        <p:spPr>
          <a:xfrm>
            <a:off x="7833438" y="614590"/>
            <a:ext cx="111440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 err="1">
                <a:latin typeface="Courier" pitchFamily="2" charset="0"/>
              </a:rPr>
              <a:t>Xtrain_sel</a:t>
            </a:r>
            <a:endParaRPr lang="en-US" sz="1200" dirty="0">
              <a:latin typeface="Courier" pitchFamily="2" charset="0"/>
            </a:endParaRPr>
          </a:p>
        </p:txBody>
      </p:sp>
      <p:cxnSp>
        <p:nvCxnSpPr>
          <p:cNvPr id="100" name="Straight Connector 99">
            <a:extLst>
              <a:ext uri="{FF2B5EF4-FFF2-40B4-BE49-F238E27FC236}">
                <a16:creationId xmlns:a16="http://schemas.microsoft.com/office/drawing/2014/main" id="{3EE689BD-4868-6946-B507-A1ED7FF02394}"/>
              </a:ext>
            </a:extLst>
          </p:cNvPr>
          <p:cNvCxnSpPr/>
          <p:nvPr/>
        </p:nvCxnSpPr>
        <p:spPr>
          <a:xfrm>
            <a:off x="5201171" y="927598"/>
            <a:ext cx="0" cy="1395476"/>
          </a:xfrm>
          <a:prstGeom prst="line">
            <a:avLst/>
          </a:prstGeom>
          <a:ln>
            <a:prstDash val="dash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101" name="Straight Connector 100">
            <a:extLst>
              <a:ext uri="{FF2B5EF4-FFF2-40B4-BE49-F238E27FC236}">
                <a16:creationId xmlns:a16="http://schemas.microsoft.com/office/drawing/2014/main" id="{A2635A68-5893-AF4B-A04D-95A1CEB0CBBF}"/>
              </a:ext>
            </a:extLst>
          </p:cNvPr>
          <p:cNvCxnSpPr/>
          <p:nvPr/>
        </p:nvCxnSpPr>
        <p:spPr>
          <a:xfrm>
            <a:off x="6809271" y="928660"/>
            <a:ext cx="0" cy="1395476"/>
          </a:xfrm>
          <a:prstGeom prst="line">
            <a:avLst/>
          </a:prstGeom>
          <a:ln>
            <a:prstDash val="dash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102" name="Straight Connector 101">
            <a:extLst>
              <a:ext uri="{FF2B5EF4-FFF2-40B4-BE49-F238E27FC236}">
                <a16:creationId xmlns:a16="http://schemas.microsoft.com/office/drawing/2014/main" id="{CA67F10A-889D-884D-B2BD-6EC9996BC823}"/>
              </a:ext>
            </a:extLst>
          </p:cNvPr>
          <p:cNvCxnSpPr/>
          <p:nvPr/>
        </p:nvCxnSpPr>
        <p:spPr>
          <a:xfrm>
            <a:off x="8395459" y="935334"/>
            <a:ext cx="0" cy="1395476"/>
          </a:xfrm>
          <a:prstGeom prst="line">
            <a:avLst/>
          </a:prstGeom>
          <a:ln>
            <a:prstDash val="dash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sp>
        <p:nvSpPr>
          <p:cNvPr id="103" name="TextBox 102">
            <a:extLst>
              <a:ext uri="{FF2B5EF4-FFF2-40B4-BE49-F238E27FC236}">
                <a16:creationId xmlns:a16="http://schemas.microsoft.com/office/drawing/2014/main" id="{7758896A-886A-4E44-B6B1-1D01A4B7575E}"/>
              </a:ext>
            </a:extLst>
          </p:cNvPr>
          <p:cNvSpPr txBox="1"/>
          <p:nvPr/>
        </p:nvSpPr>
        <p:spPr>
          <a:xfrm>
            <a:off x="4606820" y="5598485"/>
            <a:ext cx="120738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 err="1">
                <a:latin typeface="Courier" pitchFamily="2" charset="0"/>
              </a:rPr>
              <a:t>Xtest_clean</a:t>
            </a:r>
            <a:endParaRPr lang="en-US" sz="1200" dirty="0">
              <a:latin typeface="Courier" pitchFamily="2" charset="0"/>
            </a:endParaRPr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59E565A0-2D0E-3B4C-991D-7E73A986F59F}"/>
              </a:ext>
            </a:extLst>
          </p:cNvPr>
          <p:cNvSpPr txBox="1"/>
          <p:nvPr/>
        </p:nvSpPr>
        <p:spPr>
          <a:xfrm>
            <a:off x="6292905" y="5598484"/>
            <a:ext cx="111440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 err="1">
                <a:latin typeface="Courier" pitchFamily="2" charset="0"/>
              </a:rPr>
              <a:t>Xtest_norm</a:t>
            </a:r>
            <a:endParaRPr lang="en-US" sz="1200" dirty="0">
              <a:latin typeface="Courier" pitchFamily="2" charset="0"/>
            </a:endParaRPr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541DBAA2-C401-C646-8DA7-A1AF1197467E}"/>
              </a:ext>
            </a:extLst>
          </p:cNvPr>
          <p:cNvSpPr txBox="1"/>
          <p:nvPr/>
        </p:nvSpPr>
        <p:spPr>
          <a:xfrm>
            <a:off x="7896049" y="5598484"/>
            <a:ext cx="102143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 err="1">
                <a:latin typeface="Courier" pitchFamily="2" charset="0"/>
              </a:rPr>
              <a:t>Xtest_sel</a:t>
            </a:r>
            <a:endParaRPr lang="en-US" sz="1200" dirty="0">
              <a:latin typeface="Courier" pitchFamily="2" charset="0"/>
            </a:endParaRPr>
          </a:p>
        </p:txBody>
      </p:sp>
      <p:cxnSp>
        <p:nvCxnSpPr>
          <p:cNvPr id="106" name="Straight Connector 105">
            <a:extLst>
              <a:ext uri="{FF2B5EF4-FFF2-40B4-BE49-F238E27FC236}">
                <a16:creationId xmlns:a16="http://schemas.microsoft.com/office/drawing/2014/main" id="{B2EDCCCC-EFBD-E04F-ACAB-EA6269E703E9}"/>
              </a:ext>
            </a:extLst>
          </p:cNvPr>
          <p:cNvCxnSpPr/>
          <p:nvPr/>
        </p:nvCxnSpPr>
        <p:spPr>
          <a:xfrm>
            <a:off x="5201997" y="4230971"/>
            <a:ext cx="0" cy="1395476"/>
          </a:xfrm>
          <a:prstGeom prst="line">
            <a:avLst/>
          </a:prstGeom>
          <a:ln>
            <a:prstDash val="dash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107" name="Straight Connector 106">
            <a:extLst>
              <a:ext uri="{FF2B5EF4-FFF2-40B4-BE49-F238E27FC236}">
                <a16:creationId xmlns:a16="http://schemas.microsoft.com/office/drawing/2014/main" id="{D3C570D5-5AB9-554D-9622-8BF850E4EDC6}"/>
              </a:ext>
            </a:extLst>
          </p:cNvPr>
          <p:cNvCxnSpPr/>
          <p:nvPr/>
        </p:nvCxnSpPr>
        <p:spPr>
          <a:xfrm>
            <a:off x="6810097" y="4232033"/>
            <a:ext cx="0" cy="1395476"/>
          </a:xfrm>
          <a:prstGeom prst="line">
            <a:avLst/>
          </a:prstGeom>
          <a:ln>
            <a:prstDash val="dash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108" name="Straight Connector 107">
            <a:extLst>
              <a:ext uri="{FF2B5EF4-FFF2-40B4-BE49-F238E27FC236}">
                <a16:creationId xmlns:a16="http://schemas.microsoft.com/office/drawing/2014/main" id="{DDC78A1B-05A8-CF41-BA5D-3DE9A7AF9C97}"/>
              </a:ext>
            </a:extLst>
          </p:cNvPr>
          <p:cNvCxnSpPr/>
          <p:nvPr/>
        </p:nvCxnSpPr>
        <p:spPr>
          <a:xfrm>
            <a:off x="8396285" y="4238707"/>
            <a:ext cx="0" cy="1395476"/>
          </a:xfrm>
          <a:prstGeom prst="line">
            <a:avLst/>
          </a:prstGeom>
          <a:ln>
            <a:prstDash val="dash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sp>
        <p:nvSpPr>
          <p:cNvPr id="109" name="TextBox 108">
            <a:extLst>
              <a:ext uri="{FF2B5EF4-FFF2-40B4-BE49-F238E27FC236}">
                <a16:creationId xmlns:a16="http://schemas.microsoft.com/office/drawing/2014/main" id="{27448682-A88E-A747-BE4A-FB6202575552}"/>
              </a:ext>
            </a:extLst>
          </p:cNvPr>
          <p:cNvSpPr txBox="1"/>
          <p:nvPr/>
        </p:nvSpPr>
        <p:spPr>
          <a:xfrm>
            <a:off x="9973974" y="3426076"/>
            <a:ext cx="64953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 err="1">
                <a:latin typeface="Courier" pitchFamily="2" charset="0"/>
              </a:rPr>
              <a:t>ypred</a:t>
            </a:r>
            <a:endParaRPr lang="en-US" sz="1200" dirty="0">
              <a:latin typeface="Courier" pitchFamily="2" charset="0"/>
            </a:endParaRPr>
          </a:p>
        </p:txBody>
      </p:sp>
      <p:cxnSp>
        <p:nvCxnSpPr>
          <p:cNvPr id="110" name="Straight Arrow Connector 109">
            <a:extLst>
              <a:ext uri="{FF2B5EF4-FFF2-40B4-BE49-F238E27FC236}">
                <a16:creationId xmlns:a16="http://schemas.microsoft.com/office/drawing/2014/main" id="{DE6E1A03-BAC5-1C4F-B1CE-D4905FC43277}"/>
              </a:ext>
            </a:extLst>
          </p:cNvPr>
          <p:cNvCxnSpPr>
            <a:cxnSpLocks/>
          </p:cNvCxnSpPr>
          <p:nvPr/>
        </p:nvCxnSpPr>
        <p:spPr>
          <a:xfrm flipV="1">
            <a:off x="10894855" y="4219762"/>
            <a:ext cx="395416" cy="1"/>
          </a:xfrm>
          <a:prstGeom prst="straightConnector1">
            <a:avLst/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sp>
        <p:nvSpPr>
          <p:cNvPr id="111" name="TextBox 110">
            <a:extLst>
              <a:ext uri="{FF2B5EF4-FFF2-40B4-BE49-F238E27FC236}">
                <a16:creationId xmlns:a16="http://schemas.microsoft.com/office/drawing/2014/main" id="{A6FC68BF-43DC-6243-8452-A50230DB79A4}"/>
              </a:ext>
            </a:extLst>
          </p:cNvPr>
          <p:cNvSpPr txBox="1"/>
          <p:nvPr/>
        </p:nvSpPr>
        <p:spPr>
          <a:xfrm>
            <a:off x="11251259" y="4076351"/>
            <a:ext cx="46358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latin typeface="Courier" pitchFamily="2" charset="0"/>
              </a:rPr>
              <a:t>acc</a:t>
            </a:r>
          </a:p>
        </p:txBody>
      </p:sp>
      <p:cxnSp>
        <p:nvCxnSpPr>
          <p:cNvPr id="112" name="Straight Connector 111">
            <a:extLst>
              <a:ext uri="{FF2B5EF4-FFF2-40B4-BE49-F238E27FC236}">
                <a16:creationId xmlns:a16="http://schemas.microsoft.com/office/drawing/2014/main" id="{D6245014-14D6-C143-B4C3-FE77B9AFDDB0}"/>
              </a:ext>
            </a:extLst>
          </p:cNvPr>
          <p:cNvCxnSpPr/>
          <p:nvPr/>
        </p:nvCxnSpPr>
        <p:spPr>
          <a:xfrm>
            <a:off x="10305535" y="3715813"/>
            <a:ext cx="0" cy="504000"/>
          </a:xfrm>
          <a:prstGeom prst="line">
            <a:avLst/>
          </a:prstGeom>
          <a:ln>
            <a:prstDash val="dash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sp>
        <p:nvSpPr>
          <p:cNvPr id="113" name="TextBox 112">
            <a:extLst>
              <a:ext uri="{FF2B5EF4-FFF2-40B4-BE49-F238E27FC236}">
                <a16:creationId xmlns:a16="http://schemas.microsoft.com/office/drawing/2014/main" id="{765135C3-AB43-234E-B1C5-B2E594063736}"/>
              </a:ext>
            </a:extLst>
          </p:cNvPr>
          <p:cNvSpPr txBox="1"/>
          <p:nvPr/>
        </p:nvSpPr>
        <p:spPr>
          <a:xfrm>
            <a:off x="4516551" y="3106086"/>
            <a:ext cx="74251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 err="1">
                <a:latin typeface="Courier" pitchFamily="2" charset="0"/>
              </a:rPr>
              <a:t>sclean</a:t>
            </a:r>
            <a:endParaRPr lang="en-US" sz="1200" dirty="0">
              <a:latin typeface="Courier" pitchFamily="2" charset="0"/>
            </a:endParaRPr>
          </a:p>
        </p:txBody>
      </p:sp>
      <p:sp>
        <p:nvSpPr>
          <p:cNvPr id="114" name="TextBox 113">
            <a:extLst>
              <a:ext uri="{FF2B5EF4-FFF2-40B4-BE49-F238E27FC236}">
                <a16:creationId xmlns:a16="http://schemas.microsoft.com/office/drawing/2014/main" id="{E6E45EF7-A74F-764B-845D-25E2B419A534}"/>
              </a:ext>
            </a:extLst>
          </p:cNvPr>
          <p:cNvSpPr txBox="1"/>
          <p:nvPr/>
        </p:nvSpPr>
        <p:spPr>
          <a:xfrm>
            <a:off x="6040070" y="3106085"/>
            <a:ext cx="46358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 err="1">
                <a:latin typeface="Courier" pitchFamily="2" charset="0"/>
              </a:rPr>
              <a:t>a,b</a:t>
            </a:r>
            <a:endParaRPr lang="en-US" sz="1200" dirty="0">
              <a:latin typeface="Courier" pitchFamily="2" charset="0"/>
            </a:endParaRPr>
          </a:p>
        </p:txBody>
      </p:sp>
      <p:sp>
        <p:nvSpPr>
          <p:cNvPr id="115" name="TextBox 114">
            <a:extLst>
              <a:ext uri="{FF2B5EF4-FFF2-40B4-BE49-F238E27FC236}">
                <a16:creationId xmlns:a16="http://schemas.microsoft.com/office/drawing/2014/main" id="{AEBC519D-A356-DA43-BD1D-5C1EE85DFB4F}"/>
              </a:ext>
            </a:extLst>
          </p:cNvPr>
          <p:cNvSpPr txBox="1"/>
          <p:nvPr/>
        </p:nvSpPr>
        <p:spPr>
          <a:xfrm>
            <a:off x="7625162" y="3100268"/>
            <a:ext cx="46358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 err="1">
                <a:latin typeface="Courier" pitchFamily="2" charset="0"/>
              </a:rPr>
              <a:t>sel</a:t>
            </a:r>
            <a:endParaRPr lang="en-US" sz="1200" dirty="0">
              <a:latin typeface="Courier" pitchFamily="2" charset="0"/>
            </a:endParaRPr>
          </a:p>
        </p:txBody>
      </p:sp>
      <p:sp>
        <p:nvSpPr>
          <p:cNvPr id="116" name="TextBox 115">
            <a:extLst>
              <a:ext uri="{FF2B5EF4-FFF2-40B4-BE49-F238E27FC236}">
                <a16:creationId xmlns:a16="http://schemas.microsoft.com/office/drawing/2014/main" id="{E9CCAA7F-8669-5A45-AA9A-1A08BE310B6C}"/>
              </a:ext>
            </a:extLst>
          </p:cNvPr>
          <p:cNvSpPr txBox="1"/>
          <p:nvPr/>
        </p:nvSpPr>
        <p:spPr>
          <a:xfrm>
            <a:off x="9398703" y="3027382"/>
            <a:ext cx="68961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latin typeface="Gill Sans MT" panose="020B0502020104020203" pitchFamily="34" charset="77"/>
              </a:rPr>
              <a:t>Learned</a:t>
            </a:r>
          </a:p>
          <a:p>
            <a:r>
              <a:rPr lang="en-US" sz="1200" dirty="0">
                <a:latin typeface="Gill Sans MT" panose="020B0502020104020203" pitchFamily="34" charset="77"/>
              </a:rPr>
              <a:t>Model</a:t>
            </a:r>
          </a:p>
        </p:txBody>
      </p:sp>
      <p:sp>
        <p:nvSpPr>
          <p:cNvPr id="117" name="TextBox 116">
            <a:extLst>
              <a:ext uri="{FF2B5EF4-FFF2-40B4-BE49-F238E27FC236}">
                <a16:creationId xmlns:a16="http://schemas.microsoft.com/office/drawing/2014/main" id="{BE41243F-0E51-9941-82F3-35550EC028B5}"/>
              </a:ext>
            </a:extLst>
          </p:cNvPr>
          <p:cNvSpPr txBox="1"/>
          <p:nvPr/>
        </p:nvSpPr>
        <p:spPr>
          <a:xfrm>
            <a:off x="1424287" y="3291152"/>
            <a:ext cx="46358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 err="1">
                <a:latin typeface="Courier" pitchFamily="2" charset="0"/>
              </a:rPr>
              <a:t>X,y</a:t>
            </a:r>
            <a:endParaRPr lang="en-US" sz="1200" dirty="0">
              <a:latin typeface="Courier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6362287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1DE6D48E-7E37-B74D-8B04-DC91E8A0E09A}"/>
              </a:ext>
            </a:extLst>
          </p:cNvPr>
          <p:cNvSpPr txBox="1"/>
          <p:nvPr/>
        </p:nvSpPr>
        <p:spPr>
          <a:xfrm>
            <a:off x="280530" y="2964032"/>
            <a:ext cx="118487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>
                <a:latin typeface="Gill Sans MT" panose="020B0502020104020203" pitchFamily="34" charset="77"/>
              </a:rPr>
              <a:t>Features &amp;</a:t>
            </a:r>
          </a:p>
          <a:p>
            <a:pPr algn="ctr"/>
            <a:r>
              <a:rPr lang="en-US" dirty="0">
                <a:latin typeface="Gill Sans MT" panose="020B0502020104020203" pitchFamily="34" charset="77"/>
              </a:rPr>
              <a:t>Labels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413D0C9C-71E0-7246-81AC-03006E9CAE30}"/>
              </a:ext>
            </a:extLst>
          </p:cNvPr>
          <p:cNvSpPr/>
          <p:nvPr/>
        </p:nvSpPr>
        <p:spPr>
          <a:xfrm>
            <a:off x="3902035" y="1865871"/>
            <a:ext cx="1185494" cy="945931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Gill Sans MT" panose="020B0502020104020203" pitchFamily="34" charset="77"/>
              </a:rPr>
              <a:t>Cleaning</a:t>
            </a: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05863649-5FC6-6D4B-8829-AB000041A0F2}"/>
              </a:ext>
            </a:extLst>
          </p:cNvPr>
          <p:cNvSpPr/>
          <p:nvPr/>
        </p:nvSpPr>
        <p:spPr>
          <a:xfrm>
            <a:off x="3902034" y="3757733"/>
            <a:ext cx="1185494" cy="945931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Gill Sans MT" panose="020B0502020104020203" pitchFamily="34" charset="77"/>
              </a:rPr>
              <a:t>Clean</a:t>
            </a:r>
          </a:p>
          <a:p>
            <a:pPr algn="ctr"/>
            <a:r>
              <a:rPr lang="en-US" dirty="0">
                <a:latin typeface="Gill Sans MT" panose="020B0502020104020203" pitchFamily="34" charset="77"/>
              </a:rPr>
              <a:t>Features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2AC45AE5-249E-A74B-A888-6ACD84B9BB40}"/>
              </a:ext>
            </a:extLst>
          </p:cNvPr>
          <p:cNvCxnSpPr>
            <a:cxnSpLocks/>
            <a:stCxn id="7" idx="2"/>
            <a:endCxn id="10" idx="0"/>
          </p:cNvCxnSpPr>
          <p:nvPr/>
        </p:nvCxnSpPr>
        <p:spPr>
          <a:xfrm flipH="1">
            <a:off x="4494781" y="2811802"/>
            <a:ext cx="1" cy="945931"/>
          </a:xfrm>
          <a:prstGeom prst="straightConnector1">
            <a:avLst/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sp>
        <p:nvSpPr>
          <p:cNvPr id="18" name="Rounded Rectangle 17">
            <a:extLst>
              <a:ext uri="{FF2B5EF4-FFF2-40B4-BE49-F238E27FC236}">
                <a16:creationId xmlns:a16="http://schemas.microsoft.com/office/drawing/2014/main" id="{E5F04E49-C1A7-5243-B82B-8EF1018BFD8B}"/>
              </a:ext>
            </a:extLst>
          </p:cNvPr>
          <p:cNvSpPr/>
          <p:nvPr/>
        </p:nvSpPr>
        <p:spPr>
          <a:xfrm>
            <a:off x="5388960" y="1865871"/>
            <a:ext cx="1296324" cy="945931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Gill Sans MT" panose="020B0502020104020203" pitchFamily="34" charset="77"/>
              </a:rPr>
              <a:t>Normalization</a:t>
            </a:r>
          </a:p>
        </p:txBody>
      </p:sp>
      <p:sp>
        <p:nvSpPr>
          <p:cNvPr id="19" name="Rounded Rectangle 18">
            <a:extLst>
              <a:ext uri="{FF2B5EF4-FFF2-40B4-BE49-F238E27FC236}">
                <a16:creationId xmlns:a16="http://schemas.microsoft.com/office/drawing/2014/main" id="{465D0504-00EC-3D46-9F45-717631A2011B}"/>
              </a:ext>
            </a:extLst>
          </p:cNvPr>
          <p:cNvSpPr/>
          <p:nvPr/>
        </p:nvSpPr>
        <p:spPr>
          <a:xfrm>
            <a:off x="5388959" y="3757733"/>
            <a:ext cx="1296324" cy="945931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Gill Sans MT" panose="020B0502020104020203" pitchFamily="34" charset="77"/>
              </a:rPr>
              <a:t>Normalize</a:t>
            </a:r>
          </a:p>
          <a:p>
            <a:pPr algn="ctr"/>
            <a:r>
              <a:rPr lang="en-US" dirty="0">
                <a:latin typeface="Gill Sans MT" panose="020B0502020104020203" pitchFamily="34" charset="77"/>
              </a:rPr>
              <a:t>Features</a:t>
            </a:r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45E2FA02-B069-3149-AFBA-C5FF580D5936}"/>
              </a:ext>
            </a:extLst>
          </p:cNvPr>
          <p:cNvCxnSpPr>
            <a:cxnSpLocks/>
            <a:stCxn id="18" idx="2"/>
            <a:endCxn id="19" idx="0"/>
          </p:cNvCxnSpPr>
          <p:nvPr/>
        </p:nvCxnSpPr>
        <p:spPr>
          <a:xfrm flipH="1">
            <a:off x="6037121" y="2811802"/>
            <a:ext cx="1" cy="945931"/>
          </a:xfrm>
          <a:prstGeom prst="straightConnector1">
            <a:avLst/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09140BA2-2AFF-3649-875B-09D895D04EC1}"/>
              </a:ext>
            </a:extLst>
          </p:cNvPr>
          <p:cNvCxnSpPr>
            <a:cxnSpLocks/>
            <a:stCxn id="7" idx="3"/>
            <a:endCxn id="18" idx="1"/>
          </p:cNvCxnSpPr>
          <p:nvPr/>
        </p:nvCxnSpPr>
        <p:spPr>
          <a:xfrm>
            <a:off x="5087529" y="2338837"/>
            <a:ext cx="301431" cy="0"/>
          </a:xfrm>
          <a:prstGeom prst="straightConnector1">
            <a:avLst/>
          </a:prstGeom>
          <a:ln w="31750"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sp>
        <p:nvSpPr>
          <p:cNvPr id="26" name="Rounded Rectangle 25">
            <a:extLst>
              <a:ext uri="{FF2B5EF4-FFF2-40B4-BE49-F238E27FC236}">
                <a16:creationId xmlns:a16="http://schemas.microsoft.com/office/drawing/2014/main" id="{DFD7DA71-0067-CB4E-9683-61FD4F07DEFC}"/>
              </a:ext>
            </a:extLst>
          </p:cNvPr>
          <p:cNvSpPr/>
          <p:nvPr/>
        </p:nvSpPr>
        <p:spPr>
          <a:xfrm>
            <a:off x="6982689" y="1865728"/>
            <a:ext cx="1296324" cy="945931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Gill Sans MT" panose="020B0502020104020203" pitchFamily="34" charset="77"/>
              </a:rPr>
              <a:t>Feature</a:t>
            </a:r>
          </a:p>
          <a:p>
            <a:pPr algn="ctr"/>
            <a:r>
              <a:rPr lang="en-US" dirty="0">
                <a:latin typeface="Gill Sans MT" panose="020B0502020104020203" pitchFamily="34" charset="77"/>
              </a:rPr>
              <a:t>Processing</a:t>
            </a:r>
          </a:p>
        </p:txBody>
      </p:sp>
      <p:sp>
        <p:nvSpPr>
          <p:cNvPr id="27" name="Rounded Rectangle 26">
            <a:extLst>
              <a:ext uri="{FF2B5EF4-FFF2-40B4-BE49-F238E27FC236}">
                <a16:creationId xmlns:a16="http://schemas.microsoft.com/office/drawing/2014/main" id="{6376F1E8-F01F-3B4D-97BA-AB1521AD7D1E}"/>
              </a:ext>
            </a:extLst>
          </p:cNvPr>
          <p:cNvSpPr/>
          <p:nvPr/>
        </p:nvSpPr>
        <p:spPr>
          <a:xfrm>
            <a:off x="6982688" y="3757590"/>
            <a:ext cx="1296324" cy="945931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Gill Sans MT" panose="020B0502020104020203" pitchFamily="34" charset="77"/>
              </a:rPr>
              <a:t>Process</a:t>
            </a:r>
          </a:p>
          <a:p>
            <a:pPr algn="ctr"/>
            <a:r>
              <a:rPr lang="en-US" dirty="0">
                <a:latin typeface="Gill Sans MT" panose="020B0502020104020203" pitchFamily="34" charset="77"/>
              </a:rPr>
              <a:t>Features</a:t>
            </a:r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1B9DC4DB-6672-E944-9F12-F4F20CDA19B2}"/>
              </a:ext>
            </a:extLst>
          </p:cNvPr>
          <p:cNvCxnSpPr>
            <a:cxnSpLocks/>
            <a:stCxn id="26" idx="2"/>
            <a:endCxn id="27" idx="0"/>
          </p:cNvCxnSpPr>
          <p:nvPr/>
        </p:nvCxnSpPr>
        <p:spPr>
          <a:xfrm flipH="1">
            <a:off x="7630850" y="2811659"/>
            <a:ext cx="1" cy="945931"/>
          </a:xfrm>
          <a:prstGeom prst="straightConnector1">
            <a:avLst/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21E2462F-23DF-9242-984C-6AF20E9EE768}"/>
              </a:ext>
            </a:extLst>
          </p:cNvPr>
          <p:cNvCxnSpPr>
            <a:cxnSpLocks/>
            <a:stCxn id="18" idx="3"/>
            <a:endCxn id="26" idx="1"/>
          </p:cNvCxnSpPr>
          <p:nvPr/>
        </p:nvCxnSpPr>
        <p:spPr>
          <a:xfrm flipV="1">
            <a:off x="6685284" y="2338694"/>
            <a:ext cx="297405" cy="143"/>
          </a:xfrm>
          <a:prstGeom prst="straightConnector1">
            <a:avLst/>
          </a:prstGeom>
          <a:ln w="31750"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3A44DFF4-2630-B841-9C39-088F788FE967}"/>
              </a:ext>
            </a:extLst>
          </p:cNvPr>
          <p:cNvCxnSpPr>
            <a:cxnSpLocks/>
            <a:stCxn id="10" idx="3"/>
            <a:endCxn id="19" idx="1"/>
          </p:cNvCxnSpPr>
          <p:nvPr/>
        </p:nvCxnSpPr>
        <p:spPr>
          <a:xfrm>
            <a:off x="5087528" y="4230699"/>
            <a:ext cx="301431" cy="0"/>
          </a:xfrm>
          <a:prstGeom prst="straightConnector1">
            <a:avLst/>
          </a:prstGeom>
          <a:ln w="31750"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269E2336-1BB2-D544-9AE5-B4067E653BF9}"/>
              </a:ext>
            </a:extLst>
          </p:cNvPr>
          <p:cNvCxnSpPr>
            <a:cxnSpLocks/>
            <a:stCxn id="19" idx="3"/>
            <a:endCxn id="27" idx="1"/>
          </p:cNvCxnSpPr>
          <p:nvPr/>
        </p:nvCxnSpPr>
        <p:spPr>
          <a:xfrm flipV="1">
            <a:off x="6685283" y="4230556"/>
            <a:ext cx="297405" cy="143"/>
          </a:xfrm>
          <a:prstGeom prst="straightConnector1">
            <a:avLst/>
          </a:prstGeom>
          <a:ln w="31750"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sp>
        <p:nvSpPr>
          <p:cNvPr id="45" name="Rounded Rectangle 44">
            <a:extLst>
              <a:ext uri="{FF2B5EF4-FFF2-40B4-BE49-F238E27FC236}">
                <a16:creationId xmlns:a16="http://schemas.microsoft.com/office/drawing/2014/main" id="{C97078E9-628A-BB4E-A204-3A7820B0DF6D}"/>
              </a:ext>
            </a:extLst>
          </p:cNvPr>
          <p:cNvSpPr/>
          <p:nvPr/>
        </p:nvSpPr>
        <p:spPr>
          <a:xfrm>
            <a:off x="8576415" y="1865728"/>
            <a:ext cx="1556125" cy="945931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Gill Sans MT" panose="020B0502020104020203" pitchFamily="34" charset="77"/>
              </a:rPr>
              <a:t>Train</a:t>
            </a:r>
          </a:p>
        </p:txBody>
      </p:sp>
      <p:sp>
        <p:nvSpPr>
          <p:cNvPr id="46" name="Rounded Rectangle 45">
            <a:extLst>
              <a:ext uri="{FF2B5EF4-FFF2-40B4-BE49-F238E27FC236}">
                <a16:creationId xmlns:a16="http://schemas.microsoft.com/office/drawing/2014/main" id="{E20AE725-03F9-CE4F-837E-27D4EE206339}"/>
              </a:ext>
            </a:extLst>
          </p:cNvPr>
          <p:cNvSpPr/>
          <p:nvPr/>
        </p:nvSpPr>
        <p:spPr>
          <a:xfrm>
            <a:off x="8576415" y="3757590"/>
            <a:ext cx="1556126" cy="945931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Gill Sans MT" panose="020B0502020104020203" pitchFamily="34" charset="77"/>
              </a:rPr>
              <a:t>Classify</a:t>
            </a:r>
          </a:p>
        </p:txBody>
      </p: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33B2209D-1185-2842-8D3C-DA7D3748697F}"/>
              </a:ext>
            </a:extLst>
          </p:cNvPr>
          <p:cNvCxnSpPr>
            <a:cxnSpLocks/>
            <a:stCxn id="45" idx="2"/>
            <a:endCxn id="46" idx="0"/>
          </p:cNvCxnSpPr>
          <p:nvPr/>
        </p:nvCxnSpPr>
        <p:spPr>
          <a:xfrm>
            <a:off x="9354478" y="2811659"/>
            <a:ext cx="0" cy="945931"/>
          </a:xfrm>
          <a:prstGeom prst="straightConnector1">
            <a:avLst/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C88A2615-5FC3-1F47-B17A-69CE522BAF19}"/>
              </a:ext>
            </a:extLst>
          </p:cNvPr>
          <p:cNvCxnSpPr>
            <a:cxnSpLocks/>
            <a:stCxn id="27" idx="3"/>
            <a:endCxn id="46" idx="1"/>
          </p:cNvCxnSpPr>
          <p:nvPr/>
        </p:nvCxnSpPr>
        <p:spPr>
          <a:xfrm>
            <a:off x="8279012" y="4230556"/>
            <a:ext cx="297403" cy="0"/>
          </a:xfrm>
          <a:prstGeom prst="straightConnector1">
            <a:avLst/>
          </a:prstGeom>
          <a:ln w="31750"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62" name="Elbow Connector 61">
            <a:extLst>
              <a:ext uri="{FF2B5EF4-FFF2-40B4-BE49-F238E27FC236}">
                <a16:creationId xmlns:a16="http://schemas.microsoft.com/office/drawing/2014/main" id="{77FFF02D-A8ED-8843-B31A-AFDE69261198}"/>
              </a:ext>
            </a:extLst>
          </p:cNvPr>
          <p:cNvCxnSpPr>
            <a:cxnSpLocks/>
            <a:endCxn id="7" idx="1"/>
          </p:cNvCxnSpPr>
          <p:nvPr/>
        </p:nvCxnSpPr>
        <p:spPr>
          <a:xfrm rot="5400000" flipH="1" flipV="1">
            <a:off x="3088220" y="1997987"/>
            <a:ext cx="472965" cy="1154666"/>
          </a:xfrm>
          <a:prstGeom prst="bentConnector2">
            <a:avLst/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sp>
        <p:nvSpPr>
          <p:cNvPr id="65" name="TextBox 64">
            <a:extLst>
              <a:ext uri="{FF2B5EF4-FFF2-40B4-BE49-F238E27FC236}">
                <a16:creationId xmlns:a16="http://schemas.microsoft.com/office/drawing/2014/main" id="{FAC7B1FE-334F-124C-934E-77034DF2DBEC}"/>
              </a:ext>
            </a:extLst>
          </p:cNvPr>
          <p:cNvSpPr txBox="1"/>
          <p:nvPr/>
        </p:nvSpPr>
        <p:spPr>
          <a:xfrm>
            <a:off x="2298403" y="1645429"/>
            <a:ext cx="74251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 err="1">
                <a:latin typeface="Courier" pitchFamily="2" charset="0"/>
              </a:rPr>
              <a:t>ytrain</a:t>
            </a:r>
            <a:endParaRPr lang="en-US" sz="1200" dirty="0">
              <a:latin typeface="Courier" pitchFamily="2" charset="0"/>
            </a:endParaRP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985D38A5-3B9C-7543-A955-FFF40ADEF916}"/>
              </a:ext>
            </a:extLst>
          </p:cNvPr>
          <p:cNvSpPr txBox="1"/>
          <p:nvPr/>
        </p:nvSpPr>
        <p:spPr>
          <a:xfrm>
            <a:off x="2757009" y="2343444"/>
            <a:ext cx="74251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 err="1">
                <a:latin typeface="Courier" pitchFamily="2" charset="0"/>
              </a:rPr>
              <a:t>Xtrain</a:t>
            </a:r>
            <a:endParaRPr lang="en-US" sz="1200" dirty="0">
              <a:latin typeface="Courier" pitchFamily="2" charset="0"/>
            </a:endParaRPr>
          </a:p>
        </p:txBody>
      </p:sp>
      <p:cxnSp>
        <p:nvCxnSpPr>
          <p:cNvPr id="67" name="Elbow Connector 66">
            <a:extLst>
              <a:ext uri="{FF2B5EF4-FFF2-40B4-BE49-F238E27FC236}">
                <a16:creationId xmlns:a16="http://schemas.microsoft.com/office/drawing/2014/main" id="{ED0A7CEE-47E4-2748-B000-EF8B6F820E06}"/>
              </a:ext>
            </a:extLst>
          </p:cNvPr>
          <p:cNvCxnSpPr>
            <a:cxnSpLocks/>
            <a:endCxn id="10" idx="1"/>
          </p:cNvCxnSpPr>
          <p:nvPr/>
        </p:nvCxnSpPr>
        <p:spPr>
          <a:xfrm rot="16200000" flipH="1">
            <a:off x="3088218" y="3416883"/>
            <a:ext cx="472966" cy="1154665"/>
          </a:xfrm>
          <a:prstGeom prst="bentConnector2">
            <a:avLst/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sp>
        <p:nvSpPr>
          <p:cNvPr id="70" name="TextBox 69">
            <a:extLst>
              <a:ext uri="{FF2B5EF4-FFF2-40B4-BE49-F238E27FC236}">
                <a16:creationId xmlns:a16="http://schemas.microsoft.com/office/drawing/2014/main" id="{956118C5-F9B0-1C40-AFF9-7E747A23455B}"/>
              </a:ext>
            </a:extLst>
          </p:cNvPr>
          <p:cNvSpPr txBox="1"/>
          <p:nvPr/>
        </p:nvSpPr>
        <p:spPr>
          <a:xfrm>
            <a:off x="2760066" y="3960052"/>
            <a:ext cx="64953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 err="1">
                <a:latin typeface="Courier" pitchFamily="2" charset="0"/>
              </a:rPr>
              <a:t>Xtest</a:t>
            </a:r>
            <a:endParaRPr lang="en-US" sz="1200" dirty="0">
              <a:latin typeface="Courier" pitchFamily="2" charset="0"/>
            </a:endParaRPr>
          </a:p>
        </p:txBody>
      </p:sp>
      <p:sp>
        <p:nvSpPr>
          <p:cNvPr id="71" name="Oval 70">
            <a:extLst>
              <a:ext uri="{FF2B5EF4-FFF2-40B4-BE49-F238E27FC236}">
                <a16:creationId xmlns:a16="http://schemas.microsoft.com/office/drawing/2014/main" id="{B2E0B8C0-6F9D-E94B-8071-7418C32DEE4D}"/>
              </a:ext>
            </a:extLst>
          </p:cNvPr>
          <p:cNvSpPr/>
          <p:nvPr/>
        </p:nvSpPr>
        <p:spPr>
          <a:xfrm>
            <a:off x="10527957" y="4035190"/>
            <a:ext cx="358345" cy="39073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cxnSp>
        <p:nvCxnSpPr>
          <p:cNvPr id="72" name="Straight Arrow Connector 71">
            <a:extLst>
              <a:ext uri="{FF2B5EF4-FFF2-40B4-BE49-F238E27FC236}">
                <a16:creationId xmlns:a16="http://schemas.microsoft.com/office/drawing/2014/main" id="{94DFC47A-7FA8-6847-AFC2-E13C5EEC3B31}"/>
              </a:ext>
            </a:extLst>
          </p:cNvPr>
          <p:cNvCxnSpPr>
            <a:cxnSpLocks/>
            <a:stCxn id="46" idx="3"/>
            <a:endCxn id="71" idx="2"/>
          </p:cNvCxnSpPr>
          <p:nvPr/>
        </p:nvCxnSpPr>
        <p:spPr>
          <a:xfrm flipV="1">
            <a:off x="10132541" y="4230555"/>
            <a:ext cx="395416" cy="1"/>
          </a:xfrm>
          <a:prstGeom prst="straightConnector1">
            <a:avLst/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76" name="Elbow Connector 75">
            <a:extLst>
              <a:ext uri="{FF2B5EF4-FFF2-40B4-BE49-F238E27FC236}">
                <a16:creationId xmlns:a16="http://schemas.microsoft.com/office/drawing/2014/main" id="{BC6856AA-62D8-5647-A322-98178AF41D4A}"/>
              </a:ext>
            </a:extLst>
          </p:cNvPr>
          <p:cNvCxnSpPr>
            <a:cxnSpLocks/>
            <a:endCxn id="26" idx="0"/>
          </p:cNvCxnSpPr>
          <p:nvPr/>
        </p:nvCxnSpPr>
        <p:spPr>
          <a:xfrm rot="5400000" flipH="1" flipV="1">
            <a:off x="4493650" y="-325399"/>
            <a:ext cx="946074" cy="5328328"/>
          </a:xfrm>
          <a:prstGeom prst="bentConnector3">
            <a:avLst>
              <a:gd name="adj1" fmla="val 124163"/>
            </a:avLst>
          </a:prstGeom>
          <a:ln w="31750"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79" name="Elbow Connector 78">
            <a:extLst>
              <a:ext uri="{FF2B5EF4-FFF2-40B4-BE49-F238E27FC236}">
                <a16:creationId xmlns:a16="http://schemas.microsoft.com/office/drawing/2014/main" id="{E8E6A699-C147-394B-A3BC-3C60E525E806}"/>
              </a:ext>
            </a:extLst>
          </p:cNvPr>
          <p:cNvCxnSpPr>
            <a:cxnSpLocks/>
            <a:endCxn id="71" idx="4"/>
          </p:cNvCxnSpPr>
          <p:nvPr/>
        </p:nvCxnSpPr>
        <p:spPr>
          <a:xfrm rot="16200000" flipH="1">
            <a:off x="6170733" y="-110478"/>
            <a:ext cx="668187" cy="8404608"/>
          </a:xfrm>
          <a:prstGeom prst="bentConnector3">
            <a:avLst>
              <a:gd name="adj1" fmla="val 171198"/>
            </a:avLst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sp>
        <p:nvSpPr>
          <p:cNvPr id="84" name="TextBox 83">
            <a:extLst>
              <a:ext uri="{FF2B5EF4-FFF2-40B4-BE49-F238E27FC236}">
                <a16:creationId xmlns:a16="http://schemas.microsoft.com/office/drawing/2014/main" id="{A6EAAEC3-0FDE-D04F-A4AE-687FD0C3B25D}"/>
              </a:ext>
            </a:extLst>
          </p:cNvPr>
          <p:cNvSpPr txBox="1"/>
          <p:nvPr/>
        </p:nvSpPr>
        <p:spPr>
          <a:xfrm>
            <a:off x="2312886" y="4617711"/>
            <a:ext cx="64953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 err="1">
                <a:latin typeface="Courier" pitchFamily="2" charset="0"/>
              </a:rPr>
              <a:t>ytest</a:t>
            </a:r>
            <a:endParaRPr lang="en-US" sz="1200" dirty="0">
              <a:latin typeface="Courier" pitchFamily="2" charset="0"/>
            </a:endParaRPr>
          </a:p>
        </p:txBody>
      </p:sp>
      <p:cxnSp>
        <p:nvCxnSpPr>
          <p:cNvPr id="85" name="Straight Arrow Connector 84">
            <a:extLst>
              <a:ext uri="{FF2B5EF4-FFF2-40B4-BE49-F238E27FC236}">
                <a16:creationId xmlns:a16="http://schemas.microsoft.com/office/drawing/2014/main" id="{B602F283-7EAF-2C48-8D38-E293B7B43324}"/>
              </a:ext>
            </a:extLst>
          </p:cNvPr>
          <p:cNvCxnSpPr>
            <a:cxnSpLocks/>
          </p:cNvCxnSpPr>
          <p:nvPr/>
        </p:nvCxnSpPr>
        <p:spPr>
          <a:xfrm flipV="1">
            <a:off x="1388119" y="3284624"/>
            <a:ext cx="540000" cy="1"/>
          </a:xfrm>
          <a:prstGeom prst="straightConnector1">
            <a:avLst/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87" name="Straight Arrow Connector 86">
            <a:extLst>
              <a:ext uri="{FF2B5EF4-FFF2-40B4-BE49-F238E27FC236}">
                <a16:creationId xmlns:a16="http://schemas.microsoft.com/office/drawing/2014/main" id="{7C0AFF82-2FA7-094D-A8E3-C6AFCA08FE44}"/>
              </a:ext>
            </a:extLst>
          </p:cNvPr>
          <p:cNvCxnSpPr>
            <a:cxnSpLocks/>
            <a:stCxn id="26" idx="3"/>
            <a:endCxn id="45" idx="1"/>
          </p:cNvCxnSpPr>
          <p:nvPr/>
        </p:nvCxnSpPr>
        <p:spPr>
          <a:xfrm>
            <a:off x="8279013" y="2338694"/>
            <a:ext cx="297402" cy="0"/>
          </a:xfrm>
          <a:prstGeom prst="straightConnector1">
            <a:avLst/>
          </a:prstGeom>
          <a:ln w="31750"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sp>
        <p:nvSpPr>
          <p:cNvPr id="90" name="Rectangle 89">
            <a:extLst>
              <a:ext uri="{FF2B5EF4-FFF2-40B4-BE49-F238E27FC236}">
                <a16:creationId xmlns:a16="http://schemas.microsoft.com/office/drawing/2014/main" id="{EB3FAC02-6FE3-044A-BFF1-9D1076514340}"/>
              </a:ext>
            </a:extLst>
          </p:cNvPr>
          <p:cNvSpPr/>
          <p:nvPr/>
        </p:nvSpPr>
        <p:spPr>
          <a:xfrm>
            <a:off x="10555044" y="3936308"/>
            <a:ext cx="300082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800" dirty="0">
                <a:solidFill>
                  <a:schemeClr val="bg1"/>
                </a:solidFill>
                <a:latin typeface="Gill Sans MT" panose="020B0502020104020203" pitchFamily="34" charset="77"/>
              </a:rPr>
              <a:t>-</a:t>
            </a:r>
          </a:p>
        </p:txBody>
      </p:sp>
      <p:cxnSp>
        <p:nvCxnSpPr>
          <p:cNvPr id="92" name="Elbow Connector 91">
            <a:extLst>
              <a:ext uri="{FF2B5EF4-FFF2-40B4-BE49-F238E27FC236}">
                <a16:creationId xmlns:a16="http://schemas.microsoft.com/office/drawing/2014/main" id="{7956D393-E893-E84E-B03E-920AF5D64E97}"/>
              </a:ext>
            </a:extLst>
          </p:cNvPr>
          <p:cNvCxnSpPr>
            <a:cxnSpLocks/>
            <a:endCxn id="45" idx="0"/>
          </p:cNvCxnSpPr>
          <p:nvPr/>
        </p:nvCxnSpPr>
        <p:spPr>
          <a:xfrm rot="5400000" flipH="1" flipV="1">
            <a:off x="5355463" y="-1187212"/>
            <a:ext cx="946074" cy="7051955"/>
          </a:xfrm>
          <a:prstGeom prst="bentConnector3">
            <a:avLst>
              <a:gd name="adj1" fmla="val 124163"/>
            </a:avLst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sp>
        <p:nvSpPr>
          <p:cNvPr id="95" name="Rounded Rectangle 94">
            <a:extLst>
              <a:ext uri="{FF2B5EF4-FFF2-40B4-BE49-F238E27FC236}">
                <a16:creationId xmlns:a16="http://schemas.microsoft.com/office/drawing/2014/main" id="{D3517EFD-B9EB-8846-A1CB-CF503A7E8BB5}"/>
              </a:ext>
            </a:extLst>
          </p:cNvPr>
          <p:cNvSpPr/>
          <p:nvPr/>
        </p:nvSpPr>
        <p:spPr>
          <a:xfrm>
            <a:off x="1932199" y="2811802"/>
            <a:ext cx="1185494" cy="945931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Gill Sans MT" panose="020B0502020104020203" pitchFamily="34" charset="77"/>
              </a:rPr>
              <a:t>Split</a:t>
            </a:r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B0086021-8CB2-EC47-AD49-94705C6D6C8E}"/>
              </a:ext>
            </a:extLst>
          </p:cNvPr>
          <p:cNvSpPr txBox="1"/>
          <p:nvPr/>
        </p:nvSpPr>
        <p:spPr>
          <a:xfrm>
            <a:off x="4556566" y="614591"/>
            <a:ext cx="130035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 err="1">
                <a:latin typeface="Courier" pitchFamily="2" charset="0"/>
              </a:rPr>
              <a:t>Xtrain_clean</a:t>
            </a:r>
            <a:endParaRPr lang="en-US" sz="1200" dirty="0">
              <a:latin typeface="Courier" pitchFamily="2" charset="0"/>
            </a:endParaRPr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C7D38ABA-5393-9045-8FC6-7871AF55F7C2}"/>
              </a:ext>
            </a:extLst>
          </p:cNvPr>
          <p:cNvSpPr txBox="1"/>
          <p:nvPr/>
        </p:nvSpPr>
        <p:spPr>
          <a:xfrm>
            <a:off x="6193223" y="614590"/>
            <a:ext cx="120738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 err="1">
                <a:latin typeface="Courier" pitchFamily="2" charset="0"/>
              </a:rPr>
              <a:t>Xtrain_norm</a:t>
            </a:r>
            <a:endParaRPr lang="en-US" sz="1200" dirty="0">
              <a:latin typeface="Courier" pitchFamily="2" charset="0"/>
            </a:endParaRPr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603A48E1-28AE-D44D-8AFE-840C09CEB274}"/>
              </a:ext>
            </a:extLst>
          </p:cNvPr>
          <p:cNvSpPr txBox="1"/>
          <p:nvPr/>
        </p:nvSpPr>
        <p:spPr>
          <a:xfrm>
            <a:off x="7833438" y="614590"/>
            <a:ext cx="120738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 err="1">
                <a:latin typeface="Courier" pitchFamily="2" charset="0"/>
              </a:rPr>
              <a:t>Xtrain_tran</a:t>
            </a:r>
            <a:endParaRPr lang="en-US" sz="1200" dirty="0">
              <a:latin typeface="Courier" pitchFamily="2" charset="0"/>
            </a:endParaRPr>
          </a:p>
        </p:txBody>
      </p:sp>
      <p:cxnSp>
        <p:nvCxnSpPr>
          <p:cNvPr id="100" name="Straight Connector 99">
            <a:extLst>
              <a:ext uri="{FF2B5EF4-FFF2-40B4-BE49-F238E27FC236}">
                <a16:creationId xmlns:a16="http://schemas.microsoft.com/office/drawing/2014/main" id="{3EE689BD-4868-6946-B507-A1ED7FF02394}"/>
              </a:ext>
            </a:extLst>
          </p:cNvPr>
          <p:cNvCxnSpPr/>
          <p:nvPr/>
        </p:nvCxnSpPr>
        <p:spPr>
          <a:xfrm>
            <a:off x="5201171" y="927598"/>
            <a:ext cx="0" cy="1395476"/>
          </a:xfrm>
          <a:prstGeom prst="line">
            <a:avLst/>
          </a:prstGeom>
          <a:ln>
            <a:prstDash val="dash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101" name="Straight Connector 100">
            <a:extLst>
              <a:ext uri="{FF2B5EF4-FFF2-40B4-BE49-F238E27FC236}">
                <a16:creationId xmlns:a16="http://schemas.microsoft.com/office/drawing/2014/main" id="{A2635A68-5893-AF4B-A04D-95A1CEB0CBBF}"/>
              </a:ext>
            </a:extLst>
          </p:cNvPr>
          <p:cNvCxnSpPr/>
          <p:nvPr/>
        </p:nvCxnSpPr>
        <p:spPr>
          <a:xfrm>
            <a:off x="6809271" y="928660"/>
            <a:ext cx="0" cy="1395476"/>
          </a:xfrm>
          <a:prstGeom prst="line">
            <a:avLst/>
          </a:prstGeom>
          <a:ln>
            <a:prstDash val="dash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102" name="Straight Connector 101">
            <a:extLst>
              <a:ext uri="{FF2B5EF4-FFF2-40B4-BE49-F238E27FC236}">
                <a16:creationId xmlns:a16="http://schemas.microsoft.com/office/drawing/2014/main" id="{CA67F10A-889D-884D-B2BD-6EC9996BC823}"/>
              </a:ext>
            </a:extLst>
          </p:cNvPr>
          <p:cNvCxnSpPr/>
          <p:nvPr/>
        </p:nvCxnSpPr>
        <p:spPr>
          <a:xfrm>
            <a:off x="8395459" y="935334"/>
            <a:ext cx="0" cy="1395476"/>
          </a:xfrm>
          <a:prstGeom prst="line">
            <a:avLst/>
          </a:prstGeom>
          <a:ln>
            <a:prstDash val="dash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sp>
        <p:nvSpPr>
          <p:cNvPr id="103" name="TextBox 102">
            <a:extLst>
              <a:ext uri="{FF2B5EF4-FFF2-40B4-BE49-F238E27FC236}">
                <a16:creationId xmlns:a16="http://schemas.microsoft.com/office/drawing/2014/main" id="{7758896A-886A-4E44-B6B1-1D01A4B7575E}"/>
              </a:ext>
            </a:extLst>
          </p:cNvPr>
          <p:cNvSpPr txBox="1"/>
          <p:nvPr/>
        </p:nvSpPr>
        <p:spPr>
          <a:xfrm>
            <a:off x="4606820" y="5598485"/>
            <a:ext cx="120738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 err="1">
                <a:latin typeface="Courier" pitchFamily="2" charset="0"/>
              </a:rPr>
              <a:t>Xtest_clean</a:t>
            </a:r>
            <a:endParaRPr lang="en-US" sz="1200" dirty="0">
              <a:latin typeface="Courier" pitchFamily="2" charset="0"/>
            </a:endParaRPr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59E565A0-2D0E-3B4C-991D-7E73A986F59F}"/>
              </a:ext>
            </a:extLst>
          </p:cNvPr>
          <p:cNvSpPr txBox="1"/>
          <p:nvPr/>
        </p:nvSpPr>
        <p:spPr>
          <a:xfrm>
            <a:off x="6292905" y="5598484"/>
            <a:ext cx="111440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 err="1">
                <a:latin typeface="Courier" pitchFamily="2" charset="0"/>
              </a:rPr>
              <a:t>Xtest_norm</a:t>
            </a:r>
            <a:endParaRPr lang="en-US" sz="1200" dirty="0">
              <a:latin typeface="Courier" pitchFamily="2" charset="0"/>
            </a:endParaRPr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541DBAA2-C401-C646-8DA7-A1AF1197467E}"/>
              </a:ext>
            </a:extLst>
          </p:cNvPr>
          <p:cNvSpPr txBox="1"/>
          <p:nvPr/>
        </p:nvSpPr>
        <p:spPr>
          <a:xfrm>
            <a:off x="7896049" y="5598484"/>
            <a:ext cx="111440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 err="1">
                <a:latin typeface="Courier" pitchFamily="2" charset="0"/>
              </a:rPr>
              <a:t>Xtest_tran</a:t>
            </a:r>
            <a:endParaRPr lang="en-US" sz="1200" dirty="0">
              <a:latin typeface="Courier" pitchFamily="2" charset="0"/>
            </a:endParaRPr>
          </a:p>
        </p:txBody>
      </p:sp>
      <p:cxnSp>
        <p:nvCxnSpPr>
          <p:cNvPr id="106" name="Straight Connector 105">
            <a:extLst>
              <a:ext uri="{FF2B5EF4-FFF2-40B4-BE49-F238E27FC236}">
                <a16:creationId xmlns:a16="http://schemas.microsoft.com/office/drawing/2014/main" id="{B2EDCCCC-EFBD-E04F-ACAB-EA6269E703E9}"/>
              </a:ext>
            </a:extLst>
          </p:cNvPr>
          <p:cNvCxnSpPr/>
          <p:nvPr/>
        </p:nvCxnSpPr>
        <p:spPr>
          <a:xfrm>
            <a:off x="5201997" y="4230971"/>
            <a:ext cx="0" cy="1395476"/>
          </a:xfrm>
          <a:prstGeom prst="line">
            <a:avLst/>
          </a:prstGeom>
          <a:ln>
            <a:prstDash val="dash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107" name="Straight Connector 106">
            <a:extLst>
              <a:ext uri="{FF2B5EF4-FFF2-40B4-BE49-F238E27FC236}">
                <a16:creationId xmlns:a16="http://schemas.microsoft.com/office/drawing/2014/main" id="{D3C570D5-5AB9-554D-9622-8BF850E4EDC6}"/>
              </a:ext>
            </a:extLst>
          </p:cNvPr>
          <p:cNvCxnSpPr/>
          <p:nvPr/>
        </p:nvCxnSpPr>
        <p:spPr>
          <a:xfrm>
            <a:off x="6810097" y="4232033"/>
            <a:ext cx="0" cy="1395476"/>
          </a:xfrm>
          <a:prstGeom prst="line">
            <a:avLst/>
          </a:prstGeom>
          <a:ln>
            <a:prstDash val="dash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108" name="Straight Connector 107">
            <a:extLst>
              <a:ext uri="{FF2B5EF4-FFF2-40B4-BE49-F238E27FC236}">
                <a16:creationId xmlns:a16="http://schemas.microsoft.com/office/drawing/2014/main" id="{DDC78A1B-05A8-CF41-BA5D-3DE9A7AF9C97}"/>
              </a:ext>
            </a:extLst>
          </p:cNvPr>
          <p:cNvCxnSpPr/>
          <p:nvPr/>
        </p:nvCxnSpPr>
        <p:spPr>
          <a:xfrm>
            <a:off x="8396285" y="4238707"/>
            <a:ext cx="0" cy="1395476"/>
          </a:xfrm>
          <a:prstGeom prst="line">
            <a:avLst/>
          </a:prstGeom>
          <a:ln>
            <a:prstDash val="dash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sp>
        <p:nvSpPr>
          <p:cNvPr id="109" name="TextBox 108">
            <a:extLst>
              <a:ext uri="{FF2B5EF4-FFF2-40B4-BE49-F238E27FC236}">
                <a16:creationId xmlns:a16="http://schemas.microsoft.com/office/drawing/2014/main" id="{27448682-A88E-A747-BE4A-FB6202575552}"/>
              </a:ext>
            </a:extLst>
          </p:cNvPr>
          <p:cNvSpPr txBox="1"/>
          <p:nvPr/>
        </p:nvSpPr>
        <p:spPr>
          <a:xfrm>
            <a:off x="9973974" y="3426076"/>
            <a:ext cx="64953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 err="1">
                <a:latin typeface="Courier" pitchFamily="2" charset="0"/>
              </a:rPr>
              <a:t>ypred</a:t>
            </a:r>
            <a:endParaRPr lang="en-US" sz="1200" dirty="0">
              <a:latin typeface="Courier" pitchFamily="2" charset="0"/>
            </a:endParaRPr>
          </a:p>
        </p:txBody>
      </p:sp>
      <p:cxnSp>
        <p:nvCxnSpPr>
          <p:cNvPr id="110" name="Straight Arrow Connector 109">
            <a:extLst>
              <a:ext uri="{FF2B5EF4-FFF2-40B4-BE49-F238E27FC236}">
                <a16:creationId xmlns:a16="http://schemas.microsoft.com/office/drawing/2014/main" id="{DE6E1A03-BAC5-1C4F-B1CE-D4905FC43277}"/>
              </a:ext>
            </a:extLst>
          </p:cNvPr>
          <p:cNvCxnSpPr>
            <a:cxnSpLocks/>
          </p:cNvCxnSpPr>
          <p:nvPr/>
        </p:nvCxnSpPr>
        <p:spPr>
          <a:xfrm flipV="1">
            <a:off x="10894855" y="4219762"/>
            <a:ext cx="395416" cy="1"/>
          </a:xfrm>
          <a:prstGeom prst="straightConnector1">
            <a:avLst/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sp>
        <p:nvSpPr>
          <p:cNvPr id="111" name="TextBox 110">
            <a:extLst>
              <a:ext uri="{FF2B5EF4-FFF2-40B4-BE49-F238E27FC236}">
                <a16:creationId xmlns:a16="http://schemas.microsoft.com/office/drawing/2014/main" id="{A6FC68BF-43DC-6243-8452-A50230DB79A4}"/>
              </a:ext>
            </a:extLst>
          </p:cNvPr>
          <p:cNvSpPr txBox="1"/>
          <p:nvPr/>
        </p:nvSpPr>
        <p:spPr>
          <a:xfrm>
            <a:off x="11251259" y="4076351"/>
            <a:ext cx="46358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latin typeface="Courier" pitchFamily="2" charset="0"/>
              </a:rPr>
              <a:t>acc</a:t>
            </a:r>
          </a:p>
        </p:txBody>
      </p:sp>
      <p:cxnSp>
        <p:nvCxnSpPr>
          <p:cNvPr id="112" name="Straight Connector 111">
            <a:extLst>
              <a:ext uri="{FF2B5EF4-FFF2-40B4-BE49-F238E27FC236}">
                <a16:creationId xmlns:a16="http://schemas.microsoft.com/office/drawing/2014/main" id="{D6245014-14D6-C143-B4C3-FE77B9AFDDB0}"/>
              </a:ext>
            </a:extLst>
          </p:cNvPr>
          <p:cNvCxnSpPr/>
          <p:nvPr/>
        </p:nvCxnSpPr>
        <p:spPr>
          <a:xfrm>
            <a:off x="10305535" y="3715813"/>
            <a:ext cx="0" cy="504000"/>
          </a:xfrm>
          <a:prstGeom prst="line">
            <a:avLst/>
          </a:prstGeom>
          <a:ln>
            <a:prstDash val="dash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sp>
        <p:nvSpPr>
          <p:cNvPr id="113" name="TextBox 112">
            <a:extLst>
              <a:ext uri="{FF2B5EF4-FFF2-40B4-BE49-F238E27FC236}">
                <a16:creationId xmlns:a16="http://schemas.microsoft.com/office/drawing/2014/main" id="{765135C3-AB43-234E-B1C5-B2E594063736}"/>
              </a:ext>
            </a:extLst>
          </p:cNvPr>
          <p:cNvSpPr txBox="1"/>
          <p:nvPr/>
        </p:nvSpPr>
        <p:spPr>
          <a:xfrm>
            <a:off x="4516551" y="3106086"/>
            <a:ext cx="74251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 err="1">
                <a:latin typeface="Courier" pitchFamily="2" charset="0"/>
              </a:rPr>
              <a:t>sclean</a:t>
            </a:r>
            <a:endParaRPr lang="en-US" sz="1200" dirty="0">
              <a:latin typeface="Courier" pitchFamily="2" charset="0"/>
            </a:endParaRPr>
          </a:p>
        </p:txBody>
      </p:sp>
      <p:sp>
        <p:nvSpPr>
          <p:cNvPr id="114" name="TextBox 113">
            <a:extLst>
              <a:ext uri="{FF2B5EF4-FFF2-40B4-BE49-F238E27FC236}">
                <a16:creationId xmlns:a16="http://schemas.microsoft.com/office/drawing/2014/main" id="{E6E45EF7-A74F-764B-845D-25E2B419A534}"/>
              </a:ext>
            </a:extLst>
          </p:cNvPr>
          <p:cNvSpPr txBox="1"/>
          <p:nvPr/>
        </p:nvSpPr>
        <p:spPr>
          <a:xfrm>
            <a:off x="6040070" y="3106085"/>
            <a:ext cx="46358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 err="1">
                <a:latin typeface="Courier" pitchFamily="2" charset="0"/>
              </a:rPr>
              <a:t>a,b</a:t>
            </a:r>
            <a:endParaRPr lang="en-US" sz="1200" dirty="0">
              <a:latin typeface="Courier" pitchFamily="2" charset="0"/>
            </a:endParaRPr>
          </a:p>
        </p:txBody>
      </p:sp>
      <p:sp>
        <p:nvSpPr>
          <p:cNvPr id="116" name="TextBox 115">
            <a:extLst>
              <a:ext uri="{FF2B5EF4-FFF2-40B4-BE49-F238E27FC236}">
                <a16:creationId xmlns:a16="http://schemas.microsoft.com/office/drawing/2014/main" id="{E9CCAA7F-8669-5A45-AA9A-1A08BE310B6C}"/>
              </a:ext>
            </a:extLst>
          </p:cNvPr>
          <p:cNvSpPr txBox="1"/>
          <p:nvPr/>
        </p:nvSpPr>
        <p:spPr>
          <a:xfrm>
            <a:off x="9398703" y="3027382"/>
            <a:ext cx="68961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latin typeface="Gill Sans MT" panose="020B0502020104020203" pitchFamily="34" charset="77"/>
              </a:rPr>
              <a:t>Learned</a:t>
            </a:r>
          </a:p>
          <a:p>
            <a:r>
              <a:rPr lang="en-US" sz="1200" dirty="0">
                <a:latin typeface="Gill Sans MT" panose="020B0502020104020203" pitchFamily="34" charset="77"/>
              </a:rPr>
              <a:t>Model</a:t>
            </a:r>
          </a:p>
        </p:txBody>
      </p:sp>
      <p:sp>
        <p:nvSpPr>
          <p:cNvPr id="117" name="TextBox 116">
            <a:extLst>
              <a:ext uri="{FF2B5EF4-FFF2-40B4-BE49-F238E27FC236}">
                <a16:creationId xmlns:a16="http://schemas.microsoft.com/office/drawing/2014/main" id="{BE41243F-0E51-9941-82F3-35550EC028B5}"/>
              </a:ext>
            </a:extLst>
          </p:cNvPr>
          <p:cNvSpPr txBox="1"/>
          <p:nvPr/>
        </p:nvSpPr>
        <p:spPr>
          <a:xfrm>
            <a:off x="1424287" y="3291152"/>
            <a:ext cx="46358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 err="1">
                <a:latin typeface="Courier" pitchFamily="2" charset="0"/>
              </a:rPr>
              <a:t>X,y</a:t>
            </a:r>
            <a:endParaRPr lang="en-US" sz="1200" dirty="0">
              <a:latin typeface="Courier" pitchFamily="2" charset="0"/>
            </a:endParaRP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0D68B10C-FBD7-574B-81C3-4B0F58A10245}"/>
              </a:ext>
            </a:extLst>
          </p:cNvPr>
          <p:cNvSpPr txBox="1"/>
          <p:nvPr/>
        </p:nvSpPr>
        <p:spPr>
          <a:xfrm>
            <a:off x="7691125" y="3008548"/>
            <a:ext cx="84125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latin typeface="Gill Sans MT" panose="020B0502020104020203" pitchFamily="34" charset="77"/>
              </a:rPr>
              <a:t>Processing</a:t>
            </a:r>
          </a:p>
          <a:p>
            <a:r>
              <a:rPr lang="en-US" sz="1200" dirty="0">
                <a:latin typeface="Gill Sans MT" panose="020B0502020104020203" pitchFamily="34" charset="77"/>
              </a:rPr>
              <a:t>Model</a:t>
            </a:r>
          </a:p>
        </p:txBody>
      </p:sp>
    </p:spTree>
    <p:extLst>
      <p:ext uri="{BB962C8B-B14F-4D97-AF65-F5344CB8AC3E}">
        <p14:creationId xmlns:p14="http://schemas.microsoft.com/office/powerpoint/2010/main" val="79106003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5FF0CFE0-6E68-0E4D-975F-0DA0CDF4F7F3}"/>
              </a:ext>
            </a:extLst>
          </p:cNvPr>
          <p:cNvSpPr txBox="1"/>
          <p:nvPr/>
        </p:nvSpPr>
        <p:spPr>
          <a:xfrm>
            <a:off x="5247853" y="2721114"/>
            <a:ext cx="1696297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s-ES_tradnl" sz="4000" dirty="0">
                <a:latin typeface="Gill Sans MT" panose="020B0502020104020203" pitchFamily="34" charset="77"/>
              </a:rPr>
              <a:t>Repaso</a:t>
            </a:r>
          </a:p>
        </p:txBody>
      </p:sp>
    </p:spTree>
    <p:extLst>
      <p:ext uri="{BB962C8B-B14F-4D97-AF65-F5344CB8AC3E}">
        <p14:creationId xmlns:p14="http://schemas.microsoft.com/office/powerpoint/2010/main" val="126052875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5FF0CFE0-6E68-0E4D-975F-0DA0CDF4F7F3}"/>
              </a:ext>
            </a:extLst>
          </p:cNvPr>
          <p:cNvSpPr txBox="1"/>
          <p:nvPr/>
        </p:nvSpPr>
        <p:spPr>
          <a:xfrm>
            <a:off x="1976969" y="753167"/>
            <a:ext cx="3646191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s-ES_tradnl" sz="4000" dirty="0">
                <a:solidFill>
                  <a:schemeClr val="accent2"/>
                </a:solidFill>
                <a:latin typeface="Gill Sans MT" panose="020B0502020104020203" pitchFamily="34" charset="77"/>
              </a:rPr>
              <a:t>Valores Propios: 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F5E80786-2F4D-834F-9675-6904F28DB24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15827" y="872252"/>
            <a:ext cx="419928" cy="497692"/>
          </a:xfrm>
          <a:prstGeom prst="rect">
            <a:avLst/>
          </a:prstGeom>
        </p:spPr>
      </p:pic>
      <p:grpSp>
        <p:nvGrpSpPr>
          <p:cNvPr id="12" name="Group 11">
            <a:extLst>
              <a:ext uri="{FF2B5EF4-FFF2-40B4-BE49-F238E27FC236}">
                <a16:creationId xmlns:a16="http://schemas.microsoft.com/office/drawing/2014/main" id="{0397A737-65C1-2645-9EF6-1C1F85069416}"/>
              </a:ext>
            </a:extLst>
          </p:cNvPr>
          <p:cNvGrpSpPr/>
          <p:nvPr/>
        </p:nvGrpSpPr>
        <p:grpSpPr>
          <a:xfrm>
            <a:off x="2253419" y="2690312"/>
            <a:ext cx="3397440" cy="523220"/>
            <a:chOff x="729419" y="2690312"/>
            <a:chExt cx="3397440" cy="523220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4CC7B120-802B-BB4E-B1F8-4CE9D1E66B3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729419" y="2786822"/>
              <a:ext cx="330200" cy="330200"/>
            </a:xfrm>
            <a:prstGeom prst="rect">
              <a:avLst/>
            </a:prstGeom>
          </p:spPr>
        </p:pic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D1EC865C-6BE7-E942-BA4C-D735D876A74A}"/>
                </a:ext>
              </a:extLst>
            </p:cNvPr>
            <p:cNvSpPr txBox="1"/>
            <p:nvPr/>
          </p:nvSpPr>
          <p:spPr>
            <a:xfrm>
              <a:off x="1040406" y="2690312"/>
              <a:ext cx="2897845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ES_tradnl" sz="2800" dirty="0">
                  <a:latin typeface="Gill Sans MT" panose="020B0502020104020203" pitchFamily="34" charset="77"/>
                </a:rPr>
                <a:t>: Matriz de            </a:t>
              </a:r>
            </a:p>
          </p:txBody>
        </p:sp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FFF8DFDC-F954-2143-A525-E727D0A508D5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2971159" y="2776883"/>
              <a:ext cx="1155700" cy="317500"/>
            </a:xfrm>
            <a:prstGeom prst="rect">
              <a:avLst/>
            </a:prstGeom>
          </p:spPr>
        </p:pic>
      </p:grpSp>
      <p:pic>
        <p:nvPicPr>
          <p:cNvPr id="7" name="Picture 6">
            <a:extLst>
              <a:ext uri="{FF2B5EF4-FFF2-40B4-BE49-F238E27FC236}">
                <a16:creationId xmlns:a16="http://schemas.microsoft.com/office/drawing/2014/main" id="{7E5A7FE8-EDFA-3846-8300-1D4A8676A1B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014883" y="3776869"/>
            <a:ext cx="2565400" cy="469900"/>
          </a:xfrm>
          <a:prstGeom prst="rect">
            <a:avLst/>
          </a:prstGeom>
        </p:spPr>
      </p:pic>
      <p:grpSp>
        <p:nvGrpSpPr>
          <p:cNvPr id="13" name="Group 12">
            <a:extLst>
              <a:ext uri="{FF2B5EF4-FFF2-40B4-BE49-F238E27FC236}">
                <a16:creationId xmlns:a16="http://schemas.microsoft.com/office/drawing/2014/main" id="{70179D20-13E2-114A-9B78-4B07EC5FA931}"/>
              </a:ext>
            </a:extLst>
          </p:cNvPr>
          <p:cNvGrpSpPr/>
          <p:nvPr/>
        </p:nvGrpSpPr>
        <p:grpSpPr>
          <a:xfrm>
            <a:off x="5359687" y="3723549"/>
            <a:ext cx="4178890" cy="1106434"/>
            <a:chOff x="3835687" y="3723549"/>
            <a:chExt cx="4178890" cy="1106434"/>
          </a:xfrm>
        </p:grpSpPr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6925A1F8-46BF-2740-8FF3-663EC1DB431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835687" y="3796746"/>
              <a:ext cx="319605" cy="378791"/>
            </a:xfrm>
            <a:prstGeom prst="rect">
              <a:avLst/>
            </a:prstGeom>
          </p:spPr>
        </p:pic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1A681954-BD4C-C649-8083-EE31D95C350F}"/>
                </a:ext>
              </a:extLst>
            </p:cNvPr>
            <p:cNvSpPr txBox="1"/>
            <p:nvPr/>
          </p:nvSpPr>
          <p:spPr>
            <a:xfrm>
              <a:off x="4292462" y="3723549"/>
              <a:ext cx="3019609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ES_tradnl" sz="2800" dirty="0">
                  <a:latin typeface="Gill Sans MT" panose="020B0502020104020203" pitchFamily="34" charset="77"/>
                </a:rPr>
                <a:t>: valores propios de</a:t>
              </a:r>
            </a:p>
          </p:txBody>
        </p:sp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1592137D-275F-B04B-80A0-C09F224FAEE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7684377" y="3796746"/>
              <a:ext cx="330200" cy="330200"/>
            </a:xfrm>
            <a:prstGeom prst="rect">
              <a:avLst/>
            </a:prstGeom>
          </p:spPr>
        </p:pic>
        <p:pic>
          <p:nvPicPr>
            <p:cNvPr id="11" name="Picture 10">
              <a:extLst>
                <a:ext uri="{FF2B5EF4-FFF2-40B4-BE49-F238E27FC236}">
                  <a16:creationId xmlns:a16="http://schemas.microsoft.com/office/drawing/2014/main" id="{E195632D-36D3-364E-BAE6-8B9AA92C463D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3849575" y="4410883"/>
              <a:ext cx="2501900" cy="419100"/>
            </a:xfrm>
            <a:prstGeom prst="rect">
              <a:avLst/>
            </a:prstGeom>
          </p:spPr>
        </p:pic>
      </p:grpSp>
      <p:pic>
        <p:nvPicPr>
          <p:cNvPr id="15" name="Picture 14">
            <a:extLst>
              <a:ext uri="{FF2B5EF4-FFF2-40B4-BE49-F238E27FC236}">
                <a16:creationId xmlns:a16="http://schemas.microsoft.com/office/drawing/2014/main" id="{A471D26F-48D9-6144-ADB0-B83EB6F26CB9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004014" y="5340626"/>
            <a:ext cx="2882900" cy="469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918547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5FF0CFE0-6E68-0E4D-975F-0DA0CDF4F7F3}"/>
              </a:ext>
            </a:extLst>
          </p:cNvPr>
          <p:cNvSpPr txBox="1"/>
          <p:nvPr/>
        </p:nvSpPr>
        <p:spPr>
          <a:xfrm>
            <a:off x="1743856" y="767155"/>
            <a:ext cx="4078296" cy="17543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4000" dirty="0">
                <a:latin typeface="Gill Sans MT" panose="020B0502020104020203" pitchFamily="34" charset="77"/>
              </a:rPr>
              <a:t>Ejemplo:</a:t>
            </a:r>
          </a:p>
          <a:p>
            <a:r>
              <a:rPr lang="es-ES_tradnl" sz="4000" dirty="0">
                <a:latin typeface="Gill Sans MT" panose="020B0502020104020203" pitchFamily="34" charset="77"/>
              </a:rPr>
              <a:t> </a:t>
            </a:r>
          </a:p>
          <a:p>
            <a:r>
              <a:rPr lang="es-ES_tradnl" sz="2800" dirty="0">
                <a:latin typeface="Gill Sans MT" panose="020B0502020104020203" pitchFamily="34" charset="77"/>
              </a:rPr>
              <a:t>calcular valores propios de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7E5A7FE8-EDFA-3846-8300-1D4A8676A1B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35979" y="3287457"/>
            <a:ext cx="2565400" cy="469900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C19DCA2E-FE3C-BF40-B9EC-B748997967F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19195" y="1735269"/>
            <a:ext cx="2705100" cy="1104900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046F3F66-87F5-F648-BE9B-891CF184545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36852" y="4132354"/>
            <a:ext cx="7981122" cy="928523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92C2EDEE-320C-F643-B2BB-AA927448440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966015" y="5532507"/>
            <a:ext cx="3111500" cy="444500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BD393122-4FEB-2B41-A91E-A1F943DDC5C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999922" y="5532507"/>
            <a:ext cx="2895600" cy="419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007813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5FF0CFE0-6E68-0E4D-975F-0DA0CDF4F7F3}"/>
              </a:ext>
            </a:extLst>
          </p:cNvPr>
          <p:cNvSpPr txBox="1"/>
          <p:nvPr/>
        </p:nvSpPr>
        <p:spPr>
          <a:xfrm>
            <a:off x="2120805" y="753167"/>
            <a:ext cx="3934988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s-ES_tradnl" sz="4000" dirty="0">
                <a:solidFill>
                  <a:schemeClr val="accent2"/>
                </a:solidFill>
                <a:latin typeface="Gill Sans MT" panose="020B0502020104020203" pitchFamily="34" charset="77"/>
              </a:rPr>
              <a:t>Vectores Propios: 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FD9C2D63-8108-024B-9E79-86614238AF1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53830" y="1001844"/>
            <a:ext cx="454977" cy="360844"/>
          </a:xfrm>
          <a:prstGeom prst="rect">
            <a:avLst/>
          </a:prstGeom>
        </p:spPr>
      </p:pic>
      <p:grpSp>
        <p:nvGrpSpPr>
          <p:cNvPr id="21" name="Group 20">
            <a:extLst>
              <a:ext uri="{FF2B5EF4-FFF2-40B4-BE49-F238E27FC236}">
                <a16:creationId xmlns:a16="http://schemas.microsoft.com/office/drawing/2014/main" id="{1860C16F-BFA0-3647-93DA-C81FEF506E2B}"/>
              </a:ext>
            </a:extLst>
          </p:cNvPr>
          <p:cNvGrpSpPr/>
          <p:nvPr/>
        </p:nvGrpSpPr>
        <p:grpSpPr>
          <a:xfrm>
            <a:off x="2063337" y="1828429"/>
            <a:ext cx="8250683" cy="523220"/>
            <a:chOff x="539336" y="1828429"/>
            <a:chExt cx="8250683" cy="523220"/>
          </a:xfrm>
        </p:grpSpPr>
        <p:pic>
          <p:nvPicPr>
            <p:cNvPr id="13" name="Picture 12">
              <a:extLst>
                <a:ext uri="{FF2B5EF4-FFF2-40B4-BE49-F238E27FC236}">
                  <a16:creationId xmlns:a16="http://schemas.microsoft.com/office/drawing/2014/main" id="{B97EB502-6313-5C49-B170-3034171A126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39336" y="1895554"/>
              <a:ext cx="2159000" cy="406400"/>
            </a:xfrm>
            <a:prstGeom prst="rect">
              <a:avLst/>
            </a:prstGeom>
          </p:spPr>
        </p:pic>
        <p:pic>
          <p:nvPicPr>
            <p:cNvPr id="14" name="Picture 13">
              <a:extLst>
                <a:ext uri="{FF2B5EF4-FFF2-40B4-BE49-F238E27FC236}">
                  <a16:creationId xmlns:a16="http://schemas.microsoft.com/office/drawing/2014/main" id="{EF7F8224-BB94-0040-9C54-982927CA4A8D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768000" y="1960910"/>
              <a:ext cx="454977" cy="360844"/>
            </a:xfrm>
            <a:prstGeom prst="rect">
              <a:avLst/>
            </a:prstGeom>
          </p:spPr>
        </p:pic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FE5D7F42-60F0-EF46-9F1D-17175E31031C}"/>
                </a:ext>
              </a:extLst>
            </p:cNvPr>
            <p:cNvSpPr txBox="1"/>
            <p:nvPr/>
          </p:nvSpPr>
          <p:spPr>
            <a:xfrm>
              <a:off x="4183221" y="1828429"/>
              <a:ext cx="3228833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ES_tradnl" sz="2800" dirty="0">
                  <a:latin typeface="Gill Sans MT" panose="020B0502020104020203" pitchFamily="34" charset="77"/>
                </a:rPr>
                <a:t>: vectores propios de</a:t>
              </a:r>
            </a:p>
          </p:txBody>
        </p:sp>
        <p:pic>
          <p:nvPicPr>
            <p:cNvPr id="16" name="Picture 15">
              <a:extLst>
                <a:ext uri="{FF2B5EF4-FFF2-40B4-BE49-F238E27FC236}">
                  <a16:creationId xmlns:a16="http://schemas.microsoft.com/office/drawing/2014/main" id="{A446EB84-575B-9F44-A67A-708230FFE31A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7748619" y="1910461"/>
              <a:ext cx="1041400" cy="317500"/>
            </a:xfrm>
            <a:prstGeom prst="rect">
              <a:avLst/>
            </a:prstGeom>
          </p:spPr>
        </p:pic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7CB157D7-C84A-6A41-AB6D-313A122B8083}"/>
              </a:ext>
            </a:extLst>
          </p:cNvPr>
          <p:cNvGrpSpPr/>
          <p:nvPr/>
        </p:nvGrpSpPr>
        <p:grpSpPr>
          <a:xfrm>
            <a:off x="2014883" y="2718000"/>
            <a:ext cx="7429940" cy="523220"/>
            <a:chOff x="490883" y="2718000"/>
            <a:chExt cx="7429940" cy="523220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D1EC865C-6BE7-E942-BA4C-D735D876A74A}"/>
                </a:ext>
              </a:extLst>
            </p:cNvPr>
            <p:cNvSpPr txBox="1"/>
            <p:nvPr/>
          </p:nvSpPr>
          <p:spPr>
            <a:xfrm>
              <a:off x="490883" y="2718000"/>
              <a:ext cx="5196615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ES_tradnl" sz="2800" dirty="0">
                  <a:latin typeface="Gill Sans MT" panose="020B0502020104020203" pitchFamily="34" charset="77"/>
                </a:rPr>
                <a:t>Como hay infinitas soluciones: </a:t>
              </a:r>
              <a:r>
                <a:rPr lang="es-ES_tradnl" sz="2800" dirty="0" err="1">
                  <a:latin typeface="Gill Sans MT" panose="020B0502020104020203" pitchFamily="34" charset="77"/>
                </a:rPr>
                <a:t>s.t</a:t>
              </a:r>
              <a:r>
                <a:rPr lang="es-ES_tradnl" sz="2800" dirty="0">
                  <a:latin typeface="Gill Sans MT" panose="020B0502020104020203" pitchFamily="34" charset="77"/>
                </a:rPr>
                <a:t>.</a:t>
              </a:r>
            </a:p>
          </p:txBody>
        </p:sp>
        <p:pic>
          <p:nvPicPr>
            <p:cNvPr id="17" name="Picture 16">
              <a:extLst>
                <a:ext uri="{FF2B5EF4-FFF2-40B4-BE49-F238E27FC236}">
                  <a16:creationId xmlns:a16="http://schemas.microsoft.com/office/drawing/2014/main" id="{F9ACC5AA-CF50-7C46-BBC1-091B65CA53E7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6244423" y="2718615"/>
              <a:ext cx="1676400" cy="469900"/>
            </a:xfrm>
            <a:prstGeom prst="rect">
              <a:avLst/>
            </a:prstGeom>
          </p:spPr>
        </p:pic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08D299A4-289A-CF4E-8415-5A6E66005623}"/>
              </a:ext>
            </a:extLst>
          </p:cNvPr>
          <p:cNvGrpSpPr/>
          <p:nvPr/>
        </p:nvGrpSpPr>
        <p:grpSpPr>
          <a:xfrm>
            <a:off x="2141331" y="3616782"/>
            <a:ext cx="6592155" cy="2091121"/>
            <a:chOff x="617330" y="3616781"/>
            <a:chExt cx="6592155" cy="2091121"/>
          </a:xfrm>
        </p:grpSpPr>
        <p:pic>
          <p:nvPicPr>
            <p:cNvPr id="18" name="Picture 17">
              <a:extLst>
                <a:ext uri="{FF2B5EF4-FFF2-40B4-BE49-F238E27FC236}">
                  <a16:creationId xmlns:a16="http://schemas.microsoft.com/office/drawing/2014/main" id="{7535F8EC-82C5-6D44-9FE2-21F164F8F52C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617330" y="3687161"/>
              <a:ext cx="812800" cy="469900"/>
            </a:xfrm>
            <a:prstGeom prst="rect">
              <a:avLst/>
            </a:prstGeom>
          </p:spPr>
        </p:pic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AB272666-4301-A04C-B280-F928FF8E0D76}"/>
                </a:ext>
              </a:extLst>
            </p:cNvPr>
            <p:cNvSpPr txBox="1"/>
            <p:nvPr/>
          </p:nvSpPr>
          <p:spPr>
            <a:xfrm>
              <a:off x="1618836" y="3616781"/>
              <a:ext cx="4281172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ES_tradnl" sz="2800" dirty="0">
                  <a:latin typeface="Gill Sans MT" panose="020B0502020104020203" pitchFamily="34" charset="77"/>
                </a:rPr>
                <a:t>son vectores </a:t>
              </a:r>
              <a:r>
                <a:rPr lang="es-ES_tradnl" sz="2800" dirty="0" err="1">
                  <a:latin typeface="Gill Sans MT" panose="020B0502020104020203" pitchFamily="34" charset="77"/>
                </a:rPr>
                <a:t>ortonormales</a:t>
              </a:r>
              <a:r>
                <a:rPr lang="es-ES_tradnl" sz="2800" dirty="0">
                  <a:latin typeface="Gill Sans MT" panose="020B0502020104020203" pitchFamily="34" charset="77"/>
                </a:rPr>
                <a:t>:</a:t>
              </a:r>
            </a:p>
          </p:txBody>
        </p:sp>
        <p:pic>
          <p:nvPicPr>
            <p:cNvPr id="20" name="Picture 19">
              <a:extLst>
                <a:ext uri="{FF2B5EF4-FFF2-40B4-BE49-F238E27FC236}">
                  <a16:creationId xmlns:a16="http://schemas.microsoft.com/office/drawing/2014/main" id="{EEF7BFD4-7249-144E-817D-CEA2CC7EF762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7"/>
            <a:srcRect r="5394"/>
            <a:stretch/>
          </p:blipFill>
          <p:spPr>
            <a:xfrm>
              <a:off x="781490" y="4603002"/>
              <a:ext cx="6427995" cy="1104900"/>
            </a:xfrm>
            <a:prstGeom prst="rect">
              <a:avLst/>
            </a:prstGeom>
          </p:spPr>
        </p:pic>
      </p:grpSp>
      <p:pic>
        <p:nvPicPr>
          <p:cNvPr id="24" name="Picture 23">
            <a:extLst>
              <a:ext uri="{FF2B5EF4-FFF2-40B4-BE49-F238E27FC236}">
                <a16:creationId xmlns:a16="http://schemas.microsoft.com/office/drawing/2014/main" id="{07AC7342-AD66-7E44-8031-85BD2F8838FD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383700" y="6104833"/>
            <a:ext cx="2908300" cy="469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337836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5FF0CFE0-6E68-0E4D-975F-0DA0CDF4F7F3}"/>
              </a:ext>
            </a:extLst>
          </p:cNvPr>
          <p:cNvSpPr txBox="1"/>
          <p:nvPr/>
        </p:nvSpPr>
        <p:spPr>
          <a:xfrm>
            <a:off x="1967237" y="753167"/>
            <a:ext cx="5970865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4000" dirty="0">
                <a:solidFill>
                  <a:schemeClr val="accent2"/>
                </a:solidFill>
                <a:latin typeface="Gill Sans MT" panose="020B0502020104020203" pitchFamily="34" charset="77"/>
              </a:rPr>
              <a:t>Matriz de Vectores Propios: 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8414D1D1-09EC-A04F-8C7A-015FCE84A08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335" y="890306"/>
            <a:ext cx="448891" cy="402454"/>
          </a:xfrm>
          <a:prstGeom prst="rect">
            <a:avLst/>
          </a:prstGeom>
        </p:spPr>
      </p:pic>
      <p:grpSp>
        <p:nvGrpSpPr>
          <p:cNvPr id="29" name="Group 28">
            <a:extLst>
              <a:ext uri="{FF2B5EF4-FFF2-40B4-BE49-F238E27FC236}">
                <a16:creationId xmlns:a16="http://schemas.microsoft.com/office/drawing/2014/main" id="{2D9A4877-6C56-4548-8017-53F30378C6D2}"/>
              </a:ext>
            </a:extLst>
          </p:cNvPr>
          <p:cNvGrpSpPr/>
          <p:nvPr/>
        </p:nvGrpSpPr>
        <p:grpSpPr>
          <a:xfrm>
            <a:off x="2190474" y="1951659"/>
            <a:ext cx="7052168" cy="523220"/>
            <a:chOff x="666474" y="1951659"/>
            <a:chExt cx="7052168" cy="523220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8DDBC365-6805-874E-9B10-E07468E1ACB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66474" y="1991415"/>
              <a:ext cx="3835400" cy="469900"/>
            </a:xfrm>
            <a:prstGeom prst="rect">
              <a:avLst/>
            </a:prstGeom>
          </p:spPr>
        </p:pic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6BCB49FC-858F-6548-B57B-28B4450B3A4A}"/>
                </a:ext>
              </a:extLst>
            </p:cNvPr>
            <p:cNvSpPr txBox="1"/>
            <p:nvPr/>
          </p:nvSpPr>
          <p:spPr>
            <a:xfrm>
              <a:off x="4632189" y="1951659"/>
              <a:ext cx="2897845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ES_tradnl" sz="2800" dirty="0">
                  <a:latin typeface="Gill Sans MT" panose="020B0502020104020203" pitchFamily="34" charset="77"/>
                </a:rPr>
                <a:t>: Matriz de            </a:t>
              </a:r>
            </a:p>
          </p:txBody>
        </p:sp>
        <p:pic>
          <p:nvPicPr>
            <p:cNvPr id="22" name="Picture 21">
              <a:extLst>
                <a:ext uri="{FF2B5EF4-FFF2-40B4-BE49-F238E27FC236}">
                  <a16:creationId xmlns:a16="http://schemas.microsoft.com/office/drawing/2014/main" id="{866A941E-93CF-6F4E-B073-A95AA00DF3A3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6562942" y="2038230"/>
              <a:ext cx="1155700" cy="317500"/>
            </a:xfrm>
            <a:prstGeom prst="rect">
              <a:avLst/>
            </a:prstGeom>
          </p:spPr>
        </p:pic>
      </p:grpSp>
      <p:pic>
        <p:nvPicPr>
          <p:cNvPr id="6" name="Picture 5">
            <a:extLst>
              <a:ext uri="{FF2B5EF4-FFF2-40B4-BE49-F238E27FC236}">
                <a16:creationId xmlns:a16="http://schemas.microsoft.com/office/drawing/2014/main" id="{9D30AB7B-D245-7246-BF1B-79151B36BC7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190474" y="4701207"/>
            <a:ext cx="1828800" cy="41910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861729EA-47E1-C34E-88FC-B17F544B902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190474" y="5768284"/>
            <a:ext cx="5702300" cy="469900"/>
          </a:xfrm>
          <a:prstGeom prst="rect">
            <a:avLst/>
          </a:prstGeom>
        </p:spPr>
      </p:pic>
      <p:sp>
        <p:nvSpPr>
          <p:cNvPr id="23" name="TextBox 22">
            <a:extLst>
              <a:ext uri="{FF2B5EF4-FFF2-40B4-BE49-F238E27FC236}">
                <a16:creationId xmlns:a16="http://schemas.microsoft.com/office/drawing/2014/main" id="{541C52C2-6E7C-614B-828E-BEB9015BC2F6}"/>
              </a:ext>
            </a:extLst>
          </p:cNvPr>
          <p:cNvSpPr txBox="1"/>
          <p:nvPr/>
        </p:nvSpPr>
        <p:spPr>
          <a:xfrm>
            <a:off x="2092882" y="3795350"/>
            <a:ext cx="203684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2800" dirty="0">
                <a:latin typeface="Gill Sans MT" panose="020B0502020104020203" pitchFamily="34" charset="77"/>
              </a:rPr>
              <a:t>Propiedades:</a:t>
            </a: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01215615-DC3C-8A40-8FD2-5A8BA43FCE03}"/>
              </a:ext>
            </a:extLst>
          </p:cNvPr>
          <p:cNvGrpSpPr/>
          <p:nvPr/>
        </p:nvGrpSpPr>
        <p:grpSpPr>
          <a:xfrm>
            <a:off x="4784035" y="4637688"/>
            <a:ext cx="5410752" cy="612701"/>
            <a:chOff x="3260035" y="3753104"/>
            <a:chExt cx="5410752" cy="612701"/>
          </a:xfrm>
        </p:grpSpPr>
        <p:pic>
          <p:nvPicPr>
            <p:cNvPr id="25" name="Picture 24">
              <a:extLst>
                <a:ext uri="{FF2B5EF4-FFF2-40B4-BE49-F238E27FC236}">
                  <a16:creationId xmlns:a16="http://schemas.microsoft.com/office/drawing/2014/main" id="{60FBA991-8953-FE46-9F0A-E4748AC8ACE0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7"/>
            <a:srcRect r="5394"/>
            <a:stretch/>
          </p:blipFill>
          <p:spPr>
            <a:xfrm>
              <a:off x="5106268" y="3753104"/>
              <a:ext cx="3564519" cy="612701"/>
            </a:xfrm>
            <a:prstGeom prst="rect">
              <a:avLst/>
            </a:prstGeom>
          </p:spPr>
        </p:pic>
        <p:cxnSp>
          <p:nvCxnSpPr>
            <p:cNvPr id="10" name="Straight Arrow Connector 9">
              <a:extLst>
                <a:ext uri="{FF2B5EF4-FFF2-40B4-BE49-F238E27FC236}">
                  <a16:creationId xmlns:a16="http://schemas.microsoft.com/office/drawing/2014/main" id="{519B8049-FA63-8545-9668-E8C230C41865}"/>
                </a:ext>
              </a:extLst>
            </p:cNvPr>
            <p:cNvCxnSpPr/>
            <p:nvPr/>
          </p:nvCxnSpPr>
          <p:spPr>
            <a:xfrm flipH="1">
              <a:off x="3260035" y="4066761"/>
              <a:ext cx="1659835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B65F3F62-201F-F449-AF59-45DDAF1BF09F}"/>
              </a:ext>
            </a:extLst>
          </p:cNvPr>
          <p:cNvGrpSpPr/>
          <p:nvPr/>
        </p:nvGrpSpPr>
        <p:grpSpPr>
          <a:xfrm>
            <a:off x="8181992" y="5878630"/>
            <a:ext cx="1915704" cy="249208"/>
            <a:chOff x="6657992" y="4994047"/>
            <a:chExt cx="1915704" cy="249208"/>
          </a:xfrm>
        </p:grpSpPr>
        <p:pic>
          <p:nvPicPr>
            <p:cNvPr id="24" name="Picture 23">
              <a:extLst>
                <a:ext uri="{FF2B5EF4-FFF2-40B4-BE49-F238E27FC236}">
                  <a16:creationId xmlns:a16="http://schemas.microsoft.com/office/drawing/2014/main" id="{34A10393-66AB-A14F-BEBC-D3A419D2E040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7249779" y="4994047"/>
              <a:ext cx="1323917" cy="249208"/>
            </a:xfrm>
            <a:prstGeom prst="rect">
              <a:avLst/>
            </a:prstGeom>
          </p:spPr>
        </p:pic>
        <p:cxnSp>
          <p:nvCxnSpPr>
            <p:cNvPr id="26" name="Straight Arrow Connector 25">
              <a:extLst>
                <a:ext uri="{FF2B5EF4-FFF2-40B4-BE49-F238E27FC236}">
                  <a16:creationId xmlns:a16="http://schemas.microsoft.com/office/drawing/2014/main" id="{BE1BF845-29F4-D047-ADAB-2318966EA67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657992" y="5118651"/>
              <a:ext cx="461069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31" name="Picture 30">
            <a:extLst>
              <a:ext uri="{FF2B5EF4-FFF2-40B4-BE49-F238E27FC236}">
                <a16:creationId xmlns:a16="http://schemas.microsoft.com/office/drawing/2014/main" id="{5F30BCEC-844A-B947-A971-6E1843BC300B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205935" y="3043304"/>
            <a:ext cx="2578100" cy="469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547855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5FF0CFE0-6E68-0E4D-975F-0DA0CDF4F7F3}"/>
              </a:ext>
            </a:extLst>
          </p:cNvPr>
          <p:cNvSpPr txBox="1"/>
          <p:nvPr/>
        </p:nvSpPr>
        <p:spPr>
          <a:xfrm>
            <a:off x="1967236" y="753167"/>
            <a:ext cx="5777351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4000" dirty="0">
                <a:solidFill>
                  <a:schemeClr val="accent2"/>
                </a:solidFill>
                <a:latin typeface="Gill Sans MT" panose="020B0502020104020203" pitchFamily="34" charset="77"/>
              </a:rPr>
              <a:t>Transformaciones Lineales 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BFC43770-3E5D-1840-8AA8-EA506D3BDFB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11436" y="3762652"/>
            <a:ext cx="1562100" cy="419100"/>
          </a:xfrm>
          <a:prstGeom prst="rect">
            <a:avLst/>
          </a:prstGeom>
        </p:spPr>
      </p:pic>
      <p:grpSp>
        <p:nvGrpSpPr>
          <p:cNvPr id="41" name="Group 40">
            <a:extLst>
              <a:ext uri="{FF2B5EF4-FFF2-40B4-BE49-F238E27FC236}">
                <a16:creationId xmlns:a16="http://schemas.microsoft.com/office/drawing/2014/main" id="{0BDED9FA-F9DF-0044-9436-93320EBE2AE1}"/>
              </a:ext>
            </a:extLst>
          </p:cNvPr>
          <p:cNvGrpSpPr/>
          <p:nvPr/>
        </p:nvGrpSpPr>
        <p:grpSpPr>
          <a:xfrm>
            <a:off x="2021788" y="1813616"/>
            <a:ext cx="4644665" cy="1615385"/>
            <a:chOff x="497787" y="1813615"/>
            <a:chExt cx="4644665" cy="1615385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0A2D1C80-EC3A-AF44-8D63-2D1BEAF392D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83923" y="1813615"/>
              <a:ext cx="4281801" cy="233846"/>
            </a:xfrm>
            <a:prstGeom prst="rect">
              <a:avLst/>
            </a:prstGeom>
          </p:spPr>
        </p:pic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ED7B386A-D99B-504A-BEEE-FFC4F2146C94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587238" y="2323824"/>
              <a:ext cx="4281801" cy="233846"/>
            </a:xfrm>
            <a:prstGeom prst="rect">
              <a:avLst/>
            </a:prstGeom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C36F8411-3070-8541-A635-79B7BF1199F9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497787" y="3195154"/>
              <a:ext cx="4644665" cy="233846"/>
            </a:xfrm>
            <a:prstGeom prst="rect">
              <a:avLst/>
            </a:prstGeom>
          </p:spPr>
        </p:pic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37F516FA-FE9F-4F48-B652-B61EFDE75183}"/>
                </a:ext>
              </a:extLst>
            </p:cNvPr>
            <p:cNvSpPr txBox="1"/>
            <p:nvPr/>
          </p:nvSpPr>
          <p:spPr>
            <a:xfrm>
              <a:off x="889188" y="2715455"/>
              <a:ext cx="23596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Gill Sans MT" panose="020B0502020104020203" pitchFamily="34" charset="77"/>
                </a:rPr>
                <a:t>:</a:t>
              </a:r>
            </a:p>
          </p:txBody>
        </p:sp>
      </p:grpSp>
      <p:grpSp>
        <p:nvGrpSpPr>
          <p:cNvPr id="40" name="Group 39">
            <a:extLst>
              <a:ext uri="{FF2B5EF4-FFF2-40B4-BE49-F238E27FC236}">
                <a16:creationId xmlns:a16="http://schemas.microsoft.com/office/drawing/2014/main" id="{EEF9A240-3F31-AC4A-AFC9-A54553255FBF}"/>
              </a:ext>
            </a:extLst>
          </p:cNvPr>
          <p:cNvGrpSpPr/>
          <p:nvPr/>
        </p:nvGrpSpPr>
        <p:grpSpPr>
          <a:xfrm>
            <a:off x="6968983" y="1813615"/>
            <a:ext cx="3425692" cy="2397954"/>
            <a:chOff x="5444983" y="1813615"/>
            <a:chExt cx="3425692" cy="2397954"/>
          </a:xfrm>
        </p:grpSpPr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D525CD66-D3E1-9B41-903A-B0C2A006C594}"/>
                </a:ext>
              </a:extLst>
            </p:cNvPr>
            <p:cNvCxnSpPr/>
            <p:nvPr/>
          </p:nvCxnSpPr>
          <p:spPr>
            <a:xfrm flipV="1">
              <a:off x="6042991" y="2164107"/>
              <a:ext cx="0" cy="2047462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7" name="Straight Arrow Connector 26">
              <a:extLst>
                <a:ext uri="{FF2B5EF4-FFF2-40B4-BE49-F238E27FC236}">
                  <a16:creationId xmlns:a16="http://schemas.microsoft.com/office/drawing/2014/main" id="{5DE75EC4-DA5B-2340-9A1E-B50C8B12FF37}"/>
                </a:ext>
              </a:extLst>
            </p:cNvPr>
            <p:cNvCxnSpPr>
              <a:cxnSpLocks/>
            </p:cNvCxnSpPr>
            <p:nvPr/>
          </p:nvCxnSpPr>
          <p:spPr>
            <a:xfrm>
              <a:off x="5817704" y="4026038"/>
              <a:ext cx="2551044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30" name="Straight Arrow Connector 29">
              <a:extLst>
                <a:ext uri="{FF2B5EF4-FFF2-40B4-BE49-F238E27FC236}">
                  <a16:creationId xmlns:a16="http://schemas.microsoft.com/office/drawing/2014/main" id="{EA087248-AE6B-7C4D-B30B-8F00B1D9E00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927394" y="2981186"/>
              <a:ext cx="1944757" cy="1109041"/>
            </a:xfrm>
            <a:prstGeom prst="straightConnector1">
              <a:avLst/>
            </a:prstGeom>
            <a:ln>
              <a:solidFill>
                <a:schemeClr val="accent2"/>
              </a:solidFill>
              <a:tailEnd type="triangle"/>
            </a:ln>
          </p:spPr>
          <p:style>
            <a:lnRef idx="2">
              <a:schemeClr val="accent6"/>
            </a:lnRef>
            <a:fillRef idx="0">
              <a:schemeClr val="accent6"/>
            </a:fillRef>
            <a:effectRef idx="1">
              <a:schemeClr val="accent6"/>
            </a:effectRef>
            <a:fontRef idx="minor">
              <a:schemeClr val="tx1"/>
            </a:fontRef>
          </p:style>
        </p:cxn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2038BF26-9BBB-FB41-8F7A-D98E6F8A7179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5734877" y="2551735"/>
              <a:ext cx="344556" cy="1630017"/>
            </a:xfrm>
            <a:prstGeom prst="straightConnector1">
              <a:avLst/>
            </a:prstGeom>
            <a:ln>
              <a:solidFill>
                <a:schemeClr val="accent2"/>
              </a:solidFill>
              <a:tailEnd type="triangle"/>
            </a:ln>
          </p:spPr>
          <p:style>
            <a:lnRef idx="2">
              <a:schemeClr val="accent6"/>
            </a:lnRef>
            <a:fillRef idx="0">
              <a:schemeClr val="accent6"/>
            </a:fillRef>
            <a:effectRef idx="1">
              <a:schemeClr val="accent6"/>
            </a:effectRef>
            <a:fontRef idx="minor">
              <a:schemeClr val="tx1"/>
            </a:fontRef>
          </p:style>
        </p:cxnSp>
        <p:pic>
          <p:nvPicPr>
            <p:cNvPr id="32" name="Picture 31">
              <a:extLst>
                <a:ext uri="{FF2B5EF4-FFF2-40B4-BE49-F238E27FC236}">
                  <a16:creationId xmlns:a16="http://schemas.microsoft.com/office/drawing/2014/main" id="{2A6939BB-3CAB-4448-B707-326E32753281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8451575" y="3916155"/>
              <a:ext cx="419100" cy="279400"/>
            </a:xfrm>
            <a:prstGeom prst="rect">
              <a:avLst/>
            </a:prstGeom>
          </p:spPr>
        </p:pic>
        <p:pic>
          <p:nvPicPr>
            <p:cNvPr id="33" name="Picture 32">
              <a:extLst>
                <a:ext uri="{FF2B5EF4-FFF2-40B4-BE49-F238E27FC236}">
                  <a16:creationId xmlns:a16="http://schemas.microsoft.com/office/drawing/2014/main" id="{17E00749-1D6D-9C4C-A76E-9653E7E3BA0F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5820658" y="1813615"/>
              <a:ext cx="431800" cy="279400"/>
            </a:xfrm>
            <a:prstGeom prst="rect">
              <a:avLst/>
            </a:prstGeom>
          </p:spPr>
        </p:pic>
        <p:pic>
          <p:nvPicPr>
            <p:cNvPr id="34" name="Picture 33">
              <a:extLst>
                <a:ext uri="{FF2B5EF4-FFF2-40B4-BE49-F238E27FC236}">
                  <a16:creationId xmlns:a16="http://schemas.microsoft.com/office/drawing/2014/main" id="{AF06FEE2-00EB-FD4B-8D6F-C0960B2B7B86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5444983" y="2200554"/>
              <a:ext cx="381000" cy="304800"/>
            </a:xfrm>
            <a:prstGeom prst="rect">
              <a:avLst/>
            </a:prstGeom>
          </p:spPr>
        </p:pic>
        <p:pic>
          <p:nvPicPr>
            <p:cNvPr id="35" name="Picture 34">
              <a:extLst>
                <a:ext uri="{FF2B5EF4-FFF2-40B4-BE49-F238E27FC236}">
                  <a16:creationId xmlns:a16="http://schemas.microsoft.com/office/drawing/2014/main" id="{616E79FA-0481-704C-80F4-9F1397E4C2CB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7949641" y="2757143"/>
              <a:ext cx="381000" cy="304800"/>
            </a:xfrm>
            <a:prstGeom prst="rect">
              <a:avLst/>
            </a:prstGeom>
          </p:spPr>
        </p:pic>
        <p:sp>
          <p:nvSpPr>
            <p:cNvPr id="37" name="Rectangle 36">
              <a:extLst>
                <a:ext uri="{FF2B5EF4-FFF2-40B4-BE49-F238E27FC236}">
                  <a16:creationId xmlns:a16="http://schemas.microsoft.com/office/drawing/2014/main" id="{255E8335-BADF-9F4F-A01C-38C766526250}"/>
                </a:ext>
              </a:extLst>
            </p:cNvPr>
            <p:cNvSpPr/>
            <p:nvPr/>
          </p:nvSpPr>
          <p:spPr>
            <a:xfrm>
              <a:off x="6627900" y="2116898"/>
              <a:ext cx="1186543" cy="369332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s-ES_tradnl" dirty="0">
                  <a:latin typeface="Gill Sans MT" panose="020B0502020104020203" pitchFamily="34" charset="77"/>
                </a:rPr>
                <a:t>para </a:t>
              </a:r>
              <a:r>
                <a:rPr lang="es-ES_tradnl" i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N</a:t>
              </a:r>
              <a:r>
                <a:rPr lang="es-ES_tradnl" dirty="0">
                  <a:latin typeface="Gill Sans MT" panose="020B0502020104020203" pitchFamily="34" charset="77"/>
                </a:rPr>
                <a:t> = 2</a:t>
              </a:r>
              <a:endParaRPr lang="en-US" dirty="0">
                <a:latin typeface="Gill Sans MT" panose="020B0502020104020203" pitchFamily="34" charset="77"/>
              </a:endParaRPr>
            </a:p>
          </p:txBody>
        </p:sp>
      </p:grpSp>
      <p:grpSp>
        <p:nvGrpSpPr>
          <p:cNvPr id="42" name="Group 41">
            <a:extLst>
              <a:ext uri="{FF2B5EF4-FFF2-40B4-BE49-F238E27FC236}">
                <a16:creationId xmlns:a16="http://schemas.microsoft.com/office/drawing/2014/main" id="{587EC57B-24E5-654C-8468-309A22A257E1}"/>
              </a:ext>
            </a:extLst>
          </p:cNvPr>
          <p:cNvGrpSpPr/>
          <p:nvPr/>
        </p:nvGrpSpPr>
        <p:grpSpPr>
          <a:xfrm>
            <a:off x="2201675" y="4793769"/>
            <a:ext cx="6854953" cy="923330"/>
            <a:chOff x="677674" y="4793769"/>
            <a:chExt cx="6854953" cy="923330"/>
          </a:xfrm>
        </p:grpSpPr>
        <p:sp>
          <p:nvSpPr>
            <p:cNvPr id="38" name="Rectangle 37">
              <a:extLst>
                <a:ext uri="{FF2B5EF4-FFF2-40B4-BE49-F238E27FC236}">
                  <a16:creationId xmlns:a16="http://schemas.microsoft.com/office/drawing/2014/main" id="{76788FE1-2668-BC4E-9A53-715B1FA1ABFD}"/>
                </a:ext>
              </a:extLst>
            </p:cNvPr>
            <p:cNvSpPr/>
            <p:nvPr/>
          </p:nvSpPr>
          <p:spPr>
            <a:xfrm>
              <a:off x="677674" y="4793769"/>
              <a:ext cx="6854953" cy="92333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es-ES_tradnl" dirty="0">
                  <a:latin typeface="Gill Sans MT" panose="020B0502020104020203" pitchFamily="34" charset="77"/>
                </a:rPr>
                <a:t>Ángulo entre </a:t>
              </a:r>
              <a:r>
                <a:rPr lang="es-ES_tradnl" i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y</a:t>
              </a:r>
              <a:r>
                <a:rPr lang="es-ES_tradnl" baseline="-25000" dirty="0">
                  <a:latin typeface="Gill Sans MT" panose="020B0502020104020203" pitchFamily="34" charset="77"/>
                </a:rPr>
                <a:t>1</a:t>
              </a:r>
              <a:r>
                <a:rPr lang="es-ES_tradnl" dirty="0">
                  <a:latin typeface="Gill Sans MT" panose="020B0502020104020203" pitchFamily="34" charset="77"/>
                </a:rPr>
                <a:t> e </a:t>
              </a:r>
              <a:r>
                <a:rPr lang="es-ES_tradnl" i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y</a:t>
              </a:r>
              <a:r>
                <a:rPr lang="es-ES_tradnl" baseline="-25000" dirty="0">
                  <a:latin typeface="Gill Sans MT" panose="020B0502020104020203" pitchFamily="34" charset="77"/>
                </a:rPr>
                <a:t>2</a:t>
              </a:r>
              <a:r>
                <a:rPr lang="es-ES_tradnl" dirty="0">
                  <a:latin typeface="Gill Sans MT" panose="020B0502020104020203" pitchFamily="34" charset="77"/>
                </a:rPr>
                <a:t> no necesariamente es 90</a:t>
              </a:r>
              <a:r>
                <a:rPr lang="es-ES_tradnl" baseline="30000" dirty="0">
                  <a:latin typeface="Gill Sans MT" panose="020B0502020104020203" pitchFamily="34" charset="77"/>
                </a:rPr>
                <a:t>0</a:t>
              </a:r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es-ES_tradnl" dirty="0">
                  <a:latin typeface="Gill Sans MT" panose="020B0502020104020203" pitchFamily="34" charset="77"/>
                </a:rPr>
                <a:t>En esta transformación el origen coincide</a:t>
              </a:r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es-ES_tradnl" dirty="0">
                  <a:latin typeface="Gill Sans MT" panose="020B0502020104020203" pitchFamily="34" charset="77"/>
                </a:rPr>
                <a:t>Si se necesita desplazar origen es necesario agregar             a la fila </a:t>
              </a:r>
              <a:r>
                <a:rPr lang="es-ES_tradnl" i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i</a:t>
              </a:r>
            </a:p>
          </p:txBody>
        </p:sp>
        <p:pic>
          <p:nvPicPr>
            <p:cNvPr id="39" name="Picture 38">
              <a:extLst>
                <a:ext uri="{FF2B5EF4-FFF2-40B4-BE49-F238E27FC236}">
                  <a16:creationId xmlns:a16="http://schemas.microsoft.com/office/drawing/2014/main" id="{EA13B6C6-7DAF-084F-AD20-34E7BD783C50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/>
            <a:stretch>
              <a:fillRect/>
            </a:stretch>
          </p:blipFill>
          <p:spPr>
            <a:xfrm>
              <a:off x="5874253" y="5426496"/>
              <a:ext cx="646872" cy="253124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1804777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5FF0CFE0-6E68-0E4D-975F-0DA0CDF4F7F3}"/>
              </a:ext>
            </a:extLst>
          </p:cNvPr>
          <p:cNvSpPr txBox="1"/>
          <p:nvPr/>
        </p:nvSpPr>
        <p:spPr>
          <a:xfrm>
            <a:off x="1967237" y="753167"/>
            <a:ext cx="4578241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4000" dirty="0">
                <a:solidFill>
                  <a:schemeClr val="accent2"/>
                </a:solidFill>
                <a:latin typeface="Gill Sans MT" panose="020B0502020104020203" pitchFamily="34" charset="77"/>
              </a:rPr>
              <a:t>Promedio y Varianza: </a:t>
            </a: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7CC9DDD6-B985-A649-94CD-0B9C436EE0CC}"/>
              </a:ext>
            </a:extLst>
          </p:cNvPr>
          <p:cNvGrpSpPr/>
          <p:nvPr/>
        </p:nvGrpSpPr>
        <p:grpSpPr>
          <a:xfrm>
            <a:off x="2107392" y="3389243"/>
            <a:ext cx="4446908" cy="1333500"/>
            <a:chOff x="3992507" y="3389243"/>
            <a:chExt cx="4446908" cy="1333500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BB1C2155-C982-1C4E-B922-30B1C4CEE50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874015" y="3389243"/>
              <a:ext cx="2565400" cy="1333500"/>
            </a:xfrm>
            <a:prstGeom prst="rect">
              <a:avLst/>
            </a:prstGeom>
          </p:spPr>
        </p:pic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71311F12-282D-654A-B762-4483C85A6AF7}"/>
                </a:ext>
              </a:extLst>
            </p:cNvPr>
            <p:cNvSpPr/>
            <p:nvPr/>
          </p:nvSpPr>
          <p:spPr>
            <a:xfrm>
              <a:off x="3992507" y="3871327"/>
              <a:ext cx="1246495" cy="369332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s-ES_tradnl" dirty="0">
                  <a:latin typeface="Gill Sans MT" panose="020B0502020104020203" pitchFamily="34" charset="77"/>
                </a:rPr>
                <a:t>(promedio)</a:t>
              </a:r>
              <a:endParaRPr lang="en-US" dirty="0">
                <a:latin typeface="Gill Sans MT" panose="020B0502020104020203" pitchFamily="34" charset="77"/>
              </a:endParaRPr>
            </a:p>
          </p:txBody>
        </p:sp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6F545554-7905-1446-B49C-2C14A798C02E}"/>
              </a:ext>
            </a:extLst>
          </p:cNvPr>
          <p:cNvGrpSpPr/>
          <p:nvPr/>
        </p:nvGrpSpPr>
        <p:grpSpPr>
          <a:xfrm>
            <a:off x="2160404" y="4998554"/>
            <a:ext cx="6533489" cy="1333500"/>
            <a:chOff x="6401090" y="4998554"/>
            <a:chExt cx="6533489" cy="1333500"/>
          </a:xfrm>
        </p:grpSpPr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5F71ED2B-D11C-DA40-A7BA-2C04761026A6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8057779" y="4998554"/>
              <a:ext cx="4876800" cy="1333500"/>
            </a:xfrm>
            <a:prstGeom prst="rect">
              <a:avLst/>
            </a:prstGeom>
          </p:spPr>
        </p:pic>
        <p:sp>
          <p:nvSpPr>
            <p:cNvPr id="28" name="Rectangle 27">
              <a:extLst>
                <a:ext uri="{FF2B5EF4-FFF2-40B4-BE49-F238E27FC236}">
                  <a16:creationId xmlns:a16="http://schemas.microsoft.com/office/drawing/2014/main" id="{999153FD-5AC9-CA4F-A746-F8566063D533}"/>
                </a:ext>
              </a:extLst>
            </p:cNvPr>
            <p:cNvSpPr/>
            <p:nvPr/>
          </p:nvSpPr>
          <p:spPr>
            <a:xfrm>
              <a:off x="6401090" y="5480638"/>
              <a:ext cx="1083951" cy="369332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s-ES_tradnl" dirty="0">
                  <a:latin typeface="Gill Sans MT" panose="020B0502020104020203" pitchFamily="34" charset="77"/>
                </a:rPr>
                <a:t>(varianza)</a:t>
              </a:r>
              <a:endParaRPr lang="en-US" dirty="0">
                <a:latin typeface="Gill Sans MT" panose="020B0502020104020203" pitchFamily="34" charset="77"/>
              </a:endParaRPr>
            </a:p>
          </p:txBody>
        </p:sp>
      </p:grpSp>
      <p:grpSp>
        <p:nvGrpSpPr>
          <p:cNvPr id="43" name="Group 42">
            <a:extLst>
              <a:ext uri="{FF2B5EF4-FFF2-40B4-BE49-F238E27FC236}">
                <a16:creationId xmlns:a16="http://schemas.microsoft.com/office/drawing/2014/main" id="{2560CBAA-5B1C-C349-AF61-F71861CEDDC1}"/>
              </a:ext>
            </a:extLst>
          </p:cNvPr>
          <p:cNvGrpSpPr/>
          <p:nvPr/>
        </p:nvGrpSpPr>
        <p:grpSpPr>
          <a:xfrm>
            <a:off x="2209801" y="2168387"/>
            <a:ext cx="5418815" cy="533400"/>
            <a:chOff x="685800" y="2168387"/>
            <a:chExt cx="5418815" cy="533400"/>
          </a:xfrm>
        </p:grpSpPr>
        <p:pic>
          <p:nvPicPr>
            <p:cNvPr id="44" name="Picture 43">
              <a:extLst>
                <a:ext uri="{FF2B5EF4-FFF2-40B4-BE49-F238E27FC236}">
                  <a16:creationId xmlns:a16="http://schemas.microsoft.com/office/drawing/2014/main" id="{36453D4E-5B81-C340-B5E4-3C9111E6371A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685800" y="2168387"/>
              <a:ext cx="3886200" cy="533400"/>
            </a:xfrm>
            <a:prstGeom prst="rect">
              <a:avLst/>
            </a:prstGeom>
          </p:spPr>
        </p:pic>
        <p:pic>
          <p:nvPicPr>
            <p:cNvPr id="45" name="Picture 44">
              <a:extLst>
                <a:ext uri="{FF2B5EF4-FFF2-40B4-BE49-F238E27FC236}">
                  <a16:creationId xmlns:a16="http://schemas.microsoft.com/office/drawing/2014/main" id="{1C4B07B2-1BE9-EE48-B58C-9F6CD9779307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5345872" y="2345911"/>
              <a:ext cx="758743" cy="208446"/>
            </a:xfrm>
            <a:prstGeom prst="rect">
              <a:avLst/>
            </a:prstGeom>
          </p:spPr>
        </p:pic>
        <p:sp>
          <p:nvSpPr>
            <p:cNvPr id="46" name="Rectangle 45">
              <a:extLst>
                <a:ext uri="{FF2B5EF4-FFF2-40B4-BE49-F238E27FC236}">
                  <a16:creationId xmlns:a16="http://schemas.microsoft.com/office/drawing/2014/main" id="{1A1E5127-B279-F547-A3E7-CB1B455AC71F}"/>
                </a:ext>
              </a:extLst>
            </p:cNvPr>
            <p:cNvSpPr/>
            <p:nvPr/>
          </p:nvSpPr>
          <p:spPr>
            <a:xfrm>
              <a:off x="4906328" y="2265468"/>
              <a:ext cx="412292" cy="369332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s-ES_tradnl" dirty="0">
                  <a:latin typeface="Gill Sans MT" panose="020B0502020104020203" pitchFamily="34" charset="77"/>
                </a:rPr>
                <a:t>de</a:t>
              </a:r>
              <a:endParaRPr lang="en-US" dirty="0">
                <a:latin typeface="Gill Sans MT" panose="020B0502020104020203" pitchFamily="34" charset="77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4517974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5FF0CFE0-6E68-0E4D-975F-0DA0CDF4F7F3}"/>
              </a:ext>
            </a:extLst>
          </p:cNvPr>
          <p:cNvSpPr txBox="1"/>
          <p:nvPr/>
        </p:nvSpPr>
        <p:spPr>
          <a:xfrm>
            <a:off x="1967237" y="753167"/>
            <a:ext cx="2699522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4000" dirty="0">
                <a:solidFill>
                  <a:schemeClr val="accent2"/>
                </a:solidFill>
                <a:latin typeface="Gill Sans MT" panose="020B0502020104020203" pitchFamily="34" charset="77"/>
              </a:rPr>
              <a:t>Covarianza: </a:t>
            </a: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87FC880F-564E-F842-8457-B4DF72AD8992}"/>
              </a:ext>
            </a:extLst>
          </p:cNvPr>
          <p:cNvGrpSpPr/>
          <p:nvPr/>
        </p:nvGrpSpPr>
        <p:grpSpPr>
          <a:xfrm>
            <a:off x="2247900" y="1683303"/>
            <a:ext cx="5529316" cy="469900"/>
            <a:chOff x="723900" y="2110685"/>
            <a:chExt cx="5529316" cy="469900"/>
          </a:xfrm>
        </p:grpSpPr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E9AE6200-E837-9340-B812-2D03A2B368F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723900" y="2110685"/>
              <a:ext cx="3848100" cy="469900"/>
            </a:xfrm>
            <a:prstGeom prst="rect">
              <a:avLst/>
            </a:prstGeom>
          </p:spPr>
        </p:pic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71903EC1-5611-0B4F-B518-AA9FDD2F92D6}"/>
                </a:ext>
              </a:extLst>
            </p:cNvPr>
            <p:cNvSpPr/>
            <p:nvPr/>
          </p:nvSpPr>
          <p:spPr>
            <a:xfrm>
              <a:off x="4819139" y="2160381"/>
              <a:ext cx="412292" cy="369332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s-ES_tradnl" dirty="0">
                  <a:latin typeface="Gill Sans MT" panose="020B0502020104020203" pitchFamily="34" charset="77"/>
                </a:rPr>
                <a:t>de</a:t>
              </a:r>
              <a:endParaRPr lang="en-US" dirty="0">
                <a:latin typeface="Gill Sans MT" panose="020B0502020104020203" pitchFamily="34" charset="77"/>
              </a:endParaRPr>
            </a:p>
          </p:txBody>
        </p:sp>
        <p:pic>
          <p:nvPicPr>
            <p:cNvPr id="12" name="Picture 11">
              <a:extLst>
                <a:ext uri="{FF2B5EF4-FFF2-40B4-BE49-F238E27FC236}">
                  <a16:creationId xmlns:a16="http://schemas.microsoft.com/office/drawing/2014/main" id="{70E74FCB-7733-2840-BDBC-0A0A9244E12E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377427" y="2234467"/>
              <a:ext cx="875789" cy="221159"/>
            </a:xfrm>
            <a:prstGeom prst="rect">
              <a:avLst/>
            </a:prstGeom>
          </p:spPr>
        </p:pic>
      </p:grpSp>
      <p:pic>
        <p:nvPicPr>
          <p:cNvPr id="17" name="Picture 16">
            <a:extLst>
              <a:ext uri="{FF2B5EF4-FFF2-40B4-BE49-F238E27FC236}">
                <a16:creationId xmlns:a16="http://schemas.microsoft.com/office/drawing/2014/main" id="{90B0C37F-DED1-D542-9148-BDB857DA8EA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47900" y="2374903"/>
            <a:ext cx="5499100" cy="1651000"/>
          </a:xfrm>
          <a:prstGeom prst="rect">
            <a:avLst/>
          </a:prstGeom>
        </p:spPr>
      </p:pic>
      <p:grpSp>
        <p:nvGrpSpPr>
          <p:cNvPr id="27" name="Group 26">
            <a:extLst>
              <a:ext uri="{FF2B5EF4-FFF2-40B4-BE49-F238E27FC236}">
                <a16:creationId xmlns:a16="http://schemas.microsoft.com/office/drawing/2014/main" id="{0A6772D2-F9A4-6C42-846C-361E7BA6C979}"/>
              </a:ext>
            </a:extLst>
          </p:cNvPr>
          <p:cNvGrpSpPr/>
          <p:nvPr/>
        </p:nvGrpSpPr>
        <p:grpSpPr>
          <a:xfrm>
            <a:off x="4997451" y="3625289"/>
            <a:ext cx="4921630" cy="750069"/>
            <a:chOff x="3473450" y="4241511"/>
            <a:chExt cx="4921630" cy="750069"/>
          </a:xfrm>
        </p:grpSpPr>
        <p:sp>
          <p:nvSpPr>
            <p:cNvPr id="18" name="Left Brace 17">
              <a:extLst>
                <a:ext uri="{FF2B5EF4-FFF2-40B4-BE49-F238E27FC236}">
                  <a16:creationId xmlns:a16="http://schemas.microsoft.com/office/drawing/2014/main" id="{BFBD9750-A2A5-274B-B8DF-22445A02F281}"/>
                </a:ext>
              </a:extLst>
            </p:cNvPr>
            <p:cNvSpPr/>
            <p:nvPr/>
          </p:nvSpPr>
          <p:spPr>
            <a:xfrm rot="16200000">
              <a:off x="4752753" y="2962208"/>
              <a:ext cx="221159" cy="2779766"/>
            </a:xfrm>
            <a:prstGeom prst="leftBrac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pic>
          <p:nvPicPr>
            <p:cNvPr id="21" name="Picture 20">
              <a:extLst>
                <a:ext uri="{FF2B5EF4-FFF2-40B4-BE49-F238E27FC236}">
                  <a16:creationId xmlns:a16="http://schemas.microsoft.com/office/drawing/2014/main" id="{B56AD01A-D50B-7646-A0DD-16E7040AAE47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4723632" y="4622248"/>
              <a:ext cx="279400" cy="292100"/>
            </a:xfrm>
            <a:prstGeom prst="rect">
              <a:avLst/>
            </a:prstGeom>
          </p:spPr>
        </p:pic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1BA18215-DC33-EF46-AB42-15B5C51679D8}"/>
                </a:ext>
              </a:extLst>
            </p:cNvPr>
            <p:cNvSpPr/>
            <p:nvPr/>
          </p:nvSpPr>
          <p:spPr>
            <a:xfrm>
              <a:off x="5157655" y="4622248"/>
              <a:ext cx="3237425" cy="369332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s-ES_tradnl" dirty="0">
                  <a:latin typeface="Gill Sans MT" panose="020B0502020104020203" pitchFamily="34" charset="77"/>
                </a:rPr>
                <a:t>promedio de cada columna de </a:t>
              </a:r>
              <a:r>
                <a:rPr lang="es-ES_tradnl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X</a:t>
              </a:r>
              <a:endParaRPr lang="en-US" b="1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grpSp>
        <p:nvGrpSpPr>
          <p:cNvPr id="29" name="Group 28">
            <a:extLst>
              <a:ext uri="{FF2B5EF4-FFF2-40B4-BE49-F238E27FC236}">
                <a16:creationId xmlns:a16="http://schemas.microsoft.com/office/drawing/2014/main" id="{DD75CA16-0A63-2D45-B2B3-5737FF283146}"/>
              </a:ext>
            </a:extLst>
          </p:cNvPr>
          <p:cNvGrpSpPr/>
          <p:nvPr/>
        </p:nvGrpSpPr>
        <p:grpSpPr>
          <a:xfrm>
            <a:off x="3639885" y="4801419"/>
            <a:ext cx="4815862" cy="1121200"/>
            <a:chOff x="2115884" y="5417642"/>
            <a:chExt cx="4815862" cy="1121200"/>
          </a:xfrm>
        </p:grpSpPr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D09FC941-CFB8-5A44-9267-6BF92A942EA1}"/>
                </a:ext>
              </a:extLst>
            </p:cNvPr>
            <p:cNvSpPr/>
            <p:nvPr/>
          </p:nvSpPr>
          <p:spPr>
            <a:xfrm>
              <a:off x="2268097" y="5892511"/>
              <a:ext cx="4663649" cy="646331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s-ES_tradnl" dirty="0">
                  <a:latin typeface="Gill Sans MT" panose="020B0502020104020203" pitchFamily="34" charset="77"/>
                </a:rPr>
                <a:t>Matriz de                  : cada columna tiene el</a:t>
              </a:r>
            </a:p>
            <a:p>
              <a:r>
                <a:rPr lang="es-ES_tradnl" dirty="0">
                  <a:latin typeface="Gill Sans MT" panose="020B0502020104020203" pitchFamily="34" charset="77"/>
                </a:rPr>
                <a:t>promedio de la columna correspondiente de </a:t>
              </a:r>
              <a:r>
                <a:rPr lang="es-ES_tradnl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X</a:t>
              </a:r>
              <a:r>
                <a:rPr lang="es-ES_tradnl" dirty="0">
                  <a:latin typeface="Gill Sans MT" panose="020B0502020104020203" pitchFamily="34" charset="77"/>
                </a:rPr>
                <a:t>.</a:t>
              </a:r>
              <a:endParaRPr lang="en-US" dirty="0">
                <a:latin typeface="Gill Sans MT" panose="020B0502020104020203" pitchFamily="34" charset="77"/>
              </a:endParaRPr>
            </a:p>
          </p:txBody>
        </p:sp>
        <p:pic>
          <p:nvPicPr>
            <p:cNvPr id="20" name="Picture 19">
              <a:extLst>
                <a:ext uri="{FF2B5EF4-FFF2-40B4-BE49-F238E27FC236}">
                  <a16:creationId xmlns:a16="http://schemas.microsoft.com/office/drawing/2014/main" id="{147CCA58-E8A5-7C48-BBAB-2C707B7FB226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382974" y="5966597"/>
              <a:ext cx="875789" cy="221159"/>
            </a:xfrm>
            <a:prstGeom prst="rect">
              <a:avLst/>
            </a:prstGeom>
          </p:spPr>
        </p:pic>
        <p:sp>
          <p:nvSpPr>
            <p:cNvPr id="24" name="Left Brace 23">
              <a:extLst>
                <a:ext uri="{FF2B5EF4-FFF2-40B4-BE49-F238E27FC236}">
                  <a16:creationId xmlns:a16="http://schemas.microsoft.com/office/drawing/2014/main" id="{60C0F2DD-8592-2B41-84DF-39ABBBD2927D}"/>
                </a:ext>
              </a:extLst>
            </p:cNvPr>
            <p:cNvSpPr/>
            <p:nvPr/>
          </p:nvSpPr>
          <p:spPr>
            <a:xfrm rot="16200000">
              <a:off x="4056393" y="3477133"/>
              <a:ext cx="256316" cy="4137334"/>
            </a:xfrm>
            <a:prstGeom prst="leftBrac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28A72723-85BB-8D49-A465-0067413DFB2B}"/>
              </a:ext>
            </a:extLst>
          </p:cNvPr>
          <p:cNvGrpSpPr/>
          <p:nvPr/>
        </p:nvGrpSpPr>
        <p:grpSpPr>
          <a:xfrm>
            <a:off x="3639885" y="4189996"/>
            <a:ext cx="1173970" cy="536435"/>
            <a:chOff x="2115885" y="4806218"/>
            <a:chExt cx="1173970" cy="536435"/>
          </a:xfrm>
        </p:grpSpPr>
        <p:sp>
          <p:nvSpPr>
            <p:cNvPr id="25" name="Left Brace 24">
              <a:extLst>
                <a:ext uri="{FF2B5EF4-FFF2-40B4-BE49-F238E27FC236}">
                  <a16:creationId xmlns:a16="http://schemas.microsoft.com/office/drawing/2014/main" id="{B9039D43-9C01-7B40-9E7C-3B0DE0D2B456}"/>
                </a:ext>
              </a:extLst>
            </p:cNvPr>
            <p:cNvSpPr/>
            <p:nvPr/>
          </p:nvSpPr>
          <p:spPr>
            <a:xfrm rot="16200000">
              <a:off x="2648804" y="4273299"/>
              <a:ext cx="108132" cy="1173970"/>
            </a:xfrm>
            <a:prstGeom prst="leftBrac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67F7EEFC-CC90-4042-812D-0F099F8534FF}"/>
                </a:ext>
              </a:extLst>
            </p:cNvPr>
            <p:cNvSpPr/>
            <p:nvPr/>
          </p:nvSpPr>
          <p:spPr>
            <a:xfrm>
              <a:off x="2268097" y="4973321"/>
              <a:ext cx="870751" cy="369332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s-ES_tradnl" i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N</a:t>
              </a:r>
              <a:r>
                <a:rPr lang="es-ES_tradnl" dirty="0">
                  <a:latin typeface="Gill Sans MT" panose="020B0502020104020203" pitchFamily="34" charset="77"/>
                </a:rPr>
                <a:t> unos</a:t>
              </a:r>
              <a:endParaRPr lang="en-US" b="1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2633936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5FF0CFE0-6E68-0E4D-975F-0DA0CDF4F7F3}"/>
              </a:ext>
            </a:extLst>
          </p:cNvPr>
          <p:cNvSpPr txBox="1"/>
          <p:nvPr/>
        </p:nvSpPr>
        <p:spPr>
          <a:xfrm>
            <a:off x="1967237" y="753167"/>
            <a:ext cx="2699522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4000" dirty="0">
                <a:solidFill>
                  <a:schemeClr val="accent2"/>
                </a:solidFill>
                <a:latin typeface="Gill Sans MT" panose="020B0502020104020203" pitchFamily="34" charset="77"/>
              </a:rPr>
              <a:t>Covarianza: </a:t>
            </a: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87FC880F-564E-F842-8457-B4DF72AD8992}"/>
              </a:ext>
            </a:extLst>
          </p:cNvPr>
          <p:cNvGrpSpPr/>
          <p:nvPr/>
        </p:nvGrpSpPr>
        <p:grpSpPr>
          <a:xfrm>
            <a:off x="2247900" y="1683303"/>
            <a:ext cx="5529316" cy="469900"/>
            <a:chOff x="723900" y="2110685"/>
            <a:chExt cx="5529316" cy="469900"/>
          </a:xfrm>
        </p:grpSpPr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E9AE6200-E837-9340-B812-2D03A2B368F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723900" y="2110685"/>
              <a:ext cx="3848100" cy="469900"/>
            </a:xfrm>
            <a:prstGeom prst="rect">
              <a:avLst/>
            </a:prstGeom>
          </p:spPr>
        </p:pic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71903EC1-5611-0B4F-B518-AA9FDD2F92D6}"/>
                </a:ext>
              </a:extLst>
            </p:cNvPr>
            <p:cNvSpPr/>
            <p:nvPr/>
          </p:nvSpPr>
          <p:spPr>
            <a:xfrm>
              <a:off x="4819139" y="2160381"/>
              <a:ext cx="412292" cy="369332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s-ES_tradnl" dirty="0">
                  <a:latin typeface="Gill Sans MT" panose="020B0502020104020203" pitchFamily="34" charset="77"/>
                </a:rPr>
                <a:t>de</a:t>
              </a:r>
              <a:endParaRPr lang="en-US" dirty="0">
                <a:latin typeface="Gill Sans MT" panose="020B0502020104020203" pitchFamily="34" charset="77"/>
              </a:endParaRPr>
            </a:p>
          </p:txBody>
        </p:sp>
        <p:pic>
          <p:nvPicPr>
            <p:cNvPr id="12" name="Picture 11">
              <a:extLst>
                <a:ext uri="{FF2B5EF4-FFF2-40B4-BE49-F238E27FC236}">
                  <a16:creationId xmlns:a16="http://schemas.microsoft.com/office/drawing/2014/main" id="{70E74FCB-7733-2840-BDBC-0A0A9244E12E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377427" y="2234467"/>
              <a:ext cx="875789" cy="221159"/>
            </a:xfrm>
            <a:prstGeom prst="rect">
              <a:avLst/>
            </a:prstGeom>
          </p:spPr>
        </p:pic>
      </p:grpSp>
      <p:pic>
        <p:nvPicPr>
          <p:cNvPr id="17" name="Picture 16">
            <a:extLst>
              <a:ext uri="{FF2B5EF4-FFF2-40B4-BE49-F238E27FC236}">
                <a16:creationId xmlns:a16="http://schemas.microsoft.com/office/drawing/2014/main" id="{90B0C37F-DED1-D542-9148-BDB857DA8EA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47900" y="2374903"/>
            <a:ext cx="5499100" cy="1651000"/>
          </a:xfrm>
          <a:prstGeom prst="rect">
            <a:avLst/>
          </a:prstGeom>
        </p:spPr>
      </p:pic>
      <p:pic>
        <p:nvPicPr>
          <p:cNvPr id="28" name="Picture 27">
            <a:extLst>
              <a:ext uri="{FF2B5EF4-FFF2-40B4-BE49-F238E27FC236}">
                <a16:creationId xmlns:a16="http://schemas.microsoft.com/office/drawing/2014/main" id="{69A7E5B5-8A4C-D344-B1DE-87EE90F38F3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387600" y="4452067"/>
            <a:ext cx="2844800" cy="393700"/>
          </a:xfrm>
          <a:prstGeom prst="rect">
            <a:avLst/>
          </a:prstGeom>
        </p:spPr>
      </p:pic>
      <p:sp>
        <p:nvSpPr>
          <p:cNvPr id="30" name="Rectangle 29">
            <a:extLst>
              <a:ext uri="{FF2B5EF4-FFF2-40B4-BE49-F238E27FC236}">
                <a16:creationId xmlns:a16="http://schemas.microsoft.com/office/drawing/2014/main" id="{E8F8AF6B-52F0-B34B-BDA4-252869208D18}"/>
              </a:ext>
            </a:extLst>
          </p:cNvPr>
          <p:cNvSpPr/>
          <p:nvPr/>
        </p:nvSpPr>
        <p:spPr>
          <a:xfrm>
            <a:off x="5864722" y="4415606"/>
            <a:ext cx="368306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s-ES_tradnl" dirty="0">
                <a:latin typeface="Gill Sans MT" panose="020B0502020104020203" pitchFamily="34" charset="77"/>
              </a:rPr>
              <a:t>cada columna de </a:t>
            </a:r>
            <a:r>
              <a:rPr lang="es-ES_tradnl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X</a:t>
            </a:r>
            <a:r>
              <a:rPr lang="es-ES_tradnl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r>
              <a:rPr lang="es-ES_tradnl" dirty="0">
                <a:latin typeface="Gill Sans MT" panose="020B0502020104020203" pitchFamily="34" charset="77"/>
              </a:rPr>
              <a:t> tiene media cero</a:t>
            </a:r>
            <a:endParaRPr lang="en-US" dirty="0">
              <a:latin typeface="Gill Sans MT" panose="020B0502020104020203" pitchFamily="34" charset="77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3ED8ACEF-F07F-4C46-B649-7422C3C29FB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368550" y="5271931"/>
            <a:ext cx="5727700" cy="939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483693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0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5FF0CFE0-6E68-0E4D-975F-0DA0CDF4F7F3}"/>
              </a:ext>
            </a:extLst>
          </p:cNvPr>
          <p:cNvSpPr txBox="1"/>
          <p:nvPr/>
        </p:nvSpPr>
        <p:spPr>
          <a:xfrm>
            <a:off x="1967237" y="753167"/>
            <a:ext cx="2699522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4000" dirty="0">
                <a:solidFill>
                  <a:schemeClr val="accent2"/>
                </a:solidFill>
                <a:latin typeface="Gill Sans MT" panose="020B0502020104020203" pitchFamily="34" charset="77"/>
              </a:rPr>
              <a:t>Covarianza: 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3ED8ACEF-F07F-4C46-B649-7422C3C29FB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550" y="5271931"/>
            <a:ext cx="5727700" cy="939800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4FF7CC57-6091-EE4C-91B1-61496228362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45369" y="2325874"/>
            <a:ext cx="2540000" cy="571500"/>
          </a:xfrm>
          <a:prstGeom prst="rect">
            <a:avLst/>
          </a:prstGeom>
        </p:spPr>
      </p:pic>
      <p:grpSp>
        <p:nvGrpSpPr>
          <p:cNvPr id="8" name="Group 7">
            <a:extLst>
              <a:ext uri="{FF2B5EF4-FFF2-40B4-BE49-F238E27FC236}">
                <a16:creationId xmlns:a16="http://schemas.microsoft.com/office/drawing/2014/main" id="{4007775D-90A3-2A4E-9348-B6757ECA43EB}"/>
              </a:ext>
            </a:extLst>
          </p:cNvPr>
          <p:cNvGrpSpPr/>
          <p:nvPr/>
        </p:nvGrpSpPr>
        <p:grpSpPr>
          <a:xfrm>
            <a:off x="2445370" y="3301843"/>
            <a:ext cx="5786091" cy="516996"/>
            <a:chOff x="921369" y="3833469"/>
            <a:chExt cx="5786091" cy="516996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927E40C9-9445-2D45-BF2F-D69BA67D1E93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921369" y="3880565"/>
              <a:ext cx="1955800" cy="469900"/>
            </a:xfrm>
            <a:prstGeom prst="rect">
              <a:avLst/>
            </a:prstGeom>
          </p:spPr>
        </p:pic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60BE235C-B897-2441-BF4B-D05768472986}"/>
                </a:ext>
              </a:extLst>
            </p:cNvPr>
            <p:cNvSpPr/>
            <p:nvPr/>
          </p:nvSpPr>
          <p:spPr>
            <a:xfrm>
              <a:off x="3006208" y="3833469"/>
              <a:ext cx="3097515" cy="461665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s-ES_tradnl" sz="2400" dirty="0">
                  <a:latin typeface="Gill Sans MT" panose="020B0502020104020203" pitchFamily="34" charset="77"/>
                </a:rPr>
                <a:t>Covarianza de       con </a:t>
              </a:r>
              <a:endParaRPr lang="en-US" sz="2400" dirty="0">
                <a:latin typeface="Gill Sans MT" panose="020B0502020104020203" pitchFamily="34" charset="77"/>
              </a:endParaRPr>
            </a:p>
          </p:txBody>
        </p:sp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12D754EC-0B35-7740-90A9-8E35EF42A5F8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5123343" y="3949587"/>
              <a:ext cx="368300" cy="292100"/>
            </a:xfrm>
            <a:prstGeom prst="rect">
              <a:avLst/>
            </a:prstGeom>
          </p:spPr>
        </p:pic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9216E804-B851-2344-B839-78580358CFA3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6250260" y="3949587"/>
              <a:ext cx="457200" cy="292100"/>
            </a:xfrm>
            <a:prstGeom prst="rect">
              <a:avLst/>
            </a:prstGeom>
          </p:spPr>
        </p:pic>
      </p:grpSp>
      <p:sp>
        <p:nvSpPr>
          <p:cNvPr id="18" name="Rectangle 17">
            <a:extLst>
              <a:ext uri="{FF2B5EF4-FFF2-40B4-BE49-F238E27FC236}">
                <a16:creationId xmlns:a16="http://schemas.microsoft.com/office/drawing/2014/main" id="{247F3B97-69C0-D04A-B623-9171CAC4E198}"/>
              </a:ext>
            </a:extLst>
          </p:cNvPr>
          <p:cNvSpPr/>
          <p:nvPr/>
        </p:nvSpPr>
        <p:spPr>
          <a:xfrm>
            <a:off x="4720114" y="3924213"/>
            <a:ext cx="2473306" cy="92333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s-ES_tradnl" dirty="0">
                <a:latin typeface="Times New Roman" panose="02020603050405020304" pitchFamily="18" charset="0"/>
                <a:cs typeface="Times New Roman" panose="02020603050405020304" pitchFamily="18" charset="0"/>
              </a:rPr>
              <a:t>&gt; 0  </a:t>
            </a:r>
            <a:r>
              <a:rPr lang="es-ES_tradnl" dirty="0">
                <a:latin typeface="Gill Sans MT" panose="020B0502020104020203" pitchFamily="34" charset="77"/>
                <a:cs typeface="Times New Roman" panose="02020603050405020304" pitchFamily="18" charset="0"/>
              </a:rPr>
              <a:t>correlación positiva</a:t>
            </a:r>
          </a:p>
          <a:p>
            <a:r>
              <a:rPr lang="es-ES_tradnl" dirty="0">
                <a:latin typeface="Gill Sans MT" panose="020B0502020104020203" pitchFamily="34" charset="77"/>
                <a:cs typeface="Times New Roman" panose="02020603050405020304" pitchFamily="18" charset="0"/>
              </a:rPr>
              <a:t>= 0 no hay correlación</a:t>
            </a:r>
          </a:p>
          <a:p>
            <a:r>
              <a:rPr lang="es-ES_tradnl" dirty="0">
                <a:latin typeface="Times New Roman" panose="02020603050405020304" pitchFamily="18" charset="0"/>
                <a:cs typeface="Times New Roman" panose="02020603050405020304" pitchFamily="18" charset="0"/>
              </a:rPr>
              <a:t>&lt; 0  </a:t>
            </a:r>
            <a:r>
              <a:rPr lang="es-ES_tradnl" dirty="0">
                <a:latin typeface="Gill Sans MT" panose="020B0502020104020203" pitchFamily="34" charset="77"/>
                <a:cs typeface="Times New Roman" panose="02020603050405020304" pitchFamily="18" charset="0"/>
              </a:rPr>
              <a:t>correlación negativa</a:t>
            </a:r>
            <a:endParaRPr lang="es-ES_tradnl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B8EACDD9-57B1-BF49-A2BF-2B8D676850EA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425850" y="3321721"/>
            <a:ext cx="2110371" cy="3884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760330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path" presetSubtype="0" accel="50000" decel="5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4.44444E-6 1.48148E-6 L 0.00208 -0.54167 " pathEditMode="relative" rAng="0" ptsTypes="AA">
                                      <p:cBhvr>
                                        <p:cTn id="6" dur="2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04" y="-27083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F3CCA787-9A7F-8C42-AF45-C883A056A0A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44426" y="367755"/>
            <a:ext cx="2573328" cy="2086907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2A49DF97-C9F0-2742-A6E2-98A7B5F30254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3892"/>
          <a:stretch/>
        </p:blipFill>
        <p:spPr>
          <a:xfrm>
            <a:off x="6148251" y="1011465"/>
            <a:ext cx="2123803" cy="105410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56B48F98-7C98-0647-9E61-989F74E1615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14930" y="2390503"/>
            <a:ext cx="2573328" cy="2116431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9550F360-A501-A74C-B190-0DD239FA59F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957459" y="4572001"/>
            <a:ext cx="2575607" cy="2116431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4D30E251-A682-3E46-B3E3-A3853449BA3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89778" y="3066902"/>
            <a:ext cx="2120900" cy="96520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6069FBC5-4DB1-E643-88E4-ABE847A579BF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113053" y="4990907"/>
            <a:ext cx="2159000" cy="927100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810C89DD-9087-044B-8E4C-48F592A0FFA2}"/>
              </a:ext>
            </a:extLst>
          </p:cNvPr>
          <p:cNvSpPr txBox="1"/>
          <p:nvPr/>
        </p:nvSpPr>
        <p:spPr>
          <a:xfrm>
            <a:off x="6113054" y="367754"/>
            <a:ext cx="329449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latin typeface="Gill Sans MT" panose="020B0502020104020203" pitchFamily="34" charset="77"/>
              </a:rPr>
              <a:t>Ejemplo</a:t>
            </a:r>
            <a:r>
              <a:rPr lang="en-US" dirty="0">
                <a:latin typeface="Gill Sans MT" panose="020B0502020104020203" pitchFamily="34" charset="77"/>
              </a:rPr>
              <a:t>: Matrices de </a:t>
            </a:r>
            <a:r>
              <a:rPr lang="en-US" dirty="0" err="1">
                <a:latin typeface="Gill Sans MT" panose="020B0502020104020203" pitchFamily="34" charset="77"/>
              </a:rPr>
              <a:t>Covarianza</a:t>
            </a:r>
            <a:endParaRPr lang="en-US" dirty="0">
              <a:latin typeface="Gill Sans MT" panose="020B0502020104020203" pitchFamily="34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298837779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04FD2993-E95A-7047-ACBE-01CCD1A7A0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8078" y="3857219"/>
            <a:ext cx="10855841" cy="1143000"/>
          </a:xfrm>
        </p:spPr>
        <p:txBody>
          <a:bodyPr>
            <a:normAutofit/>
          </a:bodyPr>
          <a:lstStyle/>
          <a:p>
            <a:pPr algn="ctr"/>
            <a:r>
              <a:rPr lang="en-US" sz="2000" dirty="0"/>
              <a:t>TRANSFORMACIÓN KARHUNEN-LOEVE (1947)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551A88E-B476-FEA5-B3F9-44AEBD0EE520}"/>
              </a:ext>
            </a:extLst>
          </p:cNvPr>
          <p:cNvSpPr txBox="1"/>
          <p:nvPr/>
        </p:nvSpPr>
        <p:spPr>
          <a:xfrm>
            <a:off x="2307302" y="2287559"/>
            <a:ext cx="7577395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CL" sz="4800" dirty="0">
                <a:solidFill>
                  <a:schemeClr val="accent2"/>
                </a:solidFill>
                <a:latin typeface="Gill Sans MT" panose="020B0502020104020203" pitchFamily="34" charset="77"/>
              </a:rPr>
              <a:t>PCA</a:t>
            </a:r>
          </a:p>
          <a:p>
            <a:pPr algn="ctr"/>
            <a:r>
              <a:rPr lang="en-CL" sz="4800" dirty="0">
                <a:solidFill>
                  <a:schemeClr val="accent2"/>
                </a:solidFill>
                <a:latin typeface="Gill Sans MT" panose="020B0502020104020203" pitchFamily="34" charset="77"/>
              </a:rPr>
              <a:t>Principal Component Analysis</a:t>
            </a:r>
          </a:p>
        </p:txBody>
      </p:sp>
    </p:spTree>
    <p:extLst>
      <p:ext uri="{BB962C8B-B14F-4D97-AF65-F5344CB8AC3E}">
        <p14:creationId xmlns:p14="http://schemas.microsoft.com/office/powerpoint/2010/main" val="184787630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6AD0B775-DF48-AF4C-AAEE-3B421A704E9A}"/>
              </a:ext>
            </a:extLst>
          </p:cNvPr>
          <p:cNvSpPr/>
          <p:nvPr/>
        </p:nvSpPr>
        <p:spPr>
          <a:xfrm>
            <a:off x="5380381" y="3771900"/>
            <a:ext cx="1858618" cy="944218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3600" dirty="0">
                <a:latin typeface="Gill Sans MT" panose="020B0502020104020203" pitchFamily="34" charset="77"/>
              </a:rPr>
              <a:t>KL</a:t>
            </a:r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5787D59A-38D8-E543-B589-42FDD7A59E25}"/>
              </a:ext>
            </a:extLst>
          </p:cNvPr>
          <p:cNvCxnSpPr>
            <a:cxnSpLocks/>
          </p:cNvCxnSpPr>
          <p:nvPr/>
        </p:nvCxnSpPr>
        <p:spPr>
          <a:xfrm>
            <a:off x="4605129" y="4239038"/>
            <a:ext cx="77525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9531375D-42BF-C142-B900-1A1E9877FDDE}"/>
              </a:ext>
            </a:extLst>
          </p:cNvPr>
          <p:cNvCxnSpPr>
            <a:cxnSpLocks/>
          </p:cNvCxnSpPr>
          <p:nvPr/>
        </p:nvCxnSpPr>
        <p:spPr>
          <a:xfrm>
            <a:off x="7202148" y="4239038"/>
            <a:ext cx="931375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8" name="Picture 7">
            <a:extLst>
              <a:ext uri="{FF2B5EF4-FFF2-40B4-BE49-F238E27FC236}">
                <a16:creationId xmlns:a16="http://schemas.microsoft.com/office/drawing/2014/main" id="{E6EA12F7-6045-B04E-A9DA-170202D9102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71314" y="2518299"/>
            <a:ext cx="368300" cy="31750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8E0DF9D6-E420-D04A-A0FA-1158DF095E6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45148" y="2518299"/>
            <a:ext cx="381000" cy="317500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46790287-36FC-944D-8303-BCA906458C00}"/>
              </a:ext>
            </a:extLst>
          </p:cNvPr>
          <p:cNvSpPr txBox="1"/>
          <p:nvPr/>
        </p:nvSpPr>
        <p:spPr>
          <a:xfrm>
            <a:off x="5934074" y="4760846"/>
            <a:ext cx="77553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</a:rPr>
              <a:t>(PCA)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2C5C837-DC09-AC4B-9A91-2AD90CD10EBE}"/>
              </a:ext>
            </a:extLst>
          </p:cNvPr>
          <p:cNvSpPr txBox="1"/>
          <p:nvPr/>
        </p:nvSpPr>
        <p:spPr>
          <a:xfrm>
            <a:off x="2706757" y="889760"/>
            <a:ext cx="64008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_tradnl" dirty="0">
                <a:latin typeface="Gill Sans MT" panose="020B0502020104020203" pitchFamily="34" charset="77"/>
              </a:rPr>
              <a:t>La Transformada de </a:t>
            </a:r>
            <a:r>
              <a:rPr lang="es-ES_tradnl" dirty="0" err="1">
                <a:latin typeface="Gill Sans MT" panose="020B0502020104020203" pitchFamily="34" charset="77"/>
              </a:rPr>
              <a:t>Karhunen-Loeve</a:t>
            </a:r>
            <a:r>
              <a:rPr lang="es-ES_tradnl" dirty="0">
                <a:latin typeface="Gill Sans MT" panose="020B0502020104020203" pitchFamily="34" charset="77"/>
              </a:rPr>
              <a:t> (KL) es conocida como PCA (Principal </a:t>
            </a:r>
            <a:r>
              <a:rPr lang="es-ES_tradnl" dirty="0" err="1">
                <a:latin typeface="Gill Sans MT" panose="020B0502020104020203" pitchFamily="34" charset="77"/>
              </a:rPr>
              <a:t>Component</a:t>
            </a:r>
            <a:r>
              <a:rPr lang="es-ES_tradnl" dirty="0">
                <a:latin typeface="Gill Sans MT" panose="020B0502020104020203" pitchFamily="34" charset="77"/>
              </a:rPr>
              <a:t> </a:t>
            </a:r>
            <a:r>
              <a:rPr lang="es-ES_tradnl" dirty="0" err="1">
                <a:latin typeface="Gill Sans MT" panose="020B0502020104020203" pitchFamily="34" charset="77"/>
              </a:rPr>
              <a:t>Analysys</a:t>
            </a:r>
            <a:r>
              <a:rPr lang="es-ES_tradnl" dirty="0">
                <a:latin typeface="Gill Sans MT" panose="020B0502020104020203" pitchFamily="34" charset="77"/>
              </a:rPr>
              <a:t>). La idea es transformar los datos originales </a:t>
            </a:r>
            <a:r>
              <a:rPr lang="es-ES_tradnl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X</a:t>
            </a:r>
            <a:r>
              <a:rPr lang="es-ES_tradnl" dirty="0">
                <a:latin typeface="Gill Sans MT" panose="020B0502020104020203" pitchFamily="34" charset="77"/>
              </a:rPr>
              <a:t> en datos nuevos </a:t>
            </a:r>
            <a:r>
              <a:rPr lang="es-ES_tradnl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Y </a:t>
            </a:r>
            <a:r>
              <a:rPr lang="es-ES_tradnl" dirty="0">
                <a:latin typeface="Gill Sans MT" panose="020B0502020104020203" pitchFamily="34" charset="77"/>
              </a:rPr>
              <a:t>que no tengan correlación entre ellos.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1BCA26C9-2309-CC45-8E2A-7756790BE06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85195" y="2905097"/>
            <a:ext cx="1540538" cy="2680648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BB62CE8C-53F8-F94F-8737-25AE2ADB5F6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71013" y="2905098"/>
            <a:ext cx="578397" cy="2663963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FFC844A6-267A-9C4C-80A1-FBF3C81E277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821140" y="5755339"/>
            <a:ext cx="1472091" cy="2442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0342950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5FF0CFE0-6E68-0E4D-975F-0DA0CDF4F7F3}"/>
              </a:ext>
            </a:extLst>
          </p:cNvPr>
          <p:cNvSpPr txBox="1"/>
          <p:nvPr/>
        </p:nvSpPr>
        <p:spPr>
          <a:xfrm>
            <a:off x="1967236" y="753167"/>
            <a:ext cx="4252896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4000" dirty="0">
                <a:solidFill>
                  <a:schemeClr val="accent2"/>
                </a:solidFill>
                <a:latin typeface="Gill Sans MT" panose="020B0502020104020203" pitchFamily="34" charset="77"/>
              </a:rPr>
              <a:t>Transformación KL:</a:t>
            </a: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87FC880F-564E-F842-8457-B4DF72AD8992}"/>
              </a:ext>
            </a:extLst>
          </p:cNvPr>
          <p:cNvGrpSpPr/>
          <p:nvPr/>
        </p:nvGrpSpPr>
        <p:grpSpPr>
          <a:xfrm>
            <a:off x="2884005" y="1872145"/>
            <a:ext cx="5529316" cy="469900"/>
            <a:chOff x="723900" y="2110685"/>
            <a:chExt cx="5529316" cy="469900"/>
          </a:xfrm>
        </p:grpSpPr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E9AE6200-E837-9340-B812-2D03A2B368F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723900" y="2110685"/>
              <a:ext cx="3848100" cy="469900"/>
            </a:xfrm>
            <a:prstGeom prst="rect">
              <a:avLst/>
            </a:prstGeom>
          </p:spPr>
        </p:pic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71903EC1-5611-0B4F-B518-AA9FDD2F92D6}"/>
                </a:ext>
              </a:extLst>
            </p:cNvPr>
            <p:cNvSpPr/>
            <p:nvPr/>
          </p:nvSpPr>
          <p:spPr>
            <a:xfrm>
              <a:off x="4819139" y="2160381"/>
              <a:ext cx="412292" cy="369332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s-ES_tradnl" dirty="0">
                  <a:latin typeface="Gill Sans MT" panose="020B0502020104020203" pitchFamily="34" charset="77"/>
                </a:rPr>
                <a:t>de</a:t>
              </a:r>
              <a:endParaRPr lang="en-US" dirty="0">
                <a:latin typeface="Gill Sans MT" panose="020B0502020104020203" pitchFamily="34" charset="77"/>
              </a:endParaRPr>
            </a:p>
          </p:txBody>
        </p:sp>
        <p:pic>
          <p:nvPicPr>
            <p:cNvPr id="12" name="Picture 11">
              <a:extLst>
                <a:ext uri="{FF2B5EF4-FFF2-40B4-BE49-F238E27FC236}">
                  <a16:creationId xmlns:a16="http://schemas.microsoft.com/office/drawing/2014/main" id="{70E74FCB-7733-2840-BDBC-0A0A9244E12E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377427" y="2234467"/>
              <a:ext cx="875789" cy="221159"/>
            </a:xfrm>
            <a:prstGeom prst="rect">
              <a:avLst/>
            </a:prstGeom>
          </p:spPr>
        </p:pic>
      </p:grpSp>
      <p:pic>
        <p:nvPicPr>
          <p:cNvPr id="28" name="Picture 27">
            <a:extLst>
              <a:ext uri="{FF2B5EF4-FFF2-40B4-BE49-F238E27FC236}">
                <a16:creationId xmlns:a16="http://schemas.microsoft.com/office/drawing/2014/main" id="{69A7E5B5-8A4C-D344-B1DE-87EE90F38F3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25532" y="2623269"/>
            <a:ext cx="2844800" cy="393700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FE83ACBB-D150-3549-8E10-EEFFBAAF60D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903883" y="4880081"/>
            <a:ext cx="2006600" cy="40640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922C5881-FA83-7C49-BAEC-5155BB7BD27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923761" y="4124502"/>
            <a:ext cx="2806700" cy="469900"/>
          </a:xfrm>
          <a:prstGeom prst="rect">
            <a:avLst/>
          </a:prstGeom>
        </p:spPr>
      </p:pic>
      <p:grpSp>
        <p:nvGrpSpPr>
          <p:cNvPr id="13" name="Group 12">
            <a:extLst>
              <a:ext uri="{FF2B5EF4-FFF2-40B4-BE49-F238E27FC236}">
                <a16:creationId xmlns:a16="http://schemas.microsoft.com/office/drawing/2014/main" id="{654CE895-8664-CC43-AC8A-7AF568B2801D}"/>
              </a:ext>
            </a:extLst>
          </p:cNvPr>
          <p:cNvGrpSpPr/>
          <p:nvPr/>
        </p:nvGrpSpPr>
        <p:grpSpPr>
          <a:xfrm>
            <a:off x="5039692" y="4903506"/>
            <a:ext cx="2686482" cy="369332"/>
            <a:chOff x="3644899" y="4714664"/>
            <a:chExt cx="2686482" cy="369332"/>
          </a:xfrm>
        </p:grpSpPr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9FC68F5C-8085-AA40-A3C0-56B9B3CE7558}"/>
                </a:ext>
              </a:extLst>
            </p:cNvPr>
            <p:cNvSpPr/>
            <p:nvPr/>
          </p:nvSpPr>
          <p:spPr>
            <a:xfrm>
              <a:off x="3848650" y="4714664"/>
              <a:ext cx="2482731" cy="369332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s-ES_tradnl" dirty="0">
                  <a:latin typeface="Gill Sans MT" panose="020B0502020104020203" pitchFamily="34" charset="77"/>
                </a:rPr>
                <a:t>Transformación KL de </a:t>
              </a:r>
              <a:r>
                <a:rPr lang="es-ES_tradnl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X</a:t>
              </a:r>
              <a:endParaRPr lang="en-US" b="1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FA0FFC4C-E645-A143-B95C-5D3784ACFD2C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4899" y="4899330"/>
              <a:ext cx="193812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20" name="Picture 19">
            <a:extLst>
              <a:ext uri="{FF2B5EF4-FFF2-40B4-BE49-F238E27FC236}">
                <a16:creationId xmlns:a16="http://schemas.microsoft.com/office/drawing/2014/main" id="{A3F9E2B9-2165-E140-B060-942A04299CA5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725532" y="3060717"/>
            <a:ext cx="5727700" cy="939800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51A61FAB-1893-4F4A-AAB1-771750943FF2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923761" y="5639389"/>
            <a:ext cx="3238500" cy="495300"/>
          </a:xfrm>
          <a:prstGeom prst="rect">
            <a:avLst/>
          </a:prstGeom>
        </p:spPr>
      </p:pic>
      <p:grpSp>
        <p:nvGrpSpPr>
          <p:cNvPr id="23" name="Group 22">
            <a:extLst>
              <a:ext uri="{FF2B5EF4-FFF2-40B4-BE49-F238E27FC236}">
                <a16:creationId xmlns:a16="http://schemas.microsoft.com/office/drawing/2014/main" id="{FA0ED95F-2CE3-C140-BD2E-7092C525FBB2}"/>
              </a:ext>
            </a:extLst>
          </p:cNvPr>
          <p:cNvGrpSpPr/>
          <p:nvPr/>
        </p:nvGrpSpPr>
        <p:grpSpPr>
          <a:xfrm>
            <a:off x="6483282" y="5702373"/>
            <a:ext cx="3398152" cy="369332"/>
            <a:chOff x="3644899" y="4714664"/>
            <a:chExt cx="3398152" cy="369332"/>
          </a:xfrm>
        </p:grpSpPr>
        <p:sp>
          <p:nvSpPr>
            <p:cNvPr id="24" name="Rectangle 23">
              <a:extLst>
                <a:ext uri="{FF2B5EF4-FFF2-40B4-BE49-F238E27FC236}">
                  <a16:creationId xmlns:a16="http://schemas.microsoft.com/office/drawing/2014/main" id="{7029B139-8928-CC45-B1D2-E89F631512E9}"/>
                </a:ext>
              </a:extLst>
            </p:cNvPr>
            <p:cNvSpPr/>
            <p:nvPr/>
          </p:nvSpPr>
          <p:spPr>
            <a:xfrm>
              <a:off x="3848650" y="4714664"/>
              <a:ext cx="3194401" cy="369332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s-ES_tradnl" dirty="0">
                  <a:latin typeface="Gill Sans MT" panose="020B0502020104020203" pitchFamily="34" charset="77"/>
                </a:rPr>
                <a:t>Transformación KL inversa de </a:t>
              </a:r>
              <a:r>
                <a:rPr lang="es-ES_tradnl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Y</a:t>
              </a:r>
              <a:endParaRPr lang="en-US" b="1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7FE681AD-112D-2C4C-8E6A-77E189B3995B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4899" y="4899330"/>
              <a:ext cx="193812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EF97A97C-CAE2-8A4F-AAAA-801265896C96}"/>
              </a:ext>
            </a:extLst>
          </p:cNvPr>
          <p:cNvCxnSpPr/>
          <p:nvPr/>
        </p:nvCxnSpPr>
        <p:spPr>
          <a:xfrm flipV="1">
            <a:off x="1967236" y="5421923"/>
            <a:ext cx="8333016" cy="0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454EA497-FB9E-A44E-970B-08058FF140DD}"/>
              </a:ext>
            </a:extLst>
          </p:cNvPr>
          <p:cNvSpPr txBox="1"/>
          <p:nvPr/>
        </p:nvSpPr>
        <p:spPr>
          <a:xfrm>
            <a:off x="3702343" y="6189470"/>
            <a:ext cx="192533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</a:rPr>
              <a:t>(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</a:t>
            </a:r>
            <a:r>
              <a:rPr lang="en-US" dirty="0">
                <a:latin typeface="Gill Sans MT" panose="020B0502020104020203" pitchFamily="34" charset="77"/>
              </a:rPr>
              <a:t> es </a:t>
            </a:r>
            <a:r>
              <a:rPr lang="en-US" dirty="0" err="1">
                <a:latin typeface="Gill Sans MT" panose="020B0502020104020203" pitchFamily="34" charset="77"/>
              </a:rPr>
              <a:t>ortonormal</a:t>
            </a:r>
            <a:r>
              <a:rPr lang="en-US" dirty="0">
                <a:latin typeface="Gill Sans MT" panose="020B0502020104020203" pitchFamily="34" charset="77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27455179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8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5FF0CFE0-6E68-0E4D-975F-0DA0CDF4F7F3}"/>
              </a:ext>
            </a:extLst>
          </p:cNvPr>
          <p:cNvSpPr txBox="1"/>
          <p:nvPr/>
        </p:nvSpPr>
        <p:spPr>
          <a:xfrm>
            <a:off x="1967237" y="753167"/>
            <a:ext cx="4645182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4000" dirty="0">
                <a:solidFill>
                  <a:schemeClr val="accent2"/>
                </a:solidFill>
                <a:latin typeface="Gill Sans MT" panose="020B0502020104020203" pitchFamily="34" charset="77"/>
              </a:rPr>
              <a:t>Interpretación de KL: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C508DFBA-7DD1-C945-8411-1774A6A5D9E3}"/>
              </a:ext>
            </a:extLst>
          </p:cNvPr>
          <p:cNvSpPr/>
          <p:nvPr/>
        </p:nvSpPr>
        <p:spPr>
          <a:xfrm>
            <a:off x="2006520" y="1803161"/>
            <a:ext cx="3110916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s-ES_tradnl" sz="3200" dirty="0">
                <a:latin typeface="Gill Sans MT" panose="020B0502020104020203" pitchFamily="34" charset="77"/>
              </a:rPr>
              <a:t>Covarianza de </a:t>
            </a:r>
            <a:r>
              <a:rPr lang="es-ES_tradnl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Y</a:t>
            </a:r>
            <a:r>
              <a:rPr lang="es-ES_tradnl" sz="3200" dirty="0">
                <a:latin typeface="Gill Sans MT" panose="020B0502020104020203" pitchFamily="34" charset="77"/>
              </a:rPr>
              <a:t>:</a:t>
            </a:r>
            <a:endParaRPr lang="en-US" sz="3200" dirty="0">
              <a:latin typeface="Gill Sans MT" panose="020B0502020104020203" pitchFamily="34" charset="77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C2C17F61-DA93-094C-84D0-4A420A450CD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21948" y="2730042"/>
            <a:ext cx="5740400" cy="93980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01A6ABDD-92D4-E74B-913D-B32CAFDA991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56211" y="4164496"/>
            <a:ext cx="2844800" cy="45720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CC5D191A-C926-BE46-9EA0-3CBBAA4ECED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56211" y="5096472"/>
            <a:ext cx="1600200" cy="393700"/>
          </a:xfrm>
          <a:prstGeom prst="rect">
            <a:avLst/>
          </a:prstGeom>
        </p:spPr>
      </p:pic>
      <p:grpSp>
        <p:nvGrpSpPr>
          <p:cNvPr id="22" name="Group 21">
            <a:extLst>
              <a:ext uri="{FF2B5EF4-FFF2-40B4-BE49-F238E27FC236}">
                <a16:creationId xmlns:a16="http://schemas.microsoft.com/office/drawing/2014/main" id="{5AF1532C-1FB1-1543-9A25-A5560C5E3F97}"/>
              </a:ext>
            </a:extLst>
          </p:cNvPr>
          <p:cNvGrpSpPr/>
          <p:nvPr/>
        </p:nvGrpSpPr>
        <p:grpSpPr>
          <a:xfrm>
            <a:off x="4594718" y="3856387"/>
            <a:ext cx="5657420" cy="1061829"/>
            <a:chOff x="3070718" y="3856386"/>
            <a:chExt cx="5657420" cy="1061829"/>
          </a:xfrm>
        </p:grpSpPr>
        <p:pic>
          <p:nvPicPr>
            <p:cNvPr id="18" name="Picture 17">
              <a:extLst>
                <a:ext uri="{FF2B5EF4-FFF2-40B4-BE49-F238E27FC236}">
                  <a16:creationId xmlns:a16="http://schemas.microsoft.com/office/drawing/2014/main" id="{7F6433AF-5CA5-5149-A499-D439ABC55638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4826554" y="4010437"/>
              <a:ext cx="1283804" cy="260011"/>
            </a:xfrm>
            <a:prstGeom prst="rect">
              <a:avLst/>
            </a:prstGeom>
          </p:spPr>
        </p:pic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94E6366B-6C1F-E04D-B5CC-FF6FA7116FF5}"/>
                </a:ext>
              </a:extLst>
            </p:cNvPr>
            <p:cNvSpPr/>
            <p:nvPr/>
          </p:nvSpPr>
          <p:spPr>
            <a:xfrm>
              <a:off x="3972306" y="3856386"/>
              <a:ext cx="3844322" cy="1061829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lang="es-ES_tradnl" dirty="0">
                  <a:latin typeface="Gill Sans MT" panose="020B0502020104020203" pitchFamily="34" charset="77"/>
                </a:rPr>
                <a:t>Como                        y la media de las</a:t>
              </a:r>
            </a:p>
            <a:p>
              <a:r>
                <a:rPr lang="es-ES_tradnl" dirty="0">
                  <a:latin typeface="Gill Sans MT" panose="020B0502020104020203" pitchFamily="34" charset="77"/>
                </a:rPr>
                <a:t>columnas de </a:t>
              </a:r>
              <a:r>
                <a:rPr lang="es-ES_tradnl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X</a:t>
              </a:r>
              <a:r>
                <a:rPr lang="es-ES_tradnl" baseline="-250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0</a:t>
              </a:r>
              <a:r>
                <a:rPr lang="es-ES_tradnl" dirty="0">
                  <a:latin typeface="Gill Sans MT" panose="020B0502020104020203" pitchFamily="34" charset="77"/>
                </a:rPr>
                <a:t> es cero, entonces</a:t>
              </a:r>
            </a:p>
            <a:p>
              <a:r>
                <a:rPr lang="es-ES_tradnl" dirty="0">
                  <a:latin typeface="Gill Sans MT" panose="020B0502020104020203" pitchFamily="34" charset="77"/>
                </a:rPr>
                <a:t> </a:t>
              </a:r>
              <a:endParaRPr lang="en-US" dirty="0">
                <a:latin typeface="Gill Sans MT" panose="020B0502020104020203" pitchFamily="34" charset="77"/>
              </a:endParaRPr>
            </a:p>
          </p:txBody>
        </p:sp>
        <p:pic>
          <p:nvPicPr>
            <p:cNvPr id="19" name="Picture 18">
              <a:extLst>
                <a:ext uri="{FF2B5EF4-FFF2-40B4-BE49-F238E27FC236}">
                  <a16:creationId xmlns:a16="http://schemas.microsoft.com/office/drawing/2014/main" id="{F0677130-A5F1-E14E-A829-D1559162B796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7609158" y="4313153"/>
              <a:ext cx="1118980" cy="327506"/>
            </a:xfrm>
            <a:prstGeom prst="rect">
              <a:avLst/>
            </a:prstGeom>
          </p:spPr>
        </p:pic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4A1321CA-1505-5047-915C-6E0A420C755D}"/>
                </a:ext>
              </a:extLst>
            </p:cNvPr>
            <p:cNvCxnSpPr/>
            <p:nvPr/>
          </p:nvCxnSpPr>
          <p:spPr>
            <a:xfrm flipV="1">
              <a:off x="3070718" y="4011949"/>
              <a:ext cx="497430" cy="768773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2"/>
            </a:lnRef>
            <a:fillRef idx="0">
              <a:schemeClr val="accent2"/>
            </a:fillRef>
            <a:effectRef idx="1">
              <a:schemeClr val="accent2"/>
            </a:effectRef>
            <a:fontRef idx="minor">
              <a:schemeClr val="tx1"/>
            </a:fontRef>
          </p:style>
        </p:cxnSp>
      </p:grpSp>
      <p:pic>
        <p:nvPicPr>
          <p:cNvPr id="23" name="Picture 22">
            <a:extLst>
              <a:ext uri="{FF2B5EF4-FFF2-40B4-BE49-F238E27FC236}">
                <a16:creationId xmlns:a16="http://schemas.microsoft.com/office/drawing/2014/main" id="{683BFC91-67A7-7641-BD54-5337B5B9B307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266150" y="5644872"/>
            <a:ext cx="5549900" cy="939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9914765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5FF0CFE0-6E68-0E4D-975F-0DA0CDF4F7F3}"/>
              </a:ext>
            </a:extLst>
          </p:cNvPr>
          <p:cNvSpPr txBox="1"/>
          <p:nvPr/>
        </p:nvSpPr>
        <p:spPr>
          <a:xfrm>
            <a:off x="1967237" y="753167"/>
            <a:ext cx="4645182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4000" dirty="0">
                <a:solidFill>
                  <a:schemeClr val="accent2"/>
                </a:solidFill>
                <a:latin typeface="Gill Sans MT" panose="020B0502020104020203" pitchFamily="34" charset="77"/>
              </a:rPr>
              <a:t>Interpretación de KL: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C508DFBA-7DD1-C945-8411-1774A6A5D9E3}"/>
              </a:ext>
            </a:extLst>
          </p:cNvPr>
          <p:cNvSpPr/>
          <p:nvPr/>
        </p:nvSpPr>
        <p:spPr>
          <a:xfrm>
            <a:off x="2006520" y="1803161"/>
            <a:ext cx="3110916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s-ES_tradnl" sz="3200" dirty="0">
                <a:latin typeface="Gill Sans MT" panose="020B0502020104020203" pitchFamily="34" charset="77"/>
              </a:rPr>
              <a:t>Covarianza de </a:t>
            </a:r>
            <a:r>
              <a:rPr lang="es-ES_tradnl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Y</a:t>
            </a:r>
            <a:r>
              <a:rPr lang="es-ES_tradnl" sz="3200" dirty="0">
                <a:latin typeface="Gill Sans MT" panose="020B0502020104020203" pitchFamily="34" charset="77"/>
              </a:rPr>
              <a:t>:</a:t>
            </a:r>
            <a:endParaRPr lang="en-US" sz="3200" dirty="0">
              <a:latin typeface="Gill Sans MT" panose="020B0502020104020203" pitchFamily="34" charset="77"/>
            </a:endParaRPr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683BFC91-67A7-7641-BD54-5337B5B9B30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66150" y="5644872"/>
            <a:ext cx="5549900" cy="939800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6C3DB595-BF63-C444-BD51-6BDEF38BDAE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73733" y="3498022"/>
            <a:ext cx="4356100" cy="93980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7368AA4F-B194-D74F-88F6-1FE65EA8B20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73733" y="4559741"/>
            <a:ext cx="4051300" cy="93980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ED97B538-AD87-BC46-B0FA-032DB81A0AF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973733" y="5714445"/>
            <a:ext cx="2108200" cy="4953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410912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path" presetSubtype="0" accel="50000" decel="5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1.38889E-6 3.33333E-6 L -0.00625 -0.4757 " pathEditMode="relative" rAng="0" ptsTypes="AA">
                                      <p:cBhvr>
                                        <p:cTn id="6" dur="2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313" y="-23796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5FF0CFE0-6E68-0E4D-975F-0DA0CDF4F7F3}"/>
              </a:ext>
            </a:extLst>
          </p:cNvPr>
          <p:cNvSpPr txBox="1"/>
          <p:nvPr/>
        </p:nvSpPr>
        <p:spPr>
          <a:xfrm>
            <a:off x="1967237" y="753167"/>
            <a:ext cx="4645182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4000" dirty="0">
                <a:solidFill>
                  <a:schemeClr val="accent2"/>
                </a:solidFill>
                <a:latin typeface="Gill Sans MT" panose="020B0502020104020203" pitchFamily="34" charset="77"/>
              </a:rPr>
              <a:t>Interpretación de KL: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C508DFBA-7DD1-C945-8411-1774A6A5D9E3}"/>
              </a:ext>
            </a:extLst>
          </p:cNvPr>
          <p:cNvSpPr/>
          <p:nvPr/>
        </p:nvSpPr>
        <p:spPr>
          <a:xfrm>
            <a:off x="2006520" y="1803161"/>
            <a:ext cx="3110916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s-ES_tradnl" sz="3200" dirty="0">
                <a:latin typeface="Gill Sans MT" panose="020B0502020104020203" pitchFamily="34" charset="77"/>
              </a:rPr>
              <a:t>Covarianza de </a:t>
            </a:r>
            <a:r>
              <a:rPr lang="es-ES_tradnl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Y</a:t>
            </a:r>
            <a:r>
              <a:rPr lang="es-ES_tradnl" sz="3200" dirty="0">
                <a:latin typeface="Gill Sans MT" panose="020B0502020104020203" pitchFamily="34" charset="77"/>
              </a:rPr>
              <a:t>:</a:t>
            </a:r>
            <a:endParaRPr lang="en-US" sz="3200" dirty="0">
              <a:latin typeface="Gill Sans MT" panose="020B0502020104020203" pitchFamily="34" charset="77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6E53B26B-8AB8-9D4B-8560-30D107AE997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68911" y="5710579"/>
            <a:ext cx="2819400" cy="558800"/>
          </a:xfrm>
          <a:prstGeom prst="rect">
            <a:avLst/>
          </a:prstGeom>
        </p:spPr>
      </p:pic>
      <p:grpSp>
        <p:nvGrpSpPr>
          <p:cNvPr id="11" name="Group 10">
            <a:extLst>
              <a:ext uri="{FF2B5EF4-FFF2-40B4-BE49-F238E27FC236}">
                <a16:creationId xmlns:a16="http://schemas.microsoft.com/office/drawing/2014/main" id="{206BB811-4E9E-0C4E-BEC7-D8C44E93B621}"/>
              </a:ext>
            </a:extLst>
          </p:cNvPr>
          <p:cNvGrpSpPr/>
          <p:nvPr/>
        </p:nvGrpSpPr>
        <p:grpSpPr>
          <a:xfrm>
            <a:off x="5355500" y="2495092"/>
            <a:ext cx="4639412" cy="469900"/>
            <a:chOff x="2900002" y="3814307"/>
            <a:chExt cx="4639412" cy="469900"/>
          </a:xfrm>
        </p:grpSpPr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6176FBE6-6427-6049-A29F-A080DAC324A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637861" y="3814307"/>
              <a:ext cx="2806700" cy="469900"/>
            </a:xfrm>
            <a:prstGeom prst="rect">
              <a:avLst/>
            </a:prstGeom>
          </p:spPr>
        </p:pic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5AB8BB92-40A0-6043-9297-31E6B6106456}"/>
                </a:ext>
              </a:extLst>
            </p:cNvPr>
            <p:cNvSpPr/>
            <p:nvPr/>
          </p:nvSpPr>
          <p:spPr>
            <a:xfrm>
              <a:off x="2900002" y="3864591"/>
              <a:ext cx="4639412" cy="369332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s-ES_tradnl" dirty="0">
                  <a:latin typeface="Gill Sans MT" panose="020B0502020104020203" pitchFamily="34" charset="77"/>
                </a:rPr>
                <a:t>como                                                entonces</a:t>
              </a:r>
              <a:endParaRPr lang="en-US" dirty="0">
                <a:latin typeface="Gill Sans MT" panose="020B0502020104020203" pitchFamily="34" charset="77"/>
              </a:endParaRPr>
            </a:p>
          </p:txBody>
        </p:sp>
      </p:grpSp>
      <p:pic>
        <p:nvPicPr>
          <p:cNvPr id="12" name="Picture 11">
            <a:extLst>
              <a:ext uri="{FF2B5EF4-FFF2-40B4-BE49-F238E27FC236}">
                <a16:creationId xmlns:a16="http://schemas.microsoft.com/office/drawing/2014/main" id="{F45D1DCF-7463-854F-BD71-8E172673C87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99184" y="3411773"/>
            <a:ext cx="3835400" cy="469900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5D5783F9-D7A1-4649-BC66-F83637DFBB1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37609" y="4235116"/>
            <a:ext cx="5918200" cy="469900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DC65D58E-88DA-F94B-851E-A3CE1E2AB04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781709" y="5678552"/>
            <a:ext cx="8674100" cy="558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291298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path" presetSubtype="0" accel="50000" decel="5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2.77778E-7 3.7037E-7 L -0.00087 -0.47523 " pathEditMode="relative" rAng="0" ptsTypes="AA">
                                      <p:cBhvr>
                                        <p:cTn id="6" dur="2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52" y="-23773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5FF0CFE0-6E68-0E4D-975F-0DA0CDF4F7F3}"/>
              </a:ext>
            </a:extLst>
          </p:cNvPr>
          <p:cNvSpPr txBox="1"/>
          <p:nvPr/>
        </p:nvSpPr>
        <p:spPr>
          <a:xfrm>
            <a:off x="1967237" y="753167"/>
            <a:ext cx="4645182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4000" dirty="0">
                <a:solidFill>
                  <a:schemeClr val="accent2"/>
                </a:solidFill>
                <a:latin typeface="Gill Sans MT" panose="020B0502020104020203" pitchFamily="34" charset="77"/>
              </a:rPr>
              <a:t>Interpretación de KL: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C508DFBA-7DD1-C945-8411-1774A6A5D9E3}"/>
              </a:ext>
            </a:extLst>
          </p:cNvPr>
          <p:cNvSpPr/>
          <p:nvPr/>
        </p:nvSpPr>
        <p:spPr>
          <a:xfrm>
            <a:off x="2006520" y="1803161"/>
            <a:ext cx="3110916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s-ES_tradnl" sz="3200" dirty="0">
                <a:latin typeface="Gill Sans MT" panose="020B0502020104020203" pitchFamily="34" charset="77"/>
              </a:rPr>
              <a:t>Covarianza de </a:t>
            </a:r>
            <a:r>
              <a:rPr lang="es-ES_tradnl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Y</a:t>
            </a:r>
            <a:r>
              <a:rPr lang="es-ES_tradnl" sz="3200" dirty="0">
                <a:latin typeface="Gill Sans MT" panose="020B0502020104020203" pitchFamily="34" charset="77"/>
              </a:rPr>
              <a:t>:</a:t>
            </a:r>
            <a:endParaRPr lang="en-US" sz="3200" dirty="0">
              <a:latin typeface="Gill Sans MT" panose="020B0502020104020203" pitchFamily="34" charset="77"/>
            </a:endParaRP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DC65D58E-88DA-F94B-851E-A3CE1E2AB04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81709" y="5678552"/>
            <a:ext cx="8674100" cy="558800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16E5A8D8-CAE0-6D4E-99AE-5A765389CE8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24993" y="3556551"/>
            <a:ext cx="8483600" cy="2209800"/>
          </a:xfrm>
          <a:prstGeom prst="rect">
            <a:avLst/>
          </a:prstGeom>
        </p:spPr>
      </p:pic>
      <p:grpSp>
        <p:nvGrpSpPr>
          <p:cNvPr id="7" name="Group 6">
            <a:extLst>
              <a:ext uri="{FF2B5EF4-FFF2-40B4-BE49-F238E27FC236}">
                <a16:creationId xmlns:a16="http://schemas.microsoft.com/office/drawing/2014/main" id="{F085EE2A-B831-1F41-ACCE-0CC80BB95CD2}"/>
              </a:ext>
            </a:extLst>
          </p:cNvPr>
          <p:cNvGrpSpPr/>
          <p:nvPr/>
        </p:nvGrpSpPr>
        <p:grpSpPr>
          <a:xfrm>
            <a:off x="3529162" y="3556552"/>
            <a:ext cx="6009090" cy="2080187"/>
            <a:chOff x="2005162" y="3556551"/>
            <a:chExt cx="6009090" cy="2080187"/>
          </a:xfrm>
        </p:grpSpPr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86EC3C6D-1C5D-2644-A6D1-1F043D937EC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039371" y="3657600"/>
              <a:ext cx="1188612" cy="429187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2"/>
            </a:lnRef>
            <a:fillRef idx="0">
              <a:schemeClr val="accent2"/>
            </a:fillRef>
            <a:effectRef idx="1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BDA9AC49-B008-F148-9FB5-D74D9E9E8F1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825640" y="3556551"/>
              <a:ext cx="1188612" cy="429187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2"/>
            </a:lnRef>
            <a:fillRef idx="0">
              <a:schemeClr val="accent2"/>
            </a:fillRef>
            <a:effectRef idx="1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0A72ABE3-9B37-AB43-A361-E29904521EB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005162" y="4188364"/>
              <a:ext cx="1188612" cy="429187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2"/>
            </a:lnRef>
            <a:fillRef idx="0">
              <a:schemeClr val="accent2"/>
            </a:fillRef>
            <a:effectRef idx="1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85350B4F-C246-F145-97B7-E66083F6786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825640" y="4188363"/>
              <a:ext cx="1188612" cy="429187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2"/>
            </a:lnRef>
            <a:fillRef idx="0">
              <a:schemeClr val="accent2"/>
            </a:fillRef>
            <a:effectRef idx="1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694428CB-4117-EB45-844F-4BC49F24129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005162" y="5207551"/>
              <a:ext cx="1188612" cy="429187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2"/>
            </a:lnRef>
            <a:fillRef idx="0">
              <a:schemeClr val="accent2"/>
            </a:fillRef>
            <a:effectRef idx="1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A990E664-0B86-C74E-95FD-D786BBF6667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039371" y="5204236"/>
              <a:ext cx="1188612" cy="429187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2"/>
            </a:lnRef>
            <a:fillRef idx="0">
              <a:schemeClr val="accent2"/>
            </a:fillRef>
            <a:effectRef idx="1">
              <a:schemeClr val="accent2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0742455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path" presetSubtype="0" accel="50000" decel="5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5.55556E-7 1.11022E-16 L -0.00243 -0.47454 " pathEditMode="relative" rAng="0" ptsTypes="AA">
                                      <p:cBhvr>
                                        <p:cTn id="6" dur="2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22" y="-23727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5FF0CFE0-6E68-0E4D-975F-0DA0CDF4F7F3}"/>
              </a:ext>
            </a:extLst>
          </p:cNvPr>
          <p:cNvSpPr txBox="1"/>
          <p:nvPr/>
        </p:nvSpPr>
        <p:spPr>
          <a:xfrm>
            <a:off x="1967237" y="753167"/>
            <a:ext cx="4645182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4000" dirty="0">
                <a:solidFill>
                  <a:schemeClr val="accent2"/>
                </a:solidFill>
                <a:latin typeface="Gill Sans MT" panose="020B0502020104020203" pitchFamily="34" charset="77"/>
              </a:rPr>
              <a:t>Interpretación de KL: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C508DFBA-7DD1-C945-8411-1774A6A5D9E3}"/>
              </a:ext>
            </a:extLst>
          </p:cNvPr>
          <p:cNvSpPr/>
          <p:nvPr/>
        </p:nvSpPr>
        <p:spPr>
          <a:xfrm>
            <a:off x="2006520" y="1803161"/>
            <a:ext cx="3110916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s-ES_tradnl" sz="3200" dirty="0">
                <a:latin typeface="Gill Sans MT" panose="020B0502020104020203" pitchFamily="34" charset="77"/>
              </a:rPr>
              <a:t>Covarianza de </a:t>
            </a:r>
            <a:r>
              <a:rPr lang="es-ES_tradnl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Y</a:t>
            </a:r>
            <a:r>
              <a:rPr lang="es-ES_tradnl" sz="3200" dirty="0">
                <a:latin typeface="Gill Sans MT" panose="020B0502020104020203" pitchFamily="34" charset="77"/>
              </a:rPr>
              <a:t>:</a:t>
            </a:r>
            <a:endParaRPr lang="en-US" sz="3200" dirty="0">
              <a:latin typeface="Gill Sans MT" panose="020B0502020104020203" pitchFamily="34" charset="77"/>
            </a:endParaRP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DC65D58E-88DA-F94B-851E-A3CE1E2AB04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61831" y="2418525"/>
            <a:ext cx="8674100" cy="558800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20C41811-B66A-7A4E-ABD3-3748DBE2C03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37693" y="3566495"/>
            <a:ext cx="8458200" cy="2209800"/>
          </a:xfrm>
          <a:prstGeom prst="rect">
            <a:avLst/>
          </a:prstGeom>
        </p:spPr>
      </p:pic>
      <p:grpSp>
        <p:nvGrpSpPr>
          <p:cNvPr id="10" name="Group 9">
            <a:extLst>
              <a:ext uri="{FF2B5EF4-FFF2-40B4-BE49-F238E27FC236}">
                <a16:creationId xmlns:a16="http://schemas.microsoft.com/office/drawing/2014/main" id="{0A83BA6E-030C-2044-85D5-F695A05C3D0A}"/>
              </a:ext>
            </a:extLst>
          </p:cNvPr>
          <p:cNvGrpSpPr/>
          <p:nvPr/>
        </p:nvGrpSpPr>
        <p:grpSpPr>
          <a:xfrm>
            <a:off x="3790122" y="3343420"/>
            <a:ext cx="6747297" cy="2533918"/>
            <a:chOff x="2266122" y="3343420"/>
            <a:chExt cx="6747297" cy="2533918"/>
          </a:xfrm>
        </p:grpSpPr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8543F0EA-8DDA-4940-A02F-4CD09B8E8223}"/>
                </a:ext>
              </a:extLst>
            </p:cNvPr>
            <p:cNvGrpSpPr/>
            <p:nvPr/>
          </p:nvGrpSpPr>
          <p:grpSpPr>
            <a:xfrm>
              <a:off x="2266122" y="3343420"/>
              <a:ext cx="1853939" cy="870771"/>
              <a:chOff x="2266122" y="3343420"/>
              <a:chExt cx="1853939" cy="870771"/>
            </a:xfrm>
          </p:grpSpPr>
          <p:sp>
            <p:nvSpPr>
              <p:cNvPr id="6" name="Oval 5">
                <a:extLst>
                  <a:ext uri="{FF2B5EF4-FFF2-40B4-BE49-F238E27FC236}">
                    <a16:creationId xmlns:a16="http://schemas.microsoft.com/office/drawing/2014/main" id="{3571784F-F30E-E247-983B-C6AD63222AF3}"/>
                  </a:ext>
                </a:extLst>
              </p:cNvPr>
              <p:cNvSpPr/>
              <p:nvPr/>
            </p:nvSpPr>
            <p:spPr>
              <a:xfrm>
                <a:off x="2266122" y="3448878"/>
                <a:ext cx="1272209" cy="765313"/>
              </a:xfrm>
              <a:prstGeom prst="ellipse">
                <a:avLst/>
              </a:prstGeom>
              <a:noFill/>
              <a:ln w="19050"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latin typeface="Gill Sans MT" panose="020B0502020104020203" pitchFamily="34" charset="77"/>
                </a:endParaRPr>
              </a:p>
            </p:txBody>
          </p:sp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59244CE3-A422-7247-9E85-16D2A6FEEDF7}"/>
                  </a:ext>
                </a:extLst>
              </p:cNvPr>
              <p:cNvSpPr txBox="1"/>
              <p:nvPr/>
            </p:nvSpPr>
            <p:spPr>
              <a:xfrm rot="20917555">
                <a:off x="3446479" y="3343420"/>
                <a:ext cx="673582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dirty="0">
                    <a:latin typeface="Gill Sans MT" panose="020B0502020104020203" pitchFamily="34" charset="77"/>
                  </a:rPr>
                  <a:t>= 1</a:t>
                </a:r>
              </a:p>
            </p:txBody>
          </p:sp>
        </p:grpSp>
        <p:grpSp>
          <p:nvGrpSpPr>
            <p:cNvPr id="22" name="Group 21">
              <a:extLst>
                <a:ext uri="{FF2B5EF4-FFF2-40B4-BE49-F238E27FC236}">
                  <a16:creationId xmlns:a16="http://schemas.microsoft.com/office/drawing/2014/main" id="{73949543-17EA-4C4A-9447-489552FE626A}"/>
                </a:ext>
              </a:extLst>
            </p:cNvPr>
            <p:cNvGrpSpPr/>
            <p:nvPr/>
          </p:nvGrpSpPr>
          <p:grpSpPr>
            <a:xfrm>
              <a:off x="4267197" y="3893381"/>
              <a:ext cx="1853939" cy="870771"/>
              <a:chOff x="2266122" y="3343420"/>
              <a:chExt cx="1853939" cy="870771"/>
            </a:xfrm>
          </p:grpSpPr>
          <p:sp>
            <p:nvSpPr>
              <p:cNvPr id="23" name="Oval 22">
                <a:extLst>
                  <a:ext uri="{FF2B5EF4-FFF2-40B4-BE49-F238E27FC236}">
                    <a16:creationId xmlns:a16="http://schemas.microsoft.com/office/drawing/2014/main" id="{6050B92E-D7D3-A343-B0B6-04E042DCCFD7}"/>
                  </a:ext>
                </a:extLst>
              </p:cNvPr>
              <p:cNvSpPr/>
              <p:nvPr/>
            </p:nvSpPr>
            <p:spPr>
              <a:xfrm>
                <a:off x="2266122" y="3448878"/>
                <a:ext cx="1272209" cy="765313"/>
              </a:xfrm>
              <a:prstGeom prst="ellipse">
                <a:avLst/>
              </a:prstGeom>
              <a:noFill/>
              <a:ln w="19050"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latin typeface="Gill Sans MT" panose="020B0502020104020203" pitchFamily="34" charset="77"/>
                </a:endParaRPr>
              </a:p>
            </p:txBody>
          </p:sp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90C48CBA-2AF2-A44F-A1F0-2DE2E9136E12}"/>
                  </a:ext>
                </a:extLst>
              </p:cNvPr>
              <p:cNvSpPr txBox="1"/>
              <p:nvPr/>
            </p:nvSpPr>
            <p:spPr>
              <a:xfrm rot="20917555">
                <a:off x="3446479" y="3343420"/>
                <a:ext cx="673582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dirty="0">
                    <a:latin typeface="Gill Sans MT" panose="020B0502020104020203" pitchFamily="34" charset="77"/>
                  </a:rPr>
                  <a:t>= 1</a:t>
                </a:r>
              </a:p>
            </p:txBody>
          </p:sp>
        </p:grpSp>
        <p:grpSp>
          <p:nvGrpSpPr>
            <p:cNvPr id="25" name="Group 24">
              <a:extLst>
                <a:ext uri="{FF2B5EF4-FFF2-40B4-BE49-F238E27FC236}">
                  <a16:creationId xmlns:a16="http://schemas.microsoft.com/office/drawing/2014/main" id="{49C8A299-2838-7543-B8CE-8756B3324F78}"/>
                </a:ext>
              </a:extLst>
            </p:cNvPr>
            <p:cNvGrpSpPr/>
            <p:nvPr/>
          </p:nvGrpSpPr>
          <p:grpSpPr>
            <a:xfrm>
              <a:off x="7159480" y="5006567"/>
              <a:ext cx="1853939" cy="870771"/>
              <a:chOff x="2266122" y="3343420"/>
              <a:chExt cx="1853939" cy="870771"/>
            </a:xfrm>
          </p:grpSpPr>
          <p:sp>
            <p:nvSpPr>
              <p:cNvPr id="26" name="Oval 25">
                <a:extLst>
                  <a:ext uri="{FF2B5EF4-FFF2-40B4-BE49-F238E27FC236}">
                    <a16:creationId xmlns:a16="http://schemas.microsoft.com/office/drawing/2014/main" id="{61684138-75F9-634F-BD18-11498645F88E}"/>
                  </a:ext>
                </a:extLst>
              </p:cNvPr>
              <p:cNvSpPr/>
              <p:nvPr/>
            </p:nvSpPr>
            <p:spPr>
              <a:xfrm>
                <a:off x="2266122" y="3448878"/>
                <a:ext cx="1272209" cy="765313"/>
              </a:xfrm>
              <a:prstGeom prst="ellipse">
                <a:avLst/>
              </a:prstGeom>
              <a:noFill/>
              <a:ln w="19050"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latin typeface="Gill Sans MT" panose="020B0502020104020203" pitchFamily="34" charset="77"/>
                </a:endParaRPr>
              </a:p>
            </p:txBody>
          </p:sp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71CD4977-A135-E046-964E-5996647D838C}"/>
                  </a:ext>
                </a:extLst>
              </p:cNvPr>
              <p:cNvSpPr txBox="1"/>
              <p:nvPr/>
            </p:nvSpPr>
            <p:spPr>
              <a:xfrm rot="20917555">
                <a:off x="3446479" y="3343420"/>
                <a:ext cx="673582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dirty="0">
                    <a:latin typeface="Gill Sans MT" panose="020B0502020104020203" pitchFamily="34" charset="77"/>
                  </a:rPr>
                  <a:t>= 1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3158608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5FF0CFE0-6E68-0E4D-975F-0DA0CDF4F7F3}"/>
              </a:ext>
            </a:extLst>
          </p:cNvPr>
          <p:cNvSpPr txBox="1"/>
          <p:nvPr/>
        </p:nvSpPr>
        <p:spPr>
          <a:xfrm>
            <a:off x="1967237" y="753167"/>
            <a:ext cx="4645182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4000" dirty="0">
                <a:solidFill>
                  <a:schemeClr val="accent2"/>
                </a:solidFill>
                <a:latin typeface="Gill Sans MT" panose="020B0502020104020203" pitchFamily="34" charset="77"/>
              </a:rPr>
              <a:t>Interpretación de KL: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C508DFBA-7DD1-C945-8411-1774A6A5D9E3}"/>
              </a:ext>
            </a:extLst>
          </p:cNvPr>
          <p:cNvSpPr/>
          <p:nvPr/>
        </p:nvSpPr>
        <p:spPr>
          <a:xfrm>
            <a:off x="2006520" y="1803161"/>
            <a:ext cx="3110916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s-ES_tradnl" sz="3200" dirty="0">
                <a:latin typeface="Gill Sans MT" panose="020B0502020104020203" pitchFamily="34" charset="77"/>
              </a:rPr>
              <a:t>Covarianza de </a:t>
            </a:r>
            <a:r>
              <a:rPr lang="es-ES_tradnl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Y</a:t>
            </a:r>
            <a:r>
              <a:rPr lang="es-ES_tradnl" sz="3200" dirty="0">
                <a:latin typeface="Gill Sans MT" panose="020B0502020104020203" pitchFamily="34" charset="77"/>
              </a:rPr>
              <a:t>:</a:t>
            </a:r>
            <a:endParaRPr lang="en-US" sz="3200" dirty="0">
              <a:latin typeface="Gill Sans MT" panose="020B0502020104020203" pitchFamily="34" charset="77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EC1F6FC-D70E-BC44-A5FB-304304785C5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90461" y="2946676"/>
            <a:ext cx="5334000" cy="2197100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81BC8755-11D8-4143-8986-D323DBA575C7}"/>
              </a:ext>
            </a:extLst>
          </p:cNvPr>
          <p:cNvSpPr/>
          <p:nvPr/>
        </p:nvSpPr>
        <p:spPr>
          <a:xfrm>
            <a:off x="2180171" y="6027291"/>
            <a:ext cx="4192045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s-ES_tradnl" dirty="0">
                <a:latin typeface="Gill Sans MT" panose="020B0502020104020203" pitchFamily="34" charset="77"/>
              </a:rPr>
              <a:t>Generalmente, se ordena de tal forma que:</a:t>
            </a:r>
            <a:endParaRPr lang="en-US" dirty="0">
              <a:latin typeface="Gill Sans MT" panose="020B0502020104020203" pitchFamily="34" charset="77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D060DBA9-7B6E-1B47-A1BB-1AD6D3E1D14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21535" y="6034013"/>
            <a:ext cx="2749473" cy="2952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107196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48F09A-B37B-8048-A66C-28F4386B0B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81200" y="2655740"/>
            <a:ext cx="8229600" cy="1143000"/>
          </a:xfrm>
        </p:spPr>
        <p:txBody>
          <a:bodyPr>
            <a:normAutofit/>
          </a:bodyPr>
          <a:lstStyle/>
          <a:p>
            <a:pPr algn="ctr"/>
            <a:r>
              <a:rPr lang="en-US" dirty="0" err="1">
                <a:solidFill>
                  <a:schemeClr val="accent2"/>
                </a:solidFill>
              </a:rPr>
              <a:t>Significado</a:t>
            </a:r>
            <a:r>
              <a:rPr lang="en-US" dirty="0">
                <a:solidFill>
                  <a:schemeClr val="accent2"/>
                </a:solidFill>
              </a:rPr>
              <a:t> de PCA</a:t>
            </a:r>
          </a:p>
        </p:txBody>
      </p:sp>
    </p:spTree>
    <p:extLst>
      <p:ext uri="{BB962C8B-B14F-4D97-AF65-F5344CB8AC3E}">
        <p14:creationId xmlns:p14="http://schemas.microsoft.com/office/powerpoint/2010/main" val="285068180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E3C18FA6-CA04-0B42-8E88-4BECF76E6B3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4000" y="1993627"/>
            <a:ext cx="9144000" cy="4461003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56FA7E49-A8E0-964B-81D6-D8BFD4443AF7}"/>
              </a:ext>
            </a:extLst>
          </p:cNvPr>
          <p:cNvSpPr txBox="1"/>
          <p:nvPr/>
        </p:nvSpPr>
        <p:spPr>
          <a:xfrm>
            <a:off x="1967236" y="753167"/>
            <a:ext cx="3275256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4000" dirty="0">
                <a:solidFill>
                  <a:schemeClr val="accent2"/>
                </a:solidFill>
                <a:latin typeface="Gill Sans MT" panose="020B0502020104020203" pitchFamily="34" charset="77"/>
              </a:rPr>
              <a:t>Ejemplo en 2D</a:t>
            </a:r>
          </a:p>
        </p:txBody>
      </p:sp>
    </p:spTree>
    <p:extLst>
      <p:ext uri="{BB962C8B-B14F-4D97-AF65-F5344CB8AC3E}">
        <p14:creationId xmlns:p14="http://schemas.microsoft.com/office/powerpoint/2010/main" val="336543839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>
            <a:extLst>
              <a:ext uri="{FF2B5EF4-FFF2-40B4-BE49-F238E27FC236}">
                <a16:creationId xmlns:a16="http://schemas.microsoft.com/office/drawing/2014/main" id="{BDEF03BE-466A-4340-B038-6E2CFAB0398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34231" y="337026"/>
            <a:ext cx="2702891" cy="2153341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56FA7E49-A8E0-964B-81D6-D8BFD4443AF7}"/>
              </a:ext>
            </a:extLst>
          </p:cNvPr>
          <p:cNvSpPr txBox="1"/>
          <p:nvPr/>
        </p:nvSpPr>
        <p:spPr>
          <a:xfrm>
            <a:off x="1967236" y="753167"/>
            <a:ext cx="3275256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4000" dirty="0">
                <a:solidFill>
                  <a:schemeClr val="accent2"/>
                </a:solidFill>
                <a:latin typeface="Gill Sans MT" panose="020B0502020104020203" pitchFamily="34" charset="77"/>
              </a:rPr>
              <a:t>Ejemplo en 5D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E4977755-55ED-0844-B8C2-8FDFEF0237F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92392" y="2656550"/>
            <a:ext cx="368300" cy="31750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5F23701E-9119-0E45-9ADD-F1CA81E7E1C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49686" y="2587922"/>
            <a:ext cx="456334" cy="386129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E7D137EA-24A9-7043-B9BC-CD665D86D34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856593" y="753167"/>
            <a:ext cx="419928" cy="497692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488452FD-0778-C448-8E71-ED46B1FFFE7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45086" y="3021497"/>
            <a:ext cx="3785838" cy="3499479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F4B7D34D-754B-8245-8AD4-6A2B3F0BF54B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100265" y="3021497"/>
            <a:ext cx="3700504" cy="3499479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8C5ED64F-2020-4749-B846-B47FBF0AF51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29716" y="218076"/>
            <a:ext cx="368300" cy="317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813465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0" presetClass="path" presetSubtype="0" accel="50000" decel="5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2.22222E-6 -0.01018 L 0.20746 -0.15926 " pathEditMode="relative" ptsTypes="AA">
                                      <p:cBhvr>
                                        <p:cTn id="6" dur="2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" presetID="6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8" dur="2000" fill="hold"/>
                                        <p:tgtEl>
                                          <p:spTgt spid="3"/>
                                        </p:tgtEl>
                                      </p:cBhvr>
                                      <p:by x="185000" y="18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2000"/>
                            </p:stCondLst>
                            <p:childTnLst>
                              <p:par>
                                <p:cTn id="10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>
            <a:extLst>
              <a:ext uri="{FF2B5EF4-FFF2-40B4-BE49-F238E27FC236}">
                <a16:creationId xmlns:a16="http://schemas.microsoft.com/office/drawing/2014/main" id="{BDEF03BE-466A-4340-B038-6E2CFAB0398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34231" y="337026"/>
            <a:ext cx="2702891" cy="2153341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56FA7E49-A8E0-964B-81D6-D8BFD4443AF7}"/>
              </a:ext>
            </a:extLst>
          </p:cNvPr>
          <p:cNvSpPr txBox="1"/>
          <p:nvPr/>
        </p:nvSpPr>
        <p:spPr>
          <a:xfrm>
            <a:off x="1967236" y="753167"/>
            <a:ext cx="3275256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4000" dirty="0">
                <a:solidFill>
                  <a:schemeClr val="accent2"/>
                </a:solidFill>
                <a:latin typeface="Gill Sans MT" panose="020B0502020104020203" pitchFamily="34" charset="77"/>
              </a:rPr>
              <a:t>Ejemplo en 5D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4B7D34D-754B-8245-8AD4-6A2B3F0BF54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00265" y="3021497"/>
            <a:ext cx="3700504" cy="3499479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E4977755-55ED-0844-B8C2-8FDFEF0237F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92392" y="2656550"/>
            <a:ext cx="368300" cy="31750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5F23701E-9119-0E45-9ADD-F1CA81E7E1C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49686" y="2587922"/>
            <a:ext cx="456334" cy="386129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E7D137EA-24A9-7043-B9BC-CD665D86D34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856593" y="753167"/>
            <a:ext cx="419928" cy="497692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488452FD-0778-C448-8E71-ED46B1FFFE78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245086" y="3021497"/>
            <a:ext cx="3785838" cy="3499479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73872F34-335A-F743-88EC-217B495B4BC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74887" y="124083"/>
            <a:ext cx="456334" cy="3861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37726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0" presetClass="path" presetSubtype="0" accel="50000" decel="5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3.88889E-6 -1.85185E-6 L -0.23958 -0.16666 " pathEditMode="relative" rAng="0" ptsTypes="AA">
                                      <p:cBhvr>
                                        <p:cTn id="6" dur="2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1979" y="-8333"/>
                                    </p:animMotion>
                                  </p:childTnLst>
                                </p:cTn>
                              </p:par>
                              <p:par>
                                <p:cTn id="7" presetID="6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8" dur="2000" fill="hold"/>
                                        <p:tgtEl>
                                          <p:spTgt spid="5"/>
                                        </p:tgtEl>
                                      </p:cBhvr>
                                      <p:by x="185000" y="18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2000"/>
                            </p:stCondLst>
                            <p:childTnLst>
                              <p:par>
                                <p:cTn id="10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48F09A-B37B-8048-A66C-28F4386B0B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81200" y="2687638"/>
            <a:ext cx="8229600" cy="1143000"/>
          </a:xfrm>
        </p:spPr>
        <p:txBody>
          <a:bodyPr>
            <a:normAutofit fontScale="90000"/>
          </a:bodyPr>
          <a:lstStyle/>
          <a:p>
            <a:pPr algn="ctr"/>
            <a:r>
              <a:rPr lang="en-US" dirty="0" err="1">
                <a:solidFill>
                  <a:schemeClr val="accent2"/>
                </a:solidFill>
              </a:rPr>
              <a:t>Significado</a:t>
            </a:r>
            <a:r>
              <a:rPr lang="en-US" dirty="0">
                <a:solidFill>
                  <a:schemeClr val="accent2"/>
                </a:solidFill>
              </a:rPr>
              <a:t> </a:t>
            </a:r>
            <a:br>
              <a:rPr lang="en-US" dirty="0">
                <a:solidFill>
                  <a:schemeClr val="accent2"/>
                </a:solidFill>
              </a:rPr>
            </a:br>
            <a:r>
              <a:rPr lang="en-US" dirty="0" err="1">
                <a:solidFill>
                  <a:schemeClr val="accent2"/>
                </a:solidFill>
              </a:rPr>
              <a:t>en</a:t>
            </a:r>
            <a:r>
              <a:rPr lang="en-US" dirty="0">
                <a:solidFill>
                  <a:schemeClr val="accent2"/>
                </a:solidFill>
              </a:rPr>
              <a:t> la </a:t>
            </a:r>
            <a:r>
              <a:rPr lang="en-US" dirty="0" err="1">
                <a:solidFill>
                  <a:schemeClr val="accent2"/>
                </a:solidFill>
              </a:rPr>
              <a:t>Transformación</a:t>
            </a:r>
            <a:r>
              <a:rPr lang="en-US" dirty="0">
                <a:solidFill>
                  <a:schemeClr val="accent2"/>
                </a:solidFill>
              </a:rPr>
              <a:t> de </a:t>
            </a:r>
            <a:r>
              <a:rPr lang="en-US" dirty="0" err="1">
                <a:solidFill>
                  <a:schemeClr val="accent2"/>
                </a:solidFill>
              </a:rPr>
              <a:t>Características</a:t>
            </a:r>
            <a:endParaRPr lang="en-US" dirty="0">
              <a:solidFill>
                <a:schemeClr val="accent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9993531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TextBox 48"/>
          <p:cNvSpPr txBox="1"/>
          <p:nvPr/>
        </p:nvSpPr>
        <p:spPr>
          <a:xfrm>
            <a:off x="3853170" y="960476"/>
            <a:ext cx="1221809" cy="276999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pPr algn="ctr"/>
            <a:r>
              <a:rPr lang="en-US" sz="1200" i="1" dirty="0">
                <a:latin typeface="Times"/>
                <a:cs typeface="Times"/>
              </a:rPr>
              <a:t>m</a:t>
            </a:r>
            <a:r>
              <a:rPr lang="en-US" sz="1200" dirty="0">
                <a:latin typeface="Gill Sans MT" panose="020B0502020104020203" pitchFamily="34" charset="77"/>
              </a:rPr>
              <a:t> </a:t>
            </a:r>
            <a:r>
              <a:rPr lang="en-US" sz="1200" dirty="0" err="1">
                <a:latin typeface="Gill Sans MT" panose="020B0502020104020203" pitchFamily="34" charset="77"/>
                <a:cs typeface="Arial"/>
              </a:rPr>
              <a:t>características</a:t>
            </a:r>
            <a:endParaRPr lang="en-US" sz="1200" dirty="0">
              <a:latin typeface="Gill Sans MT" panose="020B0502020104020203" pitchFamily="34" charset="77"/>
              <a:cs typeface="Arial"/>
            </a:endParaRPr>
          </a:p>
        </p:txBody>
      </p:sp>
      <p:sp>
        <p:nvSpPr>
          <p:cNvPr id="53" name="TextBox 52"/>
          <p:cNvSpPr txBox="1"/>
          <p:nvPr/>
        </p:nvSpPr>
        <p:spPr>
          <a:xfrm>
            <a:off x="9004007" y="972961"/>
            <a:ext cx="1226619" cy="276999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pPr algn="ctr"/>
            <a:r>
              <a:rPr lang="en-US" sz="1200" i="1" dirty="0">
                <a:latin typeface="Times"/>
                <a:cs typeface="Times"/>
              </a:rPr>
              <a:t>p</a:t>
            </a:r>
            <a:r>
              <a:rPr lang="en-US" sz="1200" dirty="0">
                <a:latin typeface="Gill Sans MT" panose="020B0502020104020203" pitchFamily="34" charset="77"/>
              </a:rPr>
              <a:t> </a:t>
            </a:r>
            <a:r>
              <a:rPr lang="en-US" sz="1200" dirty="0" err="1">
                <a:latin typeface="Gill Sans MT" panose="020B0502020104020203" pitchFamily="34" charset="77"/>
                <a:cs typeface="Arial"/>
              </a:rPr>
              <a:t>características</a:t>
            </a:r>
            <a:endParaRPr lang="en-US" sz="1200" dirty="0">
              <a:latin typeface="Gill Sans MT" panose="020B0502020104020203" pitchFamily="34" charset="77"/>
              <a:cs typeface="Arial"/>
            </a:endParaRPr>
          </a:p>
        </p:txBody>
      </p:sp>
      <p:cxnSp>
        <p:nvCxnSpPr>
          <p:cNvPr id="42" name="Straight Arrow Connector 41"/>
          <p:cNvCxnSpPr/>
          <p:nvPr/>
        </p:nvCxnSpPr>
        <p:spPr>
          <a:xfrm>
            <a:off x="2389020" y="1720342"/>
            <a:ext cx="0" cy="4367648"/>
          </a:xfrm>
          <a:prstGeom prst="straightConnector1">
            <a:avLst/>
          </a:prstGeom>
          <a:ln>
            <a:solidFill>
              <a:schemeClr val="tx1">
                <a:lumMod val="50000"/>
                <a:lumOff val="50000"/>
              </a:schemeClr>
            </a:solidFill>
            <a:headEnd type="arrow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131910" y="1423120"/>
          <a:ext cx="2656546" cy="4666240"/>
        </p:xfrm>
        <a:graphic>
          <a:graphicData uri="http://schemas.openxmlformats.org/drawingml/2006/table">
            <a:tbl>
              <a:tblPr firstRow="1" bandRow="1">
                <a:tableStyleId>{3C2FFA5D-87B4-456A-9821-1D502468CF0F}</a:tableStyleId>
              </a:tblPr>
              <a:tblGrid>
                <a:gridCol w="29776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9776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9776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9776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9776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97764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97764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297764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274434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233312">
                <a:tc>
                  <a:txBody>
                    <a:bodyPr/>
                    <a:lstStyle/>
                    <a:p>
                      <a:r>
                        <a:rPr lang="en-US" sz="700" i="1" dirty="0">
                          <a:latin typeface="Times New Roman"/>
                          <a:cs typeface="Times New Roman"/>
                        </a:rPr>
                        <a:t>x</a:t>
                      </a:r>
                      <a:r>
                        <a:rPr lang="en-US" sz="700" baseline="-25000" dirty="0">
                          <a:latin typeface="Times New Roman"/>
                          <a:cs typeface="Times New Roman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700" i="1" dirty="0">
                          <a:latin typeface="Times New Roman"/>
                          <a:cs typeface="Times New Roman"/>
                        </a:rPr>
                        <a:t>x</a:t>
                      </a:r>
                      <a:r>
                        <a:rPr lang="en-US" sz="700" baseline="-25000" dirty="0">
                          <a:latin typeface="Times New Roman"/>
                          <a:cs typeface="Times New Roman"/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700" i="1" dirty="0">
                          <a:latin typeface="Times New Roman"/>
                          <a:cs typeface="Times New Roman"/>
                        </a:rPr>
                        <a:t>x</a:t>
                      </a:r>
                      <a:r>
                        <a:rPr lang="en-US" sz="700" baseline="-25000" dirty="0">
                          <a:latin typeface="Times New Roman"/>
                          <a:cs typeface="Times New Roman"/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700" i="1" dirty="0">
                          <a:latin typeface="Times New Roman"/>
                          <a:cs typeface="Times New Roman"/>
                        </a:rPr>
                        <a:t>x</a:t>
                      </a:r>
                      <a:r>
                        <a:rPr lang="en-US" sz="700" i="0" baseline="-25000" dirty="0">
                          <a:latin typeface="Times New Roman"/>
                          <a:cs typeface="Times New Roman"/>
                        </a:rPr>
                        <a:t>4</a:t>
                      </a:r>
                      <a:endParaRPr lang="en-US" sz="700" baseline="-25000" dirty="0">
                        <a:latin typeface="Times New Roman"/>
                        <a:cs typeface="Times New Roman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700" i="1" dirty="0">
                          <a:latin typeface="Times New Roman"/>
                          <a:cs typeface="Times New Roman"/>
                        </a:rPr>
                        <a:t>x</a:t>
                      </a:r>
                      <a:r>
                        <a:rPr lang="en-US" sz="700" i="0" baseline="-25000" dirty="0">
                          <a:latin typeface="Times New Roman"/>
                          <a:cs typeface="Times New Roman"/>
                        </a:rPr>
                        <a:t>5</a:t>
                      </a:r>
                      <a:endParaRPr lang="en-US" sz="700" baseline="-25000" dirty="0">
                        <a:latin typeface="Times New Roman"/>
                        <a:cs typeface="Times New Roman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 i="1" dirty="0">
                          <a:latin typeface="Times New Roman"/>
                          <a:cs typeface="Times New Roman"/>
                        </a:rPr>
                        <a:t>x</a:t>
                      </a:r>
                      <a:r>
                        <a:rPr lang="en-US" sz="800" i="0" baseline="-25000" dirty="0">
                          <a:latin typeface="Times New Roman"/>
                          <a:cs typeface="Times New Roman"/>
                        </a:rPr>
                        <a:t>6</a:t>
                      </a:r>
                      <a:endParaRPr lang="en-US" sz="800" baseline="-25000" dirty="0">
                        <a:latin typeface="Times New Roman"/>
                        <a:cs typeface="Times New Roman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 i="1" dirty="0">
                          <a:latin typeface="Times New Roman"/>
                          <a:cs typeface="Times New Roman"/>
                        </a:rPr>
                        <a:t>x</a:t>
                      </a:r>
                      <a:r>
                        <a:rPr lang="en-US" sz="800" i="0" baseline="-25000" dirty="0">
                          <a:latin typeface="Times New Roman"/>
                          <a:cs typeface="Times New Roman"/>
                        </a:rPr>
                        <a:t>7</a:t>
                      </a:r>
                      <a:endParaRPr lang="en-US" sz="800" baseline="-25000" dirty="0">
                        <a:latin typeface="Times New Roman"/>
                        <a:cs typeface="Times New Roman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 i="1" dirty="0">
                          <a:latin typeface="Times New Roman"/>
                          <a:cs typeface="Times New Roman"/>
                        </a:rPr>
                        <a:t>x</a:t>
                      </a:r>
                      <a:r>
                        <a:rPr lang="en-US" sz="800" i="0" baseline="-25000" dirty="0">
                          <a:latin typeface="Times New Roman"/>
                          <a:cs typeface="Times New Roman"/>
                        </a:rPr>
                        <a:t>8</a:t>
                      </a:r>
                      <a:endParaRPr lang="en-US" sz="800" baseline="-25000" dirty="0">
                        <a:latin typeface="Times New Roman"/>
                        <a:cs typeface="Times New Roman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 i="1" dirty="0">
                          <a:latin typeface="Times New Roman"/>
                          <a:cs typeface="Times New Roman"/>
                        </a:rPr>
                        <a:t>x</a:t>
                      </a:r>
                      <a:r>
                        <a:rPr lang="en-US" sz="800" i="0" baseline="-25000" dirty="0">
                          <a:latin typeface="Times New Roman"/>
                          <a:cs typeface="Times New Roman"/>
                        </a:rPr>
                        <a:t>9</a:t>
                      </a:r>
                      <a:endParaRPr lang="en-US" sz="800" baseline="-25000" dirty="0">
                        <a:latin typeface="Times New Roman"/>
                        <a:cs typeface="Times New Roman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3312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33312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3312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33312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3312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3312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33312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33312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33312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33312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33312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33312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33312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33312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33312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233312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233312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233312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233312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</a:tbl>
          </a:graphicData>
        </a:graphic>
      </p:graphicFrame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9186050" y="1423120"/>
          <a:ext cx="893292" cy="4666240"/>
        </p:xfrm>
        <a:graphic>
          <a:graphicData uri="http://schemas.openxmlformats.org/drawingml/2006/table">
            <a:tbl>
              <a:tblPr firstRow="1" bandRow="1">
                <a:tableStyleId>{3C2FFA5D-87B4-456A-9821-1D502468CF0F}</a:tableStyleId>
              </a:tblPr>
              <a:tblGrid>
                <a:gridCol w="29776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9776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9776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33312">
                <a:tc>
                  <a:txBody>
                    <a:bodyPr/>
                    <a:lstStyle/>
                    <a:p>
                      <a:pPr marL="0" marR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700" i="1" dirty="0">
                          <a:latin typeface="Times New Roman"/>
                          <a:cs typeface="Times New Roman"/>
                        </a:rPr>
                        <a:t>z</a:t>
                      </a:r>
                      <a:r>
                        <a:rPr lang="en-US" sz="700" i="0" baseline="-25000" dirty="0">
                          <a:latin typeface="Times New Roman"/>
                          <a:cs typeface="Times New Roman"/>
                        </a:rPr>
                        <a:t>1</a:t>
                      </a:r>
                      <a:endParaRPr lang="en-US" sz="700" baseline="-25000" dirty="0">
                        <a:latin typeface="Times New Roman"/>
                        <a:cs typeface="Times New Roman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700" i="1" dirty="0">
                          <a:latin typeface="Times New Roman"/>
                          <a:cs typeface="Times New Roman"/>
                        </a:rPr>
                        <a:t>z</a:t>
                      </a:r>
                      <a:r>
                        <a:rPr lang="en-US" sz="700" i="0" baseline="-25000" dirty="0">
                          <a:latin typeface="Times New Roman"/>
                          <a:cs typeface="Times New Roman"/>
                        </a:rPr>
                        <a:t>2</a:t>
                      </a:r>
                      <a:endParaRPr lang="en-US" sz="700" baseline="-25000" dirty="0">
                        <a:latin typeface="Times New Roman"/>
                        <a:cs typeface="Times New Roman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700" i="1" dirty="0">
                          <a:latin typeface="Times New Roman"/>
                          <a:cs typeface="Times New Roman"/>
                        </a:rPr>
                        <a:t>z</a:t>
                      </a:r>
                      <a:r>
                        <a:rPr lang="en-US" sz="700" i="0" baseline="-25000" dirty="0">
                          <a:latin typeface="Times New Roman"/>
                          <a:cs typeface="Times New Roman"/>
                        </a:rPr>
                        <a:t>3</a:t>
                      </a:r>
                      <a:endParaRPr lang="en-US" sz="700" baseline="-25000" dirty="0">
                        <a:latin typeface="Times New Roman"/>
                        <a:cs typeface="Times New Roman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3312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33312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3312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33312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3312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3312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33312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33312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33312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33312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33312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33312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33312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33312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33312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233312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233312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233312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233312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</a:tbl>
          </a:graphicData>
        </a:graphic>
      </p:graphicFrame>
      <p:sp>
        <p:nvSpPr>
          <p:cNvPr id="16" name="Oval 15"/>
          <p:cNvSpPr/>
          <p:nvPr/>
        </p:nvSpPr>
        <p:spPr>
          <a:xfrm>
            <a:off x="3554966" y="6090466"/>
            <a:ext cx="45719" cy="45719"/>
          </a:xfrm>
          <a:prstGeom prst="ellipse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7" name="Oval 16"/>
          <p:cNvSpPr/>
          <p:nvPr/>
        </p:nvSpPr>
        <p:spPr>
          <a:xfrm>
            <a:off x="4153406" y="6087991"/>
            <a:ext cx="45719" cy="45719"/>
          </a:xfrm>
          <a:prstGeom prst="ellipse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8" name="Oval 17"/>
          <p:cNvSpPr/>
          <p:nvPr/>
        </p:nvSpPr>
        <p:spPr>
          <a:xfrm>
            <a:off x="5046977" y="6091711"/>
            <a:ext cx="45719" cy="45719"/>
          </a:xfrm>
          <a:prstGeom prst="ellipse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9" name="Oval 18"/>
          <p:cNvSpPr/>
          <p:nvPr/>
        </p:nvSpPr>
        <p:spPr>
          <a:xfrm>
            <a:off x="9903611" y="6089236"/>
            <a:ext cx="45719" cy="45719"/>
          </a:xfrm>
          <a:prstGeom prst="ellipse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20" name="Oval 19"/>
          <p:cNvSpPr/>
          <p:nvPr/>
        </p:nvSpPr>
        <p:spPr>
          <a:xfrm>
            <a:off x="9609971" y="6092956"/>
            <a:ext cx="45719" cy="45719"/>
          </a:xfrm>
          <a:prstGeom prst="ellipse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21" name="Oval 20"/>
          <p:cNvSpPr/>
          <p:nvPr/>
        </p:nvSpPr>
        <p:spPr>
          <a:xfrm>
            <a:off x="9316331" y="6090481"/>
            <a:ext cx="45719" cy="45719"/>
          </a:xfrm>
          <a:prstGeom prst="ellipse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cxnSp>
        <p:nvCxnSpPr>
          <p:cNvPr id="23" name="Elbow Connector 22"/>
          <p:cNvCxnSpPr>
            <a:stCxn id="18" idx="4"/>
            <a:endCxn id="19" idx="4"/>
          </p:cNvCxnSpPr>
          <p:nvPr/>
        </p:nvCxnSpPr>
        <p:spPr>
          <a:xfrm rot="5400000" flipH="1" flipV="1">
            <a:off x="7496916" y="3707875"/>
            <a:ext cx="2475" cy="4856634"/>
          </a:xfrm>
          <a:prstGeom prst="bentConnector3">
            <a:avLst>
              <a:gd name="adj1" fmla="val -4692283"/>
            </a:avLst>
          </a:prstGeom>
          <a:ln w="9525" cmpd="sng">
            <a:solidFill>
              <a:schemeClr val="bg1">
                <a:lumMod val="50000"/>
              </a:schemeClr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Elbow Connector 26"/>
          <p:cNvCxnSpPr>
            <a:stCxn id="17" idx="4"/>
            <a:endCxn id="20" idx="4"/>
          </p:cNvCxnSpPr>
          <p:nvPr/>
        </p:nvCxnSpPr>
        <p:spPr>
          <a:xfrm rot="16200000" flipH="1">
            <a:off x="6902066" y="3407909"/>
            <a:ext cx="4965" cy="5456565"/>
          </a:xfrm>
          <a:prstGeom prst="bentConnector3">
            <a:avLst>
              <a:gd name="adj1" fmla="val 4494763"/>
            </a:avLst>
          </a:prstGeom>
          <a:ln w="9525" cmpd="sng">
            <a:solidFill>
              <a:schemeClr val="bg1">
                <a:lumMod val="50000"/>
              </a:schemeClr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TextBox 39"/>
          <p:cNvSpPr txBox="1"/>
          <p:nvPr/>
        </p:nvSpPr>
        <p:spPr>
          <a:xfrm>
            <a:off x="1941308" y="3503658"/>
            <a:ext cx="894925" cy="276999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pPr algn="ctr"/>
            <a:r>
              <a:rPr lang="en-US" sz="1200" i="1" dirty="0">
                <a:latin typeface="Times"/>
                <a:cs typeface="Times"/>
              </a:rPr>
              <a:t>N</a:t>
            </a:r>
            <a:r>
              <a:rPr lang="en-US" sz="1200" dirty="0">
                <a:latin typeface="Gill Sans MT" panose="020B0502020104020203" pitchFamily="34" charset="77"/>
              </a:rPr>
              <a:t> </a:t>
            </a:r>
            <a:r>
              <a:rPr lang="en-US" sz="1200" dirty="0" err="1">
                <a:latin typeface="Gill Sans MT" panose="020B0502020104020203" pitchFamily="34" charset="77"/>
                <a:cs typeface="Arial"/>
              </a:rPr>
              <a:t>muestras</a:t>
            </a:r>
            <a:endParaRPr lang="en-US" sz="1200" dirty="0">
              <a:latin typeface="Gill Sans MT" panose="020B0502020104020203" pitchFamily="34" charset="77"/>
              <a:cs typeface="Arial"/>
            </a:endParaRPr>
          </a:p>
        </p:txBody>
      </p:sp>
      <p:pic>
        <p:nvPicPr>
          <p:cNvPr id="44" name="Picture 4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61109" y="5773342"/>
            <a:ext cx="368300" cy="317500"/>
          </a:xfrm>
          <a:prstGeom prst="rect">
            <a:avLst/>
          </a:prstGeom>
        </p:spPr>
      </p:pic>
      <p:cxnSp>
        <p:nvCxnSpPr>
          <p:cNvPr id="46" name="Straight Arrow Connector 45"/>
          <p:cNvCxnSpPr/>
          <p:nvPr/>
        </p:nvCxnSpPr>
        <p:spPr>
          <a:xfrm>
            <a:off x="8609052" y="1737642"/>
            <a:ext cx="0" cy="4367648"/>
          </a:xfrm>
          <a:prstGeom prst="straightConnector1">
            <a:avLst/>
          </a:prstGeom>
          <a:ln>
            <a:solidFill>
              <a:schemeClr val="tx1">
                <a:lumMod val="50000"/>
                <a:lumOff val="50000"/>
              </a:schemeClr>
            </a:solidFill>
            <a:headEnd type="arrow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Box 46"/>
          <p:cNvSpPr txBox="1"/>
          <p:nvPr/>
        </p:nvSpPr>
        <p:spPr>
          <a:xfrm>
            <a:off x="8161340" y="3520958"/>
            <a:ext cx="894925" cy="276999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pPr algn="ctr"/>
            <a:r>
              <a:rPr lang="en-US" sz="1200" i="1" dirty="0">
                <a:latin typeface="Times"/>
                <a:cs typeface="Times"/>
              </a:rPr>
              <a:t>N</a:t>
            </a:r>
            <a:r>
              <a:rPr lang="en-US" sz="1200" dirty="0">
                <a:latin typeface="Gill Sans MT" panose="020B0502020104020203" pitchFamily="34" charset="77"/>
              </a:rPr>
              <a:t> </a:t>
            </a:r>
            <a:r>
              <a:rPr lang="en-US" sz="1200" dirty="0" err="1">
                <a:latin typeface="Gill Sans MT" panose="020B0502020104020203" pitchFamily="34" charset="77"/>
                <a:cs typeface="Arial"/>
              </a:rPr>
              <a:t>muestras</a:t>
            </a:r>
            <a:endParaRPr lang="en-US" sz="1200" dirty="0">
              <a:latin typeface="Gill Sans MT" panose="020B0502020104020203" pitchFamily="34" charset="77"/>
              <a:cs typeface="Arial"/>
            </a:endParaRPr>
          </a:p>
        </p:txBody>
      </p:sp>
      <p:cxnSp>
        <p:nvCxnSpPr>
          <p:cNvPr id="48" name="Straight Arrow Connector 47"/>
          <p:cNvCxnSpPr>
            <a:cxnSpLocks/>
          </p:cNvCxnSpPr>
          <p:nvPr/>
        </p:nvCxnSpPr>
        <p:spPr>
          <a:xfrm flipH="1">
            <a:off x="3116494" y="1257101"/>
            <a:ext cx="2671962" cy="0"/>
          </a:xfrm>
          <a:prstGeom prst="straightConnector1">
            <a:avLst/>
          </a:prstGeom>
          <a:ln>
            <a:solidFill>
              <a:schemeClr val="tx1">
                <a:lumMod val="50000"/>
                <a:lumOff val="50000"/>
              </a:schemeClr>
            </a:solidFill>
            <a:headEnd type="arrow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51"/>
          <p:cNvCxnSpPr/>
          <p:nvPr/>
        </p:nvCxnSpPr>
        <p:spPr>
          <a:xfrm flipH="1">
            <a:off x="9141114" y="1274742"/>
            <a:ext cx="951465" cy="0"/>
          </a:xfrm>
          <a:prstGeom prst="straightConnector1">
            <a:avLst/>
          </a:prstGeom>
          <a:ln>
            <a:solidFill>
              <a:schemeClr val="tx1">
                <a:lumMod val="50000"/>
                <a:lumOff val="50000"/>
              </a:schemeClr>
            </a:solidFill>
            <a:headEnd type="arrow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Elbow Connector 59"/>
          <p:cNvCxnSpPr>
            <a:stCxn id="16" idx="4"/>
            <a:endCxn id="21" idx="4"/>
          </p:cNvCxnSpPr>
          <p:nvPr/>
        </p:nvCxnSpPr>
        <p:spPr>
          <a:xfrm rot="16200000" flipH="1">
            <a:off x="6458501" y="3255509"/>
            <a:ext cx="15" cy="5761365"/>
          </a:xfrm>
          <a:prstGeom prst="bentConnector3">
            <a:avLst>
              <a:gd name="adj1" fmla="val 2147483647"/>
            </a:avLst>
          </a:prstGeom>
          <a:ln w="9525" cmpd="sng">
            <a:solidFill>
              <a:schemeClr val="bg1">
                <a:lumMod val="50000"/>
              </a:schemeClr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TextBox 68"/>
          <p:cNvSpPr txBox="1"/>
          <p:nvPr/>
        </p:nvSpPr>
        <p:spPr>
          <a:xfrm>
            <a:off x="3650684" y="720247"/>
            <a:ext cx="7016664" cy="307777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sz="1400" dirty="0" err="1">
                <a:latin typeface="Gill Sans MT" panose="020B0502020104020203" pitchFamily="34" charset="77"/>
                <a:cs typeface="Arial"/>
              </a:rPr>
              <a:t>Características</a:t>
            </a:r>
            <a:r>
              <a:rPr lang="en-US" sz="1400" dirty="0">
                <a:latin typeface="Gill Sans MT" panose="020B0502020104020203" pitchFamily="34" charset="77"/>
                <a:cs typeface="Arial"/>
              </a:rPr>
              <a:t> </a:t>
            </a:r>
            <a:r>
              <a:rPr lang="en-US" sz="1400" dirty="0" err="1">
                <a:latin typeface="Gill Sans MT" panose="020B0502020104020203" pitchFamily="34" charset="77"/>
                <a:cs typeface="Arial"/>
              </a:rPr>
              <a:t>extraídas</a:t>
            </a:r>
            <a:r>
              <a:rPr lang="en-US" sz="1400" dirty="0">
                <a:latin typeface="Gill Sans MT" panose="020B0502020104020203" pitchFamily="34" charset="77"/>
                <a:cs typeface="Arial"/>
              </a:rPr>
              <a:t>                                                            </a:t>
            </a:r>
            <a:r>
              <a:rPr lang="en-US" sz="1400" dirty="0" err="1">
                <a:latin typeface="Gill Sans MT" panose="020B0502020104020203" pitchFamily="34" charset="77"/>
                <a:cs typeface="Arial"/>
              </a:rPr>
              <a:t>Características</a:t>
            </a:r>
            <a:r>
              <a:rPr lang="en-US" sz="1400" dirty="0">
                <a:latin typeface="Gill Sans MT" panose="020B0502020104020203" pitchFamily="34" charset="77"/>
                <a:cs typeface="Arial"/>
              </a:rPr>
              <a:t> </a:t>
            </a:r>
            <a:r>
              <a:rPr lang="en-US" sz="1400" dirty="0" err="1">
                <a:latin typeface="Gill Sans MT" panose="020B0502020104020203" pitchFamily="34" charset="77"/>
                <a:cs typeface="Arial"/>
              </a:rPr>
              <a:t>seleccionadas</a:t>
            </a:r>
            <a:endParaRPr lang="en-US" sz="1400" dirty="0">
              <a:latin typeface="Gill Sans MT" panose="020B0502020104020203" pitchFamily="34" charset="77"/>
              <a:cs typeface="Arial"/>
            </a:endParaRP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45742" y="5765263"/>
            <a:ext cx="279400" cy="317500"/>
          </a:xfrm>
          <a:prstGeom prst="rect">
            <a:avLst/>
          </a:prstGeom>
        </p:spPr>
      </p:pic>
      <p:graphicFrame>
        <p:nvGraphicFramePr>
          <p:cNvPr id="28" name="Table 27"/>
          <p:cNvGraphicFramePr>
            <a:graphicFrameLocks noGrp="1"/>
          </p:cNvGraphicFramePr>
          <p:nvPr/>
        </p:nvGraphicFramePr>
        <p:xfrm>
          <a:off x="7066589" y="1432852"/>
          <a:ext cx="297764" cy="4666240"/>
        </p:xfrm>
        <a:graphic>
          <a:graphicData uri="http://schemas.openxmlformats.org/drawingml/2006/table">
            <a:tbl>
              <a:tblPr firstRow="1" bandRow="1">
                <a:tableStyleId>{3C2FFA5D-87B4-456A-9821-1D502468CF0F}</a:tableStyleId>
              </a:tblPr>
              <a:tblGrid>
                <a:gridCol w="29776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33312">
                <a:tc>
                  <a:txBody>
                    <a:bodyPr/>
                    <a:lstStyle/>
                    <a:p>
                      <a:pPr marL="0" marR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700" i="1" dirty="0">
                          <a:latin typeface="Times New Roman"/>
                          <a:cs typeface="Times New Roman"/>
                        </a:rPr>
                        <a:t>d</a:t>
                      </a:r>
                      <a:endParaRPr lang="en-US" sz="700" baseline="-25000" dirty="0">
                        <a:latin typeface="Times New Roman"/>
                        <a:cs typeface="Times New Roman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3312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rgbClr val="D7E4B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33312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rgbClr val="D7E4B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3312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rgbClr val="D7E4B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33312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rgbClr val="D7E4B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3312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rgbClr val="D7E4B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3312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rgbClr val="D7E4B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33312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rgbClr val="D7E4B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33312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rgbClr val="D7E4B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33312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33312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33312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33312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33312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33312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33312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233312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233312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233312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233312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</a:tbl>
          </a:graphicData>
        </a:graphic>
      </p:graphicFrame>
      <p:sp>
        <p:nvSpPr>
          <p:cNvPr id="29" name="TextBox 28"/>
          <p:cNvSpPr txBox="1"/>
          <p:nvPr/>
        </p:nvSpPr>
        <p:spPr>
          <a:xfrm>
            <a:off x="6977333" y="1089220"/>
            <a:ext cx="527709" cy="276999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pPr algn="ctr"/>
            <a:r>
              <a:rPr lang="en-US" sz="1200" dirty="0">
                <a:latin typeface="Gill Sans MT" panose="020B0502020104020203" pitchFamily="34" charset="77"/>
                <a:cs typeface="Arial"/>
              </a:rPr>
              <a:t>labels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3BB3834-8457-A643-A0C3-C7000D74F681}"/>
              </a:ext>
            </a:extLst>
          </p:cNvPr>
          <p:cNvSpPr txBox="1"/>
          <p:nvPr/>
        </p:nvSpPr>
        <p:spPr>
          <a:xfrm>
            <a:off x="4829697" y="200296"/>
            <a:ext cx="376167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2"/>
                </a:solidFill>
                <a:latin typeface="Gill Sans MT" panose="020B0502020104020203" pitchFamily="34" charset="77"/>
              </a:rPr>
              <a:t>SELECCION DE CARACTERISTICAS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32124A77-59E7-5691-9442-E72527F576B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81545" y="5773342"/>
            <a:ext cx="266700" cy="304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2230366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2" name="Straight Arrow Connector 41"/>
          <p:cNvCxnSpPr/>
          <p:nvPr/>
        </p:nvCxnSpPr>
        <p:spPr>
          <a:xfrm>
            <a:off x="2319445" y="1720342"/>
            <a:ext cx="0" cy="4367648"/>
          </a:xfrm>
          <a:prstGeom prst="straightConnector1">
            <a:avLst/>
          </a:prstGeom>
          <a:ln>
            <a:solidFill>
              <a:schemeClr val="tx1">
                <a:lumMod val="50000"/>
                <a:lumOff val="50000"/>
              </a:schemeClr>
            </a:solidFill>
            <a:headEnd type="arrow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943069" y="1423120"/>
          <a:ext cx="2656546" cy="4666240"/>
        </p:xfrm>
        <a:graphic>
          <a:graphicData uri="http://schemas.openxmlformats.org/drawingml/2006/table">
            <a:tbl>
              <a:tblPr firstRow="1" bandRow="1">
                <a:tableStyleId>{3C2FFA5D-87B4-456A-9821-1D502468CF0F}</a:tableStyleId>
              </a:tblPr>
              <a:tblGrid>
                <a:gridCol w="29776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9776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9776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9776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9776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97764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97764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297764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274434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233312">
                <a:tc>
                  <a:txBody>
                    <a:bodyPr/>
                    <a:lstStyle/>
                    <a:p>
                      <a:r>
                        <a:rPr lang="en-US" sz="700" i="1" dirty="0">
                          <a:latin typeface="Times New Roman"/>
                          <a:cs typeface="Times New Roman"/>
                        </a:rPr>
                        <a:t>x</a:t>
                      </a:r>
                      <a:r>
                        <a:rPr lang="en-US" sz="700" baseline="-25000" dirty="0">
                          <a:latin typeface="Times New Roman"/>
                          <a:cs typeface="Times New Roman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700" i="1" dirty="0">
                          <a:latin typeface="Times New Roman"/>
                          <a:cs typeface="Times New Roman"/>
                        </a:rPr>
                        <a:t>x</a:t>
                      </a:r>
                      <a:r>
                        <a:rPr lang="en-US" sz="700" baseline="-25000" dirty="0">
                          <a:latin typeface="Times New Roman"/>
                          <a:cs typeface="Times New Roman"/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700" i="1" dirty="0">
                          <a:latin typeface="Times New Roman"/>
                          <a:cs typeface="Times New Roman"/>
                        </a:rPr>
                        <a:t>x</a:t>
                      </a:r>
                      <a:r>
                        <a:rPr lang="en-US" sz="700" baseline="-25000" dirty="0">
                          <a:latin typeface="Times New Roman"/>
                          <a:cs typeface="Times New Roman"/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700" i="1" dirty="0">
                          <a:latin typeface="Times New Roman"/>
                          <a:cs typeface="Times New Roman"/>
                        </a:rPr>
                        <a:t>x</a:t>
                      </a:r>
                      <a:r>
                        <a:rPr lang="en-US" sz="700" i="0" baseline="-25000" dirty="0">
                          <a:latin typeface="Times New Roman"/>
                          <a:cs typeface="Times New Roman"/>
                        </a:rPr>
                        <a:t>4</a:t>
                      </a:r>
                      <a:endParaRPr lang="en-US" sz="700" baseline="-25000" dirty="0">
                        <a:latin typeface="Times New Roman"/>
                        <a:cs typeface="Times New Roman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700" i="1" dirty="0">
                          <a:latin typeface="Times New Roman"/>
                          <a:cs typeface="Times New Roman"/>
                        </a:rPr>
                        <a:t>x</a:t>
                      </a:r>
                      <a:r>
                        <a:rPr lang="en-US" sz="700" i="0" baseline="-25000" dirty="0">
                          <a:latin typeface="Times New Roman"/>
                          <a:cs typeface="Times New Roman"/>
                        </a:rPr>
                        <a:t>5</a:t>
                      </a:r>
                      <a:endParaRPr lang="en-US" sz="700" baseline="-25000" dirty="0">
                        <a:latin typeface="Times New Roman"/>
                        <a:cs typeface="Times New Roman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 i="1" dirty="0">
                          <a:latin typeface="Times New Roman"/>
                          <a:cs typeface="Times New Roman"/>
                        </a:rPr>
                        <a:t>x</a:t>
                      </a:r>
                      <a:r>
                        <a:rPr lang="en-US" sz="800" i="0" baseline="-25000" dirty="0">
                          <a:latin typeface="Times New Roman"/>
                          <a:cs typeface="Times New Roman"/>
                        </a:rPr>
                        <a:t>6</a:t>
                      </a:r>
                      <a:endParaRPr lang="en-US" sz="800" baseline="-25000" dirty="0">
                        <a:latin typeface="Times New Roman"/>
                        <a:cs typeface="Times New Roman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 i="1" dirty="0">
                          <a:latin typeface="Times New Roman"/>
                          <a:cs typeface="Times New Roman"/>
                        </a:rPr>
                        <a:t>x</a:t>
                      </a:r>
                      <a:r>
                        <a:rPr lang="en-US" sz="800" i="0" baseline="-25000" dirty="0">
                          <a:latin typeface="Times New Roman"/>
                          <a:cs typeface="Times New Roman"/>
                        </a:rPr>
                        <a:t>7</a:t>
                      </a:r>
                      <a:endParaRPr lang="en-US" sz="800" baseline="-25000" dirty="0">
                        <a:latin typeface="Times New Roman"/>
                        <a:cs typeface="Times New Roman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 i="1" dirty="0">
                          <a:latin typeface="Times New Roman"/>
                          <a:cs typeface="Times New Roman"/>
                        </a:rPr>
                        <a:t>x</a:t>
                      </a:r>
                      <a:r>
                        <a:rPr lang="en-US" sz="800" i="0" baseline="-25000" dirty="0">
                          <a:latin typeface="Times New Roman"/>
                          <a:cs typeface="Times New Roman"/>
                        </a:rPr>
                        <a:t>8</a:t>
                      </a:r>
                      <a:endParaRPr lang="en-US" sz="800" baseline="-25000" dirty="0">
                        <a:latin typeface="Times New Roman"/>
                        <a:cs typeface="Times New Roman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 i="1" dirty="0">
                          <a:latin typeface="Times New Roman"/>
                          <a:cs typeface="Times New Roman"/>
                        </a:rPr>
                        <a:t>x</a:t>
                      </a:r>
                      <a:r>
                        <a:rPr lang="en-US" sz="800" i="0" baseline="-25000" dirty="0">
                          <a:latin typeface="Times New Roman"/>
                          <a:cs typeface="Times New Roman"/>
                        </a:rPr>
                        <a:t>9</a:t>
                      </a:r>
                      <a:endParaRPr lang="en-US" sz="800" baseline="-25000" dirty="0">
                        <a:latin typeface="Times New Roman"/>
                        <a:cs typeface="Times New Roman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3312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33312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3312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33312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3312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3312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33312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33312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33312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33312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33312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33312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33312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33312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33312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233312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233312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233312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233312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</a:tbl>
          </a:graphicData>
        </a:graphic>
      </p:graphicFrame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9186050" y="1423120"/>
          <a:ext cx="893292" cy="4666240"/>
        </p:xfrm>
        <a:graphic>
          <a:graphicData uri="http://schemas.openxmlformats.org/drawingml/2006/table">
            <a:tbl>
              <a:tblPr firstRow="1" bandRow="1">
                <a:tableStyleId>{3C2FFA5D-87B4-456A-9821-1D502468CF0F}</a:tableStyleId>
              </a:tblPr>
              <a:tblGrid>
                <a:gridCol w="29776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9776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9776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33312">
                <a:tc>
                  <a:txBody>
                    <a:bodyPr/>
                    <a:lstStyle/>
                    <a:p>
                      <a:pPr marL="0" marR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700" i="1" dirty="0">
                          <a:latin typeface="Times New Roman"/>
                          <a:cs typeface="Times New Roman"/>
                        </a:rPr>
                        <a:t>y</a:t>
                      </a:r>
                      <a:r>
                        <a:rPr lang="en-US" sz="700" i="0" baseline="-25000" dirty="0">
                          <a:latin typeface="Times New Roman"/>
                          <a:cs typeface="Times New Roman"/>
                        </a:rPr>
                        <a:t>1</a:t>
                      </a:r>
                      <a:endParaRPr lang="en-US" sz="700" baseline="-25000" dirty="0">
                        <a:latin typeface="Times New Roman"/>
                        <a:cs typeface="Times New Roman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700" i="1" dirty="0">
                          <a:latin typeface="Times New Roman"/>
                          <a:cs typeface="Times New Roman"/>
                        </a:rPr>
                        <a:t>y</a:t>
                      </a:r>
                      <a:r>
                        <a:rPr lang="en-US" sz="700" i="0" baseline="-25000" dirty="0">
                          <a:latin typeface="Times New Roman"/>
                          <a:cs typeface="Times New Roman"/>
                        </a:rPr>
                        <a:t>2</a:t>
                      </a:r>
                      <a:endParaRPr lang="en-US" sz="700" baseline="-25000" dirty="0">
                        <a:latin typeface="Times New Roman"/>
                        <a:cs typeface="Times New Roman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700" i="1" dirty="0">
                          <a:latin typeface="Times New Roman"/>
                          <a:cs typeface="Times New Roman"/>
                        </a:rPr>
                        <a:t>y</a:t>
                      </a:r>
                      <a:r>
                        <a:rPr lang="en-US" sz="700" i="0" baseline="-25000" dirty="0">
                          <a:latin typeface="Times New Roman"/>
                          <a:cs typeface="Times New Roman"/>
                        </a:rPr>
                        <a:t>3</a:t>
                      </a:r>
                      <a:endParaRPr lang="en-US" sz="700" baseline="-25000" dirty="0">
                        <a:latin typeface="Times New Roman"/>
                        <a:cs typeface="Times New Roman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3312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33312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3312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33312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3312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3312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33312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33312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33312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33312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33312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33312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33312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33312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33312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233312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233312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233312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233312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</a:tbl>
          </a:graphicData>
        </a:graphic>
      </p:graphicFrame>
      <p:sp>
        <p:nvSpPr>
          <p:cNvPr id="16" name="Oval 15"/>
          <p:cNvSpPr/>
          <p:nvPr/>
        </p:nvSpPr>
        <p:spPr>
          <a:xfrm>
            <a:off x="3366125" y="6090466"/>
            <a:ext cx="45719" cy="45719"/>
          </a:xfrm>
          <a:prstGeom prst="ellipse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7" name="Oval 16"/>
          <p:cNvSpPr/>
          <p:nvPr/>
        </p:nvSpPr>
        <p:spPr>
          <a:xfrm>
            <a:off x="3964565" y="6087991"/>
            <a:ext cx="45719" cy="45719"/>
          </a:xfrm>
          <a:prstGeom prst="ellipse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8" name="Oval 17"/>
          <p:cNvSpPr/>
          <p:nvPr/>
        </p:nvSpPr>
        <p:spPr>
          <a:xfrm>
            <a:off x="4858136" y="6091711"/>
            <a:ext cx="45719" cy="45719"/>
          </a:xfrm>
          <a:prstGeom prst="ellipse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9" name="Oval 18"/>
          <p:cNvSpPr/>
          <p:nvPr/>
        </p:nvSpPr>
        <p:spPr>
          <a:xfrm>
            <a:off x="9903611" y="6089236"/>
            <a:ext cx="45719" cy="45719"/>
          </a:xfrm>
          <a:prstGeom prst="ellipse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20" name="Oval 19"/>
          <p:cNvSpPr/>
          <p:nvPr/>
        </p:nvSpPr>
        <p:spPr>
          <a:xfrm>
            <a:off x="9609971" y="6092956"/>
            <a:ext cx="45719" cy="45719"/>
          </a:xfrm>
          <a:prstGeom prst="ellipse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21" name="Oval 20"/>
          <p:cNvSpPr/>
          <p:nvPr/>
        </p:nvSpPr>
        <p:spPr>
          <a:xfrm>
            <a:off x="9316331" y="6090481"/>
            <a:ext cx="45719" cy="45719"/>
          </a:xfrm>
          <a:prstGeom prst="ellipse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cxnSp>
        <p:nvCxnSpPr>
          <p:cNvPr id="23" name="Elbow Connector 22"/>
          <p:cNvCxnSpPr>
            <a:stCxn id="18" idx="4"/>
            <a:endCxn id="19" idx="4"/>
          </p:cNvCxnSpPr>
          <p:nvPr/>
        </p:nvCxnSpPr>
        <p:spPr>
          <a:xfrm rot="5400000" flipH="1" flipV="1">
            <a:off x="7402495" y="3613455"/>
            <a:ext cx="2475" cy="5045475"/>
          </a:xfrm>
          <a:prstGeom prst="bentConnector3">
            <a:avLst>
              <a:gd name="adj1" fmla="val -9236364"/>
            </a:avLst>
          </a:prstGeom>
          <a:ln w="9525" cmpd="sng">
            <a:solidFill>
              <a:schemeClr val="bg1">
                <a:lumMod val="50000"/>
              </a:schemeClr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Elbow Connector 26"/>
          <p:cNvCxnSpPr>
            <a:stCxn id="17" idx="4"/>
            <a:endCxn id="20" idx="4"/>
          </p:cNvCxnSpPr>
          <p:nvPr/>
        </p:nvCxnSpPr>
        <p:spPr>
          <a:xfrm rot="16200000" flipH="1">
            <a:off x="6807646" y="3313488"/>
            <a:ext cx="4965" cy="5645406"/>
          </a:xfrm>
          <a:prstGeom prst="bentConnector3">
            <a:avLst>
              <a:gd name="adj1" fmla="val 4704230"/>
            </a:avLst>
          </a:prstGeom>
          <a:ln w="9525" cmpd="sng">
            <a:solidFill>
              <a:schemeClr val="bg1">
                <a:lumMod val="50000"/>
              </a:schemeClr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TextBox 39"/>
          <p:cNvSpPr txBox="1"/>
          <p:nvPr/>
        </p:nvSpPr>
        <p:spPr>
          <a:xfrm>
            <a:off x="1881672" y="3503658"/>
            <a:ext cx="894925" cy="276999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pPr algn="ctr"/>
            <a:r>
              <a:rPr lang="en-US" sz="1200" i="1" dirty="0">
                <a:latin typeface="Times"/>
                <a:cs typeface="Times"/>
              </a:rPr>
              <a:t>N</a:t>
            </a:r>
            <a:r>
              <a:rPr lang="en-US" sz="1200" dirty="0">
                <a:latin typeface="Gill Sans MT" panose="020B0502020104020203" pitchFamily="34" charset="77"/>
              </a:rPr>
              <a:t> </a:t>
            </a:r>
            <a:r>
              <a:rPr lang="en-US" sz="1200" dirty="0" err="1">
                <a:latin typeface="Gill Sans MT" panose="020B0502020104020203" pitchFamily="34" charset="77"/>
                <a:cs typeface="Arial"/>
              </a:rPr>
              <a:t>muestras</a:t>
            </a:r>
            <a:endParaRPr lang="en-US" sz="1200" dirty="0">
              <a:latin typeface="Gill Sans MT" panose="020B0502020104020203" pitchFamily="34" charset="77"/>
              <a:cs typeface="Arial"/>
            </a:endParaRPr>
          </a:p>
        </p:txBody>
      </p:sp>
      <p:pic>
        <p:nvPicPr>
          <p:cNvPr id="44" name="Picture 4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72268" y="5773342"/>
            <a:ext cx="368300" cy="317500"/>
          </a:xfrm>
          <a:prstGeom prst="rect">
            <a:avLst/>
          </a:prstGeom>
        </p:spPr>
      </p:pic>
      <p:cxnSp>
        <p:nvCxnSpPr>
          <p:cNvPr id="46" name="Straight Arrow Connector 45"/>
          <p:cNvCxnSpPr/>
          <p:nvPr/>
        </p:nvCxnSpPr>
        <p:spPr>
          <a:xfrm>
            <a:off x="8609052" y="1737642"/>
            <a:ext cx="0" cy="4367648"/>
          </a:xfrm>
          <a:prstGeom prst="straightConnector1">
            <a:avLst/>
          </a:prstGeom>
          <a:ln>
            <a:solidFill>
              <a:schemeClr val="tx1">
                <a:lumMod val="50000"/>
                <a:lumOff val="50000"/>
              </a:schemeClr>
            </a:solidFill>
            <a:headEnd type="arrow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Box 46"/>
          <p:cNvSpPr txBox="1"/>
          <p:nvPr/>
        </p:nvSpPr>
        <p:spPr>
          <a:xfrm>
            <a:off x="8161340" y="3520958"/>
            <a:ext cx="894925" cy="276999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pPr algn="ctr"/>
            <a:r>
              <a:rPr lang="en-US" sz="1200" i="1" dirty="0">
                <a:latin typeface="Times"/>
                <a:cs typeface="Times"/>
              </a:rPr>
              <a:t>N</a:t>
            </a:r>
            <a:r>
              <a:rPr lang="en-US" sz="1200" dirty="0">
                <a:latin typeface="Gill Sans MT" panose="020B0502020104020203" pitchFamily="34" charset="77"/>
              </a:rPr>
              <a:t> </a:t>
            </a:r>
            <a:r>
              <a:rPr lang="en-US" sz="1200" dirty="0" err="1">
                <a:latin typeface="Gill Sans MT" panose="020B0502020104020203" pitchFamily="34" charset="77"/>
                <a:cs typeface="Arial"/>
              </a:rPr>
              <a:t>muestras</a:t>
            </a:r>
            <a:endParaRPr lang="en-US" sz="1200" dirty="0">
              <a:latin typeface="Gill Sans MT" panose="020B0502020104020203" pitchFamily="34" charset="77"/>
              <a:cs typeface="Arial"/>
            </a:endParaRPr>
          </a:p>
        </p:txBody>
      </p:sp>
      <p:cxnSp>
        <p:nvCxnSpPr>
          <p:cNvPr id="48" name="Straight Arrow Connector 47"/>
          <p:cNvCxnSpPr>
            <a:cxnSpLocks/>
          </p:cNvCxnSpPr>
          <p:nvPr/>
        </p:nvCxnSpPr>
        <p:spPr>
          <a:xfrm flipH="1">
            <a:off x="2927653" y="1257101"/>
            <a:ext cx="2671962" cy="0"/>
          </a:xfrm>
          <a:prstGeom prst="straightConnector1">
            <a:avLst/>
          </a:prstGeom>
          <a:ln>
            <a:solidFill>
              <a:schemeClr val="tx1">
                <a:lumMod val="50000"/>
                <a:lumOff val="50000"/>
              </a:schemeClr>
            </a:solidFill>
            <a:headEnd type="arrow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51"/>
          <p:cNvCxnSpPr/>
          <p:nvPr/>
        </p:nvCxnSpPr>
        <p:spPr>
          <a:xfrm flipH="1">
            <a:off x="9141114" y="1274742"/>
            <a:ext cx="951465" cy="0"/>
          </a:xfrm>
          <a:prstGeom prst="straightConnector1">
            <a:avLst/>
          </a:prstGeom>
          <a:ln>
            <a:solidFill>
              <a:schemeClr val="tx1">
                <a:lumMod val="50000"/>
                <a:lumOff val="50000"/>
              </a:schemeClr>
            </a:solidFill>
            <a:headEnd type="arrow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Elbow Connector 59"/>
          <p:cNvCxnSpPr>
            <a:stCxn id="16" idx="4"/>
            <a:endCxn id="21" idx="4"/>
          </p:cNvCxnSpPr>
          <p:nvPr/>
        </p:nvCxnSpPr>
        <p:spPr>
          <a:xfrm rot="16200000" flipH="1">
            <a:off x="6364081" y="3161088"/>
            <a:ext cx="15" cy="5950206"/>
          </a:xfrm>
          <a:prstGeom prst="bentConnector3">
            <a:avLst>
              <a:gd name="adj1" fmla="val 1524100000"/>
            </a:avLst>
          </a:prstGeom>
          <a:ln w="9525" cmpd="sng">
            <a:solidFill>
              <a:schemeClr val="bg1">
                <a:lumMod val="50000"/>
              </a:schemeClr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2" name="Picture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45742" y="5765263"/>
            <a:ext cx="279400" cy="317500"/>
          </a:xfrm>
          <a:prstGeom prst="rect">
            <a:avLst/>
          </a:prstGeom>
        </p:spPr>
      </p:pic>
      <p:graphicFrame>
        <p:nvGraphicFramePr>
          <p:cNvPr id="28" name="Table 27"/>
          <p:cNvGraphicFramePr>
            <a:graphicFrameLocks noGrp="1"/>
          </p:cNvGraphicFramePr>
          <p:nvPr/>
        </p:nvGraphicFramePr>
        <p:xfrm>
          <a:off x="6877748" y="1432852"/>
          <a:ext cx="297764" cy="4666240"/>
        </p:xfrm>
        <a:graphic>
          <a:graphicData uri="http://schemas.openxmlformats.org/drawingml/2006/table">
            <a:tbl>
              <a:tblPr firstRow="1" bandRow="1">
                <a:tableStyleId>{3C2FFA5D-87B4-456A-9821-1D502468CF0F}</a:tableStyleId>
              </a:tblPr>
              <a:tblGrid>
                <a:gridCol w="29776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33312">
                <a:tc>
                  <a:txBody>
                    <a:bodyPr/>
                    <a:lstStyle/>
                    <a:p>
                      <a:pPr marL="0" marR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700" i="1" dirty="0">
                          <a:latin typeface="Times New Roman"/>
                          <a:cs typeface="Times New Roman"/>
                        </a:rPr>
                        <a:t>d</a:t>
                      </a:r>
                      <a:endParaRPr lang="en-US" sz="700" baseline="-25000" dirty="0">
                        <a:latin typeface="Times New Roman"/>
                        <a:cs typeface="Times New Roman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3312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rgbClr val="D7E4B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33312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rgbClr val="D7E4B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3312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rgbClr val="D7E4B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33312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rgbClr val="D7E4B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3312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rgbClr val="D7E4B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3312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rgbClr val="D7E4B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33312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rgbClr val="D7E4B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33312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rgbClr val="D7E4B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33312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33312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33312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33312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33312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33312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33312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233312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233312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233312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233312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</a:tbl>
          </a:graphicData>
        </a:graphic>
      </p:graphicFrame>
      <p:sp>
        <p:nvSpPr>
          <p:cNvPr id="29" name="TextBox 28"/>
          <p:cNvSpPr txBox="1"/>
          <p:nvPr/>
        </p:nvSpPr>
        <p:spPr>
          <a:xfrm>
            <a:off x="6788492" y="1089220"/>
            <a:ext cx="527709" cy="276999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pPr algn="ctr"/>
            <a:r>
              <a:rPr lang="en-US" sz="1200" dirty="0">
                <a:latin typeface="Gill Sans MT" panose="020B0502020104020203" pitchFamily="34" charset="77"/>
                <a:cs typeface="Arial"/>
              </a:rPr>
              <a:t>labels</a:t>
            </a: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70961" y="5706009"/>
            <a:ext cx="279400" cy="33020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33BB3834-8457-A643-A0C3-C7000D74F681}"/>
              </a:ext>
            </a:extLst>
          </p:cNvPr>
          <p:cNvSpPr txBox="1"/>
          <p:nvPr/>
        </p:nvSpPr>
        <p:spPr>
          <a:xfrm>
            <a:off x="6234426" y="200296"/>
            <a:ext cx="62485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2"/>
                </a:solidFill>
                <a:latin typeface="Gill Sans MT" panose="020B0502020104020203" pitchFamily="34" charset="77"/>
              </a:rPr>
              <a:t>PCA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00A24A6F-C1A4-1A48-B262-251B7DC140A7}"/>
              </a:ext>
            </a:extLst>
          </p:cNvPr>
          <p:cNvSpPr/>
          <p:nvPr/>
        </p:nvSpPr>
        <p:spPr>
          <a:xfrm>
            <a:off x="6480786" y="1057007"/>
            <a:ext cx="951423" cy="5097588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C6144CDD-3903-0941-A796-180BDFF13962}"/>
              </a:ext>
            </a:extLst>
          </p:cNvPr>
          <p:cNvSpPr/>
          <p:nvPr/>
        </p:nvSpPr>
        <p:spPr>
          <a:xfrm>
            <a:off x="3205410" y="6106395"/>
            <a:ext cx="7066743" cy="386128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00DD43B4-FB78-DC4E-AB04-C84797AF56C0}"/>
              </a:ext>
            </a:extLst>
          </p:cNvPr>
          <p:cNvSpPr/>
          <p:nvPr/>
        </p:nvSpPr>
        <p:spPr>
          <a:xfrm>
            <a:off x="8746436" y="5715457"/>
            <a:ext cx="378707" cy="386128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F5B8C2F5-4AF8-8746-BF62-6F49348F51E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59065" y="5704073"/>
            <a:ext cx="456334" cy="386129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E102B659-8D77-AC4C-9C0F-2AFDB688E61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01225" y="3422211"/>
            <a:ext cx="1473200" cy="419100"/>
          </a:xfrm>
          <a:prstGeom prst="rect">
            <a:avLst/>
          </a:prstGeom>
        </p:spPr>
      </p:pic>
      <p:sp>
        <p:nvSpPr>
          <p:cNvPr id="10" name="Left Brace 9">
            <a:extLst>
              <a:ext uri="{FF2B5EF4-FFF2-40B4-BE49-F238E27FC236}">
                <a16:creationId xmlns:a16="http://schemas.microsoft.com/office/drawing/2014/main" id="{A870070D-AD74-574A-B1B1-1FE9D68049E4}"/>
              </a:ext>
            </a:extLst>
          </p:cNvPr>
          <p:cNvSpPr/>
          <p:nvPr/>
        </p:nvSpPr>
        <p:spPr>
          <a:xfrm rot="16200000">
            <a:off x="9537176" y="5897381"/>
            <a:ext cx="181534" cy="929271"/>
          </a:xfrm>
          <a:prstGeom prst="lef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DC963F0-7BA7-9F41-870E-C2A524C0F91C}"/>
              </a:ext>
            </a:extLst>
          </p:cNvPr>
          <p:cNvSpPr txBox="1"/>
          <p:nvPr/>
        </p:nvSpPr>
        <p:spPr>
          <a:xfrm>
            <a:off x="8334078" y="6484782"/>
            <a:ext cx="268214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</a:rPr>
              <a:t>p </a:t>
            </a:r>
            <a:r>
              <a:rPr lang="en-US" dirty="0" err="1">
                <a:latin typeface="Gill Sans MT" panose="020B0502020104020203" pitchFamily="34" charset="77"/>
              </a:rPr>
              <a:t>componentes</a:t>
            </a:r>
            <a:r>
              <a:rPr lang="en-US" dirty="0">
                <a:latin typeface="Gill Sans MT" panose="020B0502020104020203" pitchFamily="34" charset="77"/>
              </a:rPr>
              <a:t> </a:t>
            </a:r>
            <a:r>
              <a:rPr lang="en-US" dirty="0" err="1">
                <a:latin typeface="Gill Sans MT" panose="020B0502020104020203" pitchFamily="34" charset="77"/>
              </a:rPr>
              <a:t>principales</a:t>
            </a:r>
            <a:endParaRPr lang="en-US" dirty="0">
              <a:latin typeface="Gill Sans MT" panose="020B0502020104020203" pitchFamily="34" charset="77"/>
            </a:endParaRP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F0E800E8-FA7C-2B4C-A728-B391D6C3C41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702561" y="1648799"/>
            <a:ext cx="329801" cy="4474800"/>
          </a:xfrm>
          <a:prstGeom prst="rect">
            <a:avLst/>
          </a:prstGeom>
        </p:spPr>
      </p:pic>
      <p:pic>
        <p:nvPicPr>
          <p:cNvPr id="38" name="Picture 37">
            <a:extLst>
              <a:ext uri="{FF2B5EF4-FFF2-40B4-BE49-F238E27FC236}">
                <a16:creationId xmlns:a16="http://schemas.microsoft.com/office/drawing/2014/main" id="{D53AC4C7-F0E5-894A-883E-C3936EB890A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811954" y="1651509"/>
            <a:ext cx="329801" cy="4474800"/>
          </a:xfrm>
          <a:prstGeom prst="rect">
            <a:avLst/>
          </a:prstGeom>
        </p:spPr>
      </p:pic>
      <p:pic>
        <p:nvPicPr>
          <p:cNvPr id="39" name="Picture 38">
            <a:extLst>
              <a:ext uri="{FF2B5EF4-FFF2-40B4-BE49-F238E27FC236}">
                <a16:creationId xmlns:a16="http://schemas.microsoft.com/office/drawing/2014/main" id="{3DBAB7AA-7F1A-3349-B0B7-72CEAFE5453F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220642" y="1651412"/>
            <a:ext cx="329801" cy="4474800"/>
          </a:xfrm>
          <a:prstGeom prst="rect">
            <a:avLst/>
          </a:prstGeom>
        </p:spPr>
      </p:pic>
      <p:pic>
        <p:nvPicPr>
          <p:cNvPr id="25" name="Picture 24">
            <a:extLst>
              <a:ext uri="{FF2B5EF4-FFF2-40B4-BE49-F238E27FC236}">
                <a16:creationId xmlns:a16="http://schemas.microsoft.com/office/drawing/2014/main" id="{2AE6D60B-98FC-E040-B7C6-D9DB2C38494A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636725" y="3492499"/>
            <a:ext cx="1003300" cy="39370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71BA8D94-F507-00CD-DC8F-761B784170C9}"/>
              </a:ext>
            </a:extLst>
          </p:cNvPr>
          <p:cNvSpPr txBox="1"/>
          <p:nvPr/>
        </p:nvSpPr>
        <p:spPr>
          <a:xfrm>
            <a:off x="3327131" y="720247"/>
            <a:ext cx="7314823" cy="307777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sz="1400" dirty="0" err="1">
                <a:latin typeface="Gill Sans MT" panose="020B0502020104020203" pitchFamily="34" charset="77"/>
                <a:cs typeface="Arial"/>
              </a:rPr>
              <a:t>Características</a:t>
            </a:r>
            <a:r>
              <a:rPr lang="en-US" sz="1400" dirty="0">
                <a:latin typeface="Gill Sans MT" panose="020B0502020104020203" pitchFamily="34" charset="77"/>
                <a:cs typeface="Arial"/>
              </a:rPr>
              <a:t> </a:t>
            </a:r>
            <a:r>
              <a:rPr lang="en-US" sz="1400" dirty="0" err="1">
                <a:latin typeface="Gill Sans MT" panose="020B0502020104020203" pitchFamily="34" charset="77"/>
                <a:cs typeface="Arial"/>
              </a:rPr>
              <a:t>extraídas</a:t>
            </a:r>
            <a:r>
              <a:rPr lang="en-US" sz="1400" dirty="0">
                <a:latin typeface="Gill Sans MT" panose="020B0502020104020203" pitchFamily="34" charset="77"/>
                <a:cs typeface="Arial"/>
              </a:rPr>
              <a:t>                                                                  </a:t>
            </a:r>
            <a:r>
              <a:rPr lang="en-US" sz="1400" dirty="0" err="1">
                <a:latin typeface="Gill Sans MT" panose="020B0502020104020203" pitchFamily="34" charset="77"/>
                <a:cs typeface="Arial"/>
              </a:rPr>
              <a:t>Características</a:t>
            </a:r>
            <a:r>
              <a:rPr lang="en-US" sz="1400" dirty="0">
                <a:latin typeface="Gill Sans MT" panose="020B0502020104020203" pitchFamily="34" charset="77"/>
                <a:cs typeface="Arial"/>
              </a:rPr>
              <a:t> </a:t>
            </a:r>
            <a:r>
              <a:rPr lang="en-US" sz="1400" dirty="0" err="1">
                <a:latin typeface="Gill Sans MT" panose="020B0502020104020203" pitchFamily="34" charset="77"/>
                <a:cs typeface="Arial"/>
              </a:rPr>
              <a:t>seleccionadas</a:t>
            </a:r>
            <a:endParaRPr lang="en-US" sz="1400" dirty="0">
              <a:latin typeface="Gill Sans MT" panose="020B0502020104020203" pitchFamily="34" charset="77"/>
              <a:cs typeface="Arial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DD78A53-81B9-0DED-27D5-E4A048541821}"/>
              </a:ext>
            </a:extLst>
          </p:cNvPr>
          <p:cNvSpPr txBox="1"/>
          <p:nvPr/>
        </p:nvSpPr>
        <p:spPr>
          <a:xfrm>
            <a:off x="3656221" y="960476"/>
            <a:ext cx="1221809" cy="276999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pPr algn="ctr"/>
            <a:r>
              <a:rPr lang="en-US" sz="1200" i="1" dirty="0">
                <a:latin typeface="Times"/>
                <a:cs typeface="Times"/>
              </a:rPr>
              <a:t>m</a:t>
            </a:r>
            <a:r>
              <a:rPr lang="en-US" sz="1200" dirty="0">
                <a:latin typeface="Gill Sans MT" panose="020B0502020104020203" pitchFamily="34" charset="77"/>
              </a:rPr>
              <a:t> </a:t>
            </a:r>
            <a:r>
              <a:rPr lang="en-US" sz="1200" dirty="0" err="1">
                <a:latin typeface="Gill Sans MT" panose="020B0502020104020203" pitchFamily="34" charset="77"/>
                <a:cs typeface="Arial"/>
              </a:rPr>
              <a:t>características</a:t>
            </a:r>
            <a:endParaRPr lang="en-US" sz="1200" dirty="0">
              <a:latin typeface="Gill Sans MT" panose="020B0502020104020203" pitchFamily="34" charset="77"/>
              <a:cs typeface="Arial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820E2A1-3D79-017C-34A6-4255A1080E41}"/>
              </a:ext>
            </a:extLst>
          </p:cNvPr>
          <p:cNvSpPr txBox="1"/>
          <p:nvPr/>
        </p:nvSpPr>
        <p:spPr>
          <a:xfrm>
            <a:off x="8807058" y="972961"/>
            <a:ext cx="1226619" cy="276999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pPr algn="ctr"/>
            <a:r>
              <a:rPr lang="en-US" sz="1200" i="1" dirty="0">
                <a:latin typeface="Times"/>
                <a:cs typeface="Times"/>
              </a:rPr>
              <a:t>p</a:t>
            </a:r>
            <a:r>
              <a:rPr lang="en-US" sz="1200" dirty="0">
                <a:latin typeface="Gill Sans MT" panose="020B0502020104020203" pitchFamily="34" charset="77"/>
              </a:rPr>
              <a:t> </a:t>
            </a:r>
            <a:r>
              <a:rPr lang="en-US" sz="1200" dirty="0" err="1">
                <a:latin typeface="Gill Sans MT" panose="020B0502020104020203" pitchFamily="34" charset="77"/>
                <a:cs typeface="Arial"/>
              </a:rPr>
              <a:t>características</a:t>
            </a:r>
            <a:endParaRPr lang="en-US" sz="1200" dirty="0">
              <a:latin typeface="Gill Sans MT" panose="020B0502020104020203" pitchFamily="34" charset="77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02941360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48F09A-B37B-8048-A66C-28F4386B0B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62539" y="431455"/>
            <a:ext cx="8229600" cy="1143000"/>
          </a:xfrm>
        </p:spPr>
        <p:txBody>
          <a:bodyPr>
            <a:normAutofit/>
          </a:bodyPr>
          <a:lstStyle/>
          <a:p>
            <a:pPr algn="l"/>
            <a:r>
              <a:rPr lang="es-ES_tradnl" dirty="0">
                <a:solidFill>
                  <a:schemeClr val="accent2"/>
                </a:solidFill>
                <a:latin typeface="Gill Sans MT" panose="020B0502020104020203" pitchFamily="34" charset="77"/>
              </a:rPr>
              <a:t>Significado de PCA:</a:t>
            </a: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7D82AEAD-D7A3-3A44-9BFF-C438B1B21262}"/>
              </a:ext>
            </a:extLst>
          </p:cNvPr>
          <p:cNvSpPr txBox="1">
            <a:spLocks/>
          </p:cNvSpPr>
          <p:nvPr/>
        </p:nvSpPr>
        <p:spPr>
          <a:xfrm>
            <a:off x="1762539" y="1856064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 lnSpcReduction="10000"/>
          </a:bodyPr>
          <a:lstStyle>
            <a:lvl1pPr algn="ctr" defTabSz="4572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s-ES_tradnl" sz="3600" dirty="0">
                <a:latin typeface="Gill Sans MT" panose="020B0502020104020203" pitchFamily="34" charset="77"/>
              </a:rPr>
              <a:t>1. </a:t>
            </a:r>
            <a:r>
              <a:rPr lang="es-ES_tradnl" sz="3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Y </a:t>
            </a:r>
            <a:r>
              <a:rPr lang="es-ES_tradnl" sz="3600" dirty="0">
                <a:latin typeface="Gill Sans MT" panose="020B0502020104020203" pitchFamily="34" charset="77"/>
              </a:rPr>
              <a:t>es una nueva representación de </a:t>
            </a:r>
            <a:r>
              <a:rPr lang="es-ES_tradnl" sz="3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X</a:t>
            </a:r>
            <a:r>
              <a:rPr lang="es-ES_tradnl" sz="3600" dirty="0">
                <a:latin typeface="Gill Sans MT" panose="020B0502020104020203" pitchFamily="34" charset="77"/>
              </a:rPr>
              <a:t> (es una transformación lineal de </a:t>
            </a:r>
            <a:r>
              <a:rPr lang="es-ES_tradnl" sz="3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X</a:t>
            </a:r>
            <a:r>
              <a:rPr lang="es-ES_tradnl" sz="3600" dirty="0">
                <a:latin typeface="Gill Sans MT" panose="020B0502020104020203" pitchFamily="34" charset="77"/>
              </a:rPr>
              <a:t>)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789F9FC7-89EC-7349-944D-451BB728A25D}"/>
              </a:ext>
            </a:extLst>
          </p:cNvPr>
          <p:cNvGrpSpPr/>
          <p:nvPr/>
        </p:nvGrpSpPr>
        <p:grpSpPr>
          <a:xfrm>
            <a:off x="1762539" y="3237601"/>
            <a:ext cx="8229600" cy="1143000"/>
            <a:chOff x="238539" y="3237601"/>
            <a:chExt cx="8229600" cy="1143000"/>
          </a:xfrm>
        </p:grpSpPr>
        <p:sp>
          <p:nvSpPr>
            <p:cNvPr id="5" name="Title 1">
              <a:extLst>
                <a:ext uri="{FF2B5EF4-FFF2-40B4-BE49-F238E27FC236}">
                  <a16:creationId xmlns:a16="http://schemas.microsoft.com/office/drawing/2014/main" id="{EEADF6EF-032A-7248-AAD7-156C498C491E}"/>
                </a:ext>
              </a:extLst>
            </p:cNvPr>
            <p:cNvSpPr txBox="1">
              <a:spLocks/>
            </p:cNvSpPr>
            <p:nvPr/>
          </p:nvSpPr>
          <p:spPr>
            <a:xfrm>
              <a:off x="238539" y="3237601"/>
              <a:ext cx="8229600" cy="1143000"/>
            </a:xfrm>
            <a:prstGeom prst="rect">
              <a:avLst/>
            </a:prstGeom>
          </p:spPr>
          <p:txBody>
            <a:bodyPr vert="horz" lIns="91440" tIns="45720" rIns="91440" bIns="45720" rtlCol="0" anchor="ctr">
              <a:normAutofit lnSpcReduction="10000"/>
            </a:bodyPr>
            <a:lstStyle>
              <a:lvl1pPr algn="ctr" defTabSz="457200" rtl="0" eaLnBrk="1" latinLnBrk="0" hangingPunct="1">
                <a:spcBef>
                  <a:spcPct val="0"/>
                </a:spcBef>
                <a:buNone/>
                <a:defRPr sz="44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algn="l"/>
              <a:r>
                <a:rPr lang="es-ES_tradnl" sz="3600" dirty="0">
                  <a:latin typeface="Gill Sans MT" panose="020B0502020104020203" pitchFamily="34" charset="77"/>
                </a:rPr>
                <a:t>2. Las columnas de </a:t>
              </a:r>
              <a:r>
                <a:rPr lang="es-ES_tradnl" sz="3600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Y</a:t>
              </a:r>
              <a:r>
                <a:rPr lang="es-ES_tradnl" sz="3600" dirty="0">
                  <a:latin typeface="Gill Sans MT" panose="020B0502020104020203" pitchFamily="34" charset="77"/>
                </a:rPr>
                <a:t> no tienen correlación:                      para </a:t>
              </a:r>
            </a:p>
          </p:txBody>
        </p:sp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C9F61DF6-3BB7-0349-B20B-4FD03E24738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665532" y="3848857"/>
              <a:ext cx="2298700" cy="482600"/>
            </a:xfrm>
            <a:prstGeom prst="rect">
              <a:avLst/>
            </a:prstGeom>
          </p:spPr>
        </p:pic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39647251-AE95-194D-B415-0D3A1666F03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464852" y="3849962"/>
              <a:ext cx="965200" cy="431800"/>
            </a:xfrm>
            <a:prstGeom prst="rect">
              <a:avLst/>
            </a:prstGeom>
          </p:spPr>
        </p:pic>
      </p:grpSp>
      <p:sp>
        <p:nvSpPr>
          <p:cNvPr id="8" name="Title 1">
            <a:extLst>
              <a:ext uri="{FF2B5EF4-FFF2-40B4-BE49-F238E27FC236}">
                <a16:creationId xmlns:a16="http://schemas.microsoft.com/office/drawing/2014/main" id="{91F7A266-8527-A54B-BA2D-E3A64A18E201}"/>
              </a:ext>
            </a:extLst>
          </p:cNvPr>
          <p:cNvSpPr txBox="1">
            <a:spLocks/>
          </p:cNvSpPr>
          <p:nvPr/>
        </p:nvSpPr>
        <p:spPr>
          <a:xfrm>
            <a:off x="1845365" y="4781479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4572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s-ES_tradnl" sz="3600" dirty="0">
                <a:latin typeface="Gill Sans MT" panose="020B0502020104020203" pitchFamily="34" charset="77"/>
              </a:rPr>
              <a:t>3. Ordenado de mayor a menor las columnas de </a:t>
            </a:r>
            <a:r>
              <a:rPr lang="es-ES_tradnl" sz="3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Y</a:t>
            </a:r>
            <a:r>
              <a:rPr lang="es-ES_tradnl" sz="3600" dirty="0">
                <a:latin typeface="Gill Sans MT" panose="020B0502020104020203" pitchFamily="34" charset="77"/>
              </a:rPr>
              <a:t> están ordenadas por importancia</a:t>
            </a:r>
          </a:p>
        </p:txBody>
      </p:sp>
    </p:spTree>
    <p:extLst>
      <p:ext uri="{BB962C8B-B14F-4D97-AF65-F5344CB8AC3E}">
        <p14:creationId xmlns:p14="http://schemas.microsoft.com/office/powerpoint/2010/main" val="20601125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8" grpId="0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48F09A-B37B-8048-A66C-28F4386B0B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81200" y="2687638"/>
            <a:ext cx="8229600" cy="1143000"/>
          </a:xfrm>
        </p:spPr>
        <p:txBody>
          <a:bodyPr>
            <a:normAutofit fontScale="90000"/>
          </a:bodyPr>
          <a:lstStyle/>
          <a:p>
            <a:pPr algn="ctr"/>
            <a:r>
              <a:rPr lang="en-US" dirty="0" err="1">
                <a:solidFill>
                  <a:schemeClr val="accent2"/>
                </a:solidFill>
              </a:rPr>
              <a:t>Aplicación</a:t>
            </a:r>
            <a:r>
              <a:rPr lang="en-US" dirty="0">
                <a:solidFill>
                  <a:schemeClr val="accent2"/>
                </a:solidFill>
              </a:rPr>
              <a:t> de PCA</a:t>
            </a:r>
            <a:br>
              <a:rPr lang="en-US" dirty="0">
                <a:solidFill>
                  <a:schemeClr val="accent2"/>
                </a:solidFill>
              </a:rPr>
            </a:br>
            <a:r>
              <a:rPr lang="en-US" dirty="0" err="1">
                <a:solidFill>
                  <a:schemeClr val="accent2"/>
                </a:solidFill>
              </a:rPr>
              <a:t>en</a:t>
            </a:r>
            <a:r>
              <a:rPr lang="en-US" dirty="0">
                <a:solidFill>
                  <a:schemeClr val="accent2"/>
                </a:solidFill>
              </a:rPr>
              <a:t> </a:t>
            </a:r>
            <a:r>
              <a:rPr lang="en-US" dirty="0" err="1">
                <a:solidFill>
                  <a:schemeClr val="accent2"/>
                </a:solidFill>
              </a:rPr>
              <a:t>el</a:t>
            </a:r>
            <a:r>
              <a:rPr lang="en-US" dirty="0">
                <a:solidFill>
                  <a:schemeClr val="accent2"/>
                </a:solidFill>
              </a:rPr>
              <a:t> </a:t>
            </a:r>
            <a:r>
              <a:rPr lang="en-US" dirty="0" err="1">
                <a:solidFill>
                  <a:schemeClr val="accent2"/>
                </a:solidFill>
              </a:rPr>
              <a:t>Reconocimiento</a:t>
            </a:r>
            <a:r>
              <a:rPr lang="en-US" dirty="0">
                <a:solidFill>
                  <a:schemeClr val="accent2"/>
                </a:solidFill>
              </a:rPr>
              <a:t> de </a:t>
            </a:r>
            <a:r>
              <a:rPr lang="en-US" dirty="0" err="1">
                <a:solidFill>
                  <a:schemeClr val="accent2"/>
                </a:solidFill>
              </a:rPr>
              <a:t>Patrones</a:t>
            </a:r>
            <a:endParaRPr lang="en-US" dirty="0">
              <a:solidFill>
                <a:schemeClr val="accent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87310244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199E8C0D-06B5-674C-9831-A0364C25E516}"/>
              </a:ext>
            </a:extLst>
          </p:cNvPr>
          <p:cNvSpPr/>
          <p:nvPr/>
        </p:nvSpPr>
        <p:spPr>
          <a:xfrm>
            <a:off x="2498033" y="2802837"/>
            <a:ext cx="1858618" cy="944218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3600" dirty="0">
                <a:latin typeface="Gill Sans MT" panose="020B0502020104020203" pitchFamily="34" charset="77"/>
              </a:rPr>
              <a:t>PCA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3D8A2BEA-3E86-7E4D-A358-474FC127FED1}"/>
              </a:ext>
            </a:extLst>
          </p:cNvPr>
          <p:cNvCxnSpPr>
            <a:cxnSpLocks/>
          </p:cNvCxnSpPr>
          <p:nvPr/>
        </p:nvCxnSpPr>
        <p:spPr>
          <a:xfrm>
            <a:off x="1722781" y="3269975"/>
            <a:ext cx="77525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A970640B-A9FD-C84B-B072-9D47A3BF3C37}"/>
              </a:ext>
            </a:extLst>
          </p:cNvPr>
          <p:cNvSpPr/>
          <p:nvPr/>
        </p:nvSpPr>
        <p:spPr>
          <a:xfrm>
            <a:off x="5743161" y="2797866"/>
            <a:ext cx="1858618" cy="944218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2000" dirty="0">
                <a:latin typeface="Gill Sans MT" panose="020B0502020104020203" pitchFamily="34" charset="77"/>
              </a:rPr>
              <a:t>Diseño</a:t>
            </a:r>
          </a:p>
          <a:p>
            <a:pPr algn="ctr"/>
            <a:r>
              <a:rPr lang="es-ES_tradnl" sz="2000" dirty="0">
                <a:latin typeface="Gill Sans MT" panose="020B0502020104020203" pitchFamily="34" charset="77"/>
              </a:rPr>
              <a:t>Clasificador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35FE37D9-E2EF-1840-B12F-6B8E1E5ABD1F}"/>
              </a:ext>
            </a:extLst>
          </p:cNvPr>
          <p:cNvCxnSpPr>
            <a:cxnSpLocks/>
          </p:cNvCxnSpPr>
          <p:nvPr/>
        </p:nvCxnSpPr>
        <p:spPr>
          <a:xfrm>
            <a:off x="4319800" y="3269975"/>
            <a:ext cx="1418391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Rectangle 39">
            <a:extLst>
              <a:ext uri="{FF2B5EF4-FFF2-40B4-BE49-F238E27FC236}">
                <a16:creationId xmlns:a16="http://schemas.microsoft.com/office/drawing/2014/main" id="{5EF20750-C8A0-F146-B9BF-2B7EA0339427}"/>
              </a:ext>
            </a:extLst>
          </p:cNvPr>
          <p:cNvSpPr/>
          <p:nvPr/>
        </p:nvSpPr>
        <p:spPr>
          <a:xfrm>
            <a:off x="1581192" y="4454040"/>
            <a:ext cx="3141566" cy="646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s-ES_tradnl" dirty="0">
                <a:latin typeface="Gill Sans MT" panose="020B0502020104020203" pitchFamily="34" charset="77"/>
              </a:rPr>
              <a:t>Características extraídas </a:t>
            </a:r>
            <a:r>
              <a:rPr lang="es-ES_tradnl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N</a:t>
            </a:r>
            <a:r>
              <a:rPr lang="es-ES_tradnl" dirty="0">
                <a:latin typeface="Gill Sans MT" panose="020B0502020104020203" pitchFamily="34" charset="77"/>
              </a:rPr>
              <a:t> x </a:t>
            </a:r>
            <a:r>
              <a:rPr lang="es-ES_tradnl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L</a:t>
            </a:r>
          </a:p>
          <a:p>
            <a:r>
              <a:rPr lang="es-ES_tradnl" dirty="0">
                <a:latin typeface="Gill Sans MT" panose="020B0502020104020203" pitchFamily="34" charset="77"/>
              </a:rPr>
              <a:t>(</a:t>
            </a:r>
            <a:r>
              <a:rPr lang="es-ES_tradnl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N</a:t>
            </a:r>
            <a:r>
              <a:rPr lang="es-ES_tradnl" dirty="0">
                <a:latin typeface="Gill Sans MT" panose="020B0502020104020203" pitchFamily="34" charset="77"/>
              </a:rPr>
              <a:t> muestras y </a:t>
            </a:r>
            <a:r>
              <a:rPr lang="es-ES_tradnl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L</a:t>
            </a:r>
            <a:r>
              <a:rPr lang="es-ES_tradnl" dirty="0">
                <a:latin typeface="Gill Sans MT" panose="020B0502020104020203" pitchFamily="34" charset="77"/>
              </a:rPr>
              <a:t> características)</a:t>
            </a:r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10CF8F64-B24B-9943-A62D-C3CD7BF1F846}"/>
              </a:ext>
            </a:extLst>
          </p:cNvPr>
          <p:cNvSpPr/>
          <p:nvPr/>
        </p:nvSpPr>
        <p:spPr>
          <a:xfrm>
            <a:off x="5123791" y="5480551"/>
            <a:ext cx="4736573" cy="120032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s-ES_tradnl" dirty="0">
                <a:latin typeface="Gill Sans MT" panose="020B0502020104020203" pitchFamily="34" charset="77"/>
              </a:rPr>
              <a:t>Nuevas características </a:t>
            </a:r>
            <a:r>
              <a:rPr lang="es-ES_tradnl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N</a:t>
            </a:r>
            <a:r>
              <a:rPr lang="es-ES_tradnl" dirty="0">
                <a:latin typeface="Gill Sans MT" panose="020B0502020104020203" pitchFamily="34" charset="77"/>
              </a:rPr>
              <a:t> x </a:t>
            </a:r>
            <a:r>
              <a:rPr lang="es-ES_tradnl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L</a:t>
            </a:r>
          </a:p>
          <a:p>
            <a:r>
              <a:rPr lang="es-ES_tradnl" dirty="0">
                <a:latin typeface="Gill Sans MT" panose="020B0502020104020203" pitchFamily="34" charset="77"/>
              </a:rPr>
              <a:t>(</a:t>
            </a:r>
            <a:r>
              <a:rPr lang="es-ES_tradnl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N</a:t>
            </a:r>
            <a:r>
              <a:rPr lang="es-ES_tradnl" dirty="0">
                <a:latin typeface="Gill Sans MT" panose="020B0502020104020203" pitchFamily="34" charset="77"/>
              </a:rPr>
              <a:t> muestras y </a:t>
            </a:r>
            <a:r>
              <a:rPr lang="es-ES_tradnl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L</a:t>
            </a:r>
            <a:r>
              <a:rPr lang="es-ES_tradnl" dirty="0">
                <a:latin typeface="Gill Sans MT" panose="020B0502020104020203" pitchFamily="34" charset="77"/>
              </a:rPr>
              <a:t> nuevas características)</a:t>
            </a:r>
          </a:p>
          <a:p>
            <a:r>
              <a:rPr lang="es-ES_tradnl" dirty="0">
                <a:latin typeface="Gill Sans MT" panose="020B0502020104020203" pitchFamily="34" charset="77"/>
              </a:rPr>
              <a:t>Se escogen las </a:t>
            </a:r>
            <a:r>
              <a:rPr lang="es-ES_tradnl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</a:t>
            </a:r>
            <a:r>
              <a:rPr lang="es-ES_tradnl" dirty="0">
                <a:latin typeface="Gill Sans MT" panose="020B0502020104020203" pitchFamily="34" charset="77"/>
              </a:rPr>
              <a:t> primeras (las componentes principales)</a:t>
            </a:r>
            <a:endParaRPr lang="en-US" dirty="0">
              <a:latin typeface="Gill Sans MT" panose="020B0502020104020203" pitchFamily="34" charset="77"/>
            </a:endParaRPr>
          </a:p>
        </p:txBody>
      </p: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DEA7B4FD-B6CA-2B46-BEF5-D1723AE8CEB9}"/>
              </a:ext>
            </a:extLst>
          </p:cNvPr>
          <p:cNvCxnSpPr>
            <a:cxnSpLocks/>
          </p:cNvCxnSpPr>
          <p:nvPr/>
        </p:nvCxnSpPr>
        <p:spPr>
          <a:xfrm>
            <a:off x="2110406" y="3508516"/>
            <a:ext cx="0" cy="795886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0849BD36-DDA8-2E42-8C8F-D0F9AC9476C3}"/>
              </a:ext>
            </a:extLst>
          </p:cNvPr>
          <p:cNvCxnSpPr>
            <a:cxnSpLocks/>
          </p:cNvCxnSpPr>
          <p:nvPr/>
        </p:nvCxnSpPr>
        <p:spPr>
          <a:xfrm flipV="1">
            <a:off x="5335380" y="3523903"/>
            <a:ext cx="0" cy="190286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itle 1">
            <a:extLst>
              <a:ext uri="{FF2B5EF4-FFF2-40B4-BE49-F238E27FC236}">
                <a16:creationId xmlns:a16="http://schemas.microsoft.com/office/drawing/2014/main" id="{537607F1-A474-3846-A13D-35C9B81430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62539" y="431455"/>
            <a:ext cx="8229600" cy="1143000"/>
          </a:xfrm>
        </p:spPr>
        <p:txBody>
          <a:bodyPr>
            <a:normAutofit/>
          </a:bodyPr>
          <a:lstStyle/>
          <a:p>
            <a:pPr algn="l"/>
            <a:r>
              <a:rPr lang="es-ES_tradnl" dirty="0">
                <a:solidFill>
                  <a:schemeClr val="accent2"/>
                </a:solidFill>
                <a:latin typeface="Gill Sans MT" panose="020B0502020104020203" pitchFamily="34" charset="77"/>
              </a:rPr>
              <a:t>Estrategia con PCA:</a:t>
            </a:r>
          </a:p>
        </p:txBody>
      </p:sp>
      <p:pic>
        <p:nvPicPr>
          <p:cNvPr id="46" name="Picture 45">
            <a:extLst>
              <a:ext uri="{FF2B5EF4-FFF2-40B4-BE49-F238E27FC236}">
                <a16:creationId xmlns:a16="http://schemas.microsoft.com/office/drawing/2014/main" id="{8BDA813A-C9BE-E34D-8ED5-345C5BA309A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12004" y="2789644"/>
            <a:ext cx="368300" cy="317500"/>
          </a:xfrm>
          <a:prstGeom prst="rect">
            <a:avLst/>
          </a:prstGeom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D6F9ED51-E114-5248-B914-E624DB22992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42790" y="2792896"/>
            <a:ext cx="381000" cy="317500"/>
          </a:xfrm>
          <a:prstGeom prst="rect">
            <a:avLst/>
          </a:prstGeom>
        </p:spPr>
      </p:pic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4DAA043B-3150-AC46-ABAD-873D6325289A}"/>
              </a:ext>
            </a:extLst>
          </p:cNvPr>
          <p:cNvCxnSpPr>
            <a:cxnSpLocks/>
          </p:cNvCxnSpPr>
          <p:nvPr/>
        </p:nvCxnSpPr>
        <p:spPr>
          <a:xfrm>
            <a:off x="7604997" y="3269281"/>
            <a:ext cx="57580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Rectangle 50">
            <a:extLst>
              <a:ext uri="{FF2B5EF4-FFF2-40B4-BE49-F238E27FC236}">
                <a16:creationId xmlns:a16="http://schemas.microsoft.com/office/drawing/2014/main" id="{EDC5605F-9064-864E-99BD-15B621F0D113}"/>
              </a:ext>
            </a:extLst>
          </p:cNvPr>
          <p:cNvSpPr/>
          <p:nvPr/>
        </p:nvSpPr>
        <p:spPr>
          <a:xfrm>
            <a:off x="8180799" y="3089485"/>
            <a:ext cx="81144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s-ES_tradnl" dirty="0">
                <a:latin typeface="Gill Sans MT" panose="020B0502020104020203" pitchFamily="34" charset="77"/>
              </a:rPr>
              <a:t>output</a:t>
            </a:r>
            <a:endParaRPr lang="en-US" dirty="0">
              <a:latin typeface="Gill Sans MT" panose="020B0502020104020203" pitchFamily="34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2317490000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48F09A-B37B-8048-A66C-28F4386B0B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62539" y="431455"/>
            <a:ext cx="8229600" cy="1143000"/>
          </a:xfrm>
        </p:spPr>
        <p:txBody>
          <a:bodyPr>
            <a:normAutofit/>
          </a:bodyPr>
          <a:lstStyle/>
          <a:p>
            <a:pPr algn="l"/>
            <a:r>
              <a:rPr lang="es-ES_tradnl" dirty="0">
                <a:solidFill>
                  <a:schemeClr val="accent2"/>
                </a:solidFill>
                <a:latin typeface="Gill Sans MT" panose="020B0502020104020203" pitchFamily="34" charset="77"/>
              </a:rPr>
              <a:t>Training</a:t>
            </a:r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199E8C0D-06B5-674C-9831-A0364C25E516}"/>
              </a:ext>
            </a:extLst>
          </p:cNvPr>
          <p:cNvSpPr/>
          <p:nvPr/>
        </p:nvSpPr>
        <p:spPr>
          <a:xfrm>
            <a:off x="2498033" y="2802837"/>
            <a:ext cx="1858618" cy="944218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3600" dirty="0">
                <a:latin typeface="Gill Sans MT" panose="020B0502020104020203" pitchFamily="34" charset="77"/>
              </a:rPr>
              <a:t>PCA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3D8A2BEA-3E86-7E4D-A358-474FC127FED1}"/>
              </a:ext>
            </a:extLst>
          </p:cNvPr>
          <p:cNvCxnSpPr>
            <a:cxnSpLocks/>
          </p:cNvCxnSpPr>
          <p:nvPr/>
        </p:nvCxnSpPr>
        <p:spPr>
          <a:xfrm>
            <a:off x="1722781" y="3269975"/>
            <a:ext cx="77525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A970640B-A9FD-C84B-B072-9D47A3BF3C37}"/>
              </a:ext>
            </a:extLst>
          </p:cNvPr>
          <p:cNvSpPr/>
          <p:nvPr/>
        </p:nvSpPr>
        <p:spPr>
          <a:xfrm>
            <a:off x="5743161" y="2797866"/>
            <a:ext cx="1858618" cy="944218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2000" dirty="0">
                <a:latin typeface="Gill Sans MT" panose="020B0502020104020203" pitchFamily="34" charset="77"/>
              </a:rPr>
              <a:t>Diseño</a:t>
            </a:r>
          </a:p>
          <a:p>
            <a:pPr algn="ctr"/>
            <a:r>
              <a:rPr lang="es-ES_tradnl" sz="2000" dirty="0">
                <a:latin typeface="Gill Sans MT" panose="020B0502020104020203" pitchFamily="34" charset="77"/>
              </a:rPr>
              <a:t>Clasificador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35FE37D9-E2EF-1840-B12F-6B8E1E5ABD1F}"/>
              </a:ext>
            </a:extLst>
          </p:cNvPr>
          <p:cNvCxnSpPr>
            <a:cxnSpLocks/>
          </p:cNvCxnSpPr>
          <p:nvPr/>
        </p:nvCxnSpPr>
        <p:spPr>
          <a:xfrm>
            <a:off x="4319800" y="3269975"/>
            <a:ext cx="1418391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9184F2E1-CAD6-7645-93AD-17F74B16CA5D}"/>
              </a:ext>
            </a:extLst>
          </p:cNvPr>
          <p:cNvSpPr txBox="1"/>
          <p:nvPr/>
        </p:nvSpPr>
        <p:spPr>
          <a:xfrm>
            <a:off x="1627262" y="2525838"/>
            <a:ext cx="10118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>
                <a:latin typeface="Courier" pitchFamily="2" charset="0"/>
              </a:rPr>
              <a:t>Xtrain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3B13FEB-73FC-1648-A572-1F0230619298}"/>
              </a:ext>
            </a:extLst>
          </p:cNvPr>
          <p:cNvSpPr txBox="1"/>
          <p:nvPr/>
        </p:nvSpPr>
        <p:spPr>
          <a:xfrm>
            <a:off x="4309873" y="2491698"/>
            <a:ext cx="156324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>
                <a:latin typeface="Courier" pitchFamily="2" charset="0"/>
              </a:rPr>
              <a:t>Xtrain_pca</a:t>
            </a:r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976A33C2-6B6F-F942-A86B-A9E1440EE72A}"/>
              </a:ext>
            </a:extLst>
          </p:cNvPr>
          <p:cNvCxnSpPr>
            <a:cxnSpLocks/>
          </p:cNvCxnSpPr>
          <p:nvPr/>
        </p:nvCxnSpPr>
        <p:spPr>
          <a:xfrm>
            <a:off x="6672470" y="2124020"/>
            <a:ext cx="0" cy="67384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ectangle 20">
            <a:extLst>
              <a:ext uri="{FF2B5EF4-FFF2-40B4-BE49-F238E27FC236}">
                <a16:creationId xmlns:a16="http://schemas.microsoft.com/office/drawing/2014/main" id="{17EDDEB2-FD84-DD4E-970D-5C3657AA829B}"/>
              </a:ext>
            </a:extLst>
          </p:cNvPr>
          <p:cNvSpPr/>
          <p:nvPr/>
        </p:nvSpPr>
        <p:spPr>
          <a:xfrm>
            <a:off x="6185452" y="1681822"/>
            <a:ext cx="1011815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s-ES_tradnl" dirty="0" err="1">
                <a:latin typeface="Courier" pitchFamily="2" charset="0"/>
              </a:rPr>
              <a:t>ytrain</a:t>
            </a:r>
            <a:endParaRPr lang="es-ES_tradnl" dirty="0">
              <a:latin typeface="Gill Sans MT" panose="020B0502020104020203" pitchFamily="34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2687447150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48F09A-B37B-8048-A66C-28F4386B0B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62539" y="431455"/>
            <a:ext cx="8229600" cy="1143000"/>
          </a:xfrm>
        </p:spPr>
        <p:txBody>
          <a:bodyPr>
            <a:normAutofit/>
          </a:bodyPr>
          <a:lstStyle/>
          <a:p>
            <a:pPr algn="l"/>
            <a:r>
              <a:rPr lang="es-ES_tradnl" dirty="0">
                <a:solidFill>
                  <a:schemeClr val="accent2"/>
                </a:solidFill>
                <a:latin typeface="Gill Sans MT" panose="020B0502020104020203" pitchFamily="34" charset="77"/>
              </a:rPr>
              <a:t>Training / </a:t>
            </a:r>
            <a:r>
              <a:rPr lang="es-ES_tradnl" dirty="0" err="1">
                <a:solidFill>
                  <a:schemeClr val="accent2"/>
                </a:solidFill>
                <a:latin typeface="Gill Sans MT" panose="020B0502020104020203" pitchFamily="34" charset="77"/>
              </a:rPr>
              <a:t>Testing</a:t>
            </a:r>
            <a:endParaRPr lang="es-ES_tradnl" dirty="0">
              <a:solidFill>
                <a:schemeClr val="accent2"/>
              </a:solidFill>
              <a:latin typeface="Gill Sans MT" panose="020B0502020104020203" pitchFamily="34" charset="77"/>
            </a:endParaRPr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199E8C0D-06B5-674C-9831-A0364C25E516}"/>
              </a:ext>
            </a:extLst>
          </p:cNvPr>
          <p:cNvSpPr/>
          <p:nvPr/>
        </p:nvSpPr>
        <p:spPr>
          <a:xfrm>
            <a:off x="2498033" y="2802837"/>
            <a:ext cx="1858618" cy="944218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3600" dirty="0">
                <a:latin typeface="Gill Sans MT" panose="020B0502020104020203" pitchFamily="34" charset="77"/>
              </a:rPr>
              <a:t>PCA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3D8A2BEA-3E86-7E4D-A358-474FC127FED1}"/>
              </a:ext>
            </a:extLst>
          </p:cNvPr>
          <p:cNvCxnSpPr>
            <a:cxnSpLocks/>
          </p:cNvCxnSpPr>
          <p:nvPr/>
        </p:nvCxnSpPr>
        <p:spPr>
          <a:xfrm>
            <a:off x="1722781" y="3269975"/>
            <a:ext cx="77525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A970640B-A9FD-C84B-B072-9D47A3BF3C37}"/>
              </a:ext>
            </a:extLst>
          </p:cNvPr>
          <p:cNvSpPr/>
          <p:nvPr/>
        </p:nvSpPr>
        <p:spPr>
          <a:xfrm>
            <a:off x="5743161" y="2797866"/>
            <a:ext cx="1858618" cy="944218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2000" dirty="0">
                <a:latin typeface="Gill Sans MT" panose="020B0502020104020203" pitchFamily="34" charset="77"/>
              </a:rPr>
              <a:t>Diseño</a:t>
            </a:r>
          </a:p>
          <a:p>
            <a:pPr algn="ctr"/>
            <a:r>
              <a:rPr lang="es-ES_tradnl" sz="2000" dirty="0">
                <a:latin typeface="Gill Sans MT" panose="020B0502020104020203" pitchFamily="34" charset="77"/>
              </a:rPr>
              <a:t>Clasificador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35FE37D9-E2EF-1840-B12F-6B8E1E5ABD1F}"/>
              </a:ext>
            </a:extLst>
          </p:cNvPr>
          <p:cNvCxnSpPr>
            <a:cxnSpLocks/>
          </p:cNvCxnSpPr>
          <p:nvPr/>
        </p:nvCxnSpPr>
        <p:spPr>
          <a:xfrm>
            <a:off x="4319800" y="3269975"/>
            <a:ext cx="1418391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9184F2E1-CAD6-7645-93AD-17F74B16CA5D}"/>
              </a:ext>
            </a:extLst>
          </p:cNvPr>
          <p:cNvSpPr txBox="1"/>
          <p:nvPr/>
        </p:nvSpPr>
        <p:spPr>
          <a:xfrm>
            <a:off x="1627262" y="2525838"/>
            <a:ext cx="10118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>
                <a:latin typeface="Courier" pitchFamily="2" charset="0"/>
              </a:rPr>
              <a:t>Xtrain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3B13FEB-73FC-1648-A572-1F0230619298}"/>
              </a:ext>
            </a:extLst>
          </p:cNvPr>
          <p:cNvSpPr txBox="1"/>
          <p:nvPr/>
        </p:nvSpPr>
        <p:spPr>
          <a:xfrm>
            <a:off x="4309873" y="2491698"/>
            <a:ext cx="156324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>
                <a:latin typeface="Courier" pitchFamily="2" charset="0"/>
              </a:rPr>
              <a:t>Xtrain_pca</a:t>
            </a:r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976A33C2-6B6F-F942-A86B-A9E1440EE72A}"/>
              </a:ext>
            </a:extLst>
          </p:cNvPr>
          <p:cNvCxnSpPr>
            <a:cxnSpLocks/>
          </p:cNvCxnSpPr>
          <p:nvPr/>
        </p:nvCxnSpPr>
        <p:spPr>
          <a:xfrm>
            <a:off x="6672470" y="2124020"/>
            <a:ext cx="0" cy="67384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ectangle 20">
            <a:extLst>
              <a:ext uri="{FF2B5EF4-FFF2-40B4-BE49-F238E27FC236}">
                <a16:creationId xmlns:a16="http://schemas.microsoft.com/office/drawing/2014/main" id="{17EDDEB2-FD84-DD4E-970D-5C3657AA829B}"/>
              </a:ext>
            </a:extLst>
          </p:cNvPr>
          <p:cNvSpPr/>
          <p:nvPr/>
        </p:nvSpPr>
        <p:spPr>
          <a:xfrm>
            <a:off x="6185452" y="1681822"/>
            <a:ext cx="1011815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s-ES_tradnl" dirty="0" err="1">
                <a:latin typeface="Courier" pitchFamily="2" charset="0"/>
              </a:rPr>
              <a:t>ytrain</a:t>
            </a:r>
            <a:endParaRPr lang="es-ES_tradnl" dirty="0">
              <a:latin typeface="Gill Sans MT" panose="020B0502020104020203" pitchFamily="34" charset="77"/>
            </a:endParaRPr>
          </a:p>
        </p:txBody>
      </p:sp>
      <p:sp>
        <p:nvSpPr>
          <p:cNvPr id="22" name="Rounded Rectangle 21">
            <a:extLst>
              <a:ext uri="{FF2B5EF4-FFF2-40B4-BE49-F238E27FC236}">
                <a16:creationId xmlns:a16="http://schemas.microsoft.com/office/drawing/2014/main" id="{F197DAE8-5C82-0840-9160-C52BA082D890}"/>
              </a:ext>
            </a:extLst>
          </p:cNvPr>
          <p:cNvSpPr/>
          <p:nvPr/>
        </p:nvSpPr>
        <p:spPr>
          <a:xfrm>
            <a:off x="2493062" y="4416755"/>
            <a:ext cx="1858618" cy="944218"/>
          </a:xfrm>
          <a:prstGeom prst="roundRect">
            <a:avLst/>
          </a:prstGeom>
          <a:noFill/>
          <a:ln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dirty="0">
              <a:latin typeface="Gill Sans MT" panose="020B0502020104020203" pitchFamily="34" charset="77"/>
            </a:endParaRPr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D56113DA-51DB-B84A-85FB-4799A3FB61A5}"/>
              </a:ext>
            </a:extLst>
          </p:cNvPr>
          <p:cNvCxnSpPr>
            <a:cxnSpLocks/>
          </p:cNvCxnSpPr>
          <p:nvPr/>
        </p:nvCxnSpPr>
        <p:spPr>
          <a:xfrm>
            <a:off x="1717810" y="4883893"/>
            <a:ext cx="77525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>
            <a:extLst>
              <a:ext uri="{FF2B5EF4-FFF2-40B4-BE49-F238E27FC236}">
                <a16:creationId xmlns:a16="http://schemas.microsoft.com/office/drawing/2014/main" id="{C1B3558D-908E-6F4A-86E0-0CCD5890A391}"/>
              </a:ext>
            </a:extLst>
          </p:cNvPr>
          <p:cNvSpPr/>
          <p:nvPr/>
        </p:nvSpPr>
        <p:spPr>
          <a:xfrm>
            <a:off x="5738190" y="4411784"/>
            <a:ext cx="1858618" cy="944218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2000" dirty="0">
                <a:latin typeface="Gill Sans MT" panose="020B0502020104020203" pitchFamily="34" charset="77"/>
              </a:rPr>
              <a:t>Clasificación</a:t>
            </a:r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605D4480-3096-2D4B-963A-CE080E7D3BD8}"/>
              </a:ext>
            </a:extLst>
          </p:cNvPr>
          <p:cNvCxnSpPr>
            <a:cxnSpLocks/>
          </p:cNvCxnSpPr>
          <p:nvPr/>
        </p:nvCxnSpPr>
        <p:spPr>
          <a:xfrm>
            <a:off x="4314829" y="4883893"/>
            <a:ext cx="1418391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CAA56918-5133-1C4D-BAF4-E76F29C0315D}"/>
              </a:ext>
            </a:extLst>
          </p:cNvPr>
          <p:cNvSpPr txBox="1"/>
          <p:nvPr/>
        </p:nvSpPr>
        <p:spPr>
          <a:xfrm>
            <a:off x="1622291" y="4139756"/>
            <a:ext cx="87395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dirty="0" err="1">
                <a:latin typeface="Courier" pitchFamily="2" charset="0"/>
              </a:rPr>
              <a:t>Xtest</a:t>
            </a:r>
            <a:endParaRPr lang="es-ES_tradnl" dirty="0">
              <a:latin typeface="Courier" pitchFamily="2" charset="0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ADB37EE2-C03C-2C44-8950-ACD6616C50C5}"/>
              </a:ext>
            </a:extLst>
          </p:cNvPr>
          <p:cNvSpPr txBox="1"/>
          <p:nvPr/>
        </p:nvSpPr>
        <p:spPr>
          <a:xfrm>
            <a:off x="4304902" y="4105616"/>
            <a:ext cx="14253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dirty="0" err="1">
                <a:latin typeface="Courier" pitchFamily="2" charset="0"/>
              </a:rPr>
              <a:t>Xtest_pca</a:t>
            </a:r>
            <a:endParaRPr lang="es-ES_tradnl" dirty="0">
              <a:latin typeface="Courier" pitchFamily="2" charset="0"/>
            </a:endParaRPr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152020EF-B4EC-5340-B1BB-5B9512B97D17}"/>
              </a:ext>
            </a:extLst>
          </p:cNvPr>
          <p:cNvCxnSpPr>
            <a:cxnSpLocks/>
          </p:cNvCxnSpPr>
          <p:nvPr/>
        </p:nvCxnSpPr>
        <p:spPr>
          <a:xfrm>
            <a:off x="6667499" y="3737938"/>
            <a:ext cx="0" cy="67384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C9538B21-4859-B74B-B532-E362330B6982}"/>
              </a:ext>
            </a:extLst>
          </p:cNvPr>
          <p:cNvCxnSpPr>
            <a:cxnSpLocks/>
          </p:cNvCxnSpPr>
          <p:nvPr/>
        </p:nvCxnSpPr>
        <p:spPr>
          <a:xfrm>
            <a:off x="7596809" y="4883893"/>
            <a:ext cx="77525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>
            <a:extLst>
              <a:ext uri="{FF2B5EF4-FFF2-40B4-BE49-F238E27FC236}">
                <a16:creationId xmlns:a16="http://schemas.microsoft.com/office/drawing/2014/main" id="{0735221E-636F-9F4B-B32F-B5DF617A1A70}"/>
              </a:ext>
            </a:extLst>
          </p:cNvPr>
          <p:cNvSpPr txBox="1"/>
          <p:nvPr/>
        </p:nvSpPr>
        <p:spPr>
          <a:xfrm>
            <a:off x="7660059" y="4411784"/>
            <a:ext cx="87395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>
                <a:latin typeface="Courier" pitchFamily="2" charset="0"/>
              </a:rPr>
              <a:t>ypred</a:t>
            </a:r>
          </a:p>
        </p:txBody>
      </p:sp>
      <p:sp>
        <p:nvSpPr>
          <p:cNvPr id="31" name="Oval 30">
            <a:extLst>
              <a:ext uri="{FF2B5EF4-FFF2-40B4-BE49-F238E27FC236}">
                <a16:creationId xmlns:a16="http://schemas.microsoft.com/office/drawing/2014/main" id="{B20762B1-2E3B-3C48-A47A-892C91C7912B}"/>
              </a:ext>
            </a:extLst>
          </p:cNvPr>
          <p:cNvSpPr/>
          <p:nvPr/>
        </p:nvSpPr>
        <p:spPr>
          <a:xfrm>
            <a:off x="8374489" y="4711051"/>
            <a:ext cx="358345" cy="39073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dirty="0">
              <a:latin typeface="Gill Sans MT" panose="020B0502020104020203" pitchFamily="34" charset="77"/>
            </a:endParaRP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BDDFF269-AFD5-EE45-B3B9-70DD2C7E2F6F}"/>
              </a:ext>
            </a:extLst>
          </p:cNvPr>
          <p:cNvSpPr/>
          <p:nvPr/>
        </p:nvSpPr>
        <p:spPr>
          <a:xfrm>
            <a:off x="8401575" y="4612169"/>
            <a:ext cx="300082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s-ES_tradnl" sz="2800" dirty="0">
                <a:solidFill>
                  <a:schemeClr val="bg1"/>
                </a:solidFill>
                <a:latin typeface="Gill Sans MT" panose="020B0502020104020203" pitchFamily="34" charset="77"/>
              </a:rPr>
              <a:t>-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E8723CE7-C3B3-C549-AD5E-F02EBA81A010}"/>
              </a:ext>
            </a:extLst>
          </p:cNvPr>
          <p:cNvSpPr txBox="1"/>
          <p:nvPr/>
        </p:nvSpPr>
        <p:spPr>
          <a:xfrm>
            <a:off x="1668457" y="5453306"/>
            <a:ext cx="87395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>
                <a:latin typeface="Courier" pitchFamily="2" charset="0"/>
              </a:rPr>
              <a:t>ytest</a:t>
            </a:r>
          </a:p>
        </p:txBody>
      </p:sp>
      <p:cxnSp>
        <p:nvCxnSpPr>
          <p:cNvPr id="35" name="Elbow Connector 34">
            <a:extLst>
              <a:ext uri="{FF2B5EF4-FFF2-40B4-BE49-F238E27FC236}">
                <a16:creationId xmlns:a16="http://schemas.microsoft.com/office/drawing/2014/main" id="{CBE7D3C1-10C0-054A-8757-E6832FF95776}"/>
              </a:ext>
            </a:extLst>
          </p:cNvPr>
          <p:cNvCxnSpPr>
            <a:stCxn id="33" idx="3"/>
            <a:endCxn id="32" idx="2"/>
          </p:cNvCxnSpPr>
          <p:nvPr/>
        </p:nvCxnSpPr>
        <p:spPr>
          <a:xfrm flipV="1">
            <a:off x="2542414" y="5135390"/>
            <a:ext cx="6009203" cy="502583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AA21F245-8541-AD46-815F-E495B510B5D1}"/>
              </a:ext>
            </a:extLst>
          </p:cNvPr>
          <p:cNvCxnSpPr>
            <a:cxnSpLocks/>
          </p:cNvCxnSpPr>
          <p:nvPr/>
        </p:nvCxnSpPr>
        <p:spPr>
          <a:xfrm>
            <a:off x="8732834" y="4883893"/>
            <a:ext cx="77525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EB071619-F669-B94A-9A30-C94CD844F413}"/>
              </a:ext>
            </a:extLst>
          </p:cNvPr>
          <p:cNvSpPr txBox="1"/>
          <p:nvPr/>
        </p:nvSpPr>
        <p:spPr>
          <a:xfrm>
            <a:off x="9506623" y="4669235"/>
            <a:ext cx="5982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>
                <a:latin typeface="Courier" pitchFamily="2" charset="0"/>
              </a:rPr>
              <a:t>acc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3BDC402-6B58-E844-AFC2-D82BCCE85AB1}"/>
              </a:ext>
            </a:extLst>
          </p:cNvPr>
          <p:cNvSpPr/>
          <p:nvPr/>
        </p:nvSpPr>
        <p:spPr>
          <a:xfrm>
            <a:off x="6689997" y="3829733"/>
            <a:ext cx="894797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s-ES_tradnl" dirty="0">
                <a:latin typeface="Gill Sans MT" panose="020B0502020104020203" pitchFamily="34" charset="77"/>
              </a:rPr>
              <a:t>modelo</a:t>
            </a:r>
            <a:endParaRPr lang="en-US" dirty="0">
              <a:latin typeface="Gill Sans MT" panose="020B0502020104020203" pitchFamily="34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847844810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48F09A-B37B-8048-A66C-28F4386B0B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62539" y="431455"/>
            <a:ext cx="8229600" cy="1143000"/>
          </a:xfrm>
        </p:spPr>
        <p:txBody>
          <a:bodyPr>
            <a:normAutofit/>
          </a:bodyPr>
          <a:lstStyle/>
          <a:p>
            <a:pPr algn="l"/>
            <a:r>
              <a:rPr lang="es-ES_tradnl" dirty="0">
                <a:solidFill>
                  <a:schemeClr val="accent2"/>
                </a:solidFill>
                <a:latin typeface="Gill Sans MT" panose="020B0502020104020203" pitchFamily="34" charset="77"/>
              </a:rPr>
              <a:t>Training / </a:t>
            </a:r>
            <a:r>
              <a:rPr lang="es-ES_tradnl" dirty="0" err="1">
                <a:solidFill>
                  <a:schemeClr val="accent2"/>
                </a:solidFill>
                <a:latin typeface="Gill Sans MT" panose="020B0502020104020203" pitchFamily="34" charset="77"/>
              </a:rPr>
              <a:t>Testing</a:t>
            </a:r>
            <a:endParaRPr lang="es-ES_tradnl" dirty="0">
              <a:solidFill>
                <a:schemeClr val="accent2"/>
              </a:solidFill>
              <a:latin typeface="Gill Sans MT" panose="020B0502020104020203" pitchFamily="34" charset="77"/>
            </a:endParaRPr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199E8C0D-06B5-674C-9831-A0364C25E516}"/>
              </a:ext>
            </a:extLst>
          </p:cNvPr>
          <p:cNvSpPr/>
          <p:nvPr/>
        </p:nvSpPr>
        <p:spPr>
          <a:xfrm>
            <a:off x="2498033" y="2802837"/>
            <a:ext cx="1858618" cy="944218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3600" dirty="0">
                <a:latin typeface="Gill Sans MT" panose="020B0502020104020203" pitchFamily="34" charset="77"/>
              </a:rPr>
              <a:t>PCA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3D8A2BEA-3E86-7E4D-A358-474FC127FED1}"/>
              </a:ext>
            </a:extLst>
          </p:cNvPr>
          <p:cNvCxnSpPr>
            <a:cxnSpLocks/>
          </p:cNvCxnSpPr>
          <p:nvPr/>
        </p:nvCxnSpPr>
        <p:spPr>
          <a:xfrm>
            <a:off x="1722781" y="3269975"/>
            <a:ext cx="77525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A970640B-A9FD-C84B-B072-9D47A3BF3C37}"/>
              </a:ext>
            </a:extLst>
          </p:cNvPr>
          <p:cNvSpPr/>
          <p:nvPr/>
        </p:nvSpPr>
        <p:spPr>
          <a:xfrm>
            <a:off x="5743161" y="2797866"/>
            <a:ext cx="1858618" cy="944218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2000" dirty="0">
                <a:latin typeface="Gill Sans MT" panose="020B0502020104020203" pitchFamily="34" charset="77"/>
              </a:rPr>
              <a:t>Diseño</a:t>
            </a:r>
          </a:p>
          <a:p>
            <a:pPr algn="ctr"/>
            <a:r>
              <a:rPr lang="es-ES_tradnl" sz="2000" dirty="0">
                <a:latin typeface="Gill Sans MT" panose="020B0502020104020203" pitchFamily="34" charset="77"/>
              </a:rPr>
              <a:t>Clasificador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35FE37D9-E2EF-1840-B12F-6B8E1E5ABD1F}"/>
              </a:ext>
            </a:extLst>
          </p:cNvPr>
          <p:cNvCxnSpPr>
            <a:cxnSpLocks/>
          </p:cNvCxnSpPr>
          <p:nvPr/>
        </p:nvCxnSpPr>
        <p:spPr>
          <a:xfrm>
            <a:off x="4319800" y="3269975"/>
            <a:ext cx="1418391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9184F2E1-CAD6-7645-93AD-17F74B16CA5D}"/>
              </a:ext>
            </a:extLst>
          </p:cNvPr>
          <p:cNvSpPr txBox="1"/>
          <p:nvPr/>
        </p:nvSpPr>
        <p:spPr>
          <a:xfrm>
            <a:off x="1627262" y="2525838"/>
            <a:ext cx="10118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>
                <a:latin typeface="Courier" pitchFamily="2" charset="0"/>
              </a:rPr>
              <a:t>Xtrain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3B13FEB-73FC-1648-A572-1F0230619298}"/>
              </a:ext>
            </a:extLst>
          </p:cNvPr>
          <p:cNvSpPr txBox="1"/>
          <p:nvPr/>
        </p:nvSpPr>
        <p:spPr>
          <a:xfrm>
            <a:off x="4309873" y="2491698"/>
            <a:ext cx="156324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>
                <a:latin typeface="Courier" pitchFamily="2" charset="0"/>
              </a:rPr>
              <a:t>Xtrain_pca</a:t>
            </a:r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976A33C2-6B6F-F942-A86B-A9E1440EE72A}"/>
              </a:ext>
            </a:extLst>
          </p:cNvPr>
          <p:cNvCxnSpPr>
            <a:cxnSpLocks/>
          </p:cNvCxnSpPr>
          <p:nvPr/>
        </p:nvCxnSpPr>
        <p:spPr>
          <a:xfrm>
            <a:off x="6672470" y="2124020"/>
            <a:ext cx="0" cy="67384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ectangle 20">
            <a:extLst>
              <a:ext uri="{FF2B5EF4-FFF2-40B4-BE49-F238E27FC236}">
                <a16:creationId xmlns:a16="http://schemas.microsoft.com/office/drawing/2014/main" id="{17EDDEB2-FD84-DD4E-970D-5C3657AA829B}"/>
              </a:ext>
            </a:extLst>
          </p:cNvPr>
          <p:cNvSpPr/>
          <p:nvPr/>
        </p:nvSpPr>
        <p:spPr>
          <a:xfrm>
            <a:off x="6185452" y="1681822"/>
            <a:ext cx="1011815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s-ES_tradnl" dirty="0" err="1">
                <a:latin typeface="Courier" pitchFamily="2" charset="0"/>
              </a:rPr>
              <a:t>ytrain</a:t>
            </a:r>
            <a:endParaRPr lang="es-ES_tradnl" dirty="0">
              <a:latin typeface="Gill Sans MT" panose="020B0502020104020203" pitchFamily="34" charset="77"/>
            </a:endParaRPr>
          </a:p>
        </p:txBody>
      </p:sp>
      <p:sp>
        <p:nvSpPr>
          <p:cNvPr id="22" name="Rounded Rectangle 21">
            <a:extLst>
              <a:ext uri="{FF2B5EF4-FFF2-40B4-BE49-F238E27FC236}">
                <a16:creationId xmlns:a16="http://schemas.microsoft.com/office/drawing/2014/main" id="{F197DAE8-5C82-0840-9160-C52BA082D890}"/>
              </a:ext>
            </a:extLst>
          </p:cNvPr>
          <p:cNvSpPr/>
          <p:nvPr/>
        </p:nvSpPr>
        <p:spPr>
          <a:xfrm>
            <a:off x="2493062" y="4416755"/>
            <a:ext cx="1858618" cy="944218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dirty="0">
                <a:latin typeface="Gill Sans MT" panose="020B0502020104020203" pitchFamily="34" charset="77"/>
              </a:rPr>
              <a:t>Transformación</a:t>
            </a:r>
          </a:p>
          <a:p>
            <a:pPr algn="ctr"/>
            <a:r>
              <a:rPr lang="es-ES_tradnl" dirty="0">
                <a:latin typeface="Gill Sans MT" panose="020B0502020104020203" pitchFamily="34" charset="77"/>
              </a:rPr>
              <a:t>Lineal</a:t>
            </a:r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D56113DA-51DB-B84A-85FB-4799A3FB61A5}"/>
              </a:ext>
            </a:extLst>
          </p:cNvPr>
          <p:cNvCxnSpPr>
            <a:cxnSpLocks/>
          </p:cNvCxnSpPr>
          <p:nvPr/>
        </p:nvCxnSpPr>
        <p:spPr>
          <a:xfrm>
            <a:off x="1717810" y="4883893"/>
            <a:ext cx="77525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>
            <a:extLst>
              <a:ext uri="{FF2B5EF4-FFF2-40B4-BE49-F238E27FC236}">
                <a16:creationId xmlns:a16="http://schemas.microsoft.com/office/drawing/2014/main" id="{C1B3558D-908E-6F4A-86E0-0CCD5890A391}"/>
              </a:ext>
            </a:extLst>
          </p:cNvPr>
          <p:cNvSpPr/>
          <p:nvPr/>
        </p:nvSpPr>
        <p:spPr>
          <a:xfrm>
            <a:off x="5738190" y="4411784"/>
            <a:ext cx="1858618" cy="944218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2000" dirty="0">
                <a:latin typeface="Gill Sans MT" panose="020B0502020104020203" pitchFamily="34" charset="77"/>
              </a:rPr>
              <a:t>Clasificación</a:t>
            </a:r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605D4480-3096-2D4B-963A-CE080E7D3BD8}"/>
              </a:ext>
            </a:extLst>
          </p:cNvPr>
          <p:cNvCxnSpPr>
            <a:cxnSpLocks/>
          </p:cNvCxnSpPr>
          <p:nvPr/>
        </p:nvCxnSpPr>
        <p:spPr>
          <a:xfrm>
            <a:off x="4314829" y="4883893"/>
            <a:ext cx="1418391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CAA56918-5133-1C4D-BAF4-E76F29C0315D}"/>
              </a:ext>
            </a:extLst>
          </p:cNvPr>
          <p:cNvSpPr txBox="1"/>
          <p:nvPr/>
        </p:nvSpPr>
        <p:spPr>
          <a:xfrm>
            <a:off x="1622291" y="4139756"/>
            <a:ext cx="87395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dirty="0" err="1">
                <a:latin typeface="Courier" pitchFamily="2" charset="0"/>
              </a:rPr>
              <a:t>Xtest</a:t>
            </a:r>
            <a:endParaRPr lang="es-ES_tradnl" dirty="0">
              <a:latin typeface="Courier" pitchFamily="2" charset="0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ADB37EE2-C03C-2C44-8950-ACD6616C50C5}"/>
              </a:ext>
            </a:extLst>
          </p:cNvPr>
          <p:cNvSpPr txBox="1"/>
          <p:nvPr/>
        </p:nvSpPr>
        <p:spPr>
          <a:xfrm>
            <a:off x="4304902" y="4105616"/>
            <a:ext cx="14253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dirty="0" err="1">
                <a:latin typeface="Courier" pitchFamily="2" charset="0"/>
              </a:rPr>
              <a:t>Xtest_pca</a:t>
            </a:r>
            <a:endParaRPr lang="es-ES_tradnl" dirty="0">
              <a:latin typeface="Courier" pitchFamily="2" charset="0"/>
            </a:endParaRPr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152020EF-B4EC-5340-B1BB-5B9512B97D17}"/>
              </a:ext>
            </a:extLst>
          </p:cNvPr>
          <p:cNvCxnSpPr>
            <a:cxnSpLocks/>
          </p:cNvCxnSpPr>
          <p:nvPr/>
        </p:nvCxnSpPr>
        <p:spPr>
          <a:xfrm>
            <a:off x="6667499" y="3737938"/>
            <a:ext cx="0" cy="67384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C9538B21-4859-B74B-B532-E362330B6982}"/>
              </a:ext>
            </a:extLst>
          </p:cNvPr>
          <p:cNvCxnSpPr>
            <a:cxnSpLocks/>
          </p:cNvCxnSpPr>
          <p:nvPr/>
        </p:nvCxnSpPr>
        <p:spPr>
          <a:xfrm>
            <a:off x="7596809" y="4883893"/>
            <a:ext cx="77525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>
            <a:extLst>
              <a:ext uri="{FF2B5EF4-FFF2-40B4-BE49-F238E27FC236}">
                <a16:creationId xmlns:a16="http://schemas.microsoft.com/office/drawing/2014/main" id="{0735221E-636F-9F4B-B32F-B5DF617A1A70}"/>
              </a:ext>
            </a:extLst>
          </p:cNvPr>
          <p:cNvSpPr txBox="1"/>
          <p:nvPr/>
        </p:nvSpPr>
        <p:spPr>
          <a:xfrm>
            <a:off x="7660059" y="4411784"/>
            <a:ext cx="87395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>
                <a:latin typeface="Courier" pitchFamily="2" charset="0"/>
              </a:rPr>
              <a:t>ypred</a:t>
            </a:r>
          </a:p>
        </p:txBody>
      </p:sp>
      <p:sp>
        <p:nvSpPr>
          <p:cNvPr id="31" name="Oval 30">
            <a:extLst>
              <a:ext uri="{FF2B5EF4-FFF2-40B4-BE49-F238E27FC236}">
                <a16:creationId xmlns:a16="http://schemas.microsoft.com/office/drawing/2014/main" id="{B20762B1-2E3B-3C48-A47A-892C91C7912B}"/>
              </a:ext>
            </a:extLst>
          </p:cNvPr>
          <p:cNvSpPr/>
          <p:nvPr/>
        </p:nvSpPr>
        <p:spPr>
          <a:xfrm>
            <a:off x="8374489" y="4711051"/>
            <a:ext cx="358345" cy="39073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dirty="0">
              <a:latin typeface="Gill Sans MT" panose="020B0502020104020203" pitchFamily="34" charset="77"/>
            </a:endParaRP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BDDFF269-AFD5-EE45-B3B9-70DD2C7E2F6F}"/>
              </a:ext>
            </a:extLst>
          </p:cNvPr>
          <p:cNvSpPr/>
          <p:nvPr/>
        </p:nvSpPr>
        <p:spPr>
          <a:xfrm>
            <a:off x="8401575" y="4612169"/>
            <a:ext cx="300082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s-ES_tradnl" sz="2800" dirty="0">
                <a:solidFill>
                  <a:schemeClr val="bg1"/>
                </a:solidFill>
                <a:latin typeface="Gill Sans MT" panose="020B0502020104020203" pitchFamily="34" charset="77"/>
              </a:rPr>
              <a:t>-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E8723CE7-C3B3-C549-AD5E-F02EBA81A010}"/>
              </a:ext>
            </a:extLst>
          </p:cNvPr>
          <p:cNvSpPr txBox="1"/>
          <p:nvPr/>
        </p:nvSpPr>
        <p:spPr>
          <a:xfrm>
            <a:off x="1668457" y="5453306"/>
            <a:ext cx="87395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>
                <a:latin typeface="Courier" pitchFamily="2" charset="0"/>
              </a:rPr>
              <a:t>ytest</a:t>
            </a:r>
          </a:p>
        </p:txBody>
      </p:sp>
      <p:cxnSp>
        <p:nvCxnSpPr>
          <p:cNvPr id="35" name="Elbow Connector 34">
            <a:extLst>
              <a:ext uri="{FF2B5EF4-FFF2-40B4-BE49-F238E27FC236}">
                <a16:creationId xmlns:a16="http://schemas.microsoft.com/office/drawing/2014/main" id="{CBE7D3C1-10C0-054A-8757-E6832FF95776}"/>
              </a:ext>
            </a:extLst>
          </p:cNvPr>
          <p:cNvCxnSpPr>
            <a:stCxn id="33" idx="3"/>
            <a:endCxn id="32" idx="2"/>
          </p:cNvCxnSpPr>
          <p:nvPr/>
        </p:nvCxnSpPr>
        <p:spPr>
          <a:xfrm flipV="1">
            <a:off x="2542414" y="5135390"/>
            <a:ext cx="6009203" cy="502583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AA21F245-8541-AD46-815F-E495B510B5D1}"/>
              </a:ext>
            </a:extLst>
          </p:cNvPr>
          <p:cNvCxnSpPr>
            <a:cxnSpLocks/>
          </p:cNvCxnSpPr>
          <p:nvPr/>
        </p:nvCxnSpPr>
        <p:spPr>
          <a:xfrm>
            <a:off x="8732834" y="4883893"/>
            <a:ext cx="77525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EB071619-F669-B94A-9A30-C94CD844F413}"/>
              </a:ext>
            </a:extLst>
          </p:cNvPr>
          <p:cNvSpPr txBox="1"/>
          <p:nvPr/>
        </p:nvSpPr>
        <p:spPr>
          <a:xfrm>
            <a:off x="9506623" y="4669235"/>
            <a:ext cx="5982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>
                <a:latin typeface="Courier" pitchFamily="2" charset="0"/>
              </a:rPr>
              <a:t>acc</a:t>
            </a:r>
          </a:p>
        </p:txBody>
      </p: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2D752AA3-B67D-CB43-AB9E-B758790AA4F2}"/>
              </a:ext>
            </a:extLst>
          </p:cNvPr>
          <p:cNvCxnSpPr>
            <a:cxnSpLocks/>
          </p:cNvCxnSpPr>
          <p:nvPr/>
        </p:nvCxnSpPr>
        <p:spPr>
          <a:xfrm>
            <a:off x="3452188" y="5135389"/>
            <a:ext cx="0" cy="1066628"/>
          </a:xfrm>
          <a:prstGeom prst="line">
            <a:avLst/>
          </a:prstGeom>
          <a:ln>
            <a:solidFill>
              <a:schemeClr val="accent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5755FD6A-48BD-0548-9CD7-CBBBB926FBE8}"/>
              </a:ext>
            </a:extLst>
          </p:cNvPr>
          <p:cNvCxnSpPr>
            <a:cxnSpLocks/>
          </p:cNvCxnSpPr>
          <p:nvPr/>
        </p:nvCxnSpPr>
        <p:spPr>
          <a:xfrm>
            <a:off x="3261688" y="3737938"/>
            <a:ext cx="0" cy="67384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9A74FDF6-B5E0-4048-96B4-99B094E66BB8}"/>
              </a:ext>
            </a:extLst>
          </p:cNvPr>
          <p:cNvCxnSpPr>
            <a:cxnSpLocks/>
          </p:cNvCxnSpPr>
          <p:nvPr/>
        </p:nvCxnSpPr>
        <p:spPr>
          <a:xfrm>
            <a:off x="3592994" y="3737938"/>
            <a:ext cx="0" cy="67384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TextBox 39">
            <a:extLst>
              <a:ext uri="{FF2B5EF4-FFF2-40B4-BE49-F238E27FC236}">
                <a16:creationId xmlns:a16="http://schemas.microsoft.com/office/drawing/2014/main" id="{7EE0D115-2D3A-EC45-A378-2C55E91D9905}"/>
              </a:ext>
            </a:extLst>
          </p:cNvPr>
          <p:cNvSpPr txBox="1"/>
          <p:nvPr/>
        </p:nvSpPr>
        <p:spPr>
          <a:xfrm>
            <a:off x="2846436" y="3833351"/>
            <a:ext cx="128753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dirty="0">
                <a:latin typeface="Courier" pitchFamily="2" charset="0"/>
              </a:rPr>
              <a:t>A     Mx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F36B0BB2-1F38-CE4D-B397-D8E04CBB383F}"/>
              </a:ext>
            </a:extLst>
          </p:cNvPr>
          <p:cNvSpPr txBox="1"/>
          <p:nvPr/>
        </p:nvSpPr>
        <p:spPr>
          <a:xfrm>
            <a:off x="2542413" y="6305191"/>
            <a:ext cx="376898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dirty="0" err="1">
                <a:latin typeface="Courier" pitchFamily="2" charset="0"/>
              </a:rPr>
              <a:t>Xtest_pca</a:t>
            </a:r>
            <a:r>
              <a:rPr lang="es-ES_tradnl" dirty="0">
                <a:latin typeface="Courier" pitchFamily="2" charset="0"/>
              </a:rPr>
              <a:t> = (</a:t>
            </a:r>
            <a:r>
              <a:rPr lang="es-ES_tradnl" dirty="0" err="1">
                <a:latin typeface="Courier" pitchFamily="2" charset="0"/>
              </a:rPr>
              <a:t>Xtest</a:t>
            </a:r>
            <a:r>
              <a:rPr lang="es-ES_tradnl" dirty="0">
                <a:latin typeface="Courier" pitchFamily="2" charset="0"/>
              </a:rPr>
              <a:t> – Mx) A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3BDC402-6B58-E844-AFC2-D82BCCE85AB1}"/>
              </a:ext>
            </a:extLst>
          </p:cNvPr>
          <p:cNvSpPr/>
          <p:nvPr/>
        </p:nvSpPr>
        <p:spPr>
          <a:xfrm>
            <a:off x="6689997" y="3829733"/>
            <a:ext cx="894797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s-ES_tradnl" dirty="0">
                <a:latin typeface="Gill Sans MT" panose="020B0502020104020203" pitchFamily="34" charset="77"/>
              </a:rPr>
              <a:t>modelo</a:t>
            </a:r>
            <a:endParaRPr lang="en-US" dirty="0">
              <a:latin typeface="Gill Sans MT" panose="020B0502020104020203" pitchFamily="34" charset="77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2C87F3C-FFCE-0240-998A-E63012755A7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28693" y="6455740"/>
            <a:ext cx="76200" cy="88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61548870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48F09A-B37B-8048-A66C-28F4386B0B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62539" y="431455"/>
            <a:ext cx="8229600" cy="1143000"/>
          </a:xfrm>
        </p:spPr>
        <p:txBody>
          <a:bodyPr>
            <a:normAutofit/>
          </a:bodyPr>
          <a:lstStyle/>
          <a:p>
            <a:pPr algn="l"/>
            <a:r>
              <a:rPr lang="es-ES_tradnl" dirty="0">
                <a:solidFill>
                  <a:schemeClr val="accent2"/>
                </a:solidFill>
                <a:latin typeface="Gill Sans MT" panose="020B0502020104020203" pitchFamily="34" charset="77"/>
              </a:rPr>
              <a:t>Ventajas de PCA:</a:t>
            </a: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7D82AEAD-D7A3-3A44-9BFF-C438B1B21262}"/>
              </a:ext>
            </a:extLst>
          </p:cNvPr>
          <p:cNvSpPr txBox="1">
            <a:spLocks/>
          </p:cNvSpPr>
          <p:nvPr/>
        </p:nvSpPr>
        <p:spPr>
          <a:xfrm>
            <a:off x="1762539" y="1667219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4572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s-ES_tradnl" sz="3200" dirty="0">
                <a:latin typeface="Gill Sans MT" panose="020B0502020104020203" pitchFamily="34" charset="77"/>
              </a:rPr>
              <a:t>1. La representación de muchas características es mucho más sencilla ya que se reduce la </a:t>
            </a:r>
            <a:r>
              <a:rPr lang="es-ES_tradnl" sz="3200" dirty="0" err="1">
                <a:latin typeface="Gill Sans MT" panose="020B0502020104020203" pitchFamily="34" charset="77"/>
              </a:rPr>
              <a:t>dimensionalidad</a:t>
            </a:r>
            <a:endParaRPr lang="es-ES_tradnl" sz="3200" dirty="0">
              <a:latin typeface="Gill Sans MT" panose="020B0502020104020203" pitchFamily="34" charset="77"/>
            </a:endParaRP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91F7A266-8527-A54B-BA2D-E3A64A18E201}"/>
              </a:ext>
            </a:extLst>
          </p:cNvPr>
          <p:cNvSpPr txBox="1">
            <a:spLocks/>
          </p:cNvSpPr>
          <p:nvPr/>
        </p:nvSpPr>
        <p:spPr>
          <a:xfrm>
            <a:off x="1845365" y="3479456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4572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s-ES_tradnl" sz="3200" dirty="0">
                <a:latin typeface="Gill Sans MT" panose="020B0502020104020203" pitchFamily="34" charset="77"/>
              </a:rPr>
              <a:t>2. La clasificación usando las primeras componentes es más simple y más rápida para el clasificador</a:t>
            </a:r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911B4B9D-41A1-F840-BB0C-9D5C3AC7350B}"/>
              </a:ext>
            </a:extLst>
          </p:cNvPr>
          <p:cNvSpPr txBox="1">
            <a:spLocks/>
          </p:cNvSpPr>
          <p:nvPr/>
        </p:nvSpPr>
        <p:spPr>
          <a:xfrm>
            <a:off x="1845365" y="5190781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4572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s-ES_tradnl" sz="3200" dirty="0">
                <a:latin typeface="Gill Sans MT" panose="020B0502020104020203" pitchFamily="34" charset="77"/>
              </a:rPr>
              <a:t>3. Es posible reconstruir </a:t>
            </a:r>
            <a:r>
              <a:rPr lang="es-ES_tradnl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X</a:t>
            </a:r>
            <a:r>
              <a:rPr lang="es-ES_tradnl" sz="3200" dirty="0">
                <a:latin typeface="Gill Sans MT" panose="020B0502020104020203" pitchFamily="34" charset="77"/>
              </a:rPr>
              <a:t> a partir de las principales columnas de </a:t>
            </a:r>
            <a:r>
              <a:rPr lang="es-ES_tradnl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Y</a:t>
            </a:r>
            <a:r>
              <a:rPr lang="es-ES_tradnl" sz="3200" dirty="0">
                <a:latin typeface="Gill Sans MT" panose="020B0502020104020203" pitchFamily="34" charset="77"/>
              </a:rPr>
              <a:t>.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07571A9E-E304-934C-8D4B-216E42744EE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430" y="5793619"/>
            <a:ext cx="2780196" cy="4252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665136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8" grpId="0"/>
      <p:bldP spid="10" grpId="0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48F09A-B37B-8048-A66C-28F4386B0B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62539" y="431455"/>
            <a:ext cx="8229600" cy="1143000"/>
          </a:xfrm>
        </p:spPr>
        <p:txBody>
          <a:bodyPr>
            <a:normAutofit/>
          </a:bodyPr>
          <a:lstStyle/>
          <a:p>
            <a:pPr algn="l"/>
            <a:r>
              <a:rPr lang="es-ES_tradnl" dirty="0">
                <a:solidFill>
                  <a:schemeClr val="accent2"/>
                </a:solidFill>
                <a:latin typeface="Gill Sans MT" panose="020B0502020104020203" pitchFamily="34" charset="77"/>
              </a:rPr>
              <a:t>Reconstrucción con PCA: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6E2096B3-4D7E-1847-91B5-E80DF10E05C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75757" y="1761263"/>
            <a:ext cx="3354064" cy="2778884"/>
          </a:xfrm>
          <a:prstGeom prst="rect">
            <a:avLst/>
          </a:prstGeom>
        </p:spPr>
      </p:pic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68D253CB-A623-5E43-B6B7-508AD3D4836D}"/>
              </a:ext>
            </a:extLst>
          </p:cNvPr>
          <p:cNvSpPr/>
          <p:nvPr/>
        </p:nvSpPr>
        <p:spPr>
          <a:xfrm>
            <a:off x="3889507" y="2683567"/>
            <a:ext cx="1858618" cy="944218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3600" dirty="0">
                <a:latin typeface="Gill Sans MT" panose="020B0502020104020203" pitchFamily="34" charset="77"/>
              </a:rPr>
              <a:t>PCA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45B0EE26-8DB9-DB47-9CF2-FDB0E44D6C8D}"/>
              </a:ext>
            </a:extLst>
          </p:cNvPr>
          <p:cNvCxnSpPr>
            <a:cxnSpLocks/>
          </p:cNvCxnSpPr>
          <p:nvPr/>
        </p:nvCxnSpPr>
        <p:spPr>
          <a:xfrm>
            <a:off x="3114255" y="3150705"/>
            <a:ext cx="77525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E519B260-A302-5149-8234-BB2E16D5D576}"/>
              </a:ext>
            </a:extLst>
          </p:cNvPr>
          <p:cNvCxnSpPr>
            <a:cxnSpLocks/>
          </p:cNvCxnSpPr>
          <p:nvPr/>
        </p:nvCxnSpPr>
        <p:spPr>
          <a:xfrm>
            <a:off x="5748126" y="3150705"/>
            <a:ext cx="77525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7" name="Picture 16">
            <a:extLst>
              <a:ext uri="{FF2B5EF4-FFF2-40B4-BE49-F238E27FC236}">
                <a16:creationId xmlns:a16="http://schemas.microsoft.com/office/drawing/2014/main" id="{267BABA5-3981-A144-BEF9-DDD650CCE3F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85231" y="2337905"/>
            <a:ext cx="1663700" cy="1625600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07D14ECF-BFE2-EA41-B957-A9726A3A4D9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43003" y="2065878"/>
            <a:ext cx="250343" cy="296702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D80F7418-DE1A-4545-BB1D-582FA997B11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81620" y="4829833"/>
            <a:ext cx="4487925" cy="292114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3B2DD1BE-59AD-B14C-B43C-C9E6C68625B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540769" y="5407665"/>
            <a:ext cx="7710029" cy="292114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1A220AE8-8CF6-484D-9400-0FE5DF30E15B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829428" y="5859448"/>
            <a:ext cx="5459264" cy="381282"/>
          </a:xfrm>
          <a:prstGeom prst="rect">
            <a:avLst/>
          </a:prstGeom>
        </p:spPr>
      </p:pic>
      <p:grpSp>
        <p:nvGrpSpPr>
          <p:cNvPr id="25" name="Group 24">
            <a:extLst>
              <a:ext uri="{FF2B5EF4-FFF2-40B4-BE49-F238E27FC236}">
                <a16:creationId xmlns:a16="http://schemas.microsoft.com/office/drawing/2014/main" id="{1E0704E4-8FD1-9449-9045-764ECF908CC3}"/>
              </a:ext>
            </a:extLst>
          </p:cNvPr>
          <p:cNvGrpSpPr/>
          <p:nvPr/>
        </p:nvGrpSpPr>
        <p:grpSpPr>
          <a:xfrm>
            <a:off x="7232374" y="2908858"/>
            <a:ext cx="152400" cy="1377727"/>
            <a:chOff x="5708374" y="2908857"/>
            <a:chExt cx="152400" cy="1377727"/>
          </a:xfrm>
        </p:grpSpPr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37036C83-540A-8F48-A35A-1C721B108589}"/>
                </a:ext>
              </a:extLst>
            </p:cNvPr>
            <p:cNvCxnSpPr/>
            <p:nvPr/>
          </p:nvCxnSpPr>
          <p:spPr>
            <a:xfrm>
              <a:off x="5774635" y="3261679"/>
              <a:ext cx="0" cy="1024905"/>
            </a:xfrm>
            <a:prstGeom prst="line">
              <a:avLst/>
            </a:prstGeom>
            <a:ln w="12700">
              <a:solidFill>
                <a:schemeClr val="tx1">
                  <a:lumMod val="50000"/>
                  <a:lumOff val="50000"/>
                </a:scheme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pic>
          <p:nvPicPr>
            <p:cNvPr id="24" name="Picture 23">
              <a:extLst>
                <a:ext uri="{FF2B5EF4-FFF2-40B4-BE49-F238E27FC236}">
                  <a16:creationId xmlns:a16="http://schemas.microsoft.com/office/drawing/2014/main" id="{D98C53D6-ADCC-F146-A3EA-76D32E85094C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5708374" y="2908857"/>
              <a:ext cx="152400" cy="30480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3435172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48F09A-B37B-8048-A66C-28F4386B0B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62539" y="431455"/>
            <a:ext cx="8229600" cy="1143000"/>
          </a:xfrm>
        </p:spPr>
        <p:txBody>
          <a:bodyPr>
            <a:normAutofit/>
          </a:bodyPr>
          <a:lstStyle/>
          <a:p>
            <a:pPr algn="l"/>
            <a:r>
              <a:rPr lang="es-ES_tradnl" dirty="0">
                <a:solidFill>
                  <a:schemeClr val="accent2"/>
                </a:solidFill>
                <a:latin typeface="Gill Sans MT" panose="020B0502020104020203" pitchFamily="34" charset="77"/>
              </a:rPr>
              <a:t>Reconstrucción con PCA:</a:t>
            </a:r>
          </a:p>
        </p:txBody>
      </p:sp>
      <p:graphicFrame>
        <p:nvGraphicFramePr>
          <p:cNvPr id="6" name="Table 6">
            <a:extLst>
              <a:ext uri="{FF2B5EF4-FFF2-40B4-BE49-F238E27FC236}">
                <a16:creationId xmlns:a16="http://schemas.microsoft.com/office/drawing/2014/main" id="{EBC6BD69-6ECE-744D-9EE1-207B0AB4063E}"/>
              </a:ext>
            </a:extLst>
          </p:cNvPr>
          <p:cNvGraphicFramePr>
            <a:graphicFrameLocks noGrp="1"/>
          </p:cNvGraphicFramePr>
          <p:nvPr/>
        </p:nvGraphicFramePr>
        <p:xfrm>
          <a:off x="2501348" y="2092739"/>
          <a:ext cx="2968488" cy="3794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84244">
                  <a:extLst>
                    <a:ext uri="{9D8B030D-6E8A-4147-A177-3AD203B41FA5}">
                      <a16:colId xmlns:a16="http://schemas.microsoft.com/office/drawing/2014/main" val="3088671041"/>
                    </a:ext>
                  </a:extLst>
                </a:gridCol>
                <a:gridCol w="1484244">
                  <a:extLst>
                    <a:ext uri="{9D8B030D-6E8A-4147-A177-3AD203B41FA5}">
                      <a16:colId xmlns:a16="http://schemas.microsoft.com/office/drawing/2014/main" val="250532396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400" b="0" i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i="0" dirty="0">
                          <a:latin typeface="Gill Sans MT" panose="020B0502020104020203" pitchFamily="34" charset="77"/>
                        </a:rPr>
                        <a:t>Error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860057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0" i="0" dirty="0">
                          <a:latin typeface="Gill Sans MT" panose="020B0502020104020203" pitchFamily="34" charset="77"/>
                        </a:rPr>
                        <a:t>256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i="0" dirty="0">
                          <a:latin typeface="Gill Sans MT" panose="020B0502020104020203" pitchFamily="34" charset="77"/>
                        </a:rPr>
                        <a:t>0.00%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5832916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0" i="0" dirty="0">
                          <a:latin typeface="Gill Sans MT" panose="020B0502020104020203" pitchFamily="34" charset="77"/>
                        </a:rPr>
                        <a:t>200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i="0" dirty="0">
                          <a:latin typeface="Gill Sans MT" panose="020B0502020104020203" pitchFamily="34" charset="77"/>
                        </a:rPr>
                        <a:t>0.08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5737164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0" i="0" dirty="0">
                          <a:latin typeface="Gill Sans MT" panose="020B0502020104020203" pitchFamily="34" charset="77"/>
                        </a:rPr>
                        <a:t>100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i="0" dirty="0">
                          <a:latin typeface="Gill Sans MT" panose="020B0502020104020203" pitchFamily="34" charset="77"/>
                        </a:rPr>
                        <a:t>0.94%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9618325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0" i="0" dirty="0">
                          <a:latin typeface="Gill Sans MT" panose="020B0502020104020203" pitchFamily="34" charset="77"/>
                        </a:rPr>
                        <a:t>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i="0" dirty="0">
                          <a:latin typeface="Gill Sans MT" panose="020B0502020104020203" pitchFamily="34" charset="77"/>
                        </a:rPr>
                        <a:t>2.05%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2242025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0" i="0" dirty="0">
                          <a:latin typeface="Gill Sans MT" panose="020B0502020104020203" pitchFamily="34" charset="77"/>
                        </a:rPr>
                        <a:t>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i="0" dirty="0">
                          <a:latin typeface="Gill Sans MT" panose="020B0502020104020203" pitchFamily="34" charset="77"/>
                        </a:rPr>
                        <a:t>2.93%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445986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0" i="0" dirty="0">
                          <a:latin typeface="Gill Sans MT" panose="020B0502020104020203" pitchFamily="34" charset="77"/>
                        </a:rPr>
                        <a:t>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i="0" dirty="0">
                          <a:latin typeface="Gill Sans MT" panose="020B0502020104020203" pitchFamily="34" charset="77"/>
                        </a:rPr>
                        <a:t>3.67%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999501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0" i="0" dirty="0">
                          <a:latin typeface="Gill Sans MT" panose="020B0502020104020203" pitchFamily="34" charset="77"/>
                        </a:rPr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i="0" dirty="0">
                          <a:latin typeface="Gill Sans MT" panose="020B0502020104020203" pitchFamily="34" charset="77"/>
                        </a:rPr>
                        <a:t>5.36%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3281146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0" i="0" dirty="0">
                          <a:latin typeface="Gill Sans MT" panose="020B0502020104020203" pitchFamily="34" charset="77"/>
                        </a:rP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i="0" dirty="0">
                          <a:latin typeface="Gill Sans MT" panose="020B0502020104020203" pitchFamily="34" charset="77"/>
                        </a:rPr>
                        <a:t>6.98%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403743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0" i="0" dirty="0">
                          <a:latin typeface="Gill Sans MT" panose="020B0502020104020203" pitchFamily="34" charset="77"/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i="0" dirty="0">
                          <a:latin typeface="Gill Sans MT" panose="020B0502020104020203" pitchFamily="34" charset="77"/>
                        </a:rPr>
                        <a:t>9.10%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71550799"/>
                  </a:ext>
                </a:extLst>
              </a:tr>
            </a:tbl>
          </a:graphicData>
        </a:graphic>
      </p:graphicFrame>
      <p:pic>
        <p:nvPicPr>
          <p:cNvPr id="11" name="Picture 10">
            <a:extLst>
              <a:ext uri="{FF2B5EF4-FFF2-40B4-BE49-F238E27FC236}">
                <a16:creationId xmlns:a16="http://schemas.microsoft.com/office/drawing/2014/main" id="{A80ABC10-8A60-484E-9239-A483C4BFFB3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58169" y="1480483"/>
            <a:ext cx="1620000" cy="1620000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97C2AD55-965A-F94E-8EE2-1CB6E1BE767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72733" y="3315978"/>
            <a:ext cx="1620000" cy="1620000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FD68D26D-E2D2-8944-9C36-3DC2DEDB076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72733" y="5151473"/>
            <a:ext cx="1620000" cy="1620000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72D19B03-2194-214E-9674-D0D59F8FE8E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56502" y="1480483"/>
            <a:ext cx="1620000" cy="1620000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80F00783-BEB2-E14C-8AD1-6351DEFA37D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56502" y="3315978"/>
            <a:ext cx="1620000" cy="1620000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A1A05BBE-577B-F549-9E62-6B9BA123CD44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456502" y="5151473"/>
            <a:ext cx="1620000" cy="1620000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9E910E7D-03E2-4B43-8D2A-70B081A68B24}"/>
              </a:ext>
            </a:extLst>
          </p:cNvPr>
          <p:cNvSpPr txBox="1"/>
          <p:nvPr/>
        </p:nvSpPr>
        <p:spPr>
          <a:xfrm>
            <a:off x="7752977" y="1497498"/>
            <a:ext cx="4315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</a:rPr>
              <a:t>50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E0C583C6-1D4E-064B-AF4B-DF9A2F04BC8E}"/>
              </a:ext>
            </a:extLst>
          </p:cNvPr>
          <p:cNvSpPr txBox="1"/>
          <p:nvPr/>
        </p:nvSpPr>
        <p:spPr>
          <a:xfrm>
            <a:off x="7759465" y="3304950"/>
            <a:ext cx="4315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</a:rPr>
              <a:t>30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37B5E355-B666-BD44-A2E3-5F37768A6C72}"/>
              </a:ext>
            </a:extLst>
          </p:cNvPr>
          <p:cNvSpPr txBox="1"/>
          <p:nvPr/>
        </p:nvSpPr>
        <p:spPr>
          <a:xfrm>
            <a:off x="7774029" y="5151473"/>
            <a:ext cx="4315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</a:rPr>
              <a:t>20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82A7A99B-E443-8C40-91B3-3B4CE579B299}"/>
              </a:ext>
            </a:extLst>
          </p:cNvPr>
          <p:cNvSpPr txBox="1"/>
          <p:nvPr/>
        </p:nvSpPr>
        <p:spPr>
          <a:xfrm>
            <a:off x="9640533" y="1480483"/>
            <a:ext cx="4315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</a:rPr>
              <a:t>10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F79EA2B4-8906-A245-BAF1-FA316F6FEC06}"/>
              </a:ext>
            </a:extLst>
          </p:cNvPr>
          <p:cNvSpPr txBox="1"/>
          <p:nvPr/>
        </p:nvSpPr>
        <p:spPr>
          <a:xfrm>
            <a:off x="9746411" y="3287935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</a:rPr>
              <a:t>5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007DDBFB-6FAE-1542-A560-9C1622EEBC2D}"/>
              </a:ext>
            </a:extLst>
          </p:cNvPr>
          <p:cNvSpPr txBox="1"/>
          <p:nvPr/>
        </p:nvSpPr>
        <p:spPr>
          <a:xfrm>
            <a:off x="9760975" y="5134458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</a:rPr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2444467123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48F09A-B37B-8048-A66C-28F4386B0B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62539" y="431455"/>
            <a:ext cx="8229600" cy="1143000"/>
          </a:xfrm>
        </p:spPr>
        <p:txBody>
          <a:bodyPr>
            <a:normAutofit/>
          </a:bodyPr>
          <a:lstStyle/>
          <a:p>
            <a:pPr algn="l"/>
            <a:r>
              <a:rPr lang="es-ES_tradnl" dirty="0">
                <a:solidFill>
                  <a:schemeClr val="accent2"/>
                </a:solidFill>
                <a:latin typeface="Gill Sans MT" panose="020B0502020104020203" pitchFamily="34" charset="77"/>
              </a:rPr>
              <a:t>Desventajas de PCA:</a:t>
            </a: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7D82AEAD-D7A3-3A44-9BFF-C438B1B21262}"/>
              </a:ext>
            </a:extLst>
          </p:cNvPr>
          <p:cNvSpPr txBox="1">
            <a:spLocks/>
          </p:cNvSpPr>
          <p:nvPr/>
        </p:nvSpPr>
        <p:spPr>
          <a:xfrm>
            <a:off x="1762539" y="2286000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4572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s-ES_tradnl" sz="3200" dirty="0">
                <a:latin typeface="Gill Sans MT" panose="020B0502020104020203" pitchFamily="34" charset="77"/>
              </a:rPr>
              <a:t>1. Las características de PCA dependen de todas las características extraídas (es necesario extraer todas las características </a:t>
            </a:r>
            <a:r>
              <a:rPr lang="es-ES_tradnl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X</a:t>
            </a:r>
            <a:r>
              <a:rPr lang="es-ES_tradnl" sz="3200" dirty="0">
                <a:latin typeface="Gill Sans MT" panose="020B0502020104020203" pitchFamily="34" charset="77"/>
              </a:rPr>
              <a:t> para obtener </a:t>
            </a:r>
            <a:r>
              <a:rPr lang="es-ES_tradnl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Y</a:t>
            </a:r>
            <a:r>
              <a:rPr lang="es-ES_tradnl" sz="3200" dirty="0">
                <a:latin typeface="Gill Sans MT" panose="020B0502020104020203" pitchFamily="34" charset="77"/>
              </a:rPr>
              <a:t>, no hay ahorro de cómputo en la extracción)</a:t>
            </a: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91F7A266-8527-A54B-BA2D-E3A64A18E201}"/>
              </a:ext>
            </a:extLst>
          </p:cNvPr>
          <p:cNvSpPr txBox="1">
            <a:spLocks/>
          </p:cNvSpPr>
          <p:nvPr/>
        </p:nvSpPr>
        <p:spPr>
          <a:xfrm>
            <a:off x="1762539" y="4731786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4572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s-ES_tradnl" sz="3200" dirty="0">
                <a:latin typeface="Gill Sans MT" panose="020B0502020104020203" pitchFamily="34" charset="77"/>
              </a:rPr>
              <a:t>2. PCA al no incluir información de los </a:t>
            </a:r>
            <a:r>
              <a:rPr lang="es-ES_tradnl" sz="3200" dirty="0" err="1">
                <a:latin typeface="Gill Sans MT" panose="020B0502020104020203" pitchFamily="34" charset="77"/>
              </a:rPr>
              <a:t>labels</a:t>
            </a:r>
            <a:r>
              <a:rPr lang="es-ES_tradnl" sz="3200" dirty="0">
                <a:latin typeface="Gill Sans MT" panose="020B0502020104020203" pitchFamily="34" charset="77"/>
              </a:rPr>
              <a:t> no asegura que las características transformadas tengan una buena separabilidad.</a:t>
            </a:r>
          </a:p>
        </p:txBody>
      </p:sp>
    </p:spTree>
    <p:extLst>
      <p:ext uri="{BB962C8B-B14F-4D97-AF65-F5344CB8AC3E}">
        <p14:creationId xmlns:p14="http://schemas.microsoft.com/office/powerpoint/2010/main" val="28334415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8" grpId="0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48F09A-B37B-8048-A66C-28F4386B0B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81200" y="2687638"/>
            <a:ext cx="8229600" cy="1143000"/>
          </a:xfrm>
        </p:spPr>
        <p:txBody>
          <a:bodyPr>
            <a:normAutofit/>
          </a:bodyPr>
          <a:lstStyle/>
          <a:p>
            <a:pPr algn="ctr"/>
            <a:r>
              <a:rPr lang="en-US" dirty="0" err="1"/>
              <a:t>Alternativas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2583291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199E8C0D-06B5-674C-9831-A0364C25E516}"/>
              </a:ext>
            </a:extLst>
          </p:cNvPr>
          <p:cNvSpPr/>
          <p:nvPr/>
        </p:nvSpPr>
        <p:spPr>
          <a:xfrm>
            <a:off x="2498033" y="2802837"/>
            <a:ext cx="1858618" cy="944218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3600" dirty="0">
                <a:latin typeface="Gill Sans MT" panose="020B0502020104020203" pitchFamily="34" charset="77"/>
              </a:rPr>
              <a:t>PCA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3D8A2BEA-3E86-7E4D-A358-474FC127FED1}"/>
              </a:ext>
            </a:extLst>
          </p:cNvPr>
          <p:cNvCxnSpPr>
            <a:cxnSpLocks/>
          </p:cNvCxnSpPr>
          <p:nvPr/>
        </p:nvCxnSpPr>
        <p:spPr>
          <a:xfrm>
            <a:off x="1722781" y="3269975"/>
            <a:ext cx="77525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A970640B-A9FD-C84B-B072-9D47A3BF3C37}"/>
              </a:ext>
            </a:extLst>
          </p:cNvPr>
          <p:cNvSpPr/>
          <p:nvPr/>
        </p:nvSpPr>
        <p:spPr>
          <a:xfrm>
            <a:off x="5743161" y="2797866"/>
            <a:ext cx="1858618" cy="944218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2000" dirty="0">
                <a:latin typeface="Gill Sans MT" panose="020B0502020104020203" pitchFamily="34" charset="77"/>
              </a:rPr>
              <a:t>Diseño</a:t>
            </a:r>
          </a:p>
          <a:p>
            <a:pPr algn="ctr"/>
            <a:r>
              <a:rPr lang="es-ES_tradnl" sz="2000" dirty="0">
                <a:latin typeface="Gill Sans MT" panose="020B0502020104020203" pitchFamily="34" charset="77"/>
              </a:rPr>
              <a:t>Clasificador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35FE37D9-E2EF-1840-B12F-6B8E1E5ABD1F}"/>
              </a:ext>
            </a:extLst>
          </p:cNvPr>
          <p:cNvCxnSpPr>
            <a:cxnSpLocks/>
          </p:cNvCxnSpPr>
          <p:nvPr/>
        </p:nvCxnSpPr>
        <p:spPr>
          <a:xfrm>
            <a:off x="4319800" y="3269975"/>
            <a:ext cx="1418391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Rectangle 39">
            <a:extLst>
              <a:ext uri="{FF2B5EF4-FFF2-40B4-BE49-F238E27FC236}">
                <a16:creationId xmlns:a16="http://schemas.microsoft.com/office/drawing/2014/main" id="{5EF20750-C8A0-F146-B9BF-2B7EA0339427}"/>
              </a:ext>
            </a:extLst>
          </p:cNvPr>
          <p:cNvSpPr/>
          <p:nvPr/>
        </p:nvSpPr>
        <p:spPr>
          <a:xfrm>
            <a:off x="1581192" y="4454040"/>
            <a:ext cx="3141566" cy="646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s-ES_tradnl" dirty="0">
                <a:latin typeface="Gill Sans MT" panose="020B0502020104020203" pitchFamily="34" charset="77"/>
              </a:rPr>
              <a:t>Características extraídas </a:t>
            </a:r>
            <a:r>
              <a:rPr lang="es-ES_tradnl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N</a:t>
            </a:r>
            <a:r>
              <a:rPr lang="es-ES_tradnl" dirty="0">
                <a:latin typeface="Gill Sans MT" panose="020B0502020104020203" pitchFamily="34" charset="77"/>
              </a:rPr>
              <a:t> x </a:t>
            </a:r>
            <a:r>
              <a:rPr lang="es-ES_tradnl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L</a:t>
            </a:r>
          </a:p>
          <a:p>
            <a:r>
              <a:rPr lang="es-ES_tradnl" dirty="0">
                <a:latin typeface="Gill Sans MT" panose="020B0502020104020203" pitchFamily="34" charset="77"/>
              </a:rPr>
              <a:t>(</a:t>
            </a:r>
            <a:r>
              <a:rPr lang="es-ES_tradnl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N</a:t>
            </a:r>
            <a:r>
              <a:rPr lang="es-ES_tradnl" dirty="0">
                <a:latin typeface="Gill Sans MT" panose="020B0502020104020203" pitchFamily="34" charset="77"/>
              </a:rPr>
              <a:t> muestras y </a:t>
            </a:r>
            <a:r>
              <a:rPr lang="es-ES_tradnl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L</a:t>
            </a:r>
            <a:r>
              <a:rPr lang="es-ES_tradnl" dirty="0">
                <a:latin typeface="Gill Sans MT" panose="020B0502020104020203" pitchFamily="34" charset="77"/>
              </a:rPr>
              <a:t> características)</a:t>
            </a:r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10CF8F64-B24B-9943-A62D-C3CD7BF1F846}"/>
              </a:ext>
            </a:extLst>
          </p:cNvPr>
          <p:cNvSpPr/>
          <p:nvPr/>
        </p:nvSpPr>
        <p:spPr>
          <a:xfrm>
            <a:off x="5123791" y="5480551"/>
            <a:ext cx="4736573" cy="120032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s-ES_tradnl" dirty="0">
                <a:latin typeface="Gill Sans MT" panose="020B0502020104020203" pitchFamily="34" charset="77"/>
              </a:rPr>
              <a:t>Nuevas características </a:t>
            </a:r>
            <a:r>
              <a:rPr lang="es-ES_tradnl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N</a:t>
            </a:r>
            <a:r>
              <a:rPr lang="es-ES_tradnl" dirty="0">
                <a:latin typeface="Gill Sans MT" panose="020B0502020104020203" pitchFamily="34" charset="77"/>
              </a:rPr>
              <a:t> x </a:t>
            </a:r>
            <a:r>
              <a:rPr lang="es-ES_tradnl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L</a:t>
            </a:r>
          </a:p>
          <a:p>
            <a:r>
              <a:rPr lang="es-ES_tradnl" dirty="0">
                <a:latin typeface="Gill Sans MT" panose="020B0502020104020203" pitchFamily="34" charset="77"/>
              </a:rPr>
              <a:t>(</a:t>
            </a:r>
            <a:r>
              <a:rPr lang="es-ES_tradnl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N</a:t>
            </a:r>
            <a:r>
              <a:rPr lang="es-ES_tradnl" dirty="0">
                <a:latin typeface="Gill Sans MT" panose="020B0502020104020203" pitchFamily="34" charset="77"/>
              </a:rPr>
              <a:t> muestras y </a:t>
            </a:r>
            <a:r>
              <a:rPr lang="es-ES_tradnl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L</a:t>
            </a:r>
            <a:r>
              <a:rPr lang="es-ES_tradnl" dirty="0">
                <a:latin typeface="Gill Sans MT" panose="020B0502020104020203" pitchFamily="34" charset="77"/>
              </a:rPr>
              <a:t> nuevas características)</a:t>
            </a:r>
          </a:p>
          <a:p>
            <a:r>
              <a:rPr lang="es-ES_tradnl" dirty="0">
                <a:latin typeface="Gill Sans MT" panose="020B0502020104020203" pitchFamily="34" charset="77"/>
              </a:rPr>
              <a:t>Se escogen las </a:t>
            </a:r>
            <a:r>
              <a:rPr lang="es-ES_tradnl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</a:t>
            </a:r>
            <a:r>
              <a:rPr lang="es-ES_tradnl" dirty="0">
                <a:latin typeface="Gill Sans MT" panose="020B0502020104020203" pitchFamily="34" charset="77"/>
              </a:rPr>
              <a:t> primeras (las componentes principales)</a:t>
            </a:r>
            <a:endParaRPr lang="en-US" dirty="0">
              <a:latin typeface="Gill Sans MT" panose="020B0502020104020203" pitchFamily="34" charset="77"/>
            </a:endParaRPr>
          </a:p>
        </p:txBody>
      </p: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DEA7B4FD-B6CA-2B46-BEF5-D1723AE8CEB9}"/>
              </a:ext>
            </a:extLst>
          </p:cNvPr>
          <p:cNvCxnSpPr>
            <a:cxnSpLocks/>
          </p:cNvCxnSpPr>
          <p:nvPr/>
        </p:nvCxnSpPr>
        <p:spPr>
          <a:xfrm>
            <a:off x="2110406" y="3508516"/>
            <a:ext cx="0" cy="795886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0849BD36-DDA8-2E42-8C8F-D0F9AC9476C3}"/>
              </a:ext>
            </a:extLst>
          </p:cNvPr>
          <p:cNvCxnSpPr>
            <a:cxnSpLocks/>
          </p:cNvCxnSpPr>
          <p:nvPr/>
        </p:nvCxnSpPr>
        <p:spPr>
          <a:xfrm flipV="1">
            <a:off x="5335380" y="3523903"/>
            <a:ext cx="0" cy="190286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itle 1">
            <a:extLst>
              <a:ext uri="{FF2B5EF4-FFF2-40B4-BE49-F238E27FC236}">
                <a16:creationId xmlns:a16="http://schemas.microsoft.com/office/drawing/2014/main" id="{537607F1-A474-3846-A13D-35C9B81430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62539" y="431455"/>
            <a:ext cx="8229600" cy="1143000"/>
          </a:xfrm>
        </p:spPr>
        <p:txBody>
          <a:bodyPr>
            <a:normAutofit/>
          </a:bodyPr>
          <a:lstStyle/>
          <a:p>
            <a:pPr algn="l"/>
            <a:r>
              <a:rPr lang="es-ES_tradnl" dirty="0">
                <a:solidFill>
                  <a:schemeClr val="accent2"/>
                </a:solidFill>
                <a:latin typeface="Gill Sans MT" panose="020B0502020104020203" pitchFamily="34" charset="77"/>
              </a:rPr>
              <a:t>Estrategia con PCA (original):</a:t>
            </a:r>
          </a:p>
        </p:txBody>
      </p:sp>
      <p:pic>
        <p:nvPicPr>
          <p:cNvPr id="46" name="Picture 45">
            <a:extLst>
              <a:ext uri="{FF2B5EF4-FFF2-40B4-BE49-F238E27FC236}">
                <a16:creationId xmlns:a16="http://schemas.microsoft.com/office/drawing/2014/main" id="{8BDA813A-C9BE-E34D-8ED5-345C5BA309A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12004" y="2789644"/>
            <a:ext cx="368300" cy="317500"/>
          </a:xfrm>
          <a:prstGeom prst="rect">
            <a:avLst/>
          </a:prstGeom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D6F9ED51-E114-5248-B914-E624DB22992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42790" y="2792896"/>
            <a:ext cx="381000" cy="317500"/>
          </a:xfrm>
          <a:prstGeom prst="rect">
            <a:avLst/>
          </a:prstGeom>
        </p:spPr>
      </p:pic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4DAA043B-3150-AC46-ABAD-873D6325289A}"/>
              </a:ext>
            </a:extLst>
          </p:cNvPr>
          <p:cNvCxnSpPr>
            <a:cxnSpLocks/>
          </p:cNvCxnSpPr>
          <p:nvPr/>
        </p:nvCxnSpPr>
        <p:spPr>
          <a:xfrm>
            <a:off x="7604997" y="3269281"/>
            <a:ext cx="57580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Rectangle 50">
            <a:extLst>
              <a:ext uri="{FF2B5EF4-FFF2-40B4-BE49-F238E27FC236}">
                <a16:creationId xmlns:a16="http://schemas.microsoft.com/office/drawing/2014/main" id="{EDC5605F-9064-864E-99BD-15B621F0D113}"/>
              </a:ext>
            </a:extLst>
          </p:cNvPr>
          <p:cNvSpPr/>
          <p:nvPr/>
        </p:nvSpPr>
        <p:spPr>
          <a:xfrm>
            <a:off x="8180799" y="3089485"/>
            <a:ext cx="81144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s-ES_tradnl" dirty="0">
                <a:latin typeface="Gill Sans MT" panose="020B0502020104020203" pitchFamily="34" charset="77"/>
              </a:rPr>
              <a:t>output</a:t>
            </a:r>
            <a:endParaRPr lang="en-US" dirty="0">
              <a:latin typeface="Gill Sans MT" panose="020B0502020104020203" pitchFamily="34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899325029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199E8C0D-06B5-674C-9831-A0364C25E516}"/>
              </a:ext>
            </a:extLst>
          </p:cNvPr>
          <p:cNvSpPr/>
          <p:nvPr/>
        </p:nvSpPr>
        <p:spPr>
          <a:xfrm>
            <a:off x="2498033" y="2802837"/>
            <a:ext cx="1858618" cy="944218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3600" dirty="0">
                <a:latin typeface="Gill Sans MT" panose="020B0502020104020203" pitchFamily="34" charset="77"/>
              </a:rPr>
              <a:t>SFS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3D8A2BEA-3E86-7E4D-A358-474FC127FED1}"/>
              </a:ext>
            </a:extLst>
          </p:cNvPr>
          <p:cNvCxnSpPr>
            <a:cxnSpLocks/>
          </p:cNvCxnSpPr>
          <p:nvPr/>
        </p:nvCxnSpPr>
        <p:spPr>
          <a:xfrm>
            <a:off x="1722781" y="3269975"/>
            <a:ext cx="77525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A970640B-A9FD-C84B-B072-9D47A3BF3C37}"/>
              </a:ext>
            </a:extLst>
          </p:cNvPr>
          <p:cNvSpPr/>
          <p:nvPr/>
        </p:nvSpPr>
        <p:spPr>
          <a:xfrm>
            <a:off x="7522267" y="2797866"/>
            <a:ext cx="1858618" cy="944218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2000" dirty="0">
                <a:latin typeface="Gill Sans MT" panose="020B0502020104020203" pitchFamily="34" charset="77"/>
              </a:rPr>
              <a:t>Diseño</a:t>
            </a:r>
          </a:p>
          <a:p>
            <a:pPr algn="ctr"/>
            <a:r>
              <a:rPr lang="es-ES_tradnl" sz="2000" dirty="0">
                <a:latin typeface="Gill Sans MT" panose="020B0502020104020203" pitchFamily="34" charset="77"/>
              </a:rPr>
              <a:t>Clasificador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35FE37D9-E2EF-1840-B12F-6B8E1E5ABD1F}"/>
              </a:ext>
            </a:extLst>
          </p:cNvPr>
          <p:cNvCxnSpPr>
            <a:cxnSpLocks/>
          </p:cNvCxnSpPr>
          <p:nvPr/>
        </p:nvCxnSpPr>
        <p:spPr>
          <a:xfrm>
            <a:off x="4319799" y="3269975"/>
            <a:ext cx="648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itle 1">
            <a:extLst>
              <a:ext uri="{FF2B5EF4-FFF2-40B4-BE49-F238E27FC236}">
                <a16:creationId xmlns:a16="http://schemas.microsoft.com/office/drawing/2014/main" id="{537607F1-A474-3846-A13D-35C9B81430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62539" y="431455"/>
            <a:ext cx="8229600" cy="1143000"/>
          </a:xfrm>
        </p:spPr>
        <p:txBody>
          <a:bodyPr>
            <a:normAutofit/>
          </a:bodyPr>
          <a:lstStyle/>
          <a:p>
            <a:pPr algn="l"/>
            <a:r>
              <a:rPr lang="es-ES_tradnl" dirty="0">
                <a:solidFill>
                  <a:schemeClr val="accent2"/>
                </a:solidFill>
                <a:latin typeface="Gill Sans MT" panose="020B0502020104020203" pitchFamily="34" charset="77"/>
              </a:rPr>
              <a:t>Estrategia con PCA y SFS (1/4):</a:t>
            </a:r>
          </a:p>
        </p:txBody>
      </p:sp>
      <p:pic>
        <p:nvPicPr>
          <p:cNvPr id="46" name="Picture 45">
            <a:extLst>
              <a:ext uri="{FF2B5EF4-FFF2-40B4-BE49-F238E27FC236}">
                <a16:creationId xmlns:a16="http://schemas.microsoft.com/office/drawing/2014/main" id="{8BDA813A-C9BE-E34D-8ED5-345C5BA309A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12004" y="2789644"/>
            <a:ext cx="368300" cy="317500"/>
          </a:xfrm>
          <a:prstGeom prst="rect">
            <a:avLst/>
          </a:prstGeom>
        </p:spPr>
      </p:pic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4DAA043B-3150-AC46-ABAD-873D6325289A}"/>
              </a:ext>
            </a:extLst>
          </p:cNvPr>
          <p:cNvCxnSpPr>
            <a:cxnSpLocks/>
          </p:cNvCxnSpPr>
          <p:nvPr/>
        </p:nvCxnSpPr>
        <p:spPr>
          <a:xfrm>
            <a:off x="9384103" y="3269281"/>
            <a:ext cx="379437" cy="69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Rectangle 50">
            <a:extLst>
              <a:ext uri="{FF2B5EF4-FFF2-40B4-BE49-F238E27FC236}">
                <a16:creationId xmlns:a16="http://schemas.microsoft.com/office/drawing/2014/main" id="{EDC5605F-9064-864E-99BD-15B621F0D113}"/>
              </a:ext>
            </a:extLst>
          </p:cNvPr>
          <p:cNvSpPr/>
          <p:nvPr/>
        </p:nvSpPr>
        <p:spPr>
          <a:xfrm>
            <a:off x="9751186" y="3089485"/>
            <a:ext cx="81144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s-ES_tradnl" dirty="0">
                <a:latin typeface="Gill Sans MT" panose="020B0502020104020203" pitchFamily="34" charset="77"/>
              </a:rPr>
              <a:t>output</a:t>
            </a:r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AD600A33-AF31-014A-B259-26005ECB1876}"/>
              </a:ext>
            </a:extLst>
          </p:cNvPr>
          <p:cNvSpPr/>
          <p:nvPr/>
        </p:nvSpPr>
        <p:spPr>
          <a:xfrm>
            <a:off x="5010150" y="2789644"/>
            <a:ext cx="1858618" cy="944218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3600" dirty="0">
                <a:latin typeface="Gill Sans MT" panose="020B0502020104020203" pitchFamily="34" charset="77"/>
              </a:rPr>
              <a:t>PCA</a:t>
            </a: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6FD700CE-6BC8-8541-9EE4-B5FE03A55A57}"/>
              </a:ext>
            </a:extLst>
          </p:cNvPr>
          <p:cNvCxnSpPr>
            <a:cxnSpLocks/>
          </p:cNvCxnSpPr>
          <p:nvPr/>
        </p:nvCxnSpPr>
        <p:spPr>
          <a:xfrm>
            <a:off x="6831916" y="3256782"/>
            <a:ext cx="648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3" name="Picture 2">
            <a:extLst>
              <a:ext uri="{FF2B5EF4-FFF2-40B4-BE49-F238E27FC236}">
                <a16:creationId xmlns:a16="http://schemas.microsoft.com/office/drawing/2014/main" id="{A09FF33F-3E77-B44C-9795-878F33C07A3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30806" y="2804828"/>
            <a:ext cx="546100" cy="393700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488B9D52-AB82-2B45-A463-964E1306215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00712" y="2826363"/>
            <a:ext cx="546100" cy="393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6505879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199E8C0D-06B5-674C-9831-A0364C25E516}"/>
              </a:ext>
            </a:extLst>
          </p:cNvPr>
          <p:cNvSpPr/>
          <p:nvPr/>
        </p:nvSpPr>
        <p:spPr>
          <a:xfrm>
            <a:off x="2498033" y="2802837"/>
            <a:ext cx="1858618" cy="944218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3600" dirty="0">
                <a:latin typeface="Gill Sans MT" panose="020B0502020104020203" pitchFamily="34" charset="77"/>
              </a:rPr>
              <a:t>SFS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3D8A2BEA-3E86-7E4D-A358-474FC127FED1}"/>
              </a:ext>
            </a:extLst>
          </p:cNvPr>
          <p:cNvCxnSpPr>
            <a:cxnSpLocks/>
          </p:cNvCxnSpPr>
          <p:nvPr/>
        </p:nvCxnSpPr>
        <p:spPr>
          <a:xfrm>
            <a:off x="1722781" y="3269975"/>
            <a:ext cx="77525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A970640B-A9FD-C84B-B072-9D47A3BF3C37}"/>
              </a:ext>
            </a:extLst>
          </p:cNvPr>
          <p:cNvSpPr/>
          <p:nvPr/>
        </p:nvSpPr>
        <p:spPr>
          <a:xfrm>
            <a:off x="7522267" y="2797866"/>
            <a:ext cx="1858618" cy="944218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2000" dirty="0">
                <a:latin typeface="Gill Sans MT" panose="020B0502020104020203" pitchFamily="34" charset="77"/>
              </a:rPr>
              <a:t>Diseño</a:t>
            </a:r>
          </a:p>
          <a:p>
            <a:pPr algn="ctr"/>
            <a:r>
              <a:rPr lang="es-ES_tradnl" sz="2000" dirty="0">
                <a:latin typeface="Gill Sans MT" panose="020B0502020104020203" pitchFamily="34" charset="77"/>
              </a:rPr>
              <a:t>Clasificador</a:t>
            </a:r>
          </a:p>
        </p:txBody>
      </p:sp>
      <p:sp>
        <p:nvSpPr>
          <p:cNvPr id="44" name="Title 1">
            <a:extLst>
              <a:ext uri="{FF2B5EF4-FFF2-40B4-BE49-F238E27FC236}">
                <a16:creationId xmlns:a16="http://schemas.microsoft.com/office/drawing/2014/main" id="{537607F1-A474-3846-A13D-35C9B81430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62539" y="431455"/>
            <a:ext cx="8229600" cy="1143000"/>
          </a:xfrm>
        </p:spPr>
        <p:txBody>
          <a:bodyPr>
            <a:normAutofit/>
          </a:bodyPr>
          <a:lstStyle/>
          <a:p>
            <a:pPr algn="l"/>
            <a:r>
              <a:rPr lang="es-ES_tradnl" dirty="0">
                <a:solidFill>
                  <a:schemeClr val="accent2"/>
                </a:solidFill>
                <a:latin typeface="Gill Sans MT" panose="020B0502020104020203" pitchFamily="34" charset="77"/>
              </a:rPr>
              <a:t>Estrategia con PCA y SFS (2/4):</a:t>
            </a:r>
          </a:p>
        </p:txBody>
      </p: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4DAA043B-3150-AC46-ABAD-873D6325289A}"/>
              </a:ext>
            </a:extLst>
          </p:cNvPr>
          <p:cNvCxnSpPr>
            <a:cxnSpLocks/>
          </p:cNvCxnSpPr>
          <p:nvPr/>
        </p:nvCxnSpPr>
        <p:spPr>
          <a:xfrm>
            <a:off x="9384103" y="3269281"/>
            <a:ext cx="379437" cy="69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Rectangle 50">
            <a:extLst>
              <a:ext uri="{FF2B5EF4-FFF2-40B4-BE49-F238E27FC236}">
                <a16:creationId xmlns:a16="http://schemas.microsoft.com/office/drawing/2014/main" id="{EDC5605F-9064-864E-99BD-15B621F0D113}"/>
              </a:ext>
            </a:extLst>
          </p:cNvPr>
          <p:cNvSpPr/>
          <p:nvPr/>
        </p:nvSpPr>
        <p:spPr>
          <a:xfrm>
            <a:off x="9751186" y="3089485"/>
            <a:ext cx="81144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s-ES_tradnl" dirty="0">
                <a:latin typeface="Gill Sans MT" panose="020B0502020104020203" pitchFamily="34" charset="77"/>
              </a:rPr>
              <a:t>output</a:t>
            </a:r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AD600A33-AF31-014A-B259-26005ECB1876}"/>
              </a:ext>
            </a:extLst>
          </p:cNvPr>
          <p:cNvSpPr/>
          <p:nvPr/>
        </p:nvSpPr>
        <p:spPr>
          <a:xfrm>
            <a:off x="2498033" y="4037906"/>
            <a:ext cx="1858618" cy="944218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3600" dirty="0">
                <a:latin typeface="Gill Sans MT" panose="020B0502020104020203" pitchFamily="34" charset="77"/>
              </a:rPr>
              <a:t>PCA</a:t>
            </a: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6FD700CE-6BC8-8541-9EE4-B5FE03A55A57}"/>
              </a:ext>
            </a:extLst>
          </p:cNvPr>
          <p:cNvCxnSpPr>
            <a:cxnSpLocks/>
          </p:cNvCxnSpPr>
          <p:nvPr/>
        </p:nvCxnSpPr>
        <p:spPr>
          <a:xfrm>
            <a:off x="6831916" y="3256782"/>
            <a:ext cx="648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3" name="Picture 2">
            <a:extLst>
              <a:ext uri="{FF2B5EF4-FFF2-40B4-BE49-F238E27FC236}">
                <a16:creationId xmlns:a16="http://schemas.microsoft.com/office/drawing/2014/main" id="{A09FF33F-3E77-B44C-9795-878F33C07A3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30806" y="2804828"/>
            <a:ext cx="546100" cy="393700"/>
          </a:xfrm>
          <a:prstGeom prst="rect">
            <a:avLst/>
          </a:prstGeom>
        </p:spPr>
      </p:pic>
      <p:cxnSp>
        <p:nvCxnSpPr>
          <p:cNvPr id="5" name="Elbow Connector 4">
            <a:extLst>
              <a:ext uri="{FF2B5EF4-FFF2-40B4-BE49-F238E27FC236}">
                <a16:creationId xmlns:a16="http://schemas.microsoft.com/office/drawing/2014/main" id="{CB2FDAC0-05F0-4B4D-9CB0-C78E769F6FE2}"/>
              </a:ext>
            </a:extLst>
          </p:cNvPr>
          <p:cNvCxnSpPr>
            <a:cxnSpLocks/>
            <a:endCxn id="16" idx="1"/>
          </p:cNvCxnSpPr>
          <p:nvPr/>
        </p:nvCxnSpPr>
        <p:spPr>
          <a:xfrm rot="16200000" flipH="1">
            <a:off x="1670200" y="3682183"/>
            <a:ext cx="1253786" cy="401879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8" name="Picture 17">
            <a:extLst>
              <a:ext uri="{FF2B5EF4-FFF2-40B4-BE49-F238E27FC236}">
                <a16:creationId xmlns:a16="http://schemas.microsoft.com/office/drawing/2014/main" id="{0B86F98B-104E-D547-8CA8-2351657E56C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12004" y="2799583"/>
            <a:ext cx="368300" cy="317500"/>
          </a:xfrm>
          <a:prstGeom prst="rect">
            <a:avLst/>
          </a:prstGeom>
        </p:spPr>
      </p:pic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DC5D24E3-9EFB-FF41-89EB-756A3AD1A243}"/>
              </a:ext>
            </a:extLst>
          </p:cNvPr>
          <p:cNvCxnSpPr>
            <a:cxnSpLocks/>
          </p:cNvCxnSpPr>
          <p:nvPr/>
        </p:nvCxnSpPr>
        <p:spPr>
          <a:xfrm>
            <a:off x="4319799" y="3269975"/>
            <a:ext cx="648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>
            <a:extLst>
              <a:ext uri="{FF2B5EF4-FFF2-40B4-BE49-F238E27FC236}">
                <a16:creationId xmlns:a16="http://schemas.microsoft.com/office/drawing/2014/main" id="{DAD5EADE-F782-8943-97C1-3F62AFBFE855}"/>
              </a:ext>
            </a:extLst>
          </p:cNvPr>
          <p:cNvSpPr/>
          <p:nvPr/>
        </p:nvSpPr>
        <p:spPr>
          <a:xfrm>
            <a:off x="5010150" y="2789644"/>
            <a:ext cx="1858618" cy="944218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2000" dirty="0" err="1">
                <a:latin typeface="Gill Sans MT" panose="020B0502020104020203" pitchFamily="34" charset="77"/>
              </a:rPr>
              <a:t>Concatenate</a:t>
            </a:r>
            <a:endParaRPr lang="es-ES_tradnl" sz="2000" dirty="0">
              <a:latin typeface="Gill Sans MT" panose="020B0502020104020203" pitchFamily="34" charset="77"/>
            </a:endParaRPr>
          </a:p>
        </p:txBody>
      </p:sp>
      <p:cxnSp>
        <p:nvCxnSpPr>
          <p:cNvPr id="21" name="Elbow Connector 20">
            <a:extLst>
              <a:ext uri="{FF2B5EF4-FFF2-40B4-BE49-F238E27FC236}">
                <a16:creationId xmlns:a16="http://schemas.microsoft.com/office/drawing/2014/main" id="{93669766-AD5D-7C4C-B8E6-B58EA0E06CB9}"/>
              </a:ext>
            </a:extLst>
          </p:cNvPr>
          <p:cNvCxnSpPr>
            <a:cxnSpLocks/>
            <a:stCxn id="16" idx="3"/>
            <a:endCxn id="20" idx="2"/>
          </p:cNvCxnSpPr>
          <p:nvPr/>
        </p:nvCxnSpPr>
        <p:spPr>
          <a:xfrm flipV="1">
            <a:off x="4356651" y="3733863"/>
            <a:ext cx="1582808" cy="776153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22" name="Picture 21">
            <a:extLst>
              <a:ext uri="{FF2B5EF4-FFF2-40B4-BE49-F238E27FC236}">
                <a16:creationId xmlns:a16="http://schemas.microsoft.com/office/drawing/2014/main" id="{75DDFDA0-8AA6-C346-8B12-20E169ECC5C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60623" y="4112929"/>
            <a:ext cx="381000" cy="31750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4119AC76-C8C9-3E4D-9693-4BD6F7655B3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06314" y="2803940"/>
            <a:ext cx="546100" cy="355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2000129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199E8C0D-06B5-674C-9831-A0364C25E516}"/>
              </a:ext>
            </a:extLst>
          </p:cNvPr>
          <p:cNvSpPr/>
          <p:nvPr/>
        </p:nvSpPr>
        <p:spPr>
          <a:xfrm>
            <a:off x="2498033" y="2802837"/>
            <a:ext cx="1182758" cy="944218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3600" dirty="0">
                <a:latin typeface="Gill Sans MT" panose="020B0502020104020203" pitchFamily="34" charset="77"/>
              </a:rPr>
              <a:t>SFS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3D8A2BEA-3E86-7E4D-A358-474FC127FED1}"/>
              </a:ext>
            </a:extLst>
          </p:cNvPr>
          <p:cNvCxnSpPr>
            <a:cxnSpLocks/>
          </p:cNvCxnSpPr>
          <p:nvPr/>
        </p:nvCxnSpPr>
        <p:spPr>
          <a:xfrm>
            <a:off x="1722781" y="3269975"/>
            <a:ext cx="77525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A970640B-A9FD-C84B-B072-9D47A3BF3C37}"/>
              </a:ext>
            </a:extLst>
          </p:cNvPr>
          <p:cNvSpPr/>
          <p:nvPr/>
        </p:nvSpPr>
        <p:spPr>
          <a:xfrm>
            <a:off x="7743863" y="2797866"/>
            <a:ext cx="1637022" cy="944218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2000" dirty="0">
                <a:latin typeface="Gill Sans MT" panose="020B0502020104020203" pitchFamily="34" charset="77"/>
              </a:rPr>
              <a:t>Diseño</a:t>
            </a:r>
          </a:p>
          <a:p>
            <a:pPr algn="ctr"/>
            <a:r>
              <a:rPr lang="es-ES_tradnl" sz="2000" dirty="0">
                <a:latin typeface="Gill Sans MT" panose="020B0502020104020203" pitchFamily="34" charset="77"/>
              </a:rPr>
              <a:t>Clasificador</a:t>
            </a:r>
          </a:p>
        </p:txBody>
      </p:sp>
      <p:sp>
        <p:nvSpPr>
          <p:cNvPr id="44" name="Title 1">
            <a:extLst>
              <a:ext uri="{FF2B5EF4-FFF2-40B4-BE49-F238E27FC236}">
                <a16:creationId xmlns:a16="http://schemas.microsoft.com/office/drawing/2014/main" id="{537607F1-A474-3846-A13D-35C9B81430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62539" y="431455"/>
            <a:ext cx="8229600" cy="1143000"/>
          </a:xfrm>
        </p:spPr>
        <p:txBody>
          <a:bodyPr>
            <a:normAutofit/>
          </a:bodyPr>
          <a:lstStyle/>
          <a:p>
            <a:pPr algn="l"/>
            <a:r>
              <a:rPr lang="es-ES_tradnl" dirty="0">
                <a:solidFill>
                  <a:schemeClr val="accent2"/>
                </a:solidFill>
                <a:latin typeface="Gill Sans MT" panose="020B0502020104020203" pitchFamily="34" charset="77"/>
              </a:rPr>
              <a:t>Estrategia con PCA y SFS (3/4):</a:t>
            </a:r>
          </a:p>
        </p:txBody>
      </p: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4DAA043B-3150-AC46-ABAD-873D6325289A}"/>
              </a:ext>
            </a:extLst>
          </p:cNvPr>
          <p:cNvCxnSpPr>
            <a:cxnSpLocks/>
          </p:cNvCxnSpPr>
          <p:nvPr/>
        </p:nvCxnSpPr>
        <p:spPr>
          <a:xfrm>
            <a:off x="9384103" y="3269281"/>
            <a:ext cx="379437" cy="69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Rectangle 50">
            <a:extLst>
              <a:ext uri="{FF2B5EF4-FFF2-40B4-BE49-F238E27FC236}">
                <a16:creationId xmlns:a16="http://schemas.microsoft.com/office/drawing/2014/main" id="{EDC5605F-9064-864E-99BD-15B621F0D113}"/>
              </a:ext>
            </a:extLst>
          </p:cNvPr>
          <p:cNvSpPr/>
          <p:nvPr/>
        </p:nvSpPr>
        <p:spPr>
          <a:xfrm>
            <a:off x="9751186" y="3089485"/>
            <a:ext cx="81144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s-ES_tradnl" dirty="0">
                <a:latin typeface="Gill Sans MT" panose="020B0502020104020203" pitchFamily="34" charset="77"/>
              </a:rPr>
              <a:t>output</a:t>
            </a:r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AD600A33-AF31-014A-B259-26005ECB1876}"/>
              </a:ext>
            </a:extLst>
          </p:cNvPr>
          <p:cNvSpPr/>
          <p:nvPr/>
        </p:nvSpPr>
        <p:spPr>
          <a:xfrm>
            <a:off x="2498033" y="4037906"/>
            <a:ext cx="1182758" cy="944218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3600" dirty="0">
                <a:latin typeface="Gill Sans MT" panose="020B0502020104020203" pitchFamily="34" charset="77"/>
              </a:rPr>
              <a:t>PCA</a:t>
            </a: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6FD700CE-6BC8-8541-9EE4-B5FE03A55A57}"/>
              </a:ext>
            </a:extLst>
          </p:cNvPr>
          <p:cNvCxnSpPr>
            <a:cxnSpLocks/>
          </p:cNvCxnSpPr>
          <p:nvPr/>
        </p:nvCxnSpPr>
        <p:spPr>
          <a:xfrm>
            <a:off x="7110212" y="3256782"/>
            <a:ext cx="648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3" name="Picture 2">
            <a:extLst>
              <a:ext uri="{FF2B5EF4-FFF2-40B4-BE49-F238E27FC236}">
                <a16:creationId xmlns:a16="http://schemas.microsoft.com/office/drawing/2014/main" id="{A09FF33F-3E77-B44C-9795-878F33C07A3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45005" y="2804828"/>
            <a:ext cx="546100" cy="393700"/>
          </a:xfrm>
          <a:prstGeom prst="rect">
            <a:avLst/>
          </a:prstGeom>
        </p:spPr>
      </p:pic>
      <p:cxnSp>
        <p:nvCxnSpPr>
          <p:cNvPr id="5" name="Elbow Connector 4">
            <a:extLst>
              <a:ext uri="{FF2B5EF4-FFF2-40B4-BE49-F238E27FC236}">
                <a16:creationId xmlns:a16="http://schemas.microsoft.com/office/drawing/2014/main" id="{CB2FDAC0-05F0-4B4D-9CB0-C78E769F6FE2}"/>
              </a:ext>
            </a:extLst>
          </p:cNvPr>
          <p:cNvCxnSpPr>
            <a:cxnSpLocks/>
            <a:endCxn id="16" idx="1"/>
          </p:cNvCxnSpPr>
          <p:nvPr/>
        </p:nvCxnSpPr>
        <p:spPr>
          <a:xfrm rot="16200000" flipH="1">
            <a:off x="1670200" y="3682182"/>
            <a:ext cx="1253786" cy="401880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8" name="Picture 17">
            <a:extLst>
              <a:ext uri="{FF2B5EF4-FFF2-40B4-BE49-F238E27FC236}">
                <a16:creationId xmlns:a16="http://schemas.microsoft.com/office/drawing/2014/main" id="{0B86F98B-104E-D547-8CA8-2351657E56C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12004" y="2799583"/>
            <a:ext cx="368300" cy="317500"/>
          </a:xfrm>
          <a:prstGeom prst="rect">
            <a:avLst/>
          </a:prstGeom>
        </p:spPr>
      </p:pic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DC5D24E3-9EFB-FF41-89EB-756A3AD1A243}"/>
              </a:ext>
            </a:extLst>
          </p:cNvPr>
          <p:cNvCxnSpPr>
            <a:cxnSpLocks/>
          </p:cNvCxnSpPr>
          <p:nvPr/>
        </p:nvCxnSpPr>
        <p:spPr>
          <a:xfrm>
            <a:off x="3693634" y="3269975"/>
            <a:ext cx="648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>
            <a:extLst>
              <a:ext uri="{FF2B5EF4-FFF2-40B4-BE49-F238E27FC236}">
                <a16:creationId xmlns:a16="http://schemas.microsoft.com/office/drawing/2014/main" id="{DAD5EADE-F782-8943-97C1-3F62AFBFE855}"/>
              </a:ext>
            </a:extLst>
          </p:cNvPr>
          <p:cNvSpPr/>
          <p:nvPr/>
        </p:nvSpPr>
        <p:spPr>
          <a:xfrm>
            <a:off x="4324349" y="2789644"/>
            <a:ext cx="1136588" cy="944218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2000" dirty="0">
                <a:latin typeface="Gill Sans MT" panose="020B0502020104020203" pitchFamily="34" charset="77"/>
              </a:rPr>
              <a:t>Conca-</a:t>
            </a:r>
          </a:p>
          <a:p>
            <a:pPr algn="ctr"/>
            <a:r>
              <a:rPr lang="es-ES_tradnl" sz="2000" dirty="0">
                <a:latin typeface="Gill Sans MT" panose="020B0502020104020203" pitchFamily="34" charset="77"/>
              </a:rPr>
              <a:t>tenate</a:t>
            </a:r>
          </a:p>
        </p:txBody>
      </p:sp>
      <p:cxnSp>
        <p:nvCxnSpPr>
          <p:cNvPr id="21" name="Elbow Connector 20">
            <a:extLst>
              <a:ext uri="{FF2B5EF4-FFF2-40B4-BE49-F238E27FC236}">
                <a16:creationId xmlns:a16="http://schemas.microsoft.com/office/drawing/2014/main" id="{93669766-AD5D-7C4C-B8E6-B58EA0E06CB9}"/>
              </a:ext>
            </a:extLst>
          </p:cNvPr>
          <p:cNvCxnSpPr>
            <a:cxnSpLocks/>
            <a:stCxn id="16" idx="3"/>
            <a:endCxn id="20" idx="2"/>
          </p:cNvCxnSpPr>
          <p:nvPr/>
        </p:nvCxnSpPr>
        <p:spPr>
          <a:xfrm flipV="1">
            <a:off x="3680791" y="3733863"/>
            <a:ext cx="1211852" cy="776153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22" name="Picture 21">
            <a:extLst>
              <a:ext uri="{FF2B5EF4-FFF2-40B4-BE49-F238E27FC236}">
                <a16:creationId xmlns:a16="http://schemas.microsoft.com/office/drawing/2014/main" id="{75DDFDA0-8AA6-C346-8B12-20E169ECC5C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60623" y="4112929"/>
            <a:ext cx="381000" cy="31750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4119AC76-C8C9-3E4D-9693-4BD6F7655B3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75079" y="2764184"/>
            <a:ext cx="546100" cy="355600"/>
          </a:xfrm>
          <a:prstGeom prst="rect">
            <a:avLst/>
          </a:prstGeom>
        </p:spPr>
      </p:pic>
      <p:sp>
        <p:nvSpPr>
          <p:cNvPr id="23" name="Rounded Rectangle 22">
            <a:extLst>
              <a:ext uri="{FF2B5EF4-FFF2-40B4-BE49-F238E27FC236}">
                <a16:creationId xmlns:a16="http://schemas.microsoft.com/office/drawing/2014/main" id="{5212E59B-354C-2441-AEFD-3ABB384BA333}"/>
              </a:ext>
            </a:extLst>
          </p:cNvPr>
          <p:cNvSpPr/>
          <p:nvPr/>
        </p:nvSpPr>
        <p:spPr>
          <a:xfrm>
            <a:off x="6005170" y="2822237"/>
            <a:ext cx="1182758" cy="944218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3600" dirty="0">
                <a:latin typeface="Gill Sans MT" panose="020B0502020104020203" pitchFamily="34" charset="77"/>
              </a:rPr>
              <a:t>SFS</a:t>
            </a:r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0579D95A-68FD-464A-874A-77BE10AA9623}"/>
              </a:ext>
            </a:extLst>
          </p:cNvPr>
          <p:cNvCxnSpPr>
            <a:cxnSpLocks/>
          </p:cNvCxnSpPr>
          <p:nvPr/>
        </p:nvCxnSpPr>
        <p:spPr>
          <a:xfrm>
            <a:off x="5438632" y="3289375"/>
            <a:ext cx="576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9" name="Picture 8">
            <a:extLst>
              <a:ext uri="{FF2B5EF4-FFF2-40B4-BE49-F238E27FC236}">
                <a16:creationId xmlns:a16="http://schemas.microsoft.com/office/drawing/2014/main" id="{462A3E30-DB26-B94C-991C-7423E2DB8D9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94553" y="2773019"/>
            <a:ext cx="546100" cy="457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65930055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199E8C0D-06B5-674C-9831-A0364C25E516}"/>
              </a:ext>
            </a:extLst>
          </p:cNvPr>
          <p:cNvSpPr/>
          <p:nvPr/>
        </p:nvSpPr>
        <p:spPr>
          <a:xfrm>
            <a:off x="2542493" y="2618823"/>
            <a:ext cx="1182758" cy="944218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3600" dirty="0">
                <a:latin typeface="Gill Sans MT" panose="020B0502020104020203" pitchFamily="34" charset="77"/>
              </a:rPr>
              <a:t>SFS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3D8A2BEA-3E86-7E4D-A358-474FC127FED1}"/>
              </a:ext>
            </a:extLst>
          </p:cNvPr>
          <p:cNvCxnSpPr>
            <a:cxnSpLocks/>
          </p:cNvCxnSpPr>
          <p:nvPr/>
        </p:nvCxnSpPr>
        <p:spPr>
          <a:xfrm>
            <a:off x="1767241" y="3085961"/>
            <a:ext cx="77525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A970640B-A9FD-C84B-B072-9D47A3BF3C37}"/>
              </a:ext>
            </a:extLst>
          </p:cNvPr>
          <p:cNvSpPr/>
          <p:nvPr/>
        </p:nvSpPr>
        <p:spPr>
          <a:xfrm>
            <a:off x="7788323" y="2613852"/>
            <a:ext cx="1637022" cy="944218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2000" dirty="0">
                <a:latin typeface="Gill Sans MT" panose="020B0502020104020203" pitchFamily="34" charset="77"/>
              </a:rPr>
              <a:t>Diseño</a:t>
            </a:r>
          </a:p>
          <a:p>
            <a:pPr algn="ctr"/>
            <a:r>
              <a:rPr lang="es-ES_tradnl" sz="2000" dirty="0">
                <a:latin typeface="Gill Sans MT" panose="020B0502020104020203" pitchFamily="34" charset="77"/>
              </a:rPr>
              <a:t>Clasificador</a:t>
            </a:r>
          </a:p>
        </p:txBody>
      </p:sp>
      <p:sp>
        <p:nvSpPr>
          <p:cNvPr id="44" name="Title 1">
            <a:extLst>
              <a:ext uri="{FF2B5EF4-FFF2-40B4-BE49-F238E27FC236}">
                <a16:creationId xmlns:a16="http://schemas.microsoft.com/office/drawing/2014/main" id="{537607F1-A474-3846-A13D-35C9B81430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62539" y="431455"/>
            <a:ext cx="8229600" cy="1143000"/>
          </a:xfrm>
        </p:spPr>
        <p:txBody>
          <a:bodyPr>
            <a:normAutofit/>
          </a:bodyPr>
          <a:lstStyle/>
          <a:p>
            <a:pPr algn="l"/>
            <a:r>
              <a:rPr lang="es-ES_tradnl" dirty="0">
                <a:solidFill>
                  <a:schemeClr val="accent2"/>
                </a:solidFill>
                <a:latin typeface="Gill Sans MT" panose="020B0502020104020203" pitchFamily="34" charset="77"/>
              </a:rPr>
              <a:t>Estrategia con PCA y SFS (4/4):</a:t>
            </a:r>
          </a:p>
        </p:txBody>
      </p: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4DAA043B-3150-AC46-ABAD-873D6325289A}"/>
              </a:ext>
            </a:extLst>
          </p:cNvPr>
          <p:cNvCxnSpPr>
            <a:cxnSpLocks/>
          </p:cNvCxnSpPr>
          <p:nvPr/>
        </p:nvCxnSpPr>
        <p:spPr>
          <a:xfrm>
            <a:off x="9428563" y="3085267"/>
            <a:ext cx="379437" cy="69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Rectangle 50">
            <a:extLst>
              <a:ext uri="{FF2B5EF4-FFF2-40B4-BE49-F238E27FC236}">
                <a16:creationId xmlns:a16="http://schemas.microsoft.com/office/drawing/2014/main" id="{EDC5605F-9064-864E-99BD-15B621F0D113}"/>
              </a:ext>
            </a:extLst>
          </p:cNvPr>
          <p:cNvSpPr/>
          <p:nvPr/>
        </p:nvSpPr>
        <p:spPr>
          <a:xfrm>
            <a:off x="9795646" y="2905471"/>
            <a:ext cx="81144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s-ES_tradnl" dirty="0">
                <a:latin typeface="Gill Sans MT" panose="020B0502020104020203" pitchFamily="34" charset="77"/>
              </a:rPr>
              <a:t>output</a:t>
            </a:r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AD600A33-AF31-014A-B259-26005ECB1876}"/>
              </a:ext>
            </a:extLst>
          </p:cNvPr>
          <p:cNvSpPr/>
          <p:nvPr/>
        </p:nvSpPr>
        <p:spPr>
          <a:xfrm>
            <a:off x="3533093" y="3853892"/>
            <a:ext cx="1182758" cy="944218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3600" dirty="0">
                <a:latin typeface="Gill Sans MT" panose="020B0502020104020203" pitchFamily="34" charset="77"/>
              </a:rPr>
              <a:t>PCA</a:t>
            </a: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6FD700CE-6BC8-8541-9EE4-B5FE03A55A57}"/>
              </a:ext>
            </a:extLst>
          </p:cNvPr>
          <p:cNvCxnSpPr>
            <a:cxnSpLocks/>
          </p:cNvCxnSpPr>
          <p:nvPr/>
        </p:nvCxnSpPr>
        <p:spPr>
          <a:xfrm>
            <a:off x="7154672" y="3072768"/>
            <a:ext cx="648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3" name="Picture 2">
            <a:extLst>
              <a:ext uri="{FF2B5EF4-FFF2-40B4-BE49-F238E27FC236}">
                <a16:creationId xmlns:a16="http://schemas.microsoft.com/office/drawing/2014/main" id="{A09FF33F-3E77-B44C-9795-878F33C07A3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89465" y="2620814"/>
            <a:ext cx="546100" cy="393700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0B86F98B-104E-D547-8CA8-2351657E56C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56464" y="2615569"/>
            <a:ext cx="368300" cy="317500"/>
          </a:xfrm>
          <a:prstGeom prst="rect">
            <a:avLst/>
          </a:prstGeom>
        </p:spPr>
      </p:pic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DC5D24E3-9EFB-FF41-89EB-756A3AD1A243}"/>
              </a:ext>
            </a:extLst>
          </p:cNvPr>
          <p:cNvCxnSpPr>
            <a:cxnSpLocks/>
          </p:cNvCxnSpPr>
          <p:nvPr/>
        </p:nvCxnSpPr>
        <p:spPr>
          <a:xfrm>
            <a:off x="3738094" y="3085961"/>
            <a:ext cx="648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>
            <a:extLst>
              <a:ext uri="{FF2B5EF4-FFF2-40B4-BE49-F238E27FC236}">
                <a16:creationId xmlns:a16="http://schemas.microsoft.com/office/drawing/2014/main" id="{DAD5EADE-F782-8943-97C1-3F62AFBFE855}"/>
              </a:ext>
            </a:extLst>
          </p:cNvPr>
          <p:cNvSpPr/>
          <p:nvPr/>
        </p:nvSpPr>
        <p:spPr>
          <a:xfrm>
            <a:off x="4368809" y="2605630"/>
            <a:ext cx="1136588" cy="944218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2000" dirty="0">
                <a:latin typeface="Gill Sans MT" panose="020B0502020104020203" pitchFamily="34" charset="77"/>
              </a:rPr>
              <a:t>Conca-</a:t>
            </a:r>
          </a:p>
          <a:p>
            <a:pPr algn="ctr"/>
            <a:r>
              <a:rPr lang="es-ES_tradnl" sz="2000" dirty="0">
                <a:latin typeface="Gill Sans MT" panose="020B0502020104020203" pitchFamily="34" charset="77"/>
              </a:rPr>
              <a:t>tenate</a:t>
            </a:r>
          </a:p>
        </p:txBody>
      </p:sp>
      <p:cxnSp>
        <p:nvCxnSpPr>
          <p:cNvPr id="21" name="Elbow Connector 20">
            <a:extLst>
              <a:ext uri="{FF2B5EF4-FFF2-40B4-BE49-F238E27FC236}">
                <a16:creationId xmlns:a16="http://schemas.microsoft.com/office/drawing/2014/main" id="{93669766-AD5D-7C4C-B8E6-B58EA0E06CB9}"/>
              </a:ext>
            </a:extLst>
          </p:cNvPr>
          <p:cNvCxnSpPr>
            <a:cxnSpLocks/>
            <a:stCxn id="16" idx="3"/>
            <a:endCxn id="20" idx="2"/>
          </p:cNvCxnSpPr>
          <p:nvPr/>
        </p:nvCxnSpPr>
        <p:spPr>
          <a:xfrm flipV="1">
            <a:off x="4715851" y="3549849"/>
            <a:ext cx="221252" cy="776153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22" name="Picture 21">
            <a:extLst>
              <a:ext uri="{FF2B5EF4-FFF2-40B4-BE49-F238E27FC236}">
                <a16:creationId xmlns:a16="http://schemas.microsoft.com/office/drawing/2014/main" id="{75DDFDA0-8AA6-C346-8B12-20E169ECC5C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89576" y="4006735"/>
            <a:ext cx="381000" cy="31750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4119AC76-C8C9-3E4D-9693-4BD6F7655B3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19539" y="2580170"/>
            <a:ext cx="546100" cy="355600"/>
          </a:xfrm>
          <a:prstGeom prst="rect">
            <a:avLst/>
          </a:prstGeom>
        </p:spPr>
      </p:pic>
      <p:sp>
        <p:nvSpPr>
          <p:cNvPr id="23" name="Rounded Rectangle 22">
            <a:extLst>
              <a:ext uri="{FF2B5EF4-FFF2-40B4-BE49-F238E27FC236}">
                <a16:creationId xmlns:a16="http://schemas.microsoft.com/office/drawing/2014/main" id="{5212E59B-354C-2441-AEFD-3ABB384BA333}"/>
              </a:ext>
            </a:extLst>
          </p:cNvPr>
          <p:cNvSpPr/>
          <p:nvPr/>
        </p:nvSpPr>
        <p:spPr>
          <a:xfrm>
            <a:off x="6049630" y="2638223"/>
            <a:ext cx="1182758" cy="944218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3600" dirty="0">
                <a:latin typeface="Gill Sans MT" panose="020B0502020104020203" pitchFamily="34" charset="77"/>
              </a:rPr>
              <a:t>SFS</a:t>
            </a:r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0579D95A-68FD-464A-874A-77BE10AA9623}"/>
              </a:ext>
            </a:extLst>
          </p:cNvPr>
          <p:cNvCxnSpPr>
            <a:cxnSpLocks/>
          </p:cNvCxnSpPr>
          <p:nvPr/>
        </p:nvCxnSpPr>
        <p:spPr>
          <a:xfrm>
            <a:off x="5483092" y="3105361"/>
            <a:ext cx="576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9" name="Picture 8">
            <a:extLst>
              <a:ext uri="{FF2B5EF4-FFF2-40B4-BE49-F238E27FC236}">
                <a16:creationId xmlns:a16="http://schemas.microsoft.com/office/drawing/2014/main" id="{462A3E30-DB26-B94C-991C-7423E2DB8D9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239013" y="2589005"/>
            <a:ext cx="546100" cy="457200"/>
          </a:xfrm>
          <a:prstGeom prst="rect">
            <a:avLst/>
          </a:prstGeom>
        </p:spPr>
      </p:pic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C1EE1B0A-C95C-B993-C2AA-8B4274F86A92}"/>
              </a:ext>
            </a:extLst>
          </p:cNvPr>
          <p:cNvCxnSpPr>
            <a:cxnSpLocks/>
          </p:cNvCxnSpPr>
          <p:nvPr/>
        </p:nvCxnSpPr>
        <p:spPr>
          <a:xfrm rot="5400000">
            <a:off x="3703215" y="3460395"/>
            <a:ext cx="77525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65311500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48F09A-B37B-8048-A66C-28F4386B0B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81200" y="2953452"/>
            <a:ext cx="8229600" cy="1143000"/>
          </a:xfrm>
        </p:spPr>
        <p:txBody>
          <a:bodyPr>
            <a:normAutofit/>
          </a:bodyPr>
          <a:lstStyle/>
          <a:p>
            <a:pPr algn="ctr"/>
            <a:r>
              <a:rPr lang="en-US" dirty="0" err="1"/>
              <a:t>Otras</a:t>
            </a:r>
            <a:r>
              <a:rPr lang="en-US" dirty="0"/>
              <a:t> </a:t>
            </a:r>
            <a:r>
              <a:rPr lang="en-US" dirty="0" err="1"/>
              <a:t>Transformaciones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79890707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48F09A-B37B-8048-A66C-28F4386B0B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81200" y="2857500"/>
            <a:ext cx="8229600" cy="1143000"/>
          </a:xfrm>
        </p:spPr>
        <p:txBody>
          <a:bodyPr>
            <a:normAutofit fontScale="90000"/>
          </a:bodyPr>
          <a:lstStyle/>
          <a:p>
            <a:pPr algn="ctr"/>
            <a:r>
              <a:rPr lang="en-US" dirty="0"/>
              <a:t>ICA</a:t>
            </a:r>
            <a:br>
              <a:rPr lang="en-US" dirty="0"/>
            </a:br>
            <a:r>
              <a:rPr lang="en-US" dirty="0"/>
              <a:t>(Independent Component Analysis)</a:t>
            </a:r>
          </a:p>
        </p:txBody>
      </p:sp>
    </p:spTree>
    <p:extLst>
      <p:ext uri="{BB962C8B-B14F-4D97-AF65-F5344CB8AC3E}">
        <p14:creationId xmlns:p14="http://schemas.microsoft.com/office/powerpoint/2010/main" val="2039193696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51E04693-E42F-AD45-BADA-05C270E213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94436" y="288199"/>
            <a:ext cx="8229600" cy="1143000"/>
          </a:xfrm>
        </p:spPr>
        <p:txBody>
          <a:bodyPr>
            <a:normAutofit/>
          </a:bodyPr>
          <a:lstStyle/>
          <a:p>
            <a:pPr algn="ctr"/>
            <a:r>
              <a:rPr lang="es-ES_tradnl" dirty="0">
                <a:solidFill>
                  <a:schemeClr val="accent2"/>
                </a:solidFill>
                <a:latin typeface="Gill Sans MT" panose="020B0502020104020203" pitchFamily="34" charset="77"/>
              </a:rPr>
              <a:t>Diferencia de ICA con PCA: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5EDAE17-C883-CA4E-9C62-FB65FBF6CA30}"/>
              </a:ext>
            </a:extLst>
          </p:cNvPr>
          <p:cNvSpPr txBox="1"/>
          <p:nvPr/>
        </p:nvSpPr>
        <p:spPr>
          <a:xfrm>
            <a:off x="2676938" y="1510751"/>
            <a:ext cx="7633693" cy="286232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s-ES_tradnl" dirty="0">
                <a:solidFill>
                  <a:schemeClr val="tx1">
                    <a:lumMod val="65000"/>
                    <a:lumOff val="35000"/>
                  </a:schemeClr>
                </a:solidFill>
                <a:latin typeface="Gill Sans MT" panose="020B0502020104020203" pitchFamily="34" charset="77"/>
              </a:rPr>
              <a:t>PCA elimina correlaciones pero no otro tipo de dependencia.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_tradnl" dirty="0">
                <a:solidFill>
                  <a:schemeClr val="tx1">
                    <a:lumMod val="65000"/>
                    <a:lumOff val="35000"/>
                  </a:schemeClr>
                </a:solidFill>
                <a:latin typeface="Gill Sans MT" panose="020B0502020104020203" pitchFamily="34" charset="77"/>
              </a:rPr>
              <a:t>ICA elimina correlaciones y dependencias de mayor orden.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s-ES_tradnl" dirty="0">
              <a:solidFill>
                <a:schemeClr val="tx1">
                  <a:lumMod val="65000"/>
                  <a:lumOff val="35000"/>
                </a:schemeClr>
              </a:solidFill>
              <a:latin typeface="Gill Sans MT" panose="020B0502020104020203" pitchFamily="34" charset="77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_tradnl" dirty="0">
                <a:solidFill>
                  <a:schemeClr val="tx1">
                    <a:lumMod val="65000"/>
                    <a:lumOff val="35000"/>
                  </a:schemeClr>
                </a:solidFill>
                <a:latin typeface="Gill Sans MT" panose="020B0502020104020203" pitchFamily="34" charset="77"/>
              </a:rPr>
              <a:t>En PCA se persigue que la covarianza entre las variables transformadas sea 0</a:t>
            </a:r>
          </a:p>
          <a:p>
            <a:pPr lvl="1"/>
            <a:r>
              <a:rPr lang="es-ES_tradnl" dirty="0">
                <a:solidFill>
                  <a:schemeClr val="tx1">
                    <a:lumMod val="65000"/>
                    <a:lumOff val="35000"/>
                  </a:schemeClr>
                </a:solidFill>
                <a:latin typeface="Gill Sans MT" panose="020B0502020104020203" pitchFamily="34" charset="77"/>
              </a:rPr>
              <a:t>		</a:t>
            </a:r>
          </a:p>
          <a:p>
            <a:pPr lvl="1"/>
            <a:r>
              <a:rPr lang="es-ES_tradnl" dirty="0">
                <a:solidFill>
                  <a:schemeClr val="tx1">
                    <a:lumMod val="65000"/>
                    <a:lumOff val="35000"/>
                  </a:schemeClr>
                </a:solidFill>
                <a:latin typeface="Gill Sans MT" panose="020B0502020104020203" pitchFamily="34" charset="77"/>
              </a:rPr>
              <a:t>	</a:t>
            </a:r>
          </a:p>
          <a:p>
            <a:endParaRPr lang="es-ES_tradnl" dirty="0">
              <a:solidFill>
                <a:schemeClr val="tx1">
                  <a:lumMod val="65000"/>
                  <a:lumOff val="35000"/>
                </a:schemeClr>
              </a:solidFill>
              <a:latin typeface="Gill Sans MT" panose="020B0502020104020203" pitchFamily="34" charset="77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_tradnl" dirty="0">
                <a:solidFill>
                  <a:schemeClr val="tx1">
                    <a:lumMod val="65000"/>
                    <a:lumOff val="35000"/>
                  </a:schemeClr>
                </a:solidFill>
                <a:latin typeface="Gill Sans MT" panose="020B0502020104020203" pitchFamily="34" charset="77"/>
              </a:rPr>
              <a:t>En ICA se persigue que la variables sean independientes: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s-ES_tradnl" dirty="0">
              <a:solidFill>
                <a:schemeClr val="tx1">
                  <a:lumMod val="65000"/>
                  <a:lumOff val="35000"/>
                </a:schemeClr>
              </a:solidFill>
              <a:latin typeface="Gill Sans MT" panose="020B0502020104020203" pitchFamily="34" charset="77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s-ES_tradnl" dirty="0">
              <a:solidFill>
                <a:schemeClr val="tx1">
                  <a:lumMod val="65000"/>
                  <a:lumOff val="35000"/>
                </a:schemeClr>
              </a:solidFill>
              <a:latin typeface="Gill Sans MT" panose="020B0502020104020203" pitchFamily="34" charset="77"/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DA2DAFB6-D6F8-F64C-A52E-22DFC1092EE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17128" y="3857929"/>
            <a:ext cx="5357743" cy="331499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06DAB3E0-9990-6248-8E22-2B022F8FB1B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05319" y="2812855"/>
            <a:ext cx="2181363" cy="3619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77594780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85EDAE17-C883-CA4E-9C62-FB65FBF6CA30}"/>
              </a:ext>
            </a:extLst>
          </p:cNvPr>
          <p:cNvSpPr txBox="1"/>
          <p:nvPr/>
        </p:nvSpPr>
        <p:spPr>
          <a:xfrm>
            <a:off x="2676937" y="1510752"/>
            <a:ext cx="438030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s-ES_tradnl" dirty="0">
                <a:solidFill>
                  <a:schemeClr val="tx1">
                    <a:lumMod val="65000"/>
                    <a:lumOff val="35000"/>
                  </a:schemeClr>
                </a:solidFill>
                <a:latin typeface="Gill Sans MT" panose="020B0502020104020203" pitchFamily="34" charset="77"/>
              </a:rPr>
              <a:t>En PCA los vectores son ortogonales.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_tradnl" dirty="0">
                <a:solidFill>
                  <a:schemeClr val="tx1">
                    <a:lumMod val="65000"/>
                    <a:lumOff val="35000"/>
                  </a:schemeClr>
                </a:solidFill>
                <a:latin typeface="Gill Sans MT" panose="020B0502020104020203" pitchFamily="34" charset="77"/>
              </a:rPr>
              <a:t>En ICA los vectores no son ortogonales.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55F925D2-9D0D-C046-A083-54D4A019630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98643" y="2519828"/>
            <a:ext cx="7394715" cy="325921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9CF84F43-2773-C64E-8824-E5F66FDC0596}"/>
              </a:ext>
            </a:extLst>
          </p:cNvPr>
          <p:cNvSpPr txBox="1"/>
          <p:nvPr/>
        </p:nvSpPr>
        <p:spPr>
          <a:xfrm>
            <a:off x="1683027" y="6569766"/>
            <a:ext cx="560281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chemeClr val="tx1">
                    <a:lumMod val="65000"/>
                    <a:lumOff val="35000"/>
                  </a:schemeClr>
                </a:solidFill>
                <a:latin typeface="Gill Sans MT" panose="020B0502020104020203" pitchFamily="34" charset="77"/>
              </a:rPr>
              <a:t>© </a:t>
            </a:r>
            <a:r>
              <a:rPr lang="en-US" sz="1400" dirty="0">
                <a:solidFill>
                  <a:schemeClr val="tx1">
                    <a:lumMod val="65000"/>
                    <a:lumOff val="35000"/>
                  </a:schemeClr>
                </a:solidFill>
                <a:latin typeface="Gill Sans MT" panose="020B0502020104020203" pitchFamily="34" charset="7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http://compneurosci.com/wiki/images/4/42/Intro_to_PCA_and_ICA.pdf</a:t>
            </a:r>
            <a:r>
              <a:rPr lang="en-US" sz="1400" dirty="0">
                <a:solidFill>
                  <a:schemeClr val="tx1">
                    <a:lumMod val="65000"/>
                    <a:lumOff val="35000"/>
                  </a:schemeClr>
                </a:solidFill>
                <a:latin typeface="Gill Sans MT" panose="020B0502020104020203" pitchFamily="34" charset="77"/>
              </a:rPr>
              <a:t> 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54464260-9D90-A661-63C1-DB7BE71BB6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94436" y="288199"/>
            <a:ext cx="8229600" cy="1143000"/>
          </a:xfrm>
        </p:spPr>
        <p:txBody>
          <a:bodyPr>
            <a:normAutofit/>
          </a:bodyPr>
          <a:lstStyle/>
          <a:p>
            <a:pPr algn="ctr"/>
            <a:r>
              <a:rPr lang="es-ES_tradnl" dirty="0">
                <a:solidFill>
                  <a:schemeClr val="accent2"/>
                </a:solidFill>
                <a:latin typeface="Gill Sans MT" panose="020B0502020104020203" pitchFamily="34" charset="77"/>
              </a:rPr>
              <a:t>Diferencia de ICA con PCA:</a:t>
            </a:r>
          </a:p>
        </p:txBody>
      </p:sp>
    </p:spTree>
    <p:extLst>
      <p:ext uri="{BB962C8B-B14F-4D97-AF65-F5344CB8AC3E}">
        <p14:creationId xmlns:p14="http://schemas.microsoft.com/office/powerpoint/2010/main" val="2734807214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48F09A-B37B-8048-A66C-28F4386B0B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81200" y="2857500"/>
            <a:ext cx="8229600" cy="1143000"/>
          </a:xfrm>
        </p:spPr>
        <p:txBody>
          <a:bodyPr>
            <a:normAutofit fontScale="90000"/>
          </a:bodyPr>
          <a:lstStyle/>
          <a:p>
            <a:pPr algn="ctr"/>
            <a:r>
              <a:rPr lang="en-US" dirty="0"/>
              <a:t>PLSR</a:t>
            </a:r>
            <a:br>
              <a:rPr lang="en-US" dirty="0"/>
            </a:br>
            <a:r>
              <a:rPr lang="en-US" dirty="0"/>
              <a:t>(Partial Least Squares Regression)</a:t>
            </a:r>
          </a:p>
        </p:txBody>
      </p:sp>
    </p:spTree>
    <p:extLst>
      <p:ext uri="{BB962C8B-B14F-4D97-AF65-F5344CB8AC3E}">
        <p14:creationId xmlns:p14="http://schemas.microsoft.com/office/powerpoint/2010/main" val="2040836974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51E04693-E42F-AD45-BADA-05C270E213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99251" y="431455"/>
            <a:ext cx="8229600" cy="1143000"/>
          </a:xfrm>
        </p:spPr>
        <p:txBody>
          <a:bodyPr>
            <a:normAutofit/>
          </a:bodyPr>
          <a:lstStyle/>
          <a:p>
            <a:pPr algn="l"/>
            <a:r>
              <a:rPr lang="es-ES_tradnl" dirty="0">
                <a:solidFill>
                  <a:schemeClr val="accent2"/>
                </a:solidFill>
                <a:latin typeface="Gill Sans MT" panose="020B0502020104020203" pitchFamily="34" charset="77"/>
              </a:rPr>
              <a:t>Descomposición PLSR: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0410643B-2ED8-354F-B425-C461AEEEDA2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13441" y="1958007"/>
            <a:ext cx="2870200" cy="457200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0A7A9F4D-536A-4B42-B9D0-073AA448B40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81691" y="2767494"/>
            <a:ext cx="2933700" cy="50800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DEAB1DAA-4F7C-3E45-9C34-37A887075240}"/>
              </a:ext>
            </a:extLst>
          </p:cNvPr>
          <p:cNvSpPr txBox="1"/>
          <p:nvPr/>
        </p:nvSpPr>
        <p:spPr>
          <a:xfrm>
            <a:off x="6215268" y="1958008"/>
            <a:ext cx="4127348" cy="138499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X</a:t>
            </a:r>
            <a:r>
              <a:rPr lang="es-ES_tradnl" sz="2800" dirty="0">
                <a:latin typeface="Gill Sans MT" panose="020B0502020104020203" pitchFamily="34" charset="77"/>
              </a:rPr>
              <a:t>: Matriz de características</a:t>
            </a:r>
          </a:p>
          <a:p>
            <a:endParaRPr lang="es-ES_tradnl" sz="2800" dirty="0">
              <a:latin typeface="Gill Sans MT" panose="020B0502020104020203" pitchFamily="34" charset="77"/>
            </a:endParaRPr>
          </a:p>
          <a:p>
            <a:r>
              <a:rPr lang="es-ES_tradnl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Y</a:t>
            </a:r>
            <a:r>
              <a:rPr lang="es-ES_tradnl" sz="2800" dirty="0">
                <a:latin typeface="Gill Sans MT" panose="020B0502020104020203" pitchFamily="34" charset="77"/>
              </a:rPr>
              <a:t>: Matriz de </a:t>
            </a:r>
            <a:r>
              <a:rPr lang="es-ES_tradnl" sz="2800" dirty="0" err="1">
                <a:latin typeface="Gill Sans MT" panose="020B0502020104020203" pitchFamily="34" charset="77"/>
              </a:rPr>
              <a:t>labels</a:t>
            </a:r>
            <a:r>
              <a:rPr lang="es-ES_tradnl" sz="2800" baseline="30000" dirty="0">
                <a:latin typeface="Gill Sans MT" panose="020B0502020104020203" pitchFamily="34" charset="77"/>
              </a:rPr>
              <a:t>(*)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85A471F-15A6-ED49-9ECE-2BBA3F2445C4}"/>
              </a:ext>
            </a:extLst>
          </p:cNvPr>
          <p:cNvSpPr/>
          <p:nvPr/>
        </p:nvSpPr>
        <p:spPr>
          <a:xfrm>
            <a:off x="1762539" y="6166439"/>
            <a:ext cx="7166113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s-ES_tradnl" baseline="30000" dirty="0">
                <a:latin typeface="Gill Sans MT" panose="020B0502020104020203" pitchFamily="34" charset="77"/>
              </a:rPr>
              <a:t>(*)</a:t>
            </a:r>
            <a:r>
              <a:rPr lang="es-ES_tradnl" dirty="0">
                <a:latin typeface="Gill Sans MT" panose="020B0502020104020203" pitchFamily="34" charset="77"/>
              </a:rPr>
              <a:t> Matriz binaria de </a:t>
            </a:r>
            <a:r>
              <a:rPr lang="es-ES_tradnl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N</a:t>
            </a:r>
            <a:r>
              <a:rPr lang="es-ES_tradnl" dirty="0">
                <a:latin typeface="Gill Sans MT" panose="020B0502020104020203" pitchFamily="34" charset="77"/>
              </a:rPr>
              <a:t> x </a:t>
            </a:r>
            <a:r>
              <a:rPr lang="es-ES_tradnl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K</a:t>
            </a:r>
            <a:r>
              <a:rPr lang="es-ES_tradnl" dirty="0">
                <a:latin typeface="Gill Sans MT" panose="020B0502020104020203" pitchFamily="34" charset="77"/>
              </a:rPr>
              <a:t>, </a:t>
            </a:r>
            <a:r>
              <a:rPr lang="es-ES_tradnl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Y</a:t>
            </a:r>
            <a:r>
              <a:rPr lang="es-ES_tradnl" dirty="0">
                <a:latin typeface="Gill Sans MT" panose="020B0502020104020203" pitchFamily="34" charset="77"/>
              </a:rPr>
              <a:t>(</a:t>
            </a:r>
            <a:r>
              <a:rPr lang="es-ES_tradnl" i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</a:t>
            </a:r>
            <a:r>
              <a:rPr lang="es-ES_tradnl" dirty="0" err="1">
                <a:latin typeface="Gill Sans MT" panose="020B0502020104020203" pitchFamily="34" charset="77"/>
              </a:rPr>
              <a:t>,</a:t>
            </a:r>
            <a:r>
              <a:rPr lang="es-ES_tradnl" i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</a:t>
            </a:r>
            <a:r>
              <a:rPr lang="es-ES_tradnl" dirty="0">
                <a:latin typeface="Gill Sans MT" panose="020B0502020104020203" pitchFamily="34" charset="77"/>
              </a:rPr>
              <a:t>) = 1 </a:t>
            </a:r>
            <a:r>
              <a:rPr lang="es-ES_tradnl" dirty="0" err="1">
                <a:latin typeface="Gill Sans MT" panose="020B0502020104020203" pitchFamily="34" charset="77"/>
              </a:rPr>
              <a:t>if</a:t>
            </a:r>
            <a:r>
              <a:rPr lang="es-ES_tradnl" dirty="0">
                <a:latin typeface="Gill Sans MT" panose="020B0502020104020203" pitchFamily="34" charset="77"/>
              </a:rPr>
              <a:t> </a:t>
            </a:r>
            <a:r>
              <a:rPr lang="es-ES_tradnl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y</a:t>
            </a:r>
            <a:r>
              <a:rPr lang="es-ES_tradnl" dirty="0">
                <a:latin typeface="Gill Sans MT" panose="020B0502020104020203" pitchFamily="34" charset="77"/>
              </a:rPr>
              <a:t>(</a:t>
            </a:r>
            <a:r>
              <a:rPr lang="es-ES_tradnl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i</a:t>
            </a:r>
            <a:r>
              <a:rPr lang="es-ES_tradnl" dirty="0">
                <a:latin typeface="Gill Sans MT" panose="020B0502020104020203" pitchFamily="34" charset="77"/>
              </a:rPr>
              <a:t>) = </a:t>
            </a:r>
            <a:r>
              <a:rPr lang="es-ES_tradnl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k</a:t>
            </a:r>
            <a:r>
              <a:rPr lang="es-ES_tradnl" dirty="0">
                <a:latin typeface="Gill Sans MT" panose="020B0502020104020203" pitchFamily="34" charset="77"/>
              </a:rPr>
              <a:t>, con </a:t>
            </a:r>
            <a:r>
              <a:rPr lang="es-ES_tradnl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K</a:t>
            </a:r>
            <a:r>
              <a:rPr lang="es-ES_tradnl" dirty="0">
                <a:latin typeface="Gill Sans MT" panose="020B0502020104020203" pitchFamily="34" charset="77"/>
              </a:rPr>
              <a:t> número de clases </a:t>
            </a:r>
            <a:endParaRPr lang="es-ES_tradnl" i="1" baseline="30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E25820C-DE8A-B841-8405-9367E56E22C5}"/>
              </a:ext>
            </a:extLst>
          </p:cNvPr>
          <p:cNvSpPr txBox="1"/>
          <p:nvPr/>
        </p:nvSpPr>
        <p:spPr>
          <a:xfrm>
            <a:off x="2299251" y="3726555"/>
            <a:ext cx="7832035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_tradnl" dirty="0">
                <a:latin typeface="Gill Sans MT" panose="020B0502020104020203" pitchFamily="34" charset="77"/>
              </a:rPr>
              <a:t>Las descomposiciones de </a:t>
            </a:r>
            <a:r>
              <a:rPr lang="es-ES_tradnl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X</a:t>
            </a:r>
            <a:r>
              <a:rPr lang="es-ES_tradnl" dirty="0">
                <a:latin typeface="Gill Sans MT" panose="020B0502020104020203" pitchFamily="34" charset="77"/>
              </a:rPr>
              <a:t> e </a:t>
            </a:r>
            <a:r>
              <a:rPr lang="es-ES_tradnl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Y</a:t>
            </a:r>
            <a:r>
              <a:rPr lang="es-ES_tradnl" dirty="0">
                <a:latin typeface="Gill Sans MT" panose="020B0502020104020203" pitchFamily="34" charset="77"/>
              </a:rPr>
              <a:t> se hacen con el fin de maximizar la covarianza entre </a:t>
            </a:r>
            <a:r>
              <a:rPr lang="es-ES_tradnl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T</a:t>
            </a:r>
            <a:r>
              <a:rPr lang="es-ES_tradnl" dirty="0">
                <a:latin typeface="Gill Sans MT" panose="020B0502020104020203" pitchFamily="34" charset="77"/>
              </a:rPr>
              <a:t> y </a:t>
            </a:r>
            <a:r>
              <a:rPr lang="es-ES_tradnl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U</a:t>
            </a:r>
            <a:r>
              <a:rPr lang="es-ES_tradnl" dirty="0">
                <a:latin typeface="Gill Sans MT" panose="020B0502020104020203" pitchFamily="34" charset="77"/>
              </a:rPr>
              <a:t>.</a:t>
            </a:r>
          </a:p>
          <a:p>
            <a:endParaRPr lang="es-ES_tradnl" dirty="0">
              <a:latin typeface="Gill Sans MT" panose="020B0502020104020203" pitchFamily="34" charset="77"/>
            </a:endParaRPr>
          </a:p>
          <a:p>
            <a:r>
              <a:rPr lang="es-ES_tradnl" dirty="0">
                <a:latin typeface="Gill Sans MT" panose="020B0502020104020203" pitchFamily="34" charset="77"/>
              </a:rPr>
              <a:t>Las matrices </a:t>
            </a:r>
            <a:r>
              <a:rPr lang="es-ES_tradnl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</a:t>
            </a:r>
            <a:r>
              <a:rPr lang="es-ES_tradnl" dirty="0">
                <a:latin typeface="Gill Sans MT" panose="020B0502020104020203" pitchFamily="34" charset="77"/>
              </a:rPr>
              <a:t> y </a:t>
            </a:r>
            <a:r>
              <a:rPr lang="es-ES_tradnl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Q</a:t>
            </a:r>
            <a:r>
              <a:rPr lang="es-ES_tradnl" dirty="0">
                <a:latin typeface="Gill Sans MT" panose="020B0502020104020203" pitchFamily="34" charset="77"/>
              </a:rPr>
              <a:t> son ortogonales. Las matrices </a:t>
            </a:r>
            <a:r>
              <a:rPr lang="es-ES_tradnl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E</a:t>
            </a:r>
            <a:r>
              <a:rPr lang="es-ES_tradnl" dirty="0">
                <a:latin typeface="Gill Sans MT" panose="020B0502020104020203" pitchFamily="34" charset="77"/>
              </a:rPr>
              <a:t> y </a:t>
            </a:r>
            <a:r>
              <a:rPr lang="es-ES_tradnl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F</a:t>
            </a:r>
            <a:r>
              <a:rPr lang="es-ES_tradnl" dirty="0">
                <a:latin typeface="Gill Sans MT" panose="020B0502020104020203" pitchFamily="34" charset="77"/>
              </a:rPr>
              <a:t> corresponden al error.</a:t>
            </a:r>
          </a:p>
          <a:p>
            <a:endParaRPr lang="es-ES_tradnl" dirty="0">
              <a:latin typeface="Gill Sans MT" panose="020B0502020104020203" pitchFamily="34" charset="77"/>
            </a:endParaRPr>
          </a:p>
          <a:p>
            <a:r>
              <a:rPr lang="es-ES_tradnl" dirty="0">
                <a:latin typeface="Gill Sans MT" panose="020B0502020104020203" pitchFamily="34" charset="77"/>
              </a:rPr>
              <a:t>La idea es buscar </a:t>
            </a:r>
            <a:r>
              <a:rPr lang="es-ES_tradnl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</a:t>
            </a:r>
            <a:r>
              <a:rPr lang="es-ES_tradnl" dirty="0">
                <a:latin typeface="Gill Sans MT" panose="020B0502020104020203" pitchFamily="34" charset="77"/>
              </a:rPr>
              <a:t>, que es la transformada de </a:t>
            </a:r>
            <a:r>
              <a:rPr lang="es-ES_tradnl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X</a:t>
            </a:r>
            <a:r>
              <a:rPr lang="es-ES_tradnl" dirty="0">
                <a:latin typeface="Gill Sans MT" panose="020B0502020104020203" pitchFamily="34" charset="77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70534532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1098</TotalTime>
  <Words>1137</Words>
  <Application>Microsoft Macintosh PowerPoint</Application>
  <PresentationFormat>Widescreen</PresentationFormat>
  <Paragraphs>353</Paragraphs>
  <Slides>52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52</vt:i4>
      </vt:variant>
    </vt:vector>
  </HeadingPairs>
  <TitlesOfParts>
    <vt:vector size="58" baseType="lpstr">
      <vt:lpstr>Arial</vt:lpstr>
      <vt:lpstr>Courier</vt:lpstr>
      <vt:lpstr>Gill Sans MT</vt:lpstr>
      <vt:lpstr>Times</vt:lpstr>
      <vt:lpstr>Times New Roman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TRANSFORMACIÓN KARHUNEN-LOEVE (1947)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Significado de PCA</vt:lpstr>
      <vt:lpstr>PowerPoint Presentation</vt:lpstr>
      <vt:lpstr>PowerPoint Presentation</vt:lpstr>
      <vt:lpstr>PowerPoint Presentation</vt:lpstr>
      <vt:lpstr>Significado  en la Transformación de Características</vt:lpstr>
      <vt:lpstr>PowerPoint Presentation</vt:lpstr>
      <vt:lpstr>PowerPoint Presentation</vt:lpstr>
      <vt:lpstr>Significado de PCA:</vt:lpstr>
      <vt:lpstr>Aplicación de PCA en el Reconocimiento de Patrones</vt:lpstr>
      <vt:lpstr>Estrategia con PCA:</vt:lpstr>
      <vt:lpstr>Training</vt:lpstr>
      <vt:lpstr>Training / Testing</vt:lpstr>
      <vt:lpstr>Training / Testing</vt:lpstr>
      <vt:lpstr>Ventajas de PCA:</vt:lpstr>
      <vt:lpstr>Reconstrucción con PCA:</vt:lpstr>
      <vt:lpstr>Reconstrucción con PCA:</vt:lpstr>
      <vt:lpstr>Desventajas de PCA:</vt:lpstr>
      <vt:lpstr>Alternativas</vt:lpstr>
      <vt:lpstr>Estrategia con PCA (original):</vt:lpstr>
      <vt:lpstr>Estrategia con PCA y SFS (1/4):</vt:lpstr>
      <vt:lpstr>Estrategia con PCA y SFS (2/4):</vt:lpstr>
      <vt:lpstr>Estrategia con PCA y SFS (3/4):</vt:lpstr>
      <vt:lpstr>Estrategia con PCA y SFS (4/4):</vt:lpstr>
      <vt:lpstr>Otras Transformaciones</vt:lpstr>
      <vt:lpstr>ICA (Independent Component Analysis)</vt:lpstr>
      <vt:lpstr>Diferencia de ICA con PCA:</vt:lpstr>
      <vt:lpstr>Diferencia de ICA con PCA:</vt:lpstr>
      <vt:lpstr>PLSR (Partial Least Squares Regression)</vt:lpstr>
      <vt:lpstr>Descomposición PLSR: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Domingo Mery</dc:creator>
  <cp:lastModifiedBy>Domingo Mery</cp:lastModifiedBy>
  <cp:revision>21</cp:revision>
  <dcterms:created xsi:type="dcterms:W3CDTF">2026-03-08T16:41:49Z</dcterms:created>
  <dcterms:modified xsi:type="dcterms:W3CDTF">2026-04-27T17:10:40Z</dcterms:modified>
</cp:coreProperties>
</file>