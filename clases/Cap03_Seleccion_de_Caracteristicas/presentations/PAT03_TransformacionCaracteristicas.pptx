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7" r:id="rId2"/>
    <p:sldId id="358" r:id="rId3"/>
    <p:sldId id="419" r:id="rId4"/>
    <p:sldId id="418" r:id="rId5"/>
    <p:sldId id="417" r:id="rId6"/>
    <p:sldId id="420" r:id="rId7"/>
    <p:sldId id="421" r:id="rId8"/>
    <p:sldId id="422" r:id="rId9"/>
    <p:sldId id="256" r:id="rId10"/>
    <p:sldId id="258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4" r:id="rId20"/>
    <p:sldId id="315" r:id="rId21"/>
    <p:sldId id="316" r:id="rId22"/>
    <p:sldId id="317" r:id="rId23"/>
    <p:sldId id="351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291" r:id="rId32"/>
    <p:sldId id="342" r:id="rId33"/>
    <p:sldId id="353" r:id="rId34"/>
    <p:sldId id="343" r:id="rId35"/>
    <p:sldId id="354" r:id="rId36"/>
    <p:sldId id="269" r:id="rId37"/>
    <p:sldId id="287" r:id="rId38"/>
    <p:sldId id="327" r:id="rId39"/>
    <p:sldId id="292" r:id="rId40"/>
    <p:sldId id="329" r:id="rId41"/>
    <p:sldId id="331" r:id="rId42"/>
    <p:sldId id="332" r:id="rId43"/>
    <p:sldId id="335" r:id="rId44"/>
    <p:sldId id="349" r:id="rId45"/>
    <p:sldId id="334" r:id="rId46"/>
    <p:sldId id="350" r:id="rId47"/>
    <p:sldId id="355" r:id="rId48"/>
    <p:sldId id="336" r:id="rId49"/>
    <p:sldId id="337" r:id="rId50"/>
    <p:sldId id="338" r:id="rId51"/>
    <p:sldId id="339" r:id="rId52"/>
    <p:sldId id="340" r:id="rId53"/>
    <p:sldId id="357" r:id="rId54"/>
    <p:sldId id="356" r:id="rId55"/>
    <p:sldId id="341" r:id="rId56"/>
    <p:sldId id="344" r:id="rId57"/>
    <p:sldId id="347" r:id="rId58"/>
    <p:sldId id="345" r:id="rId59"/>
    <p:sldId id="346" r:id="rId60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04"/>
    <p:restoredTop sz="63219"/>
  </p:normalViewPr>
  <p:slideViewPr>
    <p:cSldViewPr snapToGrid="0">
      <p:cViewPr varScale="1">
        <p:scale>
          <a:sx n="77" d="100"/>
          <a:sy n="77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28-04-26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CL" dirty="0"/>
              <a:t>1 = [x1 x2]’</a:t>
            </a:r>
          </a:p>
          <a:p>
            <a:endParaRPr lang="en-CL" dirty="0"/>
          </a:p>
          <a:p>
            <a:r>
              <a:rPr lang="en-CL" dirty="0"/>
              <a:t>C*v1 = 5*v1</a:t>
            </a:r>
          </a:p>
          <a:p>
            <a:endParaRPr lang="en-CL" dirty="0"/>
          </a:p>
          <a:p>
            <a:r>
              <a:rPr lang="en-CL" dirty="0"/>
              <a:t>4*x1+3*x2 = 5*x1 ….   </a:t>
            </a:r>
            <a:r>
              <a:rPr lang="en-US" dirty="0"/>
              <a:t>x</a:t>
            </a:r>
            <a:r>
              <a:rPr lang="en-CL" dirty="0"/>
              <a:t>1 = 3x2, ademas norm(v1) = 1</a:t>
            </a:r>
          </a:p>
          <a:p>
            <a:endParaRPr lang="en-CL" dirty="0"/>
          </a:p>
          <a:p>
            <a:r>
              <a:rPr lang="en-CL" dirty="0"/>
              <a:t>9x2*x2 + x2*x2 = 1</a:t>
            </a:r>
          </a:p>
          <a:p>
            <a:endParaRPr lang="en-CL" dirty="0"/>
          </a:p>
          <a:p>
            <a:r>
              <a:rPr lang="en-US" dirty="0"/>
              <a:t>x</a:t>
            </a:r>
            <a:r>
              <a:rPr lang="en-CL" dirty="0"/>
              <a:t>2 = 1/sqrt(10)</a:t>
            </a:r>
          </a:p>
          <a:p>
            <a:r>
              <a:rPr lang="en-CL" dirty="0"/>
              <a:t>x1 = 3x2</a:t>
            </a:r>
          </a:p>
          <a:p>
            <a:endParaRPr lang="en-CL" dirty="0"/>
          </a:p>
          <a:p>
            <a:endParaRPr lang="en-CL" dirty="0"/>
          </a:p>
          <a:p>
            <a:r>
              <a:rPr lang="en-CL" dirty="0"/>
              <a:t>C*v2 = v2</a:t>
            </a:r>
          </a:p>
          <a:p>
            <a:endParaRPr lang="en-CL" dirty="0"/>
          </a:p>
          <a:p>
            <a:r>
              <a:rPr lang="en-CL" dirty="0"/>
              <a:t>4*x1+3*x2 = x1 ….   </a:t>
            </a:r>
            <a:r>
              <a:rPr lang="en-US" dirty="0"/>
              <a:t>x</a:t>
            </a:r>
            <a:r>
              <a:rPr lang="en-CL" dirty="0"/>
              <a:t>1 = -x2, ademas norm(v2) = 1</a:t>
            </a:r>
          </a:p>
          <a:p>
            <a:endParaRPr lang="en-CL" dirty="0"/>
          </a:p>
          <a:p>
            <a:r>
              <a:rPr lang="en-CL" dirty="0"/>
              <a:t>x2*x2 + x2*x2 = 1</a:t>
            </a:r>
          </a:p>
          <a:p>
            <a:endParaRPr lang="en-CL" dirty="0"/>
          </a:p>
          <a:p>
            <a:r>
              <a:rPr lang="en-US" dirty="0"/>
              <a:t>x</a:t>
            </a:r>
            <a:r>
              <a:rPr lang="en-CL" dirty="0"/>
              <a:t>2 = -1/sqrt(2)</a:t>
            </a:r>
          </a:p>
          <a:p>
            <a:r>
              <a:rPr lang="en-CL" dirty="0"/>
              <a:t>x1 = -x2</a:t>
            </a:r>
          </a:p>
          <a:p>
            <a:endParaRPr lang="en-CL" dirty="0"/>
          </a:p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6E6B2-EC45-1147-8496-DFA2586CC8C4}" type="slidenum">
              <a:rPr lang="en-CL" smtClean="0"/>
              <a:pPr/>
              <a:t>14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590601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28-04-26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Relationship Id="rId9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22.emf"/><Relationship Id="rId7" Type="http://schemas.openxmlformats.org/officeDocument/2006/relationships/image" Target="../media/image19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6.emf"/><Relationship Id="rId9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10" Type="http://schemas.openxmlformats.org/officeDocument/2006/relationships/image" Target="../media/image34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4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7" Type="http://schemas.openxmlformats.org/officeDocument/2006/relationships/image" Target="../media/image68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emf"/><Relationship Id="rId5" Type="http://schemas.openxmlformats.org/officeDocument/2006/relationships/image" Target="../media/image61.emf"/><Relationship Id="rId4" Type="http://schemas.openxmlformats.org/officeDocument/2006/relationships/image" Target="../media/image6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emf"/><Relationship Id="rId4" Type="http://schemas.openxmlformats.org/officeDocument/2006/relationships/image" Target="../media/image7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7" Type="http://schemas.openxmlformats.org/officeDocument/2006/relationships/image" Target="../media/image85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4.emf"/><Relationship Id="rId4" Type="http://schemas.openxmlformats.org/officeDocument/2006/relationships/image" Target="../media/image83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png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5" Type="http://schemas.openxmlformats.org/officeDocument/2006/relationships/image" Target="../media/image83.emf"/><Relationship Id="rId4" Type="http://schemas.openxmlformats.org/officeDocument/2006/relationships/image" Target="../media/image8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image" Target="../media/image97.png"/><Relationship Id="rId7" Type="http://schemas.openxmlformats.org/officeDocument/2006/relationships/image" Target="../media/image100.emf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emf"/><Relationship Id="rId5" Type="http://schemas.openxmlformats.org/officeDocument/2006/relationships/image" Target="../media/image98.emf"/><Relationship Id="rId4" Type="http://schemas.openxmlformats.org/officeDocument/2006/relationships/image" Target="../media/image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emf"/><Relationship Id="rId4" Type="http://schemas.openxmlformats.org/officeDocument/2006/relationships/image" Target="../media/image57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4" Type="http://schemas.openxmlformats.org/officeDocument/2006/relationships/image" Target="../media/image57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4" Type="http://schemas.openxmlformats.org/officeDocument/2006/relationships/image" Target="../media/image57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compneurosci.com/wiki/images/4/42/Intro_to_PCA_and_ICA.pdf" TargetMode="External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798257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Transformación de Características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 CAPÍTULO III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79D8CD-C231-4DE6-AA5C-A1BCDA84C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730" y="3433480"/>
            <a:ext cx="2705100" cy="29845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F278C1-8414-D04A-A560-76E5BFB11E2D}"/>
              </a:ext>
            </a:extLst>
          </p:cNvPr>
          <p:cNvCxnSpPr>
            <a:cxnSpLocks/>
          </p:cNvCxnSpPr>
          <p:nvPr/>
        </p:nvCxnSpPr>
        <p:spPr>
          <a:xfrm flipV="1">
            <a:off x="7766810" y="4351426"/>
            <a:ext cx="1371383" cy="1180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FBC7E5-B906-3052-7B65-03F7AAB31E02}"/>
              </a:ext>
            </a:extLst>
          </p:cNvPr>
          <p:cNvCxnSpPr>
            <a:cxnSpLocks/>
          </p:cNvCxnSpPr>
          <p:nvPr/>
        </p:nvCxnSpPr>
        <p:spPr>
          <a:xfrm>
            <a:off x="7729750" y="4153428"/>
            <a:ext cx="1565759" cy="1815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3D0C9C-71E0-7246-81AC-03006E9CAE30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5F04E49-C1A7-5243-B82B-8EF1018BFD8B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140BA2-2AFF-3649-875B-09D895D04EC1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FD7DA71-0067-CB4E-9683-61FD4F07DEFC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E2462F-23DF-9242-984C-6AF20E9EE768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97078E9-628A-BB4E-A204-3A7820B0DF6D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7FFF02D-A8ED-8843-B31A-AFDE69261198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85D38A5-3B9C-7543-A955-FFF40ADEF916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C0AFF82-2FA7-094D-A8E3-C6AFCA08FE44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0086021-8CB2-EC47-AD49-94705C6D6C8E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D38ABA-5393-9045-8FC6-7871AF55F7C2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03A48E1-28AE-D44D-8AFE-840C09CEB274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EE689BD-4868-6946-B507-A1ED7FF02394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2635A68-5893-AF4B-A04D-95A1CEB0CBBF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A67F10A-889D-884D-B2BD-6EC9996BC823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F273D68-4D6A-8097-A028-FBB59C8B361E}"/>
              </a:ext>
            </a:extLst>
          </p:cNvPr>
          <p:cNvSpPr/>
          <p:nvPr/>
        </p:nvSpPr>
        <p:spPr>
          <a:xfrm>
            <a:off x="2009553" y="1435395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4937CA-A3E7-40BF-2BB3-280A44C49C9C}"/>
              </a:ext>
            </a:extLst>
          </p:cNvPr>
          <p:cNvSpPr/>
          <p:nvPr/>
        </p:nvSpPr>
        <p:spPr>
          <a:xfrm>
            <a:off x="2449964" y="2184990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6574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1543-C18D-215F-2BBA-2405A5C9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893642-4C85-FB3E-2E23-643205AE7CBE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5CEF8AF-2CD5-DF51-7BBC-A4B130041157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B7F85E-DA01-A85E-AAFC-E3BBB5F2F058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248276-B78B-3F80-A469-2D1D3C00F7A8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1688A9-CDC7-E84B-4D55-F3ECA50072D1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5EE2421-7AD7-04D7-8CE5-082FE981AE19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B30A7A4E-D250-3882-40DF-B10577864968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D9AB737-F5B8-2D7A-E34E-6DB6DBD4B82F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080942-1B88-49CD-1B78-3B87DB49E9FD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A7B420C0-FD5B-178B-22CE-231D8FB76DF8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B5C8648-C796-B3D8-473C-B960A64BD317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0E3E8934-9ED8-BB69-9407-A37F40FD1188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ABA2517-C910-125B-F493-3145B3734DFA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96B4084-CCD6-1068-714F-CAA3E4B64DA0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A15C95C-75D4-BD08-A535-927E3159F2FA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3795E66-CC23-F3D4-3343-BC6760FF6DD9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CB07115-586D-5CB4-C621-666549CE733C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2FAE3CA-3796-F0F7-803B-5A07E442CFCA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DC59B56-E805-2565-A846-9B1A551579B3}"/>
              </a:ext>
            </a:extLst>
          </p:cNvPr>
          <p:cNvSpPr/>
          <p:nvPr/>
        </p:nvSpPr>
        <p:spPr>
          <a:xfrm>
            <a:off x="2009553" y="1435395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C2FF84-04F4-FF80-66E3-6EBC865C8ACF}"/>
              </a:ext>
            </a:extLst>
          </p:cNvPr>
          <p:cNvSpPr/>
          <p:nvPr/>
        </p:nvSpPr>
        <p:spPr>
          <a:xfrm>
            <a:off x="2449964" y="2184990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31645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4543-10E7-46CF-4866-D2966E11B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842555-9DCF-AEA3-7778-5041815B22B6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C1C7E2-0671-C988-2459-5DF7C131A22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C2DD45A-F4D8-0287-CEED-BC4F53B67AA8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34E459-4FBA-77A5-DA36-01F4C61D6BA9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FF73E4-D841-F4C8-5EC6-F615F42DDE8E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4A608B3-CE6E-C43F-2642-67634C49C8F1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69CFB9-8354-F40D-0ECD-B22D01B5F421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94F57A3-94E9-2716-A4FF-22346EFB4425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F9AE7E8-2139-6310-3B89-41422DB1061F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2C39B8-3288-1929-597E-09DC5EEC7393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A542E69-6FE7-CFFD-266C-E68DF226A33A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D903CBF-F518-3107-2CFB-C36F7AFEFB83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915813-F6E9-8825-F993-A041A8D7E5BD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2AB2503C-BBFE-FFBC-067C-770F74D45AFB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09FE7F-B389-8A7E-6CB6-A18444E08EE9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A028008D-B8C4-94EB-09CD-64A0D62991CC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EBF12D7-E357-9FF4-3444-289000677D5F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9FC7317-8CE0-8DC2-07DC-C016DEAF2002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62C3058-F658-71BA-6E81-8C418F5F227D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197ED0B-411C-5428-2B55-7882F12A837D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7D82415-DF54-474E-FC13-1F3778320C54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03C4B2C-5683-494F-347A-DD4AE0D5DF95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30D03C4E-BA04-8B14-E04A-75120F4785F2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4D52E93-20B1-93B4-7CC9-BBECC7101B14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08C8306-5671-552A-39DA-C2EDE2CA39BD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3F37683-D035-9552-ABA2-0365F3C4F859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4B8C3-5BAB-425F-C362-2D4C88B846D6}"/>
              </a:ext>
            </a:extLst>
          </p:cNvPr>
          <p:cNvSpPr/>
          <p:nvPr/>
        </p:nvSpPr>
        <p:spPr>
          <a:xfrm>
            <a:off x="2009553" y="1435395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E28AD0-F48A-FB4B-AB7E-33006E163D6F}"/>
              </a:ext>
            </a:extLst>
          </p:cNvPr>
          <p:cNvSpPr/>
          <p:nvPr/>
        </p:nvSpPr>
        <p:spPr>
          <a:xfrm>
            <a:off x="2449964" y="2184990"/>
            <a:ext cx="361507" cy="149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4975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66EBE-F290-DA8F-BF97-0FB46A78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45FC1-05C1-7A70-49D6-E30D8677CEAD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D6EB73-CF55-E8F7-CF70-69ADAA739CA1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5A1C387-AECA-D51C-D15F-150956C25406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C0E716-73B4-0201-C32D-905F3483DB46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E2F4FD6-637B-1E3F-DD72-DF3E8E99D5D7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9F21FE-A2F5-C991-81D0-52376998D1F6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507A86-55A4-E88B-1C8E-79711E7E8DA9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0B65A0-4658-7BA6-C115-B9F42B96DEC4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FF73424-75F5-B1F8-5C46-DB0AEEED208D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A95515A-9E36-6771-875B-041D5CADCB41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479780-2E7B-A478-0E64-CE591A6AC3CB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456CCB-3BFB-E1AE-F186-C7D0D9A4F57C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617BD1-0BCC-4272-F65F-7BC0E1FB4CC6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AA51E4-7863-94F1-853E-DE57A56A14B8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FBDC59D-D534-7FF9-CCC5-C47E475C3D56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F63050B-9F9D-1AFC-24BD-B25B4F7E6B84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A028AE-254C-CADD-A632-A93EDAAD978B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107DE4-B27B-445C-BC9D-02968A6AD222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4425E24E-9802-B18A-3E35-950B4DD4CA52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170A133-A26A-B274-F771-2D5C422798C5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547BC6-589A-B50F-422E-0E2141070F3A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F789AF3E-FA79-C252-1D3F-85E586B9A7A6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19155BF-DAEC-0B3E-C0DF-7ED6D5FD4FC6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A3F52B1-6321-2562-15C2-CF7D14DBD616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2DC9AC90-7F7E-58CF-2E94-2E994BCA5005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4BCF136-85FE-3D3B-1BAD-06D779F33C87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A219A90-2E95-23EA-5829-20F57DB0939E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87C6DC34-75D6-747F-D01A-4CEE1622D502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4F24E643-9450-CBB2-874C-9F79608BDC65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E099765-4F53-F0BC-E302-95753C307074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CCCBB56-94FB-6EB7-8289-7E1C6DF24F68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BD988E4-BE4E-8366-8FAA-09C127A43432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57D19E7-09AE-E341-A23B-5312FC1F36C2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66E9845-6EA2-C33D-F161-4F7A6C196BAE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B228E09-DE31-6979-55E3-6E4EBA88F065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4D21822-3D81-5131-8A22-CFFDBBB1257D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294AFF-322E-46D7-E613-6D96A5921D8D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CA31BF8-630B-0DF8-E337-461C3408C984}"/>
              </a:ext>
            </a:extLst>
          </p:cNvPr>
          <p:cNvSpPr txBox="1"/>
          <p:nvPr/>
        </p:nvSpPr>
        <p:spPr>
          <a:xfrm>
            <a:off x="7896049" y="5598484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DDFC1DB-3E78-6F28-7071-B7C16AB65009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2EE50E4-8D9D-C30A-5971-61DC6C289390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CD70AD8-761D-37C7-3F7D-3D5A1942DDAA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B1F96EC5-902C-3F24-31FF-9A4EBD9D9677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859C3C0-30E5-BBBA-D026-59672CC3B020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C4BEF70-2A01-9384-9829-6F0BDB506B70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90B81EC-6BBB-5FC3-DDC1-75ACD29AF852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444F3A-98F7-23D4-E9AA-9740FD4670EE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F45C6D0-453F-43B7-9A29-F79CB7AC7E0E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4E32E7-3334-0EF0-C3F5-4A88F66C56B0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05157F-D658-B0F0-4E75-CEF966399FB5}"/>
              </a:ext>
            </a:extLst>
          </p:cNvPr>
          <p:cNvSpPr txBox="1"/>
          <p:nvPr/>
        </p:nvSpPr>
        <p:spPr>
          <a:xfrm>
            <a:off x="1162594" y="1922428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973F2-D416-F37F-93E2-738496D027BE}"/>
              </a:ext>
            </a:extLst>
          </p:cNvPr>
          <p:cNvSpPr txBox="1"/>
          <p:nvPr/>
        </p:nvSpPr>
        <p:spPr>
          <a:xfrm>
            <a:off x="1159509" y="395319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3460242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1E2D-93C2-F24C-A9B2-EA61E3D3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D881FF-FD73-D23D-179F-45F1590A032B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6F4CBA-353D-4B10-2456-EDF4D3749EF8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14A1FA-9072-CE85-9C0D-198754501281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64EDD5-46B4-E739-8CA8-CCC9C08E0BD1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77DB05F-0489-37BA-CAB3-24B3F6CF7905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B3D86A-30AB-9ED4-8837-F2078E8BC110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D730BF-648A-3E83-3FEB-25C932C4EDC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066AB1-02A0-419F-5F05-26C02EF48696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F24D408-7684-1B88-7053-EB4592AF79BC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AF76D4F-60ED-B6FA-5EC7-7D61576C37C2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BF9B7F-28E4-C852-ABEA-97EAD5C578F1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B6D792-E8DF-4C53-A029-8EFF07E95C2B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D1BD12-F82E-A8FA-8299-ED418A1B63A9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59D023-AE2F-DA0B-1D84-63AA5FA9B9C1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8DD80E9-2230-3B1F-ACF5-1D88868CD275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2E11CD4-4918-5466-8916-2755DB7AA387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772B03B-0542-6478-CEE6-5895526FC6B2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84ACD5D-4C27-F866-1B0B-DA5003DC6850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B03BFB9C-CA2C-385A-E1DC-11A4F4659B80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AEDEEE1-3D64-CF7E-AC07-1BC7DDA314E0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4DDE0D-4487-5400-5902-E2B7ACD0C868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F4F83A8C-B904-41AB-5644-51EE84270A15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29FE2E1-9062-FE7E-29F9-88B4F1BE5CA8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60EBEC2-4A79-14C5-6D93-46986CCAD5BF}"/>
              </a:ext>
            </a:extLst>
          </p:cNvPr>
          <p:cNvSpPr/>
          <p:nvPr/>
        </p:nvSpPr>
        <p:spPr>
          <a:xfrm>
            <a:off x="10527957" y="4035190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BE497CB-2EC7-EC53-5029-338069418150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4CC26C4D-A562-38C7-066B-6CB3832008D8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890FE3B1-7A46-3D38-8F2D-7D729DFCEE7B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-110478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4C3AF78-69F6-5292-742E-0F2F27D38FAA}"/>
              </a:ext>
            </a:extLst>
          </p:cNvPr>
          <p:cNvSpPr txBox="1"/>
          <p:nvPr/>
        </p:nvSpPr>
        <p:spPr>
          <a:xfrm>
            <a:off x="2312886" y="461771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C5F13F1-86F6-0795-C600-F5D66109E340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7617609-8FA3-A85F-CD00-12EB46719E0B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0231EC05-BBF2-43B8-E13E-FAE0F14204CB}"/>
              </a:ext>
            </a:extLst>
          </p:cNvPr>
          <p:cNvSpPr/>
          <p:nvPr/>
        </p:nvSpPr>
        <p:spPr>
          <a:xfrm>
            <a:off x="10555044" y="3936308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0A9CD98E-D273-59F3-9310-0ECDCAEE82B7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9326202F-1008-3178-5EDB-7BE08526373A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48B07A9-79AA-D00A-7F11-758C500C0E34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C3A69B-87B8-F0BF-6BEE-DECE1FCDA91B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3B2A1E3-510C-E9BB-7B35-EEF9DFB0EB8E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C040E95-4B8C-ADCE-4921-6DD5439F9EF2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187158B-DB73-ED5D-4E83-00063AEAADD7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5A1B58A-C4E5-E7DB-72CF-7766FBEE65F8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C3365CE-352B-B0BB-8B50-71ECF94DC3A7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819C355-DDA8-C9DC-20AC-4BF178F5E0E1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3E5F11-B465-517F-3BA1-97393294CE21}"/>
              </a:ext>
            </a:extLst>
          </p:cNvPr>
          <p:cNvSpPr txBox="1"/>
          <p:nvPr/>
        </p:nvSpPr>
        <p:spPr>
          <a:xfrm>
            <a:off x="7896049" y="5598484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9C68AD6-3AA3-EEBB-D489-CE9176CFB910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44D7C3C-E421-E4D9-B57A-BFBF8230FC90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2904987-14F0-C60B-F7CB-5C50412FAF5C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87CAEFF-20D4-FAA4-63DF-A0C2255197D0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87B818E-8C0E-9CBC-152B-4163DCED3840}"/>
              </a:ext>
            </a:extLst>
          </p:cNvPr>
          <p:cNvCxnSpPr>
            <a:cxnSpLocks/>
          </p:cNvCxnSpPr>
          <p:nvPr/>
        </p:nvCxnSpPr>
        <p:spPr>
          <a:xfrm flipV="1">
            <a:off x="10894855" y="4219762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6FB0B7B-0739-FDE8-6F39-08DC7C15AA5C}"/>
              </a:ext>
            </a:extLst>
          </p:cNvPr>
          <p:cNvSpPr txBox="1"/>
          <p:nvPr/>
        </p:nvSpPr>
        <p:spPr>
          <a:xfrm>
            <a:off x="11251259" y="407635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72D3892-4783-5BE0-8120-729A919DB663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76BA0AC-BE69-85A4-5796-89808DAC69C6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7C1DCC6-113D-368E-488F-641B5E99B295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711861B-9A1A-772A-53D1-AFB3FB82A04D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1880E26-B624-446B-FDC1-B4BCE6881DE4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0338DFE-4F3A-A906-541E-9E1291003D37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0B1F83-E01B-94BF-BC5A-8A96253074C7}"/>
              </a:ext>
            </a:extLst>
          </p:cNvPr>
          <p:cNvSpPr txBox="1"/>
          <p:nvPr/>
        </p:nvSpPr>
        <p:spPr>
          <a:xfrm>
            <a:off x="1162594" y="1922428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0DFC9-5675-8A8A-C3CF-944CE36F1A7E}"/>
              </a:ext>
            </a:extLst>
          </p:cNvPr>
          <p:cNvSpPr txBox="1"/>
          <p:nvPr/>
        </p:nvSpPr>
        <p:spPr>
          <a:xfrm>
            <a:off x="1159509" y="395319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249950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5E96D-3D16-0F11-645C-B9CB961A3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BC77DE9-D415-3B3F-F4D5-A1C2CC12648C}"/>
              </a:ext>
            </a:extLst>
          </p:cNvPr>
          <p:cNvSpPr/>
          <p:nvPr/>
        </p:nvSpPr>
        <p:spPr>
          <a:xfrm>
            <a:off x="1667540" y="224129"/>
            <a:ext cx="9721467" cy="2967624"/>
          </a:xfrm>
          <a:custGeom>
            <a:avLst/>
            <a:gdLst>
              <a:gd name="csX0" fmla="*/ 1171353 w 9721467"/>
              <a:gd name="csY0" fmla="*/ 158643 h 2967624"/>
              <a:gd name="csX1" fmla="*/ 3287232 w 9721467"/>
              <a:gd name="csY1" fmla="*/ 62950 h 2967624"/>
              <a:gd name="csX2" fmla="*/ 6572693 w 9721467"/>
              <a:gd name="csY2" fmla="*/ 9787 h 2967624"/>
              <a:gd name="csX3" fmla="*/ 7880497 w 9721467"/>
              <a:gd name="csY3" fmla="*/ 264969 h 2967624"/>
              <a:gd name="csX4" fmla="*/ 8933120 w 9721467"/>
              <a:gd name="csY4" fmla="*/ 956085 h 2967624"/>
              <a:gd name="csX5" fmla="*/ 9486013 w 9721467"/>
              <a:gd name="csY5" fmla="*/ 1955545 h 2967624"/>
              <a:gd name="csX6" fmla="*/ 9283995 w 9721467"/>
              <a:gd name="csY6" fmla="*/ 2742355 h 2967624"/>
              <a:gd name="csX7" fmla="*/ 4637567 w 9721467"/>
              <a:gd name="csY7" fmla="*/ 2848680 h 2967624"/>
              <a:gd name="csX8" fmla="*/ 2053855 w 9721467"/>
              <a:gd name="csY8" fmla="*/ 2869945 h 2967624"/>
              <a:gd name="csX9" fmla="*/ 331381 w 9721467"/>
              <a:gd name="csY9" fmla="*/ 1519611 h 2967624"/>
              <a:gd name="csX10" fmla="*/ 65567 w 9721467"/>
              <a:gd name="csY10" fmla="*/ 456355 h 2967624"/>
              <a:gd name="csX11" fmla="*/ 1171353 w 9721467"/>
              <a:gd name="csY11" fmla="*/ 158643 h 29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721467" h="2967624">
                <a:moveTo>
                  <a:pt x="1171353" y="158643"/>
                </a:moveTo>
                <a:cubicBezTo>
                  <a:pt x="1708297" y="93075"/>
                  <a:pt x="2387009" y="87759"/>
                  <a:pt x="3287232" y="62950"/>
                </a:cubicBezTo>
                <a:cubicBezTo>
                  <a:pt x="4187455" y="38141"/>
                  <a:pt x="5807149" y="-23883"/>
                  <a:pt x="6572693" y="9787"/>
                </a:cubicBezTo>
                <a:cubicBezTo>
                  <a:pt x="7338237" y="43457"/>
                  <a:pt x="7487093" y="107253"/>
                  <a:pt x="7880497" y="264969"/>
                </a:cubicBezTo>
                <a:cubicBezTo>
                  <a:pt x="8273901" y="422685"/>
                  <a:pt x="8665534" y="674322"/>
                  <a:pt x="8933120" y="956085"/>
                </a:cubicBezTo>
                <a:cubicBezTo>
                  <a:pt x="9200706" y="1237848"/>
                  <a:pt x="9427534" y="1657834"/>
                  <a:pt x="9486013" y="1955545"/>
                </a:cubicBezTo>
                <a:cubicBezTo>
                  <a:pt x="9544492" y="2253256"/>
                  <a:pt x="10092069" y="2593499"/>
                  <a:pt x="9283995" y="2742355"/>
                </a:cubicBezTo>
                <a:cubicBezTo>
                  <a:pt x="8475921" y="2891211"/>
                  <a:pt x="4637567" y="2848680"/>
                  <a:pt x="4637567" y="2848680"/>
                </a:cubicBezTo>
                <a:cubicBezTo>
                  <a:pt x="3432544" y="2869945"/>
                  <a:pt x="2771553" y="3091456"/>
                  <a:pt x="2053855" y="2869945"/>
                </a:cubicBezTo>
                <a:cubicBezTo>
                  <a:pt x="1336157" y="2648434"/>
                  <a:pt x="662762" y="1921876"/>
                  <a:pt x="331381" y="1519611"/>
                </a:cubicBezTo>
                <a:cubicBezTo>
                  <a:pt x="0" y="1117346"/>
                  <a:pt x="-70884" y="686727"/>
                  <a:pt x="65567" y="456355"/>
                </a:cubicBezTo>
                <a:cubicBezTo>
                  <a:pt x="202018" y="225983"/>
                  <a:pt x="634409" y="224211"/>
                  <a:pt x="1171353" y="158643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CE2DA-E826-A3C6-CD21-F1510E0BB9AE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7BB20F-A587-4462-3990-3142A4A1B8F7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6E7D63-8D86-A327-519E-40FBBD3C3D0E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0BFC02-0545-43E3-68F2-F044156826AA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061AB6-BD15-289C-ABBE-E010DC939325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2466EB-0212-6D5F-0E54-3F041D1B650E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CA6594-23B6-1467-0727-82586A25BFF3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F185C5-4F4F-466D-874C-761626488038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F402DC9-8A1E-094C-E457-8143B20E59CA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1CBCF90-43EC-F6CE-C11C-AD893792A0D0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DAEB0B7-E3A3-17D0-1F6C-2681D9AA11A9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F5921BF-3964-0FC3-53F9-C0DCBA5B7331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5035B8E-39C9-1EC1-37E7-FAEEEB05178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0F5DC8C-85AE-21E5-1F14-0C0BB2160647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861857F-CAC8-4066-56FB-4F277ED36B66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61B2DA5-A7C2-A29C-D6D0-CF6F03792884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E75EE4-6C06-CDEF-E90C-DC08D75B5B94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39BEE32-C5E8-C2C1-80DD-1E0497BF0AFD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161C7AC8-5CB3-8246-9BE0-634226B7524C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FFF627A-9AF1-C149-E620-CC66090BABBC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E011C0-AF87-DD9F-47C5-3141AF3F3118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39F7B8CC-AF84-C086-F7A4-4A47EF2FBABD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C198CD5-3877-47A2-D0C4-70891EA782AD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79FF353-967C-D89F-F88D-2E4D3092D3C2}"/>
              </a:ext>
            </a:extLst>
          </p:cNvPr>
          <p:cNvSpPr/>
          <p:nvPr/>
        </p:nvSpPr>
        <p:spPr>
          <a:xfrm>
            <a:off x="10527957" y="4035190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EF6334C-23CA-32B6-4501-4CAA6508F739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59754A14-44C9-EDEA-5233-6EC55FB3CB6F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6EF724A-6E63-4EAE-62D1-39627B88ABCA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-110478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8C7904F-E654-3018-0A07-58361EEEAB4F}"/>
              </a:ext>
            </a:extLst>
          </p:cNvPr>
          <p:cNvSpPr txBox="1"/>
          <p:nvPr/>
        </p:nvSpPr>
        <p:spPr>
          <a:xfrm>
            <a:off x="2312886" y="461771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B1C4E60-22AB-5EC7-5198-C227A0CCFBD1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A2E2504-F3DA-9A6B-3E4C-0944B1FA14DC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9B506896-DEDE-4083-3C1E-56E1C6E0ABFC}"/>
              </a:ext>
            </a:extLst>
          </p:cNvPr>
          <p:cNvSpPr/>
          <p:nvPr/>
        </p:nvSpPr>
        <p:spPr>
          <a:xfrm>
            <a:off x="10555044" y="3936308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AC0666B-2F11-D1E0-7C5B-670710345AA5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307CA4C2-8BE9-3D4F-FB81-C846B8AB31D5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ECFD73-28CF-0483-11A0-CA197F2C6320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30174EC-D038-F5B5-21BC-CB5F26E568E0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65B91D6-DC3B-DD54-D0B5-B28F3E8181BC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26DC0B3-27E5-CD6E-9E1A-5C0FFAFEE81A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582F3C0-FCF9-F832-C8D3-427C621622ED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6E05D17-7372-6555-062B-63D09CF28142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F533C23-C0FF-3D54-7FDD-886D8271E663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1563AE-1708-A0D1-6EC9-43DE633D7C83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97651BB-2B78-747A-065E-20540C9C13DA}"/>
              </a:ext>
            </a:extLst>
          </p:cNvPr>
          <p:cNvSpPr txBox="1"/>
          <p:nvPr/>
        </p:nvSpPr>
        <p:spPr>
          <a:xfrm>
            <a:off x="7896049" y="5598484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07FE32F-531E-A5B8-0C99-7CECA91A96D3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D03F735-4AB6-5489-5CC3-24CB26311212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064A579-CD59-B974-D48B-BB873D1A1CBD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6B3FA85-934E-04CB-D69E-A1338CE7259E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D3FC801-B94D-6B96-DB2E-CE97B71EA57F}"/>
              </a:ext>
            </a:extLst>
          </p:cNvPr>
          <p:cNvCxnSpPr>
            <a:cxnSpLocks/>
          </p:cNvCxnSpPr>
          <p:nvPr/>
        </p:nvCxnSpPr>
        <p:spPr>
          <a:xfrm flipV="1">
            <a:off x="10894855" y="4219762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9ECA22C-29EE-8CEE-1C15-F8B631B92AD2}"/>
              </a:ext>
            </a:extLst>
          </p:cNvPr>
          <p:cNvSpPr txBox="1"/>
          <p:nvPr/>
        </p:nvSpPr>
        <p:spPr>
          <a:xfrm>
            <a:off x="11251259" y="407635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67CE7A1-229D-2767-FD9A-2B9B9CC41DC3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BD5DACCC-4F3A-673D-98E2-4464549E377F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2B98734-57E9-48A6-A664-9A5E25BF6F43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57496F8-DD91-DF39-832A-EFA08750661A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A079AB4-1F93-6744-B744-C60870748786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2281118-379C-095F-6A0C-A89502FA842D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C20FD-B801-EE58-FD10-36DAC8B3EAE0}"/>
              </a:ext>
            </a:extLst>
          </p:cNvPr>
          <p:cNvSpPr txBox="1"/>
          <p:nvPr/>
        </p:nvSpPr>
        <p:spPr>
          <a:xfrm>
            <a:off x="1162594" y="1922428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05F49-1024-1549-DCFC-3C680547DA81}"/>
              </a:ext>
            </a:extLst>
          </p:cNvPr>
          <p:cNvSpPr txBox="1"/>
          <p:nvPr/>
        </p:nvSpPr>
        <p:spPr>
          <a:xfrm>
            <a:off x="1159509" y="395319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4001B-BFCA-1292-6D7C-3A980E4879E0}"/>
              </a:ext>
            </a:extLst>
          </p:cNvPr>
          <p:cNvSpPr txBox="1"/>
          <p:nvPr/>
        </p:nvSpPr>
        <p:spPr>
          <a:xfrm>
            <a:off x="10207284" y="473669"/>
            <a:ext cx="107112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PIENSA,</a:t>
            </a:r>
          </a:p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DECIDE,</a:t>
            </a:r>
          </a:p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DISEÑA</a:t>
            </a:r>
          </a:p>
        </p:txBody>
      </p:sp>
    </p:spTree>
    <p:extLst>
      <p:ext uri="{BB962C8B-B14F-4D97-AF65-F5344CB8AC3E}">
        <p14:creationId xmlns:p14="http://schemas.microsoft.com/office/powerpoint/2010/main" val="3410030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3922-352E-298B-DD40-894EFE62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75302CCD-8E0E-7C1D-0A1A-3B6FA1994778}"/>
              </a:ext>
            </a:extLst>
          </p:cNvPr>
          <p:cNvSpPr/>
          <p:nvPr/>
        </p:nvSpPr>
        <p:spPr>
          <a:xfrm rot="10605440">
            <a:off x="2061309" y="3453618"/>
            <a:ext cx="9721467" cy="2967624"/>
          </a:xfrm>
          <a:custGeom>
            <a:avLst/>
            <a:gdLst>
              <a:gd name="csX0" fmla="*/ 1171353 w 9721467"/>
              <a:gd name="csY0" fmla="*/ 158643 h 2967624"/>
              <a:gd name="csX1" fmla="*/ 3287232 w 9721467"/>
              <a:gd name="csY1" fmla="*/ 62950 h 2967624"/>
              <a:gd name="csX2" fmla="*/ 6572693 w 9721467"/>
              <a:gd name="csY2" fmla="*/ 9787 h 2967624"/>
              <a:gd name="csX3" fmla="*/ 7880497 w 9721467"/>
              <a:gd name="csY3" fmla="*/ 264969 h 2967624"/>
              <a:gd name="csX4" fmla="*/ 8933120 w 9721467"/>
              <a:gd name="csY4" fmla="*/ 956085 h 2967624"/>
              <a:gd name="csX5" fmla="*/ 9486013 w 9721467"/>
              <a:gd name="csY5" fmla="*/ 1955545 h 2967624"/>
              <a:gd name="csX6" fmla="*/ 9283995 w 9721467"/>
              <a:gd name="csY6" fmla="*/ 2742355 h 2967624"/>
              <a:gd name="csX7" fmla="*/ 4637567 w 9721467"/>
              <a:gd name="csY7" fmla="*/ 2848680 h 2967624"/>
              <a:gd name="csX8" fmla="*/ 2053855 w 9721467"/>
              <a:gd name="csY8" fmla="*/ 2869945 h 2967624"/>
              <a:gd name="csX9" fmla="*/ 331381 w 9721467"/>
              <a:gd name="csY9" fmla="*/ 1519611 h 2967624"/>
              <a:gd name="csX10" fmla="*/ 65567 w 9721467"/>
              <a:gd name="csY10" fmla="*/ 456355 h 2967624"/>
              <a:gd name="csX11" fmla="*/ 1171353 w 9721467"/>
              <a:gd name="csY11" fmla="*/ 158643 h 29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721467" h="2967624">
                <a:moveTo>
                  <a:pt x="1171353" y="158643"/>
                </a:moveTo>
                <a:cubicBezTo>
                  <a:pt x="1708297" y="93075"/>
                  <a:pt x="2387009" y="87759"/>
                  <a:pt x="3287232" y="62950"/>
                </a:cubicBezTo>
                <a:cubicBezTo>
                  <a:pt x="4187455" y="38141"/>
                  <a:pt x="5807149" y="-23883"/>
                  <a:pt x="6572693" y="9787"/>
                </a:cubicBezTo>
                <a:cubicBezTo>
                  <a:pt x="7338237" y="43457"/>
                  <a:pt x="7487093" y="107253"/>
                  <a:pt x="7880497" y="264969"/>
                </a:cubicBezTo>
                <a:cubicBezTo>
                  <a:pt x="8273901" y="422685"/>
                  <a:pt x="8665534" y="674322"/>
                  <a:pt x="8933120" y="956085"/>
                </a:cubicBezTo>
                <a:cubicBezTo>
                  <a:pt x="9200706" y="1237848"/>
                  <a:pt x="9427534" y="1657834"/>
                  <a:pt x="9486013" y="1955545"/>
                </a:cubicBezTo>
                <a:cubicBezTo>
                  <a:pt x="9544492" y="2253256"/>
                  <a:pt x="10092069" y="2593499"/>
                  <a:pt x="9283995" y="2742355"/>
                </a:cubicBezTo>
                <a:cubicBezTo>
                  <a:pt x="8475921" y="2891211"/>
                  <a:pt x="4637567" y="2848680"/>
                  <a:pt x="4637567" y="2848680"/>
                </a:cubicBezTo>
                <a:cubicBezTo>
                  <a:pt x="3432544" y="2869945"/>
                  <a:pt x="2771553" y="3091456"/>
                  <a:pt x="2053855" y="2869945"/>
                </a:cubicBezTo>
                <a:cubicBezTo>
                  <a:pt x="1336157" y="2648434"/>
                  <a:pt x="662762" y="1921876"/>
                  <a:pt x="331381" y="1519611"/>
                </a:cubicBezTo>
                <a:cubicBezTo>
                  <a:pt x="0" y="1117346"/>
                  <a:pt x="-70884" y="686727"/>
                  <a:pt x="65567" y="456355"/>
                </a:cubicBezTo>
                <a:cubicBezTo>
                  <a:pt x="202018" y="225983"/>
                  <a:pt x="634409" y="224211"/>
                  <a:pt x="1171353" y="15864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223384F-D1DA-A446-6DE9-60874CC5B4D7}"/>
              </a:ext>
            </a:extLst>
          </p:cNvPr>
          <p:cNvSpPr/>
          <p:nvPr/>
        </p:nvSpPr>
        <p:spPr>
          <a:xfrm>
            <a:off x="1667540" y="224129"/>
            <a:ext cx="9721467" cy="2967624"/>
          </a:xfrm>
          <a:custGeom>
            <a:avLst/>
            <a:gdLst>
              <a:gd name="csX0" fmla="*/ 1171353 w 9721467"/>
              <a:gd name="csY0" fmla="*/ 158643 h 2967624"/>
              <a:gd name="csX1" fmla="*/ 3287232 w 9721467"/>
              <a:gd name="csY1" fmla="*/ 62950 h 2967624"/>
              <a:gd name="csX2" fmla="*/ 6572693 w 9721467"/>
              <a:gd name="csY2" fmla="*/ 9787 h 2967624"/>
              <a:gd name="csX3" fmla="*/ 7880497 w 9721467"/>
              <a:gd name="csY3" fmla="*/ 264969 h 2967624"/>
              <a:gd name="csX4" fmla="*/ 8933120 w 9721467"/>
              <a:gd name="csY4" fmla="*/ 956085 h 2967624"/>
              <a:gd name="csX5" fmla="*/ 9486013 w 9721467"/>
              <a:gd name="csY5" fmla="*/ 1955545 h 2967624"/>
              <a:gd name="csX6" fmla="*/ 9283995 w 9721467"/>
              <a:gd name="csY6" fmla="*/ 2742355 h 2967624"/>
              <a:gd name="csX7" fmla="*/ 4637567 w 9721467"/>
              <a:gd name="csY7" fmla="*/ 2848680 h 2967624"/>
              <a:gd name="csX8" fmla="*/ 2053855 w 9721467"/>
              <a:gd name="csY8" fmla="*/ 2869945 h 2967624"/>
              <a:gd name="csX9" fmla="*/ 331381 w 9721467"/>
              <a:gd name="csY9" fmla="*/ 1519611 h 2967624"/>
              <a:gd name="csX10" fmla="*/ 65567 w 9721467"/>
              <a:gd name="csY10" fmla="*/ 456355 h 2967624"/>
              <a:gd name="csX11" fmla="*/ 1171353 w 9721467"/>
              <a:gd name="csY11" fmla="*/ 158643 h 29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721467" h="2967624">
                <a:moveTo>
                  <a:pt x="1171353" y="158643"/>
                </a:moveTo>
                <a:cubicBezTo>
                  <a:pt x="1708297" y="93075"/>
                  <a:pt x="2387009" y="87759"/>
                  <a:pt x="3287232" y="62950"/>
                </a:cubicBezTo>
                <a:cubicBezTo>
                  <a:pt x="4187455" y="38141"/>
                  <a:pt x="5807149" y="-23883"/>
                  <a:pt x="6572693" y="9787"/>
                </a:cubicBezTo>
                <a:cubicBezTo>
                  <a:pt x="7338237" y="43457"/>
                  <a:pt x="7487093" y="107253"/>
                  <a:pt x="7880497" y="264969"/>
                </a:cubicBezTo>
                <a:cubicBezTo>
                  <a:pt x="8273901" y="422685"/>
                  <a:pt x="8665534" y="674322"/>
                  <a:pt x="8933120" y="956085"/>
                </a:cubicBezTo>
                <a:cubicBezTo>
                  <a:pt x="9200706" y="1237848"/>
                  <a:pt x="9427534" y="1657834"/>
                  <a:pt x="9486013" y="1955545"/>
                </a:cubicBezTo>
                <a:cubicBezTo>
                  <a:pt x="9544492" y="2253256"/>
                  <a:pt x="10092069" y="2593499"/>
                  <a:pt x="9283995" y="2742355"/>
                </a:cubicBezTo>
                <a:cubicBezTo>
                  <a:pt x="8475921" y="2891211"/>
                  <a:pt x="4637567" y="2848680"/>
                  <a:pt x="4637567" y="2848680"/>
                </a:cubicBezTo>
                <a:cubicBezTo>
                  <a:pt x="3432544" y="2869945"/>
                  <a:pt x="2771553" y="3091456"/>
                  <a:pt x="2053855" y="2869945"/>
                </a:cubicBezTo>
                <a:cubicBezTo>
                  <a:pt x="1336157" y="2648434"/>
                  <a:pt x="662762" y="1921876"/>
                  <a:pt x="331381" y="1519611"/>
                </a:cubicBezTo>
                <a:cubicBezTo>
                  <a:pt x="0" y="1117346"/>
                  <a:pt x="-70884" y="686727"/>
                  <a:pt x="65567" y="456355"/>
                </a:cubicBezTo>
                <a:cubicBezTo>
                  <a:pt x="202018" y="225983"/>
                  <a:pt x="634409" y="224211"/>
                  <a:pt x="1171353" y="158643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C31DB-9DF0-F24D-F213-98EBCBEE0736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386A9B-6723-3830-E5FF-0BAF96811536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021BE8-6D7A-735B-6FA7-01A2D53CE224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10FEF4-245B-8BE0-9F96-30CF1CEA611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43FA944-DF35-5498-6654-11FC829064C1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34C64B8-1F0A-7E41-885E-8B60480CBC5A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19D1FA-102C-1588-419E-E69E9709937C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60E0AC-8140-1840-35C0-A7F5DEAC7C59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BAAC2E2-2057-5E77-772C-D4DFB226E854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0A24362-8AAA-36B9-4FB7-DFF2860036CA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EF4828-FD7C-6CBB-FD46-A496CD1C8BBE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389F5F-7E88-8370-7C8B-52E964228FE5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4BC2DB4-F647-2F35-9001-3E3C2A5DE49D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8E3E6C-3B89-FC1A-49D0-0FB15B74BD15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FD61990-25D9-EAC4-74E4-62A1672940C0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41D4B3A-7E8A-EE2A-54B0-CA67CEA42B3B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FA75B97-5210-345F-B71B-B32F9D6E0CE4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4E3AFE7-9CA0-D461-F1C9-B653E0891E7A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6E2D10DD-4A65-BB5F-5D68-C4D78296C805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9AD5392-A97E-B5BA-5455-6CCDD97A09EB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81E863-4C98-9D4C-255D-B670CA2286B4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F18B6169-19EE-522D-D992-981BC3533185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1E97F38-4F1B-2CC4-4F71-048FDA0E6F61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D7B2D60-A858-571A-6434-674EAD4280DE}"/>
              </a:ext>
            </a:extLst>
          </p:cNvPr>
          <p:cNvSpPr/>
          <p:nvPr/>
        </p:nvSpPr>
        <p:spPr>
          <a:xfrm>
            <a:off x="10527957" y="4035190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0B1AB0B-BC2A-835C-64D8-F4B811491395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0E60AF42-6305-F560-D7A6-50A415062802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D34F025-013A-0F15-E69B-C7B479D70C86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-110478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F0CD212-566B-4C96-1A46-CB2004E6A9D2}"/>
              </a:ext>
            </a:extLst>
          </p:cNvPr>
          <p:cNvSpPr txBox="1"/>
          <p:nvPr/>
        </p:nvSpPr>
        <p:spPr>
          <a:xfrm>
            <a:off x="2312886" y="461771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B6B10B4-CC6F-7436-18D9-F02258DEF89A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1C00230-8C06-3BD3-002A-E7CBE809D958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C8687D6F-0DD8-DD9C-4474-72E13E5ADC88}"/>
              </a:ext>
            </a:extLst>
          </p:cNvPr>
          <p:cNvSpPr/>
          <p:nvPr/>
        </p:nvSpPr>
        <p:spPr>
          <a:xfrm>
            <a:off x="10555044" y="3936308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8FD05F60-D793-4CF7-D698-AF4F9AF03197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B806246-54C2-72A3-F3E1-92864EE10915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8C96FF7-B73A-B314-FB8E-3F9A4A63081A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6C0B44-5029-0D20-746D-E343CA3C1197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594A72B-F459-39EB-71B8-0E4EF86ED251}"/>
              </a:ext>
            </a:extLst>
          </p:cNvPr>
          <p:cNvSpPr txBox="1"/>
          <p:nvPr/>
        </p:nvSpPr>
        <p:spPr>
          <a:xfrm>
            <a:off x="7833438" y="470897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Xtrain_sfs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Xtrain_ex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2B452F7-0035-D5C3-A308-F39974681745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967FDB3-08EC-7CF5-FAEB-0EFAC720D4D9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AF2D739-A36E-F312-7617-BBA205AB4FEF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A61865E3-504F-D329-1DEE-E24F47E4393A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CF5F923-DD4F-A603-97F1-0DB9FDA5BE83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25873F5-8FC7-0DFA-F48E-3CF8D91C9286}"/>
              </a:ext>
            </a:extLst>
          </p:cNvPr>
          <p:cNvSpPr txBox="1"/>
          <p:nvPr/>
        </p:nvSpPr>
        <p:spPr>
          <a:xfrm>
            <a:off x="7896049" y="5598484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latin typeface="Courier" pitchFamily="2" charset="0"/>
              </a:rPr>
              <a:t>Xtest_sfs</a:t>
            </a:r>
            <a:endParaRPr lang="en-US" sz="1200" dirty="0">
              <a:latin typeface="Courier" pitchFamily="2" charset="0"/>
            </a:endParaRPr>
          </a:p>
          <a:p>
            <a:pPr algn="ctr"/>
            <a:r>
              <a:rPr lang="en-US" sz="1200" dirty="0" err="1">
                <a:latin typeface="Courier" pitchFamily="2" charset="0"/>
              </a:rPr>
              <a:t>Xtest_ex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2EA5DED-574D-011D-C400-319CF9BA9C55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12C2509-DD59-9835-91B2-340F728E2174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6F1E40E-B56F-9E0B-2A8F-7BB60B49ADB4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2AFBB86-7E1D-1FB6-923D-80930CE103C1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6598C26-037A-2373-71CC-E579800A1701}"/>
              </a:ext>
            </a:extLst>
          </p:cNvPr>
          <p:cNvCxnSpPr>
            <a:cxnSpLocks/>
          </p:cNvCxnSpPr>
          <p:nvPr/>
        </p:nvCxnSpPr>
        <p:spPr>
          <a:xfrm flipV="1">
            <a:off x="10894855" y="4219762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C3905D36-9243-99FD-376C-4919BF1AFD62}"/>
              </a:ext>
            </a:extLst>
          </p:cNvPr>
          <p:cNvSpPr txBox="1"/>
          <p:nvPr/>
        </p:nvSpPr>
        <p:spPr>
          <a:xfrm>
            <a:off x="11251259" y="407635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5EA6255-1A7F-CCB3-158B-AA966AD9CA43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9709B1D0-0C7E-5EC1-3AD4-A4F88A4EF9C4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246A75D-7335-295D-E561-09F4529A7591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C10D592-5B73-86F1-98DC-A2030C30F8BF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1FA3501-A528-BDC8-25BA-C2635774906A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76D3D0E-6624-67A7-ECDA-F44E0DFF2288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2D11BE-BB4E-2D0F-BD3D-E74B17FF9190}"/>
              </a:ext>
            </a:extLst>
          </p:cNvPr>
          <p:cNvSpPr txBox="1"/>
          <p:nvPr/>
        </p:nvSpPr>
        <p:spPr>
          <a:xfrm>
            <a:off x="1162594" y="1922428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70%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73340-D7A8-98EF-0F96-F992B43CE00E}"/>
              </a:ext>
            </a:extLst>
          </p:cNvPr>
          <p:cNvSpPr txBox="1"/>
          <p:nvPr/>
        </p:nvSpPr>
        <p:spPr>
          <a:xfrm>
            <a:off x="1159509" y="395319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30%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5FB05-9ABA-E0B5-FC3E-D419C5BF09C4}"/>
              </a:ext>
            </a:extLst>
          </p:cNvPr>
          <p:cNvSpPr txBox="1"/>
          <p:nvPr/>
        </p:nvSpPr>
        <p:spPr>
          <a:xfrm>
            <a:off x="10207284" y="473669"/>
            <a:ext cx="107112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PIENSA,</a:t>
            </a:r>
          </a:p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DECIDE,</a:t>
            </a:r>
          </a:p>
          <a:p>
            <a:pPr algn="ctr"/>
            <a:r>
              <a:rPr lang="en-CL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DISEÑA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6C7F6-8E03-515E-E5F8-FA1C44395CC1}"/>
              </a:ext>
            </a:extLst>
          </p:cNvPr>
          <p:cNvSpPr txBox="1"/>
          <p:nvPr/>
        </p:nvSpPr>
        <p:spPr>
          <a:xfrm>
            <a:off x="1969787" y="5367651"/>
            <a:ext cx="1451038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 PIENSA,</a:t>
            </a:r>
          </a:p>
          <a:p>
            <a:pPr algn="ctr"/>
            <a:r>
              <a:rPr lang="en-CL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EJECUTA,</a:t>
            </a:r>
          </a:p>
          <a:p>
            <a:pPr algn="ctr"/>
            <a:r>
              <a:rPr lang="en-CL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OBEDECE</a:t>
            </a:r>
          </a:p>
        </p:txBody>
      </p:sp>
    </p:spTree>
    <p:extLst>
      <p:ext uri="{BB962C8B-B14F-4D97-AF65-F5344CB8AC3E}">
        <p14:creationId xmlns:p14="http://schemas.microsoft.com/office/powerpoint/2010/main" val="218406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E6D48E-7E37-B74D-8B04-DC91E8A0E09A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3D0C9C-71E0-7246-81AC-03006E9CAE30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863649-5FC6-6D4B-8829-AB000041A0F2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C45AE5-249E-A74B-A888-6ACD84B9BB4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5F04E49-C1A7-5243-B82B-8EF1018BFD8B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5D0504-00EC-3D46-9F45-717631A2011B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E2FA02-B069-3149-AFBA-C5FF580D593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140BA2-2AFF-3649-875B-09D895D04EC1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FD7DA71-0067-CB4E-9683-61FD4F07DEFC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376F1E8-F01F-3B4D-97BA-AB1521AD7D1E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Select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9DC4DB-6672-E944-9F12-F4F20CDA19B2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E2462F-23DF-9242-984C-6AF20E9EE768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44DFF4-2630-B841-9C39-088F788FE967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69E2336-1BB2-D544-9AE5-B4067E653BF9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97078E9-628A-BB4E-A204-3A7820B0DF6D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20AE725-03F9-CE4F-837E-27D4EE206339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3B2209D-1185-2842-8D3C-DA7D3748697F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88A2615-5FC3-1F47-B17A-69CE522BAF19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7FFF02D-A8ED-8843-B31A-AFDE69261198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AC7B1FE-334F-124C-934E-77034DF2DBEC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5D38A5-3B9C-7543-A955-FFF40ADEF916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ED0A7CEE-47E4-2748-B000-EF8B6F820E06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56118C5-F9B0-1C40-AFF9-7E747A23455B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2E0B8C0-6F9D-E94B-8071-7418C32DEE4D}"/>
              </a:ext>
            </a:extLst>
          </p:cNvPr>
          <p:cNvSpPr/>
          <p:nvPr/>
        </p:nvSpPr>
        <p:spPr>
          <a:xfrm>
            <a:off x="10527957" y="4035190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4DFC47A-7FA8-6847-AFC2-E13C5EEC3B31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BC6856AA-62D8-5647-A322-98178AF41D4A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8E6A699-C147-394B-A3BC-3C60E525E806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-110478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6EAAEC3-0FDE-D04F-A4AE-687FD0C3B25D}"/>
              </a:ext>
            </a:extLst>
          </p:cNvPr>
          <p:cNvSpPr txBox="1"/>
          <p:nvPr/>
        </p:nvSpPr>
        <p:spPr>
          <a:xfrm>
            <a:off x="2312886" y="461771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602F283-7EAF-2C48-8D38-E293B7B43324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C0AFF82-2FA7-094D-A8E3-C6AFCA08FE44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B3FAC02-6FE3-044A-BFF1-9D1076514340}"/>
              </a:ext>
            </a:extLst>
          </p:cNvPr>
          <p:cNvSpPr/>
          <p:nvPr/>
        </p:nvSpPr>
        <p:spPr>
          <a:xfrm>
            <a:off x="10555044" y="3936308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7956D393-E893-E84E-B03E-920AF5D64E97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3517EFD-B9EB-8846-A1CB-CF503A7E8BB5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086021-8CB2-EC47-AD49-94705C6D6C8E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D38ABA-5393-9045-8FC6-7871AF55F7C2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03A48E1-28AE-D44D-8AFE-840C09CEB274}"/>
              </a:ext>
            </a:extLst>
          </p:cNvPr>
          <p:cNvSpPr txBox="1"/>
          <p:nvPr/>
        </p:nvSpPr>
        <p:spPr>
          <a:xfrm>
            <a:off x="7833438" y="614590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Xtrain_sel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EE689BD-4868-6946-B507-A1ED7FF02394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2635A68-5893-AF4B-A04D-95A1CEB0CBBF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A67F10A-889D-884D-B2BD-6EC9996BC823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758896A-886A-4E44-B6B1-1D01A4B7575E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9E565A0-2D0E-3B4C-991D-7E73A986F59F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41DBAA2-C401-C646-8DA7-A1AF1197467E}"/>
              </a:ext>
            </a:extLst>
          </p:cNvPr>
          <p:cNvSpPr txBox="1"/>
          <p:nvPr/>
        </p:nvSpPr>
        <p:spPr>
          <a:xfrm>
            <a:off x="7896049" y="5598484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Xtest_sel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2EDCCCC-EFBD-E04F-ACAB-EA6269E703E9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3C570D5-5AB9-554D-9622-8BF850E4EDC6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DC78A1B-05A8-CF41-BA5D-3DE9A7AF9C97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27448682-A88E-A747-BE4A-FB6202575552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E6E1A03-BAC5-1C4F-B1CE-D4905FC43277}"/>
              </a:ext>
            </a:extLst>
          </p:cNvPr>
          <p:cNvCxnSpPr>
            <a:cxnSpLocks/>
          </p:cNvCxnSpPr>
          <p:nvPr/>
        </p:nvCxnSpPr>
        <p:spPr>
          <a:xfrm flipV="1">
            <a:off x="10894855" y="4219762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A6FC68BF-43DC-6243-8452-A50230DB79A4}"/>
              </a:ext>
            </a:extLst>
          </p:cNvPr>
          <p:cNvSpPr txBox="1"/>
          <p:nvPr/>
        </p:nvSpPr>
        <p:spPr>
          <a:xfrm>
            <a:off x="11251259" y="407635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6245014-14D6-C143-B4C3-FE77B9AFDDB0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65135C3-AB43-234E-B1C5-B2E594063736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6E45EF7-A74F-764B-845D-25E2B419A534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EBC519D-A356-DA43-BD1D-5C1EE85DFB4F}"/>
              </a:ext>
            </a:extLst>
          </p:cNvPr>
          <p:cNvSpPr txBox="1"/>
          <p:nvPr/>
        </p:nvSpPr>
        <p:spPr>
          <a:xfrm>
            <a:off x="7625162" y="310026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sel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9CCAA7F-8669-5A45-AA9A-1A08BE310B6C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E41243F-0E51-9941-82F3-35550EC028B5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62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E6D48E-7E37-B74D-8B04-DC91E8A0E09A}"/>
              </a:ext>
            </a:extLst>
          </p:cNvPr>
          <p:cNvSpPr txBox="1"/>
          <p:nvPr/>
        </p:nvSpPr>
        <p:spPr>
          <a:xfrm>
            <a:off x="280530" y="2964032"/>
            <a:ext cx="118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Features &amp;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Labels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3D0C9C-71E0-7246-81AC-03006E9CAE30}"/>
              </a:ext>
            </a:extLst>
          </p:cNvPr>
          <p:cNvSpPr/>
          <p:nvPr/>
        </p:nvSpPr>
        <p:spPr>
          <a:xfrm>
            <a:off x="3902035" y="1865871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863649-5FC6-6D4B-8829-AB000041A0F2}"/>
              </a:ext>
            </a:extLst>
          </p:cNvPr>
          <p:cNvSpPr/>
          <p:nvPr/>
        </p:nvSpPr>
        <p:spPr>
          <a:xfrm>
            <a:off x="3902034" y="3757733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Clean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C45AE5-249E-A74B-A888-6ACD84B9BB4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49478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5F04E49-C1A7-5243-B82B-8EF1018BFD8B}"/>
              </a:ext>
            </a:extLst>
          </p:cNvPr>
          <p:cNvSpPr/>
          <p:nvPr/>
        </p:nvSpPr>
        <p:spPr>
          <a:xfrm>
            <a:off x="5388960" y="1865871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5D0504-00EC-3D46-9F45-717631A2011B}"/>
              </a:ext>
            </a:extLst>
          </p:cNvPr>
          <p:cNvSpPr/>
          <p:nvPr/>
        </p:nvSpPr>
        <p:spPr>
          <a:xfrm>
            <a:off x="5388959" y="3757733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Normalize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E2FA02-B069-3149-AFBA-C5FF580D593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6037121" y="2811802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140BA2-2AFF-3649-875B-09D895D04EC1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087529" y="2338837"/>
            <a:ext cx="301431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FD7DA71-0067-CB4E-9683-61FD4F07DEFC}"/>
              </a:ext>
            </a:extLst>
          </p:cNvPr>
          <p:cNvSpPr/>
          <p:nvPr/>
        </p:nvSpPr>
        <p:spPr>
          <a:xfrm>
            <a:off x="6982689" y="1865728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Feature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Processing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376F1E8-F01F-3B4D-97BA-AB1521AD7D1E}"/>
              </a:ext>
            </a:extLst>
          </p:cNvPr>
          <p:cNvSpPr/>
          <p:nvPr/>
        </p:nvSpPr>
        <p:spPr>
          <a:xfrm>
            <a:off x="6982688" y="3757590"/>
            <a:ext cx="129632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Process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Features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9DC4DB-6672-E944-9F12-F4F20CDA19B2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630850" y="2811659"/>
            <a:ext cx="1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E2462F-23DF-9242-984C-6AF20E9EE768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6685284" y="2338694"/>
            <a:ext cx="297405" cy="143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44DFF4-2630-B841-9C39-088F788FE967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5087528" y="4230699"/>
            <a:ext cx="301431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69E2336-1BB2-D544-9AE5-B4067E653BF9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685283" y="4230556"/>
            <a:ext cx="297405" cy="143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97078E9-628A-BB4E-A204-3A7820B0DF6D}"/>
              </a:ext>
            </a:extLst>
          </p:cNvPr>
          <p:cNvSpPr/>
          <p:nvPr/>
        </p:nvSpPr>
        <p:spPr>
          <a:xfrm>
            <a:off x="8576415" y="1865728"/>
            <a:ext cx="1556125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20AE725-03F9-CE4F-837E-27D4EE206339}"/>
              </a:ext>
            </a:extLst>
          </p:cNvPr>
          <p:cNvSpPr/>
          <p:nvPr/>
        </p:nvSpPr>
        <p:spPr>
          <a:xfrm>
            <a:off x="8576415" y="3757590"/>
            <a:ext cx="1556126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Classify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3B2209D-1185-2842-8D3C-DA7D3748697F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9354478" y="2811659"/>
            <a:ext cx="0" cy="94593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88A2615-5FC3-1F47-B17A-69CE522BAF19}"/>
              </a:ext>
            </a:extLst>
          </p:cNvPr>
          <p:cNvCxnSpPr>
            <a:cxnSpLocks/>
            <a:stCxn id="27" idx="3"/>
            <a:endCxn id="46" idx="1"/>
          </p:cNvCxnSpPr>
          <p:nvPr/>
        </p:nvCxnSpPr>
        <p:spPr>
          <a:xfrm>
            <a:off x="8279012" y="4230556"/>
            <a:ext cx="297403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7FFF02D-A8ED-8843-B31A-AFDE69261198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088220" y="1997987"/>
            <a:ext cx="472965" cy="1154666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AC7B1FE-334F-124C-934E-77034DF2DBEC}"/>
              </a:ext>
            </a:extLst>
          </p:cNvPr>
          <p:cNvSpPr txBox="1"/>
          <p:nvPr/>
        </p:nvSpPr>
        <p:spPr>
          <a:xfrm>
            <a:off x="2298403" y="164542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ytrain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5D38A5-3B9C-7543-A955-FFF40ADEF916}"/>
              </a:ext>
            </a:extLst>
          </p:cNvPr>
          <p:cNvSpPr txBox="1"/>
          <p:nvPr/>
        </p:nvSpPr>
        <p:spPr>
          <a:xfrm>
            <a:off x="2757009" y="234344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ED0A7CEE-47E4-2748-B000-EF8B6F820E06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088218" y="3416883"/>
            <a:ext cx="472966" cy="1154665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56118C5-F9B0-1C40-AFF9-7E747A23455B}"/>
              </a:ext>
            </a:extLst>
          </p:cNvPr>
          <p:cNvSpPr txBox="1"/>
          <p:nvPr/>
        </p:nvSpPr>
        <p:spPr>
          <a:xfrm>
            <a:off x="2760066" y="39600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2E0B8C0-6F9D-E94B-8071-7418C32DEE4D}"/>
              </a:ext>
            </a:extLst>
          </p:cNvPr>
          <p:cNvSpPr/>
          <p:nvPr/>
        </p:nvSpPr>
        <p:spPr>
          <a:xfrm>
            <a:off x="10527957" y="4035190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4DFC47A-7FA8-6847-AFC2-E13C5EEC3B31}"/>
              </a:ext>
            </a:extLst>
          </p:cNvPr>
          <p:cNvCxnSpPr>
            <a:cxnSpLocks/>
            <a:stCxn id="46" idx="3"/>
            <a:endCxn id="71" idx="2"/>
          </p:cNvCxnSpPr>
          <p:nvPr/>
        </p:nvCxnSpPr>
        <p:spPr>
          <a:xfrm flipV="1">
            <a:off x="10132541" y="4230555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BC6856AA-62D8-5647-A322-98178AF41D4A}"/>
              </a:ext>
            </a:extLst>
          </p:cNvPr>
          <p:cNvCxnSpPr>
            <a:cxnSpLocks/>
            <a:endCxn id="26" idx="0"/>
          </p:cNvCxnSpPr>
          <p:nvPr/>
        </p:nvCxnSpPr>
        <p:spPr>
          <a:xfrm rot="5400000" flipH="1" flipV="1">
            <a:off x="4493650" y="-325399"/>
            <a:ext cx="946074" cy="5328328"/>
          </a:xfrm>
          <a:prstGeom prst="bentConnector3">
            <a:avLst>
              <a:gd name="adj1" fmla="val 124163"/>
            </a:avLst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8E6A699-C147-394B-A3BC-3C60E525E806}"/>
              </a:ext>
            </a:extLst>
          </p:cNvPr>
          <p:cNvCxnSpPr>
            <a:cxnSpLocks/>
            <a:endCxn id="71" idx="4"/>
          </p:cNvCxnSpPr>
          <p:nvPr/>
        </p:nvCxnSpPr>
        <p:spPr>
          <a:xfrm rot="16200000" flipH="1">
            <a:off x="6170733" y="-110478"/>
            <a:ext cx="668187" cy="8404608"/>
          </a:xfrm>
          <a:prstGeom prst="bentConnector3">
            <a:avLst>
              <a:gd name="adj1" fmla="val 171198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6EAAEC3-0FDE-D04F-A4AE-687FD0C3B25D}"/>
              </a:ext>
            </a:extLst>
          </p:cNvPr>
          <p:cNvSpPr txBox="1"/>
          <p:nvPr/>
        </p:nvSpPr>
        <p:spPr>
          <a:xfrm>
            <a:off x="2312886" y="461771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ytest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602F283-7EAF-2C48-8D38-E293B7B43324}"/>
              </a:ext>
            </a:extLst>
          </p:cNvPr>
          <p:cNvCxnSpPr>
            <a:cxnSpLocks/>
          </p:cNvCxnSpPr>
          <p:nvPr/>
        </p:nvCxnSpPr>
        <p:spPr>
          <a:xfrm flipV="1">
            <a:off x="1388119" y="3284624"/>
            <a:ext cx="540000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C0AFF82-2FA7-094D-A8E3-C6AFCA08FE44}"/>
              </a:ext>
            </a:extLst>
          </p:cNvPr>
          <p:cNvCxnSpPr>
            <a:cxnSpLocks/>
            <a:stCxn id="26" idx="3"/>
            <a:endCxn id="45" idx="1"/>
          </p:cNvCxnSpPr>
          <p:nvPr/>
        </p:nvCxnSpPr>
        <p:spPr>
          <a:xfrm>
            <a:off x="8279013" y="2338694"/>
            <a:ext cx="29740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B3FAC02-6FE3-044A-BFF1-9D1076514340}"/>
              </a:ext>
            </a:extLst>
          </p:cNvPr>
          <p:cNvSpPr/>
          <p:nvPr/>
        </p:nvSpPr>
        <p:spPr>
          <a:xfrm>
            <a:off x="10555044" y="3936308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7956D393-E893-E84E-B03E-920AF5D64E97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 flipH="1" flipV="1">
            <a:off x="5355463" y="-1187212"/>
            <a:ext cx="946074" cy="7051955"/>
          </a:xfrm>
          <a:prstGeom prst="bentConnector3">
            <a:avLst>
              <a:gd name="adj1" fmla="val 124163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3517EFD-B9EB-8846-A1CB-CF503A7E8BB5}"/>
              </a:ext>
            </a:extLst>
          </p:cNvPr>
          <p:cNvSpPr/>
          <p:nvPr/>
        </p:nvSpPr>
        <p:spPr>
          <a:xfrm>
            <a:off x="1932199" y="2811802"/>
            <a:ext cx="1185494" cy="945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Split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0086021-8CB2-EC47-AD49-94705C6D6C8E}"/>
              </a:ext>
            </a:extLst>
          </p:cNvPr>
          <p:cNvSpPr txBox="1"/>
          <p:nvPr/>
        </p:nvSpPr>
        <p:spPr>
          <a:xfrm>
            <a:off x="4556566" y="614591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D38ABA-5393-9045-8FC6-7871AF55F7C2}"/>
              </a:ext>
            </a:extLst>
          </p:cNvPr>
          <p:cNvSpPr txBox="1"/>
          <p:nvPr/>
        </p:nvSpPr>
        <p:spPr>
          <a:xfrm>
            <a:off x="6193223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03A48E1-28AE-D44D-8AFE-840C09CEB274}"/>
              </a:ext>
            </a:extLst>
          </p:cNvPr>
          <p:cNvSpPr txBox="1"/>
          <p:nvPr/>
        </p:nvSpPr>
        <p:spPr>
          <a:xfrm>
            <a:off x="7833438" y="61459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Xtrain_tran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EE689BD-4868-6946-B507-A1ED7FF02394}"/>
              </a:ext>
            </a:extLst>
          </p:cNvPr>
          <p:cNvCxnSpPr/>
          <p:nvPr/>
        </p:nvCxnSpPr>
        <p:spPr>
          <a:xfrm>
            <a:off x="5201171" y="927598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2635A68-5893-AF4B-A04D-95A1CEB0CBBF}"/>
              </a:ext>
            </a:extLst>
          </p:cNvPr>
          <p:cNvCxnSpPr/>
          <p:nvPr/>
        </p:nvCxnSpPr>
        <p:spPr>
          <a:xfrm>
            <a:off x="6809271" y="928660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A67F10A-889D-884D-B2BD-6EC9996BC823}"/>
              </a:ext>
            </a:extLst>
          </p:cNvPr>
          <p:cNvCxnSpPr/>
          <p:nvPr/>
        </p:nvCxnSpPr>
        <p:spPr>
          <a:xfrm>
            <a:off x="8395459" y="935334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758896A-886A-4E44-B6B1-1D01A4B7575E}"/>
              </a:ext>
            </a:extLst>
          </p:cNvPr>
          <p:cNvSpPr txBox="1"/>
          <p:nvPr/>
        </p:nvSpPr>
        <p:spPr>
          <a:xfrm>
            <a:off x="4606820" y="559848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9E565A0-2D0E-3B4C-991D-7E73A986F59F}"/>
              </a:ext>
            </a:extLst>
          </p:cNvPr>
          <p:cNvSpPr txBox="1"/>
          <p:nvPr/>
        </p:nvSpPr>
        <p:spPr>
          <a:xfrm>
            <a:off x="6292905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Xtest_norm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41DBAA2-C401-C646-8DA7-A1AF1197467E}"/>
              </a:ext>
            </a:extLst>
          </p:cNvPr>
          <p:cNvSpPr txBox="1"/>
          <p:nvPr/>
        </p:nvSpPr>
        <p:spPr>
          <a:xfrm>
            <a:off x="7896049" y="55984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Xtest_tran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2EDCCCC-EFBD-E04F-ACAB-EA6269E703E9}"/>
              </a:ext>
            </a:extLst>
          </p:cNvPr>
          <p:cNvCxnSpPr/>
          <p:nvPr/>
        </p:nvCxnSpPr>
        <p:spPr>
          <a:xfrm>
            <a:off x="5201997" y="4230971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3C570D5-5AB9-554D-9622-8BF850E4EDC6}"/>
              </a:ext>
            </a:extLst>
          </p:cNvPr>
          <p:cNvCxnSpPr/>
          <p:nvPr/>
        </p:nvCxnSpPr>
        <p:spPr>
          <a:xfrm>
            <a:off x="6810097" y="4232033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DC78A1B-05A8-CF41-BA5D-3DE9A7AF9C97}"/>
              </a:ext>
            </a:extLst>
          </p:cNvPr>
          <p:cNvCxnSpPr/>
          <p:nvPr/>
        </p:nvCxnSpPr>
        <p:spPr>
          <a:xfrm>
            <a:off x="8396285" y="4238707"/>
            <a:ext cx="0" cy="1395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27448682-A88E-A747-BE4A-FB6202575552}"/>
              </a:ext>
            </a:extLst>
          </p:cNvPr>
          <p:cNvSpPr txBox="1"/>
          <p:nvPr/>
        </p:nvSpPr>
        <p:spPr>
          <a:xfrm>
            <a:off x="9973974" y="34260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ypred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E6E1A03-BAC5-1C4F-B1CE-D4905FC43277}"/>
              </a:ext>
            </a:extLst>
          </p:cNvPr>
          <p:cNvCxnSpPr>
            <a:cxnSpLocks/>
          </p:cNvCxnSpPr>
          <p:nvPr/>
        </p:nvCxnSpPr>
        <p:spPr>
          <a:xfrm flipV="1">
            <a:off x="10894855" y="4219762"/>
            <a:ext cx="395416" cy="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A6FC68BF-43DC-6243-8452-A50230DB79A4}"/>
              </a:ext>
            </a:extLst>
          </p:cNvPr>
          <p:cNvSpPr txBox="1"/>
          <p:nvPr/>
        </p:nvSpPr>
        <p:spPr>
          <a:xfrm>
            <a:off x="11251259" y="407635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acc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6245014-14D6-C143-B4C3-FE77B9AFDDB0}"/>
              </a:ext>
            </a:extLst>
          </p:cNvPr>
          <p:cNvCxnSpPr/>
          <p:nvPr/>
        </p:nvCxnSpPr>
        <p:spPr>
          <a:xfrm>
            <a:off x="10305535" y="3715813"/>
            <a:ext cx="0" cy="50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65135C3-AB43-234E-B1C5-B2E594063736}"/>
              </a:ext>
            </a:extLst>
          </p:cNvPr>
          <p:cNvSpPr txBox="1"/>
          <p:nvPr/>
        </p:nvSpPr>
        <p:spPr>
          <a:xfrm>
            <a:off x="4516551" y="310608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sclean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6E45EF7-A74F-764B-845D-25E2B419A534}"/>
              </a:ext>
            </a:extLst>
          </p:cNvPr>
          <p:cNvSpPr txBox="1"/>
          <p:nvPr/>
        </p:nvSpPr>
        <p:spPr>
          <a:xfrm>
            <a:off x="6040070" y="310608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a,b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9CCAA7F-8669-5A45-AA9A-1A08BE310B6C}"/>
              </a:ext>
            </a:extLst>
          </p:cNvPr>
          <p:cNvSpPr txBox="1"/>
          <p:nvPr/>
        </p:nvSpPr>
        <p:spPr>
          <a:xfrm>
            <a:off x="9398703" y="3027382"/>
            <a:ext cx="689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Learned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E41243F-0E51-9941-82F3-35550EC028B5}"/>
              </a:ext>
            </a:extLst>
          </p:cNvPr>
          <p:cNvSpPr txBox="1"/>
          <p:nvPr/>
        </p:nvSpPr>
        <p:spPr>
          <a:xfrm>
            <a:off x="1424287" y="329115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" pitchFamily="2" charset="0"/>
              </a:rPr>
              <a:t>X,y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68B10C-FBD7-574B-81C3-4B0F58A10245}"/>
              </a:ext>
            </a:extLst>
          </p:cNvPr>
          <p:cNvSpPr txBox="1"/>
          <p:nvPr/>
        </p:nvSpPr>
        <p:spPr>
          <a:xfrm>
            <a:off x="7691125" y="3008548"/>
            <a:ext cx="841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Processing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791060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5247853" y="2721114"/>
            <a:ext cx="16962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4000" dirty="0">
                <a:latin typeface="Gill Sans MT" panose="020B0502020104020203" pitchFamily="34" charset="77"/>
              </a:rPr>
              <a:t>Repaso</a:t>
            </a:r>
          </a:p>
        </p:txBody>
      </p:sp>
    </p:spTree>
    <p:extLst>
      <p:ext uri="{BB962C8B-B14F-4D97-AF65-F5344CB8AC3E}">
        <p14:creationId xmlns:p14="http://schemas.microsoft.com/office/powerpoint/2010/main" val="1260528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76969" y="753167"/>
            <a:ext cx="36461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Valores Propios: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E80786-2F4D-834F-9675-6904F28D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827" y="872252"/>
            <a:ext cx="419928" cy="49769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397A737-65C1-2645-9EF6-1C1F85069416}"/>
              </a:ext>
            </a:extLst>
          </p:cNvPr>
          <p:cNvGrpSpPr/>
          <p:nvPr/>
        </p:nvGrpSpPr>
        <p:grpSpPr>
          <a:xfrm>
            <a:off x="2253419" y="2690312"/>
            <a:ext cx="3397440" cy="523220"/>
            <a:chOff x="729419" y="2690312"/>
            <a:chExt cx="3397440" cy="5232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CC7B120-802B-BB4E-B1F8-4CE9D1E66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419" y="2786822"/>
              <a:ext cx="330200" cy="3302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EC865C-6BE7-E942-BA4C-D735D876A74A}"/>
                </a:ext>
              </a:extLst>
            </p:cNvPr>
            <p:cNvSpPr txBox="1"/>
            <p:nvPr/>
          </p:nvSpPr>
          <p:spPr>
            <a:xfrm>
              <a:off x="1040406" y="2690312"/>
              <a:ext cx="28978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: Matriz de           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F8DFDC-F954-2143-A525-E727D0A50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1159" y="2776883"/>
              <a:ext cx="1155700" cy="3175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E5A7FE8-EDFA-3846-8300-1D4A8676A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883" y="3776869"/>
            <a:ext cx="2565400" cy="4699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0179D20-13E2-114A-9B78-4B07EC5FA931}"/>
              </a:ext>
            </a:extLst>
          </p:cNvPr>
          <p:cNvGrpSpPr/>
          <p:nvPr/>
        </p:nvGrpSpPr>
        <p:grpSpPr>
          <a:xfrm>
            <a:off x="5359687" y="3723549"/>
            <a:ext cx="4178890" cy="1106434"/>
            <a:chOff x="3835687" y="3723549"/>
            <a:chExt cx="4178890" cy="11064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925A1F8-46BF-2740-8FF3-663EC1DB4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35687" y="3796746"/>
              <a:ext cx="319605" cy="37879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681954-BD4C-C649-8083-EE31D95C350F}"/>
                </a:ext>
              </a:extLst>
            </p:cNvPr>
            <p:cNvSpPr txBox="1"/>
            <p:nvPr/>
          </p:nvSpPr>
          <p:spPr>
            <a:xfrm>
              <a:off x="4292462" y="3723549"/>
              <a:ext cx="30196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: valores propios de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592137D-275F-B04B-80A0-C09F224FA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4377" y="3796746"/>
              <a:ext cx="330200" cy="3302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195632D-36D3-364E-BAE6-8B9AA92C4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49575" y="4410883"/>
              <a:ext cx="2501900" cy="41910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471D26F-48D9-6144-ADB0-B83EB6F26C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4014" y="5340626"/>
            <a:ext cx="28829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5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743856" y="767155"/>
            <a:ext cx="40782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latin typeface="Gill Sans MT" panose="020B0502020104020203" pitchFamily="34" charset="77"/>
              </a:rPr>
              <a:t>Ejemplo:</a:t>
            </a:r>
          </a:p>
          <a:p>
            <a:r>
              <a:rPr lang="es-ES_tradnl" sz="4000" dirty="0">
                <a:latin typeface="Gill Sans MT" panose="020B0502020104020203" pitchFamily="34" charset="77"/>
              </a:rPr>
              <a:t> </a:t>
            </a:r>
          </a:p>
          <a:p>
            <a:r>
              <a:rPr lang="es-ES_tradnl" sz="2800" dirty="0">
                <a:latin typeface="Gill Sans MT" panose="020B0502020104020203" pitchFamily="34" charset="77"/>
              </a:rPr>
              <a:t>calcular valores propios 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A7FE8-EDFA-3846-8300-1D4A8676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979" y="3287457"/>
            <a:ext cx="25654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9DCA2E-FE3C-BF40-B9EC-B74899796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95" y="1735269"/>
            <a:ext cx="2705100" cy="1104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6F3F66-87F5-F648-BE9B-891CF1845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852" y="4132354"/>
            <a:ext cx="7981122" cy="9285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C2EDEE-320C-F643-B2BB-AA9274484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015" y="5532507"/>
            <a:ext cx="3111500" cy="444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393122-4FEB-2B41-A91E-A1F943DDC5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922" y="5532507"/>
            <a:ext cx="28956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8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2120805" y="753167"/>
            <a:ext cx="39349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Vectores Propios: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9C2D63-8108-024B-9E79-86614238A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30" y="1001844"/>
            <a:ext cx="454977" cy="36084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860C16F-BFA0-3647-93DA-C81FEF506E2B}"/>
              </a:ext>
            </a:extLst>
          </p:cNvPr>
          <p:cNvGrpSpPr/>
          <p:nvPr/>
        </p:nvGrpSpPr>
        <p:grpSpPr>
          <a:xfrm>
            <a:off x="2063337" y="1828429"/>
            <a:ext cx="8250683" cy="523220"/>
            <a:chOff x="539336" y="1828429"/>
            <a:chExt cx="8250683" cy="52322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97EB502-6313-5C49-B170-3034171A1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9336" y="1895554"/>
              <a:ext cx="2159000" cy="4064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7F8224-BB94-0040-9C54-982927CA4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8000" y="1960910"/>
              <a:ext cx="454977" cy="36084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5D7F42-60F0-EF46-9F1D-17175E31031C}"/>
                </a:ext>
              </a:extLst>
            </p:cNvPr>
            <p:cNvSpPr txBox="1"/>
            <p:nvPr/>
          </p:nvSpPr>
          <p:spPr>
            <a:xfrm>
              <a:off x="4183221" y="1828429"/>
              <a:ext cx="32288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: vectores propios de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446EB84-575B-9F44-A67A-708230FFE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48619" y="1910461"/>
              <a:ext cx="1041400" cy="3175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B157D7-C84A-6A41-AB6D-313A122B8083}"/>
              </a:ext>
            </a:extLst>
          </p:cNvPr>
          <p:cNvGrpSpPr/>
          <p:nvPr/>
        </p:nvGrpSpPr>
        <p:grpSpPr>
          <a:xfrm>
            <a:off x="2014883" y="2718000"/>
            <a:ext cx="7429940" cy="523220"/>
            <a:chOff x="490883" y="2718000"/>
            <a:chExt cx="7429940" cy="5232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EC865C-6BE7-E942-BA4C-D735D876A74A}"/>
                </a:ext>
              </a:extLst>
            </p:cNvPr>
            <p:cNvSpPr txBox="1"/>
            <p:nvPr/>
          </p:nvSpPr>
          <p:spPr>
            <a:xfrm>
              <a:off x="490883" y="2718000"/>
              <a:ext cx="51966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Como hay infinitas soluciones: </a:t>
              </a:r>
              <a:r>
                <a:rPr lang="es-ES_tradnl" sz="2800" dirty="0" err="1">
                  <a:latin typeface="Gill Sans MT" panose="020B0502020104020203" pitchFamily="34" charset="77"/>
                </a:rPr>
                <a:t>s.t</a:t>
              </a:r>
              <a:r>
                <a:rPr lang="es-ES_tradnl" sz="2800" dirty="0">
                  <a:latin typeface="Gill Sans MT" panose="020B0502020104020203" pitchFamily="34" charset="77"/>
                </a:rPr>
                <a:t>.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9ACC5AA-CF50-7C46-BBC1-091B65CA5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4423" y="2718615"/>
              <a:ext cx="1676400" cy="4699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8D299A4-289A-CF4E-8415-5A6E66005623}"/>
              </a:ext>
            </a:extLst>
          </p:cNvPr>
          <p:cNvGrpSpPr/>
          <p:nvPr/>
        </p:nvGrpSpPr>
        <p:grpSpPr>
          <a:xfrm>
            <a:off x="2141331" y="3616782"/>
            <a:ext cx="7998165" cy="2091121"/>
            <a:chOff x="617330" y="3616781"/>
            <a:chExt cx="7998165" cy="209112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535F8EC-82C5-6D44-9FE2-21F164F8F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7330" y="3687161"/>
              <a:ext cx="812800" cy="4699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272666-4301-A04C-B280-F928FF8E0D76}"/>
                </a:ext>
              </a:extLst>
            </p:cNvPr>
            <p:cNvSpPr txBox="1"/>
            <p:nvPr/>
          </p:nvSpPr>
          <p:spPr>
            <a:xfrm>
              <a:off x="1618836" y="3616781"/>
              <a:ext cx="699665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son vectores ortonormales (si </a:t>
              </a:r>
              <a:r>
                <a:rPr lang="es-ES_tradnl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s-ES_tradnl" sz="2800" dirty="0">
                  <a:latin typeface="Gill Sans MT" panose="020B0502020104020203" pitchFamily="34" charset="77"/>
                </a:rPr>
                <a:t> es simétrica):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EF7BFD4-7249-144E-817D-CEA2CC7EF7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5394"/>
            <a:stretch/>
          </p:blipFill>
          <p:spPr>
            <a:xfrm>
              <a:off x="781490" y="4603002"/>
              <a:ext cx="6427995" cy="1104900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07AC7342-AD66-7E44-8031-85BD2F8838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3700" y="6104833"/>
            <a:ext cx="29083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8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5970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Matriz de Vectores Propios: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14D1D1-09EC-A04F-8C7A-015FCE84A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35" y="890306"/>
            <a:ext cx="448891" cy="40245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2D9A4877-6C56-4548-8017-53F30378C6D2}"/>
              </a:ext>
            </a:extLst>
          </p:cNvPr>
          <p:cNvGrpSpPr/>
          <p:nvPr/>
        </p:nvGrpSpPr>
        <p:grpSpPr>
          <a:xfrm>
            <a:off x="2190474" y="1951659"/>
            <a:ext cx="7052168" cy="523220"/>
            <a:chOff x="666474" y="1951659"/>
            <a:chExt cx="7052168" cy="5232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DBC365-6805-874E-9B10-E07468E1A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474" y="1991415"/>
              <a:ext cx="3835400" cy="4699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CB49FC-858F-6548-B57B-28B4450B3A4A}"/>
                </a:ext>
              </a:extLst>
            </p:cNvPr>
            <p:cNvSpPr txBox="1"/>
            <p:nvPr/>
          </p:nvSpPr>
          <p:spPr>
            <a:xfrm>
              <a:off x="4632189" y="1951659"/>
              <a:ext cx="28978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</a:rPr>
                <a:t>: Matriz de           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66A941E-93CF-6F4E-B073-A95AA00DF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62942" y="2038230"/>
              <a:ext cx="1155700" cy="3175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D30AB7B-D245-7246-BF1B-79151B36B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474" y="4701207"/>
            <a:ext cx="1828800" cy="41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1729EA-47E1-C34E-88FC-B17F544B9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474" y="5768284"/>
            <a:ext cx="5702300" cy="4699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1C52C2-6E7C-614B-828E-BEB9015BC2F6}"/>
              </a:ext>
            </a:extLst>
          </p:cNvPr>
          <p:cNvSpPr txBox="1"/>
          <p:nvPr/>
        </p:nvSpPr>
        <p:spPr>
          <a:xfrm>
            <a:off x="2092882" y="3795350"/>
            <a:ext cx="2036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Propiedades: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215615-DC3C-8A40-8FD2-5A8BA43FCE03}"/>
              </a:ext>
            </a:extLst>
          </p:cNvPr>
          <p:cNvGrpSpPr/>
          <p:nvPr/>
        </p:nvGrpSpPr>
        <p:grpSpPr>
          <a:xfrm>
            <a:off x="4784035" y="4637688"/>
            <a:ext cx="5410752" cy="612701"/>
            <a:chOff x="3260035" y="3753104"/>
            <a:chExt cx="5410752" cy="61270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FBA991-8953-FE46-9F0A-E4748AC8AC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394"/>
            <a:stretch/>
          </p:blipFill>
          <p:spPr>
            <a:xfrm>
              <a:off x="5106268" y="3753104"/>
              <a:ext cx="3564519" cy="612701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19B8049-FA63-8545-9668-E8C230C41865}"/>
                </a:ext>
              </a:extLst>
            </p:cNvPr>
            <p:cNvCxnSpPr/>
            <p:nvPr/>
          </p:nvCxnSpPr>
          <p:spPr>
            <a:xfrm flipH="1">
              <a:off x="3260035" y="4066761"/>
              <a:ext cx="16598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5F3F62-201F-F449-AF59-45DDAF1BF09F}"/>
              </a:ext>
            </a:extLst>
          </p:cNvPr>
          <p:cNvGrpSpPr/>
          <p:nvPr/>
        </p:nvGrpSpPr>
        <p:grpSpPr>
          <a:xfrm>
            <a:off x="8181992" y="5878630"/>
            <a:ext cx="1915704" cy="249208"/>
            <a:chOff x="6657992" y="4994047"/>
            <a:chExt cx="1915704" cy="24920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4A10393-66AB-A14F-BEBC-D3A419D2E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49779" y="4994047"/>
              <a:ext cx="1323917" cy="249208"/>
            </a:xfrm>
            <a:prstGeom prst="rect">
              <a:avLst/>
            </a:prstGeom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E1BF845-29F4-D047-ADAB-2318966EA6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7992" y="5118651"/>
              <a:ext cx="461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F30BCEC-844A-B947-A971-6E1843BC30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5935" y="3043304"/>
            <a:ext cx="25781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8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6" y="753167"/>
            <a:ext cx="5777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Transformaciones Lineales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C43770-3E5D-1840-8AA8-EA506D3B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436" y="3762652"/>
            <a:ext cx="1562100" cy="41910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0BDED9FA-F9DF-0044-9436-93320EBE2AE1}"/>
              </a:ext>
            </a:extLst>
          </p:cNvPr>
          <p:cNvGrpSpPr/>
          <p:nvPr/>
        </p:nvGrpSpPr>
        <p:grpSpPr>
          <a:xfrm>
            <a:off x="2021788" y="1813616"/>
            <a:ext cx="4644665" cy="1615385"/>
            <a:chOff x="497787" y="1813615"/>
            <a:chExt cx="4644665" cy="16153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2D1C80-EC3A-AF44-8D63-2D1BEAF39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3923" y="1813615"/>
              <a:ext cx="4281801" cy="23384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7B386A-D99B-504A-BEEE-FFC4F2146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7238" y="2323824"/>
              <a:ext cx="4281801" cy="23384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36F8411-3070-8541-A635-79B7BF119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7787" y="3195154"/>
              <a:ext cx="4644665" cy="23384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7F516FA-FE9F-4F48-B652-B61EFDE75183}"/>
                </a:ext>
              </a:extLst>
            </p:cNvPr>
            <p:cNvSpPr txBox="1"/>
            <p:nvPr/>
          </p:nvSpPr>
          <p:spPr>
            <a:xfrm>
              <a:off x="889188" y="2715455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: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F9A240-3F31-AC4A-AFC9-A54553255FBF}"/>
              </a:ext>
            </a:extLst>
          </p:cNvPr>
          <p:cNvGrpSpPr/>
          <p:nvPr/>
        </p:nvGrpSpPr>
        <p:grpSpPr>
          <a:xfrm>
            <a:off x="6968983" y="1813615"/>
            <a:ext cx="3425692" cy="2397954"/>
            <a:chOff x="5444983" y="1813615"/>
            <a:chExt cx="3425692" cy="2397954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25CD66-D3E1-9B41-903A-B0C2A006C594}"/>
                </a:ext>
              </a:extLst>
            </p:cNvPr>
            <p:cNvCxnSpPr/>
            <p:nvPr/>
          </p:nvCxnSpPr>
          <p:spPr>
            <a:xfrm flipV="1">
              <a:off x="6042991" y="2164107"/>
              <a:ext cx="0" cy="20474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DE75EC4-DA5B-2340-9A1E-B50C8B12FF37}"/>
                </a:ext>
              </a:extLst>
            </p:cNvPr>
            <p:cNvCxnSpPr>
              <a:cxnSpLocks/>
            </p:cNvCxnSpPr>
            <p:nvPr/>
          </p:nvCxnSpPr>
          <p:spPr>
            <a:xfrm>
              <a:off x="5817704" y="4026038"/>
              <a:ext cx="25510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A087248-AE6B-7C4D-B30B-8F00B1D9E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7394" y="2981186"/>
              <a:ext cx="1944757" cy="110904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038BF26-9BBB-FB41-8F7A-D98E6F8A71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4877" y="2551735"/>
              <a:ext cx="344556" cy="1630017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A6939BB-3CAB-4448-B707-326E32753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51575" y="3916155"/>
              <a:ext cx="419100" cy="2794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7E00749-1D6D-9C4C-A76E-9653E7E3B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20658" y="1813615"/>
              <a:ext cx="431800" cy="2794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F06FEE2-00EB-FD4B-8D6F-C0960B2B7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44983" y="2200554"/>
              <a:ext cx="381000" cy="3048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16E79FA-0481-704C-80F4-9F1397E4C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49641" y="2757143"/>
              <a:ext cx="381000" cy="304800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55E8335-BADF-9F4F-A01C-38C766526250}"/>
                </a:ext>
              </a:extLst>
            </p:cNvPr>
            <p:cNvSpPr/>
            <p:nvPr/>
          </p:nvSpPr>
          <p:spPr>
            <a:xfrm>
              <a:off x="6627900" y="2116898"/>
              <a:ext cx="11865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para </a:t>
              </a:r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s-ES_tradnl" dirty="0">
                  <a:latin typeface="Gill Sans MT" panose="020B0502020104020203" pitchFamily="34" charset="77"/>
                </a:rPr>
                <a:t> = 2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7EC57B-24E5-654C-8468-309A22A257E1}"/>
              </a:ext>
            </a:extLst>
          </p:cNvPr>
          <p:cNvGrpSpPr/>
          <p:nvPr/>
        </p:nvGrpSpPr>
        <p:grpSpPr>
          <a:xfrm>
            <a:off x="2201675" y="4793769"/>
            <a:ext cx="6854953" cy="923330"/>
            <a:chOff x="677674" y="4793769"/>
            <a:chExt cx="6854953" cy="92333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6788FE1-2668-BC4E-9A53-715B1FA1ABFD}"/>
                </a:ext>
              </a:extLst>
            </p:cNvPr>
            <p:cNvSpPr/>
            <p:nvPr/>
          </p:nvSpPr>
          <p:spPr>
            <a:xfrm>
              <a:off x="677674" y="4793769"/>
              <a:ext cx="6854953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latin typeface="Gill Sans MT" panose="020B0502020104020203" pitchFamily="34" charset="77"/>
                </a:rPr>
                <a:t>Ángulo entre </a:t>
              </a:r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ES_tradnl" baseline="-25000" dirty="0">
                  <a:latin typeface="Gill Sans MT" panose="020B0502020104020203" pitchFamily="34" charset="77"/>
                </a:rPr>
                <a:t>1</a:t>
              </a:r>
              <a:r>
                <a:rPr lang="es-ES_tradnl" dirty="0">
                  <a:latin typeface="Gill Sans MT" panose="020B0502020104020203" pitchFamily="34" charset="77"/>
                </a:rPr>
                <a:t> e </a:t>
              </a:r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ES_tradnl" baseline="-25000" dirty="0">
                  <a:latin typeface="Gill Sans MT" panose="020B0502020104020203" pitchFamily="34" charset="77"/>
                </a:rPr>
                <a:t>2</a:t>
              </a:r>
              <a:r>
                <a:rPr lang="es-ES_tradnl" dirty="0">
                  <a:latin typeface="Gill Sans MT" panose="020B0502020104020203" pitchFamily="34" charset="77"/>
                </a:rPr>
                <a:t> no necesariamente es 90</a:t>
              </a:r>
              <a:r>
                <a:rPr lang="es-ES_tradnl" baseline="30000" dirty="0">
                  <a:latin typeface="Gill Sans MT" panose="020B0502020104020203" pitchFamily="34" charset="77"/>
                </a:rPr>
                <a:t>0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latin typeface="Gill Sans MT" panose="020B0502020104020203" pitchFamily="34" charset="77"/>
                </a:rPr>
                <a:t>En esta transformación el origen coincide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latin typeface="Gill Sans MT" panose="020B0502020104020203" pitchFamily="34" charset="77"/>
                </a:rPr>
                <a:t>Si se necesita desplazar origen es necesario agregar             a la fila </a:t>
              </a:r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A13B6C6-7DAF-084F-AD20-34E7BD783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74253" y="5426496"/>
              <a:ext cx="646872" cy="2531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047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5782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Promedio y Varianza: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C9DDD6-B985-A649-94CD-0B9C436EE0CC}"/>
              </a:ext>
            </a:extLst>
          </p:cNvPr>
          <p:cNvGrpSpPr/>
          <p:nvPr/>
        </p:nvGrpSpPr>
        <p:grpSpPr>
          <a:xfrm>
            <a:off x="2107392" y="3389243"/>
            <a:ext cx="4446908" cy="1333500"/>
            <a:chOff x="3992507" y="3389243"/>
            <a:chExt cx="4446908" cy="13335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B1C2155-C982-1C4E-B922-30B1C4CEE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4015" y="3389243"/>
              <a:ext cx="2565400" cy="13335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311F12-282D-654A-B762-4483C85A6AF7}"/>
                </a:ext>
              </a:extLst>
            </p:cNvPr>
            <p:cNvSpPr/>
            <p:nvPr/>
          </p:nvSpPr>
          <p:spPr>
            <a:xfrm>
              <a:off x="3992507" y="3871327"/>
              <a:ext cx="12464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(promedio)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545554-7905-1446-B49C-2C14A798C02E}"/>
              </a:ext>
            </a:extLst>
          </p:cNvPr>
          <p:cNvGrpSpPr/>
          <p:nvPr/>
        </p:nvGrpSpPr>
        <p:grpSpPr>
          <a:xfrm>
            <a:off x="2160404" y="4998554"/>
            <a:ext cx="6533489" cy="1333500"/>
            <a:chOff x="6401090" y="4998554"/>
            <a:chExt cx="6533489" cy="13335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71ED2B-D11C-DA40-A7BA-2C0476102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7779" y="4998554"/>
              <a:ext cx="4876800" cy="133350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99153FD-5AC9-CA4F-A746-F8566063D533}"/>
                </a:ext>
              </a:extLst>
            </p:cNvPr>
            <p:cNvSpPr/>
            <p:nvPr/>
          </p:nvSpPr>
          <p:spPr>
            <a:xfrm>
              <a:off x="6401090" y="5480638"/>
              <a:ext cx="10839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(varianza)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560CBAA-5B1C-C349-AF61-F71861CEDDC1}"/>
              </a:ext>
            </a:extLst>
          </p:cNvPr>
          <p:cNvGrpSpPr/>
          <p:nvPr/>
        </p:nvGrpSpPr>
        <p:grpSpPr>
          <a:xfrm>
            <a:off x="2209801" y="2168387"/>
            <a:ext cx="5418815" cy="533400"/>
            <a:chOff x="685800" y="2168387"/>
            <a:chExt cx="5418815" cy="533400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6453D4E-5B81-C340-B5E4-3C9111E63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2168387"/>
              <a:ext cx="3886200" cy="5334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C4B07B2-1BE9-EE48-B58C-9F6CD9779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45872" y="2345911"/>
              <a:ext cx="758743" cy="208446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A1E5127-B279-F547-A3E7-CB1B455AC71F}"/>
                </a:ext>
              </a:extLst>
            </p:cNvPr>
            <p:cNvSpPr/>
            <p:nvPr/>
          </p:nvSpPr>
          <p:spPr>
            <a:xfrm>
              <a:off x="4906328" y="2265468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179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2699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Covarianza: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FC880F-564E-F842-8457-B4DF72AD8992}"/>
              </a:ext>
            </a:extLst>
          </p:cNvPr>
          <p:cNvGrpSpPr/>
          <p:nvPr/>
        </p:nvGrpSpPr>
        <p:grpSpPr>
          <a:xfrm>
            <a:off x="2247900" y="1683303"/>
            <a:ext cx="5529316" cy="469900"/>
            <a:chOff x="723900" y="2110685"/>
            <a:chExt cx="5529316" cy="4699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AE6200-E837-9340-B812-2D03A2B36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110685"/>
              <a:ext cx="3848100" cy="4699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903EC1-5611-0B4F-B518-AA9FDD2F92D6}"/>
                </a:ext>
              </a:extLst>
            </p:cNvPr>
            <p:cNvSpPr/>
            <p:nvPr/>
          </p:nvSpPr>
          <p:spPr>
            <a:xfrm>
              <a:off x="4819139" y="2160381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0E74FCB-7733-2840-BDBC-0A0A9244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7427" y="2234467"/>
              <a:ext cx="875789" cy="221159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0B0C37F-DED1-D542-9148-BDB857DA8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2374903"/>
            <a:ext cx="5499100" cy="16510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A6772D2-F9A4-6C42-846C-361E7BA6C979}"/>
              </a:ext>
            </a:extLst>
          </p:cNvPr>
          <p:cNvGrpSpPr/>
          <p:nvPr/>
        </p:nvGrpSpPr>
        <p:grpSpPr>
          <a:xfrm>
            <a:off x="4997451" y="3625289"/>
            <a:ext cx="4921630" cy="750069"/>
            <a:chOff x="3473450" y="4241511"/>
            <a:chExt cx="4921630" cy="750069"/>
          </a:xfrm>
        </p:grpSpPr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BFBD9750-A2A5-274B-B8DF-22445A02F281}"/>
                </a:ext>
              </a:extLst>
            </p:cNvPr>
            <p:cNvSpPr/>
            <p:nvPr/>
          </p:nvSpPr>
          <p:spPr>
            <a:xfrm rot="16200000">
              <a:off x="4752753" y="2962208"/>
              <a:ext cx="221159" cy="277976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56AD01A-D50B-7646-A0DD-16E7040AA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632" y="4622248"/>
              <a:ext cx="279400" cy="292100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A18215-DC33-EF46-AB42-15B5C51679D8}"/>
                </a:ext>
              </a:extLst>
            </p:cNvPr>
            <p:cNvSpPr/>
            <p:nvPr/>
          </p:nvSpPr>
          <p:spPr>
            <a:xfrm>
              <a:off x="5157655" y="4622248"/>
              <a:ext cx="32374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promedio de cada columna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75CA16-0A63-2D45-B2B3-5737FF283146}"/>
              </a:ext>
            </a:extLst>
          </p:cNvPr>
          <p:cNvGrpSpPr/>
          <p:nvPr/>
        </p:nvGrpSpPr>
        <p:grpSpPr>
          <a:xfrm>
            <a:off x="3639885" y="4801419"/>
            <a:ext cx="4815862" cy="1121200"/>
            <a:chOff x="2115884" y="5417642"/>
            <a:chExt cx="4815862" cy="1121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9FC941-CFB8-5A44-9267-6BF92A942EA1}"/>
                </a:ext>
              </a:extLst>
            </p:cNvPr>
            <p:cNvSpPr/>
            <p:nvPr/>
          </p:nvSpPr>
          <p:spPr>
            <a:xfrm>
              <a:off x="2268097" y="5892511"/>
              <a:ext cx="466364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Matriz de                  : cada columna tiene el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promedio de la columna correspondiente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s-ES_tradnl" dirty="0">
                  <a:latin typeface="Gill Sans MT" panose="020B0502020104020203" pitchFamily="34" charset="77"/>
                </a:rPr>
                <a:t>.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47CCA58-E8A5-7C48-BBAB-2C707B7FB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2974" y="5966597"/>
              <a:ext cx="875789" cy="221159"/>
            </a:xfrm>
            <a:prstGeom prst="rect">
              <a:avLst/>
            </a:prstGeom>
          </p:spPr>
        </p:pic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60C0F2DD-8592-2B41-84DF-39ABBBD2927D}"/>
                </a:ext>
              </a:extLst>
            </p:cNvPr>
            <p:cNvSpPr/>
            <p:nvPr/>
          </p:nvSpPr>
          <p:spPr>
            <a:xfrm rot="16200000">
              <a:off x="4056393" y="3477133"/>
              <a:ext cx="256316" cy="4137334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A72723-85BB-8D49-A465-0067413DFB2B}"/>
              </a:ext>
            </a:extLst>
          </p:cNvPr>
          <p:cNvGrpSpPr/>
          <p:nvPr/>
        </p:nvGrpSpPr>
        <p:grpSpPr>
          <a:xfrm>
            <a:off x="3639885" y="4189996"/>
            <a:ext cx="1173970" cy="536435"/>
            <a:chOff x="2115885" y="4806218"/>
            <a:chExt cx="1173970" cy="536435"/>
          </a:xfrm>
        </p:grpSpPr>
        <p:sp>
          <p:nvSpPr>
            <p:cNvPr id="25" name="Left Brace 24">
              <a:extLst>
                <a:ext uri="{FF2B5EF4-FFF2-40B4-BE49-F238E27FC236}">
                  <a16:creationId xmlns:a16="http://schemas.microsoft.com/office/drawing/2014/main" id="{B9039D43-9C01-7B40-9E7C-3B0DE0D2B456}"/>
                </a:ext>
              </a:extLst>
            </p:cNvPr>
            <p:cNvSpPr/>
            <p:nvPr/>
          </p:nvSpPr>
          <p:spPr>
            <a:xfrm rot="16200000">
              <a:off x="2648804" y="4273299"/>
              <a:ext cx="108132" cy="117397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F7EEFC-CC90-4042-812D-0F099F8534FF}"/>
                </a:ext>
              </a:extLst>
            </p:cNvPr>
            <p:cNvSpPr/>
            <p:nvPr/>
          </p:nvSpPr>
          <p:spPr>
            <a:xfrm>
              <a:off x="2268097" y="4973321"/>
              <a:ext cx="8707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s-ES_tradnl" dirty="0">
                  <a:latin typeface="Gill Sans MT" panose="020B0502020104020203" pitchFamily="34" charset="77"/>
                </a:rPr>
                <a:t> unos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39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2699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Covarianza: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FC880F-564E-F842-8457-B4DF72AD8992}"/>
              </a:ext>
            </a:extLst>
          </p:cNvPr>
          <p:cNvGrpSpPr/>
          <p:nvPr/>
        </p:nvGrpSpPr>
        <p:grpSpPr>
          <a:xfrm>
            <a:off x="2247900" y="1683303"/>
            <a:ext cx="5529316" cy="469900"/>
            <a:chOff x="723900" y="2110685"/>
            <a:chExt cx="5529316" cy="4699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AE6200-E837-9340-B812-2D03A2B36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110685"/>
              <a:ext cx="3848100" cy="4699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903EC1-5611-0B4F-B518-AA9FDD2F92D6}"/>
                </a:ext>
              </a:extLst>
            </p:cNvPr>
            <p:cNvSpPr/>
            <p:nvPr/>
          </p:nvSpPr>
          <p:spPr>
            <a:xfrm>
              <a:off x="4819139" y="2160381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0E74FCB-7733-2840-BDBC-0A0A9244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7427" y="2234467"/>
              <a:ext cx="875789" cy="221159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0B0C37F-DED1-D542-9148-BDB857DA8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2374903"/>
            <a:ext cx="5499100" cy="1651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9A7E5B5-8A4C-D344-B1DE-87EE90F38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600" y="4452067"/>
            <a:ext cx="2844800" cy="3937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8F8AF6B-52F0-B34B-BDA4-252869208D18}"/>
              </a:ext>
            </a:extLst>
          </p:cNvPr>
          <p:cNvSpPr/>
          <p:nvPr/>
        </p:nvSpPr>
        <p:spPr>
          <a:xfrm>
            <a:off x="5864722" y="4415606"/>
            <a:ext cx="3683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cada columna de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_tradnl" dirty="0">
                <a:latin typeface="Gill Sans MT" panose="020B0502020104020203" pitchFamily="34" charset="77"/>
              </a:rPr>
              <a:t> tiene media cero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D8ACEF-F07F-4C46-B649-7422C3C29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8550" y="5271931"/>
            <a:ext cx="57277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6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2699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Covarianza: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D8ACEF-F07F-4C46-B649-7422C3C29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5271931"/>
            <a:ext cx="5727700" cy="939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F7CC57-6091-EE4C-91B1-614962283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369" y="2907757"/>
            <a:ext cx="2540000" cy="5715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007775D-90A3-2A4E-9348-B6757ECA43EB}"/>
              </a:ext>
            </a:extLst>
          </p:cNvPr>
          <p:cNvGrpSpPr/>
          <p:nvPr/>
        </p:nvGrpSpPr>
        <p:grpSpPr>
          <a:xfrm>
            <a:off x="2445370" y="3883726"/>
            <a:ext cx="5786091" cy="516996"/>
            <a:chOff x="921369" y="3833469"/>
            <a:chExt cx="5786091" cy="5169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7E40C9-9445-2D45-BF2F-D69BA67D1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1369" y="3880565"/>
              <a:ext cx="1955800" cy="4699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E235C-B897-2441-BF4B-D05768472986}"/>
                </a:ext>
              </a:extLst>
            </p:cNvPr>
            <p:cNvSpPr/>
            <p:nvPr/>
          </p:nvSpPr>
          <p:spPr>
            <a:xfrm>
              <a:off x="3006208" y="3833469"/>
              <a:ext cx="335239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2400" dirty="0">
                  <a:latin typeface="Gill Sans MT" panose="020B0502020104020203" pitchFamily="34" charset="77"/>
                </a:rPr>
                <a:t>Covarianza de          con </a:t>
              </a:r>
              <a:endParaRPr lang="en-US" sz="2400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D754EC-0B35-7740-90A9-8E35EF42A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3343" y="3949587"/>
              <a:ext cx="368300" cy="2921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16E804-B851-2344-B839-78580358C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0260" y="3949587"/>
              <a:ext cx="457200" cy="29210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F3B97-69C0-D04A-B623-9171CAC4E198}"/>
              </a:ext>
            </a:extLst>
          </p:cNvPr>
          <p:cNvSpPr/>
          <p:nvPr/>
        </p:nvSpPr>
        <p:spPr>
          <a:xfrm>
            <a:off x="4720114" y="4506096"/>
            <a:ext cx="247330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  </a:t>
            </a:r>
            <a:r>
              <a:rPr lang="es-ES_tradnl" dirty="0">
                <a:latin typeface="Gill Sans MT" panose="020B0502020104020203" pitchFamily="34" charset="77"/>
                <a:cs typeface="Times New Roman" panose="02020603050405020304" pitchFamily="18" charset="0"/>
              </a:rPr>
              <a:t>correlación positiva</a:t>
            </a:r>
          </a:p>
          <a:p>
            <a:r>
              <a:rPr lang="es-ES_tradnl" dirty="0">
                <a:latin typeface="Gill Sans MT" panose="020B0502020104020203" pitchFamily="34" charset="77"/>
                <a:cs typeface="Times New Roman" panose="02020603050405020304" pitchFamily="18" charset="0"/>
              </a:rPr>
              <a:t>= 0 no hay correlación</a:t>
            </a:r>
          </a:p>
          <a:p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  </a:t>
            </a:r>
            <a:r>
              <a:rPr lang="es-ES_tradnl" dirty="0">
                <a:latin typeface="Gill Sans MT" panose="020B0502020104020203" pitchFamily="34" charset="77"/>
                <a:cs typeface="Times New Roman" panose="02020603050405020304" pitchFamily="18" charset="0"/>
              </a:rPr>
              <a:t>correlación negativa</a:t>
            </a:r>
            <a:endParaRPr lang="es-ES_tradn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EACDD9-57B1-BF49-A2BF-2B8D676850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5850" y="3903604"/>
            <a:ext cx="2110371" cy="38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3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48148E-6 L 0.00208 -0.5416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2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CA787-9A7F-8C42-AF45-C883A056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426" y="367755"/>
            <a:ext cx="2573328" cy="2086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9DF97-C9F0-2742-A6E2-98A7B5F302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2"/>
          <a:stretch/>
        </p:blipFill>
        <p:spPr>
          <a:xfrm>
            <a:off x="6148251" y="1011465"/>
            <a:ext cx="2123803" cy="105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B48F98-7C98-0647-9E61-989F74E1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930" y="2390503"/>
            <a:ext cx="2573328" cy="2116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0F360-A501-A74C-B190-0DD239FA5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459" y="4572001"/>
            <a:ext cx="2575607" cy="2116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0E251-A682-3E46-B3E3-A3853449B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778" y="3066902"/>
            <a:ext cx="2120900" cy="96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9FBC5-4DB1-E643-88E4-ABE847A579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3053" y="4990907"/>
            <a:ext cx="2159000" cy="927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0C89DD-9087-044B-8E4C-48F592A0FFA2}"/>
              </a:ext>
            </a:extLst>
          </p:cNvPr>
          <p:cNvSpPr txBox="1"/>
          <p:nvPr/>
        </p:nvSpPr>
        <p:spPr>
          <a:xfrm>
            <a:off x="6113054" y="367754"/>
            <a:ext cx="3294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Ejemplo</a:t>
            </a:r>
            <a:r>
              <a:rPr lang="en-US" dirty="0">
                <a:latin typeface="Gill Sans MT" panose="020B0502020104020203" pitchFamily="34" charset="77"/>
              </a:rPr>
              <a:t>: Matrices de </a:t>
            </a:r>
            <a:r>
              <a:rPr lang="en-US" dirty="0" err="1">
                <a:latin typeface="Gill Sans MT" panose="020B0502020104020203" pitchFamily="34" charset="77"/>
              </a:rPr>
              <a:t>Covarianza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8377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4FD2993-E95A-7047-ACBE-01CCD1A7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78" y="3857219"/>
            <a:ext cx="10855841" cy="1143000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TRANSFORMACIÓN KARHUNEN-LOEVE (1947)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1A88E-B476-FEA5-B3F9-44AEBD0EE520}"/>
              </a:ext>
            </a:extLst>
          </p:cNvPr>
          <p:cNvSpPr txBox="1"/>
          <p:nvPr/>
        </p:nvSpPr>
        <p:spPr>
          <a:xfrm>
            <a:off x="2307302" y="2287559"/>
            <a:ext cx="75773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PCA</a:t>
            </a:r>
          </a:p>
          <a:p>
            <a:pPr algn="ctr"/>
            <a:r>
              <a:rPr lang="en-CL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1847876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D0B775-DF48-AF4C-AAEE-3B421A704E9A}"/>
              </a:ext>
            </a:extLst>
          </p:cNvPr>
          <p:cNvSpPr/>
          <p:nvPr/>
        </p:nvSpPr>
        <p:spPr>
          <a:xfrm>
            <a:off x="5380381" y="3771900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KL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87D59A-38D8-E543-B589-42FDD7A59E25}"/>
              </a:ext>
            </a:extLst>
          </p:cNvPr>
          <p:cNvCxnSpPr>
            <a:cxnSpLocks/>
          </p:cNvCxnSpPr>
          <p:nvPr/>
        </p:nvCxnSpPr>
        <p:spPr>
          <a:xfrm>
            <a:off x="4605129" y="4239038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31375D-42BF-C142-B900-1A1E9877FDDE}"/>
              </a:ext>
            </a:extLst>
          </p:cNvPr>
          <p:cNvCxnSpPr>
            <a:cxnSpLocks/>
          </p:cNvCxnSpPr>
          <p:nvPr/>
        </p:nvCxnSpPr>
        <p:spPr>
          <a:xfrm>
            <a:off x="7202148" y="4239038"/>
            <a:ext cx="931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6EA12F7-6045-B04E-A9DA-170202D9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314" y="2518299"/>
            <a:ext cx="3683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0DF9D6-E420-D04A-A0FA-1158DF09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48" y="2518299"/>
            <a:ext cx="381000" cy="317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790287-36FC-944D-8303-BCA906458C00}"/>
              </a:ext>
            </a:extLst>
          </p:cNvPr>
          <p:cNvSpPr txBox="1"/>
          <p:nvPr/>
        </p:nvSpPr>
        <p:spPr>
          <a:xfrm>
            <a:off x="5934074" y="4760846"/>
            <a:ext cx="775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(PCA)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C5C837-DC09-AC4B-9A91-2AD90CD10EBE}"/>
              </a:ext>
            </a:extLst>
          </p:cNvPr>
          <p:cNvSpPr txBox="1"/>
          <p:nvPr/>
        </p:nvSpPr>
        <p:spPr>
          <a:xfrm>
            <a:off x="2706757" y="889760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La Transformada de </a:t>
            </a:r>
            <a:r>
              <a:rPr lang="es-ES_tradnl" dirty="0" err="1">
                <a:latin typeface="Gill Sans MT" panose="020B0502020104020203" pitchFamily="34" charset="77"/>
              </a:rPr>
              <a:t>Karhunen-Loeve</a:t>
            </a:r>
            <a:r>
              <a:rPr lang="es-ES_tradnl" dirty="0">
                <a:latin typeface="Gill Sans MT" panose="020B0502020104020203" pitchFamily="34" charset="77"/>
              </a:rPr>
              <a:t> (KL) es conocida como PCA (Principal </a:t>
            </a:r>
            <a:r>
              <a:rPr lang="es-ES_tradnl" dirty="0" err="1">
                <a:latin typeface="Gill Sans MT" panose="020B0502020104020203" pitchFamily="34" charset="77"/>
              </a:rPr>
              <a:t>Component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  <a:r>
              <a:rPr lang="es-ES_tradnl" dirty="0" err="1">
                <a:latin typeface="Gill Sans MT" panose="020B0502020104020203" pitchFamily="34" charset="77"/>
              </a:rPr>
              <a:t>Analysys</a:t>
            </a:r>
            <a:r>
              <a:rPr lang="es-ES_tradnl" dirty="0">
                <a:latin typeface="Gill Sans MT" panose="020B0502020104020203" pitchFamily="34" charset="77"/>
              </a:rPr>
              <a:t>). La idea es transformar los datos originales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dirty="0">
                <a:latin typeface="Gill Sans MT" panose="020B0502020104020203" pitchFamily="34" charset="77"/>
              </a:rPr>
              <a:t> en datos nuevos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ES_tradnl" dirty="0">
                <a:latin typeface="Gill Sans MT" panose="020B0502020104020203" pitchFamily="34" charset="77"/>
              </a:rPr>
              <a:t>que no tengan correlación entre ellos.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CA26C9-2309-CC45-8E2A-7756790BE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195" y="2905097"/>
            <a:ext cx="1540538" cy="26806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62CE8C-53F8-F94F-8737-25AE2ADB5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013" y="2905098"/>
            <a:ext cx="578397" cy="26639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C844A6-267A-9C4C-80A1-FBF3C81E2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140" y="5755339"/>
            <a:ext cx="1472091" cy="24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29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6" y="753167"/>
            <a:ext cx="42528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Transformación KL: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FC880F-564E-F842-8457-B4DF72AD8992}"/>
              </a:ext>
            </a:extLst>
          </p:cNvPr>
          <p:cNvGrpSpPr/>
          <p:nvPr/>
        </p:nvGrpSpPr>
        <p:grpSpPr>
          <a:xfrm>
            <a:off x="2884005" y="1872145"/>
            <a:ext cx="5529316" cy="469900"/>
            <a:chOff x="723900" y="2110685"/>
            <a:chExt cx="5529316" cy="4699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AE6200-E837-9340-B812-2D03A2B36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110685"/>
              <a:ext cx="3848100" cy="4699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903EC1-5611-0B4F-B518-AA9FDD2F92D6}"/>
                </a:ext>
              </a:extLst>
            </p:cNvPr>
            <p:cNvSpPr/>
            <p:nvPr/>
          </p:nvSpPr>
          <p:spPr>
            <a:xfrm>
              <a:off x="4819139" y="2160381"/>
              <a:ext cx="4122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0E74FCB-7733-2840-BDBC-0A0A9244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7427" y="2234467"/>
              <a:ext cx="875789" cy="221159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69A7E5B5-8A4C-D344-B1DE-87EE90F38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532" y="2623269"/>
            <a:ext cx="2844800" cy="393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83ACBB-D150-3549-8E10-EEFFBAAF6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3883" y="4880081"/>
            <a:ext cx="20066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C5881-FA83-7C49-BAEC-5155BB7BD2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3761" y="4124502"/>
            <a:ext cx="2806700" cy="4699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54CE895-8664-CC43-AC8A-7AF568B2801D}"/>
              </a:ext>
            </a:extLst>
          </p:cNvPr>
          <p:cNvGrpSpPr/>
          <p:nvPr/>
        </p:nvGrpSpPr>
        <p:grpSpPr>
          <a:xfrm>
            <a:off x="5039692" y="4903506"/>
            <a:ext cx="2686482" cy="369332"/>
            <a:chOff x="3644899" y="4714664"/>
            <a:chExt cx="2686482" cy="3693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C68F5C-8085-AA40-A3C0-56B9B3CE7558}"/>
                </a:ext>
              </a:extLst>
            </p:cNvPr>
            <p:cNvSpPr/>
            <p:nvPr/>
          </p:nvSpPr>
          <p:spPr>
            <a:xfrm>
              <a:off x="3848650" y="4714664"/>
              <a:ext cx="2482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Transformación KL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A0FFC4C-E645-A143-B95C-5D3784ACFD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4899" y="4899330"/>
              <a:ext cx="1938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A3F9E2B9-2165-E140-B060-942A04299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5532" y="3060717"/>
            <a:ext cx="5727700" cy="939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A61FAB-1893-4F4A-AAB1-771750943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3761" y="5639389"/>
            <a:ext cx="3238500" cy="4953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A0ED95F-2CE3-C140-BD2E-7092C525FBB2}"/>
              </a:ext>
            </a:extLst>
          </p:cNvPr>
          <p:cNvGrpSpPr/>
          <p:nvPr/>
        </p:nvGrpSpPr>
        <p:grpSpPr>
          <a:xfrm>
            <a:off x="6483282" y="5702373"/>
            <a:ext cx="3398152" cy="369332"/>
            <a:chOff x="3644899" y="4714664"/>
            <a:chExt cx="3398152" cy="36933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29B139-8928-CC45-B1D2-E89F631512E9}"/>
                </a:ext>
              </a:extLst>
            </p:cNvPr>
            <p:cNvSpPr/>
            <p:nvPr/>
          </p:nvSpPr>
          <p:spPr>
            <a:xfrm>
              <a:off x="3848650" y="4714664"/>
              <a:ext cx="31944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Transformación KL inversa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FE681AD-112D-2C4C-8E6A-77E189B399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4899" y="4899330"/>
              <a:ext cx="1938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97A97C-CAE2-8A4F-AAAA-801265896C96}"/>
              </a:ext>
            </a:extLst>
          </p:cNvPr>
          <p:cNvCxnSpPr/>
          <p:nvPr/>
        </p:nvCxnSpPr>
        <p:spPr>
          <a:xfrm flipV="1">
            <a:off x="1967236" y="5421923"/>
            <a:ext cx="833301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54EA497-FB9E-A44E-970B-08058FF140DD}"/>
              </a:ext>
            </a:extLst>
          </p:cNvPr>
          <p:cNvSpPr txBox="1"/>
          <p:nvPr/>
        </p:nvSpPr>
        <p:spPr>
          <a:xfrm>
            <a:off x="3702343" y="6189470"/>
            <a:ext cx="4592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Gill Sans MT" panose="020B0502020104020203" pitchFamily="34" charset="77"/>
              </a:rPr>
              <a:t> es </a:t>
            </a:r>
            <a:r>
              <a:rPr lang="en-US" dirty="0" err="1">
                <a:latin typeface="Gill Sans MT" panose="020B0502020104020203" pitchFamily="34" charset="77"/>
              </a:rPr>
              <a:t>ortonormal</a:t>
            </a:r>
            <a:r>
              <a:rPr lang="en-US" dirty="0">
                <a:latin typeface="Gill Sans MT" panose="020B0502020104020203" pitchFamily="34" charset="77"/>
              </a:rPr>
              <a:t>, </a:t>
            </a:r>
            <a:r>
              <a:rPr lang="en-US" dirty="0" err="1">
                <a:latin typeface="Gill Sans MT" panose="020B0502020104020203" pitchFamily="34" charset="77"/>
              </a:rPr>
              <a:t>su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inversa</a:t>
            </a:r>
            <a:r>
              <a:rPr lang="en-US" dirty="0">
                <a:latin typeface="Gill Sans MT" panose="020B0502020104020203" pitchFamily="34" charset="77"/>
              </a:rPr>
              <a:t> es </a:t>
            </a:r>
            <a:r>
              <a:rPr lang="en-US" dirty="0" err="1">
                <a:latin typeface="Gill Sans MT" panose="020B0502020104020203" pitchFamily="34" charset="77"/>
              </a:rPr>
              <a:t>su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transpuesta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551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17F61-DA93-094C-84D0-4A420A45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48" y="2730042"/>
            <a:ext cx="5740400" cy="939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A6ABDD-92D4-E74B-913D-B32CAFDA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211" y="4164496"/>
            <a:ext cx="28448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5D191A-C926-BE46-9EA0-3CBBAA4EC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211" y="5096472"/>
            <a:ext cx="1600200" cy="3937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AF1532C-1FB1-1543-9A25-A5560C5E3F97}"/>
              </a:ext>
            </a:extLst>
          </p:cNvPr>
          <p:cNvGrpSpPr/>
          <p:nvPr/>
        </p:nvGrpSpPr>
        <p:grpSpPr>
          <a:xfrm>
            <a:off x="4594718" y="3856387"/>
            <a:ext cx="5657420" cy="1061829"/>
            <a:chOff x="3070718" y="3856386"/>
            <a:chExt cx="5657420" cy="106182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F6433AF-5CA5-5149-A499-D439ABC55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26554" y="4010437"/>
              <a:ext cx="1283804" cy="26001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E6366B-6C1F-E04D-B5CC-FF6FA7116FF5}"/>
                </a:ext>
              </a:extLst>
            </p:cNvPr>
            <p:cNvSpPr/>
            <p:nvPr/>
          </p:nvSpPr>
          <p:spPr>
            <a:xfrm>
              <a:off x="3972306" y="3856386"/>
              <a:ext cx="3844322" cy="10618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_tradnl" dirty="0">
                  <a:latin typeface="Gill Sans MT" panose="020B0502020104020203" pitchFamily="34" charset="77"/>
                </a:rPr>
                <a:t>Como                        y la media de las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columnas de </a:t>
              </a:r>
              <a:r>
                <a:rPr lang="es-ES_tradnl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s-ES_tradnl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s-ES_tradnl" dirty="0">
                  <a:latin typeface="Gill Sans MT" panose="020B0502020104020203" pitchFamily="34" charset="77"/>
                </a:rPr>
                <a:t> es cero, entonces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 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0677130-A5F1-E14E-A829-D1559162B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09158" y="4313153"/>
              <a:ext cx="1118980" cy="327506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A1321CA-1505-5047-915C-6E0A420C755D}"/>
                </a:ext>
              </a:extLst>
            </p:cNvPr>
            <p:cNvCxnSpPr/>
            <p:nvPr/>
          </p:nvCxnSpPr>
          <p:spPr>
            <a:xfrm flipV="1">
              <a:off x="3070718" y="4011949"/>
              <a:ext cx="497430" cy="76877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83BFC91-67A7-7641-BD54-5337B5B9B3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150" y="5644872"/>
            <a:ext cx="55499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4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83BFC91-67A7-7641-BD54-5337B5B9B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150" y="5644872"/>
            <a:ext cx="5549900" cy="939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3DB595-BF63-C444-BD51-6BDEF38BD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733" y="3498022"/>
            <a:ext cx="4356100" cy="93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68AA4F-B194-D74F-88F6-1FE65EA8B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733" y="4559741"/>
            <a:ext cx="4051300" cy="939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97B538-AD87-BC46-B0FA-032DB81A0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3733" y="5714445"/>
            <a:ext cx="2108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9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3.33333E-6 L -0.00625 -0.47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3" y="-2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3B26B-8AB8-9D4B-8560-30D107AE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911" y="5710579"/>
            <a:ext cx="2819400" cy="5588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06BB811-4E9E-0C4E-BEC7-D8C44E93B621}"/>
              </a:ext>
            </a:extLst>
          </p:cNvPr>
          <p:cNvGrpSpPr/>
          <p:nvPr/>
        </p:nvGrpSpPr>
        <p:grpSpPr>
          <a:xfrm>
            <a:off x="5355500" y="2495092"/>
            <a:ext cx="4639412" cy="469900"/>
            <a:chOff x="2900002" y="3814307"/>
            <a:chExt cx="4639412" cy="4699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176FBE6-6427-6049-A29F-A080DAC32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37861" y="3814307"/>
              <a:ext cx="2806700" cy="469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B8BB92-40A0-6043-9297-31E6B6106456}"/>
                </a:ext>
              </a:extLst>
            </p:cNvPr>
            <p:cNvSpPr/>
            <p:nvPr/>
          </p:nvSpPr>
          <p:spPr>
            <a:xfrm>
              <a:off x="2900002" y="3864591"/>
              <a:ext cx="4639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como                                                entonces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45D1DCF-7463-854F-BD71-8E172673C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942" y="3411773"/>
            <a:ext cx="3835400" cy="469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5783F9-D7A1-4649-BC66-F83637DFB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636" y="4235116"/>
            <a:ext cx="5918200" cy="469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65D58E-88DA-F94B-851E-A3CE1E2AB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709" y="5678552"/>
            <a:ext cx="86741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2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7037E-7 L -0.00087 -0.475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2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65D58E-88DA-F94B-851E-A3CE1E2A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709" y="5678552"/>
            <a:ext cx="8674100" cy="55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E5A8D8-CAE0-6D4E-99AE-5A765389C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993" y="3556551"/>
            <a:ext cx="8483600" cy="2209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85EE2A-B831-1F41-ACCE-0CC80BB95CD2}"/>
              </a:ext>
            </a:extLst>
          </p:cNvPr>
          <p:cNvGrpSpPr/>
          <p:nvPr/>
        </p:nvGrpSpPr>
        <p:grpSpPr>
          <a:xfrm>
            <a:off x="3529162" y="3556552"/>
            <a:ext cx="6009090" cy="2080187"/>
            <a:chOff x="2005162" y="3556551"/>
            <a:chExt cx="6009090" cy="208018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EC3C6D-1C5D-2644-A6D1-1F043D937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9371" y="3657600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A9AC49-B008-F148-9FB5-D74D9E9E8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5640" y="3556551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A72ABE3-9B37-AB43-A361-E29904521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162" y="4188364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5350B4F-C246-F145-97B7-E66083F678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5640" y="4188363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94428CB-4117-EB45-844F-4BC49F2412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162" y="5207551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990E664-0B86-C74E-95FD-D786BBF666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9371" y="5204236"/>
              <a:ext cx="1188612" cy="42918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424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11022E-16 L -0.00243 -0.474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-2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65D58E-88DA-F94B-851E-A3CE1E2A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1" y="2418525"/>
            <a:ext cx="8674100" cy="55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C41811-B66A-7A4E-ABD3-3748DBE2C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693" y="3566495"/>
            <a:ext cx="8458200" cy="22098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A83BA6E-030C-2044-85D5-F695A05C3D0A}"/>
              </a:ext>
            </a:extLst>
          </p:cNvPr>
          <p:cNvGrpSpPr/>
          <p:nvPr/>
        </p:nvGrpSpPr>
        <p:grpSpPr>
          <a:xfrm>
            <a:off x="3790122" y="3343420"/>
            <a:ext cx="6747297" cy="2533918"/>
            <a:chOff x="2266122" y="3343420"/>
            <a:chExt cx="6747297" cy="253391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543F0EA-8DDA-4940-A02F-4CD09B8E8223}"/>
                </a:ext>
              </a:extLst>
            </p:cNvPr>
            <p:cNvGrpSpPr/>
            <p:nvPr/>
          </p:nvGrpSpPr>
          <p:grpSpPr>
            <a:xfrm>
              <a:off x="2266122" y="3343420"/>
              <a:ext cx="1853939" cy="870771"/>
              <a:chOff x="2266122" y="3343420"/>
              <a:chExt cx="1853939" cy="87077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571784F-F30E-E247-983B-C6AD63222AF3}"/>
                  </a:ext>
                </a:extLst>
              </p:cNvPr>
              <p:cNvSpPr/>
              <p:nvPr/>
            </p:nvSpPr>
            <p:spPr>
              <a:xfrm>
                <a:off x="2266122" y="3448878"/>
                <a:ext cx="1272209" cy="765313"/>
              </a:xfrm>
              <a:prstGeom prst="ellipse">
                <a:avLst/>
              </a:prstGeom>
              <a:noFill/>
              <a:ln w="190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244CE3-A422-7247-9E85-16D2A6FEEDF7}"/>
                  </a:ext>
                </a:extLst>
              </p:cNvPr>
              <p:cNvSpPr txBox="1"/>
              <p:nvPr/>
            </p:nvSpPr>
            <p:spPr>
              <a:xfrm rot="20917555">
                <a:off x="3446479" y="3343420"/>
                <a:ext cx="6735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3949543-17EA-4C4A-9447-489552FE626A}"/>
                </a:ext>
              </a:extLst>
            </p:cNvPr>
            <p:cNvGrpSpPr/>
            <p:nvPr/>
          </p:nvGrpSpPr>
          <p:grpSpPr>
            <a:xfrm>
              <a:off x="4267197" y="3893381"/>
              <a:ext cx="1853939" cy="870771"/>
              <a:chOff x="2266122" y="3343420"/>
              <a:chExt cx="1853939" cy="87077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050B92E-D7D3-A343-B0B6-04E042DCCFD7}"/>
                  </a:ext>
                </a:extLst>
              </p:cNvPr>
              <p:cNvSpPr/>
              <p:nvPr/>
            </p:nvSpPr>
            <p:spPr>
              <a:xfrm>
                <a:off x="2266122" y="3448878"/>
                <a:ext cx="1272209" cy="765313"/>
              </a:xfrm>
              <a:prstGeom prst="ellipse">
                <a:avLst/>
              </a:prstGeom>
              <a:noFill/>
              <a:ln w="190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C48CBA-2AF2-A44F-A1F0-2DE2E9136E12}"/>
                  </a:ext>
                </a:extLst>
              </p:cNvPr>
              <p:cNvSpPr txBox="1"/>
              <p:nvPr/>
            </p:nvSpPr>
            <p:spPr>
              <a:xfrm rot="20917555">
                <a:off x="3446479" y="3343420"/>
                <a:ext cx="6735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9C8A299-2838-7543-B8CE-8756B3324F78}"/>
                </a:ext>
              </a:extLst>
            </p:cNvPr>
            <p:cNvGrpSpPr/>
            <p:nvPr/>
          </p:nvGrpSpPr>
          <p:grpSpPr>
            <a:xfrm>
              <a:off x="7159480" y="5006567"/>
              <a:ext cx="1853939" cy="870771"/>
              <a:chOff x="2266122" y="3343420"/>
              <a:chExt cx="1853939" cy="87077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1684138-75F9-634F-BD18-11498645F88E}"/>
                  </a:ext>
                </a:extLst>
              </p:cNvPr>
              <p:cNvSpPr/>
              <p:nvPr/>
            </p:nvSpPr>
            <p:spPr>
              <a:xfrm>
                <a:off x="2266122" y="3448878"/>
                <a:ext cx="1272209" cy="765313"/>
              </a:xfrm>
              <a:prstGeom prst="ellipse">
                <a:avLst/>
              </a:prstGeom>
              <a:noFill/>
              <a:ln w="190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CD4977-A135-E046-964E-5996647D838C}"/>
                  </a:ext>
                </a:extLst>
              </p:cNvPr>
              <p:cNvSpPr txBox="1"/>
              <p:nvPr/>
            </p:nvSpPr>
            <p:spPr>
              <a:xfrm rot="20917555">
                <a:off x="3446479" y="3343420"/>
                <a:ext cx="6735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586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1967237" y="753167"/>
            <a:ext cx="4645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Interpretación de KL: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8DFBA-7DD1-C945-8411-1774A6A5D9E3}"/>
              </a:ext>
            </a:extLst>
          </p:cNvPr>
          <p:cNvSpPr/>
          <p:nvPr/>
        </p:nvSpPr>
        <p:spPr>
          <a:xfrm>
            <a:off x="2006520" y="1803161"/>
            <a:ext cx="3110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</a:rPr>
              <a:t>Covarianza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:</a:t>
            </a:r>
            <a:endParaRPr lang="en-US" sz="3200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1F6FC-D70E-BC44-A5FB-304304785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61" y="2946676"/>
            <a:ext cx="5334000" cy="2197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BC8755-11D8-4143-8986-D323DBA575C7}"/>
              </a:ext>
            </a:extLst>
          </p:cNvPr>
          <p:cNvSpPr/>
          <p:nvPr/>
        </p:nvSpPr>
        <p:spPr>
          <a:xfrm>
            <a:off x="2180171" y="6027291"/>
            <a:ext cx="4192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Generalmente, se ordena de tal forma que: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0DBA9-7B6E-1B47-A1BB-1AD6D3E1D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35" y="6034013"/>
            <a:ext cx="2749473" cy="29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71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5574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Significado</a:t>
            </a:r>
            <a:r>
              <a:rPr lang="en-US" dirty="0">
                <a:solidFill>
                  <a:schemeClr val="accent2"/>
                </a:solidFill>
              </a:rPr>
              <a:t> de PCA</a:t>
            </a:r>
          </a:p>
        </p:txBody>
      </p:sp>
    </p:spTree>
    <p:extLst>
      <p:ext uri="{BB962C8B-B14F-4D97-AF65-F5344CB8AC3E}">
        <p14:creationId xmlns:p14="http://schemas.microsoft.com/office/powerpoint/2010/main" val="2850681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C18FA6-CA04-0B42-8E88-4BECF76E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93627"/>
            <a:ext cx="9144000" cy="4461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A7E49-A8E0-964B-81D6-D8BFD4443AF7}"/>
              </a:ext>
            </a:extLst>
          </p:cNvPr>
          <p:cNvSpPr txBox="1"/>
          <p:nvPr/>
        </p:nvSpPr>
        <p:spPr>
          <a:xfrm>
            <a:off x="1967236" y="753167"/>
            <a:ext cx="3275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Ejemplo en 2D</a:t>
            </a:r>
          </a:p>
        </p:txBody>
      </p:sp>
    </p:spTree>
    <p:extLst>
      <p:ext uri="{BB962C8B-B14F-4D97-AF65-F5344CB8AC3E}">
        <p14:creationId xmlns:p14="http://schemas.microsoft.com/office/powerpoint/2010/main" val="3365438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EF03BE-466A-4340-B038-6E2CFAB0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231" y="337026"/>
            <a:ext cx="2702891" cy="2153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A7E49-A8E0-964B-81D6-D8BFD4443AF7}"/>
              </a:ext>
            </a:extLst>
          </p:cNvPr>
          <p:cNvSpPr txBox="1"/>
          <p:nvPr/>
        </p:nvSpPr>
        <p:spPr>
          <a:xfrm>
            <a:off x="1967236" y="753167"/>
            <a:ext cx="3275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Ejemplo en 5D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977755-55ED-0844-B8C2-8FDFEF023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92" y="2656550"/>
            <a:ext cx="3683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3701E-9119-0E45-9ADD-F1CA81E7E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686" y="2587922"/>
            <a:ext cx="456334" cy="3861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D137EA-24A9-7043-B9BC-CD665D86D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6593" y="753167"/>
            <a:ext cx="419928" cy="497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8452FD-0778-C448-8E71-ED46B1FFF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086" y="3021497"/>
            <a:ext cx="3785838" cy="34994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B7D34D-754B-8245-8AD4-6A2B3F0BF5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0265" y="3021497"/>
            <a:ext cx="3700504" cy="34994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5ED64F-2020-4749-B846-B47FBF0AF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716" y="218076"/>
            <a:ext cx="368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4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0.01018 L 0.20746 -0.15926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85000" y="18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EF03BE-466A-4340-B038-6E2CFAB0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231" y="337026"/>
            <a:ext cx="2702891" cy="2153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FA7E49-A8E0-964B-81D6-D8BFD4443AF7}"/>
              </a:ext>
            </a:extLst>
          </p:cNvPr>
          <p:cNvSpPr txBox="1"/>
          <p:nvPr/>
        </p:nvSpPr>
        <p:spPr>
          <a:xfrm>
            <a:off x="1967236" y="753167"/>
            <a:ext cx="3275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Ejemplo en 5D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B7D34D-754B-8245-8AD4-6A2B3F0BF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265" y="3021497"/>
            <a:ext cx="3700504" cy="3499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977755-55ED-0844-B8C2-8FDFEF023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92" y="2656550"/>
            <a:ext cx="3683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3701E-9119-0E45-9ADD-F1CA81E7E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686" y="2587922"/>
            <a:ext cx="456334" cy="3861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D137EA-24A9-7043-B9BC-CD665D86D3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6593" y="753167"/>
            <a:ext cx="419928" cy="497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8452FD-0778-C448-8E71-ED46B1FFF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086" y="3021497"/>
            <a:ext cx="3785838" cy="34994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872F34-335A-F743-88EC-217B495B4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887" y="124083"/>
            <a:ext cx="456334" cy="38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23958 -0.1666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833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85000" y="18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Significado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 err="1">
                <a:solidFill>
                  <a:schemeClr val="accent2"/>
                </a:solidFill>
              </a:rPr>
              <a:t>en</a:t>
            </a:r>
            <a:r>
              <a:rPr lang="en-US" dirty="0">
                <a:solidFill>
                  <a:schemeClr val="accent2"/>
                </a:solidFill>
              </a:rPr>
              <a:t> la </a:t>
            </a:r>
            <a:r>
              <a:rPr lang="en-US" dirty="0" err="1">
                <a:solidFill>
                  <a:schemeClr val="accent2"/>
                </a:solidFill>
              </a:rPr>
              <a:t>Transformación</a:t>
            </a:r>
            <a:r>
              <a:rPr lang="en-US" dirty="0">
                <a:solidFill>
                  <a:schemeClr val="accent2"/>
                </a:solidFill>
              </a:rPr>
              <a:t> de </a:t>
            </a:r>
            <a:r>
              <a:rPr lang="en-US" dirty="0" err="1">
                <a:solidFill>
                  <a:schemeClr val="accent2"/>
                </a:solidFill>
              </a:rPr>
              <a:t>Características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9353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853170" y="960476"/>
            <a:ext cx="12218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características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004007" y="972961"/>
            <a:ext cx="12266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características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10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46977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96916" y="3707875"/>
            <a:ext cx="2475" cy="4856634"/>
          </a:xfrm>
          <a:prstGeom prst="bentConnector3">
            <a:avLst>
              <a:gd name="adj1" fmla="val -469228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41308" y="3503658"/>
            <a:ext cx="89492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muestras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61340" y="3520958"/>
            <a:ext cx="89492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muestras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3116494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50684" y="720247"/>
            <a:ext cx="70166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Gill Sans MT" panose="020B0502020104020203" pitchFamily="34" charset="77"/>
                <a:cs typeface="Arial"/>
              </a:rPr>
              <a:t>Características</a:t>
            </a:r>
            <a:r>
              <a:rPr lang="en-US" sz="1400" dirty="0">
                <a:latin typeface="Gill Sans MT" panose="020B0502020104020203" pitchFamily="34" charset="77"/>
                <a:cs typeface="Arial"/>
              </a:rPr>
              <a:t> </a:t>
            </a:r>
            <a:r>
              <a:rPr lang="en-US" sz="1400" dirty="0" err="1">
                <a:latin typeface="Gill Sans MT" panose="020B0502020104020203" pitchFamily="34" charset="77"/>
                <a:cs typeface="Arial"/>
              </a:rPr>
              <a:t>extraídas</a:t>
            </a:r>
            <a:r>
              <a:rPr lang="en-US" sz="1400" dirty="0">
                <a:latin typeface="Gill Sans MT" panose="020B0502020104020203" pitchFamily="34" charset="77"/>
                <a:cs typeface="Arial"/>
              </a:rPr>
              <a:t>                                                            </a:t>
            </a:r>
            <a:r>
              <a:rPr lang="en-US" sz="1400" dirty="0" err="1">
                <a:latin typeface="Gill Sans MT" panose="020B0502020104020203" pitchFamily="34" charset="77"/>
                <a:cs typeface="Arial"/>
              </a:rPr>
              <a:t>Características</a:t>
            </a:r>
            <a:r>
              <a:rPr lang="en-US" sz="1400" dirty="0">
                <a:latin typeface="Gill Sans MT" panose="020B0502020104020203" pitchFamily="34" charset="77"/>
                <a:cs typeface="Arial"/>
              </a:rPr>
              <a:t> </a:t>
            </a:r>
            <a:r>
              <a:rPr lang="en-US" sz="1400" dirty="0" err="1">
                <a:latin typeface="Gill Sans MT" panose="020B0502020104020203" pitchFamily="34" charset="77"/>
                <a:cs typeface="Arial"/>
              </a:rPr>
              <a:t>seleccionadas</a:t>
            </a:r>
            <a:endParaRPr lang="en-US" sz="14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77333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B3834-8457-A643-A0C3-C7000D74F681}"/>
              </a:ext>
            </a:extLst>
          </p:cNvPr>
          <p:cNvSpPr txBox="1"/>
          <p:nvPr/>
        </p:nvSpPr>
        <p:spPr>
          <a:xfrm>
            <a:off x="4829697" y="200296"/>
            <a:ext cx="376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SELECCION DE CARACTERISTICAS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124A77-59E7-5691-9442-E72527F57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45" y="5773342"/>
            <a:ext cx="266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03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/>
          <p:cNvCxnSpPr/>
          <p:nvPr/>
        </p:nvCxnSpPr>
        <p:spPr>
          <a:xfrm>
            <a:off x="2319445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43069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366125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3964565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858136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02495" y="3613455"/>
            <a:ext cx="2475" cy="5045475"/>
          </a:xfrm>
          <a:prstGeom prst="bentConnector3">
            <a:avLst>
              <a:gd name="adj1" fmla="val -9236364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807646" y="3313488"/>
            <a:ext cx="4965" cy="5645406"/>
          </a:xfrm>
          <a:prstGeom prst="bentConnector3">
            <a:avLst>
              <a:gd name="adj1" fmla="val 4704230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881672" y="3503658"/>
            <a:ext cx="89492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muestras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268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61340" y="3520958"/>
            <a:ext cx="89492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muestras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2927653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364081" y="3161088"/>
            <a:ext cx="15" cy="5950206"/>
          </a:xfrm>
          <a:prstGeom prst="bentConnector3">
            <a:avLst>
              <a:gd name="adj1" fmla="val 1524100000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877748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788492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961" y="5706009"/>
            <a:ext cx="279400" cy="330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BB3834-8457-A643-A0C3-C7000D74F681}"/>
              </a:ext>
            </a:extLst>
          </p:cNvPr>
          <p:cNvSpPr txBox="1"/>
          <p:nvPr/>
        </p:nvSpPr>
        <p:spPr>
          <a:xfrm>
            <a:off x="6234426" y="200296"/>
            <a:ext cx="62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PCA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A24A6F-C1A4-1A48-B262-251B7DC140A7}"/>
              </a:ext>
            </a:extLst>
          </p:cNvPr>
          <p:cNvSpPr/>
          <p:nvPr/>
        </p:nvSpPr>
        <p:spPr>
          <a:xfrm>
            <a:off x="6480786" y="1057007"/>
            <a:ext cx="951423" cy="50975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144CDD-3903-0941-A796-180BDFF13962}"/>
              </a:ext>
            </a:extLst>
          </p:cNvPr>
          <p:cNvSpPr/>
          <p:nvPr/>
        </p:nvSpPr>
        <p:spPr>
          <a:xfrm>
            <a:off x="3205410" y="6106395"/>
            <a:ext cx="7066743" cy="3861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DD43B4-FB78-DC4E-AB04-C84797AF56C0}"/>
              </a:ext>
            </a:extLst>
          </p:cNvPr>
          <p:cNvSpPr/>
          <p:nvPr/>
        </p:nvSpPr>
        <p:spPr>
          <a:xfrm>
            <a:off x="8746436" y="5715457"/>
            <a:ext cx="378707" cy="3861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B8C2F5-4AF8-8746-BF62-6F49348F5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065" y="5704073"/>
            <a:ext cx="456334" cy="386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02B659-8D77-AC4C-9C0F-2AFDB688E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225" y="3422211"/>
            <a:ext cx="1473200" cy="419100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A870070D-AD74-574A-B1B1-1FE9D68049E4}"/>
              </a:ext>
            </a:extLst>
          </p:cNvPr>
          <p:cNvSpPr/>
          <p:nvPr/>
        </p:nvSpPr>
        <p:spPr>
          <a:xfrm rot="16200000">
            <a:off x="9537176" y="5897381"/>
            <a:ext cx="181534" cy="92927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963F0-7BA7-9F41-870E-C2A524C0F91C}"/>
              </a:ext>
            </a:extLst>
          </p:cNvPr>
          <p:cNvSpPr txBox="1"/>
          <p:nvPr/>
        </p:nvSpPr>
        <p:spPr>
          <a:xfrm>
            <a:off x="8334078" y="6484782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 </a:t>
            </a:r>
            <a:r>
              <a:rPr lang="en-US" dirty="0" err="1">
                <a:latin typeface="Gill Sans MT" panose="020B0502020104020203" pitchFamily="34" charset="77"/>
              </a:rPr>
              <a:t>componentes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principales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E800E8-FA7C-2B4C-A728-B391D6C3C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561" y="1648799"/>
            <a:ext cx="329801" cy="44748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53AC4C7-F0E5-894A-883E-C3936EB890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1954" y="1651509"/>
            <a:ext cx="329801" cy="4474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DBAB7AA-7F1A-3349-B0B7-72CEAFE545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0642" y="1651412"/>
            <a:ext cx="329801" cy="44748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AE6D60B-98FC-E040-B7C6-D9DB2C3849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6725" y="3492499"/>
            <a:ext cx="1003300" cy="393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BA8D94-F507-00CD-DC8F-761B784170C9}"/>
              </a:ext>
            </a:extLst>
          </p:cNvPr>
          <p:cNvSpPr txBox="1"/>
          <p:nvPr/>
        </p:nvSpPr>
        <p:spPr>
          <a:xfrm>
            <a:off x="3327131" y="720247"/>
            <a:ext cx="731482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Gill Sans MT" panose="020B0502020104020203" pitchFamily="34" charset="77"/>
                <a:cs typeface="Arial"/>
              </a:rPr>
              <a:t>Características</a:t>
            </a:r>
            <a:r>
              <a:rPr lang="en-US" sz="1400" dirty="0">
                <a:latin typeface="Gill Sans MT" panose="020B0502020104020203" pitchFamily="34" charset="77"/>
                <a:cs typeface="Arial"/>
              </a:rPr>
              <a:t> </a:t>
            </a:r>
            <a:r>
              <a:rPr lang="en-US" sz="1400" dirty="0" err="1">
                <a:latin typeface="Gill Sans MT" panose="020B0502020104020203" pitchFamily="34" charset="77"/>
                <a:cs typeface="Arial"/>
              </a:rPr>
              <a:t>extraídas</a:t>
            </a:r>
            <a:r>
              <a:rPr lang="en-US" sz="1400" dirty="0">
                <a:latin typeface="Gill Sans MT" panose="020B0502020104020203" pitchFamily="34" charset="77"/>
                <a:cs typeface="Arial"/>
              </a:rPr>
              <a:t>                                                                  </a:t>
            </a:r>
            <a:r>
              <a:rPr lang="en-US" sz="1400" dirty="0" err="1">
                <a:latin typeface="Gill Sans MT" panose="020B0502020104020203" pitchFamily="34" charset="77"/>
                <a:cs typeface="Arial"/>
              </a:rPr>
              <a:t>Características</a:t>
            </a:r>
            <a:r>
              <a:rPr lang="en-US" sz="1400" dirty="0">
                <a:latin typeface="Gill Sans MT" panose="020B0502020104020203" pitchFamily="34" charset="77"/>
                <a:cs typeface="Arial"/>
              </a:rPr>
              <a:t> </a:t>
            </a:r>
            <a:r>
              <a:rPr lang="en-US" sz="1400" dirty="0" err="1">
                <a:latin typeface="Gill Sans MT" panose="020B0502020104020203" pitchFamily="34" charset="77"/>
                <a:cs typeface="Arial"/>
              </a:rPr>
              <a:t>seleccionadas</a:t>
            </a:r>
            <a:endParaRPr lang="en-US" sz="14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D78A53-81B9-0DED-27D5-E4A048541821}"/>
              </a:ext>
            </a:extLst>
          </p:cNvPr>
          <p:cNvSpPr txBox="1"/>
          <p:nvPr/>
        </p:nvSpPr>
        <p:spPr>
          <a:xfrm>
            <a:off x="3656221" y="960476"/>
            <a:ext cx="12218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características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20E2A1-3D79-017C-34A6-4255A1080E41}"/>
              </a:ext>
            </a:extLst>
          </p:cNvPr>
          <p:cNvSpPr txBox="1"/>
          <p:nvPr/>
        </p:nvSpPr>
        <p:spPr>
          <a:xfrm>
            <a:off x="8807058" y="972961"/>
            <a:ext cx="12266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características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F2DE74-2E7D-83E3-769A-7943F0C8155D}"/>
              </a:ext>
            </a:extLst>
          </p:cNvPr>
          <p:cNvSpPr txBox="1"/>
          <p:nvPr/>
        </p:nvSpPr>
        <p:spPr>
          <a:xfrm rot="19503688">
            <a:off x="3621917" y="2329619"/>
            <a:ext cx="3885744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NO HAY LABELS</a:t>
            </a:r>
          </a:p>
        </p:txBody>
      </p:sp>
    </p:spTree>
    <p:extLst>
      <p:ext uri="{BB962C8B-B14F-4D97-AF65-F5344CB8AC3E}">
        <p14:creationId xmlns:p14="http://schemas.microsoft.com/office/powerpoint/2010/main" val="20294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Significado de PCA: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82AEAD-D7A3-3A44-9BFF-C438B1B21262}"/>
              </a:ext>
            </a:extLst>
          </p:cNvPr>
          <p:cNvSpPr txBox="1">
            <a:spLocks/>
          </p:cNvSpPr>
          <p:nvPr/>
        </p:nvSpPr>
        <p:spPr>
          <a:xfrm>
            <a:off x="1762538" y="1856064"/>
            <a:ext cx="909418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600" dirty="0">
                <a:latin typeface="Gill Sans MT" panose="020B0502020104020203" pitchFamily="34" charset="77"/>
              </a:rPr>
              <a:t>1. </a:t>
            </a:r>
            <a:r>
              <a:rPr lang="es-ES_tradn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ES_tradnl" sz="3600" dirty="0">
                <a:latin typeface="Gill Sans MT" panose="020B0502020104020203" pitchFamily="34" charset="77"/>
              </a:rPr>
              <a:t>es una nueva representación de </a:t>
            </a:r>
            <a:r>
              <a:rPr lang="es-ES_tradn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3600" dirty="0">
                <a:latin typeface="Gill Sans MT" panose="020B0502020104020203" pitchFamily="34" charset="77"/>
              </a:rPr>
              <a:t> (es una transformación lineal de </a:t>
            </a:r>
            <a:r>
              <a:rPr lang="es-ES_tradn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3600" dirty="0">
                <a:latin typeface="Gill Sans MT" panose="020B0502020104020203" pitchFamily="34" charset="77"/>
              </a:rPr>
              <a:t>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9F9FC7-89EC-7349-944D-451BB728A25D}"/>
              </a:ext>
            </a:extLst>
          </p:cNvPr>
          <p:cNvGrpSpPr/>
          <p:nvPr/>
        </p:nvGrpSpPr>
        <p:grpSpPr>
          <a:xfrm>
            <a:off x="1762538" y="3237601"/>
            <a:ext cx="8528617" cy="1143000"/>
            <a:chOff x="238538" y="3237601"/>
            <a:chExt cx="8528617" cy="1143000"/>
          </a:xfrm>
        </p:grpSpPr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EADF6EF-032A-7248-AAD7-156C498C491E}"/>
                </a:ext>
              </a:extLst>
            </p:cNvPr>
            <p:cNvSpPr txBox="1">
              <a:spLocks/>
            </p:cNvSpPr>
            <p:nvPr/>
          </p:nvSpPr>
          <p:spPr>
            <a:xfrm>
              <a:off x="238538" y="3237601"/>
              <a:ext cx="8528617" cy="1143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s-ES_tradnl" sz="3600" dirty="0">
                  <a:latin typeface="Gill Sans MT" panose="020B0502020104020203" pitchFamily="34" charset="77"/>
                </a:rPr>
                <a:t>2. Las columnas de </a:t>
              </a:r>
              <a:r>
                <a:rPr lang="es-ES_tradnl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ES_tradnl" sz="3600" dirty="0">
                  <a:latin typeface="Gill Sans MT" panose="020B0502020104020203" pitchFamily="34" charset="77"/>
                </a:rPr>
                <a:t> no tienen correlación: </a:t>
              </a:r>
            </a:p>
            <a:p>
              <a:pPr algn="l"/>
              <a:r>
                <a:rPr lang="es-ES_tradnl" sz="3600" dirty="0">
                  <a:latin typeface="Gill Sans MT" panose="020B0502020104020203" pitchFamily="34" charset="77"/>
                </a:rPr>
                <a:t>                                      para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9F61DF6-3BB7-0349-B20B-4FD03E24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5532" y="3848857"/>
              <a:ext cx="2298700" cy="4826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9647251-AE95-194D-B415-0D3A1666F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4852" y="3849962"/>
              <a:ext cx="965200" cy="431800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91F7A266-8527-A54B-BA2D-E3A64A18E201}"/>
              </a:ext>
            </a:extLst>
          </p:cNvPr>
          <p:cNvSpPr txBox="1">
            <a:spLocks/>
          </p:cNvSpPr>
          <p:nvPr/>
        </p:nvSpPr>
        <p:spPr>
          <a:xfrm>
            <a:off x="1845365" y="4781479"/>
            <a:ext cx="909418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600" dirty="0">
                <a:latin typeface="Gill Sans MT" panose="020B0502020104020203" pitchFamily="34" charset="77"/>
              </a:rPr>
              <a:t>3. Ordenado de mayor a menor las columnas de </a:t>
            </a:r>
            <a:r>
              <a:rPr lang="es-ES_tradn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600" dirty="0">
                <a:latin typeface="Gill Sans MT" panose="020B0502020104020203" pitchFamily="34" charset="77"/>
              </a:rPr>
              <a:t> están ordenadas por importancia</a:t>
            </a:r>
          </a:p>
        </p:txBody>
      </p:sp>
    </p:spTree>
    <p:extLst>
      <p:ext uri="{BB962C8B-B14F-4D97-AF65-F5344CB8AC3E}">
        <p14:creationId xmlns:p14="http://schemas.microsoft.com/office/powerpoint/2010/main" val="206011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Aplicación</a:t>
            </a:r>
            <a:r>
              <a:rPr lang="en-US" dirty="0">
                <a:solidFill>
                  <a:schemeClr val="accent2"/>
                </a:solidFill>
              </a:rPr>
              <a:t> de PCA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 err="1">
                <a:solidFill>
                  <a:schemeClr val="accent2"/>
                </a:solidFill>
              </a:rPr>
              <a:t>en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el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Reconocimiento</a:t>
            </a:r>
            <a:r>
              <a:rPr lang="en-US" dirty="0">
                <a:solidFill>
                  <a:schemeClr val="accent2"/>
                </a:solidFill>
              </a:rPr>
              <a:t> de </a:t>
            </a:r>
            <a:r>
              <a:rPr lang="en-US" dirty="0" err="1">
                <a:solidFill>
                  <a:schemeClr val="accent2"/>
                </a:solidFill>
              </a:rPr>
              <a:t>Patrones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10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EF20750-C8A0-F146-B9BF-2B7EA0339427}"/>
              </a:ext>
            </a:extLst>
          </p:cNvPr>
          <p:cNvSpPr/>
          <p:nvPr/>
        </p:nvSpPr>
        <p:spPr>
          <a:xfrm>
            <a:off x="1581192" y="4454040"/>
            <a:ext cx="31415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Características extraídas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muestras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_tradnl" dirty="0">
                <a:latin typeface="Gill Sans MT" panose="020B0502020104020203" pitchFamily="34" charset="77"/>
              </a:rPr>
              <a:t> características)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CF8F64-B24B-9943-A62D-C3CD7BF1F846}"/>
              </a:ext>
            </a:extLst>
          </p:cNvPr>
          <p:cNvSpPr/>
          <p:nvPr/>
        </p:nvSpPr>
        <p:spPr>
          <a:xfrm>
            <a:off x="5123791" y="5480551"/>
            <a:ext cx="47365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Nuevas características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muestras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_tradnl" dirty="0">
                <a:latin typeface="Gill Sans MT" panose="020B0502020104020203" pitchFamily="34" charset="77"/>
              </a:rPr>
              <a:t> nuevas características)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Se escogen las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_tradnl" dirty="0">
                <a:latin typeface="Gill Sans MT" panose="020B0502020104020203" pitchFamily="34" charset="77"/>
              </a:rPr>
              <a:t> primeras (las componentes principales)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A7B4FD-B6CA-2B46-BEF5-D1723AE8CEB9}"/>
              </a:ext>
            </a:extLst>
          </p:cNvPr>
          <p:cNvCxnSpPr>
            <a:cxnSpLocks/>
          </p:cNvCxnSpPr>
          <p:nvPr/>
        </p:nvCxnSpPr>
        <p:spPr>
          <a:xfrm>
            <a:off x="2110406" y="3508516"/>
            <a:ext cx="0" cy="795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49BD36-DDA8-2E42-8C8F-D0F9AC9476C3}"/>
              </a:ext>
            </a:extLst>
          </p:cNvPr>
          <p:cNvCxnSpPr>
            <a:cxnSpLocks/>
          </p:cNvCxnSpPr>
          <p:nvPr/>
        </p:nvCxnSpPr>
        <p:spPr>
          <a:xfrm flipV="1">
            <a:off x="5335380" y="3523903"/>
            <a:ext cx="0" cy="1902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Estrategia con PCA: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BDA813A-C9BE-E34D-8ED5-345C5BA3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04" y="2789644"/>
            <a:ext cx="368300" cy="317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6F9ED51-E114-5248-B914-E624DB229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790" y="2792896"/>
            <a:ext cx="381000" cy="317500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7604997" y="3269281"/>
            <a:ext cx="575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8180799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17490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84F2E1-CAD6-7645-93AD-17F74B16CA5D}"/>
              </a:ext>
            </a:extLst>
          </p:cNvPr>
          <p:cNvSpPr txBox="1"/>
          <p:nvPr/>
        </p:nvSpPr>
        <p:spPr>
          <a:xfrm>
            <a:off x="1627262" y="252583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13FEB-73FC-1648-A572-1F0230619298}"/>
              </a:ext>
            </a:extLst>
          </p:cNvPr>
          <p:cNvSpPr txBox="1"/>
          <p:nvPr/>
        </p:nvSpPr>
        <p:spPr>
          <a:xfrm>
            <a:off x="4309873" y="249169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Xtrain_pca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6A33C2-6B6F-F942-A86B-A9E1440EE72A}"/>
              </a:ext>
            </a:extLst>
          </p:cNvPr>
          <p:cNvCxnSpPr>
            <a:cxnSpLocks/>
          </p:cNvCxnSpPr>
          <p:nvPr/>
        </p:nvCxnSpPr>
        <p:spPr>
          <a:xfrm>
            <a:off x="6672470" y="2124020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DDEB2-FD84-DD4E-970D-5C3657AA829B}"/>
              </a:ext>
            </a:extLst>
          </p:cNvPr>
          <p:cNvSpPr/>
          <p:nvPr/>
        </p:nvSpPr>
        <p:spPr>
          <a:xfrm>
            <a:off x="6185452" y="168182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ytrain</a:t>
            </a:r>
            <a:endParaRPr lang="es-ES_tradnl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874471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Training / </a:t>
            </a:r>
            <a:r>
              <a:rPr lang="es-ES_tradnl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Testing</a:t>
            </a:r>
            <a:endParaRPr lang="es-ES_tradnl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84F2E1-CAD6-7645-93AD-17F74B16CA5D}"/>
              </a:ext>
            </a:extLst>
          </p:cNvPr>
          <p:cNvSpPr txBox="1"/>
          <p:nvPr/>
        </p:nvSpPr>
        <p:spPr>
          <a:xfrm>
            <a:off x="1627262" y="252583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13FEB-73FC-1648-A572-1F0230619298}"/>
              </a:ext>
            </a:extLst>
          </p:cNvPr>
          <p:cNvSpPr txBox="1"/>
          <p:nvPr/>
        </p:nvSpPr>
        <p:spPr>
          <a:xfrm>
            <a:off x="4309873" y="249169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Xtrain_pca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6A33C2-6B6F-F942-A86B-A9E1440EE72A}"/>
              </a:ext>
            </a:extLst>
          </p:cNvPr>
          <p:cNvCxnSpPr>
            <a:cxnSpLocks/>
          </p:cNvCxnSpPr>
          <p:nvPr/>
        </p:nvCxnSpPr>
        <p:spPr>
          <a:xfrm>
            <a:off x="6672470" y="2124020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DDEB2-FD84-DD4E-970D-5C3657AA829B}"/>
              </a:ext>
            </a:extLst>
          </p:cNvPr>
          <p:cNvSpPr/>
          <p:nvPr/>
        </p:nvSpPr>
        <p:spPr>
          <a:xfrm>
            <a:off x="6185452" y="168182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ytrain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197DAE8-5C82-0840-9160-C52BA082D890}"/>
              </a:ext>
            </a:extLst>
          </p:cNvPr>
          <p:cNvSpPr/>
          <p:nvPr/>
        </p:nvSpPr>
        <p:spPr>
          <a:xfrm>
            <a:off x="2493062" y="4416755"/>
            <a:ext cx="1858618" cy="944218"/>
          </a:xfrm>
          <a:prstGeom prst="round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6113DA-51DB-B84A-85FB-4799A3FB61A5}"/>
              </a:ext>
            </a:extLst>
          </p:cNvPr>
          <p:cNvCxnSpPr>
            <a:cxnSpLocks/>
          </p:cNvCxnSpPr>
          <p:nvPr/>
        </p:nvCxnSpPr>
        <p:spPr>
          <a:xfrm>
            <a:off x="1717810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1B3558D-908E-6F4A-86E0-0CCD5890A391}"/>
              </a:ext>
            </a:extLst>
          </p:cNvPr>
          <p:cNvSpPr/>
          <p:nvPr/>
        </p:nvSpPr>
        <p:spPr>
          <a:xfrm>
            <a:off x="5738190" y="4411784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Clasificación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5D4480-3096-2D4B-963A-CE080E7D3BD8}"/>
              </a:ext>
            </a:extLst>
          </p:cNvPr>
          <p:cNvCxnSpPr>
            <a:cxnSpLocks/>
          </p:cNvCxnSpPr>
          <p:nvPr/>
        </p:nvCxnSpPr>
        <p:spPr>
          <a:xfrm>
            <a:off x="4314829" y="4883893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A56918-5133-1C4D-BAF4-E76F29C0315D}"/>
              </a:ext>
            </a:extLst>
          </p:cNvPr>
          <p:cNvSpPr txBox="1"/>
          <p:nvPr/>
        </p:nvSpPr>
        <p:spPr>
          <a:xfrm>
            <a:off x="1622291" y="413975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</a:t>
            </a:r>
            <a:endParaRPr lang="es-ES_tradnl" dirty="0">
              <a:latin typeface="Courier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37EE2-C03C-2C44-8950-ACD6616C50C5}"/>
              </a:ext>
            </a:extLst>
          </p:cNvPr>
          <p:cNvSpPr txBox="1"/>
          <p:nvPr/>
        </p:nvSpPr>
        <p:spPr>
          <a:xfrm>
            <a:off x="4304902" y="4105616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Xtest_pca</a:t>
            </a:r>
            <a:endParaRPr lang="es-ES_tradnl" dirty="0">
              <a:latin typeface="Courier" pitchFamily="2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020EF-B4EC-5340-B1BB-5B9512B97D17}"/>
              </a:ext>
            </a:extLst>
          </p:cNvPr>
          <p:cNvCxnSpPr>
            <a:cxnSpLocks/>
          </p:cNvCxnSpPr>
          <p:nvPr/>
        </p:nvCxnSpPr>
        <p:spPr>
          <a:xfrm>
            <a:off x="6667499" y="3737938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538B21-4859-B74B-B532-E362330B6982}"/>
              </a:ext>
            </a:extLst>
          </p:cNvPr>
          <p:cNvCxnSpPr>
            <a:cxnSpLocks/>
          </p:cNvCxnSpPr>
          <p:nvPr/>
        </p:nvCxnSpPr>
        <p:spPr>
          <a:xfrm>
            <a:off x="7596809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735221E-636F-9F4B-B32F-B5DF617A1A70}"/>
              </a:ext>
            </a:extLst>
          </p:cNvPr>
          <p:cNvSpPr txBox="1"/>
          <p:nvPr/>
        </p:nvSpPr>
        <p:spPr>
          <a:xfrm>
            <a:off x="7660059" y="441178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ypred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20762B1-2E3B-3C48-A47A-892C91C7912B}"/>
              </a:ext>
            </a:extLst>
          </p:cNvPr>
          <p:cNvSpPr/>
          <p:nvPr/>
        </p:nvSpPr>
        <p:spPr>
          <a:xfrm>
            <a:off x="8374489" y="4711051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DFF269-AFD5-EE45-B3B9-70DD2C7E2F6F}"/>
              </a:ext>
            </a:extLst>
          </p:cNvPr>
          <p:cNvSpPr/>
          <p:nvPr/>
        </p:nvSpPr>
        <p:spPr>
          <a:xfrm>
            <a:off x="8401575" y="4612169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723CE7-C3B3-C549-AD5E-F02EBA81A010}"/>
              </a:ext>
            </a:extLst>
          </p:cNvPr>
          <p:cNvSpPr txBox="1"/>
          <p:nvPr/>
        </p:nvSpPr>
        <p:spPr>
          <a:xfrm>
            <a:off x="1668457" y="545330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ytest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BE7D3C1-10C0-054A-8757-E6832FF95776}"/>
              </a:ext>
            </a:extLst>
          </p:cNvPr>
          <p:cNvCxnSpPr>
            <a:stCxn id="33" idx="3"/>
            <a:endCxn id="32" idx="2"/>
          </p:cNvCxnSpPr>
          <p:nvPr/>
        </p:nvCxnSpPr>
        <p:spPr>
          <a:xfrm flipV="1">
            <a:off x="2542414" y="5135390"/>
            <a:ext cx="6009203" cy="5025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21F245-8541-AD46-815F-E495B510B5D1}"/>
              </a:ext>
            </a:extLst>
          </p:cNvPr>
          <p:cNvCxnSpPr>
            <a:cxnSpLocks/>
          </p:cNvCxnSpPr>
          <p:nvPr/>
        </p:nvCxnSpPr>
        <p:spPr>
          <a:xfrm>
            <a:off x="8732834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071619-F669-B94A-9A30-C94CD844F413}"/>
              </a:ext>
            </a:extLst>
          </p:cNvPr>
          <p:cNvSpPr txBox="1"/>
          <p:nvPr/>
        </p:nvSpPr>
        <p:spPr>
          <a:xfrm>
            <a:off x="9506623" y="466923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acc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DC402-6B58-E844-AFC2-D82BCCE85AB1}"/>
              </a:ext>
            </a:extLst>
          </p:cNvPr>
          <p:cNvSpPr/>
          <p:nvPr/>
        </p:nvSpPr>
        <p:spPr>
          <a:xfrm>
            <a:off x="6689997" y="3829733"/>
            <a:ext cx="894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modelo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7844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Training / </a:t>
            </a:r>
            <a:r>
              <a:rPr lang="es-ES_tradnl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Testing</a:t>
            </a:r>
            <a:endParaRPr lang="es-ES_tradnl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84F2E1-CAD6-7645-93AD-17F74B16CA5D}"/>
              </a:ext>
            </a:extLst>
          </p:cNvPr>
          <p:cNvSpPr txBox="1"/>
          <p:nvPr/>
        </p:nvSpPr>
        <p:spPr>
          <a:xfrm>
            <a:off x="1627262" y="252583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13FEB-73FC-1648-A572-1F0230619298}"/>
              </a:ext>
            </a:extLst>
          </p:cNvPr>
          <p:cNvSpPr txBox="1"/>
          <p:nvPr/>
        </p:nvSpPr>
        <p:spPr>
          <a:xfrm>
            <a:off x="4309873" y="249169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Xtrain_pca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6A33C2-6B6F-F942-A86B-A9E1440EE72A}"/>
              </a:ext>
            </a:extLst>
          </p:cNvPr>
          <p:cNvCxnSpPr>
            <a:cxnSpLocks/>
          </p:cNvCxnSpPr>
          <p:nvPr/>
        </p:nvCxnSpPr>
        <p:spPr>
          <a:xfrm>
            <a:off x="6672470" y="2124020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DDEB2-FD84-DD4E-970D-5C3657AA829B}"/>
              </a:ext>
            </a:extLst>
          </p:cNvPr>
          <p:cNvSpPr/>
          <p:nvPr/>
        </p:nvSpPr>
        <p:spPr>
          <a:xfrm>
            <a:off x="6185452" y="168182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ytrain</a:t>
            </a:r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197DAE8-5C82-0840-9160-C52BA082D890}"/>
              </a:ext>
            </a:extLst>
          </p:cNvPr>
          <p:cNvSpPr/>
          <p:nvPr/>
        </p:nvSpPr>
        <p:spPr>
          <a:xfrm>
            <a:off x="2493062" y="4416755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atin typeface="Gill Sans MT" panose="020B0502020104020203" pitchFamily="34" charset="77"/>
              </a:rPr>
              <a:t>Transformación</a:t>
            </a: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Lineal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6113DA-51DB-B84A-85FB-4799A3FB61A5}"/>
              </a:ext>
            </a:extLst>
          </p:cNvPr>
          <p:cNvCxnSpPr>
            <a:cxnSpLocks/>
          </p:cNvCxnSpPr>
          <p:nvPr/>
        </p:nvCxnSpPr>
        <p:spPr>
          <a:xfrm>
            <a:off x="1717810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1B3558D-908E-6F4A-86E0-0CCD5890A391}"/>
              </a:ext>
            </a:extLst>
          </p:cNvPr>
          <p:cNvSpPr/>
          <p:nvPr/>
        </p:nvSpPr>
        <p:spPr>
          <a:xfrm>
            <a:off x="5738190" y="4411784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Clasificación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5D4480-3096-2D4B-963A-CE080E7D3BD8}"/>
              </a:ext>
            </a:extLst>
          </p:cNvPr>
          <p:cNvCxnSpPr>
            <a:cxnSpLocks/>
          </p:cNvCxnSpPr>
          <p:nvPr/>
        </p:nvCxnSpPr>
        <p:spPr>
          <a:xfrm>
            <a:off x="4314829" y="4883893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A56918-5133-1C4D-BAF4-E76F29C0315D}"/>
              </a:ext>
            </a:extLst>
          </p:cNvPr>
          <p:cNvSpPr txBox="1"/>
          <p:nvPr/>
        </p:nvSpPr>
        <p:spPr>
          <a:xfrm>
            <a:off x="1622291" y="413975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</a:t>
            </a:r>
            <a:endParaRPr lang="es-ES_tradnl" dirty="0">
              <a:latin typeface="Courier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37EE2-C03C-2C44-8950-ACD6616C50C5}"/>
              </a:ext>
            </a:extLst>
          </p:cNvPr>
          <p:cNvSpPr txBox="1"/>
          <p:nvPr/>
        </p:nvSpPr>
        <p:spPr>
          <a:xfrm>
            <a:off x="4304902" y="4105616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Xtest_pca</a:t>
            </a:r>
            <a:endParaRPr lang="es-ES_tradnl" dirty="0">
              <a:latin typeface="Courier" pitchFamily="2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2020EF-B4EC-5340-B1BB-5B9512B97D17}"/>
              </a:ext>
            </a:extLst>
          </p:cNvPr>
          <p:cNvCxnSpPr>
            <a:cxnSpLocks/>
          </p:cNvCxnSpPr>
          <p:nvPr/>
        </p:nvCxnSpPr>
        <p:spPr>
          <a:xfrm>
            <a:off x="6667499" y="3737938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538B21-4859-B74B-B532-E362330B6982}"/>
              </a:ext>
            </a:extLst>
          </p:cNvPr>
          <p:cNvCxnSpPr>
            <a:cxnSpLocks/>
          </p:cNvCxnSpPr>
          <p:nvPr/>
        </p:nvCxnSpPr>
        <p:spPr>
          <a:xfrm>
            <a:off x="7596809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735221E-636F-9F4B-B32F-B5DF617A1A70}"/>
              </a:ext>
            </a:extLst>
          </p:cNvPr>
          <p:cNvSpPr txBox="1"/>
          <p:nvPr/>
        </p:nvSpPr>
        <p:spPr>
          <a:xfrm>
            <a:off x="7660059" y="441178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ypred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20762B1-2E3B-3C48-A47A-892C91C7912B}"/>
              </a:ext>
            </a:extLst>
          </p:cNvPr>
          <p:cNvSpPr/>
          <p:nvPr/>
        </p:nvSpPr>
        <p:spPr>
          <a:xfrm>
            <a:off x="8374489" y="4711051"/>
            <a:ext cx="358345" cy="3907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DFF269-AFD5-EE45-B3B9-70DD2C7E2F6F}"/>
              </a:ext>
            </a:extLst>
          </p:cNvPr>
          <p:cNvSpPr/>
          <p:nvPr/>
        </p:nvSpPr>
        <p:spPr>
          <a:xfrm>
            <a:off x="8401575" y="4612169"/>
            <a:ext cx="300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723CE7-C3B3-C549-AD5E-F02EBA81A010}"/>
              </a:ext>
            </a:extLst>
          </p:cNvPr>
          <p:cNvSpPr txBox="1"/>
          <p:nvPr/>
        </p:nvSpPr>
        <p:spPr>
          <a:xfrm>
            <a:off x="1668457" y="545330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ytest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BE7D3C1-10C0-054A-8757-E6832FF95776}"/>
              </a:ext>
            </a:extLst>
          </p:cNvPr>
          <p:cNvCxnSpPr>
            <a:stCxn id="33" idx="3"/>
            <a:endCxn id="32" idx="2"/>
          </p:cNvCxnSpPr>
          <p:nvPr/>
        </p:nvCxnSpPr>
        <p:spPr>
          <a:xfrm flipV="1">
            <a:off x="2542414" y="5135390"/>
            <a:ext cx="6009203" cy="5025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21F245-8541-AD46-815F-E495B510B5D1}"/>
              </a:ext>
            </a:extLst>
          </p:cNvPr>
          <p:cNvCxnSpPr>
            <a:cxnSpLocks/>
          </p:cNvCxnSpPr>
          <p:nvPr/>
        </p:nvCxnSpPr>
        <p:spPr>
          <a:xfrm>
            <a:off x="8732834" y="4883893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071619-F669-B94A-9A30-C94CD844F413}"/>
              </a:ext>
            </a:extLst>
          </p:cNvPr>
          <p:cNvSpPr txBox="1"/>
          <p:nvPr/>
        </p:nvSpPr>
        <p:spPr>
          <a:xfrm>
            <a:off x="9506623" y="466923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>
                <a:latin typeface="Courier" pitchFamily="2" charset="0"/>
              </a:rPr>
              <a:t>acc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752AA3-B67D-CB43-AB9E-B758790AA4F2}"/>
              </a:ext>
            </a:extLst>
          </p:cNvPr>
          <p:cNvCxnSpPr>
            <a:cxnSpLocks/>
          </p:cNvCxnSpPr>
          <p:nvPr/>
        </p:nvCxnSpPr>
        <p:spPr>
          <a:xfrm>
            <a:off x="3452188" y="5135389"/>
            <a:ext cx="0" cy="106662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755FD6A-48BD-0548-9CD7-CBBBB926FBE8}"/>
              </a:ext>
            </a:extLst>
          </p:cNvPr>
          <p:cNvCxnSpPr>
            <a:cxnSpLocks/>
          </p:cNvCxnSpPr>
          <p:nvPr/>
        </p:nvCxnSpPr>
        <p:spPr>
          <a:xfrm>
            <a:off x="3261688" y="3737938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74FDF6-B5E0-4048-96B4-99B094E66BB8}"/>
              </a:ext>
            </a:extLst>
          </p:cNvPr>
          <p:cNvCxnSpPr>
            <a:cxnSpLocks/>
          </p:cNvCxnSpPr>
          <p:nvPr/>
        </p:nvCxnSpPr>
        <p:spPr>
          <a:xfrm>
            <a:off x="3592994" y="3737938"/>
            <a:ext cx="0" cy="67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EE0D115-2D3A-EC45-A378-2C55E91D9905}"/>
              </a:ext>
            </a:extLst>
          </p:cNvPr>
          <p:cNvSpPr txBox="1"/>
          <p:nvPr/>
        </p:nvSpPr>
        <p:spPr>
          <a:xfrm>
            <a:off x="2846436" y="383335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Courier" pitchFamily="2" charset="0"/>
              </a:rPr>
              <a:t>A     Mx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6B0BB2-1F38-CE4D-B397-D8E04CBB383F}"/>
              </a:ext>
            </a:extLst>
          </p:cNvPr>
          <p:cNvSpPr txBox="1"/>
          <p:nvPr/>
        </p:nvSpPr>
        <p:spPr>
          <a:xfrm>
            <a:off x="2542413" y="6305191"/>
            <a:ext cx="376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>
                <a:latin typeface="Courier" pitchFamily="2" charset="0"/>
              </a:rPr>
              <a:t>Xtest_pca</a:t>
            </a:r>
            <a:r>
              <a:rPr lang="es-ES_tradnl" dirty="0">
                <a:latin typeface="Courier" pitchFamily="2" charset="0"/>
              </a:rPr>
              <a:t> = (</a:t>
            </a:r>
            <a:r>
              <a:rPr lang="es-ES_tradnl" dirty="0" err="1">
                <a:latin typeface="Courier" pitchFamily="2" charset="0"/>
              </a:rPr>
              <a:t>Xtest</a:t>
            </a:r>
            <a:r>
              <a:rPr lang="es-ES_tradnl" dirty="0">
                <a:latin typeface="Courier" pitchFamily="2" charset="0"/>
              </a:rPr>
              <a:t> – Mx)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BDC402-6B58-E844-AFC2-D82BCCE85AB1}"/>
              </a:ext>
            </a:extLst>
          </p:cNvPr>
          <p:cNvSpPr/>
          <p:nvPr/>
        </p:nvSpPr>
        <p:spPr>
          <a:xfrm>
            <a:off x="6689997" y="3829733"/>
            <a:ext cx="894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modelo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87F3C-FFCE-0240-998A-E63012755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693" y="6455740"/>
            <a:ext cx="76200" cy="8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48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Ventajas de PCA: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82AEAD-D7A3-3A44-9BFF-C438B1B21262}"/>
              </a:ext>
            </a:extLst>
          </p:cNvPr>
          <p:cNvSpPr txBox="1">
            <a:spLocks/>
          </p:cNvSpPr>
          <p:nvPr/>
        </p:nvSpPr>
        <p:spPr>
          <a:xfrm>
            <a:off x="1762539" y="166721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1. La representación de muchas características es mucho más sencilla ya que se reduce la </a:t>
            </a:r>
            <a:r>
              <a:rPr lang="es-ES_tradnl" sz="3200" dirty="0" err="1">
                <a:latin typeface="Gill Sans MT" panose="020B0502020104020203" pitchFamily="34" charset="77"/>
              </a:rPr>
              <a:t>dimensionalidad</a:t>
            </a:r>
            <a:endParaRPr lang="es-ES_tradnl" sz="3200" dirty="0">
              <a:latin typeface="Gill Sans MT" panose="020B0502020104020203" pitchFamily="34" charset="7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F7A266-8527-A54B-BA2D-E3A64A18E201}"/>
              </a:ext>
            </a:extLst>
          </p:cNvPr>
          <p:cNvSpPr txBox="1">
            <a:spLocks/>
          </p:cNvSpPr>
          <p:nvPr/>
        </p:nvSpPr>
        <p:spPr>
          <a:xfrm>
            <a:off x="1845365" y="34794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2. La clasificación usando las primeras componentes es más simple y más rápida para el clasificador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1B4B9D-41A1-F840-BB0C-9D5C3AC7350B}"/>
              </a:ext>
            </a:extLst>
          </p:cNvPr>
          <p:cNvSpPr txBox="1">
            <a:spLocks/>
          </p:cNvSpPr>
          <p:nvPr/>
        </p:nvSpPr>
        <p:spPr>
          <a:xfrm>
            <a:off x="1845365" y="519078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3. Es posible reconstruir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3200" dirty="0">
                <a:latin typeface="Gill Sans MT" panose="020B0502020104020203" pitchFamily="34" charset="77"/>
              </a:rPr>
              <a:t> a partir de las principales columnas de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571A9E-E304-934C-8D4B-216E4274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430" y="5793619"/>
            <a:ext cx="2780196" cy="42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1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Reconstrucción con PCA: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2096B3-4D7E-1847-91B5-E80DF10E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757" y="1761263"/>
            <a:ext cx="3354064" cy="2778884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8D253CB-A623-5E43-B6B7-508AD3D4836D}"/>
              </a:ext>
            </a:extLst>
          </p:cNvPr>
          <p:cNvSpPr/>
          <p:nvPr/>
        </p:nvSpPr>
        <p:spPr>
          <a:xfrm>
            <a:off x="3889507" y="268356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B0EE26-8DB9-DB47-9CF2-FDB0E44D6C8D}"/>
              </a:ext>
            </a:extLst>
          </p:cNvPr>
          <p:cNvCxnSpPr>
            <a:cxnSpLocks/>
          </p:cNvCxnSpPr>
          <p:nvPr/>
        </p:nvCxnSpPr>
        <p:spPr>
          <a:xfrm>
            <a:off x="3114255" y="315070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19B260-A302-5149-8234-BB2E16D5D576}"/>
              </a:ext>
            </a:extLst>
          </p:cNvPr>
          <p:cNvCxnSpPr>
            <a:cxnSpLocks/>
          </p:cNvCxnSpPr>
          <p:nvPr/>
        </p:nvCxnSpPr>
        <p:spPr>
          <a:xfrm>
            <a:off x="5748126" y="315070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267BABA5-3981-A144-BEF9-DDD650CCE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1" y="2337905"/>
            <a:ext cx="1663700" cy="1625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7D14ECF-BFE2-EA41-B957-A9726A3A4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003" y="2065878"/>
            <a:ext cx="250343" cy="2967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80F7418-DE1A-4545-BB1D-582FA997B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620" y="4829833"/>
            <a:ext cx="4487925" cy="2921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B2DD1BE-59AD-B14C-B43C-C9E6C68625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769" y="5407665"/>
            <a:ext cx="7710029" cy="292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220AE8-8CF6-484D-9400-0FE5DF30E1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9428" y="5859448"/>
            <a:ext cx="5459264" cy="38128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E0704E4-8FD1-9449-9045-764ECF908CC3}"/>
              </a:ext>
            </a:extLst>
          </p:cNvPr>
          <p:cNvGrpSpPr/>
          <p:nvPr/>
        </p:nvGrpSpPr>
        <p:grpSpPr>
          <a:xfrm>
            <a:off x="7232374" y="2908858"/>
            <a:ext cx="152400" cy="1377727"/>
            <a:chOff x="5708374" y="2908857"/>
            <a:chExt cx="152400" cy="137772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036C83-540A-8F48-A35A-1C721B108589}"/>
                </a:ext>
              </a:extLst>
            </p:cNvPr>
            <p:cNvCxnSpPr/>
            <p:nvPr/>
          </p:nvCxnSpPr>
          <p:spPr>
            <a:xfrm>
              <a:off x="5774635" y="3261679"/>
              <a:ext cx="0" cy="102490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98C53D6-ADCC-F146-A3EA-76D32E850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08374" y="2908857"/>
              <a:ext cx="15240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351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Reconstrucción con PCA: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BC6BD69-6ECE-744D-9EE1-207B0AB4063E}"/>
              </a:ext>
            </a:extLst>
          </p:cNvPr>
          <p:cNvGraphicFramePr>
            <a:graphicFrameLocks noGrp="1"/>
          </p:cNvGraphicFramePr>
          <p:nvPr/>
        </p:nvGraphicFramePr>
        <p:xfrm>
          <a:off x="2501348" y="2092739"/>
          <a:ext cx="2968488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244">
                  <a:extLst>
                    <a:ext uri="{9D8B030D-6E8A-4147-A177-3AD203B41FA5}">
                      <a16:colId xmlns:a16="http://schemas.microsoft.com/office/drawing/2014/main" val="3088671041"/>
                    </a:ext>
                  </a:extLst>
                </a:gridCol>
                <a:gridCol w="1484244">
                  <a:extLst>
                    <a:ext uri="{9D8B030D-6E8A-4147-A177-3AD203B41FA5}">
                      <a16:colId xmlns:a16="http://schemas.microsoft.com/office/drawing/2014/main" val="25053239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00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329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37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183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2.05%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42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2.93%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9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3.67%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95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5.36%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811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6.98%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3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9.10%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507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80ABC10-8A60-484E-9239-A483C4BFF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169" y="1480483"/>
            <a:ext cx="1620000" cy="16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C2AD55-965A-F94E-8EE2-1CB6E1BE7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733" y="3315978"/>
            <a:ext cx="1620000" cy="16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68D26D-E2D2-8944-9C36-3DC2DEDB0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33" y="5151473"/>
            <a:ext cx="1620000" cy="16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D19B03-2194-214E-9674-D0D59F8FE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502" y="1480483"/>
            <a:ext cx="1620000" cy="16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F00783-BEB2-E14C-8AD1-6351DEFA3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502" y="3315978"/>
            <a:ext cx="1620000" cy="162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A05BBE-577B-F549-9E62-6B9BA123C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6502" y="5151473"/>
            <a:ext cx="1620000" cy="162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910E7D-03E2-4B43-8D2A-70B081A68B24}"/>
              </a:ext>
            </a:extLst>
          </p:cNvPr>
          <p:cNvSpPr txBox="1"/>
          <p:nvPr/>
        </p:nvSpPr>
        <p:spPr>
          <a:xfrm>
            <a:off x="7752977" y="149749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C583C6-1D4E-064B-AF4B-DF9A2F04BC8E}"/>
              </a:ext>
            </a:extLst>
          </p:cNvPr>
          <p:cNvSpPr txBox="1"/>
          <p:nvPr/>
        </p:nvSpPr>
        <p:spPr>
          <a:xfrm>
            <a:off x="7759465" y="330495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B5E355-B666-BD44-A2E3-5F37768A6C72}"/>
              </a:ext>
            </a:extLst>
          </p:cNvPr>
          <p:cNvSpPr txBox="1"/>
          <p:nvPr/>
        </p:nvSpPr>
        <p:spPr>
          <a:xfrm>
            <a:off x="7774029" y="515147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A7A99B-E443-8C40-91B3-3B4CE579B299}"/>
              </a:ext>
            </a:extLst>
          </p:cNvPr>
          <p:cNvSpPr txBox="1"/>
          <p:nvPr/>
        </p:nvSpPr>
        <p:spPr>
          <a:xfrm>
            <a:off x="9640533" y="148048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9EA2B4-8906-A245-BAF1-FA316F6FEC06}"/>
              </a:ext>
            </a:extLst>
          </p:cNvPr>
          <p:cNvSpPr txBox="1"/>
          <p:nvPr/>
        </p:nvSpPr>
        <p:spPr>
          <a:xfrm>
            <a:off x="9746411" y="32879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7DDBFB-6FAE-1542-A560-9C1622EEBC2D}"/>
              </a:ext>
            </a:extLst>
          </p:cNvPr>
          <p:cNvSpPr txBox="1"/>
          <p:nvPr/>
        </p:nvSpPr>
        <p:spPr>
          <a:xfrm>
            <a:off x="9760975" y="51344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44467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Desventajas de PCA: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82AEAD-D7A3-3A44-9BFF-C438B1B21262}"/>
              </a:ext>
            </a:extLst>
          </p:cNvPr>
          <p:cNvSpPr txBox="1">
            <a:spLocks/>
          </p:cNvSpPr>
          <p:nvPr/>
        </p:nvSpPr>
        <p:spPr>
          <a:xfrm>
            <a:off x="1762539" y="2286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1. Las características de PCA dependen de todas las características extraídas (es necesario extraer todas las características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3200" dirty="0">
                <a:latin typeface="Gill Sans MT" panose="020B0502020104020203" pitchFamily="34" charset="77"/>
              </a:rPr>
              <a:t> para obtener </a:t>
            </a:r>
            <a:r>
              <a:rPr lang="es-ES_trad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3200" dirty="0">
                <a:latin typeface="Gill Sans MT" panose="020B0502020104020203" pitchFamily="34" charset="77"/>
              </a:rPr>
              <a:t>, no hay ahorro de cómputo en la extracción)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F7A266-8527-A54B-BA2D-E3A64A18E201}"/>
              </a:ext>
            </a:extLst>
          </p:cNvPr>
          <p:cNvSpPr txBox="1">
            <a:spLocks/>
          </p:cNvSpPr>
          <p:nvPr/>
        </p:nvSpPr>
        <p:spPr>
          <a:xfrm>
            <a:off x="1762539" y="473178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dirty="0">
                <a:latin typeface="Gill Sans MT" panose="020B0502020104020203" pitchFamily="34" charset="77"/>
              </a:rPr>
              <a:t>2. PCA al no incluir información de los </a:t>
            </a:r>
            <a:r>
              <a:rPr lang="es-ES_tradnl" sz="3200" dirty="0" err="1">
                <a:latin typeface="Gill Sans MT" panose="020B0502020104020203" pitchFamily="34" charset="77"/>
              </a:rPr>
              <a:t>labels</a:t>
            </a:r>
            <a:r>
              <a:rPr lang="es-ES_tradnl" sz="3200" dirty="0">
                <a:latin typeface="Gill Sans MT" panose="020B0502020104020203" pitchFamily="34" charset="77"/>
              </a:rPr>
              <a:t> no asegura que las características transformadas tengan una buena separabilidad.</a:t>
            </a:r>
          </a:p>
        </p:txBody>
      </p:sp>
    </p:spTree>
    <p:extLst>
      <p:ext uri="{BB962C8B-B14F-4D97-AF65-F5344CB8AC3E}">
        <p14:creationId xmlns:p14="http://schemas.microsoft.com/office/powerpoint/2010/main" val="283344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87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Alternativas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32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5743161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800" y="3269975"/>
            <a:ext cx="1418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EF20750-C8A0-F146-B9BF-2B7EA0339427}"/>
              </a:ext>
            </a:extLst>
          </p:cNvPr>
          <p:cNvSpPr/>
          <p:nvPr/>
        </p:nvSpPr>
        <p:spPr>
          <a:xfrm>
            <a:off x="1581192" y="4454040"/>
            <a:ext cx="31415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Características extraídas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muestras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_tradnl" dirty="0">
                <a:latin typeface="Gill Sans MT" panose="020B0502020104020203" pitchFamily="34" charset="77"/>
              </a:rPr>
              <a:t> características)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CF8F64-B24B-9943-A62D-C3CD7BF1F846}"/>
              </a:ext>
            </a:extLst>
          </p:cNvPr>
          <p:cNvSpPr/>
          <p:nvPr/>
        </p:nvSpPr>
        <p:spPr>
          <a:xfrm>
            <a:off x="5123791" y="5480551"/>
            <a:ext cx="47365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Nuevas características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muestras y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ES_tradnl" dirty="0">
                <a:latin typeface="Gill Sans MT" panose="020B0502020104020203" pitchFamily="34" charset="77"/>
              </a:rPr>
              <a:t> nuevas características)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Se escogen las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_tradnl" dirty="0">
                <a:latin typeface="Gill Sans MT" panose="020B0502020104020203" pitchFamily="34" charset="77"/>
              </a:rPr>
              <a:t> primeras (las componentes principales)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A7B4FD-B6CA-2B46-BEF5-D1723AE8CEB9}"/>
              </a:ext>
            </a:extLst>
          </p:cNvPr>
          <p:cNvCxnSpPr>
            <a:cxnSpLocks/>
          </p:cNvCxnSpPr>
          <p:nvPr/>
        </p:nvCxnSpPr>
        <p:spPr>
          <a:xfrm>
            <a:off x="2110406" y="3508516"/>
            <a:ext cx="0" cy="795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49BD36-DDA8-2E42-8C8F-D0F9AC9476C3}"/>
              </a:ext>
            </a:extLst>
          </p:cNvPr>
          <p:cNvCxnSpPr>
            <a:cxnSpLocks/>
          </p:cNvCxnSpPr>
          <p:nvPr/>
        </p:nvCxnSpPr>
        <p:spPr>
          <a:xfrm flipV="1">
            <a:off x="5335380" y="3523903"/>
            <a:ext cx="0" cy="1902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Estrategia con PCA (original):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BDA813A-C9BE-E34D-8ED5-345C5BA3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04" y="2789644"/>
            <a:ext cx="368300" cy="317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6F9ED51-E114-5248-B914-E624DB229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790" y="2792896"/>
            <a:ext cx="381000" cy="317500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7604997" y="3269281"/>
            <a:ext cx="575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8180799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993250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7522267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FE37D9-E2EF-1840-B12F-6B8E1E5ABD1F}"/>
              </a:ext>
            </a:extLst>
          </p:cNvPr>
          <p:cNvCxnSpPr>
            <a:cxnSpLocks/>
          </p:cNvCxnSpPr>
          <p:nvPr/>
        </p:nvCxnSpPr>
        <p:spPr>
          <a:xfrm>
            <a:off x="4319799" y="3269975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Estrategia con PCA y SFS (1/4):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BDA813A-C9BE-E34D-8ED5-345C5BA3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04" y="2789644"/>
            <a:ext cx="368300" cy="317500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9384103" y="3269281"/>
            <a:ext cx="379437" cy="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9751186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00A33-AF31-014A-B259-26005ECB1876}"/>
              </a:ext>
            </a:extLst>
          </p:cNvPr>
          <p:cNvSpPr/>
          <p:nvPr/>
        </p:nvSpPr>
        <p:spPr>
          <a:xfrm>
            <a:off x="5010150" y="2789644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D700CE-6BC8-8541-9EE4-B5FE03A55A57}"/>
              </a:ext>
            </a:extLst>
          </p:cNvPr>
          <p:cNvCxnSpPr>
            <a:cxnSpLocks/>
          </p:cNvCxnSpPr>
          <p:nvPr/>
        </p:nvCxnSpPr>
        <p:spPr>
          <a:xfrm>
            <a:off x="6831916" y="3256782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FF33F-3E77-B44C-9795-878F33C07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806" y="2804828"/>
            <a:ext cx="546100" cy="393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8B9D52-AB82-2B45-A463-964E13062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712" y="2826363"/>
            <a:ext cx="5461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58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7522267" y="279786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Estrategia con PCA y SFS (2/4):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9384103" y="3269281"/>
            <a:ext cx="379437" cy="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9751186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00A33-AF31-014A-B259-26005ECB1876}"/>
              </a:ext>
            </a:extLst>
          </p:cNvPr>
          <p:cNvSpPr/>
          <p:nvPr/>
        </p:nvSpPr>
        <p:spPr>
          <a:xfrm>
            <a:off x="2498033" y="4037906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D700CE-6BC8-8541-9EE4-B5FE03A55A57}"/>
              </a:ext>
            </a:extLst>
          </p:cNvPr>
          <p:cNvCxnSpPr>
            <a:cxnSpLocks/>
          </p:cNvCxnSpPr>
          <p:nvPr/>
        </p:nvCxnSpPr>
        <p:spPr>
          <a:xfrm>
            <a:off x="6831916" y="3256782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FF33F-3E77-B44C-9795-878F33C0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806" y="2804828"/>
            <a:ext cx="546100" cy="393700"/>
          </a:xfrm>
          <a:prstGeom prst="rect">
            <a:avLst/>
          </a:prstGeom>
        </p:spPr>
      </p:pic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CB2FDAC0-05F0-4B4D-9CB0-C78E769F6FE2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1670200" y="3682183"/>
            <a:ext cx="1253786" cy="4018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B86F98B-104E-D547-8CA8-2351657E5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004" y="2799583"/>
            <a:ext cx="368300" cy="3175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5D24E3-9EFB-FF41-89EB-756A3AD1A243}"/>
              </a:ext>
            </a:extLst>
          </p:cNvPr>
          <p:cNvCxnSpPr>
            <a:cxnSpLocks/>
          </p:cNvCxnSpPr>
          <p:nvPr/>
        </p:nvCxnSpPr>
        <p:spPr>
          <a:xfrm>
            <a:off x="4319799" y="3269975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D5EADE-F782-8943-97C1-3F62AFBFE855}"/>
              </a:ext>
            </a:extLst>
          </p:cNvPr>
          <p:cNvSpPr/>
          <p:nvPr/>
        </p:nvSpPr>
        <p:spPr>
          <a:xfrm>
            <a:off x="5010150" y="2789644"/>
            <a:ext cx="185861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 err="1">
                <a:latin typeface="Gill Sans MT" panose="020B0502020104020203" pitchFamily="34" charset="77"/>
              </a:rPr>
              <a:t>Concatenate</a:t>
            </a:r>
            <a:endParaRPr lang="es-ES_tradnl" sz="20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669766-AD5D-7C4C-B8E6-B58EA0E06CB9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4356651" y="3733863"/>
            <a:ext cx="1582808" cy="7761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5DDFDA0-8AA6-C346-8B12-20E169ECC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623" y="4112929"/>
            <a:ext cx="3810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9AC76-C8C9-3E4D-9693-4BD6F7655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314" y="2803940"/>
            <a:ext cx="5461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00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498033" y="2802837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22781" y="326997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7743863" y="2797866"/>
            <a:ext cx="1637022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Estrategia con PCA y SFS (3/4):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9384103" y="3269281"/>
            <a:ext cx="379437" cy="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9751186" y="3089485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00A33-AF31-014A-B259-26005ECB1876}"/>
              </a:ext>
            </a:extLst>
          </p:cNvPr>
          <p:cNvSpPr/>
          <p:nvPr/>
        </p:nvSpPr>
        <p:spPr>
          <a:xfrm>
            <a:off x="2498033" y="4037906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D700CE-6BC8-8541-9EE4-B5FE03A55A57}"/>
              </a:ext>
            </a:extLst>
          </p:cNvPr>
          <p:cNvCxnSpPr>
            <a:cxnSpLocks/>
          </p:cNvCxnSpPr>
          <p:nvPr/>
        </p:nvCxnSpPr>
        <p:spPr>
          <a:xfrm>
            <a:off x="7110212" y="3256782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FF33F-3E77-B44C-9795-878F33C0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005" y="2804828"/>
            <a:ext cx="546100" cy="393700"/>
          </a:xfrm>
          <a:prstGeom prst="rect">
            <a:avLst/>
          </a:prstGeom>
        </p:spPr>
      </p:pic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CB2FDAC0-05F0-4B4D-9CB0-C78E769F6FE2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1670200" y="3682182"/>
            <a:ext cx="1253786" cy="4018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B86F98B-104E-D547-8CA8-2351657E5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004" y="2799583"/>
            <a:ext cx="368300" cy="3175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5D24E3-9EFB-FF41-89EB-756A3AD1A243}"/>
              </a:ext>
            </a:extLst>
          </p:cNvPr>
          <p:cNvCxnSpPr>
            <a:cxnSpLocks/>
          </p:cNvCxnSpPr>
          <p:nvPr/>
        </p:nvCxnSpPr>
        <p:spPr>
          <a:xfrm>
            <a:off x="3693634" y="3269975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D5EADE-F782-8943-97C1-3F62AFBFE855}"/>
              </a:ext>
            </a:extLst>
          </p:cNvPr>
          <p:cNvSpPr/>
          <p:nvPr/>
        </p:nvSpPr>
        <p:spPr>
          <a:xfrm>
            <a:off x="4324349" y="2789644"/>
            <a:ext cx="113658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Conca-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tenate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669766-AD5D-7C4C-B8E6-B58EA0E06CB9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3680791" y="3733863"/>
            <a:ext cx="1211852" cy="7761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5DDFDA0-8AA6-C346-8B12-20E169ECC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623" y="4112929"/>
            <a:ext cx="3810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9AC76-C8C9-3E4D-9693-4BD6F7655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079" y="2764184"/>
            <a:ext cx="546100" cy="3556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212E59B-354C-2441-AEFD-3ABB384BA333}"/>
              </a:ext>
            </a:extLst>
          </p:cNvPr>
          <p:cNvSpPr/>
          <p:nvPr/>
        </p:nvSpPr>
        <p:spPr>
          <a:xfrm>
            <a:off x="6005170" y="2822237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79D95A-68FD-464A-874A-77BE10AA9623}"/>
              </a:ext>
            </a:extLst>
          </p:cNvPr>
          <p:cNvCxnSpPr>
            <a:cxnSpLocks/>
          </p:cNvCxnSpPr>
          <p:nvPr/>
        </p:nvCxnSpPr>
        <p:spPr>
          <a:xfrm>
            <a:off x="5438632" y="3289375"/>
            <a:ext cx="57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62A3E30-DB26-B94C-991C-7423E2DB8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553" y="2773019"/>
            <a:ext cx="5461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300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9E8C0D-06B5-674C-9831-A0364C25E516}"/>
              </a:ext>
            </a:extLst>
          </p:cNvPr>
          <p:cNvSpPr/>
          <p:nvPr/>
        </p:nvSpPr>
        <p:spPr>
          <a:xfrm>
            <a:off x="2542493" y="2618823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A2BEA-3E86-7E4D-A358-474FC127FED1}"/>
              </a:ext>
            </a:extLst>
          </p:cNvPr>
          <p:cNvCxnSpPr>
            <a:cxnSpLocks/>
          </p:cNvCxnSpPr>
          <p:nvPr/>
        </p:nvCxnSpPr>
        <p:spPr>
          <a:xfrm>
            <a:off x="1767241" y="3085961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70640B-A9FD-C84B-B072-9D47A3BF3C37}"/>
              </a:ext>
            </a:extLst>
          </p:cNvPr>
          <p:cNvSpPr/>
          <p:nvPr/>
        </p:nvSpPr>
        <p:spPr>
          <a:xfrm>
            <a:off x="7788323" y="2613852"/>
            <a:ext cx="1637022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Diseño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Clasificador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37607F1-A474-3846-A13D-35C9B8143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539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Estrategia con PCA y SFS (4/4):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AA043B-3150-AC46-ABAD-873D6325289A}"/>
              </a:ext>
            </a:extLst>
          </p:cNvPr>
          <p:cNvCxnSpPr>
            <a:cxnSpLocks/>
          </p:cNvCxnSpPr>
          <p:nvPr/>
        </p:nvCxnSpPr>
        <p:spPr>
          <a:xfrm>
            <a:off x="9428563" y="3085267"/>
            <a:ext cx="379437" cy="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DC5605F-9064-864E-99BD-15B621F0D113}"/>
              </a:ext>
            </a:extLst>
          </p:cNvPr>
          <p:cNvSpPr/>
          <p:nvPr/>
        </p:nvSpPr>
        <p:spPr>
          <a:xfrm>
            <a:off x="9795646" y="2905471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00A33-AF31-014A-B259-26005ECB1876}"/>
              </a:ext>
            </a:extLst>
          </p:cNvPr>
          <p:cNvSpPr/>
          <p:nvPr/>
        </p:nvSpPr>
        <p:spPr>
          <a:xfrm>
            <a:off x="3533093" y="3853892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PCA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D700CE-6BC8-8541-9EE4-B5FE03A55A57}"/>
              </a:ext>
            </a:extLst>
          </p:cNvPr>
          <p:cNvCxnSpPr>
            <a:cxnSpLocks/>
          </p:cNvCxnSpPr>
          <p:nvPr/>
        </p:nvCxnSpPr>
        <p:spPr>
          <a:xfrm>
            <a:off x="7154672" y="3072768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FF33F-3E77-B44C-9795-878F33C0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465" y="2620814"/>
            <a:ext cx="546100" cy="393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86F98B-104E-D547-8CA8-2351657E5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464" y="2615569"/>
            <a:ext cx="368300" cy="3175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5D24E3-9EFB-FF41-89EB-756A3AD1A243}"/>
              </a:ext>
            </a:extLst>
          </p:cNvPr>
          <p:cNvCxnSpPr>
            <a:cxnSpLocks/>
          </p:cNvCxnSpPr>
          <p:nvPr/>
        </p:nvCxnSpPr>
        <p:spPr>
          <a:xfrm>
            <a:off x="3738094" y="3085961"/>
            <a:ext cx="64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AD5EADE-F782-8943-97C1-3F62AFBFE855}"/>
              </a:ext>
            </a:extLst>
          </p:cNvPr>
          <p:cNvSpPr/>
          <p:nvPr/>
        </p:nvSpPr>
        <p:spPr>
          <a:xfrm>
            <a:off x="4368809" y="2605630"/>
            <a:ext cx="113658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Conca-</a:t>
            </a:r>
          </a:p>
          <a:p>
            <a:pPr algn="ctr"/>
            <a:r>
              <a:rPr lang="es-ES_tradnl" sz="2000" dirty="0">
                <a:latin typeface="Gill Sans MT" panose="020B0502020104020203" pitchFamily="34" charset="77"/>
              </a:rPr>
              <a:t>tenate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669766-AD5D-7C4C-B8E6-B58EA0E06CB9}"/>
              </a:ext>
            </a:extLst>
          </p:cNvPr>
          <p:cNvCxnSpPr>
            <a:cxnSpLocks/>
            <a:stCxn id="16" idx="3"/>
            <a:endCxn id="20" idx="2"/>
          </p:cNvCxnSpPr>
          <p:nvPr/>
        </p:nvCxnSpPr>
        <p:spPr>
          <a:xfrm flipV="1">
            <a:off x="4715851" y="3549849"/>
            <a:ext cx="221252" cy="7761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5DDFDA0-8AA6-C346-8B12-20E169ECC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576" y="4006735"/>
            <a:ext cx="3810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9AC76-C8C9-3E4D-9693-4BD6F7655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539" y="2580170"/>
            <a:ext cx="546100" cy="35560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212E59B-354C-2441-AEFD-3ABB384BA333}"/>
              </a:ext>
            </a:extLst>
          </p:cNvPr>
          <p:cNvSpPr/>
          <p:nvPr/>
        </p:nvSpPr>
        <p:spPr>
          <a:xfrm>
            <a:off x="6049630" y="2638223"/>
            <a:ext cx="1182758" cy="9442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600" dirty="0">
                <a:latin typeface="Gill Sans MT" panose="020B0502020104020203" pitchFamily="34" charset="77"/>
              </a:rPr>
              <a:t>SFS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79D95A-68FD-464A-874A-77BE10AA9623}"/>
              </a:ext>
            </a:extLst>
          </p:cNvPr>
          <p:cNvCxnSpPr>
            <a:cxnSpLocks/>
          </p:cNvCxnSpPr>
          <p:nvPr/>
        </p:nvCxnSpPr>
        <p:spPr>
          <a:xfrm>
            <a:off x="5483092" y="3105361"/>
            <a:ext cx="57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62A3E30-DB26-B94C-991C-7423E2DB8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13" y="2589005"/>
            <a:ext cx="546100" cy="4572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EE1B0A-C95C-B993-C2AA-8B4274F86A92}"/>
              </a:ext>
            </a:extLst>
          </p:cNvPr>
          <p:cNvCxnSpPr>
            <a:cxnSpLocks/>
          </p:cNvCxnSpPr>
          <p:nvPr/>
        </p:nvCxnSpPr>
        <p:spPr>
          <a:xfrm rot="5400000">
            <a:off x="3703215" y="3460395"/>
            <a:ext cx="775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3115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5345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Transformaciones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8907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ICA</a:t>
            </a:r>
            <a:br>
              <a:rPr lang="en-US" dirty="0"/>
            </a:br>
            <a:r>
              <a:rPr lang="en-US" dirty="0"/>
              <a:t>(Independent Component Analysis)</a:t>
            </a:r>
          </a:p>
        </p:txBody>
      </p:sp>
    </p:spTree>
    <p:extLst>
      <p:ext uri="{BB962C8B-B14F-4D97-AF65-F5344CB8AC3E}">
        <p14:creationId xmlns:p14="http://schemas.microsoft.com/office/powerpoint/2010/main" val="20391936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E04693-E42F-AD45-BADA-05C270E2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436" y="288199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Diferencia de ICA con PCA: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DAE17-C883-CA4E-9C62-FB65FBF6CA30}"/>
              </a:ext>
            </a:extLst>
          </p:cNvPr>
          <p:cNvSpPr txBox="1"/>
          <p:nvPr/>
        </p:nvSpPr>
        <p:spPr>
          <a:xfrm>
            <a:off x="2676938" y="1510751"/>
            <a:ext cx="763369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PCA elimina correlaciones pero no otro tipo de dependencia.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ICA elimina correlaciones y dependencias de mayor orden.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En PCA se persigue que la covarianza entre las variables transformadas sea 0</a:t>
            </a:r>
          </a:p>
          <a:p>
            <a:pPr lvl="1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		</a:t>
            </a:r>
          </a:p>
          <a:p>
            <a:pPr lvl="1"/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	</a:t>
            </a:r>
          </a:p>
          <a:p>
            <a:endParaRPr lang="es-ES_tradnl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En ICA se persigue que la variables sean independientes: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2DAFB6-D6F8-F64C-A52E-22DFC1092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128" y="3857929"/>
            <a:ext cx="5357743" cy="331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DAB3E0-9990-6248-8E22-2B022F8FB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319" y="2812855"/>
            <a:ext cx="2181363" cy="36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94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EDAE17-C883-CA4E-9C62-FB65FBF6CA30}"/>
              </a:ext>
            </a:extLst>
          </p:cNvPr>
          <p:cNvSpPr txBox="1"/>
          <p:nvPr/>
        </p:nvSpPr>
        <p:spPr>
          <a:xfrm>
            <a:off x="2676937" y="1510752"/>
            <a:ext cx="4380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En PCA los vectores son ortogonales.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En ICA los vectores no son ortogonales.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F925D2-9D0D-C046-A083-54D4A0196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643" y="2519828"/>
            <a:ext cx="7394715" cy="32592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84F43-2773-C64E-8824-E5F66FDC0596}"/>
              </a:ext>
            </a:extLst>
          </p:cNvPr>
          <p:cNvSpPr txBox="1"/>
          <p:nvPr/>
        </p:nvSpPr>
        <p:spPr>
          <a:xfrm>
            <a:off x="1683027" y="6569766"/>
            <a:ext cx="5602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©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http://compneurosci.com/wiki/images/4/42/Intro_to_PCA_and_ICA.pdf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4464260-9D90-A661-63C1-DB7BE71BB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436" y="288199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Diferencia de ICA con PCA:</a:t>
            </a:r>
          </a:p>
        </p:txBody>
      </p:sp>
    </p:spTree>
    <p:extLst>
      <p:ext uri="{BB962C8B-B14F-4D97-AF65-F5344CB8AC3E}">
        <p14:creationId xmlns:p14="http://schemas.microsoft.com/office/powerpoint/2010/main" val="27348072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F09A-B37B-8048-A66C-28F4386B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PLSR</a:t>
            </a:r>
            <a:br>
              <a:rPr lang="en-US" dirty="0"/>
            </a:br>
            <a:r>
              <a:rPr lang="en-US" dirty="0"/>
              <a:t>(Partial Least Squares Regression)</a:t>
            </a:r>
          </a:p>
        </p:txBody>
      </p:sp>
    </p:spTree>
    <p:extLst>
      <p:ext uri="{BB962C8B-B14F-4D97-AF65-F5344CB8AC3E}">
        <p14:creationId xmlns:p14="http://schemas.microsoft.com/office/powerpoint/2010/main" val="20408369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E04693-E42F-AD45-BADA-05C270E2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251" y="43145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s-ES_tradnl" dirty="0">
                <a:solidFill>
                  <a:schemeClr val="accent2"/>
                </a:solidFill>
                <a:latin typeface="Gill Sans MT" panose="020B0502020104020203" pitchFamily="34" charset="77"/>
              </a:rPr>
              <a:t>Descomposición PLSR: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10643B-2ED8-354F-B425-C461AEEE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441" y="1958007"/>
            <a:ext cx="28702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A9F4D-536A-4B42-B9D0-073AA448B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691" y="2767494"/>
            <a:ext cx="2933700" cy="50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B1DAA-4F7C-3E45-9C34-37A887075240}"/>
              </a:ext>
            </a:extLst>
          </p:cNvPr>
          <p:cNvSpPr txBox="1"/>
          <p:nvPr/>
        </p:nvSpPr>
        <p:spPr>
          <a:xfrm>
            <a:off x="6215268" y="1958008"/>
            <a:ext cx="412734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sz="2800" dirty="0">
                <a:latin typeface="Gill Sans MT" panose="020B0502020104020203" pitchFamily="34" charset="77"/>
              </a:rPr>
              <a:t>: Matriz de características</a:t>
            </a:r>
          </a:p>
          <a:p>
            <a:endParaRPr lang="es-ES_tradnl" sz="2800" dirty="0">
              <a:latin typeface="Gill Sans MT" panose="020B0502020104020203" pitchFamily="34" charset="77"/>
            </a:endParaRPr>
          </a:p>
          <a:p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sz="2800" dirty="0">
                <a:latin typeface="Gill Sans MT" panose="020B0502020104020203" pitchFamily="34" charset="77"/>
              </a:rPr>
              <a:t>: Matriz de </a:t>
            </a:r>
            <a:r>
              <a:rPr lang="es-ES_tradnl" sz="2800" dirty="0" err="1">
                <a:latin typeface="Gill Sans MT" panose="020B0502020104020203" pitchFamily="34" charset="77"/>
              </a:rPr>
              <a:t>labels</a:t>
            </a:r>
            <a:r>
              <a:rPr lang="es-ES_tradnl" sz="2800" baseline="30000" dirty="0">
                <a:latin typeface="Gill Sans MT" panose="020B0502020104020203" pitchFamily="34" charset="77"/>
              </a:rPr>
              <a:t>(*)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A471F-15A6-ED49-9ECE-2BBA3F2445C4}"/>
              </a:ext>
            </a:extLst>
          </p:cNvPr>
          <p:cNvSpPr/>
          <p:nvPr/>
        </p:nvSpPr>
        <p:spPr>
          <a:xfrm>
            <a:off x="1762539" y="6166439"/>
            <a:ext cx="71661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baseline="30000" dirty="0">
                <a:latin typeface="Gill Sans MT" panose="020B0502020104020203" pitchFamily="34" charset="77"/>
              </a:rPr>
              <a:t>(*)</a:t>
            </a:r>
            <a:r>
              <a:rPr lang="es-ES_tradnl" dirty="0">
                <a:latin typeface="Gill Sans MT" panose="020B0502020104020203" pitchFamily="34" charset="77"/>
              </a:rPr>
              <a:t> Matriz binaria de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_tradnl" dirty="0">
                <a:latin typeface="Gill Sans MT" panose="020B0502020104020203" pitchFamily="34" charset="77"/>
              </a:rPr>
              <a:t> x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>
                <a:latin typeface="Gill Sans MT" panose="020B0502020104020203" pitchFamily="34" charset="77"/>
              </a:rPr>
              <a:t>,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_tradnl" dirty="0" err="1">
                <a:latin typeface="Gill Sans MT" panose="020B0502020104020203" pitchFamily="34" charset="77"/>
              </a:rPr>
              <a:t>,</a:t>
            </a:r>
            <a:r>
              <a:rPr lang="es-ES_tradnl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>
                <a:latin typeface="Gill Sans MT" panose="020B0502020104020203" pitchFamily="34" charset="77"/>
              </a:rPr>
              <a:t>) = 1 </a:t>
            </a:r>
            <a:r>
              <a:rPr lang="es-ES_tradnl" dirty="0" err="1">
                <a:latin typeface="Gill Sans MT" panose="020B0502020104020203" pitchFamily="34" charset="77"/>
              </a:rPr>
              <a:t>if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_tradnl" dirty="0">
                <a:latin typeface="Gill Sans MT" panose="020B0502020104020203" pitchFamily="34" charset="77"/>
              </a:rPr>
              <a:t>) =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>
                <a:latin typeface="Gill Sans MT" panose="020B0502020104020203" pitchFamily="34" charset="77"/>
              </a:rPr>
              <a:t>, con </a:t>
            </a:r>
            <a:r>
              <a:rPr lang="es-ES_tradn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_tradnl" dirty="0">
                <a:latin typeface="Gill Sans MT" panose="020B0502020104020203" pitchFamily="34" charset="77"/>
              </a:rPr>
              <a:t> número de clases </a:t>
            </a:r>
            <a:endParaRPr lang="es-ES_tradnl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5820C-DE8A-B841-8405-9367E56E22C5}"/>
              </a:ext>
            </a:extLst>
          </p:cNvPr>
          <p:cNvSpPr txBox="1"/>
          <p:nvPr/>
        </p:nvSpPr>
        <p:spPr>
          <a:xfrm>
            <a:off x="2299251" y="3726555"/>
            <a:ext cx="78320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Las descomposiciones de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dirty="0">
                <a:latin typeface="Gill Sans MT" panose="020B0502020104020203" pitchFamily="34" charset="77"/>
              </a:rPr>
              <a:t> e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_tradnl" dirty="0">
                <a:latin typeface="Gill Sans MT" panose="020B0502020104020203" pitchFamily="34" charset="77"/>
              </a:rPr>
              <a:t> se hacen con el fin de maximizar la covarianza entre 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s-ES_tradnl" dirty="0">
                <a:latin typeface="Gill Sans MT" panose="020B0502020104020203" pitchFamily="34" charset="77"/>
              </a:rPr>
              <a:t> y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s-ES_tradnl" dirty="0">
                <a:latin typeface="Gill Sans MT" panose="020B0502020104020203" pitchFamily="34" charset="77"/>
              </a:rPr>
              <a:t>.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r>
              <a:rPr lang="es-ES_tradnl" dirty="0">
                <a:latin typeface="Gill Sans MT" panose="020B0502020104020203" pitchFamily="34" charset="77"/>
              </a:rPr>
              <a:t>Las matrices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_tradnl" dirty="0">
                <a:latin typeface="Gill Sans MT" panose="020B0502020104020203" pitchFamily="34" charset="77"/>
              </a:rPr>
              <a:t> y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ES_tradnl" dirty="0">
                <a:latin typeface="Gill Sans MT" panose="020B0502020104020203" pitchFamily="34" charset="77"/>
              </a:rPr>
              <a:t> son ortogonales. Las matrices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ES_tradnl" dirty="0">
                <a:latin typeface="Gill Sans MT" panose="020B0502020104020203" pitchFamily="34" charset="77"/>
              </a:rPr>
              <a:t> y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s-ES_tradnl" dirty="0">
                <a:latin typeface="Gill Sans MT" panose="020B0502020104020203" pitchFamily="34" charset="77"/>
              </a:rPr>
              <a:t> corresponden al error.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r>
              <a:rPr lang="es-ES_tradnl" dirty="0">
                <a:latin typeface="Gill Sans MT" panose="020B0502020104020203" pitchFamily="34" charset="77"/>
              </a:rPr>
              <a:t>La idea es buscar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, que es la transformada de </a:t>
            </a:r>
            <a:r>
              <a:rPr lang="es-ES_tradn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_tradnl" dirty="0">
                <a:latin typeface="Gill Sans MT" panose="020B0502020104020203" pitchFamily="34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5345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1572</Words>
  <Application>Microsoft Macintosh PowerPoint</Application>
  <PresentationFormat>Widescreen</PresentationFormat>
  <Paragraphs>564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Consolas</vt:lpstr>
      <vt:lpstr>Courier</vt:lpstr>
      <vt:lpstr>Gill Sans MT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TRANSFORMACIÓN KARHUNEN-LOEVE (1947)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Significado de PCA</vt:lpstr>
      <vt:lpstr>PowerPoint Presentation</vt:lpstr>
      <vt:lpstr>PowerPoint Presentation</vt:lpstr>
      <vt:lpstr>PowerPoint Presentation</vt:lpstr>
      <vt:lpstr>Significado  en la Transformación de Características</vt:lpstr>
      <vt:lpstr>PowerPoint Presentation</vt:lpstr>
      <vt:lpstr>PowerPoint Presentation</vt:lpstr>
      <vt:lpstr>Significado de PCA:</vt:lpstr>
      <vt:lpstr>Aplicación de PCA en el Reconocimiento de Patrones</vt:lpstr>
      <vt:lpstr>Estrategia con PCA:</vt:lpstr>
      <vt:lpstr>Training</vt:lpstr>
      <vt:lpstr>Training / Testing</vt:lpstr>
      <vt:lpstr>Training / Testing</vt:lpstr>
      <vt:lpstr>Ventajas de PCA:</vt:lpstr>
      <vt:lpstr>Reconstrucción con PCA:</vt:lpstr>
      <vt:lpstr>Reconstrucción con PCA:</vt:lpstr>
      <vt:lpstr>Desventajas de PCA:</vt:lpstr>
      <vt:lpstr>Alternativas</vt:lpstr>
      <vt:lpstr>Estrategia con PCA (original):</vt:lpstr>
      <vt:lpstr>Estrategia con PCA y SFS (1/4):</vt:lpstr>
      <vt:lpstr>Estrategia con PCA y SFS (2/4):</vt:lpstr>
      <vt:lpstr>Estrategia con PCA y SFS (3/4):</vt:lpstr>
      <vt:lpstr>Estrategia con PCA y SFS (4/4):</vt:lpstr>
      <vt:lpstr>Otras Transformaciones</vt:lpstr>
      <vt:lpstr>ICA (Independent Component Analysis)</vt:lpstr>
      <vt:lpstr>Diferencia de ICA con PCA:</vt:lpstr>
      <vt:lpstr>Diferencia de ICA con PCA:</vt:lpstr>
      <vt:lpstr>PLSR (Partial Least Squares Regression)</vt:lpstr>
      <vt:lpstr>Descomposición PLSR: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23</cp:revision>
  <dcterms:created xsi:type="dcterms:W3CDTF">2026-03-08T16:41:49Z</dcterms:created>
  <dcterms:modified xsi:type="dcterms:W3CDTF">2026-04-28T19:19:20Z</dcterms:modified>
</cp:coreProperties>
</file>