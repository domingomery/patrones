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7" r:id="rId2"/>
    <p:sldId id="333" r:id="rId3"/>
    <p:sldId id="334" r:id="rId4"/>
    <p:sldId id="335" r:id="rId5"/>
    <p:sldId id="354" r:id="rId6"/>
    <p:sldId id="492" r:id="rId7"/>
    <p:sldId id="493" r:id="rId8"/>
    <p:sldId id="353" r:id="rId9"/>
    <p:sldId id="345" r:id="rId10"/>
    <p:sldId id="343" r:id="rId11"/>
    <p:sldId id="342" r:id="rId12"/>
    <p:sldId id="341" r:id="rId13"/>
    <p:sldId id="355" r:id="rId14"/>
    <p:sldId id="358" r:id="rId15"/>
    <p:sldId id="336" r:id="rId16"/>
    <p:sldId id="337" r:id="rId17"/>
    <p:sldId id="338" r:id="rId18"/>
    <p:sldId id="487" r:id="rId19"/>
    <p:sldId id="488" r:id="rId20"/>
    <p:sldId id="489" r:id="rId21"/>
    <p:sldId id="339" r:id="rId22"/>
    <p:sldId id="491" r:id="rId23"/>
    <p:sldId id="344" r:id="rId24"/>
    <p:sldId id="348" r:id="rId25"/>
    <p:sldId id="357" r:id="rId26"/>
    <p:sldId id="356" r:id="rId27"/>
    <p:sldId id="346" r:id="rId28"/>
    <p:sldId id="347" r:id="rId29"/>
    <p:sldId id="352" r:id="rId30"/>
    <p:sldId id="349" r:id="rId31"/>
    <p:sldId id="351" r:id="rId32"/>
    <p:sldId id="486" r:id="rId33"/>
    <p:sldId id="447" r:id="rId34"/>
    <p:sldId id="474" r:id="rId35"/>
    <p:sldId id="475" r:id="rId36"/>
    <p:sldId id="484" r:id="rId37"/>
    <p:sldId id="481" r:id="rId38"/>
    <p:sldId id="482" r:id="rId39"/>
    <p:sldId id="485" r:id="rId40"/>
    <p:sldId id="483" r:id="rId41"/>
    <p:sldId id="476" r:id="rId42"/>
    <p:sldId id="477" r:id="rId43"/>
    <p:sldId id="478" r:id="rId44"/>
    <p:sldId id="479" r:id="rId4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37"/>
    <p:restoredTop sz="94658"/>
  </p:normalViewPr>
  <p:slideViewPr>
    <p:cSldViewPr snapToGrid="0">
      <p:cViewPr varScale="1">
        <p:scale>
          <a:sx n="89" d="100"/>
          <a:sy n="89" d="100"/>
        </p:scale>
        <p:origin x="1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04-06-26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5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C2E5-2936-1440-B883-1849C4E4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56E4F-CC82-5BE0-9784-9F4C134E7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B12FF-F5E2-3A6F-8A05-55D04EEE0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FFB8C-FD93-44A8-DDD6-18ECB2594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0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B83F-81E6-2473-6476-3B65AC8B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E4F79-5FB0-BAAB-9BAC-339095DFC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A03FD-4F04-24AB-7A43-09A13F0FE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1F4EF-1639-3B69-24E4-AC3A331A9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45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979C-EEAF-5923-1D87-66D58048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41513-79B4-F2AB-2D85-2B8724A0B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AB85A-8E28-5711-F763-1E57CCB7B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29FFC-08B7-E91A-EF1E-ABD66D6AA5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47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2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22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82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5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04-06-26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04-06-26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png"/><Relationship Id="rId7" Type="http://schemas.openxmlformats.org/officeDocument/2006/relationships/image" Target="../media/image28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Relationship Id="rId9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309539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Performance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V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8AA27-77C8-10F5-0709-2ACA67E4C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781" y="2739696"/>
            <a:ext cx="4389046" cy="34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6152" y="1306171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152" y="2946064"/>
            <a:ext cx="10566412" cy="20320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5DD59E-61A1-184B-A324-CCE4C5D8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4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00025"/>
              </p:ext>
            </p:extLst>
          </p:nvPr>
        </p:nvGraphicFramePr>
        <p:xfrm>
          <a:off x="3443785" y="2966493"/>
          <a:ext cx="6096000" cy="222504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...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b="0" i="0" dirty="0">
                        <a:solidFill>
                          <a:schemeClr val="tx1"/>
                        </a:solidFill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68" y="3067143"/>
            <a:ext cx="279400" cy="177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222" y="3820045"/>
            <a:ext cx="279400" cy="17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354" y="3060790"/>
            <a:ext cx="292100" cy="19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516" y="4195824"/>
            <a:ext cx="292100" cy="19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422" y="3053494"/>
            <a:ext cx="381000" cy="177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090" y="4909592"/>
            <a:ext cx="381000" cy="177800"/>
          </a:xfrm>
          <a:prstGeom prst="rect">
            <a:avLst/>
          </a:prstGeom>
        </p:spPr>
      </p:pic>
      <p:sp>
        <p:nvSpPr>
          <p:cNvPr id="13" name="Left Brace 12"/>
          <p:cNvSpPr/>
          <p:nvPr/>
        </p:nvSpPr>
        <p:spPr>
          <a:xfrm rot="5400000">
            <a:off x="6914100" y="113559"/>
            <a:ext cx="182564" cy="50324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2916069" y="3367773"/>
            <a:ext cx="254758" cy="18237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0022" y="1945566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2391055" y="4079112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EE2BC-6103-D74F-8501-4A9A89A7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C19FD-D5E6-27EE-D2B5-67341E3E6D7C}"/>
              </a:ext>
            </a:extLst>
          </p:cNvPr>
          <p:cNvSpPr txBox="1"/>
          <p:nvPr/>
        </p:nvSpPr>
        <p:spPr>
          <a:xfrm>
            <a:off x="1196152" y="1306171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1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116656"/>
              </p:ext>
            </p:extLst>
          </p:nvPr>
        </p:nvGraphicFramePr>
        <p:xfrm>
          <a:off x="3443785" y="2966493"/>
          <a:ext cx="6096000" cy="222504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...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1230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78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66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890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59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95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1527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b="0" i="0" dirty="0">
                        <a:solidFill>
                          <a:schemeClr val="tx1"/>
                        </a:solidFill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40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67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129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912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68" y="3067143"/>
            <a:ext cx="279400" cy="177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222" y="3820045"/>
            <a:ext cx="279400" cy="17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354" y="3060790"/>
            <a:ext cx="292100" cy="19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516" y="4195824"/>
            <a:ext cx="292100" cy="19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422" y="3053494"/>
            <a:ext cx="381000" cy="177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090" y="4909592"/>
            <a:ext cx="381000" cy="177800"/>
          </a:xfrm>
          <a:prstGeom prst="rect">
            <a:avLst/>
          </a:prstGeom>
        </p:spPr>
      </p:pic>
      <p:sp>
        <p:nvSpPr>
          <p:cNvPr id="13" name="Left Brace 12"/>
          <p:cNvSpPr/>
          <p:nvPr/>
        </p:nvSpPr>
        <p:spPr>
          <a:xfrm rot="5400000">
            <a:off x="6914100" y="113559"/>
            <a:ext cx="182564" cy="50324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2916069" y="3367773"/>
            <a:ext cx="254758" cy="18237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387319" y="3299533"/>
            <a:ext cx="6134275" cy="2978143"/>
            <a:chOff x="1863318" y="3299532"/>
            <a:chExt cx="6134275" cy="2978143"/>
          </a:xfrm>
        </p:grpSpPr>
        <p:sp>
          <p:nvSpPr>
            <p:cNvPr id="17" name="Oval 16"/>
            <p:cNvSpPr/>
            <p:nvPr/>
          </p:nvSpPr>
          <p:spPr>
            <a:xfrm>
              <a:off x="5176578" y="3299532"/>
              <a:ext cx="596422" cy="4522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63318" y="5631344"/>
              <a:ext cx="6134275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Ejemplo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: hay 78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muestras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de la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clase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>
                  <a:latin typeface="Times New Roman" panose="02020603050405020304" pitchFamily="18" charset="0"/>
                  <a:ea typeface="Trebuchet MS" charset="0"/>
                  <a:cs typeface="Times New Roman" panose="02020603050405020304" pitchFamily="18" charset="0"/>
                </a:rPr>
                <a:t>1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que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han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sido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clasificadas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como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clase</a:t>
              </a:r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 3.</a:t>
              </a:r>
            </a:p>
          </p:txBody>
        </p:sp>
        <p:cxnSp>
          <p:nvCxnSpPr>
            <p:cNvPr id="20" name="Straight Arrow Connector 19"/>
            <p:cNvCxnSpPr>
              <a:cxnSpLocks/>
              <a:stCxn id="17" idx="3"/>
            </p:cNvCxnSpPr>
            <p:nvPr/>
          </p:nvCxnSpPr>
          <p:spPr>
            <a:xfrm flipH="1">
              <a:off x="2865863" y="3685571"/>
              <a:ext cx="2398059" cy="19457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D4D6A-F282-FB4A-A7DC-FB868C4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096B1-F717-F4CC-6D72-8CABC0663D95}"/>
              </a:ext>
            </a:extLst>
          </p:cNvPr>
          <p:cNvSpPr txBox="1"/>
          <p:nvPr/>
        </p:nvSpPr>
        <p:spPr>
          <a:xfrm>
            <a:off x="6280022" y="1945566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397A11-007C-5CCE-E738-8B452502CB5E}"/>
              </a:ext>
            </a:extLst>
          </p:cNvPr>
          <p:cNvSpPr txBox="1"/>
          <p:nvPr/>
        </p:nvSpPr>
        <p:spPr>
          <a:xfrm rot="16200000">
            <a:off x="2391055" y="4079112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2B208-1F9E-869C-46DD-CFF6A51A86AE}"/>
              </a:ext>
            </a:extLst>
          </p:cNvPr>
          <p:cNvSpPr txBox="1"/>
          <p:nvPr/>
        </p:nvSpPr>
        <p:spPr>
          <a:xfrm>
            <a:off x="1196152" y="1306171"/>
            <a:ext cx="3159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37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3514" y="2101519"/>
            <a:ext cx="671215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Gill Sans MT" panose="020B0502020104020203" pitchFamily="34" charset="77"/>
              </a:rPr>
              <a:t>Detección</a:t>
            </a:r>
            <a:endParaRPr lang="en-US" sz="6000" dirty="0">
              <a:latin typeface="Gill Sans MT" panose="020B0502020104020203" pitchFamily="34" charset="77"/>
            </a:endParaRPr>
          </a:p>
          <a:p>
            <a:pPr algn="ctr"/>
            <a:r>
              <a:rPr lang="es-419" sz="6000" dirty="0">
                <a:latin typeface="Gill Sans MT" panose="020B0502020104020203" pitchFamily="34" charset="77"/>
              </a:rPr>
              <a:t>Problema de 2 clases</a:t>
            </a:r>
            <a:endParaRPr lang="en-US" sz="6000" dirty="0">
              <a:latin typeface="Gill Sans MT" panose="020B0502020104020203" pitchFamily="34" charset="77"/>
            </a:endParaRP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38634C-7D74-4D4B-ACD2-DB8C500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CBDBE0-3C5C-3763-7B68-043B487C9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4773"/>
            <a:ext cx="7772400" cy="604998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08A0A6-2B91-ADB8-9C6F-B8F791C40AF1}"/>
              </a:ext>
            </a:extLst>
          </p:cNvPr>
          <p:cNvCxnSpPr/>
          <p:nvPr/>
        </p:nvCxnSpPr>
        <p:spPr>
          <a:xfrm>
            <a:off x="9982200" y="6643688"/>
            <a:ext cx="962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FC25EF-3ED8-60FC-3491-FC1F3D76F9C3}"/>
              </a:ext>
            </a:extLst>
          </p:cNvPr>
          <p:cNvCxnSpPr>
            <a:cxnSpLocks/>
          </p:cNvCxnSpPr>
          <p:nvPr/>
        </p:nvCxnSpPr>
        <p:spPr>
          <a:xfrm flipV="1">
            <a:off x="1819275" y="414773"/>
            <a:ext cx="0" cy="909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600885-C5CC-F284-109B-D40C8386E767}"/>
              </a:ext>
            </a:extLst>
          </p:cNvPr>
          <p:cNvSpPr txBox="1"/>
          <p:nvPr/>
        </p:nvSpPr>
        <p:spPr>
          <a:xfrm>
            <a:off x="1271588" y="77152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x</a:t>
            </a:r>
            <a:r>
              <a:rPr lang="en-CL" baseline="-250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E11EA-A63B-6576-EB30-ACDFF9D9A5C8}"/>
              </a:ext>
            </a:extLst>
          </p:cNvPr>
          <p:cNvSpPr txBox="1"/>
          <p:nvPr/>
        </p:nvSpPr>
        <p:spPr>
          <a:xfrm>
            <a:off x="10372724" y="618489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x</a:t>
            </a:r>
            <a:r>
              <a:rPr lang="en-CL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51E7F-B4AB-2B81-D85C-5E745A4F4D34}"/>
              </a:ext>
            </a:extLst>
          </p:cNvPr>
          <p:cNvSpPr txBox="1"/>
          <p:nvPr/>
        </p:nvSpPr>
        <p:spPr>
          <a:xfrm>
            <a:off x="10453746" y="546426"/>
            <a:ext cx="933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Ground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Truth</a:t>
            </a:r>
          </a:p>
        </p:txBody>
      </p:sp>
    </p:spTree>
    <p:extLst>
      <p:ext uri="{BB962C8B-B14F-4D97-AF65-F5344CB8AC3E}">
        <p14:creationId xmlns:p14="http://schemas.microsoft.com/office/powerpoint/2010/main" val="168369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E405-F3BD-140C-63C5-C44CB66E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EAE35E-7E1C-1FD0-5921-40610C728D25}"/>
              </a:ext>
            </a:extLst>
          </p:cNvPr>
          <p:cNvCxnSpPr/>
          <p:nvPr/>
        </p:nvCxnSpPr>
        <p:spPr>
          <a:xfrm>
            <a:off x="9982200" y="6643688"/>
            <a:ext cx="962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A718FC-9E52-15E5-6780-BDC4742B49B4}"/>
              </a:ext>
            </a:extLst>
          </p:cNvPr>
          <p:cNvCxnSpPr>
            <a:cxnSpLocks/>
          </p:cNvCxnSpPr>
          <p:nvPr/>
        </p:nvCxnSpPr>
        <p:spPr>
          <a:xfrm flipV="1">
            <a:off x="1819275" y="414773"/>
            <a:ext cx="0" cy="909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1D24EE-51E1-F1C1-19BF-3AA49B56D822}"/>
              </a:ext>
            </a:extLst>
          </p:cNvPr>
          <p:cNvSpPr txBox="1"/>
          <p:nvPr/>
        </p:nvSpPr>
        <p:spPr>
          <a:xfrm>
            <a:off x="1271588" y="77152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x</a:t>
            </a:r>
            <a:r>
              <a:rPr lang="en-CL" baseline="-250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C3CA0-B62B-9C79-6DF8-50BB356AC748}"/>
              </a:ext>
            </a:extLst>
          </p:cNvPr>
          <p:cNvSpPr txBox="1"/>
          <p:nvPr/>
        </p:nvSpPr>
        <p:spPr>
          <a:xfrm>
            <a:off x="10372724" y="618489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x</a:t>
            </a:r>
            <a:r>
              <a:rPr lang="en-CL" baseline="-25000" dirty="0"/>
              <a:t>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6A054B-2471-D1C0-DAB7-FE889A92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4773"/>
            <a:ext cx="7772400" cy="60284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0AD740-022C-875D-6BA8-A78CD521BF19}"/>
              </a:ext>
            </a:extLst>
          </p:cNvPr>
          <p:cNvSpPr txBox="1"/>
          <p:nvPr/>
        </p:nvSpPr>
        <p:spPr>
          <a:xfrm>
            <a:off x="10344774" y="546426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Detección</a:t>
            </a:r>
          </a:p>
        </p:txBody>
      </p:sp>
    </p:spTree>
    <p:extLst>
      <p:ext uri="{BB962C8B-B14F-4D97-AF65-F5344CB8AC3E}">
        <p14:creationId xmlns:p14="http://schemas.microsoft.com/office/powerpoint/2010/main" val="272048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549570" y="3530279"/>
            <a:ext cx="0" cy="1840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471502" y="6355352"/>
            <a:ext cx="1167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45235" y="615773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3859" y="65637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1526" y="303449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8947" y="3615351"/>
            <a:ext cx="2953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class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  <a:p>
            <a:r>
              <a:rPr lang="en-US" i="1" dirty="0">
                <a:solidFill>
                  <a:srgbClr val="FF000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(</a:t>
            </a:r>
            <a:r>
              <a:rPr lang="en-US" i="1" dirty="0" err="1">
                <a:solidFill>
                  <a:srgbClr val="FF000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clase</a:t>
            </a:r>
            <a:r>
              <a:rPr lang="en-US" i="1" dirty="0">
                <a:solidFill>
                  <a:srgbClr val="FF000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 positive – Ground Truth)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56899" y="3812482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94FAD-3FF2-A146-BD84-6E869ED5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96244" y="394150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6301" y="1058118"/>
            <a:ext cx="3817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(P)
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8897" y="3879724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2894723" y="4249057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81B350-B799-DC41-A594-821526EC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DD06C-3498-A4FC-B39D-85CF4C909785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5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27668" y="5991371"/>
            <a:ext cx="326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usando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un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clasificador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68139" y="2796883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 (D)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6544302" y="316621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98897" y="3879724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2894723" y="4249057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9EC51D-8E69-7248-B6D2-713DC2C7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E4155-9271-8466-9555-4D70A3EBB7AD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6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68139" y="2796883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 (D)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6544302" y="316621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98897" y="3879724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2894723" y="4249057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57C8D-E7AC-7B4F-8595-3EA8B512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2C8E4-547B-5A1B-54B3-C82FE7A3A44F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0E890-9B5E-8234-DFDB-1096CA8C876E}"/>
              </a:ext>
            </a:extLst>
          </p:cNvPr>
          <p:cNvSpPr txBox="1"/>
          <p:nvPr/>
        </p:nvSpPr>
        <p:spPr>
          <a:xfrm>
            <a:off x="4427668" y="5991371"/>
            <a:ext cx="326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usando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un 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clasificador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3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D98C5-FF0D-884F-9493-F438E9BB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12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31F7A4-785B-8641-A05F-7AAC3DE1D68A}"/>
              </a:ext>
            </a:extLst>
          </p:cNvPr>
          <p:cNvSpPr txBox="1"/>
          <p:nvPr/>
        </p:nvSpPr>
        <p:spPr>
          <a:xfrm>
            <a:off x="8468139" y="2796883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 (D)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2317E2-7C9B-B648-BE61-96D87F389CFB}"/>
              </a:ext>
            </a:extLst>
          </p:cNvPr>
          <p:cNvCxnSpPr/>
          <p:nvPr/>
        </p:nvCxnSpPr>
        <p:spPr>
          <a:xfrm flipH="1">
            <a:off x="6544302" y="316621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C45CFA-9B61-3443-A594-9D1F0E21F685}"/>
              </a:ext>
            </a:extLst>
          </p:cNvPr>
          <p:cNvSpPr txBox="1"/>
          <p:nvPr/>
        </p:nvSpPr>
        <p:spPr>
          <a:xfrm>
            <a:off x="1898897" y="3879724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326107-3E36-BA42-A9DE-6CFF3C948475}"/>
              </a:ext>
            </a:extLst>
          </p:cNvPr>
          <p:cNvCxnSpPr/>
          <p:nvPr/>
        </p:nvCxnSpPr>
        <p:spPr>
          <a:xfrm flipH="1">
            <a:off x="2894723" y="4249057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6000AC-D2AD-0BBC-E293-1873B51076A9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893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26813" y="3954021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25375" y="452950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066" y="3710637"/>
            <a:ext cx="409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7267" y="5132281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96049-3F14-BD40-A92C-530C6871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92C53-EE4B-1543-AE12-F65300307ED6}"/>
              </a:ext>
            </a:extLst>
          </p:cNvPr>
          <p:cNvSpPr txBox="1"/>
          <p:nvPr/>
        </p:nvSpPr>
        <p:spPr>
          <a:xfrm>
            <a:off x="8468139" y="2796883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Detección (D)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97CBA2-9102-AA44-8267-989B6DD9E0CA}"/>
              </a:ext>
            </a:extLst>
          </p:cNvPr>
          <p:cNvCxnSpPr/>
          <p:nvPr/>
        </p:nvCxnSpPr>
        <p:spPr>
          <a:xfrm flipH="1">
            <a:off x="6544302" y="316621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650D91-183D-4D45-8FC1-DA3ED99C9EB8}"/>
              </a:ext>
            </a:extLst>
          </p:cNvPr>
          <p:cNvSpPr txBox="1"/>
          <p:nvPr/>
        </p:nvSpPr>
        <p:spPr>
          <a:xfrm>
            <a:off x="1898897" y="3879724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6D8BF6-3D0A-D14B-AB48-538A08DECA65}"/>
              </a:ext>
            </a:extLst>
          </p:cNvPr>
          <p:cNvCxnSpPr/>
          <p:nvPr/>
        </p:nvCxnSpPr>
        <p:spPr>
          <a:xfrm flipH="1">
            <a:off x="2894723" y="4249057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1118ED-642C-95DF-2BC1-913B65CA8A8C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E5B607-05CC-A12A-2E21-39F345D7F636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0F4EB1-ADB2-265F-FA41-1E125FE45A05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F2DEA8-5B1E-67A8-6C78-8962B49C6BB6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1455FC-EB77-697C-E36B-591791ED23A9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78142B-2BC5-496F-E8B0-0FA79B3C5B25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10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43549" y="822391"/>
            <a:ext cx="9236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Gill Sans MT" panose="020B0502020104020203" pitchFamily="34" charset="77"/>
              </a:rPr>
              <a:t>IDEAL</a:t>
            </a:r>
          </a:p>
          <a:p>
            <a:pPr algn="ctr"/>
            <a:r>
              <a:rPr lang="es-ES" sz="2000" dirty="0">
                <a:latin typeface="Gill Sans MT" panose="020B0502020104020203" pitchFamily="34" charset="77"/>
              </a:rPr>
              <a:t>FN = 0</a:t>
            </a:r>
          </a:p>
          <a:p>
            <a:pPr algn="ctr"/>
            <a:r>
              <a:rPr lang="es-ES" sz="2000" dirty="0">
                <a:latin typeface="Gill Sans MT" panose="020B0502020104020203" pitchFamily="34" charset="77"/>
              </a:rPr>
              <a:t>FP = 0</a:t>
            </a:r>
            <a:endParaRPr lang="en-US" sz="2000" dirty="0">
              <a:latin typeface="Gill Sans MT" panose="020B0502020104020203" pitchFamily="34" charset="77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</a:rPr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457453" y="3986282"/>
            <a:ext cx="1160059" cy="1269238"/>
            <a:chOff x="2388361" y="2169997"/>
            <a:chExt cx="4285397" cy="3766782"/>
          </a:xfrm>
        </p:grpSpPr>
        <p:sp>
          <p:nvSpPr>
            <p:cNvPr id="8" name="Rectangle 7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2665734" y="2406313"/>
              <a:ext cx="3421845" cy="3024829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169559" y="3977800"/>
            <a:ext cx="1160059" cy="1269238"/>
            <a:chOff x="2388361" y="2169997"/>
            <a:chExt cx="4285397" cy="3766782"/>
          </a:xfrm>
        </p:grpSpPr>
        <p:sp>
          <p:nvSpPr>
            <p:cNvPr id="15" name="Rectangle 14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3928794" y="3555480"/>
              <a:ext cx="981831" cy="952007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816243" y="3529263"/>
            <a:ext cx="191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Sin </a:t>
            </a:r>
            <a:r>
              <a:rPr lang="en-US" dirty="0" err="1">
                <a:latin typeface="Gill Sans MT" panose="020B0502020104020203" pitchFamily="34" charset="77"/>
              </a:rPr>
              <a:t>falsos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positivos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95357" y="3331470"/>
            <a:ext cx="2143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 </a:t>
            </a:r>
            <a:r>
              <a:rPr lang="en-US" dirty="0" err="1">
                <a:latin typeface="Gill Sans MT" panose="020B0502020104020203" pitchFamily="34" charset="77"/>
              </a:rPr>
              <a:t>detectan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</a:t>
            </a: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positivas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30668" y="5342023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Sin falsas </a:t>
            </a:r>
            <a:r>
              <a:rPr lang="en-US" dirty="0" err="1">
                <a:latin typeface="Gill Sans MT" panose="020B0502020104020203" pitchFamily="34" charset="77"/>
              </a:rPr>
              <a:t>alarmas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9046" y="5342023"/>
            <a:ext cx="178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Todos </a:t>
            </a:r>
            <a:r>
              <a:rPr lang="en-US" dirty="0" err="1">
                <a:latin typeface="Gill Sans MT" panose="020B0502020104020203" pitchFamily="34" charset="77"/>
              </a:rPr>
              <a:t>los</a:t>
            </a:r>
            <a:r>
              <a:rPr lang="en-US" dirty="0">
                <a:latin typeface="Gill Sans MT" panose="020B0502020104020203" pitchFamily="34" charset="77"/>
              </a:rPr>
              <a:t> targets</a:t>
            </a: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detectados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08189" y="3233074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Extremo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6675" y="2948022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Extremo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491209" y="3986282"/>
            <a:ext cx="1160059" cy="1269238"/>
            <a:chOff x="2388361" y="2169997"/>
            <a:chExt cx="4285397" cy="3766782"/>
          </a:xfrm>
        </p:grpSpPr>
        <p:sp>
          <p:nvSpPr>
            <p:cNvPr id="32" name="Rectangle 31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3153716" y="2907804"/>
              <a:ext cx="2388869" cy="192109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110522" y="5350045"/>
            <a:ext cx="1988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Realidad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Compromiso</a:t>
            </a:r>
            <a:r>
              <a:rPr lang="en-US" dirty="0">
                <a:latin typeface="Gill Sans MT" panose="020B0502020104020203" pitchFamily="34" charset="77"/>
              </a:rPr>
              <a:t> entre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FP y 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74A74-C055-C34E-9165-A751EA64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E4E38-1435-E212-FB4C-05F4CD708368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6DC68-961F-B7E8-9185-6F5646358D36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617D71-5374-23FD-BB7B-F16D314A94DB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99279C-DAF4-301F-518F-E630B81CC784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4AB3F8-78B5-E474-BD58-68C392540EE5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823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751790"/>
              </p:ext>
            </p:extLst>
          </p:nvPr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/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F632C-917F-734B-97BC-CFC2C38B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B2B06-EB15-8B49-0F22-557FF8DE4D40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CCA62-7EC9-4038-8E62-2BD52EFDCCB3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AE7C0-625F-0BDF-8BD8-ED7F42F0D88F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8B5AB-CF3A-85B5-2FB3-D02CCA045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440457"/>
            <a:ext cx="9144000" cy="2215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538C09-9102-448B-BC86-35099DB92130}"/>
              </a:ext>
            </a:extLst>
          </p:cNvPr>
          <p:cNvSpPr txBox="1"/>
          <p:nvPr/>
        </p:nvSpPr>
        <p:spPr>
          <a:xfrm>
            <a:off x="2629470" y="5830446"/>
            <a:ext cx="16240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" charset="0"/>
                <a:cs typeface="Times New Roman" panose="02020603050405020304" pitchFamily="18" charset="0"/>
              </a:rPr>
              <a:t>Negative (FN):</a:t>
            </a:r>
          </a:p>
        </p:txBody>
      </p:sp>
    </p:spTree>
    <p:extLst>
      <p:ext uri="{BB962C8B-B14F-4D97-AF65-F5344CB8AC3E}">
        <p14:creationId xmlns:p14="http://schemas.microsoft.com/office/powerpoint/2010/main" val="174536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777876"/>
              </p:ext>
            </p:extLst>
          </p:nvPr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/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440457"/>
            <a:ext cx="9144000" cy="22154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29470" y="5830446"/>
            <a:ext cx="16240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" charset="0"/>
                <a:cs typeface="Times New Roman" panose="02020603050405020304" pitchFamily="18" charset="0"/>
              </a:rPr>
              <a:t>Negative (FN):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D5FB4F-BC80-DF4E-8619-5E4AE8AF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334D8-32C8-EF46-B15E-701F608067B7}"/>
              </a:ext>
            </a:extLst>
          </p:cNvPr>
          <p:cNvSpPr txBox="1"/>
          <p:nvPr/>
        </p:nvSpPr>
        <p:spPr>
          <a:xfrm>
            <a:off x="7071203" y="1388972"/>
            <a:ext cx="38436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  <a:latin typeface="Gill Sans MT" panose="020B0502020104020203" pitchFamily="34" charset="77"/>
              </a:rPr>
              <a:t>“TARGET DETECTION”</a:t>
            </a:r>
          </a:p>
          <a:p>
            <a:endParaRPr lang="en-US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      </a:t>
            </a:r>
            <a:r>
              <a:rPr lang="en-US" dirty="0">
                <a:solidFill>
                  <a:srgbClr val="2249CD"/>
                </a:solidFill>
                <a:latin typeface="Gill Sans MT" panose="020B0502020104020203" pitchFamily="34" charset="77"/>
              </a:rPr>
              <a:t>Target        No-Target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BABCC2-3428-5347-87A3-7487AF02E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29" y="2116298"/>
            <a:ext cx="2794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7E6955-091B-BF41-A9F2-512034EE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891" y="2122874"/>
            <a:ext cx="292100" cy="190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4520B-0D9A-E52F-5C5E-652988BBD3D9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A6A50-B364-6AA3-7A1F-7FD154EF384D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3DE67-66AF-CD9B-6EE8-A4FBC5C9ADF5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0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18782"/>
              </p:ext>
            </p:extLst>
          </p:nvPr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/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6573673" y="3492498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95989" y="3299532"/>
            <a:ext cx="320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 = TP+FN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575946" y="3890561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98262" y="3697595"/>
            <a:ext cx="333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N = FP+TN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23" name="Elbow Connector 22"/>
          <p:cNvCxnSpPr>
            <a:stCxn id="2" idx="2"/>
          </p:cNvCxnSpPr>
          <p:nvPr/>
        </p:nvCxnSpPr>
        <p:spPr>
          <a:xfrm rot="16200000" flipH="1">
            <a:off x="6003803" y="3042996"/>
            <a:ext cx="173937" cy="2245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1909" y="4052436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D = TP+FP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detecciones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E4C079-0669-3F47-9B4B-FFDEDCE6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DB97F-0CA1-F98C-A4FF-12E6CBB20D68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DDAB40-498A-FD42-8899-C9DA63212E7E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0CF33A-5419-2F52-D367-B4A4655D2F21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781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BCFD-427E-4C89-8588-D04719C34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2227E92-6BE7-A50F-921D-C49B1D69E7EE}"/>
              </a:ext>
            </a:extLst>
          </p:cNvPr>
          <p:cNvSpPr txBox="1"/>
          <p:nvPr/>
        </p:nvSpPr>
        <p:spPr>
          <a:xfrm>
            <a:off x="4701918" y="3340521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3260AE-EA37-B607-949C-C5E374451FDF}"/>
              </a:ext>
            </a:extLst>
          </p:cNvPr>
          <p:cNvSpPr txBox="1"/>
          <p:nvPr/>
        </p:nvSpPr>
        <p:spPr>
          <a:xfrm>
            <a:off x="4704418" y="3328031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227B96-1306-391F-C596-C163DFA09D52}"/>
              </a:ext>
            </a:extLst>
          </p:cNvPr>
          <p:cNvSpPr txBox="1"/>
          <p:nvPr/>
        </p:nvSpPr>
        <p:spPr>
          <a:xfrm>
            <a:off x="4714408" y="3338021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0F2273-4A0C-704F-E4E1-7B1626F410F7}"/>
              </a:ext>
            </a:extLst>
          </p:cNvPr>
          <p:cNvSpPr txBox="1"/>
          <p:nvPr/>
        </p:nvSpPr>
        <p:spPr>
          <a:xfrm>
            <a:off x="4716908" y="3325531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DFE0A3-FF03-2A58-A40A-B4EA6E958908}"/>
              </a:ext>
            </a:extLst>
          </p:cNvPr>
          <p:cNvGraphicFramePr>
            <a:graphicFrameLocks noGrp="1"/>
          </p:cNvGraphicFramePr>
          <p:nvPr/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D2E10B8-20DB-B932-5FC8-7F81CE7CB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32AB10-116D-FDB3-71F9-FE1EFB5C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D89921C1-811F-92B9-E2C4-1CDC13534AE4}"/>
              </a:ext>
            </a:extLst>
          </p:cNvPr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976D32F-6B7A-BD48-1DBC-DE4DA1589B43}"/>
              </a:ext>
            </a:extLst>
          </p:cNvPr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0ADD9-54E4-E05D-555E-3826C97CB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F8A0BF-856C-E233-419A-722F57A04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485491-4939-9EAA-13E8-985D2ADED2DC}"/>
              </a:ext>
            </a:extLst>
          </p:cNvPr>
          <p:cNvCxnSpPr/>
          <p:nvPr/>
        </p:nvCxnSpPr>
        <p:spPr>
          <a:xfrm>
            <a:off x="6573673" y="3492498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41C712-6A44-381E-D0A6-B21790A87EFD}"/>
              </a:ext>
            </a:extLst>
          </p:cNvPr>
          <p:cNvSpPr txBox="1"/>
          <p:nvPr/>
        </p:nvSpPr>
        <p:spPr>
          <a:xfrm>
            <a:off x="7295989" y="3299532"/>
            <a:ext cx="320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 = TP+FN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9F1B4A-1137-05E7-A83C-3B4FA1EB6602}"/>
              </a:ext>
            </a:extLst>
          </p:cNvPr>
          <p:cNvCxnSpPr/>
          <p:nvPr/>
        </p:nvCxnSpPr>
        <p:spPr>
          <a:xfrm>
            <a:off x="6575946" y="3890561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D922A7-06B0-BB97-D170-4D8C0BFEDDC5}"/>
              </a:ext>
            </a:extLst>
          </p:cNvPr>
          <p:cNvSpPr txBox="1"/>
          <p:nvPr/>
        </p:nvSpPr>
        <p:spPr>
          <a:xfrm>
            <a:off x="7298262" y="3697595"/>
            <a:ext cx="333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N = FP+TN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9874C695-0DFE-8959-CD20-4216C54D6B7F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6003803" y="3042996"/>
            <a:ext cx="173937" cy="2245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C361B67-63A7-84E1-95DC-125A97CE7D60}"/>
              </a:ext>
            </a:extLst>
          </p:cNvPr>
          <p:cNvSpPr txBox="1"/>
          <p:nvPr/>
        </p:nvSpPr>
        <p:spPr>
          <a:xfrm>
            <a:off x="7311909" y="4052436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D = TP+FP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detecciones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A646F9-B468-7197-47E7-ECF60599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63060-B0AF-B707-AA86-6874527EE487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BFEBC9-5178-E09A-1C08-2F0E9806D123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07AD91-47FB-FC92-A025-628D54CBA9E8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0551D-7D7F-2467-2B59-2818DAB94E89}"/>
              </a:ext>
            </a:extLst>
          </p:cNvPr>
          <p:cNvSpPr txBox="1"/>
          <p:nvPr/>
        </p:nvSpPr>
        <p:spPr>
          <a:xfrm>
            <a:off x="1338926" y="4703067"/>
            <a:ext cx="1488100" cy="540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Precision    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48C9-37B6-7A7A-B096-E9E2257E4FB1}"/>
              </a:ext>
            </a:extLst>
          </p:cNvPr>
          <p:cNvSpPr txBox="1"/>
          <p:nvPr/>
        </p:nvSpPr>
        <p:spPr>
          <a:xfrm>
            <a:off x="1338925" y="5807706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Recall          =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F587CD-84E6-8AB1-53BE-AA1B7A0542E2}"/>
              </a:ext>
            </a:extLst>
          </p:cNvPr>
          <p:cNvGrpSpPr/>
          <p:nvPr/>
        </p:nvGrpSpPr>
        <p:grpSpPr>
          <a:xfrm>
            <a:off x="3172419" y="4973436"/>
            <a:ext cx="1678409" cy="1018936"/>
            <a:chOff x="3172419" y="4973436"/>
            <a:chExt cx="1678409" cy="101893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425D52-DF97-E109-E3DF-E3B6B7B0DE83}"/>
                </a:ext>
              </a:extLst>
            </p:cNvPr>
            <p:cNvCxnSpPr/>
            <p:nvPr/>
          </p:nvCxnSpPr>
          <p:spPr>
            <a:xfrm>
              <a:off x="3172419" y="4973436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B153DB-B905-B3A1-338D-3933396A049F}"/>
                </a:ext>
              </a:extLst>
            </p:cNvPr>
            <p:cNvCxnSpPr/>
            <p:nvPr/>
          </p:nvCxnSpPr>
          <p:spPr>
            <a:xfrm>
              <a:off x="3172419" y="5992372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022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B2F5-B7CF-10FE-5C4A-A088944A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9699912-D90B-619A-3EF6-A7EEE0236C68}"/>
              </a:ext>
            </a:extLst>
          </p:cNvPr>
          <p:cNvSpPr txBox="1"/>
          <p:nvPr/>
        </p:nvSpPr>
        <p:spPr>
          <a:xfrm>
            <a:off x="4718922" y="3725707"/>
            <a:ext cx="48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C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C15B24-9355-A43E-E6C0-414570422BCC}"/>
              </a:ext>
            </a:extLst>
          </p:cNvPr>
          <p:cNvSpPr txBox="1"/>
          <p:nvPr/>
        </p:nvSpPr>
        <p:spPr>
          <a:xfrm>
            <a:off x="5740746" y="3339410"/>
            <a:ext cx="48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C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9F027-14C0-4DD7-132C-37336470A4DD}"/>
              </a:ext>
            </a:extLst>
          </p:cNvPr>
          <p:cNvSpPr txBox="1"/>
          <p:nvPr/>
        </p:nvSpPr>
        <p:spPr>
          <a:xfrm>
            <a:off x="3725060" y="4597193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CCF987-910A-AFC2-D14F-ABA634D98623}"/>
              </a:ext>
            </a:extLst>
          </p:cNvPr>
          <p:cNvSpPr txBox="1"/>
          <p:nvPr/>
        </p:nvSpPr>
        <p:spPr>
          <a:xfrm>
            <a:off x="3727560" y="5619019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1CD90-0FC6-5697-C9BC-78BE006D902B}"/>
              </a:ext>
            </a:extLst>
          </p:cNvPr>
          <p:cNvGraphicFramePr>
            <a:graphicFrameLocks noGrp="1"/>
          </p:cNvGraphicFramePr>
          <p:nvPr/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F50A3A5-50B3-6F8E-509D-C56C4F5AF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F54AC9-D116-BCD0-7CCB-B42E75046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E3C27BAE-7A66-6971-FD08-B183F33C3868}"/>
              </a:ext>
            </a:extLst>
          </p:cNvPr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0BC88CC6-1A74-9011-54FB-22009710C869}"/>
              </a:ext>
            </a:extLst>
          </p:cNvPr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1054E-F9A5-ABD9-1C91-1AE1BF052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A86A12-85A3-61A3-4001-3E8B4ACE2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7BC440-9FA7-1710-7950-7174C17C79FA}"/>
              </a:ext>
            </a:extLst>
          </p:cNvPr>
          <p:cNvCxnSpPr/>
          <p:nvPr/>
        </p:nvCxnSpPr>
        <p:spPr>
          <a:xfrm>
            <a:off x="6573673" y="3492498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973D0D5-7819-F147-514E-A70E9916B26E}"/>
              </a:ext>
            </a:extLst>
          </p:cNvPr>
          <p:cNvSpPr txBox="1"/>
          <p:nvPr/>
        </p:nvSpPr>
        <p:spPr>
          <a:xfrm>
            <a:off x="7295989" y="3299532"/>
            <a:ext cx="320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 = TP+FN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E28EA0-0AAD-CEA5-4129-D701D215599B}"/>
              </a:ext>
            </a:extLst>
          </p:cNvPr>
          <p:cNvCxnSpPr/>
          <p:nvPr/>
        </p:nvCxnSpPr>
        <p:spPr>
          <a:xfrm>
            <a:off x="6575946" y="3890561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73FED9-C658-8C46-22B9-485009C1BB89}"/>
              </a:ext>
            </a:extLst>
          </p:cNvPr>
          <p:cNvSpPr txBox="1"/>
          <p:nvPr/>
        </p:nvSpPr>
        <p:spPr>
          <a:xfrm>
            <a:off x="7298262" y="3697595"/>
            <a:ext cx="333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N = FP+TN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1B9F4E4-58AB-EE29-D1C6-F3B89B57B2D4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6003803" y="3042996"/>
            <a:ext cx="173937" cy="2245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467312-48C7-8F32-4BAB-DAC20B5E2CE9}"/>
              </a:ext>
            </a:extLst>
          </p:cNvPr>
          <p:cNvSpPr txBox="1"/>
          <p:nvPr/>
        </p:nvSpPr>
        <p:spPr>
          <a:xfrm>
            <a:off x="7311909" y="4052436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D = TP+FP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detecciones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68503B-C968-7B94-1DA4-723113B5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59326-EFED-B357-255D-8E624DEBD38C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DC4AC-7B94-845E-14C0-570E98AD81B2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1E4AB-1FF4-4FEC-17A9-79F0968C8377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0B0AB-776E-E75D-F0CE-F58B800F0F84}"/>
              </a:ext>
            </a:extLst>
          </p:cNvPr>
          <p:cNvSpPr txBox="1"/>
          <p:nvPr/>
        </p:nvSpPr>
        <p:spPr>
          <a:xfrm>
            <a:off x="1338926" y="4703067"/>
            <a:ext cx="1488100" cy="540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Precision    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15434-3CC8-AD3E-F661-1AA3A116763E}"/>
              </a:ext>
            </a:extLst>
          </p:cNvPr>
          <p:cNvSpPr txBox="1"/>
          <p:nvPr/>
        </p:nvSpPr>
        <p:spPr>
          <a:xfrm>
            <a:off x="1338925" y="5807706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Recall          =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FD673B-BDA0-544E-635C-F078FA0D60EC}"/>
              </a:ext>
            </a:extLst>
          </p:cNvPr>
          <p:cNvGrpSpPr/>
          <p:nvPr/>
        </p:nvGrpSpPr>
        <p:grpSpPr>
          <a:xfrm>
            <a:off x="3172419" y="4973436"/>
            <a:ext cx="1678409" cy="1018936"/>
            <a:chOff x="3172419" y="4973436"/>
            <a:chExt cx="1678409" cy="101893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BEE046-C79F-273C-60CD-6F851FC7737D}"/>
                </a:ext>
              </a:extLst>
            </p:cNvPr>
            <p:cNvCxnSpPr/>
            <p:nvPr/>
          </p:nvCxnSpPr>
          <p:spPr>
            <a:xfrm>
              <a:off x="3172419" y="4973436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A65DD8-5911-1848-6C9D-BD9A9B603B8B}"/>
                </a:ext>
              </a:extLst>
            </p:cNvPr>
            <p:cNvCxnSpPr/>
            <p:nvPr/>
          </p:nvCxnSpPr>
          <p:spPr>
            <a:xfrm>
              <a:off x="3172419" y="5992372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2EA3C01-B6C2-F1B1-63B9-A9A731B0A29A}"/>
              </a:ext>
            </a:extLst>
          </p:cNvPr>
          <p:cNvSpPr txBox="1"/>
          <p:nvPr/>
        </p:nvSpPr>
        <p:spPr>
          <a:xfrm>
            <a:off x="3380283" y="4986936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622C7E-631F-50F2-C6C8-E73D9040D185}"/>
              </a:ext>
            </a:extLst>
          </p:cNvPr>
          <p:cNvSpPr txBox="1"/>
          <p:nvPr/>
        </p:nvSpPr>
        <p:spPr>
          <a:xfrm>
            <a:off x="3382783" y="5978783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37701B-CA13-C970-D005-0E9A200C351F}"/>
              </a:ext>
            </a:extLst>
          </p:cNvPr>
          <p:cNvGrpSpPr/>
          <p:nvPr/>
        </p:nvGrpSpPr>
        <p:grpSpPr>
          <a:xfrm>
            <a:off x="3793000" y="4988947"/>
            <a:ext cx="347277" cy="1391160"/>
            <a:chOff x="3793000" y="4988947"/>
            <a:chExt cx="347277" cy="139116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0209E36-25EA-6F22-B611-0119D71814CC}"/>
                </a:ext>
              </a:extLst>
            </p:cNvPr>
            <p:cNvSpPr txBox="1"/>
            <p:nvPr/>
          </p:nvSpPr>
          <p:spPr>
            <a:xfrm>
              <a:off x="3793000" y="4988947"/>
              <a:ext cx="3447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+</a:t>
              </a:r>
              <a:endParaRPr lang="en-CL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C626E0-930B-D027-B273-09281A81770A}"/>
                </a:ext>
              </a:extLst>
            </p:cNvPr>
            <p:cNvSpPr txBox="1"/>
            <p:nvPr/>
          </p:nvSpPr>
          <p:spPr>
            <a:xfrm>
              <a:off x="3795500" y="6010775"/>
              <a:ext cx="3447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+</a:t>
              </a:r>
              <a:endParaRPr lang="en-CL" dirty="0"/>
            </a:p>
          </p:txBody>
        </p:sp>
      </p:grpSp>
    </p:spTree>
    <p:extLst>
      <p:ext uri="{BB962C8B-B14F-4D97-AF65-F5344CB8AC3E}">
        <p14:creationId xmlns:p14="http://schemas.microsoft.com/office/powerpoint/2010/main" val="309076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305A-B6B6-D573-F7BF-8BF84988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20D40DA-9841-FBF4-9B36-B5BF2D881EDE}"/>
              </a:ext>
            </a:extLst>
          </p:cNvPr>
          <p:cNvSpPr txBox="1"/>
          <p:nvPr/>
        </p:nvSpPr>
        <p:spPr>
          <a:xfrm>
            <a:off x="4074347" y="4984881"/>
            <a:ext cx="48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C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5E441A-37EF-16B1-0D05-0BDF28060FDE}"/>
              </a:ext>
            </a:extLst>
          </p:cNvPr>
          <p:cNvSpPr txBox="1"/>
          <p:nvPr/>
        </p:nvSpPr>
        <p:spPr>
          <a:xfrm>
            <a:off x="4106822" y="5992662"/>
            <a:ext cx="48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C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0CDD09-B20B-9AD7-2AA8-BF62927DD421}"/>
              </a:ext>
            </a:extLst>
          </p:cNvPr>
          <p:cNvSpPr txBox="1"/>
          <p:nvPr/>
        </p:nvSpPr>
        <p:spPr>
          <a:xfrm>
            <a:off x="3725060" y="4597193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49059-9DA3-4121-FCCB-2D4CEAD67386}"/>
              </a:ext>
            </a:extLst>
          </p:cNvPr>
          <p:cNvSpPr txBox="1"/>
          <p:nvPr/>
        </p:nvSpPr>
        <p:spPr>
          <a:xfrm>
            <a:off x="3727560" y="5619019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7DAEFA-E25D-35B0-3AEF-0652A27A0EB4}"/>
              </a:ext>
            </a:extLst>
          </p:cNvPr>
          <p:cNvGraphicFramePr>
            <a:graphicFrameLocks noGrp="1"/>
          </p:cNvGraphicFramePr>
          <p:nvPr/>
        </p:nvGraphicFramePr>
        <p:xfrm>
          <a:off x="3443785" y="2966493"/>
          <a:ext cx="3048000" cy="1112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FP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TN</a:t>
                      </a:r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CD99496-82AD-3B76-E31A-9C416D919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8" y="3080788"/>
            <a:ext cx="279400" cy="17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6AAF88-36E2-36BA-3D30-D319C203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30" y="3437906"/>
            <a:ext cx="279400" cy="177800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3463533B-04C4-9B46-94AD-3752B23DADE9}"/>
              </a:ext>
            </a:extLst>
          </p:cNvPr>
          <p:cNvSpPr/>
          <p:nvPr/>
        </p:nvSpPr>
        <p:spPr>
          <a:xfrm rot="5400000">
            <a:off x="5401008" y="1626651"/>
            <a:ext cx="178940" cy="20026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6113FEC-61CD-A770-B945-96D0EFAA8D76}"/>
              </a:ext>
            </a:extLst>
          </p:cNvPr>
          <p:cNvSpPr/>
          <p:nvPr/>
        </p:nvSpPr>
        <p:spPr>
          <a:xfrm>
            <a:off x="2916069" y="3367773"/>
            <a:ext cx="256350" cy="71124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FBF9A-75DE-8981-8D85-4D33FAB55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18" y="3074442"/>
            <a:ext cx="2921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91AA0E-490F-E706-EF6A-97C86D9ED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220" y="3827348"/>
            <a:ext cx="292100" cy="190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A36BBE-E190-C215-BBAD-68618BFC1021}"/>
              </a:ext>
            </a:extLst>
          </p:cNvPr>
          <p:cNvCxnSpPr/>
          <p:nvPr/>
        </p:nvCxnSpPr>
        <p:spPr>
          <a:xfrm>
            <a:off x="6573673" y="3492498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052DD61-1C94-80FD-FEAC-A17553F38E68}"/>
              </a:ext>
            </a:extLst>
          </p:cNvPr>
          <p:cNvSpPr txBox="1"/>
          <p:nvPr/>
        </p:nvSpPr>
        <p:spPr>
          <a:xfrm>
            <a:off x="7295989" y="3299532"/>
            <a:ext cx="320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 = TP+FN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457E2D-9317-B3D4-9BF6-B4BD374857FE}"/>
              </a:ext>
            </a:extLst>
          </p:cNvPr>
          <p:cNvCxnSpPr/>
          <p:nvPr/>
        </p:nvCxnSpPr>
        <p:spPr>
          <a:xfrm>
            <a:off x="6575946" y="3890561"/>
            <a:ext cx="64008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CB5324-C6CD-FB81-13B5-43639F91A6EF}"/>
              </a:ext>
            </a:extLst>
          </p:cNvPr>
          <p:cNvSpPr txBox="1"/>
          <p:nvPr/>
        </p:nvSpPr>
        <p:spPr>
          <a:xfrm>
            <a:off x="7298262" y="3697595"/>
            <a:ext cx="333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N = FP+TN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muestras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‘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negativas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’)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C5DECA1B-FF32-4EA4-4533-DA00DFC96E18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6003803" y="3042996"/>
            <a:ext cx="173937" cy="2245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DFF5024-05B9-FB2F-CEB5-47AC4DEA2822}"/>
              </a:ext>
            </a:extLst>
          </p:cNvPr>
          <p:cNvSpPr txBox="1"/>
          <p:nvPr/>
        </p:nvSpPr>
        <p:spPr>
          <a:xfrm>
            <a:off x="7311909" y="4052436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D = TP+FP (</a:t>
            </a:r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detecciones</a:t>
            </a:r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69466B-1B21-9FFF-D727-BB6D83E5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965F0-BE6A-033C-6F99-EC164D96A88D}"/>
              </a:ext>
            </a:extLst>
          </p:cNvPr>
          <p:cNvSpPr txBox="1"/>
          <p:nvPr/>
        </p:nvSpPr>
        <p:spPr>
          <a:xfrm>
            <a:off x="4915244" y="2095694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predicción</a:t>
            </a:r>
            <a:endParaRPr lang="en-US" dirty="0"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0C311-3690-4CCE-0A1F-6B665503840E}"/>
              </a:ext>
            </a:extLst>
          </p:cNvPr>
          <p:cNvSpPr txBox="1"/>
          <p:nvPr/>
        </p:nvSpPr>
        <p:spPr>
          <a:xfrm rot="16200000">
            <a:off x="2391055" y="3546846"/>
            <a:ext cx="53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5CEFD7-2949-B143-FE0D-AFF584035067}"/>
              </a:ext>
            </a:extLst>
          </p:cNvPr>
          <p:cNvSpPr txBox="1"/>
          <p:nvPr/>
        </p:nvSpPr>
        <p:spPr>
          <a:xfrm>
            <a:off x="1196152" y="1306171"/>
            <a:ext cx="475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Matriz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Confusión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dos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clases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929C8-26AC-BABF-2630-D2A17C09FAF8}"/>
              </a:ext>
            </a:extLst>
          </p:cNvPr>
          <p:cNvSpPr txBox="1"/>
          <p:nvPr/>
        </p:nvSpPr>
        <p:spPr>
          <a:xfrm>
            <a:off x="1338926" y="4703067"/>
            <a:ext cx="1488100" cy="540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Precision    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FCAB3-80FA-9CF1-6EB0-548178F06F49}"/>
              </a:ext>
            </a:extLst>
          </p:cNvPr>
          <p:cNvSpPr txBox="1"/>
          <p:nvPr/>
        </p:nvSpPr>
        <p:spPr>
          <a:xfrm>
            <a:off x="1338925" y="5807706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Recall          =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1404E2-0E89-783D-3C1F-B5B5F669AA66}"/>
              </a:ext>
            </a:extLst>
          </p:cNvPr>
          <p:cNvGrpSpPr/>
          <p:nvPr/>
        </p:nvGrpSpPr>
        <p:grpSpPr>
          <a:xfrm>
            <a:off x="3172419" y="4973436"/>
            <a:ext cx="1678409" cy="1018936"/>
            <a:chOff x="3172419" y="4973436"/>
            <a:chExt cx="1678409" cy="101893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B6F2D0-5459-1039-05B4-59A5DDBE6115}"/>
                </a:ext>
              </a:extLst>
            </p:cNvPr>
            <p:cNvCxnSpPr/>
            <p:nvPr/>
          </p:nvCxnSpPr>
          <p:spPr>
            <a:xfrm>
              <a:off x="3172419" y="4973436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1E8D3D-9E60-7CFE-1057-42C3A0913987}"/>
                </a:ext>
              </a:extLst>
            </p:cNvPr>
            <p:cNvCxnSpPr/>
            <p:nvPr/>
          </p:nvCxnSpPr>
          <p:spPr>
            <a:xfrm>
              <a:off x="3172419" y="5992372"/>
              <a:ext cx="16784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BB69D86-DB07-A339-DDFA-816844DF71FC}"/>
              </a:ext>
            </a:extLst>
          </p:cNvPr>
          <p:cNvSpPr txBox="1"/>
          <p:nvPr/>
        </p:nvSpPr>
        <p:spPr>
          <a:xfrm>
            <a:off x="3380283" y="4986936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9CA3-750B-0FDE-EA6F-F84110B97E13}"/>
              </a:ext>
            </a:extLst>
          </p:cNvPr>
          <p:cNvSpPr txBox="1"/>
          <p:nvPr/>
        </p:nvSpPr>
        <p:spPr>
          <a:xfrm>
            <a:off x="3382783" y="5978783"/>
            <a:ext cx="487667" cy="36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C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1948FC-396C-DEF4-428F-C3C388C9527A}"/>
              </a:ext>
            </a:extLst>
          </p:cNvPr>
          <p:cNvGrpSpPr/>
          <p:nvPr/>
        </p:nvGrpSpPr>
        <p:grpSpPr>
          <a:xfrm>
            <a:off x="3793000" y="4988947"/>
            <a:ext cx="347277" cy="1391160"/>
            <a:chOff x="3793000" y="4988947"/>
            <a:chExt cx="347277" cy="139116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4BEE9B-3F5B-6B4C-7E3E-C227C5307885}"/>
                </a:ext>
              </a:extLst>
            </p:cNvPr>
            <p:cNvSpPr txBox="1"/>
            <p:nvPr/>
          </p:nvSpPr>
          <p:spPr>
            <a:xfrm>
              <a:off x="3793000" y="4988947"/>
              <a:ext cx="3447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+</a:t>
              </a:r>
              <a:endParaRPr lang="en-CL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F1A7906-1DD3-1818-FAA3-7678F7A7759D}"/>
                </a:ext>
              </a:extLst>
            </p:cNvPr>
            <p:cNvSpPr txBox="1"/>
            <p:nvPr/>
          </p:nvSpPr>
          <p:spPr>
            <a:xfrm>
              <a:off x="3795500" y="6010775"/>
              <a:ext cx="3447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+</a:t>
              </a:r>
              <a:endParaRPr lang="en-CL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7777BD-8F9B-042D-E7F8-F01F4424A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245" y="4473137"/>
            <a:ext cx="1471882" cy="10213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D3E287C-0CF6-D6F5-7918-9FFE67044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615" y="5492119"/>
            <a:ext cx="1488570" cy="110140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3E4B79D4-4594-9370-8C95-B67C35A7F34C}"/>
              </a:ext>
            </a:extLst>
          </p:cNvPr>
          <p:cNvGrpSpPr/>
          <p:nvPr/>
        </p:nvGrpSpPr>
        <p:grpSpPr>
          <a:xfrm>
            <a:off x="7014000" y="4703067"/>
            <a:ext cx="4067674" cy="1997641"/>
            <a:chOff x="7014000" y="4703067"/>
            <a:chExt cx="4067674" cy="199764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1031125-CC76-BA79-4AEF-60705E6B4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38939" y="4703067"/>
              <a:ext cx="2337206" cy="179220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B5B4714-312D-D3E8-AD7A-F9FE28408FCD}"/>
                </a:ext>
              </a:extLst>
            </p:cNvPr>
            <p:cNvSpPr txBox="1"/>
            <p:nvPr/>
          </p:nvSpPr>
          <p:spPr>
            <a:xfrm>
              <a:off x="9664940" y="4849074"/>
              <a:ext cx="1416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D: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Detección</a:t>
              </a:r>
              <a:endParaRPr lang="en-US" dirty="0">
                <a:latin typeface="Gill Sans MT" panose="020B0502020104020203" pitchFamily="34" charset="77"/>
                <a:ea typeface="Trebuchet MS" charset="0"/>
                <a:cs typeface="Trebuchet MS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DB82AF-3449-1D8D-C0AE-9BC263BA65DC}"/>
                </a:ext>
              </a:extLst>
            </p:cNvPr>
            <p:cNvSpPr txBox="1"/>
            <p:nvPr/>
          </p:nvSpPr>
          <p:spPr>
            <a:xfrm>
              <a:off x="7014000" y="6054377"/>
              <a:ext cx="12420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P: </a:t>
              </a:r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Muestras</a:t>
              </a:r>
              <a:endParaRPr lang="en-US" dirty="0">
                <a:latin typeface="Gill Sans MT" panose="020B0502020104020203" pitchFamily="34" charset="77"/>
                <a:ea typeface="Trebuchet MS" charset="0"/>
                <a:cs typeface="Trebuchet MS" charset="0"/>
              </a:endParaRPr>
            </a:p>
            <a:p>
              <a:pPr algn="ctr"/>
              <a:r>
                <a:rPr lang="en-US" dirty="0" err="1">
                  <a:latin typeface="Gill Sans MT" panose="020B0502020104020203" pitchFamily="34" charset="77"/>
                  <a:ea typeface="Trebuchet MS" charset="0"/>
                  <a:cs typeface="Trebuchet MS" charset="0"/>
                </a:rPr>
                <a:t>positivas</a:t>
              </a:r>
              <a:endParaRPr lang="en-US" dirty="0">
                <a:latin typeface="Gill Sans MT" panose="020B0502020104020203" pitchFamily="34" charset="77"/>
                <a:ea typeface="Trebuchet MS" charset="0"/>
                <a:cs typeface="Trebuchet MS" charset="0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214A96B-510C-C8F7-8FF6-F7CCF81DCF85}"/>
                </a:ext>
              </a:extLst>
            </p:cNvPr>
            <p:cNvCxnSpPr/>
            <p:nvPr/>
          </p:nvCxnSpPr>
          <p:spPr>
            <a:xfrm flipV="1">
              <a:off x="9436340" y="5169547"/>
              <a:ext cx="339805" cy="1846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8023FEC-39A4-D5FB-1D9A-5EE2580BA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09" y="5735843"/>
              <a:ext cx="449246" cy="3069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7791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808" y="330958"/>
            <a:ext cx="4672763" cy="6196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2931" y="409433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Definiciones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87CAE3-ACE7-8948-8235-DDC7BDC6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05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2D8E-A1D3-ECF3-9BD4-7FE9183B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BF84FA-28CF-9EDA-6929-67BC6F21956E}"/>
              </a:ext>
            </a:extLst>
          </p:cNvPr>
          <p:cNvSpPr txBox="1"/>
          <p:nvPr/>
        </p:nvSpPr>
        <p:spPr>
          <a:xfrm>
            <a:off x="3309007" y="2101519"/>
            <a:ext cx="56611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latin typeface="Gill Sans MT" panose="020B0502020104020203" pitchFamily="34" charset="77"/>
              </a:rPr>
              <a:t>Curva</a:t>
            </a: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Precision </a:t>
            </a:r>
            <a:r>
              <a:rPr lang="mr-IN" sz="6000" dirty="0">
                <a:latin typeface="Gill Sans MT" panose="020B0502020104020203" pitchFamily="34" charset="77"/>
              </a:rPr>
              <a:t>–</a:t>
            </a:r>
            <a:r>
              <a:rPr lang="en-US" sz="6000" dirty="0">
                <a:latin typeface="Gill Sans MT" panose="020B0502020104020203" pitchFamily="34" charset="77"/>
              </a:rPr>
              <a:t> Recall</a:t>
            </a: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297D5-E466-1502-CB9D-72B72866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58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26813" y="3954021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25375" y="452950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066" y="3710637"/>
            <a:ext cx="409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7267" y="5132281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41486-0792-614A-9224-625B0C43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C6EB95-1CDC-BB06-6F3B-1D9FB705B19B}"/>
              </a:ext>
            </a:extLst>
          </p:cNvPr>
          <p:cNvSpPr txBox="1"/>
          <p:nvPr/>
        </p:nvSpPr>
        <p:spPr>
          <a:xfrm>
            <a:off x="1635646" y="2866029"/>
            <a:ext cx="24038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Observar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TP+FN = Ground Truth</a:t>
            </a:r>
          </a:p>
          <a:p>
            <a:r>
              <a:rPr lang="en-US" dirty="0">
                <a:latin typeface="Gill Sans MT" panose="020B0502020104020203" pitchFamily="34" charset="77"/>
              </a:rPr>
              <a:t>TP+FP = </a:t>
            </a:r>
            <a:r>
              <a:rPr lang="en-US" dirty="0" err="1">
                <a:latin typeface="Gill Sans MT" panose="020B0502020104020203" pitchFamily="34" charset="77"/>
              </a:rPr>
              <a:t>Detección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9BCD7-E09C-605D-135C-774E9B5D3067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C2ADA8-203A-C5D4-DCF1-E86D1697A588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458F16-D01A-E044-40AB-59FFE379BCBB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B57F85-9D2C-C2D6-F54C-FA4271C31896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0AA5CB-ECF8-FE21-A716-16D094D4D370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E0E076-9F6B-1B6B-BD6D-B92948AF062F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4970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26813" y="3954021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25375" y="452950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066" y="3710637"/>
            <a:ext cx="409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7267" y="5132281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5646" y="2866029"/>
            <a:ext cx="24038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r>
              <a:rPr lang="en-US" dirty="0">
                <a:latin typeface="Gill Sans MT" panose="020B0502020104020203" pitchFamily="34" charset="77"/>
              </a:rPr>
              <a:t> = TP/(TP+FP)</a:t>
            </a:r>
          </a:p>
          <a:p>
            <a:r>
              <a:rPr lang="en-US" dirty="0">
                <a:latin typeface="Gill Sans MT" panose="020B0502020104020203" pitchFamily="34" charset="77"/>
              </a:rPr>
              <a:t>Re = TP/(TP+FN)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Observar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TP+FN = Ground Truth</a:t>
            </a:r>
          </a:p>
          <a:p>
            <a:r>
              <a:rPr lang="en-US" dirty="0">
                <a:latin typeface="Gill Sans MT" panose="020B0502020104020203" pitchFamily="34" charset="77"/>
              </a:rPr>
              <a:t>TP+FP = </a:t>
            </a:r>
            <a:r>
              <a:rPr lang="en-US" dirty="0" err="1">
                <a:latin typeface="Gill Sans MT" panose="020B0502020104020203" pitchFamily="34" charset="77"/>
              </a:rPr>
              <a:t>Detección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8702722" y="259307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620835" y="365987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661133" y="2507349"/>
            <a:ext cx="392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82526" y="3451321"/>
            <a:ext cx="445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</a:t>
            </a:r>
          </a:p>
        </p:txBody>
      </p:sp>
      <p:cxnSp>
        <p:nvCxnSpPr>
          <p:cNvPr id="19" name="Curved Connector 18"/>
          <p:cNvCxnSpPr/>
          <p:nvPr/>
        </p:nvCxnSpPr>
        <p:spPr>
          <a:xfrm>
            <a:off x="8702723" y="2866030"/>
            <a:ext cx="900753" cy="793849"/>
          </a:xfrm>
          <a:prstGeom prst="curvedConnector3">
            <a:avLst>
              <a:gd name="adj1" fmla="val 86364"/>
            </a:avLst>
          </a:prstGeom>
          <a:ln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81352" y="3823196"/>
            <a:ext cx="2299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Curva Precision-Recall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B0736E3-FB8B-B446-BE9A-076B3660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20ED6-7EC0-7694-8C47-3AA8F4A6A11B}"/>
              </a:ext>
            </a:extLst>
          </p:cNvPr>
          <p:cNvSpPr txBox="1"/>
          <p:nvPr/>
        </p:nvSpPr>
        <p:spPr>
          <a:xfrm>
            <a:off x="8495639" y="361830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216BF-52B5-02D5-93E3-4BCB5F388B03}"/>
              </a:ext>
            </a:extLst>
          </p:cNvPr>
          <p:cNvSpPr txBox="1"/>
          <p:nvPr/>
        </p:nvSpPr>
        <p:spPr>
          <a:xfrm>
            <a:off x="9469539" y="363598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0199CF-0B6D-4DDC-551F-659FCDA9E125}"/>
              </a:ext>
            </a:extLst>
          </p:cNvPr>
          <p:cNvSpPr txBox="1"/>
          <p:nvPr/>
        </p:nvSpPr>
        <p:spPr>
          <a:xfrm>
            <a:off x="8461073" y="276781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C8E49E-912C-E1BC-AE75-CCAC889C7BB5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14B6DE-D6B9-E0A0-8A1E-42F7764E03C9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612520-7A49-0F01-8903-C66BE3E1EDF5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76F7CD-EB6D-DAD3-5A8F-1A59037B9046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C3AB5E-4046-42E1-015D-CC57DBBC2058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75FD1A-70F1-4236-0935-F96A2937807E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89039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82"/>
          <p:cNvSpPr/>
          <p:nvPr/>
        </p:nvSpPr>
        <p:spPr>
          <a:xfrm>
            <a:off x="4547636" y="3588153"/>
            <a:ext cx="2632389" cy="2523281"/>
          </a:xfrm>
          <a:custGeom>
            <a:avLst/>
            <a:gdLst>
              <a:gd name="connsiteX0" fmla="*/ 0 w 2303469"/>
              <a:gd name="connsiteY0" fmla="*/ 0 h 2523281"/>
              <a:gd name="connsiteX1" fmla="*/ 1030147 w 2303469"/>
              <a:gd name="connsiteY1" fmla="*/ 69448 h 2523281"/>
              <a:gd name="connsiteX2" fmla="*/ 1516284 w 2303469"/>
              <a:gd name="connsiteY2" fmla="*/ 312516 h 2523281"/>
              <a:gd name="connsiteX3" fmla="*/ 2071869 w 2303469"/>
              <a:gd name="connsiteY3" fmla="*/ 983848 h 2523281"/>
              <a:gd name="connsiteX4" fmla="*/ 2268638 w 2303469"/>
              <a:gd name="connsiteY4" fmla="*/ 2106592 h 2523281"/>
              <a:gd name="connsiteX5" fmla="*/ 2303362 w 2303469"/>
              <a:gd name="connsiteY5" fmla="*/ 2523281 h 25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3469" h="2523281">
                <a:moveTo>
                  <a:pt x="0" y="0"/>
                </a:moveTo>
                <a:cubicBezTo>
                  <a:pt x="388716" y="8681"/>
                  <a:pt x="777433" y="17362"/>
                  <a:pt x="1030147" y="69448"/>
                </a:cubicBezTo>
                <a:cubicBezTo>
                  <a:pt x="1282861" y="121534"/>
                  <a:pt x="1342664" y="160116"/>
                  <a:pt x="1516284" y="312516"/>
                </a:cubicBezTo>
                <a:cubicBezTo>
                  <a:pt x="1689904" y="464916"/>
                  <a:pt x="1946477" y="684835"/>
                  <a:pt x="2071869" y="983848"/>
                </a:cubicBezTo>
                <a:cubicBezTo>
                  <a:pt x="2197261" y="1282861"/>
                  <a:pt x="2230056" y="1850020"/>
                  <a:pt x="2268638" y="2106592"/>
                </a:cubicBezTo>
                <a:cubicBezTo>
                  <a:pt x="2307220" y="2363164"/>
                  <a:pt x="2303362" y="2523281"/>
                  <a:pt x="2303362" y="2523281"/>
                </a:cubicBezTo>
              </a:path>
            </a:pathLst>
          </a:custGeom>
          <a:noFill/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811" y="208696"/>
            <a:ext cx="1384300" cy="876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856" y="170544"/>
            <a:ext cx="1308100" cy="901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28747" y="436728"/>
            <a:ext cx="303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Precision =                       =  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908645" y="621394"/>
            <a:ext cx="100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983325" y="774032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67646" y="774032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53243" y="216687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9229" y="71566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210" y="439000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      Recall =                        =  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9305507" y="623666"/>
            <a:ext cx="100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0187" y="776304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964508" y="776304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50105" y="218959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26091" y="71793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+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4528352" y="3311655"/>
            <a:ext cx="0" cy="2920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03358" y="6073256"/>
            <a:ext cx="3271372" cy="45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16200000">
            <a:off x="3464785" y="4626640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3265" y="6269069"/>
            <a:ext cx="96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2725" y="6250672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0                                                 1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210331" y="6045959"/>
            <a:ext cx="0" cy="15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4428453" y="3586878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13249" y="34059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7063925" y="1329223"/>
            <a:ext cx="2228429" cy="4117772"/>
            <a:chOff x="5539924" y="1329223"/>
            <a:chExt cx="2228429" cy="4117772"/>
          </a:xfrm>
        </p:grpSpPr>
        <p:grpSp>
          <p:nvGrpSpPr>
            <p:cNvPr id="52" name="Group 51"/>
            <p:cNvGrpSpPr/>
            <p:nvPr/>
          </p:nvGrpSpPr>
          <p:grpSpPr>
            <a:xfrm>
              <a:off x="6608294" y="1329223"/>
              <a:ext cx="1160059" cy="1269238"/>
              <a:chOff x="2388361" y="2169997"/>
              <a:chExt cx="4285397" cy="3766782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929642" y="2363910"/>
                <a:ext cx="3421845" cy="3024829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56" name="Oval 55"/>
            <p:cNvSpPr/>
            <p:nvPr/>
          </p:nvSpPr>
          <p:spPr>
            <a:xfrm>
              <a:off x="5539924" y="537499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57" name="Straight Connector 56"/>
            <p:cNvCxnSpPr>
              <a:stCxn id="53" idx="2"/>
              <a:endCxn id="56" idx="0"/>
            </p:cNvCxnSpPr>
            <p:nvPr/>
          </p:nvCxnSpPr>
          <p:spPr>
            <a:xfrm flipH="1">
              <a:off x="5575924" y="2598461"/>
              <a:ext cx="1612400" cy="277653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3148126" y="1336677"/>
            <a:ext cx="1874158" cy="2277393"/>
            <a:chOff x="1624126" y="1336676"/>
            <a:chExt cx="1874158" cy="2277393"/>
          </a:xfrm>
        </p:grpSpPr>
        <p:grpSp>
          <p:nvGrpSpPr>
            <p:cNvPr id="58" name="Group 57"/>
            <p:cNvGrpSpPr/>
            <p:nvPr/>
          </p:nvGrpSpPr>
          <p:grpSpPr>
            <a:xfrm>
              <a:off x="1624126" y="1336676"/>
              <a:ext cx="1160059" cy="1269238"/>
              <a:chOff x="2388361" y="2169997"/>
              <a:chExt cx="4285397" cy="3766782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3928794" y="3555480"/>
                <a:ext cx="981831" cy="952007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62" name="Oval 61"/>
            <p:cNvSpPr/>
            <p:nvPr/>
          </p:nvSpPr>
          <p:spPr>
            <a:xfrm>
              <a:off x="3426284" y="3542069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63" name="Straight Connector 62"/>
            <p:cNvCxnSpPr>
              <a:stCxn id="59" idx="2"/>
              <a:endCxn id="62" idx="0"/>
            </p:cNvCxnSpPr>
            <p:nvPr/>
          </p:nvCxnSpPr>
          <p:spPr>
            <a:xfrm>
              <a:off x="2204156" y="2605914"/>
              <a:ext cx="1258128" cy="9361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668807" y="1331149"/>
            <a:ext cx="1160059" cy="2589910"/>
            <a:chOff x="4144806" y="1331149"/>
            <a:chExt cx="1160059" cy="2589910"/>
          </a:xfrm>
        </p:grpSpPr>
        <p:grpSp>
          <p:nvGrpSpPr>
            <p:cNvPr id="66" name="Group 65"/>
            <p:cNvGrpSpPr/>
            <p:nvPr/>
          </p:nvGrpSpPr>
          <p:grpSpPr>
            <a:xfrm>
              <a:off x="4144806" y="1331149"/>
              <a:ext cx="1160059" cy="1269238"/>
              <a:chOff x="2388361" y="2169997"/>
              <a:chExt cx="4285397" cy="3766782"/>
            </a:xfrm>
          </p:grpSpPr>
          <p:sp>
            <p:nvSpPr>
              <p:cNvPr id="67" name="Rectangle 66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3153716" y="2907804"/>
                <a:ext cx="2388869" cy="192109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70" name="Oval 69"/>
            <p:cNvSpPr/>
            <p:nvPr/>
          </p:nvSpPr>
          <p:spPr>
            <a:xfrm>
              <a:off x="4685317" y="3849059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71" name="Straight Connector 70"/>
            <p:cNvCxnSpPr>
              <a:stCxn id="67" idx="2"/>
              <a:endCxn id="70" idx="7"/>
            </p:cNvCxnSpPr>
            <p:nvPr/>
          </p:nvCxnSpPr>
          <p:spPr>
            <a:xfrm>
              <a:off x="4724836" y="2600387"/>
              <a:ext cx="21937" cy="125921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4426051" y="1330917"/>
            <a:ext cx="3629744" cy="3020338"/>
            <a:chOff x="2902051" y="1330917"/>
            <a:chExt cx="3629744" cy="3020338"/>
          </a:xfrm>
        </p:grpSpPr>
        <p:grpSp>
          <p:nvGrpSpPr>
            <p:cNvPr id="11" name="Group 10"/>
            <p:cNvGrpSpPr/>
            <p:nvPr/>
          </p:nvGrpSpPr>
          <p:grpSpPr>
            <a:xfrm>
              <a:off x="2902051" y="1330917"/>
              <a:ext cx="1160059" cy="1269238"/>
              <a:chOff x="2388361" y="2169997"/>
              <a:chExt cx="4285397" cy="3766782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3458437" y="3383718"/>
                <a:ext cx="1883347" cy="1450022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40" name="Oval 39"/>
            <p:cNvSpPr/>
            <p:nvPr/>
          </p:nvSpPr>
          <p:spPr>
            <a:xfrm>
              <a:off x="3975014" y="358261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2" name="Straight Connector 41"/>
            <p:cNvCxnSpPr>
              <a:stCxn id="4" idx="2"/>
              <a:endCxn id="40" idx="0"/>
            </p:cNvCxnSpPr>
            <p:nvPr/>
          </p:nvCxnSpPr>
          <p:spPr>
            <a:xfrm>
              <a:off x="3482081" y="2600155"/>
              <a:ext cx="528933" cy="98246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/>
            <p:cNvGrpSpPr/>
            <p:nvPr/>
          </p:nvGrpSpPr>
          <p:grpSpPr>
            <a:xfrm>
              <a:off x="5371736" y="1331151"/>
              <a:ext cx="1160059" cy="1269238"/>
              <a:chOff x="2388361" y="2169997"/>
              <a:chExt cx="4285397" cy="3766782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3068197" y="2907798"/>
                <a:ext cx="3268025" cy="2195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80" name="Oval 79"/>
            <p:cNvSpPr/>
            <p:nvPr/>
          </p:nvSpPr>
          <p:spPr>
            <a:xfrm>
              <a:off x="5184954" y="427925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81" name="Straight Connector 80"/>
            <p:cNvCxnSpPr>
              <a:stCxn id="75" idx="2"/>
              <a:endCxn id="80" idx="7"/>
            </p:cNvCxnSpPr>
            <p:nvPr/>
          </p:nvCxnSpPr>
          <p:spPr>
            <a:xfrm flipH="1">
              <a:off x="5246410" y="2600389"/>
              <a:ext cx="705356" cy="168941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933580" y="4197635"/>
            <a:ext cx="25430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AREA BAJO LA CURVA</a:t>
            </a:r>
          </a:p>
          <a:p>
            <a:pPr algn="ctr"/>
            <a:endParaRPr lang="en-US" dirty="0">
              <a:latin typeface="Gill Sans MT" panose="020B0502020104020203" pitchFamily="34" charset="77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mPA</a:t>
            </a:r>
            <a:endParaRPr lang="en-US" dirty="0">
              <a:latin typeface="Gill Sans MT" panose="020B0502020104020203" pitchFamily="34" charset="77"/>
            </a:endParaRPr>
          </a:p>
          <a:p>
            <a:pPr algn="ctr"/>
            <a:endParaRPr lang="en-US" dirty="0">
              <a:latin typeface="Gill Sans MT" panose="020B0502020104020203" pitchFamily="34" charset="77"/>
            </a:endParaRP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(mean Precision Average)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1D04E-242B-8E41-A545-E32C814F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3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2279" y="2101519"/>
            <a:ext cx="873463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latin typeface="Gill Sans MT" panose="020B0502020104020203" pitchFamily="34" charset="77"/>
              </a:rPr>
              <a:t>Curva</a:t>
            </a: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ROC</a:t>
            </a:r>
          </a:p>
          <a:p>
            <a:pPr algn="ctr"/>
            <a:r>
              <a:rPr lang="en-US" sz="4400" dirty="0">
                <a:latin typeface="Gill Sans MT" panose="020B0502020104020203" pitchFamily="34" charset="77"/>
              </a:rPr>
              <a:t>(Receiver Operation Characteristic)</a:t>
            </a: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1CCD5-B1F7-8F43-B156-83105DF0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89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26813" y="3954021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25375" y="452950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066" y="3710637"/>
            <a:ext cx="409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7267" y="5132281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51546" y="2866030"/>
            <a:ext cx="19656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r>
              <a:rPr lang="en-US" dirty="0">
                <a:latin typeface="Gill Sans MT" panose="020B0502020104020203" pitchFamily="34" charset="77"/>
              </a:rPr>
              <a:t> = TP/(TP+FP)</a:t>
            </a:r>
          </a:p>
          <a:p>
            <a:r>
              <a:rPr lang="en-US" dirty="0">
                <a:latin typeface="Gill Sans MT" panose="020B0502020104020203" pitchFamily="34" charset="77"/>
              </a:rPr>
              <a:t>Re = TP/(TP+FN)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TPR = TP/(TP+FN)</a:t>
            </a:r>
          </a:p>
          <a:p>
            <a:r>
              <a:rPr lang="en-US" dirty="0">
                <a:latin typeface="Gill Sans MT" panose="020B0502020104020203" pitchFamily="34" charset="77"/>
              </a:rPr>
              <a:t>FPR = FP/(TN+FP)</a:t>
            </a: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8702722" y="259307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620835" y="365987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61133" y="2507349"/>
            <a:ext cx="392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82526" y="3451321"/>
            <a:ext cx="445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</a:t>
            </a:r>
          </a:p>
        </p:txBody>
      </p:sp>
      <p:cxnSp>
        <p:nvCxnSpPr>
          <p:cNvPr id="16" name="Curved Connector 15"/>
          <p:cNvCxnSpPr/>
          <p:nvPr/>
        </p:nvCxnSpPr>
        <p:spPr>
          <a:xfrm>
            <a:off x="8702723" y="2866030"/>
            <a:ext cx="900753" cy="793849"/>
          </a:xfrm>
          <a:prstGeom prst="curvedConnector3">
            <a:avLst>
              <a:gd name="adj1" fmla="val 8636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702722" y="477555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620835" y="584235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661132" y="4689829"/>
            <a:ext cx="58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2527" y="5633801"/>
            <a:ext cx="550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FPR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1222" y="6004566"/>
            <a:ext cx="1304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Curva ROC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1352" y="3823196"/>
            <a:ext cx="2299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Curva Precision-Recall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6BBB4B-7F97-1F47-AB98-BFC32B78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27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F96263-2B0E-3047-EC8E-9CECAD2840B0}"/>
              </a:ext>
            </a:extLst>
          </p:cNvPr>
          <p:cNvSpPr txBox="1"/>
          <p:nvPr/>
        </p:nvSpPr>
        <p:spPr>
          <a:xfrm>
            <a:off x="8495639" y="361830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170D0F-E26A-7BD4-9CB2-415AA30727CA}"/>
              </a:ext>
            </a:extLst>
          </p:cNvPr>
          <p:cNvSpPr txBox="1"/>
          <p:nvPr/>
        </p:nvSpPr>
        <p:spPr>
          <a:xfrm>
            <a:off x="9469539" y="363598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622119-D288-77CD-A295-9446A5960239}"/>
              </a:ext>
            </a:extLst>
          </p:cNvPr>
          <p:cNvSpPr txBox="1"/>
          <p:nvPr/>
        </p:nvSpPr>
        <p:spPr>
          <a:xfrm>
            <a:off x="8461073" y="276781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1BA300-600B-FB42-F753-EDC037A0B016}"/>
              </a:ext>
            </a:extLst>
          </p:cNvPr>
          <p:cNvSpPr txBox="1"/>
          <p:nvPr/>
        </p:nvSpPr>
        <p:spPr>
          <a:xfrm>
            <a:off x="8470239" y="581540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026F2-B35C-3CB3-E141-7B9C30A69D8A}"/>
              </a:ext>
            </a:extLst>
          </p:cNvPr>
          <p:cNvSpPr txBox="1"/>
          <p:nvPr/>
        </p:nvSpPr>
        <p:spPr>
          <a:xfrm>
            <a:off x="9444139" y="583308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A4E8FD-0EC5-B698-EF33-C818438C38E2}"/>
              </a:ext>
            </a:extLst>
          </p:cNvPr>
          <p:cNvSpPr txBox="1"/>
          <p:nvPr/>
        </p:nvSpPr>
        <p:spPr>
          <a:xfrm>
            <a:off x="8435673" y="496491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899A2C-6C1D-5B17-F97C-F57C1481BC4E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9BC7F5-9D3E-83BE-1F15-62AA4E9501CE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0D478B-294D-C00D-DF1F-0BB5ED72A99B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C07FE9-4E8E-19C9-8F8A-D26983790AA5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F4A51E-20E3-5FF6-6EAE-577FF740F0EC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CCBDA1-0544-2817-4D53-442D419E848C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AA4BE2E8-6782-D67B-AD72-7B584C68171B}"/>
              </a:ext>
            </a:extLst>
          </p:cNvPr>
          <p:cNvSpPr/>
          <p:nvPr/>
        </p:nvSpPr>
        <p:spPr>
          <a:xfrm>
            <a:off x="8711464" y="5086129"/>
            <a:ext cx="1981937" cy="1512924"/>
          </a:xfrm>
          <a:prstGeom prst="arc">
            <a:avLst>
              <a:gd name="adj1" fmla="val 10825595"/>
              <a:gd name="adj2" fmla="val 1587285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37010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12362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529157" y="3166216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4811400" y="3074556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26813" y="3954021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TP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25375" y="452950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FP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066" y="3710637"/>
            <a:ext cx="4090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7267" y="5132281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TN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51547" y="2866030"/>
            <a:ext cx="19656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r>
              <a:rPr lang="en-US" dirty="0">
                <a:latin typeface="Gill Sans MT" panose="020B0502020104020203" pitchFamily="34" charset="77"/>
              </a:rPr>
              <a:t> = TP/(TP+FP)</a:t>
            </a:r>
          </a:p>
          <a:p>
            <a:r>
              <a:rPr lang="en-US" dirty="0">
                <a:latin typeface="Gill Sans MT" panose="020B0502020104020203" pitchFamily="34" charset="77"/>
              </a:rPr>
              <a:t>Re = TP/(TP+FN)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TPR = TP/(TP+FN)</a:t>
            </a:r>
          </a:p>
          <a:p>
            <a:r>
              <a:rPr lang="en-US" dirty="0">
                <a:latin typeface="Gill Sans MT" panose="020B0502020104020203" pitchFamily="34" charset="77"/>
              </a:rPr>
              <a:t>FPR = FP/(TN+FP)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Sensitivity = TPR</a:t>
            </a:r>
          </a:p>
          <a:p>
            <a:r>
              <a:rPr lang="en-US" dirty="0">
                <a:latin typeface="Gill Sans MT" panose="020B0502020104020203" pitchFamily="34" charset="77"/>
              </a:rPr>
              <a:t>1-Specificity = FPR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8702722" y="259307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620835" y="365987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61133" y="2507349"/>
            <a:ext cx="392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82526" y="3451321"/>
            <a:ext cx="445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</a:t>
            </a:r>
          </a:p>
        </p:txBody>
      </p:sp>
      <p:cxnSp>
        <p:nvCxnSpPr>
          <p:cNvPr id="16" name="Curved Connector 15"/>
          <p:cNvCxnSpPr/>
          <p:nvPr/>
        </p:nvCxnSpPr>
        <p:spPr>
          <a:xfrm>
            <a:off x="8702723" y="2866030"/>
            <a:ext cx="900753" cy="793849"/>
          </a:xfrm>
          <a:prstGeom prst="curvedConnector3">
            <a:avLst>
              <a:gd name="adj1" fmla="val 8636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F81D13F-93AB-AD4A-842F-3B2FD7A3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28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1FE4A7-F164-BF27-BAA4-AF861B013054}"/>
              </a:ext>
            </a:extLst>
          </p:cNvPr>
          <p:cNvSpPr txBox="1"/>
          <p:nvPr/>
        </p:nvSpPr>
        <p:spPr>
          <a:xfrm>
            <a:off x="1687773" y="69603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  <a:ea typeface="Trebuchet MS" charset="0"/>
              <a:cs typeface="Trebuchet MS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8E1BC5-A187-FAB3-A747-13D63FF06064}"/>
              </a:ext>
            </a:extLst>
          </p:cNvPr>
          <p:cNvSpPr/>
          <p:nvPr/>
        </p:nvSpPr>
        <p:spPr>
          <a:xfrm>
            <a:off x="8381352" y="3823196"/>
            <a:ext cx="2299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Curva Precision-Recall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26DD47-8132-08DA-32AA-5B52DA18222C}"/>
              </a:ext>
            </a:extLst>
          </p:cNvPr>
          <p:cNvSpPr txBox="1"/>
          <p:nvPr/>
        </p:nvSpPr>
        <p:spPr>
          <a:xfrm>
            <a:off x="5596513" y="564444"/>
            <a:ext cx="4605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magenta: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Verdareos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azules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positivos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(FP)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rojos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falsos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(FN)
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Píxeles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blancos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: Verdaderos </a:t>
            </a:r>
            <a:r>
              <a:rPr lang="en-US" sz="2000" dirty="0" err="1">
                <a:latin typeface="Gill Sans MT" panose="020B0502020104020203" pitchFamily="34" charset="77"/>
                <a:ea typeface="Trebuchet MS" charset="0"/>
                <a:cs typeface="Trebuchet MS" charset="0"/>
              </a:rPr>
              <a:t>negativos</a:t>
            </a:r>
            <a:r>
              <a:rPr lang="en-US" sz="2000" dirty="0">
                <a:latin typeface="Gill Sans MT" panose="020B0502020104020203" pitchFamily="34" charset="77"/>
                <a:ea typeface="Trebuchet MS" charset="0"/>
                <a:cs typeface="Trebuchet MS" charset="0"/>
              </a:rPr>
              <a:t> (TN)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7FC9F5-0E66-C65D-919F-FF6C5E9B4F09}"/>
              </a:ext>
            </a:extLst>
          </p:cNvPr>
          <p:cNvSpPr/>
          <p:nvPr/>
        </p:nvSpPr>
        <p:spPr>
          <a:xfrm>
            <a:off x="10208155" y="62655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CD9F87-6FA5-6F11-3C32-CE1E625D977F}"/>
              </a:ext>
            </a:extLst>
          </p:cNvPr>
          <p:cNvSpPr/>
          <p:nvPr/>
        </p:nvSpPr>
        <p:spPr>
          <a:xfrm>
            <a:off x="10208155" y="93510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4612FC-001B-5210-326A-6F50979A41BA}"/>
              </a:ext>
            </a:extLst>
          </p:cNvPr>
          <p:cNvSpPr/>
          <p:nvPr/>
        </p:nvSpPr>
        <p:spPr>
          <a:xfrm>
            <a:off x="10203732" y="124109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793983-438D-6454-49A3-8C1C19845945}"/>
              </a:ext>
            </a:extLst>
          </p:cNvPr>
          <p:cNvSpPr/>
          <p:nvPr/>
        </p:nvSpPr>
        <p:spPr>
          <a:xfrm>
            <a:off x="10203732" y="156712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98BAFE-2016-5154-5621-E87F31E5E128}"/>
              </a:ext>
            </a:extLst>
          </p:cNvPr>
          <p:cNvCxnSpPr/>
          <p:nvPr/>
        </p:nvCxnSpPr>
        <p:spPr>
          <a:xfrm flipV="1">
            <a:off x="8702722" y="477555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C44F100-C5CE-87E4-6E20-1AF5911FE0D6}"/>
              </a:ext>
            </a:extLst>
          </p:cNvPr>
          <p:cNvCxnSpPr/>
          <p:nvPr/>
        </p:nvCxnSpPr>
        <p:spPr>
          <a:xfrm>
            <a:off x="8620835" y="584235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FA50F-D27F-0181-A94C-5832732FE304}"/>
              </a:ext>
            </a:extLst>
          </p:cNvPr>
          <p:cNvSpPr/>
          <p:nvPr/>
        </p:nvSpPr>
        <p:spPr>
          <a:xfrm>
            <a:off x="8661132" y="4689829"/>
            <a:ext cx="58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TPR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3DD095-6EF8-1730-6B38-02041F7C95B2}"/>
              </a:ext>
            </a:extLst>
          </p:cNvPr>
          <p:cNvSpPr/>
          <p:nvPr/>
        </p:nvSpPr>
        <p:spPr>
          <a:xfrm>
            <a:off x="9782527" y="5633801"/>
            <a:ext cx="550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FPR</a:t>
            </a: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C92D02BC-ED07-81A5-620F-CC5A6BF8A15B}"/>
              </a:ext>
            </a:extLst>
          </p:cNvPr>
          <p:cNvSpPr/>
          <p:nvPr/>
        </p:nvSpPr>
        <p:spPr>
          <a:xfrm>
            <a:off x="8711464" y="5086129"/>
            <a:ext cx="1981937" cy="1512924"/>
          </a:xfrm>
          <a:prstGeom prst="arc">
            <a:avLst>
              <a:gd name="adj1" fmla="val 10825595"/>
              <a:gd name="adj2" fmla="val 1587285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FFEE5E0-8669-3E63-0AAE-269C70335FBB}"/>
              </a:ext>
            </a:extLst>
          </p:cNvPr>
          <p:cNvSpPr/>
          <p:nvPr/>
        </p:nvSpPr>
        <p:spPr>
          <a:xfrm>
            <a:off x="8761222" y="6004566"/>
            <a:ext cx="1304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Curva ROC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22FF9A-D38A-C085-8B03-FB7F57CBBF86}"/>
              </a:ext>
            </a:extLst>
          </p:cNvPr>
          <p:cNvSpPr txBox="1"/>
          <p:nvPr/>
        </p:nvSpPr>
        <p:spPr>
          <a:xfrm>
            <a:off x="8470239" y="581540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025522-16CF-9492-8B03-E4C9FAC35FBF}"/>
              </a:ext>
            </a:extLst>
          </p:cNvPr>
          <p:cNvSpPr txBox="1"/>
          <p:nvPr/>
        </p:nvSpPr>
        <p:spPr>
          <a:xfrm>
            <a:off x="9444139" y="583308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43EF6B-76B2-E828-095D-8B2CF8B0F468}"/>
              </a:ext>
            </a:extLst>
          </p:cNvPr>
          <p:cNvSpPr txBox="1"/>
          <p:nvPr/>
        </p:nvSpPr>
        <p:spPr>
          <a:xfrm>
            <a:off x="8435673" y="496491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1FD330-1CD6-9206-152F-472B393A54A1}"/>
              </a:ext>
            </a:extLst>
          </p:cNvPr>
          <p:cNvSpPr txBox="1"/>
          <p:nvPr/>
        </p:nvSpPr>
        <p:spPr>
          <a:xfrm>
            <a:off x="8495639" y="3618304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900407-CDDE-19FE-4F3F-7AD6439819AE}"/>
              </a:ext>
            </a:extLst>
          </p:cNvPr>
          <p:cNvSpPr txBox="1"/>
          <p:nvPr/>
        </p:nvSpPr>
        <p:spPr>
          <a:xfrm>
            <a:off x="9469539" y="363598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A8F551-1A41-284F-7AD9-57B7F5811926}"/>
              </a:ext>
            </a:extLst>
          </p:cNvPr>
          <p:cNvSpPr txBox="1"/>
          <p:nvPr/>
        </p:nvSpPr>
        <p:spPr>
          <a:xfrm>
            <a:off x="8461073" y="276781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8543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82"/>
          <p:cNvSpPr/>
          <p:nvPr/>
        </p:nvSpPr>
        <p:spPr>
          <a:xfrm flipH="1">
            <a:off x="4570503" y="3580834"/>
            <a:ext cx="2639827" cy="2481581"/>
          </a:xfrm>
          <a:custGeom>
            <a:avLst/>
            <a:gdLst>
              <a:gd name="connsiteX0" fmla="*/ 0 w 2303469"/>
              <a:gd name="connsiteY0" fmla="*/ 0 h 2523281"/>
              <a:gd name="connsiteX1" fmla="*/ 1030147 w 2303469"/>
              <a:gd name="connsiteY1" fmla="*/ 69448 h 2523281"/>
              <a:gd name="connsiteX2" fmla="*/ 1516284 w 2303469"/>
              <a:gd name="connsiteY2" fmla="*/ 312516 h 2523281"/>
              <a:gd name="connsiteX3" fmla="*/ 2071869 w 2303469"/>
              <a:gd name="connsiteY3" fmla="*/ 983848 h 2523281"/>
              <a:gd name="connsiteX4" fmla="*/ 2268638 w 2303469"/>
              <a:gd name="connsiteY4" fmla="*/ 2106592 h 2523281"/>
              <a:gd name="connsiteX5" fmla="*/ 2303362 w 2303469"/>
              <a:gd name="connsiteY5" fmla="*/ 2523281 h 25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3469" h="2523281">
                <a:moveTo>
                  <a:pt x="0" y="0"/>
                </a:moveTo>
                <a:cubicBezTo>
                  <a:pt x="388716" y="8681"/>
                  <a:pt x="777433" y="17362"/>
                  <a:pt x="1030147" y="69448"/>
                </a:cubicBezTo>
                <a:cubicBezTo>
                  <a:pt x="1282861" y="121534"/>
                  <a:pt x="1342664" y="160116"/>
                  <a:pt x="1516284" y="312516"/>
                </a:cubicBezTo>
                <a:cubicBezTo>
                  <a:pt x="1689904" y="464916"/>
                  <a:pt x="1946477" y="684835"/>
                  <a:pt x="2071869" y="983848"/>
                </a:cubicBezTo>
                <a:cubicBezTo>
                  <a:pt x="2197261" y="1282861"/>
                  <a:pt x="2230056" y="1850020"/>
                  <a:pt x="2268638" y="2106592"/>
                </a:cubicBezTo>
                <a:cubicBezTo>
                  <a:pt x="2307220" y="2363164"/>
                  <a:pt x="2303362" y="2523281"/>
                  <a:pt x="2303362" y="2523281"/>
                </a:cubicBezTo>
              </a:path>
            </a:pathLst>
          </a:custGeom>
          <a:noFill/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5979412" y="237171"/>
            <a:ext cx="4027598" cy="882603"/>
            <a:chOff x="365047" y="202393"/>
            <a:chExt cx="4027598" cy="882603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9856" y="202393"/>
              <a:ext cx="1308100" cy="838001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65047" y="436728"/>
              <a:ext cx="3063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           FPR =                     =  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384645" y="621394"/>
              <a:ext cx="100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3459325" y="774032"/>
              <a:ext cx="245904" cy="252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043646" y="774032"/>
              <a:ext cx="245904" cy="252070"/>
            </a:xfrm>
            <a:prstGeom prst="rect">
              <a:avLst/>
            </a:prstGeom>
            <a:solidFill>
              <a:srgbClr val="9AAB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729243" y="216687"/>
              <a:ext cx="245904" cy="252070"/>
            </a:xfrm>
            <a:prstGeom prst="rect">
              <a:avLst/>
            </a:prstGeom>
            <a:solidFill>
              <a:srgbClr val="9AABD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705229" y="71566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+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782092" y="208696"/>
            <a:ext cx="4103798" cy="878572"/>
            <a:chOff x="4685709" y="208696"/>
            <a:chExt cx="4103798" cy="87857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2811" y="208696"/>
              <a:ext cx="1384300" cy="8763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685709" y="439000"/>
              <a:ext cx="3193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           TPR =                       =  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7781507" y="623666"/>
              <a:ext cx="100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7856187" y="776304"/>
              <a:ext cx="245904" cy="252070"/>
            </a:xfrm>
            <a:prstGeom prst="rect">
              <a:avLst/>
            </a:prstGeom>
            <a:solidFill>
              <a:srgbClr val="9D2E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440508" y="776304"/>
              <a:ext cx="245904" cy="25207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126105" y="218959"/>
              <a:ext cx="245904" cy="252070"/>
            </a:xfrm>
            <a:prstGeom prst="rect">
              <a:avLst/>
            </a:prstGeom>
            <a:solidFill>
              <a:srgbClr val="9D2E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02091" y="717936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+</a:t>
              </a:r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 flipV="1">
            <a:off x="4528352" y="3311655"/>
            <a:ext cx="0" cy="2920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03358" y="6073256"/>
            <a:ext cx="3271372" cy="45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16200000">
            <a:off x="3347479" y="437465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1601" y="6253028"/>
            <a:ext cx="96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FPR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2725" y="6250672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0                                                 1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210331" y="6045959"/>
            <a:ext cx="0" cy="15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4428453" y="3586878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13249" y="34059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6807253" y="1329224"/>
            <a:ext cx="2485101" cy="2305015"/>
            <a:chOff x="5283252" y="1329223"/>
            <a:chExt cx="2485101" cy="2305015"/>
          </a:xfrm>
        </p:grpSpPr>
        <p:grpSp>
          <p:nvGrpSpPr>
            <p:cNvPr id="52" name="Group 51"/>
            <p:cNvGrpSpPr/>
            <p:nvPr/>
          </p:nvGrpSpPr>
          <p:grpSpPr>
            <a:xfrm>
              <a:off x="6608294" y="1329223"/>
              <a:ext cx="1160059" cy="1269238"/>
              <a:chOff x="2388361" y="2169997"/>
              <a:chExt cx="4285397" cy="3766782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929642" y="2363910"/>
                <a:ext cx="3421845" cy="3024829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56" name="Oval 55"/>
            <p:cNvSpPr/>
            <p:nvPr/>
          </p:nvSpPr>
          <p:spPr>
            <a:xfrm>
              <a:off x="5283252" y="3562238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57" name="Straight Connector 56"/>
            <p:cNvCxnSpPr>
              <a:endCxn id="56" idx="0"/>
            </p:cNvCxnSpPr>
            <p:nvPr/>
          </p:nvCxnSpPr>
          <p:spPr>
            <a:xfrm flipH="1">
              <a:off x="5319252" y="2598461"/>
              <a:ext cx="1869072" cy="96377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3148126" y="1336677"/>
            <a:ext cx="1489150" cy="4346825"/>
            <a:chOff x="1624126" y="1336676"/>
            <a:chExt cx="1489150" cy="4346825"/>
          </a:xfrm>
        </p:grpSpPr>
        <p:grpSp>
          <p:nvGrpSpPr>
            <p:cNvPr id="58" name="Group 57"/>
            <p:cNvGrpSpPr/>
            <p:nvPr/>
          </p:nvGrpSpPr>
          <p:grpSpPr>
            <a:xfrm>
              <a:off x="1624126" y="1336676"/>
              <a:ext cx="1160059" cy="1269238"/>
              <a:chOff x="2388361" y="2169997"/>
              <a:chExt cx="4285397" cy="3766782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3928794" y="3555480"/>
                <a:ext cx="981831" cy="952007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62" name="Oval 61"/>
            <p:cNvSpPr/>
            <p:nvPr/>
          </p:nvSpPr>
          <p:spPr>
            <a:xfrm>
              <a:off x="3041276" y="5611501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63" name="Straight Connector 62"/>
            <p:cNvCxnSpPr>
              <a:stCxn id="59" idx="2"/>
              <a:endCxn id="62" idx="0"/>
            </p:cNvCxnSpPr>
            <p:nvPr/>
          </p:nvCxnSpPr>
          <p:spPr>
            <a:xfrm>
              <a:off x="2204156" y="2605914"/>
              <a:ext cx="873120" cy="300558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5070327" y="1331149"/>
            <a:ext cx="1758538" cy="2894708"/>
            <a:chOff x="3546327" y="1331149"/>
            <a:chExt cx="1758538" cy="2894708"/>
          </a:xfrm>
        </p:grpSpPr>
        <p:grpSp>
          <p:nvGrpSpPr>
            <p:cNvPr id="66" name="Group 65"/>
            <p:cNvGrpSpPr/>
            <p:nvPr/>
          </p:nvGrpSpPr>
          <p:grpSpPr>
            <a:xfrm>
              <a:off x="4144806" y="1331149"/>
              <a:ext cx="1160059" cy="1269238"/>
              <a:chOff x="2388361" y="2169997"/>
              <a:chExt cx="4285397" cy="3766782"/>
            </a:xfrm>
          </p:grpSpPr>
          <p:sp>
            <p:nvSpPr>
              <p:cNvPr id="67" name="Rectangle 66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3153716" y="2907804"/>
                <a:ext cx="2388869" cy="192109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70" name="Oval 69"/>
            <p:cNvSpPr/>
            <p:nvPr/>
          </p:nvSpPr>
          <p:spPr>
            <a:xfrm>
              <a:off x="3546327" y="4153857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71" name="Straight Connector 70"/>
            <p:cNvCxnSpPr>
              <a:stCxn id="67" idx="2"/>
              <a:endCxn id="70" idx="7"/>
            </p:cNvCxnSpPr>
            <p:nvPr/>
          </p:nvCxnSpPr>
          <p:spPr>
            <a:xfrm flipH="1">
              <a:off x="3607783" y="2600387"/>
              <a:ext cx="1117053" cy="156401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4426051" y="1330918"/>
            <a:ext cx="3629744" cy="3687269"/>
            <a:chOff x="2902051" y="1330917"/>
            <a:chExt cx="3629744" cy="3687269"/>
          </a:xfrm>
        </p:grpSpPr>
        <p:grpSp>
          <p:nvGrpSpPr>
            <p:cNvPr id="11" name="Group 10"/>
            <p:cNvGrpSpPr/>
            <p:nvPr/>
          </p:nvGrpSpPr>
          <p:grpSpPr>
            <a:xfrm>
              <a:off x="2902051" y="1330917"/>
              <a:ext cx="1160059" cy="1269238"/>
              <a:chOff x="2388361" y="2169997"/>
              <a:chExt cx="4285397" cy="3766782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3458437" y="3383718"/>
                <a:ext cx="1883347" cy="1450022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40" name="Oval 39"/>
            <p:cNvSpPr/>
            <p:nvPr/>
          </p:nvSpPr>
          <p:spPr>
            <a:xfrm>
              <a:off x="3124788" y="4946186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42" name="Straight Connector 41"/>
            <p:cNvCxnSpPr>
              <a:stCxn id="4" idx="2"/>
              <a:endCxn id="40" idx="0"/>
            </p:cNvCxnSpPr>
            <p:nvPr/>
          </p:nvCxnSpPr>
          <p:spPr>
            <a:xfrm flipH="1">
              <a:off x="3160788" y="2600155"/>
              <a:ext cx="321293" cy="2346031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/>
            <p:cNvGrpSpPr/>
            <p:nvPr/>
          </p:nvGrpSpPr>
          <p:grpSpPr>
            <a:xfrm>
              <a:off x="5371736" y="1331151"/>
              <a:ext cx="1160059" cy="1269238"/>
              <a:chOff x="2388361" y="2169997"/>
              <a:chExt cx="4285397" cy="3766782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3068197" y="2907798"/>
                <a:ext cx="3268025" cy="2195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80" name="Oval 79"/>
            <p:cNvSpPr/>
            <p:nvPr/>
          </p:nvSpPr>
          <p:spPr>
            <a:xfrm>
              <a:off x="4447019" y="3621528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81" name="Straight Connector 80"/>
            <p:cNvCxnSpPr>
              <a:endCxn id="80" idx="6"/>
            </p:cNvCxnSpPr>
            <p:nvPr/>
          </p:nvCxnSpPr>
          <p:spPr>
            <a:xfrm flipH="1">
              <a:off x="4519019" y="2600389"/>
              <a:ext cx="1432747" cy="10571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7971573" y="4197635"/>
            <a:ext cx="24670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AREA BAJO LA CURVA</a:t>
            </a:r>
          </a:p>
          <a:p>
            <a:pPr algn="ctr"/>
            <a:endParaRPr lang="en-US" dirty="0">
              <a:latin typeface="Gill Sans MT" panose="020B0502020104020203" pitchFamily="34" charset="77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Az</a:t>
            </a:r>
            <a:endParaRPr lang="en-US" dirty="0">
              <a:latin typeface="Gill Sans MT" panose="020B0502020104020203" pitchFamily="34" charset="77"/>
            </a:endParaRPr>
          </a:p>
          <a:p>
            <a:pPr algn="ctr"/>
            <a:endParaRPr lang="en-US" dirty="0">
              <a:latin typeface="Gill Sans MT" panose="020B0502020104020203" pitchFamily="34" charset="77"/>
            </a:endParaRP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(AUC)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0DF77-B7DC-A64A-AF9A-48341C63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9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49524"/>
            <a:ext cx="9144000" cy="3395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659135"/>
            <a:ext cx="9144000" cy="180496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ectangle 7"/>
          <p:cNvSpPr/>
          <p:nvPr/>
        </p:nvSpPr>
        <p:spPr>
          <a:xfrm>
            <a:off x="1524001" y="4636837"/>
            <a:ext cx="1173707" cy="4333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A7855F-9B90-5547-8408-DEFE5150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8C2A1-F91D-1B8C-FDE6-F964729CF100}"/>
              </a:ext>
            </a:extLst>
          </p:cNvPr>
          <p:cNvSpPr txBox="1"/>
          <p:nvPr/>
        </p:nvSpPr>
        <p:spPr>
          <a:xfrm>
            <a:off x="609597" y="468925"/>
            <a:ext cx="3233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Curva ROC</a:t>
            </a:r>
          </a:p>
        </p:txBody>
      </p:sp>
    </p:spTree>
    <p:extLst>
      <p:ext uri="{BB962C8B-B14F-4D97-AF65-F5344CB8AC3E}">
        <p14:creationId xmlns:p14="http://schemas.microsoft.com/office/powerpoint/2010/main" val="829725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957" y="0"/>
            <a:ext cx="6336387" cy="65753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861C62-FA92-1747-95D3-08B4DF16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5DF4F-A646-A7A4-E23F-71EDA0516E78}"/>
              </a:ext>
            </a:extLst>
          </p:cNvPr>
          <p:cNvSpPr txBox="1"/>
          <p:nvPr/>
        </p:nvSpPr>
        <p:spPr>
          <a:xfrm>
            <a:off x="609597" y="468925"/>
            <a:ext cx="3233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Ejemplo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  <a:ea typeface="Trebuchet MS" charset="0"/>
                <a:cs typeface="Trebuchet MS" charset="0"/>
              </a:rPr>
              <a:t>: Curva ROC</a:t>
            </a:r>
          </a:p>
        </p:txBody>
      </p:sp>
    </p:spTree>
    <p:extLst>
      <p:ext uri="{BB962C8B-B14F-4D97-AF65-F5344CB8AC3E}">
        <p14:creationId xmlns:p14="http://schemas.microsoft.com/office/powerpoint/2010/main" val="1276950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189A-100E-A582-DC99-7E7845D0E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14C3AF-3D8A-1E4F-C6EC-A29E1D08CE2F}"/>
              </a:ext>
            </a:extLst>
          </p:cNvPr>
          <p:cNvSpPr txBox="1"/>
          <p:nvPr/>
        </p:nvSpPr>
        <p:spPr>
          <a:xfrm>
            <a:off x="2209358" y="2459504"/>
            <a:ext cx="77732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 err="1">
                <a:latin typeface="Gill Sans MT" panose="020B0502020104020203" pitchFamily="34" charset="77"/>
              </a:rPr>
              <a:t>Genuinos</a:t>
            </a:r>
            <a:r>
              <a:rPr lang="en-US" sz="6000" dirty="0">
                <a:latin typeface="Gill Sans MT" panose="020B0502020104020203" pitchFamily="34" charset="77"/>
              </a:rPr>
              <a:t> &amp; </a:t>
            </a:r>
            <a:r>
              <a:rPr lang="en-US" sz="6000" dirty="0" err="1">
                <a:latin typeface="Gill Sans MT" panose="020B0502020104020203" pitchFamily="34" charset="77"/>
              </a:rPr>
              <a:t>Impostores</a:t>
            </a:r>
            <a:endParaRPr lang="en-US" sz="4400" dirty="0">
              <a:latin typeface="Gill Sans MT" panose="020B0502020104020203" pitchFamily="34" charset="77"/>
            </a:endParaRPr>
          </a:p>
          <a:p>
            <a:pPr algn="ctr"/>
            <a:r>
              <a:rPr lang="en-US" sz="6000" dirty="0">
                <a:latin typeface="Gill Sans MT" panose="020B0502020104020203" pitchFamily="34" charset="77"/>
              </a:rPr>
              <a:t> 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(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métricas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n-US" sz="36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biometría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B9405-C699-7F92-D3F6-B6FA11FB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76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4195940" y="200503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cxnSpLocks/>
            <a:stCxn id="25" idx="3"/>
          </p:cNvCxnSpPr>
          <p:nvPr/>
        </p:nvCxnSpPr>
        <p:spPr>
          <a:xfrm>
            <a:off x="5582786" y="2456247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3677961" y="2322554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58491" y="460830"/>
            <a:ext cx="3714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Gill Sans MT" panose="020B0502020104020203" pitchFamily="34" charset="77"/>
                <a:cs typeface="Trebuchet MS"/>
              </a:rPr>
              <a:t>Face Verification Schema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286A3-471E-DE41-8702-E48C8EE03929}"/>
              </a:ext>
            </a:extLst>
          </p:cNvPr>
          <p:cNvSpPr txBox="1"/>
          <p:nvPr/>
        </p:nvSpPr>
        <p:spPr>
          <a:xfrm>
            <a:off x="4306587" y="2149793"/>
            <a:ext cx="1189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Extraction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65331C9-0EF5-DE40-9B09-141EECB49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45" y="1642727"/>
            <a:ext cx="1141566" cy="1660460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650F2DB-AFBE-054C-8C8C-D3F4E179D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42" y="3672519"/>
            <a:ext cx="1141566" cy="1660460"/>
          </a:xfrm>
          <a:prstGeom prst="rect">
            <a:avLst/>
          </a:prstGeom>
          <a:ln w="63500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346E5A-92E7-714D-A7FB-691EC0B5745A}"/>
              </a:ext>
            </a:extLst>
          </p:cNvPr>
          <p:cNvSpPr txBox="1"/>
          <p:nvPr/>
        </p:nvSpPr>
        <p:spPr>
          <a:xfrm>
            <a:off x="2420245" y="1272746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Imagen 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999076-AEED-D040-B7AA-0B0D3D546C75}"/>
              </a:ext>
            </a:extLst>
          </p:cNvPr>
          <p:cNvSpPr txBox="1"/>
          <p:nvPr/>
        </p:nvSpPr>
        <p:spPr>
          <a:xfrm>
            <a:off x="2475343" y="3303187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Imagen B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7D5B98-8229-D248-966C-CD246C3158CC}"/>
              </a:ext>
            </a:extLst>
          </p:cNvPr>
          <p:cNvSpPr/>
          <p:nvPr/>
        </p:nvSpPr>
        <p:spPr>
          <a:xfrm>
            <a:off x="4176037" y="4064545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9671280-B5D1-7146-8F37-7009E159E46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562883" y="4515756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ight Arrow 56">
            <a:extLst>
              <a:ext uri="{FF2B5EF4-FFF2-40B4-BE49-F238E27FC236}">
                <a16:creationId xmlns:a16="http://schemas.microsoft.com/office/drawing/2014/main" id="{3DB99C0B-77B9-4E43-A1B4-981112580532}"/>
              </a:ext>
            </a:extLst>
          </p:cNvPr>
          <p:cNvSpPr/>
          <p:nvPr/>
        </p:nvSpPr>
        <p:spPr>
          <a:xfrm>
            <a:off x="3658058" y="4382063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2984F7-E748-C546-9A71-6F8ADF2F6C70}"/>
              </a:ext>
            </a:extLst>
          </p:cNvPr>
          <p:cNvSpPr txBox="1"/>
          <p:nvPr/>
        </p:nvSpPr>
        <p:spPr>
          <a:xfrm>
            <a:off x="4286684" y="4209302"/>
            <a:ext cx="1189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Extraction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8AF01-D50B-7E4E-B1AB-C8A6D3843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434" y="2126388"/>
            <a:ext cx="545366" cy="65971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B3B584E-88D0-7E49-99E1-BE40247CEABB}"/>
              </a:ext>
            </a:extLst>
          </p:cNvPr>
          <p:cNvSpPr/>
          <p:nvPr/>
        </p:nvSpPr>
        <p:spPr>
          <a:xfrm>
            <a:off x="5915793" y="200503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9791ED-740E-E54D-A7AB-F5A452399748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7302639" y="2456247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62FE968-62A6-5546-B5E4-FA3ADA277C96}"/>
              </a:ext>
            </a:extLst>
          </p:cNvPr>
          <p:cNvSpPr/>
          <p:nvPr/>
        </p:nvSpPr>
        <p:spPr>
          <a:xfrm>
            <a:off x="5915792" y="4060949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5BF211E-2A99-D54B-BF07-F2A2F8BC406B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7302638" y="4512160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5DCFE804-23E3-0747-9717-941522C86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29" y="4209302"/>
            <a:ext cx="545366" cy="6597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34A672-3075-244A-8E89-4152BF73C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029" y="2352650"/>
            <a:ext cx="254000" cy="215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BC2F1C7-EA92-B944-9A6B-387936A23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2075" y="4337649"/>
            <a:ext cx="279400" cy="330200"/>
          </a:xfrm>
          <a:prstGeom prst="rect">
            <a:avLst/>
          </a:prstGeom>
        </p:spPr>
      </p:pic>
      <p:sp>
        <p:nvSpPr>
          <p:cNvPr id="64" name="Right Brace 63">
            <a:extLst>
              <a:ext uri="{FF2B5EF4-FFF2-40B4-BE49-F238E27FC236}">
                <a16:creationId xmlns:a16="http://schemas.microsoft.com/office/drawing/2014/main" id="{F18B197A-DF71-4541-846E-5A27BC3141B9}"/>
              </a:ext>
            </a:extLst>
          </p:cNvPr>
          <p:cNvSpPr/>
          <p:nvPr/>
        </p:nvSpPr>
        <p:spPr>
          <a:xfrm>
            <a:off x="8196650" y="2149792"/>
            <a:ext cx="481913" cy="2705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5F754F-A6AA-064C-BE9B-0A9CED3B92D7}"/>
              </a:ext>
            </a:extLst>
          </p:cNvPr>
          <p:cNvSpPr txBox="1"/>
          <p:nvPr/>
        </p:nvSpPr>
        <p:spPr>
          <a:xfrm>
            <a:off x="8803997" y="3041047"/>
            <a:ext cx="153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Vectores</a:t>
            </a:r>
            <a:r>
              <a:rPr lang="en-US" dirty="0">
                <a:latin typeface="Gill Sans MT" panose="020B0502020104020203" pitchFamily="34" charset="77"/>
              </a:rPr>
              <a:t> de n 
</a:t>
            </a:r>
            <a:r>
              <a:rPr lang="en-US" dirty="0" err="1">
                <a:latin typeface="Gill Sans MT" panose="020B0502020104020203" pitchFamily="34" charset="77"/>
              </a:rPr>
              <a:t>elementos</a:t>
            </a:r>
            <a:r>
              <a:rPr lang="en-US" dirty="0">
                <a:latin typeface="Gill Sans MT" panose="020B0502020104020203" pitchFamily="34" charset="77"/>
              </a:rPr>
              <a:t>
(1 x n)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2720BC9-DD29-174E-A248-95004A62B7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2529" y="5819023"/>
            <a:ext cx="1574800" cy="4318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DF89CE3-18D6-A143-A475-63D988E27707}"/>
              </a:ext>
            </a:extLst>
          </p:cNvPr>
          <p:cNvSpPr txBox="1"/>
          <p:nvPr/>
        </p:nvSpPr>
        <p:spPr>
          <a:xfrm>
            <a:off x="5582787" y="5447211"/>
            <a:ext cx="6126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Si la imagen-A y la imagen-B son de la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
	score s es </a:t>
            </a:r>
            <a:r>
              <a:rPr lang="en-US" dirty="0" err="1">
                <a:latin typeface="Gill Sans MT" panose="020B0502020104020203" pitchFamily="34" charset="77"/>
              </a:rPr>
              <a:t>alta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656C8B-8362-BE4B-A594-A268B4442B6F}"/>
              </a:ext>
            </a:extLst>
          </p:cNvPr>
          <p:cNvSpPr txBox="1"/>
          <p:nvPr/>
        </p:nvSpPr>
        <p:spPr>
          <a:xfrm>
            <a:off x="5562884" y="6113389"/>
            <a:ext cx="5368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Si la imagen-A y la imagen-B son de personas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r>
              <a:rPr lang="en-US" dirty="0">
                <a:latin typeface="Gill Sans MT" panose="020B0502020104020203" pitchFamily="34" charset="77"/>
              </a:rPr>
              <a:t>
	score s es baja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5B486D-6FB2-7D42-96B7-8B6568448611}"/>
              </a:ext>
            </a:extLst>
          </p:cNvPr>
          <p:cNvSpPr txBox="1"/>
          <p:nvPr/>
        </p:nvSpPr>
        <p:spPr>
          <a:xfrm>
            <a:off x="1858344" y="5793301"/>
            <a:ext cx="1542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Similitud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cos - similarity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DF729B-0322-A847-988A-F770DF6FBDA6}"/>
              </a:ext>
            </a:extLst>
          </p:cNvPr>
          <p:cNvCxnSpPr/>
          <p:nvPr/>
        </p:nvCxnSpPr>
        <p:spPr>
          <a:xfrm flipV="1">
            <a:off x="9098692" y="1130397"/>
            <a:ext cx="691978" cy="874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BEDB152-5053-984F-B44D-A5F256A5834F}"/>
              </a:ext>
            </a:extLst>
          </p:cNvPr>
          <p:cNvCxnSpPr>
            <a:cxnSpLocks/>
          </p:cNvCxnSpPr>
          <p:nvPr/>
        </p:nvCxnSpPr>
        <p:spPr>
          <a:xfrm flipV="1">
            <a:off x="9098692" y="1456615"/>
            <a:ext cx="976184" cy="548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2DCB79CC-8BD0-F74B-BC20-D345004B1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876" y="894125"/>
            <a:ext cx="254000" cy="2159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758A6C4-2788-4C48-B4BE-0640C7307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769" y="1291514"/>
            <a:ext cx="279400" cy="3302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BA3E7E7-479D-8D46-AADC-65CA55A49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9083" y="1366963"/>
            <a:ext cx="101600" cy="171450"/>
          </a:xfrm>
          <a:prstGeom prst="rect">
            <a:avLst/>
          </a:prstGeom>
        </p:spPr>
      </p:pic>
      <p:sp>
        <p:nvSpPr>
          <p:cNvPr id="79" name="Arc 78">
            <a:extLst>
              <a:ext uri="{FF2B5EF4-FFF2-40B4-BE49-F238E27FC236}">
                <a16:creationId xmlns:a16="http://schemas.microsoft.com/office/drawing/2014/main" id="{84CAE9D0-EE7E-FC4D-A795-2715206C87CC}"/>
              </a:ext>
            </a:extLst>
          </p:cNvPr>
          <p:cNvSpPr/>
          <p:nvPr/>
        </p:nvSpPr>
        <p:spPr>
          <a:xfrm>
            <a:off x="9333473" y="1614100"/>
            <a:ext cx="210065" cy="17145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5DAF23E-6272-0E4A-AE5D-8E7EA11889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0953" y="2167387"/>
            <a:ext cx="1321605" cy="3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98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034BF2-3B2C-4041-AC19-EB381E39870B}"/>
              </a:ext>
            </a:extLst>
          </p:cNvPr>
          <p:cNvSpPr/>
          <p:nvPr/>
        </p:nvSpPr>
        <p:spPr>
          <a:xfrm>
            <a:off x="2055342" y="1013255"/>
            <a:ext cx="2693773" cy="3830595"/>
          </a:xfrm>
          <a:prstGeom prst="roundRect">
            <a:avLst>
              <a:gd name="adj" fmla="val 571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91E28-2EFE-284D-88AD-1706FD6D1FD8}"/>
              </a:ext>
            </a:extLst>
          </p:cNvPr>
          <p:cNvSpPr txBox="1"/>
          <p:nvPr/>
        </p:nvSpPr>
        <p:spPr>
          <a:xfrm>
            <a:off x="2139295" y="590717"/>
            <a:ext cx="247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Conjunto de imágenes 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B9D39-2565-374C-A785-5B8262B384F8}"/>
              </a:ext>
            </a:extLst>
          </p:cNvPr>
          <p:cNvSpPr/>
          <p:nvPr/>
        </p:nvSpPr>
        <p:spPr>
          <a:xfrm>
            <a:off x="2639541" y="1419657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6A17-4A41-CB4A-AB78-BDA3AC128150}"/>
              </a:ext>
            </a:extLst>
          </p:cNvPr>
          <p:cNvSpPr txBox="1"/>
          <p:nvPr/>
        </p:nvSpPr>
        <p:spPr>
          <a:xfrm>
            <a:off x="2565448" y="1393054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431107-7A02-9A41-9D72-559A75A42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214" y="1608610"/>
            <a:ext cx="406400" cy="2921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238D14-BBB8-954D-94C7-12025B64E923}"/>
              </a:ext>
            </a:extLst>
          </p:cNvPr>
          <p:cNvCxnSpPr/>
          <p:nvPr/>
        </p:nvCxnSpPr>
        <p:spPr>
          <a:xfrm>
            <a:off x="3192160" y="1729946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812BFB8-169A-524C-B782-3441946B45CC}"/>
              </a:ext>
            </a:extLst>
          </p:cNvPr>
          <p:cNvSpPr/>
          <p:nvPr/>
        </p:nvSpPr>
        <p:spPr>
          <a:xfrm>
            <a:off x="2631300" y="2214612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B3186-D787-8049-9A30-44D667EB97F7}"/>
              </a:ext>
            </a:extLst>
          </p:cNvPr>
          <p:cNvSpPr txBox="1"/>
          <p:nvPr/>
        </p:nvSpPr>
        <p:spPr>
          <a:xfrm>
            <a:off x="2557207" y="2188009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B1C0D-1841-6747-AE78-10C278EDC94F}"/>
              </a:ext>
            </a:extLst>
          </p:cNvPr>
          <p:cNvCxnSpPr/>
          <p:nvPr/>
        </p:nvCxnSpPr>
        <p:spPr>
          <a:xfrm>
            <a:off x="3183919" y="2524901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943FAFC-61FC-194B-B2DF-966577079200}"/>
              </a:ext>
            </a:extLst>
          </p:cNvPr>
          <p:cNvSpPr/>
          <p:nvPr/>
        </p:nvSpPr>
        <p:spPr>
          <a:xfrm>
            <a:off x="2676889" y="3789324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ACEC5-35FE-0A44-99C5-864FFD6EB074}"/>
              </a:ext>
            </a:extLst>
          </p:cNvPr>
          <p:cNvSpPr txBox="1"/>
          <p:nvPr/>
        </p:nvSpPr>
        <p:spPr>
          <a:xfrm>
            <a:off x="2602796" y="3762721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892FAE-6EC2-4C43-AB8E-2A1181EA32F3}"/>
              </a:ext>
            </a:extLst>
          </p:cNvPr>
          <p:cNvCxnSpPr/>
          <p:nvPr/>
        </p:nvCxnSpPr>
        <p:spPr>
          <a:xfrm>
            <a:off x="3229508" y="4099613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55DC4FF-4796-E74D-A1DF-AAAB15FE2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276" y="2423037"/>
            <a:ext cx="406400" cy="292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417CED-FDD5-7449-A3FD-3CBD0D99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602" y="4035035"/>
            <a:ext cx="558800" cy="292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C37D7C-B3A9-464F-8240-EF6060D550D9}"/>
              </a:ext>
            </a:extLst>
          </p:cNvPr>
          <p:cNvSpPr txBox="1"/>
          <p:nvPr/>
        </p:nvSpPr>
        <p:spPr>
          <a:xfrm>
            <a:off x="2775441" y="2917527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04ABB76-97E0-1346-88C7-6CBABF859B4A}"/>
              </a:ext>
            </a:extLst>
          </p:cNvPr>
          <p:cNvSpPr/>
          <p:nvPr/>
        </p:nvSpPr>
        <p:spPr>
          <a:xfrm>
            <a:off x="5400861" y="1013255"/>
            <a:ext cx="2693773" cy="3830595"/>
          </a:xfrm>
          <a:prstGeom prst="roundRect">
            <a:avLst>
              <a:gd name="adj" fmla="val 5713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8AC2BE-66FC-1A44-8AD5-21D16A616E99}"/>
              </a:ext>
            </a:extLst>
          </p:cNvPr>
          <p:cNvSpPr txBox="1"/>
          <p:nvPr/>
        </p:nvSpPr>
        <p:spPr>
          <a:xfrm>
            <a:off x="5484814" y="590717"/>
            <a:ext cx="247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Conjunto de imágenes B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F06999-BA8D-E14D-96D6-52953AC7D3F2}"/>
              </a:ext>
            </a:extLst>
          </p:cNvPr>
          <p:cNvSpPr/>
          <p:nvPr/>
        </p:nvSpPr>
        <p:spPr>
          <a:xfrm>
            <a:off x="5985060" y="1419657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72488E-BD61-664A-935E-57147AC637E8}"/>
              </a:ext>
            </a:extLst>
          </p:cNvPr>
          <p:cNvSpPr txBox="1"/>
          <p:nvPr/>
        </p:nvSpPr>
        <p:spPr>
          <a:xfrm>
            <a:off x="5910967" y="1393054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D70AD1-BE54-B440-BFCE-6FD9CA62E7FB}"/>
              </a:ext>
            </a:extLst>
          </p:cNvPr>
          <p:cNvCxnSpPr/>
          <p:nvPr/>
        </p:nvCxnSpPr>
        <p:spPr>
          <a:xfrm>
            <a:off x="6537679" y="1729946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D45BAC4-96CE-9042-A561-AF53E0F1DF64}"/>
              </a:ext>
            </a:extLst>
          </p:cNvPr>
          <p:cNvSpPr/>
          <p:nvPr/>
        </p:nvSpPr>
        <p:spPr>
          <a:xfrm>
            <a:off x="5976819" y="2214612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E2D481-5F31-E14B-9F40-79828B2C938B}"/>
              </a:ext>
            </a:extLst>
          </p:cNvPr>
          <p:cNvSpPr txBox="1"/>
          <p:nvPr/>
        </p:nvSpPr>
        <p:spPr>
          <a:xfrm>
            <a:off x="5902726" y="2188009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40A6E7-0906-2242-834F-34825BCA1029}"/>
              </a:ext>
            </a:extLst>
          </p:cNvPr>
          <p:cNvCxnSpPr/>
          <p:nvPr/>
        </p:nvCxnSpPr>
        <p:spPr>
          <a:xfrm>
            <a:off x="6529438" y="2524901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40ED9C1-20B8-064D-ACCC-55D853016315}"/>
              </a:ext>
            </a:extLst>
          </p:cNvPr>
          <p:cNvSpPr/>
          <p:nvPr/>
        </p:nvSpPr>
        <p:spPr>
          <a:xfrm>
            <a:off x="6022408" y="3789324"/>
            <a:ext cx="518984" cy="5931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63F400-B065-F84A-B929-D12C469C4C86}"/>
              </a:ext>
            </a:extLst>
          </p:cNvPr>
          <p:cNvSpPr txBox="1"/>
          <p:nvPr/>
        </p:nvSpPr>
        <p:spPr>
          <a:xfrm>
            <a:off x="5948315" y="3762721"/>
            <a:ext cx="66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Face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FD932F-AD33-EF47-966A-46606CE09AE4}"/>
              </a:ext>
            </a:extLst>
          </p:cNvPr>
          <p:cNvCxnSpPr/>
          <p:nvPr/>
        </p:nvCxnSpPr>
        <p:spPr>
          <a:xfrm>
            <a:off x="6575027" y="4099613"/>
            <a:ext cx="580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0981B90-F055-7F41-9268-A2F7F3AAE037}"/>
              </a:ext>
            </a:extLst>
          </p:cNvPr>
          <p:cNvSpPr txBox="1"/>
          <p:nvPr/>
        </p:nvSpPr>
        <p:spPr>
          <a:xfrm>
            <a:off x="6120960" y="2917527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F9C3550-8BFA-C549-9EBD-939E75011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641" y="3907870"/>
            <a:ext cx="596900" cy="406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E06E31D-BF5A-2445-8046-A50C2D23B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532" y="2365887"/>
            <a:ext cx="444500" cy="406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A78BE4-5E76-4B47-A0A4-3BCA2A89E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740" y="1551460"/>
            <a:ext cx="431800" cy="406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B236F42-1C9C-C548-B648-10A3883CD824}"/>
              </a:ext>
            </a:extLst>
          </p:cNvPr>
          <p:cNvSpPr txBox="1"/>
          <p:nvPr/>
        </p:nvSpPr>
        <p:spPr>
          <a:xfrm>
            <a:off x="8765059" y="1393054"/>
            <a:ext cx="21505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del conjunto A y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del conjunto B son de la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persona.
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del conjunto A y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j del conjunto B para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=j son de personas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r>
              <a:rPr lang="en-US" dirty="0">
                <a:latin typeface="Gill Sans MT" panose="020B0502020104020203" pitchFamily="34" charset="77"/>
              </a:rPr>
              <a:t>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4EA921-4B44-4F46-9A6A-E4EF147D8084}"/>
              </a:ext>
            </a:extLst>
          </p:cNvPr>
          <p:cNvCxnSpPr/>
          <p:nvPr/>
        </p:nvCxnSpPr>
        <p:spPr>
          <a:xfrm flipH="1">
            <a:off x="9741243" y="3669958"/>
            <a:ext cx="98854" cy="237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0D78F9F-41B0-D44B-A7FA-3D76A369A86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402228" y="4843850"/>
            <a:ext cx="1" cy="336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1696726A-02A0-CC4E-8D8F-57A917463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3204" y="5793527"/>
            <a:ext cx="1143000" cy="3937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CE183D8-8197-CF44-983D-CAF91B86F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84" y="5381558"/>
            <a:ext cx="289575" cy="2081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8C928A8-2228-6C45-BB91-C4D0B441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260" y="5751137"/>
            <a:ext cx="289575" cy="2081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027F490-9686-2040-99DD-4BAD353C2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016" y="6238667"/>
            <a:ext cx="398165" cy="208132"/>
          </a:xfrm>
          <a:prstGeom prst="rect">
            <a:avLst/>
          </a:prstGeom>
        </p:spPr>
      </p:pic>
      <p:sp>
        <p:nvSpPr>
          <p:cNvPr id="49" name="Right Bracket 48">
            <a:extLst>
              <a:ext uri="{FF2B5EF4-FFF2-40B4-BE49-F238E27FC236}">
                <a16:creationId xmlns:a16="http://schemas.microsoft.com/office/drawing/2014/main" id="{E520D491-4F65-C548-8C7B-2B6C5B6460A8}"/>
              </a:ext>
            </a:extLst>
          </p:cNvPr>
          <p:cNvSpPr/>
          <p:nvPr/>
        </p:nvSpPr>
        <p:spPr>
          <a:xfrm>
            <a:off x="3897737" y="5354080"/>
            <a:ext cx="108590" cy="1139914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ight Bracket 49">
            <a:extLst>
              <a:ext uri="{FF2B5EF4-FFF2-40B4-BE49-F238E27FC236}">
                <a16:creationId xmlns:a16="http://schemas.microsoft.com/office/drawing/2014/main" id="{CCDF427A-415F-0842-A9A7-4ADE8C268661}"/>
              </a:ext>
            </a:extLst>
          </p:cNvPr>
          <p:cNvSpPr/>
          <p:nvPr/>
        </p:nvSpPr>
        <p:spPr>
          <a:xfrm rot="10800000">
            <a:off x="3419939" y="5370553"/>
            <a:ext cx="108590" cy="1139914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B5ED485-CFDC-804C-8D30-AC6C87A92B53}"/>
              </a:ext>
            </a:extLst>
          </p:cNvPr>
          <p:cNvCxnSpPr>
            <a:cxnSpLocks/>
          </p:cNvCxnSpPr>
          <p:nvPr/>
        </p:nvCxnSpPr>
        <p:spPr>
          <a:xfrm flipH="1">
            <a:off x="6717964" y="4835609"/>
            <a:ext cx="1" cy="336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0D223882-F2C8-F046-8EE3-8F15EF26EF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5142" y="5793527"/>
            <a:ext cx="1155700" cy="393700"/>
          </a:xfrm>
          <a:prstGeom prst="rect">
            <a:avLst/>
          </a:prstGeom>
        </p:spPr>
      </p:pic>
      <p:sp>
        <p:nvSpPr>
          <p:cNvPr id="55" name="Right Bracket 54">
            <a:extLst>
              <a:ext uri="{FF2B5EF4-FFF2-40B4-BE49-F238E27FC236}">
                <a16:creationId xmlns:a16="http://schemas.microsoft.com/office/drawing/2014/main" id="{62C263D8-038C-044E-A307-2FC3850BDA30}"/>
              </a:ext>
            </a:extLst>
          </p:cNvPr>
          <p:cNvSpPr/>
          <p:nvPr/>
        </p:nvSpPr>
        <p:spPr>
          <a:xfrm>
            <a:off x="7435901" y="5370553"/>
            <a:ext cx="108590" cy="1139914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Bracket 55">
            <a:extLst>
              <a:ext uri="{FF2B5EF4-FFF2-40B4-BE49-F238E27FC236}">
                <a16:creationId xmlns:a16="http://schemas.microsoft.com/office/drawing/2014/main" id="{EC641321-0F57-E743-B40D-F624BEE809BB}"/>
              </a:ext>
            </a:extLst>
          </p:cNvPr>
          <p:cNvSpPr/>
          <p:nvPr/>
        </p:nvSpPr>
        <p:spPr>
          <a:xfrm rot="10800000">
            <a:off x="6958103" y="5387026"/>
            <a:ext cx="108590" cy="1139914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55B3435-E0A8-174E-9C73-CBA41F87C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08" y="6208545"/>
            <a:ext cx="399909" cy="27227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151585B-DC39-654F-ABB7-B72333735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278" y="5718099"/>
            <a:ext cx="297804" cy="27227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8D06DDB-A002-5741-BEC8-88CAF91D4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758" y="5385583"/>
            <a:ext cx="289296" cy="27227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DA46219-BF5C-7549-9C33-D0DD7C78A375}"/>
              </a:ext>
            </a:extLst>
          </p:cNvPr>
          <p:cNvSpPr txBox="1"/>
          <p:nvPr/>
        </p:nvSpPr>
        <p:spPr>
          <a:xfrm>
            <a:off x="7119442" y="5912455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559AF8-0453-484C-A258-551286669BB7}"/>
              </a:ext>
            </a:extLst>
          </p:cNvPr>
          <p:cNvSpPr txBox="1"/>
          <p:nvPr/>
        </p:nvSpPr>
        <p:spPr>
          <a:xfrm>
            <a:off x="3564805" y="589185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681823-A151-874E-801A-E85F6E6D2F0E}"/>
              </a:ext>
            </a:extLst>
          </p:cNvPr>
          <p:cNvSpPr txBox="1"/>
          <p:nvPr/>
        </p:nvSpPr>
        <p:spPr>
          <a:xfrm>
            <a:off x="1850384" y="6382782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m x n elementos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91B959-2A27-0744-BEAC-05577D937A51}"/>
              </a:ext>
            </a:extLst>
          </p:cNvPr>
          <p:cNvSpPr txBox="1"/>
          <p:nvPr/>
        </p:nvSpPr>
        <p:spPr>
          <a:xfrm>
            <a:off x="5252619" y="639925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m x n elementos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99936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99E86-44AB-0045-80E4-04EFC7C43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135" y="815888"/>
            <a:ext cx="4318343" cy="4318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D1D31-F840-264F-9279-41EC2DD4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97" y="2618602"/>
            <a:ext cx="2743200" cy="533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93C1DCC-4127-7B44-B8CB-128F9E70ED5B}"/>
              </a:ext>
            </a:extLst>
          </p:cNvPr>
          <p:cNvSpPr/>
          <p:nvPr/>
        </p:nvSpPr>
        <p:spPr>
          <a:xfrm rot="2802933">
            <a:off x="4901516" y="2727923"/>
            <a:ext cx="5319578" cy="494271"/>
          </a:xfrm>
          <a:prstGeom prst="ellips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5F59E7-9B3D-4E49-B4E0-79677DECB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38" y="5685997"/>
            <a:ext cx="1079500" cy="34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79C7E3-86DD-9A4D-AE0E-046B35F5E2FE}"/>
              </a:ext>
            </a:extLst>
          </p:cNvPr>
          <p:cNvSpPr txBox="1"/>
          <p:nvPr/>
        </p:nvSpPr>
        <p:spPr>
          <a:xfrm>
            <a:off x="3793699" y="5610997"/>
            <a:ext cx="6134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Similitud</a:t>
            </a:r>
            <a:r>
              <a:rPr lang="en-US" dirty="0">
                <a:latin typeface="Gill Sans MT" panose="020B0502020104020203" pitchFamily="34" charset="77"/>
              </a:rPr>
              <a:t> entre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del conjunto A y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j del conjunto B</a:t>
            </a:r>
          </a:p>
          <a:p>
            <a:r>
              <a:rPr lang="en-US" dirty="0">
                <a:latin typeface="Gill Sans MT" panose="020B0502020104020203" pitchFamily="34" charset="77"/>
              </a:rPr>
              <a:t>
d+: Diagonal: pares </a:t>
            </a:r>
            <a:r>
              <a:rPr lang="en-US" dirty="0" err="1">
                <a:latin typeface="Gill Sans MT" panose="020B0502020104020203" pitchFamily="34" charset="77"/>
              </a:rPr>
              <a:t>positivos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genuines</a:t>
            </a:r>
            <a:r>
              <a:rPr lang="en-US" dirty="0">
                <a:latin typeface="Gill Sans MT" panose="020B0502020104020203" pitchFamily="34" charset="77"/>
              </a:rPr>
              <a:t>)
d-: No Diagonal: pares </a:t>
            </a:r>
            <a:r>
              <a:rPr lang="en-US" dirty="0" err="1">
                <a:latin typeface="Gill Sans MT" panose="020B0502020104020203" pitchFamily="34" charset="77"/>
              </a:rPr>
              <a:t>negativos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impostores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6DF63-9A3A-6048-81F3-B1DB98FCA3F3}"/>
              </a:ext>
            </a:extLst>
          </p:cNvPr>
          <p:cNvSpPr txBox="1"/>
          <p:nvPr/>
        </p:nvSpPr>
        <p:spPr>
          <a:xfrm>
            <a:off x="2174858" y="3336667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 x m </a:t>
            </a:r>
            <a:r>
              <a:rPr lang="en-US" dirty="0" err="1">
                <a:latin typeface="Gill Sans MT" panose="020B0502020104020203" pitchFamily="34" charset="77"/>
              </a:rPr>
              <a:t>elementos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06226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99E86-44AB-0045-80E4-04EFC7C43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135" y="815888"/>
            <a:ext cx="4318343" cy="4318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D1D31-F840-264F-9279-41EC2DD4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97" y="2618602"/>
            <a:ext cx="2743200" cy="533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93C1DCC-4127-7B44-B8CB-128F9E70ED5B}"/>
              </a:ext>
            </a:extLst>
          </p:cNvPr>
          <p:cNvSpPr/>
          <p:nvPr/>
        </p:nvSpPr>
        <p:spPr>
          <a:xfrm rot="2802933">
            <a:off x="4901516" y="2727923"/>
            <a:ext cx="5319578" cy="494271"/>
          </a:xfrm>
          <a:prstGeom prst="ellips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5F59E7-9B3D-4E49-B4E0-79677DECB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38" y="5685997"/>
            <a:ext cx="1079500" cy="3429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E01E7BB-6FD9-0245-BCED-79A6A0569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728183"/>
            <a:ext cx="5644912" cy="500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2C334B-E7DB-01D0-6881-A1675E2887DC}"/>
              </a:ext>
            </a:extLst>
          </p:cNvPr>
          <p:cNvSpPr txBox="1"/>
          <p:nvPr/>
        </p:nvSpPr>
        <p:spPr>
          <a:xfrm>
            <a:off x="3793699" y="5610997"/>
            <a:ext cx="6134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Similitud</a:t>
            </a:r>
            <a:r>
              <a:rPr lang="en-US" dirty="0">
                <a:latin typeface="Gill Sans MT" panose="020B0502020104020203" pitchFamily="34" charset="77"/>
              </a:rPr>
              <a:t> entre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</a:t>
            </a:r>
            <a:r>
              <a:rPr lang="en-US" dirty="0">
                <a:latin typeface="Gill Sans MT" panose="020B0502020104020203" pitchFamily="34" charset="77"/>
              </a:rPr>
              <a:t> del conjunto A y la </a:t>
            </a:r>
            <a:r>
              <a:rPr lang="en-US" dirty="0" err="1">
                <a:latin typeface="Gill Sans MT" panose="020B0502020104020203" pitchFamily="34" charset="77"/>
              </a:rPr>
              <a:t>cara</a:t>
            </a:r>
            <a:r>
              <a:rPr lang="en-US" dirty="0">
                <a:latin typeface="Gill Sans MT" panose="020B0502020104020203" pitchFamily="34" charset="77"/>
              </a:rPr>
              <a:t> j del conjunto B</a:t>
            </a:r>
          </a:p>
          <a:p>
            <a:r>
              <a:rPr lang="en-US" dirty="0">
                <a:latin typeface="Gill Sans MT" panose="020B0502020104020203" pitchFamily="34" charset="77"/>
              </a:rPr>
              <a:t>
d+: Diagonal: pares </a:t>
            </a:r>
            <a:r>
              <a:rPr lang="en-US" dirty="0" err="1">
                <a:latin typeface="Gill Sans MT" panose="020B0502020104020203" pitchFamily="34" charset="77"/>
              </a:rPr>
              <a:t>positivos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genuines</a:t>
            </a:r>
            <a:r>
              <a:rPr lang="en-US" dirty="0">
                <a:latin typeface="Gill Sans MT" panose="020B0502020104020203" pitchFamily="34" charset="77"/>
              </a:rPr>
              <a:t>)
d-: No Diagonal: pares </a:t>
            </a:r>
            <a:r>
              <a:rPr lang="en-US" dirty="0" err="1">
                <a:latin typeface="Gill Sans MT" panose="020B0502020104020203" pitchFamily="34" charset="77"/>
              </a:rPr>
              <a:t>negativos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impostores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AA497-93E9-6F67-2D4F-5F9F57A2FE23}"/>
              </a:ext>
            </a:extLst>
          </p:cNvPr>
          <p:cNvSpPr txBox="1"/>
          <p:nvPr/>
        </p:nvSpPr>
        <p:spPr>
          <a:xfrm>
            <a:off x="2174858" y="3336667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 x m </a:t>
            </a:r>
            <a:r>
              <a:rPr lang="en-US" dirty="0" err="1">
                <a:latin typeface="Gill Sans MT" panose="020B0502020104020203" pitchFamily="34" charset="77"/>
              </a:rPr>
              <a:t>elementos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3477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4615F0-730A-5943-9922-C52853C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0" y="480711"/>
            <a:ext cx="5969000" cy="46609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25BABD-D0DF-1349-988F-23A7A6452590}"/>
              </a:ext>
            </a:extLst>
          </p:cNvPr>
          <p:cNvCxnSpPr/>
          <p:nvPr/>
        </p:nvCxnSpPr>
        <p:spPr>
          <a:xfrm>
            <a:off x="9259331" y="4868562"/>
            <a:ext cx="902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0B645F-E6A3-9840-9B17-1979D7A76614}"/>
              </a:ext>
            </a:extLst>
          </p:cNvPr>
          <p:cNvSpPr txBox="1"/>
          <p:nvPr/>
        </p:nvSpPr>
        <p:spPr>
          <a:xfrm>
            <a:off x="9630032" y="49727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F96432-413A-9647-8411-CBCAF920547E}"/>
              </a:ext>
            </a:extLst>
          </p:cNvPr>
          <p:cNvCxnSpPr>
            <a:cxnSpLocks/>
          </p:cNvCxnSpPr>
          <p:nvPr/>
        </p:nvCxnSpPr>
        <p:spPr>
          <a:xfrm flipV="1">
            <a:off x="2562415" y="2082802"/>
            <a:ext cx="0" cy="140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12043D-3D59-5446-9501-E51794B0A6DD}"/>
              </a:ext>
            </a:extLst>
          </p:cNvPr>
          <p:cNvSpPr txBox="1"/>
          <p:nvPr/>
        </p:nvSpPr>
        <p:spPr>
          <a:xfrm rot="16200000">
            <a:off x="802556" y="2664587"/>
            <a:ext cx="287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Probability density frequency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215F68-D06E-404C-9298-C531E5F669E9}"/>
              </a:ext>
            </a:extLst>
          </p:cNvPr>
          <p:cNvGrpSpPr/>
          <p:nvPr/>
        </p:nvGrpSpPr>
        <p:grpSpPr>
          <a:xfrm>
            <a:off x="6257290" y="2778728"/>
            <a:ext cx="203200" cy="3553493"/>
            <a:chOff x="4733290" y="2778727"/>
            <a:chExt cx="203200" cy="35534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3BCCF5-BF9B-F041-9EBB-89098CA1E732}"/>
                </a:ext>
              </a:extLst>
            </p:cNvPr>
            <p:cNvCxnSpPr>
              <a:cxnSpLocks/>
            </p:cNvCxnSpPr>
            <p:nvPr/>
          </p:nvCxnSpPr>
          <p:spPr>
            <a:xfrm>
              <a:off x="4835618" y="2778727"/>
              <a:ext cx="0" cy="320417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DCC00B-C696-D846-9647-496AEFE3B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3290" y="5989320"/>
              <a:ext cx="203200" cy="3429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E409-9470-C149-861A-FAE1875DE044}"/>
              </a:ext>
            </a:extLst>
          </p:cNvPr>
          <p:cNvGrpSpPr/>
          <p:nvPr/>
        </p:nvGrpSpPr>
        <p:grpSpPr>
          <a:xfrm>
            <a:off x="2969502" y="3243729"/>
            <a:ext cx="3393199" cy="3240207"/>
            <a:chOff x="1445501" y="3243728"/>
            <a:chExt cx="3393199" cy="3240207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2D7D07A-C160-7245-BCFA-6DE6DC725D6A}"/>
                </a:ext>
              </a:extLst>
            </p:cNvPr>
            <p:cNvSpPr/>
            <p:nvPr/>
          </p:nvSpPr>
          <p:spPr>
            <a:xfrm>
              <a:off x="3937000" y="3243728"/>
              <a:ext cx="901700" cy="1638300"/>
            </a:xfrm>
            <a:custGeom>
              <a:avLst/>
              <a:gdLst>
                <a:gd name="connsiteX0" fmla="*/ 0 w 901700"/>
                <a:gd name="connsiteY0" fmla="*/ 1638300 h 1638300"/>
                <a:gd name="connsiteX1" fmla="*/ 254000 w 901700"/>
                <a:gd name="connsiteY1" fmla="*/ 1460500 h 1638300"/>
                <a:gd name="connsiteX2" fmla="*/ 469900 w 901700"/>
                <a:gd name="connsiteY2" fmla="*/ 1168400 h 1638300"/>
                <a:gd name="connsiteX3" fmla="*/ 660400 w 901700"/>
                <a:gd name="connsiteY3" fmla="*/ 889000 h 1638300"/>
                <a:gd name="connsiteX4" fmla="*/ 749300 w 901700"/>
                <a:gd name="connsiteY4" fmla="*/ 508000 h 1638300"/>
                <a:gd name="connsiteX5" fmla="*/ 838200 w 901700"/>
                <a:gd name="connsiteY5" fmla="*/ 101600 h 1638300"/>
                <a:gd name="connsiteX6" fmla="*/ 901700 w 901700"/>
                <a:gd name="connsiteY6" fmla="*/ 0 h 1638300"/>
                <a:gd name="connsiteX7" fmla="*/ 901700 w 901700"/>
                <a:gd name="connsiteY7" fmla="*/ 1638300 h 1638300"/>
                <a:gd name="connsiteX8" fmla="*/ 0 w 901700"/>
                <a:gd name="connsiteY8" fmla="*/ 16383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1700" h="1638300">
                  <a:moveTo>
                    <a:pt x="0" y="1638300"/>
                  </a:moveTo>
                  <a:lnTo>
                    <a:pt x="254000" y="1460500"/>
                  </a:lnTo>
                  <a:lnTo>
                    <a:pt x="469900" y="1168400"/>
                  </a:lnTo>
                  <a:lnTo>
                    <a:pt x="660400" y="889000"/>
                  </a:lnTo>
                  <a:lnTo>
                    <a:pt x="749300" y="508000"/>
                  </a:lnTo>
                  <a:lnTo>
                    <a:pt x="838200" y="101600"/>
                  </a:lnTo>
                  <a:lnTo>
                    <a:pt x="901700" y="0"/>
                  </a:lnTo>
                  <a:lnTo>
                    <a:pt x="901700" y="163830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9B9FCA-F8E0-1A48-86B2-AFFF9E018ED6}"/>
                </a:ext>
              </a:extLst>
            </p:cNvPr>
            <p:cNvGrpSpPr/>
            <p:nvPr/>
          </p:nvGrpSpPr>
          <p:grpSpPr>
            <a:xfrm>
              <a:off x="1445501" y="4640580"/>
              <a:ext cx="3126499" cy="1843355"/>
              <a:chOff x="1445501" y="4640580"/>
              <a:chExt cx="3126499" cy="1843355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F6E9935C-1AD7-4146-92D4-8B5FB0D1BC13}"/>
                  </a:ext>
                </a:extLst>
              </p:cNvPr>
              <p:cNvCxnSpPr/>
              <p:nvPr/>
            </p:nvCxnSpPr>
            <p:spPr>
              <a:xfrm flipH="1">
                <a:off x="3371850" y="4640580"/>
                <a:ext cx="1200150" cy="10858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ECD1CE-5DA9-214A-B57B-9E8905FB9315}"/>
                  </a:ext>
                </a:extLst>
              </p:cNvPr>
              <p:cNvSpPr txBox="1"/>
              <p:nvPr/>
            </p:nvSpPr>
            <p:spPr>
              <a:xfrm>
                <a:off x="1445501" y="5837604"/>
                <a:ext cx="22621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>
                    <a:latin typeface="Gill Sans MT" panose="020B0502020104020203" pitchFamily="34" charset="77"/>
                  </a:rPr>
                  <a:t>FNMR</a:t>
                </a:r>
              </a:p>
              <a:p>
                <a:pPr algn="r"/>
                <a:r>
                  <a:rPr lang="en-US" dirty="0">
                    <a:latin typeface="Gill Sans MT" panose="020B0502020104020203" pitchFamily="34" charset="77"/>
                  </a:rPr>
                  <a:t>False Non-Match Rate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4893598-E418-C04A-A634-0FB56D23E79E}"/>
              </a:ext>
            </a:extLst>
          </p:cNvPr>
          <p:cNvGrpSpPr/>
          <p:nvPr/>
        </p:nvGrpSpPr>
        <p:grpSpPr>
          <a:xfrm>
            <a:off x="6375400" y="3257176"/>
            <a:ext cx="2068762" cy="3226756"/>
            <a:chOff x="4851400" y="3257176"/>
            <a:chExt cx="2068762" cy="3226756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9677518-F503-0041-A336-7E5D63B8C24F}"/>
                </a:ext>
              </a:extLst>
            </p:cNvPr>
            <p:cNvSpPr/>
            <p:nvPr/>
          </p:nvSpPr>
          <p:spPr>
            <a:xfrm>
              <a:off x="4851400" y="3257176"/>
              <a:ext cx="812800" cy="1638300"/>
            </a:xfrm>
            <a:custGeom>
              <a:avLst/>
              <a:gdLst>
                <a:gd name="connsiteX0" fmla="*/ 812800 w 812800"/>
                <a:gd name="connsiteY0" fmla="*/ 1600200 h 1638300"/>
                <a:gd name="connsiteX1" fmla="*/ 558800 w 812800"/>
                <a:gd name="connsiteY1" fmla="*/ 1511300 h 1638300"/>
                <a:gd name="connsiteX2" fmla="*/ 381000 w 812800"/>
                <a:gd name="connsiteY2" fmla="*/ 1333500 h 1638300"/>
                <a:gd name="connsiteX3" fmla="*/ 241300 w 812800"/>
                <a:gd name="connsiteY3" fmla="*/ 1003300 h 1638300"/>
                <a:gd name="connsiteX4" fmla="*/ 114300 w 812800"/>
                <a:gd name="connsiteY4" fmla="*/ 584200 h 1638300"/>
                <a:gd name="connsiteX5" fmla="*/ 0 w 812800"/>
                <a:gd name="connsiteY5" fmla="*/ 0 h 1638300"/>
                <a:gd name="connsiteX6" fmla="*/ 0 w 812800"/>
                <a:gd name="connsiteY6" fmla="*/ 1638300 h 1638300"/>
                <a:gd name="connsiteX7" fmla="*/ 812800 w 812800"/>
                <a:gd name="connsiteY7" fmla="*/ 160020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2800" h="1638300">
                  <a:moveTo>
                    <a:pt x="812800" y="1600200"/>
                  </a:moveTo>
                  <a:lnTo>
                    <a:pt x="558800" y="1511300"/>
                  </a:lnTo>
                  <a:lnTo>
                    <a:pt x="381000" y="1333500"/>
                  </a:lnTo>
                  <a:lnTo>
                    <a:pt x="241300" y="1003300"/>
                  </a:lnTo>
                  <a:lnTo>
                    <a:pt x="114300" y="584200"/>
                  </a:lnTo>
                  <a:lnTo>
                    <a:pt x="0" y="0"/>
                  </a:lnTo>
                  <a:lnTo>
                    <a:pt x="0" y="1638300"/>
                  </a:lnTo>
                  <a:lnTo>
                    <a:pt x="812800" y="16002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16CD457-6FAD-5F47-B267-84125B278152}"/>
                </a:ext>
              </a:extLst>
            </p:cNvPr>
            <p:cNvGrpSpPr/>
            <p:nvPr/>
          </p:nvGrpSpPr>
          <p:grpSpPr>
            <a:xfrm>
              <a:off x="5014449" y="4640580"/>
              <a:ext cx="1905713" cy="1843352"/>
              <a:chOff x="1322391" y="4640583"/>
              <a:chExt cx="1905713" cy="1843352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CF67ABDD-DDF9-194A-A94E-900B429C5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2391" y="4640583"/>
                <a:ext cx="685510" cy="10858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C6ACC0-BD23-D14A-81D9-0C7CF3CE5620}"/>
                  </a:ext>
                </a:extLst>
              </p:cNvPr>
              <p:cNvSpPr txBox="1"/>
              <p:nvPr/>
            </p:nvSpPr>
            <p:spPr>
              <a:xfrm>
                <a:off x="1462877" y="5837604"/>
                <a:ext cx="17652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FMR</a:t>
                </a:r>
              </a:p>
              <a:p>
                <a:r>
                  <a:rPr lang="en-US" dirty="0">
                    <a:latin typeface="Gill Sans MT" panose="020B0502020104020203" pitchFamily="34" charset="77"/>
                  </a:rPr>
                  <a:t>False Match Rate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631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4615F0-730A-5943-9922-C52853C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0" y="480711"/>
            <a:ext cx="5969000" cy="46609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25BABD-D0DF-1349-988F-23A7A6452590}"/>
              </a:ext>
            </a:extLst>
          </p:cNvPr>
          <p:cNvCxnSpPr/>
          <p:nvPr/>
        </p:nvCxnSpPr>
        <p:spPr>
          <a:xfrm>
            <a:off x="9259331" y="4868562"/>
            <a:ext cx="902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0B645F-E6A3-9840-9B17-1979D7A76614}"/>
              </a:ext>
            </a:extLst>
          </p:cNvPr>
          <p:cNvSpPr txBox="1"/>
          <p:nvPr/>
        </p:nvSpPr>
        <p:spPr>
          <a:xfrm>
            <a:off x="9630032" y="49727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F96432-413A-9647-8411-CBCAF920547E}"/>
              </a:ext>
            </a:extLst>
          </p:cNvPr>
          <p:cNvCxnSpPr>
            <a:cxnSpLocks/>
          </p:cNvCxnSpPr>
          <p:nvPr/>
        </p:nvCxnSpPr>
        <p:spPr>
          <a:xfrm flipV="1">
            <a:off x="2562415" y="2082802"/>
            <a:ext cx="0" cy="140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12043D-3D59-5446-9501-E51794B0A6DD}"/>
              </a:ext>
            </a:extLst>
          </p:cNvPr>
          <p:cNvSpPr txBox="1"/>
          <p:nvPr/>
        </p:nvSpPr>
        <p:spPr>
          <a:xfrm rot="16200000">
            <a:off x="802556" y="2664587"/>
            <a:ext cx="287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Probability density frequency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E8DCF0-F6FD-0D40-B15A-8E4E9D1B0D0D}"/>
              </a:ext>
            </a:extLst>
          </p:cNvPr>
          <p:cNvSpPr/>
          <p:nvPr/>
        </p:nvSpPr>
        <p:spPr>
          <a:xfrm>
            <a:off x="5396754" y="4067736"/>
            <a:ext cx="759759" cy="820271"/>
          </a:xfrm>
          <a:custGeom>
            <a:avLst/>
            <a:gdLst>
              <a:gd name="connsiteX0" fmla="*/ 0 w 759759"/>
              <a:gd name="connsiteY0" fmla="*/ 806824 h 820271"/>
              <a:gd name="connsiteX1" fmla="*/ 215153 w 759759"/>
              <a:gd name="connsiteY1" fmla="*/ 699247 h 820271"/>
              <a:gd name="connsiteX2" fmla="*/ 416859 w 759759"/>
              <a:gd name="connsiteY2" fmla="*/ 578224 h 820271"/>
              <a:gd name="connsiteX3" fmla="*/ 477371 w 759759"/>
              <a:gd name="connsiteY3" fmla="*/ 470647 h 820271"/>
              <a:gd name="connsiteX4" fmla="*/ 504265 w 759759"/>
              <a:gd name="connsiteY4" fmla="*/ 430306 h 820271"/>
              <a:gd name="connsiteX5" fmla="*/ 517712 w 759759"/>
              <a:gd name="connsiteY5" fmla="*/ 410136 h 820271"/>
              <a:gd name="connsiteX6" fmla="*/ 531159 w 759759"/>
              <a:gd name="connsiteY6" fmla="*/ 376518 h 820271"/>
              <a:gd name="connsiteX7" fmla="*/ 551329 w 759759"/>
              <a:gd name="connsiteY7" fmla="*/ 309283 h 820271"/>
              <a:gd name="connsiteX8" fmla="*/ 759759 w 759759"/>
              <a:gd name="connsiteY8" fmla="*/ 0 h 820271"/>
              <a:gd name="connsiteX9" fmla="*/ 759759 w 759759"/>
              <a:gd name="connsiteY9" fmla="*/ 820271 h 820271"/>
              <a:gd name="connsiteX10" fmla="*/ 0 w 759759"/>
              <a:gd name="connsiteY10" fmla="*/ 806824 h 82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9759" h="820271">
                <a:moveTo>
                  <a:pt x="0" y="806824"/>
                </a:moveTo>
                <a:lnTo>
                  <a:pt x="215153" y="699247"/>
                </a:lnTo>
                <a:lnTo>
                  <a:pt x="416859" y="578224"/>
                </a:lnTo>
                <a:cubicBezTo>
                  <a:pt x="461581" y="429146"/>
                  <a:pt x="404970" y="579249"/>
                  <a:pt x="477371" y="470647"/>
                </a:cubicBezTo>
                <a:lnTo>
                  <a:pt x="504265" y="430306"/>
                </a:lnTo>
                <a:lnTo>
                  <a:pt x="517712" y="410136"/>
                </a:lnTo>
                <a:cubicBezTo>
                  <a:pt x="526020" y="385211"/>
                  <a:pt x="521265" y="396304"/>
                  <a:pt x="531159" y="376518"/>
                </a:cubicBezTo>
                <a:lnTo>
                  <a:pt x="551329" y="309283"/>
                </a:lnTo>
                <a:lnTo>
                  <a:pt x="759759" y="0"/>
                </a:lnTo>
                <a:lnTo>
                  <a:pt x="759759" y="820271"/>
                </a:lnTo>
                <a:lnTo>
                  <a:pt x="0" y="80682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B7C5F1D-AAF4-2540-A0AF-B11B36F263F1}"/>
              </a:ext>
            </a:extLst>
          </p:cNvPr>
          <p:cNvSpPr/>
          <p:nvPr/>
        </p:nvSpPr>
        <p:spPr>
          <a:xfrm>
            <a:off x="6169960" y="3307976"/>
            <a:ext cx="1075765" cy="1580030"/>
          </a:xfrm>
          <a:custGeom>
            <a:avLst/>
            <a:gdLst>
              <a:gd name="connsiteX0" fmla="*/ 6723 w 1075765"/>
              <a:gd name="connsiteY0" fmla="*/ 1573306 h 1580030"/>
              <a:gd name="connsiteX1" fmla="*/ 0 w 1075765"/>
              <a:gd name="connsiteY1" fmla="*/ 705971 h 1580030"/>
              <a:gd name="connsiteX2" fmla="*/ 67235 w 1075765"/>
              <a:gd name="connsiteY2" fmla="*/ 336177 h 1580030"/>
              <a:gd name="connsiteX3" fmla="*/ 141194 w 1075765"/>
              <a:gd name="connsiteY3" fmla="*/ 0 h 1580030"/>
              <a:gd name="connsiteX4" fmla="*/ 141194 w 1075765"/>
              <a:gd name="connsiteY4" fmla="*/ 0 h 1580030"/>
              <a:gd name="connsiteX5" fmla="*/ 329453 w 1075765"/>
              <a:gd name="connsiteY5" fmla="*/ 591671 h 1580030"/>
              <a:gd name="connsiteX6" fmla="*/ 510988 w 1075765"/>
              <a:gd name="connsiteY6" fmla="*/ 1109383 h 1580030"/>
              <a:gd name="connsiteX7" fmla="*/ 773206 w 1075765"/>
              <a:gd name="connsiteY7" fmla="*/ 1465730 h 1580030"/>
              <a:gd name="connsiteX8" fmla="*/ 1075765 w 1075765"/>
              <a:gd name="connsiteY8" fmla="*/ 1580030 h 1580030"/>
              <a:gd name="connsiteX9" fmla="*/ 6723 w 1075765"/>
              <a:gd name="connsiteY9" fmla="*/ 1573306 h 1580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5765" h="1580030">
                <a:moveTo>
                  <a:pt x="6723" y="1573306"/>
                </a:moveTo>
                <a:lnTo>
                  <a:pt x="0" y="705971"/>
                </a:lnTo>
                <a:lnTo>
                  <a:pt x="67235" y="336177"/>
                </a:lnTo>
                <a:lnTo>
                  <a:pt x="141194" y="0"/>
                </a:lnTo>
                <a:lnTo>
                  <a:pt x="141194" y="0"/>
                </a:lnTo>
                <a:lnTo>
                  <a:pt x="329453" y="591671"/>
                </a:lnTo>
                <a:lnTo>
                  <a:pt x="510988" y="1109383"/>
                </a:lnTo>
                <a:lnTo>
                  <a:pt x="773206" y="1465730"/>
                </a:lnTo>
                <a:lnTo>
                  <a:pt x="1075765" y="1580030"/>
                </a:lnTo>
                <a:lnTo>
                  <a:pt x="6723" y="157330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215F68-D06E-404C-9298-C531E5F669E9}"/>
              </a:ext>
            </a:extLst>
          </p:cNvPr>
          <p:cNvGrpSpPr/>
          <p:nvPr/>
        </p:nvGrpSpPr>
        <p:grpSpPr>
          <a:xfrm>
            <a:off x="6041390" y="2778728"/>
            <a:ext cx="203200" cy="3553493"/>
            <a:chOff x="4733290" y="2778727"/>
            <a:chExt cx="203200" cy="35534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3BCCF5-BF9B-F041-9EBB-89098CA1E732}"/>
                </a:ext>
              </a:extLst>
            </p:cNvPr>
            <p:cNvCxnSpPr>
              <a:cxnSpLocks/>
            </p:cNvCxnSpPr>
            <p:nvPr/>
          </p:nvCxnSpPr>
          <p:spPr>
            <a:xfrm>
              <a:off x="4862514" y="2778727"/>
              <a:ext cx="0" cy="320417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DCC00B-C696-D846-9647-496AEFE3B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3290" y="5989320"/>
              <a:ext cx="203200" cy="3429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9B9FCA-F8E0-1A48-86B2-AFFF9E018ED6}"/>
              </a:ext>
            </a:extLst>
          </p:cNvPr>
          <p:cNvGrpSpPr/>
          <p:nvPr/>
        </p:nvGrpSpPr>
        <p:grpSpPr>
          <a:xfrm>
            <a:off x="2804402" y="4640581"/>
            <a:ext cx="3126499" cy="1843355"/>
            <a:chOff x="1280401" y="4640580"/>
            <a:chExt cx="3126499" cy="184335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ECD1CE-5DA9-214A-B57B-9E8905FB9315}"/>
                </a:ext>
              </a:extLst>
            </p:cNvPr>
            <p:cNvSpPr txBox="1"/>
            <p:nvPr/>
          </p:nvSpPr>
          <p:spPr>
            <a:xfrm>
              <a:off x="1280401" y="5837604"/>
              <a:ext cx="2262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latin typeface="Gill Sans MT" panose="020B0502020104020203" pitchFamily="34" charset="77"/>
                </a:rPr>
                <a:t>FNMR</a:t>
              </a:r>
            </a:p>
            <a:p>
              <a:pPr algn="r"/>
              <a:r>
                <a:rPr lang="en-US" dirty="0">
                  <a:latin typeface="Gill Sans MT" panose="020B0502020104020203" pitchFamily="34" charset="77"/>
                </a:rPr>
                <a:t>False Non-Match Rate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6E9935C-1AD7-4146-92D4-8B5FB0D1BC13}"/>
                </a:ext>
              </a:extLst>
            </p:cNvPr>
            <p:cNvCxnSpPr/>
            <p:nvPr/>
          </p:nvCxnSpPr>
          <p:spPr>
            <a:xfrm flipH="1">
              <a:off x="3206750" y="4640580"/>
              <a:ext cx="1200150" cy="1085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6CD457-6FAD-5F47-B267-84125B278152}"/>
              </a:ext>
            </a:extLst>
          </p:cNvPr>
          <p:cNvGrpSpPr/>
          <p:nvPr/>
        </p:nvGrpSpPr>
        <p:grpSpPr>
          <a:xfrm>
            <a:off x="6538450" y="4640580"/>
            <a:ext cx="1905713" cy="1843352"/>
            <a:chOff x="1322391" y="4640583"/>
            <a:chExt cx="1905713" cy="184335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F67ABDD-DDF9-194A-A94E-900B429C5DA0}"/>
                </a:ext>
              </a:extLst>
            </p:cNvPr>
            <p:cNvCxnSpPr>
              <a:cxnSpLocks/>
            </p:cNvCxnSpPr>
            <p:nvPr/>
          </p:nvCxnSpPr>
          <p:spPr>
            <a:xfrm>
              <a:off x="1322391" y="4640583"/>
              <a:ext cx="685510" cy="10858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C6ACC0-BD23-D14A-81D9-0C7CF3CE5620}"/>
                </a:ext>
              </a:extLst>
            </p:cNvPr>
            <p:cNvSpPr txBox="1"/>
            <p:nvPr/>
          </p:nvSpPr>
          <p:spPr>
            <a:xfrm>
              <a:off x="1462877" y="5837604"/>
              <a:ext cx="17652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FMR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False Match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856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3F2DFB-5223-5446-9ABD-70C04E2D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876300"/>
            <a:ext cx="7778750" cy="51858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B9F8ED-7E82-7F46-BBD3-69B447C822E5}"/>
              </a:ext>
            </a:extLst>
          </p:cNvPr>
          <p:cNvSpPr/>
          <p:nvPr/>
        </p:nvSpPr>
        <p:spPr>
          <a:xfrm>
            <a:off x="3238500" y="5511800"/>
            <a:ext cx="61722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5C02F8-1DAD-D94C-8D7E-3D11F25DE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5566717"/>
            <a:ext cx="5753100" cy="15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07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838955D-E97B-0545-9333-60278A8CC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880533"/>
            <a:ext cx="7454900" cy="496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5FC5E2-DAB2-1143-90ED-420A9F6335A8}"/>
              </a:ext>
            </a:extLst>
          </p:cNvPr>
          <p:cNvSpPr/>
          <p:nvPr/>
        </p:nvSpPr>
        <p:spPr>
          <a:xfrm>
            <a:off x="5753100" y="4711700"/>
            <a:ext cx="7620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4829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4615F0-730A-5943-9922-C52853C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0" y="480711"/>
            <a:ext cx="5969000" cy="466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E4D0A1-800E-DC40-8D25-F5465464CF55}"/>
              </a:ext>
            </a:extLst>
          </p:cNvPr>
          <p:cNvSpPr txBox="1"/>
          <p:nvPr/>
        </p:nvSpPr>
        <p:spPr>
          <a:xfrm>
            <a:off x="7269888" y="2255107"/>
            <a:ext cx="189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Distribution of d+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FABAD-376F-4A48-8531-0F5F2E92ED49}"/>
              </a:ext>
            </a:extLst>
          </p:cNvPr>
          <p:cNvSpPr txBox="1"/>
          <p:nvPr/>
        </p:nvSpPr>
        <p:spPr>
          <a:xfrm>
            <a:off x="3690552" y="1456037"/>
            <a:ext cx="185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Distribution of d-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FA2514-41A0-8B40-92B7-BBFB8904B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886" y="2753497"/>
            <a:ext cx="14224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07FFDB-6E8A-FB4D-875A-96214476E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937" y="1978627"/>
            <a:ext cx="1422400" cy="469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CECA08-876E-A24C-B0D8-48C424393123}"/>
              </a:ext>
            </a:extLst>
          </p:cNvPr>
          <p:cNvCxnSpPr/>
          <p:nvPr/>
        </p:nvCxnSpPr>
        <p:spPr>
          <a:xfrm>
            <a:off x="5861223" y="951469"/>
            <a:ext cx="0" cy="419014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3BCCF5-BF9B-F041-9EBB-89098CA1E732}"/>
              </a:ext>
            </a:extLst>
          </p:cNvPr>
          <p:cNvCxnSpPr>
            <a:cxnSpLocks/>
          </p:cNvCxnSpPr>
          <p:nvPr/>
        </p:nvCxnSpPr>
        <p:spPr>
          <a:xfrm>
            <a:off x="6816818" y="1978628"/>
            <a:ext cx="0" cy="320417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EA17CF-A9EC-4B4E-9042-2763584A94FD}"/>
              </a:ext>
            </a:extLst>
          </p:cNvPr>
          <p:cNvCxnSpPr/>
          <p:nvPr/>
        </p:nvCxnSpPr>
        <p:spPr>
          <a:xfrm>
            <a:off x="5525084" y="3138615"/>
            <a:ext cx="6203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17E5D7-C1CF-B241-A00F-49EBF16C34B0}"/>
              </a:ext>
            </a:extLst>
          </p:cNvPr>
          <p:cNvCxnSpPr>
            <a:cxnSpLocks/>
          </p:cNvCxnSpPr>
          <p:nvPr/>
        </p:nvCxnSpPr>
        <p:spPr>
          <a:xfrm>
            <a:off x="6332392" y="3822355"/>
            <a:ext cx="11104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0CF9D98-19B6-D641-BA98-2470BEEFB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609" y="5477939"/>
            <a:ext cx="2543258" cy="10102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6B2205-157B-A449-9445-DB174438B4C4}"/>
              </a:ext>
            </a:extLst>
          </p:cNvPr>
          <p:cNvSpPr txBox="1"/>
          <p:nvPr/>
        </p:nvSpPr>
        <p:spPr>
          <a:xfrm>
            <a:off x="7727763" y="5846199"/>
            <a:ext cx="2946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0B09F-055B-1240-975D-755499026C79}"/>
              </a:ext>
            </a:extLst>
          </p:cNvPr>
          <p:cNvSpPr txBox="1"/>
          <p:nvPr/>
        </p:nvSpPr>
        <p:spPr>
          <a:xfrm>
            <a:off x="1820562" y="532576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Performance: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25BABD-D0DF-1349-988F-23A7A6452590}"/>
              </a:ext>
            </a:extLst>
          </p:cNvPr>
          <p:cNvCxnSpPr/>
          <p:nvPr/>
        </p:nvCxnSpPr>
        <p:spPr>
          <a:xfrm>
            <a:off x="9259331" y="4868562"/>
            <a:ext cx="902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0B645F-E6A3-9840-9B17-1979D7A76614}"/>
              </a:ext>
            </a:extLst>
          </p:cNvPr>
          <p:cNvSpPr txBox="1"/>
          <p:nvPr/>
        </p:nvSpPr>
        <p:spPr>
          <a:xfrm>
            <a:off x="9630032" y="49727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F96432-413A-9647-8411-CBCAF920547E}"/>
              </a:ext>
            </a:extLst>
          </p:cNvPr>
          <p:cNvCxnSpPr>
            <a:cxnSpLocks/>
          </p:cNvCxnSpPr>
          <p:nvPr/>
        </p:nvCxnSpPr>
        <p:spPr>
          <a:xfrm flipV="1">
            <a:off x="2562415" y="2082802"/>
            <a:ext cx="0" cy="140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12043D-3D59-5446-9501-E51794B0A6DD}"/>
              </a:ext>
            </a:extLst>
          </p:cNvPr>
          <p:cNvSpPr txBox="1"/>
          <p:nvPr/>
        </p:nvSpPr>
        <p:spPr>
          <a:xfrm rot="16200000">
            <a:off x="802556" y="2664587"/>
            <a:ext cx="287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Probability density frequency</a:t>
            </a:r>
          </a:p>
        </p:txBody>
      </p:sp>
    </p:spTree>
    <p:extLst>
      <p:ext uri="{BB962C8B-B14F-4D97-AF65-F5344CB8AC3E}">
        <p14:creationId xmlns:p14="http://schemas.microsoft.com/office/powerpoint/2010/main" val="462762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DD55D-9BBE-BD47-AC02-9DE04620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33" y="4074618"/>
            <a:ext cx="2236377" cy="1746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D85AA7-E2A8-0942-BEAE-67357D0FDC8E}"/>
              </a:ext>
            </a:extLst>
          </p:cNvPr>
          <p:cNvSpPr txBox="1"/>
          <p:nvPr/>
        </p:nvSpPr>
        <p:spPr>
          <a:xfrm>
            <a:off x="4223928" y="5883187"/>
            <a:ext cx="101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d’ = 2.22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9128F-9D22-2B46-9AC1-59BCAC7968A0}"/>
              </a:ext>
            </a:extLst>
          </p:cNvPr>
          <p:cNvSpPr txBox="1"/>
          <p:nvPr/>
        </p:nvSpPr>
        <p:spPr>
          <a:xfrm>
            <a:off x="4289031" y="3241282"/>
            <a:ext cx="101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d’ = 0.20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06852-9EEA-6A48-9C0A-DF226C7EE341}"/>
              </a:ext>
            </a:extLst>
          </p:cNvPr>
          <p:cNvSpPr txBox="1"/>
          <p:nvPr/>
        </p:nvSpPr>
        <p:spPr>
          <a:xfrm>
            <a:off x="2438401" y="605482"/>
            <a:ext cx="2621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Ejemplos de d'
para diferentes algoritmos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A9B6E-041D-3240-B681-FA067A02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67936" y="1450027"/>
            <a:ext cx="2236377" cy="1728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ECB97-BF45-BE45-B097-8DD5332120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9600" y="4073366"/>
            <a:ext cx="2236377" cy="1732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879A32-E459-E045-B5BC-D27AF37CFC4D}"/>
              </a:ext>
            </a:extLst>
          </p:cNvPr>
          <p:cNvSpPr txBox="1"/>
          <p:nvPr/>
        </p:nvSpPr>
        <p:spPr>
          <a:xfrm>
            <a:off x="7090695" y="5886952"/>
            <a:ext cx="101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d’ = 3.23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93A906-34C0-6344-8D85-05BEF350A4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3574" y="1450027"/>
            <a:ext cx="2232402" cy="17462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D521FF-9224-5144-B18C-93F00766F2A1}"/>
              </a:ext>
            </a:extLst>
          </p:cNvPr>
          <p:cNvSpPr txBox="1"/>
          <p:nvPr/>
        </p:nvSpPr>
        <p:spPr>
          <a:xfrm>
            <a:off x="7090695" y="3274078"/>
            <a:ext cx="101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d’ = 1.59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32AF8-2078-CF44-BFA1-129C0417F48B}"/>
              </a:ext>
            </a:extLst>
          </p:cNvPr>
          <p:cNvSpPr txBox="1"/>
          <p:nvPr/>
        </p:nvSpPr>
        <p:spPr>
          <a:xfrm>
            <a:off x="8705976" y="6067853"/>
            <a:ext cx="144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The best one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E4D2EA-75B1-294F-AE59-6B3CD9B27C42}"/>
              </a:ext>
            </a:extLst>
          </p:cNvPr>
          <p:cNvCxnSpPr/>
          <p:nvPr/>
        </p:nvCxnSpPr>
        <p:spPr>
          <a:xfrm flipH="1" flipV="1">
            <a:off x="8567351" y="5883187"/>
            <a:ext cx="259492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5560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9BFC-3ED1-B444-8BB8-557A4E0F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EDBBB-B093-6C46-96A2-04BD5F990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2334397"/>
            <a:ext cx="7518400" cy="53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45E164-34DA-F14C-99E5-5BE3BD5EDFE9}"/>
              </a:ext>
            </a:extLst>
          </p:cNvPr>
          <p:cNvSpPr txBox="1"/>
          <p:nvPr/>
        </p:nvSpPr>
        <p:spPr>
          <a:xfrm>
            <a:off x="3389869" y="3657600"/>
            <a:ext cx="72001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For Euclidean distance: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For other metrics, matrix         is learned from negative and positive pairs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A1E70-28ED-5142-8589-519E0C83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17" y="3672704"/>
            <a:ext cx="1143000" cy="31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10118-135E-6A4E-A3C4-76E847EF4802}"/>
              </a:ext>
            </a:extLst>
          </p:cNvPr>
          <p:cNvSpPr txBox="1"/>
          <p:nvPr/>
        </p:nvSpPr>
        <p:spPr>
          <a:xfrm>
            <a:off x="3407998" y="4743456"/>
            <a:ext cx="6680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If image-A and image-B are from the same person the distance is low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2F5DC-7568-1842-AB0B-8E5AEAC1130C}"/>
              </a:ext>
            </a:extLst>
          </p:cNvPr>
          <p:cNvSpPr txBox="1"/>
          <p:nvPr/>
        </p:nvSpPr>
        <p:spPr>
          <a:xfrm>
            <a:off x="3388095" y="5308034"/>
            <a:ext cx="668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If image-A and image-B are from different persons the distance is high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4259C-B81B-F247-8FC1-D5F7CF1BE50C}"/>
              </a:ext>
            </a:extLst>
          </p:cNvPr>
          <p:cNvSpPr txBox="1"/>
          <p:nvPr/>
        </p:nvSpPr>
        <p:spPr>
          <a:xfrm>
            <a:off x="3384307" y="5909221"/>
            <a:ext cx="4059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Genuine distribution is at the left side</a:t>
            </a:r>
          </a:p>
          <a:p>
            <a:r>
              <a:rPr lang="en-US" dirty="0">
                <a:latin typeface="Gill Sans MT" panose="020B0502020104020203" pitchFamily="34" charset="77"/>
              </a:rPr>
              <a:t>Impostor distribution is at the right side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37560C-E03A-E04D-8489-87C4DC9BB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542" y="4306337"/>
            <a:ext cx="165100" cy="15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77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9BFC-3ED1-B444-8BB8-557A4E0F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E74-B078-E54E-BEE5-A8F88E591463}"/>
              </a:ext>
            </a:extLst>
          </p:cNvPr>
          <p:cNvSpPr txBox="1"/>
          <p:nvPr/>
        </p:nvSpPr>
        <p:spPr>
          <a:xfrm>
            <a:off x="2426044" y="1445735"/>
            <a:ext cx="76982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Sometimes the metric is obtained from the output of a classifier (for example SVM or neural network). In this case, there are two classes, ‘1’ for genuine (same person) and ‘0’ for impostor (different persons). Typically, the classifier has a score at the output that is compared with a threshold. If the score is greater than the threshold the classification is ‘1’, otherwise is ‘0’. The score can be used in this case as a similarity metric.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AC749C-3905-764C-807E-71A69ACD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07" y="3237808"/>
            <a:ext cx="3135870" cy="2758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42A1AD-FB0C-094C-B550-FE934B74A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43" y="3492353"/>
            <a:ext cx="682325" cy="992473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F5766F-16A8-4043-9F92-58A317207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43" y="4688160"/>
            <a:ext cx="682325" cy="992473"/>
          </a:xfrm>
          <a:prstGeom prst="rect">
            <a:avLst/>
          </a:prstGeom>
          <a:ln w="63500">
            <a:noFill/>
          </a:ln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380096CF-BC79-6141-BDC8-9365D1D1B64B}"/>
              </a:ext>
            </a:extLst>
          </p:cNvPr>
          <p:cNvSpPr/>
          <p:nvPr/>
        </p:nvSpPr>
        <p:spPr>
          <a:xfrm>
            <a:off x="3223009" y="3838184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EAFAA0A-7E64-6C4A-BB55-8D3FCFDFA1AF}"/>
              </a:ext>
            </a:extLst>
          </p:cNvPr>
          <p:cNvSpPr/>
          <p:nvPr/>
        </p:nvSpPr>
        <p:spPr>
          <a:xfrm>
            <a:off x="3223010" y="499213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D3B43-41AC-9847-9468-7F6B7BAC930E}"/>
              </a:ext>
            </a:extLst>
          </p:cNvPr>
          <p:cNvSpPr txBox="1"/>
          <p:nvPr/>
        </p:nvSpPr>
        <p:spPr>
          <a:xfrm>
            <a:off x="7257536" y="4176578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same:        0.95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5549B6-56C5-D846-8D46-DDEEBC88925D}"/>
              </a:ext>
            </a:extLst>
          </p:cNvPr>
          <p:cNvSpPr txBox="1"/>
          <p:nvPr/>
        </p:nvSpPr>
        <p:spPr>
          <a:xfrm>
            <a:off x="7274009" y="4650259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different: 0.05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74AEF3-D487-784F-A4AA-C306866E85D8}"/>
              </a:ext>
            </a:extLst>
          </p:cNvPr>
          <p:cNvSpPr txBox="1"/>
          <p:nvPr/>
        </p:nvSpPr>
        <p:spPr>
          <a:xfrm>
            <a:off x="1524000" y="6100175"/>
            <a:ext cx="375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If image-A and image-B are from the same person the score s is high.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0E6504-8FB9-744D-BD77-76078763FF1E}"/>
              </a:ext>
            </a:extLst>
          </p:cNvPr>
          <p:cNvSpPr txBox="1"/>
          <p:nvPr/>
        </p:nvSpPr>
        <p:spPr>
          <a:xfrm>
            <a:off x="5677243" y="6100175"/>
            <a:ext cx="485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If image-A and image-B are from different persons the score s is 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C6CB5-4CC4-2E4A-90B0-287A35B53AD3}"/>
              </a:ext>
            </a:extLst>
          </p:cNvPr>
          <p:cNvSpPr txBox="1"/>
          <p:nvPr/>
        </p:nvSpPr>
        <p:spPr>
          <a:xfrm>
            <a:off x="8532981" y="3201931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score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7C10BFD-020F-C24C-BD09-34A7DBCB278D}"/>
              </a:ext>
            </a:extLst>
          </p:cNvPr>
          <p:cNvSpPr/>
          <p:nvPr/>
        </p:nvSpPr>
        <p:spPr>
          <a:xfrm>
            <a:off x="8246118" y="4114278"/>
            <a:ext cx="590697" cy="461088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E348E0-5690-EC43-A025-1B476F6A4601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8541466" y="3631160"/>
            <a:ext cx="253796" cy="483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A710CA-6E64-194B-8AF9-B71B102DD89F}"/>
              </a:ext>
            </a:extLst>
          </p:cNvPr>
          <p:cNvSpPr txBox="1"/>
          <p:nvPr/>
        </p:nvSpPr>
        <p:spPr>
          <a:xfrm>
            <a:off x="1981200" y="394654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7D1CB8-AEB2-A947-90B5-C7A3E3A2D8EC}"/>
              </a:ext>
            </a:extLst>
          </p:cNvPr>
          <p:cNvSpPr txBox="1"/>
          <p:nvPr/>
        </p:nvSpPr>
        <p:spPr>
          <a:xfrm>
            <a:off x="1948249" y="4939213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04360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1439</Words>
  <Application>Microsoft Macintosh PowerPoint</Application>
  <PresentationFormat>Widescreen</PresentationFormat>
  <Paragraphs>415</Paragraphs>
  <Slides>44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 Display</vt:lpstr>
      <vt:lpstr>Arial</vt:lpstr>
      <vt:lpstr>Gill Sans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metrics</vt:lpstr>
      <vt:lpstr>Other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23</cp:revision>
  <dcterms:created xsi:type="dcterms:W3CDTF">2026-03-08T16:41:49Z</dcterms:created>
  <dcterms:modified xsi:type="dcterms:W3CDTF">2026-06-04T14:54:56Z</dcterms:modified>
</cp:coreProperties>
</file>