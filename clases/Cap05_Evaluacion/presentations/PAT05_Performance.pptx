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7" r:id="rId2"/>
    <p:sldId id="333" r:id="rId3"/>
    <p:sldId id="334" r:id="rId4"/>
    <p:sldId id="335" r:id="rId5"/>
    <p:sldId id="354" r:id="rId6"/>
    <p:sldId id="353" r:id="rId7"/>
    <p:sldId id="345" r:id="rId8"/>
    <p:sldId id="343" r:id="rId9"/>
    <p:sldId id="342" r:id="rId10"/>
    <p:sldId id="341" r:id="rId11"/>
    <p:sldId id="355" r:id="rId12"/>
    <p:sldId id="358" r:id="rId13"/>
    <p:sldId id="336" r:id="rId14"/>
    <p:sldId id="337" r:id="rId15"/>
    <p:sldId id="338" r:id="rId16"/>
    <p:sldId id="487" r:id="rId17"/>
    <p:sldId id="488" r:id="rId18"/>
    <p:sldId id="489" r:id="rId19"/>
    <p:sldId id="339" r:id="rId20"/>
    <p:sldId id="491" r:id="rId21"/>
    <p:sldId id="344" r:id="rId22"/>
    <p:sldId id="348" r:id="rId23"/>
    <p:sldId id="357" r:id="rId24"/>
    <p:sldId id="356" r:id="rId25"/>
    <p:sldId id="346" r:id="rId26"/>
    <p:sldId id="347" r:id="rId27"/>
    <p:sldId id="352" r:id="rId28"/>
    <p:sldId id="349" r:id="rId29"/>
    <p:sldId id="351" r:id="rId30"/>
    <p:sldId id="486" r:id="rId31"/>
    <p:sldId id="447" r:id="rId32"/>
    <p:sldId id="474" r:id="rId33"/>
    <p:sldId id="475" r:id="rId34"/>
    <p:sldId id="484" r:id="rId35"/>
    <p:sldId id="481" r:id="rId36"/>
    <p:sldId id="482" r:id="rId37"/>
    <p:sldId id="485" r:id="rId38"/>
    <p:sldId id="483" r:id="rId39"/>
    <p:sldId id="476" r:id="rId40"/>
    <p:sldId id="477" r:id="rId41"/>
    <p:sldId id="478" r:id="rId42"/>
    <p:sldId id="479" r:id="rId43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923"/>
    <p:restoredTop sz="94658"/>
  </p:normalViewPr>
  <p:slideViewPr>
    <p:cSldViewPr snapToGrid="0">
      <p:cViewPr>
        <p:scale>
          <a:sx n="100" d="100"/>
          <a:sy n="100" d="100"/>
        </p:scale>
        <p:origin x="144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1249748F-0FE7-C64C-B0B9-9306A54D4824}" type="datetimeFigureOut">
              <a:rPr lang="en-CL" smtClean="0"/>
              <a:pPr/>
              <a:t>03-06-26</a:t>
            </a:fld>
            <a:endParaRPr lang="en-CL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L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8C36E6B2-EC45-1147-8496-DFA2586CC8C4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303457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7E9996-E95A-6C4A-95EE-D7EBED57F47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8547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C2E5-2936-1440-B883-1849C4E42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456E4F-CC82-5BE0-9784-9F4C134E72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B12FF-F5E2-3A6F-8A05-55D04EEE08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FFB8C-FD93-44A8-DDD6-18ECB25943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7E9996-E95A-6C4A-95EE-D7EBED57F47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6505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BB83F-81E6-2473-6476-3B65AC8BC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E4F79-5FB0-BAAB-9BAC-339095DFCB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BA03FD-4F04-24AB-7A43-09A13F0FE1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1F4EF-1639-3B69-24E4-AC3A331A92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7E9996-E95A-6C4A-95EE-D7EBED57F47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2459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979C-EEAF-5923-1D87-66D580484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41513-79B4-F2AB-2D85-2B8724A0B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AB85A-8E28-5711-F763-1E57CCB7B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E29FFC-08B7-E91A-EF1E-ABD66D6AA5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7E9996-E95A-6C4A-95EE-D7EBED57F47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9478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9996-E95A-6C4A-95EE-D7EBED57F47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723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9996-E95A-6C4A-95EE-D7EBED57F47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4223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9996-E95A-6C4A-95EE-D7EBED57F47A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482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9996-E95A-6C4A-95EE-D7EBED57F47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9599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8DC0-3787-B971-5D00-8727CB18C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4A3FB4-AFDF-6CFB-84FB-E0438C517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F51BE-7742-8427-323B-6746C927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03-06-26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7082A-B0F6-05B3-4148-6F125B3BE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5BB3A-30A8-1717-EEEF-CCDD19DE1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0187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5084-85EB-0ADC-D7F0-0DA592CE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50CEA-EC43-5349-1EBB-8F562F4E7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EC922-A7D2-9731-7041-D7AC6FB8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03-06-26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AEC05-6729-F167-4DA1-FB23E049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5FA-C70E-C130-A20D-DB301157A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8850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F4697-BA84-150B-4C2D-F8471379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9B2F4-202A-2BB1-535C-1A428E58F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EE603-A515-38A5-01CB-993F9D3E6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03-06-26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D1643-6231-F3E2-610F-D775A2BB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7DCF5-082A-FB09-50BE-837F0ACE1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26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C9F8F-3D31-5054-B98B-32951A347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103B9-D8C0-4B32-EE45-9BD12EF747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2F047-75A3-523A-D879-40B2EDA8D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9FB8B8-5B4E-1775-617E-5E75D094A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03-06-26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B9D2B7-35C0-0726-D40B-546E245F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10F33-EF19-5FAC-1C0C-CC049E95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6502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880C-73E3-54CD-F870-565E8A1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5B4E4-4FDE-76FD-67FE-AC9066C11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CE05A7-4548-3D67-22C7-AE2D1FA32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23D907-7359-B8EC-9C20-35EBC1A8C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90DD8-E513-9D1B-B62B-8CD564AF8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A1F58-D509-1FFB-BFE0-0B0A4843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03-06-26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A7296-B85D-0D25-EB6E-7FAF5D12D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31504A-0C9E-5FD4-88B8-34EEA6574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4005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B930F-82FE-3339-6D9E-1DCC65EE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259F5-F978-F338-03E4-3952DD8EF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03-06-26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FF779-7E7D-359E-E5CD-14EA90664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397C7-7E22-651A-C048-37C544FF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275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637C7D-F2B3-C204-E8FB-4C5FB6A76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03-06-26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EFEE0D-AE5F-8253-4CF5-C157DB29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7494-01E2-375D-3A6E-278594CEB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1766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A152-0160-E38E-9640-CE00E472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EA249-D00C-C8BF-F952-C8F00CAC9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8AD5D-DACB-DF63-8FE5-FD4EB5F1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FD239-CEB5-6239-AE07-3B04DD52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03-06-26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E91D8-CA73-7BEA-3043-ED8929AA7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F3F48-2CE1-5E7C-C6F3-86C5FE51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0426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182A3-0F8B-CC16-20BE-CAA209EB5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53BF4D-06F1-F555-7BCE-8DDE12ECAC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8D79A-13B1-0A13-045B-55242353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0F8041-19BA-61C7-2614-452EAEA6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03-06-26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DDC1A-06C5-55BB-AD73-4558907A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A2152-78EF-2AC4-BAFC-1632F3AC7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33367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0AD8-C101-EB20-BB37-5C26D22B6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D8A52-99B4-C6B9-B1AB-C4AEFAF4B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50266-8A1C-5C52-C130-674316BD0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03-06-26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8F916-6B33-A387-4535-E912E9B6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DE79-9DC5-1075-5BCE-A06034D3D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1173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487A33-D0CF-C093-B49B-3DC54A000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C567E-C21C-371B-9E0F-758B9066F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ED834-5694-C52C-4AFB-CC7182B18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03-06-26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DEE-BCC0-3112-ED29-8778C02F0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5837-C56A-6554-DF4C-C991A899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505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788CC3-6112-0648-6A8C-40A7C6624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AA52D-33E4-8E14-0BD4-6371720A8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AAD87-BD69-6E51-34E6-999EF8327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2C457589-72F1-974D-B204-6AE212262628}" type="datetimeFigureOut">
              <a:rPr lang="en-CL" smtClean="0"/>
              <a:pPr/>
              <a:t>03-06-26</a:t>
            </a:fld>
            <a:endParaRPr lang="en-C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F1805-E127-5436-F4BD-B493F446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709C2-DDB7-3E94-C59E-462FCDB337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006AE8E3-C79C-E14F-9140-34B0C7F543F1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42480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9.emf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emf"/><Relationship Id="rId3" Type="http://schemas.openxmlformats.org/officeDocument/2006/relationships/image" Target="../media/image22.png"/><Relationship Id="rId7" Type="http://schemas.openxmlformats.org/officeDocument/2006/relationships/image" Target="../media/image26.em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emf"/><Relationship Id="rId5" Type="http://schemas.openxmlformats.org/officeDocument/2006/relationships/image" Target="../media/image24.emf"/><Relationship Id="rId4" Type="http://schemas.openxmlformats.org/officeDocument/2006/relationships/image" Target="../media/image23.emf"/><Relationship Id="rId9" Type="http://schemas.openxmlformats.org/officeDocument/2006/relationships/image" Target="../media/image28.emf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emf"/><Relationship Id="rId3" Type="http://schemas.openxmlformats.org/officeDocument/2006/relationships/image" Target="../media/image30.emf"/><Relationship Id="rId7" Type="http://schemas.openxmlformats.org/officeDocument/2006/relationships/image" Target="../media/image34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emf"/><Relationship Id="rId5" Type="http://schemas.openxmlformats.org/officeDocument/2006/relationships/image" Target="../media/image32.emf"/><Relationship Id="rId4" Type="http://schemas.openxmlformats.org/officeDocument/2006/relationships/image" Target="../media/image31.emf"/><Relationship Id="rId9" Type="http://schemas.openxmlformats.org/officeDocument/2006/relationships/image" Target="../media/image36.e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37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37.tif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emf"/><Relationship Id="rId5" Type="http://schemas.openxmlformats.org/officeDocument/2006/relationships/image" Target="../media/image47.emf"/><Relationship Id="rId4" Type="http://schemas.openxmlformats.org/officeDocument/2006/relationships/image" Target="../media/image46.e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emf"/><Relationship Id="rId2" Type="http://schemas.openxmlformats.org/officeDocument/2006/relationships/image" Target="../media/image5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e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363235"/>
            <a:ext cx="3095399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Performance</a:t>
            </a:r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(CAPÍTULO V 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48AA27-77C8-10F5-0709-2ACA67E4C0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8781" y="2739696"/>
            <a:ext cx="4389046" cy="3434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96152" y="1306171"/>
            <a:ext cx="31598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Matriz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 de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Confusión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152" y="2946064"/>
            <a:ext cx="10566412" cy="203200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35DD59E-61A1-184B-A324-CCE4C5D8D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43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7500025"/>
              </p:ext>
            </p:extLst>
          </p:nvPr>
        </p:nvGraphicFramePr>
        <p:xfrm>
          <a:off x="3443785" y="2966493"/>
          <a:ext cx="6096000" cy="2225040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...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en-US" b="0" i="0" dirty="0">
                        <a:solidFill>
                          <a:schemeClr val="tx1"/>
                        </a:solidFill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0828" y="3080788"/>
            <a:ext cx="279400" cy="1778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930" y="3437906"/>
            <a:ext cx="279400" cy="177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468" y="3067143"/>
            <a:ext cx="279400" cy="1778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222" y="3820045"/>
            <a:ext cx="279400" cy="1778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4354" y="3060790"/>
            <a:ext cx="292100" cy="1905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516" y="4195824"/>
            <a:ext cx="292100" cy="1905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3422" y="3053494"/>
            <a:ext cx="381000" cy="17780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0090" y="4909592"/>
            <a:ext cx="381000" cy="177800"/>
          </a:xfrm>
          <a:prstGeom prst="rect">
            <a:avLst/>
          </a:prstGeom>
        </p:spPr>
      </p:pic>
      <p:sp>
        <p:nvSpPr>
          <p:cNvPr id="13" name="Left Brace 12"/>
          <p:cNvSpPr/>
          <p:nvPr/>
        </p:nvSpPr>
        <p:spPr>
          <a:xfrm rot="5400000">
            <a:off x="6914100" y="113559"/>
            <a:ext cx="182564" cy="503242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Left Brace 13"/>
          <p:cNvSpPr/>
          <p:nvPr/>
        </p:nvSpPr>
        <p:spPr>
          <a:xfrm>
            <a:off x="2916069" y="3367773"/>
            <a:ext cx="254758" cy="182376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80022" y="1945566"/>
            <a:ext cx="116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predicción</a:t>
            </a:r>
            <a:endParaRPr lang="en-US" dirty="0"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 rot="16200000">
            <a:off x="2391055" y="4079112"/>
            <a:ext cx="53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real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6EE2BC-6103-D74F-8501-4A9A89A7C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3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C19FD-D5E6-27EE-D2B5-67341E3E6D7C}"/>
              </a:ext>
            </a:extLst>
          </p:cNvPr>
          <p:cNvSpPr txBox="1"/>
          <p:nvPr/>
        </p:nvSpPr>
        <p:spPr>
          <a:xfrm>
            <a:off x="1196152" y="1306171"/>
            <a:ext cx="31598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Matriz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 de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Confusión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3511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116656"/>
              </p:ext>
            </p:extLst>
          </p:nvPr>
        </p:nvGraphicFramePr>
        <p:xfrm>
          <a:off x="3443785" y="2966493"/>
          <a:ext cx="6096000" cy="2225040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...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1230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90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78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9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66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890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120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5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59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95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1527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90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en-US" b="0" i="0" dirty="0">
                        <a:solidFill>
                          <a:schemeClr val="tx1"/>
                        </a:solidFill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40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67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129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912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0828" y="3080788"/>
            <a:ext cx="279400" cy="1778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930" y="3437906"/>
            <a:ext cx="279400" cy="177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468" y="3067143"/>
            <a:ext cx="279400" cy="1778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222" y="3820045"/>
            <a:ext cx="279400" cy="1778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4354" y="3060790"/>
            <a:ext cx="292100" cy="1905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516" y="4195824"/>
            <a:ext cx="292100" cy="1905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3422" y="3053494"/>
            <a:ext cx="381000" cy="17780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0090" y="4909592"/>
            <a:ext cx="381000" cy="177800"/>
          </a:xfrm>
          <a:prstGeom prst="rect">
            <a:avLst/>
          </a:prstGeom>
        </p:spPr>
      </p:pic>
      <p:sp>
        <p:nvSpPr>
          <p:cNvPr id="13" name="Left Brace 12"/>
          <p:cNvSpPr/>
          <p:nvPr/>
        </p:nvSpPr>
        <p:spPr>
          <a:xfrm rot="5400000">
            <a:off x="6914100" y="113559"/>
            <a:ext cx="182564" cy="503242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Left Brace 13"/>
          <p:cNvSpPr/>
          <p:nvPr/>
        </p:nvSpPr>
        <p:spPr>
          <a:xfrm>
            <a:off x="2916069" y="3367773"/>
            <a:ext cx="254758" cy="182376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3387319" y="3299533"/>
            <a:ext cx="6134275" cy="2978143"/>
            <a:chOff x="1863318" y="3299532"/>
            <a:chExt cx="6134275" cy="2978143"/>
          </a:xfrm>
        </p:grpSpPr>
        <p:sp>
          <p:nvSpPr>
            <p:cNvPr id="17" name="Oval 16"/>
            <p:cNvSpPr/>
            <p:nvPr/>
          </p:nvSpPr>
          <p:spPr>
            <a:xfrm>
              <a:off x="5176578" y="3299532"/>
              <a:ext cx="596422" cy="452273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63318" y="5631344"/>
              <a:ext cx="6134275" cy="64633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Ejemplo</a:t>
              </a:r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: hay 78 </a:t>
              </a:r>
              <a:r>
                <a:rPr lang="en-US" dirty="0" err="1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muestras</a:t>
              </a:r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 de </a:t>
              </a:r>
              <a:r>
                <a:rPr lang="en-US" dirty="0" err="1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clase</a:t>
              </a:r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 </a:t>
              </a:r>
              <a:r>
                <a:rPr lang="en-US" dirty="0">
                  <a:latin typeface="Times New Roman" panose="02020603050405020304" pitchFamily="18" charset="0"/>
                  <a:ea typeface="Trebuchet MS" charset="0"/>
                  <a:cs typeface="Times New Roman" panose="02020603050405020304" pitchFamily="18" charset="0"/>
                </a:rPr>
                <a:t>1</a:t>
              </a:r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 </a:t>
              </a:r>
              <a:r>
                <a:rPr lang="en-US" dirty="0" err="1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que</a:t>
              </a:r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 </a:t>
              </a:r>
              <a:r>
                <a:rPr lang="en-US" dirty="0" err="1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han</a:t>
              </a:r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 </a:t>
              </a:r>
              <a:r>
                <a:rPr lang="en-US" dirty="0" err="1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sido</a:t>
              </a:r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 </a:t>
              </a:r>
              <a:r>
                <a:rPr lang="en-US" dirty="0" err="1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clasificadas</a:t>
              </a:r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 </a:t>
              </a:r>
              <a:r>
                <a:rPr lang="en-US" dirty="0" err="1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como</a:t>
              </a:r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 </a:t>
              </a:r>
              <a:r>
                <a:rPr lang="en-US" dirty="0" err="1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clase</a:t>
              </a:r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 3.</a:t>
              </a:r>
            </a:p>
          </p:txBody>
        </p:sp>
        <p:cxnSp>
          <p:nvCxnSpPr>
            <p:cNvPr id="20" name="Straight Arrow Connector 19"/>
            <p:cNvCxnSpPr>
              <a:cxnSpLocks/>
              <a:stCxn id="17" idx="3"/>
            </p:cNvCxnSpPr>
            <p:nvPr/>
          </p:nvCxnSpPr>
          <p:spPr>
            <a:xfrm flipH="1">
              <a:off x="2865863" y="3685571"/>
              <a:ext cx="2398059" cy="194577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DD4D6A-F282-FB4A-A7DC-FB868C4E6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4</a:t>
            </a:fld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7096B1-F717-F4CC-6D72-8CABC0663D95}"/>
              </a:ext>
            </a:extLst>
          </p:cNvPr>
          <p:cNvSpPr txBox="1"/>
          <p:nvPr/>
        </p:nvSpPr>
        <p:spPr>
          <a:xfrm>
            <a:off x="6280022" y="1945566"/>
            <a:ext cx="116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predicción</a:t>
            </a:r>
            <a:endParaRPr lang="en-US" dirty="0"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397A11-007C-5CCE-E738-8B452502CB5E}"/>
              </a:ext>
            </a:extLst>
          </p:cNvPr>
          <p:cNvSpPr txBox="1"/>
          <p:nvPr/>
        </p:nvSpPr>
        <p:spPr>
          <a:xfrm rot="16200000">
            <a:off x="2391055" y="4079112"/>
            <a:ext cx="53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real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12B208-1F9E-869C-46DD-CFF6A51A86AE}"/>
              </a:ext>
            </a:extLst>
          </p:cNvPr>
          <p:cNvSpPr txBox="1"/>
          <p:nvPr/>
        </p:nvSpPr>
        <p:spPr>
          <a:xfrm>
            <a:off x="1196152" y="1306171"/>
            <a:ext cx="31598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Matriz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 de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Confusión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837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783514" y="2101519"/>
            <a:ext cx="671215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dirty="0" err="1">
                <a:latin typeface="Gill Sans MT" panose="020B0502020104020203" pitchFamily="34" charset="77"/>
              </a:rPr>
              <a:t>Detección</a:t>
            </a:r>
            <a:endParaRPr lang="en-US" sz="6000" dirty="0">
              <a:latin typeface="Gill Sans MT" panose="020B0502020104020203" pitchFamily="34" charset="77"/>
            </a:endParaRPr>
          </a:p>
          <a:p>
            <a:pPr algn="ctr"/>
            <a:r>
              <a:rPr lang="es-419" sz="6000" dirty="0">
                <a:latin typeface="Gill Sans MT" panose="020B0502020104020203" pitchFamily="34" charset="77"/>
              </a:rPr>
              <a:t>Problema de 2 clases</a:t>
            </a:r>
            <a:endParaRPr lang="en-US" sz="6000" dirty="0">
              <a:latin typeface="Gill Sans MT" panose="020B0502020104020203" pitchFamily="34" charset="77"/>
            </a:endParaRPr>
          </a:p>
          <a:p>
            <a:pPr algn="ctr"/>
            <a:r>
              <a:rPr lang="en-US" sz="6000" dirty="0"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38634C-7D74-4D4B-ACD2-DB8C50091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01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912362" y="2169997"/>
            <a:ext cx="4285397" cy="376678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87773" y="696035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Ejemplo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5" name="Freeform 4"/>
          <p:cNvSpPr/>
          <p:nvPr/>
        </p:nvSpPr>
        <p:spPr>
          <a:xfrm>
            <a:off x="4529157" y="3166216"/>
            <a:ext cx="2729534" cy="1919913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9534" h="1919913">
                <a:moveTo>
                  <a:pt x="1034582" y="341268"/>
                </a:moveTo>
                <a:cubicBezTo>
                  <a:pt x="1284791" y="238910"/>
                  <a:pt x="1230200" y="-68165"/>
                  <a:pt x="1512254" y="13722"/>
                </a:cubicBezTo>
                <a:cubicBezTo>
                  <a:pt x="1794308" y="95609"/>
                  <a:pt x="2679138" y="518690"/>
                  <a:pt x="2726905" y="832588"/>
                </a:cubicBezTo>
                <a:cubicBezTo>
                  <a:pt x="2774672" y="1146486"/>
                  <a:pt x="2160523" y="1787931"/>
                  <a:pt x="1798857" y="1897113"/>
                </a:cubicBezTo>
                <a:cubicBezTo>
                  <a:pt x="1437191" y="2006295"/>
                  <a:pt x="854887" y="1699220"/>
                  <a:pt x="556911" y="1487680"/>
                </a:cubicBezTo>
                <a:cubicBezTo>
                  <a:pt x="258935" y="1276140"/>
                  <a:pt x="-64063" y="816665"/>
                  <a:pt x="11000" y="627871"/>
                </a:cubicBezTo>
                <a:cubicBezTo>
                  <a:pt x="86063" y="439077"/>
                  <a:pt x="784373" y="443626"/>
                  <a:pt x="1034582" y="341268"/>
                </a:cubicBezTo>
                <a:close/>
              </a:path>
            </a:pathLst>
          </a:cu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" name="Straight Arrow Connector 2"/>
          <p:cNvCxnSpPr/>
          <p:nvPr/>
        </p:nvCxnSpPr>
        <p:spPr>
          <a:xfrm flipV="1">
            <a:off x="3549570" y="3530279"/>
            <a:ext cx="0" cy="18403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V="1">
            <a:off x="5471502" y="6355352"/>
            <a:ext cx="11671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645235" y="6157731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3859" y="65637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71526" y="303449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24753" y="3655328"/>
            <a:ext cx="24697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aseline="-25000" dirty="0">
                <a:solidFill>
                  <a:srgbClr val="FF0000"/>
                </a:solidFill>
                <a:latin typeface="Gill Sans MT" panose="020B0502020104020203" pitchFamily="34" charset="77"/>
              </a:rPr>
              <a:t>*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 : class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 </a:t>
            </a:r>
            <a:r>
              <a:rPr lang="en-US" i="1" dirty="0">
                <a:solidFill>
                  <a:srgbClr val="FF0000"/>
                </a:solidFill>
                <a:latin typeface="Gill Sans MT" panose="020B0502020104020203" pitchFamily="34" charset="77"/>
                <a:cs typeface="Times New Roman" panose="02020603050405020304" pitchFamily="18" charset="0"/>
              </a:rPr>
              <a:t>(</a:t>
            </a:r>
            <a:r>
              <a:rPr lang="en-US" i="1" dirty="0" err="1">
                <a:solidFill>
                  <a:srgbClr val="FF0000"/>
                </a:solidFill>
                <a:latin typeface="Gill Sans MT" panose="020B0502020104020203" pitchFamily="34" charset="77"/>
                <a:cs typeface="Times New Roman" panose="02020603050405020304" pitchFamily="18" charset="0"/>
              </a:rPr>
              <a:t>clase</a:t>
            </a:r>
            <a:r>
              <a:rPr lang="en-US" i="1" dirty="0">
                <a:solidFill>
                  <a:srgbClr val="FF0000"/>
                </a:solidFill>
                <a:latin typeface="Gill Sans MT" panose="020B0502020104020203" pitchFamily="34" charset="77"/>
                <a:cs typeface="Times New Roman" panose="02020603050405020304" pitchFamily="18" charset="0"/>
              </a:rPr>
              <a:t> </a:t>
            </a:r>
            <a:r>
              <a:rPr lang="en-US" i="1" dirty="0" err="1">
                <a:solidFill>
                  <a:srgbClr val="FF0000"/>
                </a:solidFill>
                <a:latin typeface="Gill Sans MT" panose="020B0502020104020203" pitchFamily="34" charset="77"/>
                <a:cs typeface="Times New Roman" panose="02020603050405020304" pitchFamily="18" charset="0"/>
              </a:rPr>
              <a:t>positiva</a:t>
            </a:r>
            <a:r>
              <a:rPr lang="en-US" i="1" dirty="0">
                <a:solidFill>
                  <a:srgbClr val="FF0000"/>
                </a:solidFill>
                <a:latin typeface="Gill Sans MT" panose="020B0502020104020203" pitchFamily="34" charset="77"/>
                <a:cs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56899" y="3812482"/>
            <a:ext cx="245904" cy="25207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494FAD-3FF2-A146-BD84-6E869ED57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643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912362" y="2169997"/>
            <a:ext cx="4285397" cy="376678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Freeform 4"/>
          <p:cNvSpPr/>
          <p:nvPr/>
        </p:nvSpPr>
        <p:spPr>
          <a:xfrm>
            <a:off x="4529157" y="3166216"/>
            <a:ext cx="2729534" cy="1919913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9534" h="1919913">
                <a:moveTo>
                  <a:pt x="1034582" y="341268"/>
                </a:moveTo>
                <a:cubicBezTo>
                  <a:pt x="1284791" y="238910"/>
                  <a:pt x="1230200" y="-68165"/>
                  <a:pt x="1512254" y="13722"/>
                </a:cubicBezTo>
                <a:cubicBezTo>
                  <a:pt x="1794308" y="95609"/>
                  <a:pt x="2679138" y="518690"/>
                  <a:pt x="2726905" y="832588"/>
                </a:cubicBezTo>
                <a:cubicBezTo>
                  <a:pt x="2774672" y="1146486"/>
                  <a:pt x="2160523" y="1787931"/>
                  <a:pt x="1798857" y="1897113"/>
                </a:cubicBezTo>
                <a:cubicBezTo>
                  <a:pt x="1437191" y="2006295"/>
                  <a:pt x="854887" y="1699220"/>
                  <a:pt x="556911" y="1487680"/>
                </a:cubicBezTo>
                <a:cubicBezTo>
                  <a:pt x="258935" y="1276140"/>
                  <a:pt x="-64063" y="816665"/>
                  <a:pt x="11000" y="627871"/>
                </a:cubicBezTo>
                <a:cubicBezTo>
                  <a:pt x="86063" y="439077"/>
                  <a:pt x="784373" y="443626"/>
                  <a:pt x="1034582" y="341268"/>
                </a:cubicBezTo>
                <a:close/>
              </a:path>
            </a:pathLst>
          </a:cu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596244" y="3941505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6301" y="1058118"/>
            <a:ext cx="38175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rojos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Muestras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(P)
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blancos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Muestras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8897" y="3879724"/>
            <a:ext cx="146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Ground Truth</a:t>
            </a:r>
          </a:p>
        </p:txBody>
      </p:sp>
      <p:cxnSp>
        <p:nvCxnSpPr>
          <p:cNvPr id="14" name="Straight Connector 13"/>
          <p:cNvCxnSpPr/>
          <p:nvPr/>
        </p:nvCxnSpPr>
        <p:spPr>
          <a:xfrm flipH="1">
            <a:off x="2894723" y="4249057"/>
            <a:ext cx="1935698" cy="12241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81B350-B799-DC41-A594-821526ECC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7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ADD06C-3498-A4FC-B39D-85CF4C909785}"/>
              </a:ext>
            </a:extLst>
          </p:cNvPr>
          <p:cNvSpPr txBox="1"/>
          <p:nvPr/>
        </p:nvSpPr>
        <p:spPr>
          <a:xfrm>
            <a:off x="1687773" y="696035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Ejemplo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7057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912362" y="2169997"/>
            <a:ext cx="4285397" cy="376678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Freeform 4"/>
          <p:cNvSpPr/>
          <p:nvPr/>
        </p:nvSpPr>
        <p:spPr>
          <a:xfrm>
            <a:off x="4529157" y="3166216"/>
            <a:ext cx="2729534" cy="1919913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9534" h="1919913">
                <a:moveTo>
                  <a:pt x="1034582" y="341268"/>
                </a:moveTo>
                <a:cubicBezTo>
                  <a:pt x="1284791" y="238910"/>
                  <a:pt x="1230200" y="-68165"/>
                  <a:pt x="1512254" y="13722"/>
                </a:cubicBezTo>
                <a:cubicBezTo>
                  <a:pt x="1794308" y="95609"/>
                  <a:pt x="2679138" y="518690"/>
                  <a:pt x="2726905" y="832588"/>
                </a:cubicBezTo>
                <a:cubicBezTo>
                  <a:pt x="2774672" y="1146486"/>
                  <a:pt x="2160523" y="1787931"/>
                  <a:pt x="1798857" y="1897113"/>
                </a:cubicBezTo>
                <a:cubicBezTo>
                  <a:pt x="1437191" y="2006295"/>
                  <a:pt x="854887" y="1699220"/>
                  <a:pt x="556911" y="1487680"/>
                </a:cubicBezTo>
                <a:cubicBezTo>
                  <a:pt x="258935" y="1276140"/>
                  <a:pt x="-64063" y="816665"/>
                  <a:pt x="11000" y="627871"/>
                </a:cubicBezTo>
                <a:cubicBezTo>
                  <a:pt x="86063" y="439077"/>
                  <a:pt x="784373" y="443626"/>
                  <a:pt x="1034582" y="341268"/>
                </a:cubicBezTo>
                <a:close/>
              </a:path>
            </a:pathLst>
          </a:cu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/>
          <p:cNvSpPr/>
          <p:nvPr/>
        </p:nvSpPr>
        <p:spPr>
          <a:xfrm>
            <a:off x="4811400" y="3074556"/>
            <a:ext cx="2589777" cy="2029155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  <a:gd name="connsiteX0" fmla="*/ 1034582 w 2242520"/>
              <a:gd name="connsiteY0" fmla="*/ 343152 h 1919663"/>
              <a:gd name="connsiteX1" fmla="*/ 1512254 w 2242520"/>
              <a:gd name="connsiteY1" fmla="*/ 15606 h 1919663"/>
              <a:gd name="connsiteX2" fmla="*/ 2235585 w 2242520"/>
              <a:gd name="connsiteY2" fmla="*/ 875416 h 1919663"/>
              <a:gd name="connsiteX3" fmla="*/ 1798857 w 2242520"/>
              <a:gd name="connsiteY3" fmla="*/ 1898997 h 1919663"/>
              <a:gd name="connsiteX4" fmla="*/ 556911 w 2242520"/>
              <a:gd name="connsiteY4" fmla="*/ 1489564 h 1919663"/>
              <a:gd name="connsiteX5" fmla="*/ 11000 w 2242520"/>
              <a:gd name="connsiteY5" fmla="*/ 629755 h 1919663"/>
              <a:gd name="connsiteX6" fmla="*/ 1034582 w 2242520"/>
              <a:gd name="connsiteY6" fmla="*/ 343152 h 1919663"/>
              <a:gd name="connsiteX0" fmla="*/ 1034582 w 2253299"/>
              <a:gd name="connsiteY0" fmla="*/ 435985 h 2012496"/>
              <a:gd name="connsiteX1" fmla="*/ 1280242 w 2253299"/>
              <a:gd name="connsiteY1" fmla="*/ 12904 h 2012496"/>
              <a:gd name="connsiteX2" fmla="*/ 2235585 w 2253299"/>
              <a:gd name="connsiteY2" fmla="*/ 968249 h 2012496"/>
              <a:gd name="connsiteX3" fmla="*/ 1798857 w 2253299"/>
              <a:gd name="connsiteY3" fmla="*/ 1991830 h 2012496"/>
              <a:gd name="connsiteX4" fmla="*/ 556911 w 2253299"/>
              <a:gd name="connsiteY4" fmla="*/ 1582397 h 2012496"/>
              <a:gd name="connsiteX5" fmla="*/ 11000 w 2253299"/>
              <a:gd name="connsiteY5" fmla="*/ 722588 h 2012496"/>
              <a:gd name="connsiteX6" fmla="*/ 1034582 w 2253299"/>
              <a:gd name="connsiteY6" fmla="*/ 435985 h 2012496"/>
              <a:gd name="connsiteX0" fmla="*/ 586989 w 2242434"/>
              <a:gd name="connsiteY0" fmla="*/ 487258 h 2009178"/>
              <a:gd name="connsiteX1" fmla="*/ 1269377 w 2242434"/>
              <a:gd name="connsiteY1" fmla="*/ 9586 h 2009178"/>
              <a:gd name="connsiteX2" fmla="*/ 2224720 w 2242434"/>
              <a:gd name="connsiteY2" fmla="*/ 964931 h 2009178"/>
              <a:gd name="connsiteX3" fmla="*/ 1787992 w 2242434"/>
              <a:gd name="connsiteY3" fmla="*/ 1988512 h 2009178"/>
              <a:gd name="connsiteX4" fmla="*/ 546046 w 2242434"/>
              <a:gd name="connsiteY4" fmla="*/ 1579079 h 2009178"/>
              <a:gd name="connsiteX5" fmla="*/ 135 w 2242434"/>
              <a:gd name="connsiteY5" fmla="*/ 719270 h 2009178"/>
              <a:gd name="connsiteX6" fmla="*/ 586989 w 2242434"/>
              <a:gd name="connsiteY6" fmla="*/ 487258 h 2009178"/>
              <a:gd name="connsiteX0" fmla="*/ 602616 w 2260356"/>
              <a:gd name="connsiteY0" fmla="*/ 487258 h 2028895"/>
              <a:gd name="connsiteX1" fmla="*/ 1285004 w 2260356"/>
              <a:gd name="connsiteY1" fmla="*/ 9586 h 2028895"/>
              <a:gd name="connsiteX2" fmla="*/ 2240347 w 2260356"/>
              <a:gd name="connsiteY2" fmla="*/ 964931 h 2028895"/>
              <a:gd name="connsiteX3" fmla="*/ 1803619 w 2260356"/>
              <a:gd name="connsiteY3" fmla="*/ 1988512 h 2028895"/>
              <a:gd name="connsiteX4" fmla="*/ 316014 w 2260356"/>
              <a:gd name="connsiteY4" fmla="*/ 1715556 h 2028895"/>
              <a:gd name="connsiteX5" fmla="*/ 15762 w 2260356"/>
              <a:gd name="connsiteY5" fmla="*/ 719270 h 2028895"/>
              <a:gd name="connsiteX6" fmla="*/ 602616 w 2260356"/>
              <a:gd name="connsiteY6" fmla="*/ 487258 h 2028895"/>
              <a:gd name="connsiteX0" fmla="*/ 1121883 w 2779623"/>
              <a:gd name="connsiteY0" fmla="*/ 487386 h 2029023"/>
              <a:gd name="connsiteX1" fmla="*/ 1804271 w 2779623"/>
              <a:gd name="connsiteY1" fmla="*/ 9714 h 2029023"/>
              <a:gd name="connsiteX2" fmla="*/ 2759614 w 2779623"/>
              <a:gd name="connsiteY2" fmla="*/ 965059 h 2029023"/>
              <a:gd name="connsiteX3" fmla="*/ 2322886 w 2779623"/>
              <a:gd name="connsiteY3" fmla="*/ 1988640 h 2029023"/>
              <a:gd name="connsiteX4" fmla="*/ 835281 w 2779623"/>
              <a:gd name="connsiteY4" fmla="*/ 1715684 h 2029023"/>
              <a:gd name="connsiteX5" fmla="*/ 2767 w 2779623"/>
              <a:gd name="connsiteY5" fmla="*/ 760342 h 2029023"/>
              <a:gd name="connsiteX6" fmla="*/ 1121883 w 2779623"/>
              <a:gd name="connsiteY6" fmla="*/ 487386 h 2029023"/>
              <a:gd name="connsiteX0" fmla="*/ 932037 w 2589777"/>
              <a:gd name="connsiteY0" fmla="*/ 487518 h 2029155"/>
              <a:gd name="connsiteX1" fmla="*/ 1614425 w 2589777"/>
              <a:gd name="connsiteY1" fmla="*/ 9846 h 2029155"/>
              <a:gd name="connsiteX2" fmla="*/ 2569768 w 2589777"/>
              <a:gd name="connsiteY2" fmla="*/ 965191 h 2029155"/>
              <a:gd name="connsiteX3" fmla="*/ 2133040 w 2589777"/>
              <a:gd name="connsiteY3" fmla="*/ 1988772 h 2029155"/>
              <a:gd name="connsiteX4" fmla="*/ 645435 w 2589777"/>
              <a:gd name="connsiteY4" fmla="*/ 1715816 h 2029155"/>
              <a:gd name="connsiteX5" fmla="*/ 3989 w 2589777"/>
              <a:gd name="connsiteY5" fmla="*/ 801418 h 2029155"/>
              <a:gd name="connsiteX6" fmla="*/ 932037 w 2589777"/>
              <a:gd name="connsiteY6" fmla="*/ 487518 h 2029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89777" h="2029155">
                <a:moveTo>
                  <a:pt x="932037" y="487518"/>
                </a:moveTo>
                <a:cubicBezTo>
                  <a:pt x="1200443" y="355589"/>
                  <a:pt x="1341470" y="-69766"/>
                  <a:pt x="1614425" y="9846"/>
                </a:cubicBezTo>
                <a:cubicBezTo>
                  <a:pt x="1887380" y="89458"/>
                  <a:pt x="2483332" y="635370"/>
                  <a:pt x="2569768" y="965191"/>
                </a:cubicBezTo>
                <a:cubicBezTo>
                  <a:pt x="2656204" y="1295012"/>
                  <a:pt x="2453762" y="1863668"/>
                  <a:pt x="2133040" y="1988772"/>
                </a:cubicBezTo>
                <a:cubicBezTo>
                  <a:pt x="1812318" y="2113876"/>
                  <a:pt x="943411" y="1927356"/>
                  <a:pt x="645435" y="1715816"/>
                </a:cubicBezTo>
                <a:cubicBezTo>
                  <a:pt x="347459" y="1504276"/>
                  <a:pt x="-43778" y="1006134"/>
                  <a:pt x="3989" y="801418"/>
                </a:cubicBezTo>
                <a:cubicBezTo>
                  <a:pt x="51756" y="596702"/>
                  <a:pt x="663631" y="619447"/>
                  <a:pt x="932037" y="487518"/>
                </a:cubicBezTo>
                <a:close/>
              </a:path>
            </a:pathLst>
          </a:custGeom>
          <a:solidFill>
            <a:srgbClr val="2249CD">
              <a:alpha val="36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427668" y="5991371"/>
            <a:ext cx="3267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Detección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usando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un 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clasificador</a:t>
            </a:r>
            <a:endParaRPr lang="en-US" dirty="0"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468139" y="2796883"/>
            <a:ext cx="1539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  <a:ea typeface="Trebuchet MS" charset="0"/>
                <a:cs typeface="Trebuchet MS" charset="0"/>
              </a:rPr>
              <a:t>Detección (D)</a:t>
            </a:r>
            <a:endParaRPr lang="en-US" dirty="0"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 flipH="1">
            <a:off x="6544302" y="3166216"/>
            <a:ext cx="1935698" cy="12241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898897" y="3879724"/>
            <a:ext cx="146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Ground Truth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H="1">
            <a:off x="2894723" y="4249057"/>
            <a:ext cx="1935698" cy="12241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29EC51D-8E69-7248-B6D2-713DC2C7B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AE4155-9271-8466-9555-4D70A3EBB7AD}"/>
              </a:ext>
            </a:extLst>
          </p:cNvPr>
          <p:cNvSpPr txBox="1"/>
          <p:nvPr/>
        </p:nvSpPr>
        <p:spPr>
          <a:xfrm>
            <a:off x="1687773" y="696035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Ejemplo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360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912362" y="2169997"/>
            <a:ext cx="4285397" cy="376678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Freeform 4"/>
          <p:cNvSpPr/>
          <p:nvPr/>
        </p:nvSpPr>
        <p:spPr>
          <a:xfrm>
            <a:off x="4529157" y="3166216"/>
            <a:ext cx="2729534" cy="1919913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9534" h="1919913">
                <a:moveTo>
                  <a:pt x="1034582" y="341268"/>
                </a:moveTo>
                <a:cubicBezTo>
                  <a:pt x="1284791" y="238910"/>
                  <a:pt x="1230200" y="-68165"/>
                  <a:pt x="1512254" y="13722"/>
                </a:cubicBezTo>
                <a:cubicBezTo>
                  <a:pt x="1794308" y="95609"/>
                  <a:pt x="2679138" y="518690"/>
                  <a:pt x="2726905" y="832588"/>
                </a:cubicBezTo>
                <a:cubicBezTo>
                  <a:pt x="2774672" y="1146486"/>
                  <a:pt x="2160523" y="1787931"/>
                  <a:pt x="1798857" y="1897113"/>
                </a:cubicBezTo>
                <a:cubicBezTo>
                  <a:pt x="1437191" y="2006295"/>
                  <a:pt x="854887" y="1699220"/>
                  <a:pt x="556911" y="1487680"/>
                </a:cubicBezTo>
                <a:cubicBezTo>
                  <a:pt x="258935" y="1276140"/>
                  <a:pt x="-64063" y="816665"/>
                  <a:pt x="11000" y="627871"/>
                </a:cubicBezTo>
                <a:cubicBezTo>
                  <a:pt x="86063" y="439077"/>
                  <a:pt x="784373" y="443626"/>
                  <a:pt x="1034582" y="341268"/>
                </a:cubicBezTo>
                <a:close/>
              </a:path>
            </a:pathLst>
          </a:custGeom>
          <a:noFill/>
          <a:ln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/>
          <p:cNvSpPr/>
          <p:nvPr/>
        </p:nvSpPr>
        <p:spPr>
          <a:xfrm>
            <a:off x="4811400" y="3074556"/>
            <a:ext cx="2589777" cy="2029155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  <a:gd name="connsiteX0" fmla="*/ 1034582 w 2242520"/>
              <a:gd name="connsiteY0" fmla="*/ 343152 h 1919663"/>
              <a:gd name="connsiteX1" fmla="*/ 1512254 w 2242520"/>
              <a:gd name="connsiteY1" fmla="*/ 15606 h 1919663"/>
              <a:gd name="connsiteX2" fmla="*/ 2235585 w 2242520"/>
              <a:gd name="connsiteY2" fmla="*/ 875416 h 1919663"/>
              <a:gd name="connsiteX3" fmla="*/ 1798857 w 2242520"/>
              <a:gd name="connsiteY3" fmla="*/ 1898997 h 1919663"/>
              <a:gd name="connsiteX4" fmla="*/ 556911 w 2242520"/>
              <a:gd name="connsiteY4" fmla="*/ 1489564 h 1919663"/>
              <a:gd name="connsiteX5" fmla="*/ 11000 w 2242520"/>
              <a:gd name="connsiteY5" fmla="*/ 629755 h 1919663"/>
              <a:gd name="connsiteX6" fmla="*/ 1034582 w 2242520"/>
              <a:gd name="connsiteY6" fmla="*/ 343152 h 1919663"/>
              <a:gd name="connsiteX0" fmla="*/ 1034582 w 2253299"/>
              <a:gd name="connsiteY0" fmla="*/ 435985 h 2012496"/>
              <a:gd name="connsiteX1" fmla="*/ 1280242 w 2253299"/>
              <a:gd name="connsiteY1" fmla="*/ 12904 h 2012496"/>
              <a:gd name="connsiteX2" fmla="*/ 2235585 w 2253299"/>
              <a:gd name="connsiteY2" fmla="*/ 968249 h 2012496"/>
              <a:gd name="connsiteX3" fmla="*/ 1798857 w 2253299"/>
              <a:gd name="connsiteY3" fmla="*/ 1991830 h 2012496"/>
              <a:gd name="connsiteX4" fmla="*/ 556911 w 2253299"/>
              <a:gd name="connsiteY4" fmla="*/ 1582397 h 2012496"/>
              <a:gd name="connsiteX5" fmla="*/ 11000 w 2253299"/>
              <a:gd name="connsiteY5" fmla="*/ 722588 h 2012496"/>
              <a:gd name="connsiteX6" fmla="*/ 1034582 w 2253299"/>
              <a:gd name="connsiteY6" fmla="*/ 435985 h 2012496"/>
              <a:gd name="connsiteX0" fmla="*/ 586989 w 2242434"/>
              <a:gd name="connsiteY0" fmla="*/ 487258 h 2009178"/>
              <a:gd name="connsiteX1" fmla="*/ 1269377 w 2242434"/>
              <a:gd name="connsiteY1" fmla="*/ 9586 h 2009178"/>
              <a:gd name="connsiteX2" fmla="*/ 2224720 w 2242434"/>
              <a:gd name="connsiteY2" fmla="*/ 964931 h 2009178"/>
              <a:gd name="connsiteX3" fmla="*/ 1787992 w 2242434"/>
              <a:gd name="connsiteY3" fmla="*/ 1988512 h 2009178"/>
              <a:gd name="connsiteX4" fmla="*/ 546046 w 2242434"/>
              <a:gd name="connsiteY4" fmla="*/ 1579079 h 2009178"/>
              <a:gd name="connsiteX5" fmla="*/ 135 w 2242434"/>
              <a:gd name="connsiteY5" fmla="*/ 719270 h 2009178"/>
              <a:gd name="connsiteX6" fmla="*/ 586989 w 2242434"/>
              <a:gd name="connsiteY6" fmla="*/ 487258 h 2009178"/>
              <a:gd name="connsiteX0" fmla="*/ 602616 w 2260356"/>
              <a:gd name="connsiteY0" fmla="*/ 487258 h 2028895"/>
              <a:gd name="connsiteX1" fmla="*/ 1285004 w 2260356"/>
              <a:gd name="connsiteY1" fmla="*/ 9586 h 2028895"/>
              <a:gd name="connsiteX2" fmla="*/ 2240347 w 2260356"/>
              <a:gd name="connsiteY2" fmla="*/ 964931 h 2028895"/>
              <a:gd name="connsiteX3" fmla="*/ 1803619 w 2260356"/>
              <a:gd name="connsiteY3" fmla="*/ 1988512 h 2028895"/>
              <a:gd name="connsiteX4" fmla="*/ 316014 w 2260356"/>
              <a:gd name="connsiteY4" fmla="*/ 1715556 h 2028895"/>
              <a:gd name="connsiteX5" fmla="*/ 15762 w 2260356"/>
              <a:gd name="connsiteY5" fmla="*/ 719270 h 2028895"/>
              <a:gd name="connsiteX6" fmla="*/ 602616 w 2260356"/>
              <a:gd name="connsiteY6" fmla="*/ 487258 h 2028895"/>
              <a:gd name="connsiteX0" fmla="*/ 1121883 w 2779623"/>
              <a:gd name="connsiteY0" fmla="*/ 487386 h 2029023"/>
              <a:gd name="connsiteX1" fmla="*/ 1804271 w 2779623"/>
              <a:gd name="connsiteY1" fmla="*/ 9714 h 2029023"/>
              <a:gd name="connsiteX2" fmla="*/ 2759614 w 2779623"/>
              <a:gd name="connsiteY2" fmla="*/ 965059 h 2029023"/>
              <a:gd name="connsiteX3" fmla="*/ 2322886 w 2779623"/>
              <a:gd name="connsiteY3" fmla="*/ 1988640 h 2029023"/>
              <a:gd name="connsiteX4" fmla="*/ 835281 w 2779623"/>
              <a:gd name="connsiteY4" fmla="*/ 1715684 h 2029023"/>
              <a:gd name="connsiteX5" fmla="*/ 2767 w 2779623"/>
              <a:gd name="connsiteY5" fmla="*/ 760342 h 2029023"/>
              <a:gd name="connsiteX6" fmla="*/ 1121883 w 2779623"/>
              <a:gd name="connsiteY6" fmla="*/ 487386 h 2029023"/>
              <a:gd name="connsiteX0" fmla="*/ 932037 w 2589777"/>
              <a:gd name="connsiteY0" fmla="*/ 487518 h 2029155"/>
              <a:gd name="connsiteX1" fmla="*/ 1614425 w 2589777"/>
              <a:gd name="connsiteY1" fmla="*/ 9846 h 2029155"/>
              <a:gd name="connsiteX2" fmla="*/ 2569768 w 2589777"/>
              <a:gd name="connsiteY2" fmla="*/ 965191 h 2029155"/>
              <a:gd name="connsiteX3" fmla="*/ 2133040 w 2589777"/>
              <a:gd name="connsiteY3" fmla="*/ 1988772 h 2029155"/>
              <a:gd name="connsiteX4" fmla="*/ 645435 w 2589777"/>
              <a:gd name="connsiteY4" fmla="*/ 1715816 h 2029155"/>
              <a:gd name="connsiteX5" fmla="*/ 3989 w 2589777"/>
              <a:gd name="connsiteY5" fmla="*/ 801418 h 2029155"/>
              <a:gd name="connsiteX6" fmla="*/ 932037 w 2589777"/>
              <a:gd name="connsiteY6" fmla="*/ 487518 h 2029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89777" h="2029155">
                <a:moveTo>
                  <a:pt x="932037" y="487518"/>
                </a:moveTo>
                <a:cubicBezTo>
                  <a:pt x="1200443" y="355589"/>
                  <a:pt x="1341470" y="-69766"/>
                  <a:pt x="1614425" y="9846"/>
                </a:cubicBezTo>
                <a:cubicBezTo>
                  <a:pt x="1887380" y="89458"/>
                  <a:pt x="2483332" y="635370"/>
                  <a:pt x="2569768" y="965191"/>
                </a:cubicBezTo>
                <a:cubicBezTo>
                  <a:pt x="2656204" y="1295012"/>
                  <a:pt x="2453762" y="1863668"/>
                  <a:pt x="2133040" y="1988772"/>
                </a:cubicBezTo>
                <a:cubicBezTo>
                  <a:pt x="1812318" y="2113876"/>
                  <a:pt x="943411" y="1927356"/>
                  <a:pt x="645435" y="1715816"/>
                </a:cubicBezTo>
                <a:cubicBezTo>
                  <a:pt x="347459" y="1504276"/>
                  <a:pt x="-43778" y="1006134"/>
                  <a:pt x="3989" y="801418"/>
                </a:cubicBezTo>
                <a:cubicBezTo>
                  <a:pt x="51756" y="596702"/>
                  <a:pt x="663631" y="619447"/>
                  <a:pt x="932037" y="487518"/>
                </a:cubicBezTo>
                <a:close/>
              </a:path>
            </a:pathLst>
          </a:custGeom>
          <a:solidFill>
            <a:srgbClr val="2249CD">
              <a:alpha val="36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468139" y="2796883"/>
            <a:ext cx="1539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  <a:ea typeface="Trebuchet MS" charset="0"/>
                <a:cs typeface="Trebuchet MS" charset="0"/>
              </a:rPr>
              <a:t>Detección (D)</a:t>
            </a:r>
            <a:endParaRPr lang="en-US" dirty="0"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cxnSp>
        <p:nvCxnSpPr>
          <p:cNvPr id="3" name="Straight Connector 2"/>
          <p:cNvCxnSpPr/>
          <p:nvPr/>
        </p:nvCxnSpPr>
        <p:spPr>
          <a:xfrm flipH="1">
            <a:off x="6544302" y="3166216"/>
            <a:ext cx="1935698" cy="12241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898897" y="3879724"/>
            <a:ext cx="146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Ground Truth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H="1">
            <a:off x="2894723" y="4249057"/>
            <a:ext cx="1935698" cy="12241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057C8D-E7AC-7B4F-8595-3EA8B512C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12C8E4-547B-5A1B-54B3-C82FE7A3A44F}"/>
              </a:ext>
            </a:extLst>
          </p:cNvPr>
          <p:cNvSpPr txBox="1"/>
          <p:nvPr/>
        </p:nvSpPr>
        <p:spPr>
          <a:xfrm>
            <a:off x="1687773" y="696035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Ejemplo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20E890-9B5E-8234-DFDB-1096CA8C876E}"/>
              </a:ext>
            </a:extLst>
          </p:cNvPr>
          <p:cNvSpPr txBox="1"/>
          <p:nvPr/>
        </p:nvSpPr>
        <p:spPr>
          <a:xfrm>
            <a:off x="4427668" y="5991371"/>
            <a:ext cx="3267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Detección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usando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un 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clasificador</a:t>
            </a:r>
            <a:endParaRPr lang="en-US" dirty="0"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9738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912362" y="2169997"/>
            <a:ext cx="4285397" cy="376678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Freeform 4"/>
          <p:cNvSpPr/>
          <p:nvPr/>
        </p:nvSpPr>
        <p:spPr>
          <a:xfrm>
            <a:off x="4529157" y="3166216"/>
            <a:ext cx="2729534" cy="1919913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9534" h="1919913">
                <a:moveTo>
                  <a:pt x="1034582" y="341268"/>
                </a:moveTo>
                <a:cubicBezTo>
                  <a:pt x="1284791" y="238910"/>
                  <a:pt x="1230200" y="-68165"/>
                  <a:pt x="1512254" y="13722"/>
                </a:cubicBezTo>
                <a:cubicBezTo>
                  <a:pt x="1794308" y="95609"/>
                  <a:pt x="2679138" y="518690"/>
                  <a:pt x="2726905" y="832588"/>
                </a:cubicBezTo>
                <a:cubicBezTo>
                  <a:pt x="2774672" y="1146486"/>
                  <a:pt x="2160523" y="1787931"/>
                  <a:pt x="1798857" y="1897113"/>
                </a:cubicBezTo>
                <a:cubicBezTo>
                  <a:pt x="1437191" y="2006295"/>
                  <a:pt x="854887" y="1699220"/>
                  <a:pt x="556911" y="1487680"/>
                </a:cubicBezTo>
                <a:cubicBezTo>
                  <a:pt x="258935" y="1276140"/>
                  <a:pt x="-64063" y="816665"/>
                  <a:pt x="11000" y="627871"/>
                </a:cubicBezTo>
                <a:cubicBezTo>
                  <a:pt x="86063" y="439077"/>
                  <a:pt x="784373" y="443626"/>
                  <a:pt x="1034582" y="341268"/>
                </a:cubicBezTo>
                <a:close/>
              </a:path>
            </a:pathLst>
          </a:cu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/>
          <p:cNvSpPr/>
          <p:nvPr/>
        </p:nvSpPr>
        <p:spPr>
          <a:xfrm>
            <a:off x="4811400" y="3074556"/>
            <a:ext cx="2589777" cy="2029155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  <a:gd name="connsiteX0" fmla="*/ 1034582 w 2242520"/>
              <a:gd name="connsiteY0" fmla="*/ 343152 h 1919663"/>
              <a:gd name="connsiteX1" fmla="*/ 1512254 w 2242520"/>
              <a:gd name="connsiteY1" fmla="*/ 15606 h 1919663"/>
              <a:gd name="connsiteX2" fmla="*/ 2235585 w 2242520"/>
              <a:gd name="connsiteY2" fmla="*/ 875416 h 1919663"/>
              <a:gd name="connsiteX3" fmla="*/ 1798857 w 2242520"/>
              <a:gd name="connsiteY3" fmla="*/ 1898997 h 1919663"/>
              <a:gd name="connsiteX4" fmla="*/ 556911 w 2242520"/>
              <a:gd name="connsiteY4" fmla="*/ 1489564 h 1919663"/>
              <a:gd name="connsiteX5" fmla="*/ 11000 w 2242520"/>
              <a:gd name="connsiteY5" fmla="*/ 629755 h 1919663"/>
              <a:gd name="connsiteX6" fmla="*/ 1034582 w 2242520"/>
              <a:gd name="connsiteY6" fmla="*/ 343152 h 1919663"/>
              <a:gd name="connsiteX0" fmla="*/ 1034582 w 2253299"/>
              <a:gd name="connsiteY0" fmla="*/ 435985 h 2012496"/>
              <a:gd name="connsiteX1" fmla="*/ 1280242 w 2253299"/>
              <a:gd name="connsiteY1" fmla="*/ 12904 h 2012496"/>
              <a:gd name="connsiteX2" fmla="*/ 2235585 w 2253299"/>
              <a:gd name="connsiteY2" fmla="*/ 968249 h 2012496"/>
              <a:gd name="connsiteX3" fmla="*/ 1798857 w 2253299"/>
              <a:gd name="connsiteY3" fmla="*/ 1991830 h 2012496"/>
              <a:gd name="connsiteX4" fmla="*/ 556911 w 2253299"/>
              <a:gd name="connsiteY4" fmla="*/ 1582397 h 2012496"/>
              <a:gd name="connsiteX5" fmla="*/ 11000 w 2253299"/>
              <a:gd name="connsiteY5" fmla="*/ 722588 h 2012496"/>
              <a:gd name="connsiteX6" fmla="*/ 1034582 w 2253299"/>
              <a:gd name="connsiteY6" fmla="*/ 435985 h 2012496"/>
              <a:gd name="connsiteX0" fmla="*/ 586989 w 2242434"/>
              <a:gd name="connsiteY0" fmla="*/ 487258 h 2009178"/>
              <a:gd name="connsiteX1" fmla="*/ 1269377 w 2242434"/>
              <a:gd name="connsiteY1" fmla="*/ 9586 h 2009178"/>
              <a:gd name="connsiteX2" fmla="*/ 2224720 w 2242434"/>
              <a:gd name="connsiteY2" fmla="*/ 964931 h 2009178"/>
              <a:gd name="connsiteX3" fmla="*/ 1787992 w 2242434"/>
              <a:gd name="connsiteY3" fmla="*/ 1988512 h 2009178"/>
              <a:gd name="connsiteX4" fmla="*/ 546046 w 2242434"/>
              <a:gd name="connsiteY4" fmla="*/ 1579079 h 2009178"/>
              <a:gd name="connsiteX5" fmla="*/ 135 w 2242434"/>
              <a:gd name="connsiteY5" fmla="*/ 719270 h 2009178"/>
              <a:gd name="connsiteX6" fmla="*/ 586989 w 2242434"/>
              <a:gd name="connsiteY6" fmla="*/ 487258 h 2009178"/>
              <a:gd name="connsiteX0" fmla="*/ 602616 w 2260356"/>
              <a:gd name="connsiteY0" fmla="*/ 487258 h 2028895"/>
              <a:gd name="connsiteX1" fmla="*/ 1285004 w 2260356"/>
              <a:gd name="connsiteY1" fmla="*/ 9586 h 2028895"/>
              <a:gd name="connsiteX2" fmla="*/ 2240347 w 2260356"/>
              <a:gd name="connsiteY2" fmla="*/ 964931 h 2028895"/>
              <a:gd name="connsiteX3" fmla="*/ 1803619 w 2260356"/>
              <a:gd name="connsiteY3" fmla="*/ 1988512 h 2028895"/>
              <a:gd name="connsiteX4" fmla="*/ 316014 w 2260356"/>
              <a:gd name="connsiteY4" fmla="*/ 1715556 h 2028895"/>
              <a:gd name="connsiteX5" fmla="*/ 15762 w 2260356"/>
              <a:gd name="connsiteY5" fmla="*/ 719270 h 2028895"/>
              <a:gd name="connsiteX6" fmla="*/ 602616 w 2260356"/>
              <a:gd name="connsiteY6" fmla="*/ 487258 h 2028895"/>
              <a:gd name="connsiteX0" fmla="*/ 1121883 w 2779623"/>
              <a:gd name="connsiteY0" fmla="*/ 487386 h 2029023"/>
              <a:gd name="connsiteX1" fmla="*/ 1804271 w 2779623"/>
              <a:gd name="connsiteY1" fmla="*/ 9714 h 2029023"/>
              <a:gd name="connsiteX2" fmla="*/ 2759614 w 2779623"/>
              <a:gd name="connsiteY2" fmla="*/ 965059 h 2029023"/>
              <a:gd name="connsiteX3" fmla="*/ 2322886 w 2779623"/>
              <a:gd name="connsiteY3" fmla="*/ 1988640 h 2029023"/>
              <a:gd name="connsiteX4" fmla="*/ 835281 w 2779623"/>
              <a:gd name="connsiteY4" fmla="*/ 1715684 h 2029023"/>
              <a:gd name="connsiteX5" fmla="*/ 2767 w 2779623"/>
              <a:gd name="connsiteY5" fmla="*/ 760342 h 2029023"/>
              <a:gd name="connsiteX6" fmla="*/ 1121883 w 2779623"/>
              <a:gd name="connsiteY6" fmla="*/ 487386 h 2029023"/>
              <a:gd name="connsiteX0" fmla="*/ 932037 w 2589777"/>
              <a:gd name="connsiteY0" fmla="*/ 487518 h 2029155"/>
              <a:gd name="connsiteX1" fmla="*/ 1614425 w 2589777"/>
              <a:gd name="connsiteY1" fmla="*/ 9846 h 2029155"/>
              <a:gd name="connsiteX2" fmla="*/ 2569768 w 2589777"/>
              <a:gd name="connsiteY2" fmla="*/ 965191 h 2029155"/>
              <a:gd name="connsiteX3" fmla="*/ 2133040 w 2589777"/>
              <a:gd name="connsiteY3" fmla="*/ 1988772 h 2029155"/>
              <a:gd name="connsiteX4" fmla="*/ 645435 w 2589777"/>
              <a:gd name="connsiteY4" fmla="*/ 1715816 h 2029155"/>
              <a:gd name="connsiteX5" fmla="*/ 3989 w 2589777"/>
              <a:gd name="connsiteY5" fmla="*/ 801418 h 2029155"/>
              <a:gd name="connsiteX6" fmla="*/ 932037 w 2589777"/>
              <a:gd name="connsiteY6" fmla="*/ 487518 h 2029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89777" h="2029155">
                <a:moveTo>
                  <a:pt x="932037" y="487518"/>
                </a:moveTo>
                <a:cubicBezTo>
                  <a:pt x="1200443" y="355589"/>
                  <a:pt x="1341470" y="-69766"/>
                  <a:pt x="1614425" y="9846"/>
                </a:cubicBezTo>
                <a:cubicBezTo>
                  <a:pt x="1887380" y="89458"/>
                  <a:pt x="2483332" y="635370"/>
                  <a:pt x="2569768" y="965191"/>
                </a:cubicBezTo>
                <a:cubicBezTo>
                  <a:pt x="2656204" y="1295012"/>
                  <a:pt x="2453762" y="1863668"/>
                  <a:pt x="2133040" y="1988772"/>
                </a:cubicBezTo>
                <a:cubicBezTo>
                  <a:pt x="1812318" y="2113876"/>
                  <a:pt x="943411" y="1927356"/>
                  <a:pt x="645435" y="1715816"/>
                </a:cubicBezTo>
                <a:cubicBezTo>
                  <a:pt x="347459" y="1504276"/>
                  <a:pt x="-43778" y="1006134"/>
                  <a:pt x="3989" y="801418"/>
                </a:cubicBezTo>
                <a:cubicBezTo>
                  <a:pt x="51756" y="596702"/>
                  <a:pt x="663631" y="619447"/>
                  <a:pt x="932037" y="487518"/>
                </a:cubicBezTo>
                <a:close/>
              </a:path>
            </a:pathLst>
          </a:custGeom>
          <a:solidFill>
            <a:srgbClr val="2249CD">
              <a:alpha val="36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596513" y="564444"/>
            <a:ext cx="460510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magenta: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Verdareos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(TP)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azules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falsos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(FP)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rojos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falsos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(FN)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blancos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Verdaderos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(TN)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08155" y="626555"/>
            <a:ext cx="245904" cy="252070"/>
          </a:xfrm>
          <a:prstGeom prst="rect">
            <a:avLst/>
          </a:prstGeom>
          <a:solidFill>
            <a:srgbClr val="9D2E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0208155" y="935100"/>
            <a:ext cx="245904" cy="252070"/>
          </a:xfrm>
          <a:prstGeom prst="rect">
            <a:avLst/>
          </a:prstGeom>
          <a:solidFill>
            <a:srgbClr val="9AAB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0203732" y="1241090"/>
            <a:ext cx="245904" cy="25207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203732" y="1567121"/>
            <a:ext cx="245904" cy="25207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3D98C5-FF0D-884F-9493-F438E9BBD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10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31F7A4-785B-8641-A05F-7AAC3DE1D68A}"/>
              </a:ext>
            </a:extLst>
          </p:cNvPr>
          <p:cNvSpPr txBox="1"/>
          <p:nvPr/>
        </p:nvSpPr>
        <p:spPr>
          <a:xfrm>
            <a:off x="8468139" y="2796883"/>
            <a:ext cx="1539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  <a:ea typeface="Trebuchet MS" charset="0"/>
                <a:cs typeface="Trebuchet MS" charset="0"/>
              </a:rPr>
              <a:t>Detección (D)</a:t>
            </a:r>
            <a:endParaRPr lang="en-US" dirty="0"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C2317E2-7C9B-B648-BE61-96D87F389CFB}"/>
              </a:ext>
            </a:extLst>
          </p:cNvPr>
          <p:cNvCxnSpPr/>
          <p:nvPr/>
        </p:nvCxnSpPr>
        <p:spPr>
          <a:xfrm flipH="1">
            <a:off x="6544302" y="3166216"/>
            <a:ext cx="1935698" cy="12241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3C45CFA-9B61-3443-A594-9D1F0E21F685}"/>
              </a:ext>
            </a:extLst>
          </p:cNvPr>
          <p:cNvSpPr txBox="1"/>
          <p:nvPr/>
        </p:nvSpPr>
        <p:spPr>
          <a:xfrm>
            <a:off x="1898897" y="3879724"/>
            <a:ext cx="146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Ground Truth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6326107-3E36-BA42-A9DE-6CFF3C948475}"/>
              </a:ext>
            </a:extLst>
          </p:cNvPr>
          <p:cNvCxnSpPr/>
          <p:nvPr/>
        </p:nvCxnSpPr>
        <p:spPr>
          <a:xfrm flipH="1">
            <a:off x="2894723" y="4249057"/>
            <a:ext cx="1935698" cy="12241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96000AC-D2AD-0BBC-E293-1873B51076A9}"/>
              </a:ext>
            </a:extLst>
          </p:cNvPr>
          <p:cNvSpPr txBox="1"/>
          <p:nvPr/>
        </p:nvSpPr>
        <p:spPr>
          <a:xfrm>
            <a:off x="1687773" y="696035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Ejemplo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9893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912362" y="2169997"/>
            <a:ext cx="4285397" cy="376678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Freeform 4"/>
          <p:cNvSpPr/>
          <p:nvPr/>
        </p:nvSpPr>
        <p:spPr>
          <a:xfrm>
            <a:off x="4529157" y="3166216"/>
            <a:ext cx="2729534" cy="1919913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9534" h="1919913">
                <a:moveTo>
                  <a:pt x="1034582" y="341268"/>
                </a:moveTo>
                <a:cubicBezTo>
                  <a:pt x="1284791" y="238910"/>
                  <a:pt x="1230200" y="-68165"/>
                  <a:pt x="1512254" y="13722"/>
                </a:cubicBezTo>
                <a:cubicBezTo>
                  <a:pt x="1794308" y="95609"/>
                  <a:pt x="2679138" y="518690"/>
                  <a:pt x="2726905" y="832588"/>
                </a:cubicBezTo>
                <a:cubicBezTo>
                  <a:pt x="2774672" y="1146486"/>
                  <a:pt x="2160523" y="1787931"/>
                  <a:pt x="1798857" y="1897113"/>
                </a:cubicBezTo>
                <a:cubicBezTo>
                  <a:pt x="1437191" y="2006295"/>
                  <a:pt x="854887" y="1699220"/>
                  <a:pt x="556911" y="1487680"/>
                </a:cubicBezTo>
                <a:cubicBezTo>
                  <a:pt x="258935" y="1276140"/>
                  <a:pt x="-64063" y="816665"/>
                  <a:pt x="11000" y="627871"/>
                </a:cubicBezTo>
                <a:cubicBezTo>
                  <a:pt x="86063" y="439077"/>
                  <a:pt x="784373" y="443626"/>
                  <a:pt x="1034582" y="341268"/>
                </a:cubicBezTo>
                <a:close/>
              </a:path>
            </a:pathLst>
          </a:cu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/>
          <p:cNvSpPr/>
          <p:nvPr/>
        </p:nvSpPr>
        <p:spPr>
          <a:xfrm>
            <a:off x="4811400" y="3074556"/>
            <a:ext cx="2589777" cy="2029155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  <a:gd name="connsiteX0" fmla="*/ 1034582 w 2242520"/>
              <a:gd name="connsiteY0" fmla="*/ 343152 h 1919663"/>
              <a:gd name="connsiteX1" fmla="*/ 1512254 w 2242520"/>
              <a:gd name="connsiteY1" fmla="*/ 15606 h 1919663"/>
              <a:gd name="connsiteX2" fmla="*/ 2235585 w 2242520"/>
              <a:gd name="connsiteY2" fmla="*/ 875416 h 1919663"/>
              <a:gd name="connsiteX3" fmla="*/ 1798857 w 2242520"/>
              <a:gd name="connsiteY3" fmla="*/ 1898997 h 1919663"/>
              <a:gd name="connsiteX4" fmla="*/ 556911 w 2242520"/>
              <a:gd name="connsiteY4" fmla="*/ 1489564 h 1919663"/>
              <a:gd name="connsiteX5" fmla="*/ 11000 w 2242520"/>
              <a:gd name="connsiteY5" fmla="*/ 629755 h 1919663"/>
              <a:gd name="connsiteX6" fmla="*/ 1034582 w 2242520"/>
              <a:gd name="connsiteY6" fmla="*/ 343152 h 1919663"/>
              <a:gd name="connsiteX0" fmla="*/ 1034582 w 2253299"/>
              <a:gd name="connsiteY0" fmla="*/ 435985 h 2012496"/>
              <a:gd name="connsiteX1" fmla="*/ 1280242 w 2253299"/>
              <a:gd name="connsiteY1" fmla="*/ 12904 h 2012496"/>
              <a:gd name="connsiteX2" fmla="*/ 2235585 w 2253299"/>
              <a:gd name="connsiteY2" fmla="*/ 968249 h 2012496"/>
              <a:gd name="connsiteX3" fmla="*/ 1798857 w 2253299"/>
              <a:gd name="connsiteY3" fmla="*/ 1991830 h 2012496"/>
              <a:gd name="connsiteX4" fmla="*/ 556911 w 2253299"/>
              <a:gd name="connsiteY4" fmla="*/ 1582397 h 2012496"/>
              <a:gd name="connsiteX5" fmla="*/ 11000 w 2253299"/>
              <a:gd name="connsiteY5" fmla="*/ 722588 h 2012496"/>
              <a:gd name="connsiteX6" fmla="*/ 1034582 w 2253299"/>
              <a:gd name="connsiteY6" fmla="*/ 435985 h 2012496"/>
              <a:gd name="connsiteX0" fmla="*/ 586989 w 2242434"/>
              <a:gd name="connsiteY0" fmla="*/ 487258 h 2009178"/>
              <a:gd name="connsiteX1" fmla="*/ 1269377 w 2242434"/>
              <a:gd name="connsiteY1" fmla="*/ 9586 h 2009178"/>
              <a:gd name="connsiteX2" fmla="*/ 2224720 w 2242434"/>
              <a:gd name="connsiteY2" fmla="*/ 964931 h 2009178"/>
              <a:gd name="connsiteX3" fmla="*/ 1787992 w 2242434"/>
              <a:gd name="connsiteY3" fmla="*/ 1988512 h 2009178"/>
              <a:gd name="connsiteX4" fmla="*/ 546046 w 2242434"/>
              <a:gd name="connsiteY4" fmla="*/ 1579079 h 2009178"/>
              <a:gd name="connsiteX5" fmla="*/ 135 w 2242434"/>
              <a:gd name="connsiteY5" fmla="*/ 719270 h 2009178"/>
              <a:gd name="connsiteX6" fmla="*/ 586989 w 2242434"/>
              <a:gd name="connsiteY6" fmla="*/ 487258 h 2009178"/>
              <a:gd name="connsiteX0" fmla="*/ 602616 w 2260356"/>
              <a:gd name="connsiteY0" fmla="*/ 487258 h 2028895"/>
              <a:gd name="connsiteX1" fmla="*/ 1285004 w 2260356"/>
              <a:gd name="connsiteY1" fmla="*/ 9586 h 2028895"/>
              <a:gd name="connsiteX2" fmla="*/ 2240347 w 2260356"/>
              <a:gd name="connsiteY2" fmla="*/ 964931 h 2028895"/>
              <a:gd name="connsiteX3" fmla="*/ 1803619 w 2260356"/>
              <a:gd name="connsiteY3" fmla="*/ 1988512 h 2028895"/>
              <a:gd name="connsiteX4" fmla="*/ 316014 w 2260356"/>
              <a:gd name="connsiteY4" fmla="*/ 1715556 h 2028895"/>
              <a:gd name="connsiteX5" fmla="*/ 15762 w 2260356"/>
              <a:gd name="connsiteY5" fmla="*/ 719270 h 2028895"/>
              <a:gd name="connsiteX6" fmla="*/ 602616 w 2260356"/>
              <a:gd name="connsiteY6" fmla="*/ 487258 h 2028895"/>
              <a:gd name="connsiteX0" fmla="*/ 1121883 w 2779623"/>
              <a:gd name="connsiteY0" fmla="*/ 487386 h 2029023"/>
              <a:gd name="connsiteX1" fmla="*/ 1804271 w 2779623"/>
              <a:gd name="connsiteY1" fmla="*/ 9714 h 2029023"/>
              <a:gd name="connsiteX2" fmla="*/ 2759614 w 2779623"/>
              <a:gd name="connsiteY2" fmla="*/ 965059 h 2029023"/>
              <a:gd name="connsiteX3" fmla="*/ 2322886 w 2779623"/>
              <a:gd name="connsiteY3" fmla="*/ 1988640 h 2029023"/>
              <a:gd name="connsiteX4" fmla="*/ 835281 w 2779623"/>
              <a:gd name="connsiteY4" fmla="*/ 1715684 h 2029023"/>
              <a:gd name="connsiteX5" fmla="*/ 2767 w 2779623"/>
              <a:gd name="connsiteY5" fmla="*/ 760342 h 2029023"/>
              <a:gd name="connsiteX6" fmla="*/ 1121883 w 2779623"/>
              <a:gd name="connsiteY6" fmla="*/ 487386 h 2029023"/>
              <a:gd name="connsiteX0" fmla="*/ 932037 w 2589777"/>
              <a:gd name="connsiteY0" fmla="*/ 487518 h 2029155"/>
              <a:gd name="connsiteX1" fmla="*/ 1614425 w 2589777"/>
              <a:gd name="connsiteY1" fmla="*/ 9846 h 2029155"/>
              <a:gd name="connsiteX2" fmla="*/ 2569768 w 2589777"/>
              <a:gd name="connsiteY2" fmla="*/ 965191 h 2029155"/>
              <a:gd name="connsiteX3" fmla="*/ 2133040 w 2589777"/>
              <a:gd name="connsiteY3" fmla="*/ 1988772 h 2029155"/>
              <a:gd name="connsiteX4" fmla="*/ 645435 w 2589777"/>
              <a:gd name="connsiteY4" fmla="*/ 1715816 h 2029155"/>
              <a:gd name="connsiteX5" fmla="*/ 3989 w 2589777"/>
              <a:gd name="connsiteY5" fmla="*/ 801418 h 2029155"/>
              <a:gd name="connsiteX6" fmla="*/ 932037 w 2589777"/>
              <a:gd name="connsiteY6" fmla="*/ 487518 h 2029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89777" h="2029155">
                <a:moveTo>
                  <a:pt x="932037" y="487518"/>
                </a:moveTo>
                <a:cubicBezTo>
                  <a:pt x="1200443" y="355589"/>
                  <a:pt x="1341470" y="-69766"/>
                  <a:pt x="1614425" y="9846"/>
                </a:cubicBezTo>
                <a:cubicBezTo>
                  <a:pt x="1887380" y="89458"/>
                  <a:pt x="2483332" y="635370"/>
                  <a:pt x="2569768" y="965191"/>
                </a:cubicBezTo>
                <a:cubicBezTo>
                  <a:pt x="2656204" y="1295012"/>
                  <a:pt x="2453762" y="1863668"/>
                  <a:pt x="2133040" y="1988772"/>
                </a:cubicBezTo>
                <a:cubicBezTo>
                  <a:pt x="1812318" y="2113876"/>
                  <a:pt x="943411" y="1927356"/>
                  <a:pt x="645435" y="1715816"/>
                </a:cubicBezTo>
                <a:cubicBezTo>
                  <a:pt x="347459" y="1504276"/>
                  <a:pt x="-43778" y="1006134"/>
                  <a:pt x="3989" y="801418"/>
                </a:cubicBezTo>
                <a:cubicBezTo>
                  <a:pt x="51756" y="596702"/>
                  <a:pt x="663631" y="619447"/>
                  <a:pt x="932037" y="487518"/>
                </a:cubicBezTo>
                <a:close/>
              </a:path>
            </a:pathLst>
          </a:custGeom>
          <a:solidFill>
            <a:srgbClr val="2249CD">
              <a:alpha val="36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5926813" y="3954021"/>
            <a:ext cx="38824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925375" y="4529509"/>
            <a:ext cx="3609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FP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496066" y="3710637"/>
            <a:ext cx="4090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FN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07267" y="5132281"/>
            <a:ext cx="43313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TN</a:t>
            </a:r>
            <a:endParaRPr lang="en-US" sz="1400" dirty="0">
              <a:latin typeface="Gill Sans MT" panose="020B0502020104020203" pitchFamily="34" charset="77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C96049-3F14-BD40-A92C-530C6871C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11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B92C53-EE4B-1543-AE12-F65300307ED6}"/>
              </a:ext>
            </a:extLst>
          </p:cNvPr>
          <p:cNvSpPr txBox="1"/>
          <p:nvPr/>
        </p:nvSpPr>
        <p:spPr>
          <a:xfrm>
            <a:off x="8468139" y="2796883"/>
            <a:ext cx="1539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  <a:ea typeface="Trebuchet MS" charset="0"/>
                <a:cs typeface="Trebuchet MS" charset="0"/>
              </a:rPr>
              <a:t>Detección (D)</a:t>
            </a:r>
            <a:endParaRPr lang="en-US" dirty="0"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797CBA2-9102-AA44-8267-989B6DD9E0CA}"/>
              </a:ext>
            </a:extLst>
          </p:cNvPr>
          <p:cNvCxnSpPr/>
          <p:nvPr/>
        </p:nvCxnSpPr>
        <p:spPr>
          <a:xfrm flipH="1">
            <a:off x="6544302" y="3166216"/>
            <a:ext cx="1935698" cy="12241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3650D91-183D-4D45-8FC1-DA3ED99C9EB8}"/>
              </a:ext>
            </a:extLst>
          </p:cNvPr>
          <p:cNvSpPr txBox="1"/>
          <p:nvPr/>
        </p:nvSpPr>
        <p:spPr>
          <a:xfrm>
            <a:off x="1898897" y="3879724"/>
            <a:ext cx="146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Ground Truth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6D8BF6-3D0A-D14B-AB48-538A08DECA65}"/>
              </a:ext>
            </a:extLst>
          </p:cNvPr>
          <p:cNvCxnSpPr/>
          <p:nvPr/>
        </p:nvCxnSpPr>
        <p:spPr>
          <a:xfrm flipH="1">
            <a:off x="2894723" y="4249057"/>
            <a:ext cx="1935698" cy="12241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71118ED-642C-95DF-2BC1-913B65CA8A8C}"/>
              </a:ext>
            </a:extLst>
          </p:cNvPr>
          <p:cNvSpPr txBox="1"/>
          <p:nvPr/>
        </p:nvSpPr>
        <p:spPr>
          <a:xfrm>
            <a:off x="1687773" y="696035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Ejemplo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E5B607-05CC-A12A-2E21-39F345D7F636}"/>
              </a:ext>
            </a:extLst>
          </p:cNvPr>
          <p:cNvSpPr txBox="1"/>
          <p:nvPr/>
        </p:nvSpPr>
        <p:spPr>
          <a:xfrm>
            <a:off x="5596513" y="564444"/>
            <a:ext cx="460510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magenta: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Verdareos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(TP)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azules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falsos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(FP)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rojos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falsos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(FN)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blancos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Verdaderos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(TN)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10F4EB1-ADB2-265F-FA41-1E125FE45A05}"/>
              </a:ext>
            </a:extLst>
          </p:cNvPr>
          <p:cNvSpPr/>
          <p:nvPr/>
        </p:nvSpPr>
        <p:spPr>
          <a:xfrm>
            <a:off x="10208155" y="626555"/>
            <a:ext cx="245904" cy="252070"/>
          </a:xfrm>
          <a:prstGeom prst="rect">
            <a:avLst/>
          </a:prstGeom>
          <a:solidFill>
            <a:srgbClr val="9D2E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AF2DEA8-5B1E-67A8-6C78-8962B49C6BB6}"/>
              </a:ext>
            </a:extLst>
          </p:cNvPr>
          <p:cNvSpPr/>
          <p:nvPr/>
        </p:nvSpPr>
        <p:spPr>
          <a:xfrm>
            <a:off x="10208155" y="935100"/>
            <a:ext cx="245904" cy="252070"/>
          </a:xfrm>
          <a:prstGeom prst="rect">
            <a:avLst/>
          </a:prstGeom>
          <a:solidFill>
            <a:srgbClr val="9AAB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31455FC-EB77-697C-E36B-591791ED23A9}"/>
              </a:ext>
            </a:extLst>
          </p:cNvPr>
          <p:cNvSpPr/>
          <p:nvPr/>
        </p:nvSpPr>
        <p:spPr>
          <a:xfrm>
            <a:off x="10203732" y="1241090"/>
            <a:ext cx="245904" cy="25207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78142B-2BC5-496F-E8B0-0FA79B3C5B25}"/>
              </a:ext>
            </a:extLst>
          </p:cNvPr>
          <p:cNvSpPr/>
          <p:nvPr/>
        </p:nvSpPr>
        <p:spPr>
          <a:xfrm>
            <a:off x="10203732" y="1567121"/>
            <a:ext cx="245904" cy="25207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210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43549" y="822391"/>
            <a:ext cx="92365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Gill Sans MT" panose="020B0502020104020203" pitchFamily="34" charset="77"/>
              </a:rPr>
              <a:t>IDEAL</a:t>
            </a:r>
          </a:p>
          <a:p>
            <a:pPr algn="ctr"/>
            <a:r>
              <a:rPr lang="es-ES" sz="2000" dirty="0">
                <a:latin typeface="Gill Sans MT" panose="020B0502020104020203" pitchFamily="34" charset="77"/>
              </a:rPr>
              <a:t>FN = 0</a:t>
            </a:r>
          </a:p>
          <a:p>
            <a:pPr algn="ctr"/>
            <a:r>
              <a:rPr lang="es-ES" sz="2000" dirty="0">
                <a:latin typeface="Gill Sans MT" panose="020B0502020104020203" pitchFamily="34" charset="77"/>
              </a:rPr>
              <a:t>FP = 0</a:t>
            </a:r>
            <a:endParaRPr lang="en-US" sz="2000" dirty="0">
              <a:latin typeface="Gill Sans MT" panose="020B0502020104020203" pitchFamily="34" charset="77"/>
            </a:endParaRPr>
          </a:p>
          <a:p>
            <a:pPr algn="ctr"/>
            <a:r>
              <a:rPr lang="en-US" sz="2000" dirty="0">
                <a:latin typeface="Gill Sans MT" panose="020B0502020104020203" pitchFamily="34" charset="77"/>
              </a:rPr>
              <a:t> 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457453" y="3986282"/>
            <a:ext cx="1160059" cy="1269238"/>
            <a:chOff x="2388361" y="2169997"/>
            <a:chExt cx="4285397" cy="3766782"/>
          </a:xfrm>
        </p:grpSpPr>
        <p:sp>
          <p:nvSpPr>
            <p:cNvPr id="8" name="Rectangle 7"/>
            <p:cNvSpPr/>
            <p:nvPr/>
          </p:nvSpPr>
          <p:spPr>
            <a:xfrm>
              <a:off x="2388361" y="2169997"/>
              <a:ext cx="4285397" cy="3766782"/>
            </a:xfrm>
            <a:prstGeom prst="rect">
              <a:avLst/>
            </a:prstGeom>
            <a:solidFill>
              <a:schemeClr val="bg1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Freeform 8"/>
            <p:cNvSpPr/>
            <p:nvPr/>
          </p:nvSpPr>
          <p:spPr>
            <a:xfrm>
              <a:off x="3005157" y="3166215"/>
              <a:ext cx="2729534" cy="1919913"/>
            </a:xfrm>
            <a:custGeom>
              <a:avLst/>
              <a:gdLst>
                <a:gd name="connsiteX0" fmla="*/ 1034582 w 2729534"/>
                <a:gd name="connsiteY0" fmla="*/ 341268 h 1919913"/>
                <a:gd name="connsiteX1" fmla="*/ 1512254 w 2729534"/>
                <a:gd name="connsiteY1" fmla="*/ 13722 h 1919913"/>
                <a:gd name="connsiteX2" fmla="*/ 2726905 w 2729534"/>
                <a:gd name="connsiteY2" fmla="*/ 832588 h 1919913"/>
                <a:gd name="connsiteX3" fmla="*/ 1798857 w 2729534"/>
                <a:gd name="connsiteY3" fmla="*/ 1897113 h 1919913"/>
                <a:gd name="connsiteX4" fmla="*/ 556911 w 2729534"/>
                <a:gd name="connsiteY4" fmla="*/ 1487680 h 1919913"/>
                <a:gd name="connsiteX5" fmla="*/ 11000 w 2729534"/>
                <a:gd name="connsiteY5" fmla="*/ 627871 h 1919913"/>
                <a:gd name="connsiteX6" fmla="*/ 1034582 w 2729534"/>
                <a:gd name="connsiteY6" fmla="*/ 341268 h 191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9534" h="1919913">
                  <a:moveTo>
                    <a:pt x="1034582" y="341268"/>
                  </a:moveTo>
                  <a:cubicBezTo>
                    <a:pt x="1284791" y="238910"/>
                    <a:pt x="1230200" y="-68165"/>
                    <a:pt x="1512254" y="13722"/>
                  </a:cubicBezTo>
                  <a:cubicBezTo>
                    <a:pt x="1794308" y="95609"/>
                    <a:pt x="2679138" y="518690"/>
                    <a:pt x="2726905" y="832588"/>
                  </a:cubicBezTo>
                  <a:cubicBezTo>
                    <a:pt x="2774672" y="1146486"/>
                    <a:pt x="2160523" y="1787931"/>
                    <a:pt x="1798857" y="1897113"/>
                  </a:cubicBezTo>
                  <a:cubicBezTo>
                    <a:pt x="1437191" y="2006295"/>
                    <a:pt x="854887" y="1699220"/>
                    <a:pt x="556911" y="1487680"/>
                  </a:cubicBezTo>
                  <a:cubicBezTo>
                    <a:pt x="258935" y="1276140"/>
                    <a:pt x="-64063" y="816665"/>
                    <a:pt x="11000" y="627871"/>
                  </a:cubicBezTo>
                  <a:cubicBezTo>
                    <a:pt x="86063" y="439077"/>
                    <a:pt x="784373" y="443626"/>
                    <a:pt x="1034582" y="341268"/>
                  </a:cubicBezTo>
                  <a:close/>
                </a:path>
              </a:pathLst>
            </a:cu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Freeform 9"/>
            <p:cNvSpPr/>
            <p:nvPr/>
          </p:nvSpPr>
          <p:spPr>
            <a:xfrm>
              <a:off x="2665734" y="2406313"/>
              <a:ext cx="3421845" cy="3024829"/>
            </a:xfrm>
            <a:custGeom>
              <a:avLst/>
              <a:gdLst>
                <a:gd name="connsiteX0" fmla="*/ 1034582 w 2729534"/>
                <a:gd name="connsiteY0" fmla="*/ 341268 h 1919913"/>
                <a:gd name="connsiteX1" fmla="*/ 1512254 w 2729534"/>
                <a:gd name="connsiteY1" fmla="*/ 13722 h 1919913"/>
                <a:gd name="connsiteX2" fmla="*/ 2726905 w 2729534"/>
                <a:gd name="connsiteY2" fmla="*/ 832588 h 1919913"/>
                <a:gd name="connsiteX3" fmla="*/ 1798857 w 2729534"/>
                <a:gd name="connsiteY3" fmla="*/ 1897113 h 1919913"/>
                <a:gd name="connsiteX4" fmla="*/ 556911 w 2729534"/>
                <a:gd name="connsiteY4" fmla="*/ 1487680 h 1919913"/>
                <a:gd name="connsiteX5" fmla="*/ 11000 w 2729534"/>
                <a:gd name="connsiteY5" fmla="*/ 627871 h 1919913"/>
                <a:gd name="connsiteX6" fmla="*/ 1034582 w 2729534"/>
                <a:gd name="connsiteY6" fmla="*/ 341268 h 1919913"/>
                <a:gd name="connsiteX0" fmla="*/ 1034582 w 2242520"/>
                <a:gd name="connsiteY0" fmla="*/ 343152 h 1919663"/>
                <a:gd name="connsiteX1" fmla="*/ 1512254 w 2242520"/>
                <a:gd name="connsiteY1" fmla="*/ 15606 h 1919663"/>
                <a:gd name="connsiteX2" fmla="*/ 2235585 w 2242520"/>
                <a:gd name="connsiteY2" fmla="*/ 875416 h 1919663"/>
                <a:gd name="connsiteX3" fmla="*/ 1798857 w 2242520"/>
                <a:gd name="connsiteY3" fmla="*/ 1898997 h 1919663"/>
                <a:gd name="connsiteX4" fmla="*/ 556911 w 2242520"/>
                <a:gd name="connsiteY4" fmla="*/ 1489564 h 1919663"/>
                <a:gd name="connsiteX5" fmla="*/ 11000 w 2242520"/>
                <a:gd name="connsiteY5" fmla="*/ 629755 h 1919663"/>
                <a:gd name="connsiteX6" fmla="*/ 1034582 w 2242520"/>
                <a:gd name="connsiteY6" fmla="*/ 343152 h 1919663"/>
                <a:gd name="connsiteX0" fmla="*/ 1034582 w 2253299"/>
                <a:gd name="connsiteY0" fmla="*/ 435985 h 2012496"/>
                <a:gd name="connsiteX1" fmla="*/ 1280242 w 2253299"/>
                <a:gd name="connsiteY1" fmla="*/ 12904 h 2012496"/>
                <a:gd name="connsiteX2" fmla="*/ 2235585 w 2253299"/>
                <a:gd name="connsiteY2" fmla="*/ 968249 h 2012496"/>
                <a:gd name="connsiteX3" fmla="*/ 1798857 w 2253299"/>
                <a:gd name="connsiteY3" fmla="*/ 1991830 h 2012496"/>
                <a:gd name="connsiteX4" fmla="*/ 556911 w 2253299"/>
                <a:gd name="connsiteY4" fmla="*/ 1582397 h 2012496"/>
                <a:gd name="connsiteX5" fmla="*/ 11000 w 2253299"/>
                <a:gd name="connsiteY5" fmla="*/ 722588 h 2012496"/>
                <a:gd name="connsiteX6" fmla="*/ 1034582 w 2253299"/>
                <a:gd name="connsiteY6" fmla="*/ 435985 h 2012496"/>
                <a:gd name="connsiteX0" fmla="*/ 586989 w 2242434"/>
                <a:gd name="connsiteY0" fmla="*/ 487258 h 2009178"/>
                <a:gd name="connsiteX1" fmla="*/ 1269377 w 2242434"/>
                <a:gd name="connsiteY1" fmla="*/ 9586 h 2009178"/>
                <a:gd name="connsiteX2" fmla="*/ 2224720 w 2242434"/>
                <a:gd name="connsiteY2" fmla="*/ 964931 h 2009178"/>
                <a:gd name="connsiteX3" fmla="*/ 1787992 w 2242434"/>
                <a:gd name="connsiteY3" fmla="*/ 1988512 h 2009178"/>
                <a:gd name="connsiteX4" fmla="*/ 546046 w 2242434"/>
                <a:gd name="connsiteY4" fmla="*/ 1579079 h 2009178"/>
                <a:gd name="connsiteX5" fmla="*/ 135 w 2242434"/>
                <a:gd name="connsiteY5" fmla="*/ 719270 h 2009178"/>
                <a:gd name="connsiteX6" fmla="*/ 586989 w 2242434"/>
                <a:gd name="connsiteY6" fmla="*/ 487258 h 2009178"/>
                <a:gd name="connsiteX0" fmla="*/ 602616 w 2260356"/>
                <a:gd name="connsiteY0" fmla="*/ 487258 h 2028895"/>
                <a:gd name="connsiteX1" fmla="*/ 1285004 w 2260356"/>
                <a:gd name="connsiteY1" fmla="*/ 9586 h 2028895"/>
                <a:gd name="connsiteX2" fmla="*/ 2240347 w 2260356"/>
                <a:gd name="connsiteY2" fmla="*/ 964931 h 2028895"/>
                <a:gd name="connsiteX3" fmla="*/ 1803619 w 2260356"/>
                <a:gd name="connsiteY3" fmla="*/ 1988512 h 2028895"/>
                <a:gd name="connsiteX4" fmla="*/ 316014 w 2260356"/>
                <a:gd name="connsiteY4" fmla="*/ 1715556 h 2028895"/>
                <a:gd name="connsiteX5" fmla="*/ 15762 w 2260356"/>
                <a:gd name="connsiteY5" fmla="*/ 719270 h 2028895"/>
                <a:gd name="connsiteX6" fmla="*/ 602616 w 2260356"/>
                <a:gd name="connsiteY6" fmla="*/ 487258 h 2028895"/>
                <a:gd name="connsiteX0" fmla="*/ 1121883 w 2779623"/>
                <a:gd name="connsiteY0" fmla="*/ 487386 h 2029023"/>
                <a:gd name="connsiteX1" fmla="*/ 1804271 w 2779623"/>
                <a:gd name="connsiteY1" fmla="*/ 9714 h 2029023"/>
                <a:gd name="connsiteX2" fmla="*/ 2759614 w 2779623"/>
                <a:gd name="connsiteY2" fmla="*/ 965059 h 2029023"/>
                <a:gd name="connsiteX3" fmla="*/ 2322886 w 2779623"/>
                <a:gd name="connsiteY3" fmla="*/ 1988640 h 2029023"/>
                <a:gd name="connsiteX4" fmla="*/ 835281 w 2779623"/>
                <a:gd name="connsiteY4" fmla="*/ 1715684 h 2029023"/>
                <a:gd name="connsiteX5" fmla="*/ 2767 w 2779623"/>
                <a:gd name="connsiteY5" fmla="*/ 760342 h 2029023"/>
                <a:gd name="connsiteX6" fmla="*/ 1121883 w 2779623"/>
                <a:gd name="connsiteY6" fmla="*/ 487386 h 2029023"/>
                <a:gd name="connsiteX0" fmla="*/ 932037 w 2589777"/>
                <a:gd name="connsiteY0" fmla="*/ 487518 h 2029155"/>
                <a:gd name="connsiteX1" fmla="*/ 1614425 w 2589777"/>
                <a:gd name="connsiteY1" fmla="*/ 9846 h 2029155"/>
                <a:gd name="connsiteX2" fmla="*/ 2569768 w 2589777"/>
                <a:gd name="connsiteY2" fmla="*/ 965191 h 2029155"/>
                <a:gd name="connsiteX3" fmla="*/ 2133040 w 2589777"/>
                <a:gd name="connsiteY3" fmla="*/ 1988772 h 2029155"/>
                <a:gd name="connsiteX4" fmla="*/ 645435 w 2589777"/>
                <a:gd name="connsiteY4" fmla="*/ 1715816 h 2029155"/>
                <a:gd name="connsiteX5" fmla="*/ 3989 w 2589777"/>
                <a:gd name="connsiteY5" fmla="*/ 801418 h 2029155"/>
                <a:gd name="connsiteX6" fmla="*/ 932037 w 2589777"/>
                <a:gd name="connsiteY6" fmla="*/ 487518 h 2029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9777" h="2029155">
                  <a:moveTo>
                    <a:pt x="932037" y="487518"/>
                  </a:moveTo>
                  <a:cubicBezTo>
                    <a:pt x="1200443" y="355589"/>
                    <a:pt x="1341470" y="-69766"/>
                    <a:pt x="1614425" y="9846"/>
                  </a:cubicBezTo>
                  <a:cubicBezTo>
                    <a:pt x="1887380" y="89458"/>
                    <a:pt x="2483332" y="635370"/>
                    <a:pt x="2569768" y="965191"/>
                  </a:cubicBezTo>
                  <a:cubicBezTo>
                    <a:pt x="2656204" y="1295012"/>
                    <a:pt x="2453762" y="1863668"/>
                    <a:pt x="2133040" y="1988772"/>
                  </a:cubicBezTo>
                  <a:cubicBezTo>
                    <a:pt x="1812318" y="2113876"/>
                    <a:pt x="943411" y="1927356"/>
                    <a:pt x="645435" y="1715816"/>
                  </a:cubicBezTo>
                  <a:cubicBezTo>
                    <a:pt x="347459" y="1504276"/>
                    <a:pt x="-43778" y="1006134"/>
                    <a:pt x="3989" y="801418"/>
                  </a:cubicBezTo>
                  <a:cubicBezTo>
                    <a:pt x="51756" y="596702"/>
                    <a:pt x="663631" y="619447"/>
                    <a:pt x="932037" y="487518"/>
                  </a:cubicBezTo>
                  <a:close/>
                </a:path>
              </a:pathLst>
            </a:custGeom>
            <a:solidFill>
              <a:srgbClr val="2249CD">
                <a:alpha val="36000"/>
              </a:srgb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2169559" y="3977800"/>
            <a:ext cx="1160059" cy="1269238"/>
            <a:chOff x="2388361" y="2169997"/>
            <a:chExt cx="4285397" cy="3766782"/>
          </a:xfrm>
        </p:grpSpPr>
        <p:sp>
          <p:nvSpPr>
            <p:cNvPr id="15" name="Rectangle 14"/>
            <p:cNvSpPr/>
            <p:nvPr/>
          </p:nvSpPr>
          <p:spPr>
            <a:xfrm>
              <a:off x="2388361" y="2169997"/>
              <a:ext cx="4285397" cy="3766782"/>
            </a:xfrm>
            <a:prstGeom prst="rect">
              <a:avLst/>
            </a:prstGeom>
            <a:solidFill>
              <a:schemeClr val="bg1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Freeform 15"/>
            <p:cNvSpPr/>
            <p:nvPr/>
          </p:nvSpPr>
          <p:spPr>
            <a:xfrm>
              <a:off x="3005157" y="3166215"/>
              <a:ext cx="2729534" cy="1919913"/>
            </a:xfrm>
            <a:custGeom>
              <a:avLst/>
              <a:gdLst>
                <a:gd name="connsiteX0" fmla="*/ 1034582 w 2729534"/>
                <a:gd name="connsiteY0" fmla="*/ 341268 h 1919913"/>
                <a:gd name="connsiteX1" fmla="*/ 1512254 w 2729534"/>
                <a:gd name="connsiteY1" fmla="*/ 13722 h 1919913"/>
                <a:gd name="connsiteX2" fmla="*/ 2726905 w 2729534"/>
                <a:gd name="connsiteY2" fmla="*/ 832588 h 1919913"/>
                <a:gd name="connsiteX3" fmla="*/ 1798857 w 2729534"/>
                <a:gd name="connsiteY3" fmla="*/ 1897113 h 1919913"/>
                <a:gd name="connsiteX4" fmla="*/ 556911 w 2729534"/>
                <a:gd name="connsiteY4" fmla="*/ 1487680 h 1919913"/>
                <a:gd name="connsiteX5" fmla="*/ 11000 w 2729534"/>
                <a:gd name="connsiteY5" fmla="*/ 627871 h 1919913"/>
                <a:gd name="connsiteX6" fmla="*/ 1034582 w 2729534"/>
                <a:gd name="connsiteY6" fmla="*/ 341268 h 191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9534" h="1919913">
                  <a:moveTo>
                    <a:pt x="1034582" y="341268"/>
                  </a:moveTo>
                  <a:cubicBezTo>
                    <a:pt x="1284791" y="238910"/>
                    <a:pt x="1230200" y="-68165"/>
                    <a:pt x="1512254" y="13722"/>
                  </a:cubicBezTo>
                  <a:cubicBezTo>
                    <a:pt x="1794308" y="95609"/>
                    <a:pt x="2679138" y="518690"/>
                    <a:pt x="2726905" y="832588"/>
                  </a:cubicBezTo>
                  <a:cubicBezTo>
                    <a:pt x="2774672" y="1146486"/>
                    <a:pt x="2160523" y="1787931"/>
                    <a:pt x="1798857" y="1897113"/>
                  </a:cubicBezTo>
                  <a:cubicBezTo>
                    <a:pt x="1437191" y="2006295"/>
                    <a:pt x="854887" y="1699220"/>
                    <a:pt x="556911" y="1487680"/>
                  </a:cubicBezTo>
                  <a:cubicBezTo>
                    <a:pt x="258935" y="1276140"/>
                    <a:pt x="-64063" y="816665"/>
                    <a:pt x="11000" y="627871"/>
                  </a:cubicBezTo>
                  <a:cubicBezTo>
                    <a:pt x="86063" y="439077"/>
                    <a:pt x="784373" y="443626"/>
                    <a:pt x="1034582" y="341268"/>
                  </a:cubicBezTo>
                  <a:close/>
                </a:path>
              </a:pathLst>
            </a:cu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Freeform 16"/>
            <p:cNvSpPr/>
            <p:nvPr/>
          </p:nvSpPr>
          <p:spPr>
            <a:xfrm>
              <a:off x="3928794" y="3555480"/>
              <a:ext cx="981831" cy="952007"/>
            </a:xfrm>
            <a:custGeom>
              <a:avLst/>
              <a:gdLst>
                <a:gd name="connsiteX0" fmla="*/ 1034582 w 2729534"/>
                <a:gd name="connsiteY0" fmla="*/ 341268 h 1919913"/>
                <a:gd name="connsiteX1" fmla="*/ 1512254 w 2729534"/>
                <a:gd name="connsiteY1" fmla="*/ 13722 h 1919913"/>
                <a:gd name="connsiteX2" fmla="*/ 2726905 w 2729534"/>
                <a:gd name="connsiteY2" fmla="*/ 832588 h 1919913"/>
                <a:gd name="connsiteX3" fmla="*/ 1798857 w 2729534"/>
                <a:gd name="connsiteY3" fmla="*/ 1897113 h 1919913"/>
                <a:gd name="connsiteX4" fmla="*/ 556911 w 2729534"/>
                <a:gd name="connsiteY4" fmla="*/ 1487680 h 1919913"/>
                <a:gd name="connsiteX5" fmla="*/ 11000 w 2729534"/>
                <a:gd name="connsiteY5" fmla="*/ 627871 h 1919913"/>
                <a:gd name="connsiteX6" fmla="*/ 1034582 w 2729534"/>
                <a:gd name="connsiteY6" fmla="*/ 341268 h 1919913"/>
                <a:gd name="connsiteX0" fmla="*/ 1034582 w 2242520"/>
                <a:gd name="connsiteY0" fmla="*/ 343152 h 1919663"/>
                <a:gd name="connsiteX1" fmla="*/ 1512254 w 2242520"/>
                <a:gd name="connsiteY1" fmla="*/ 15606 h 1919663"/>
                <a:gd name="connsiteX2" fmla="*/ 2235585 w 2242520"/>
                <a:gd name="connsiteY2" fmla="*/ 875416 h 1919663"/>
                <a:gd name="connsiteX3" fmla="*/ 1798857 w 2242520"/>
                <a:gd name="connsiteY3" fmla="*/ 1898997 h 1919663"/>
                <a:gd name="connsiteX4" fmla="*/ 556911 w 2242520"/>
                <a:gd name="connsiteY4" fmla="*/ 1489564 h 1919663"/>
                <a:gd name="connsiteX5" fmla="*/ 11000 w 2242520"/>
                <a:gd name="connsiteY5" fmla="*/ 629755 h 1919663"/>
                <a:gd name="connsiteX6" fmla="*/ 1034582 w 2242520"/>
                <a:gd name="connsiteY6" fmla="*/ 343152 h 1919663"/>
                <a:gd name="connsiteX0" fmla="*/ 1034582 w 2253299"/>
                <a:gd name="connsiteY0" fmla="*/ 435985 h 2012496"/>
                <a:gd name="connsiteX1" fmla="*/ 1280242 w 2253299"/>
                <a:gd name="connsiteY1" fmla="*/ 12904 h 2012496"/>
                <a:gd name="connsiteX2" fmla="*/ 2235585 w 2253299"/>
                <a:gd name="connsiteY2" fmla="*/ 968249 h 2012496"/>
                <a:gd name="connsiteX3" fmla="*/ 1798857 w 2253299"/>
                <a:gd name="connsiteY3" fmla="*/ 1991830 h 2012496"/>
                <a:gd name="connsiteX4" fmla="*/ 556911 w 2253299"/>
                <a:gd name="connsiteY4" fmla="*/ 1582397 h 2012496"/>
                <a:gd name="connsiteX5" fmla="*/ 11000 w 2253299"/>
                <a:gd name="connsiteY5" fmla="*/ 722588 h 2012496"/>
                <a:gd name="connsiteX6" fmla="*/ 1034582 w 2253299"/>
                <a:gd name="connsiteY6" fmla="*/ 435985 h 2012496"/>
                <a:gd name="connsiteX0" fmla="*/ 586989 w 2242434"/>
                <a:gd name="connsiteY0" fmla="*/ 487258 h 2009178"/>
                <a:gd name="connsiteX1" fmla="*/ 1269377 w 2242434"/>
                <a:gd name="connsiteY1" fmla="*/ 9586 h 2009178"/>
                <a:gd name="connsiteX2" fmla="*/ 2224720 w 2242434"/>
                <a:gd name="connsiteY2" fmla="*/ 964931 h 2009178"/>
                <a:gd name="connsiteX3" fmla="*/ 1787992 w 2242434"/>
                <a:gd name="connsiteY3" fmla="*/ 1988512 h 2009178"/>
                <a:gd name="connsiteX4" fmla="*/ 546046 w 2242434"/>
                <a:gd name="connsiteY4" fmla="*/ 1579079 h 2009178"/>
                <a:gd name="connsiteX5" fmla="*/ 135 w 2242434"/>
                <a:gd name="connsiteY5" fmla="*/ 719270 h 2009178"/>
                <a:gd name="connsiteX6" fmla="*/ 586989 w 2242434"/>
                <a:gd name="connsiteY6" fmla="*/ 487258 h 2009178"/>
                <a:gd name="connsiteX0" fmla="*/ 602616 w 2260356"/>
                <a:gd name="connsiteY0" fmla="*/ 487258 h 2028895"/>
                <a:gd name="connsiteX1" fmla="*/ 1285004 w 2260356"/>
                <a:gd name="connsiteY1" fmla="*/ 9586 h 2028895"/>
                <a:gd name="connsiteX2" fmla="*/ 2240347 w 2260356"/>
                <a:gd name="connsiteY2" fmla="*/ 964931 h 2028895"/>
                <a:gd name="connsiteX3" fmla="*/ 1803619 w 2260356"/>
                <a:gd name="connsiteY3" fmla="*/ 1988512 h 2028895"/>
                <a:gd name="connsiteX4" fmla="*/ 316014 w 2260356"/>
                <a:gd name="connsiteY4" fmla="*/ 1715556 h 2028895"/>
                <a:gd name="connsiteX5" fmla="*/ 15762 w 2260356"/>
                <a:gd name="connsiteY5" fmla="*/ 719270 h 2028895"/>
                <a:gd name="connsiteX6" fmla="*/ 602616 w 2260356"/>
                <a:gd name="connsiteY6" fmla="*/ 487258 h 2028895"/>
                <a:gd name="connsiteX0" fmla="*/ 1121883 w 2779623"/>
                <a:gd name="connsiteY0" fmla="*/ 487386 h 2029023"/>
                <a:gd name="connsiteX1" fmla="*/ 1804271 w 2779623"/>
                <a:gd name="connsiteY1" fmla="*/ 9714 h 2029023"/>
                <a:gd name="connsiteX2" fmla="*/ 2759614 w 2779623"/>
                <a:gd name="connsiteY2" fmla="*/ 965059 h 2029023"/>
                <a:gd name="connsiteX3" fmla="*/ 2322886 w 2779623"/>
                <a:gd name="connsiteY3" fmla="*/ 1988640 h 2029023"/>
                <a:gd name="connsiteX4" fmla="*/ 835281 w 2779623"/>
                <a:gd name="connsiteY4" fmla="*/ 1715684 h 2029023"/>
                <a:gd name="connsiteX5" fmla="*/ 2767 w 2779623"/>
                <a:gd name="connsiteY5" fmla="*/ 760342 h 2029023"/>
                <a:gd name="connsiteX6" fmla="*/ 1121883 w 2779623"/>
                <a:gd name="connsiteY6" fmla="*/ 487386 h 2029023"/>
                <a:gd name="connsiteX0" fmla="*/ 932037 w 2589777"/>
                <a:gd name="connsiteY0" fmla="*/ 487518 h 2029155"/>
                <a:gd name="connsiteX1" fmla="*/ 1614425 w 2589777"/>
                <a:gd name="connsiteY1" fmla="*/ 9846 h 2029155"/>
                <a:gd name="connsiteX2" fmla="*/ 2569768 w 2589777"/>
                <a:gd name="connsiteY2" fmla="*/ 965191 h 2029155"/>
                <a:gd name="connsiteX3" fmla="*/ 2133040 w 2589777"/>
                <a:gd name="connsiteY3" fmla="*/ 1988772 h 2029155"/>
                <a:gd name="connsiteX4" fmla="*/ 645435 w 2589777"/>
                <a:gd name="connsiteY4" fmla="*/ 1715816 h 2029155"/>
                <a:gd name="connsiteX5" fmla="*/ 3989 w 2589777"/>
                <a:gd name="connsiteY5" fmla="*/ 801418 h 2029155"/>
                <a:gd name="connsiteX6" fmla="*/ 932037 w 2589777"/>
                <a:gd name="connsiteY6" fmla="*/ 487518 h 2029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9777" h="2029155">
                  <a:moveTo>
                    <a:pt x="932037" y="487518"/>
                  </a:moveTo>
                  <a:cubicBezTo>
                    <a:pt x="1200443" y="355589"/>
                    <a:pt x="1341470" y="-69766"/>
                    <a:pt x="1614425" y="9846"/>
                  </a:cubicBezTo>
                  <a:cubicBezTo>
                    <a:pt x="1887380" y="89458"/>
                    <a:pt x="2483332" y="635370"/>
                    <a:pt x="2569768" y="965191"/>
                  </a:cubicBezTo>
                  <a:cubicBezTo>
                    <a:pt x="2656204" y="1295012"/>
                    <a:pt x="2453762" y="1863668"/>
                    <a:pt x="2133040" y="1988772"/>
                  </a:cubicBezTo>
                  <a:cubicBezTo>
                    <a:pt x="1812318" y="2113876"/>
                    <a:pt x="943411" y="1927356"/>
                    <a:pt x="645435" y="1715816"/>
                  </a:cubicBezTo>
                  <a:cubicBezTo>
                    <a:pt x="347459" y="1504276"/>
                    <a:pt x="-43778" y="1006134"/>
                    <a:pt x="3989" y="801418"/>
                  </a:cubicBezTo>
                  <a:cubicBezTo>
                    <a:pt x="51756" y="596702"/>
                    <a:pt x="663631" y="619447"/>
                    <a:pt x="932037" y="487518"/>
                  </a:cubicBezTo>
                  <a:close/>
                </a:path>
              </a:pathLst>
            </a:custGeom>
            <a:solidFill>
              <a:srgbClr val="2249CD">
                <a:alpha val="36000"/>
              </a:srgb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1816243" y="3529263"/>
            <a:ext cx="1916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Sin </a:t>
            </a:r>
            <a:r>
              <a:rPr lang="en-US" dirty="0" err="1">
                <a:latin typeface="Gill Sans MT" panose="020B0502020104020203" pitchFamily="34" charset="77"/>
              </a:rPr>
              <a:t>falsos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positivos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995357" y="3331470"/>
            <a:ext cx="21435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 </a:t>
            </a:r>
            <a:r>
              <a:rPr lang="en-US" dirty="0" err="1">
                <a:latin typeface="Gill Sans MT" panose="020B0502020104020203" pitchFamily="34" charset="77"/>
              </a:rPr>
              <a:t>detectan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todas</a:t>
            </a:r>
            <a:r>
              <a:rPr lang="en-US" dirty="0">
                <a:latin typeface="Gill Sans MT" panose="020B0502020104020203" pitchFamily="34" charset="77"/>
              </a:rPr>
              <a:t> las</a:t>
            </a:r>
          </a:p>
          <a:p>
            <a:pPr algn="ctr"/>
            <a:r>
              <a:rPr lang="en-US" dirty="0" err="1">
                <a:latin typeface="Gill Sans MT" panose="020B0502020104020203" pitchFamily="34" charset="77"/>
              </a:rPr>
              <a:t>muestras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positivas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830668" y="5342023"/>
            <a:ext cx="1768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Sin falsas </a:t>
            </a:r>
            <a:r>
              <a:rPr lang="en-US" dirty="0" err="1">
                <a:latin typeface="Gill Sans MT" panose="020B0502020104020203" pitchFamily="34" charset="77"/>
              </a:rPr>
              <a:t>alarmas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199046" y="5342023"/>
            <a:ext cx="17818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Todos </a:t>
            </a:r>
            <a:r>
              <a:rPr lang="en-US" dirty="0" err="1">
                <a:latin typeface="Gill Sans MT" panose="020B0502020104020203" pitchFamily="34" charset="77"/>
              </a:rPr>
              <a:t>los</a:t>
            </a:r>
            <a:r>
              <a:rPr lang="en-US" dirty="0">
                <a:latin typeface="Gill Sans MT" panose="020B0502020104020203" pitchFamily="34" charset="77"/>
              </a:rPr>
              <a:t> targets</a:t>
            </a:r>
          </a:p>
          <a:p>
            <a:pPr algn="ctr"/>
            <a:r>
              <a:rPr lang="en-US" dirty="0" err="1">
                <a:latin typeface="Gill Sans MT" panose="020B0502020104020203" pitchFamily="34" charset="77"/>
              </a:rPr>
              <a:t>detectados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208189" y="3233074"/>
            <a:ext cx="99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Extremo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675" y="2948022"/>
            <a:ext cx="99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Extremo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5491209" y="3986282"/>
            <a:ext cx="1160059" cy="1269238"/>
            <a:chOff x="2388361" y="2169997"/>
            <a:chExt cx="4285397" cy="3766782"/>
          </a:xfrm>
        </p:grpSpPr>
        <p:sp>
          <p:nvSpPr>
            <p:cNvPr id="32" name="Rectangle 31"/>
            <p:cNvSpPr/>
            <p:nvPr/>
          </p:nvSpPr>
          <p:spPr>
            <a:xfrm>
              <a:off x="2388361" y="2169997"/>
              <a:ext cx="4285397" cy="3766782"/>
            </a:xfrm>
            <a:prstGeom prst="rect">
              <a:avLst/>
            </a:prstGeom>
            <a:solidFill>
              <a:schemeClr val="bg1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Freeform 32"/>
            <p:cNvSpPr/>
            <p:nvPr/>
          </p:nvSpPr>
          <p:spPr>
            <a:xfrm>
              <a:off x="3005157" y="3166215"/>
              <a:ext cx="2729534" cy="1919913"/>
            </a:xfrm>
            <a:custGeom>
              <a:avLst/>
              <a:gdLst>
                <a:gd name="connsiteX0" fmla="*/ 1034582 w 2729534"/>
                <a:gd name="connsiteY0" fmla="*/ 341268 h 1919913"/>
                <a:gd name="connsiteX1" fmla="*/ 1512254 w 2729534"/>
                <a:gd name="connsiteY1" fmla="*/ 13722 h 1919913"/>
                <a:gd name="connsiteX2" fmla="*/ 2726905 w 2729534"/>
                <a:gd name="connsiteY2" fmla="*/ 832588 h 1919913"/>
                <a:gd name="connsiteX3" fmla="*/ 1798857 w 2729534"/>
                <a:gd name="connsiteY3" fmla="*/ 1897113 h 1919913"/>
                <a:gd name="connsiteX4" fmla="*/ 556911 w 2729534"/>
                <a:gd name="connsiteY4" fmla="*/ 1487680 h 1919913"/>
                <a:gd name="connsiteX5" fmla="*/ 11000 w 2729534"/>
                <a:gd name="connsiteY5" fmla="*/ 627871 h 1919913"/>
                <a:gd name="connsiteX6" fmla="*/ 1034582 w 2729534"/>
                <a:gd name="connsiteY6" fmla="*/ 341268 h 191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9534" h="1919913">
                  <a:moveTo>
                    <a:pt x="1034582" y="341268"/>
                  </a:moveTo>
                  <a:cubicBezTo>
                    <a:pt x="1284791" y="238910"/>
                    <a:pt x="1230200" y="-68165"/>
                    <a:pt x="1512254" y="13722"/>
                  </a:cubicBezTo>
                  <a:cubicBezTo>
                    <a:pt x="1794308" y="95609"/>
                    <a:pt x="2679138" y="518690"/>
                    <a:pt x="2726905" y="832588"/>
                  </a:cubicBezTo>
                  <a:cubicBezTo>
                    <a:pt x="2774672" y="1146486"/>
                    <a:pt x="2160523" y="1787931"/>
                    <a:pt x="1798857" y="1897113"/>
                  </a:cubicBezTo>
                  <a:cubicBezTo>
                    <a:pt x="1437191" y="2006295"/>
                    <a:pt x="854887" y="1699220"/>
                    <a:pt x="556911" y="1487680"/>
                  </a:cubicBezTo>
                  <a:cubicBezTo>
                    <a:pt x="258935" y="1276140"/>
                    <a:pt x="-64063" y="816665"/>
                    <a:pt x="11000" y="627871"/>
                  </a:cubicBezTo>
                  <a:cubicBezTo>
                    <a:pt x="86063" y="439077"/>
                    <a:pt x="784373" y="443626"/>
                    <a:pt x="1034582" y="341268"/>
                  </a:cubicBezTo>
                  <a:close/>
                </a:path>
              </a:pathLst>
            </a:cu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3153716" y="2907804"/>
              <a:ext cx="2388869" cy="1921093"/>
            </a:xfrm>
            <a:custGeom>
              <a:avLst/>
              <a:gdLst>
                <a:gd name="connsiteX0" fmla="*/ 1034582 w 2729534"/>
                <a:gd name="connsiteY0" fmla="*/ 341268 h 1919913"/>
                <a:gd name="connsiteX1" fmla="*/ 1512254 w 2729534"/>
                <a:gd name="connsiteY1" fmla="*/ 13722 h 1919913"/>
                <a:gd name="connsiteX2" fmla="*/ 2726905 w 2729534"/>
                <a:gd name="connsiteY2" fmla="*/ 832588 h 1919913"/>
                <a:gd name="connsiteX3" fmla="*/ 1798857 w 2729534"/>
                <a:gd name="connsiteY3" fmla="*/ 1897113 h 1919913"/>
                <a:gd name="connsiteX4" fmla="*/ 556911 w 2729534"/>
                <a:gd name="connsiteY4" fmla="*/ 1487680 h 1919913"/>
                <a:gd name="connsiteX5" fmla="*/ 11000 w 2729534"/>
                <a:gd name="connsiteY5" fmla="*/ 627871 h 1919913"/>
                <a:gd name="connsiteX6" fmla="*/ 1034582 w 2729534"/>
                <a:gd name="connsiteY6" fmla="*/ 341268 h 1919913"/>
                <a:gd name="connsiteX0" fmla="*/ 1034582 w 2242520"/>
                <a:gd name="connsiteY0" fmla="*/ 343152 h 1919663"/>
                <a:gd name="connsiteX1" fmla="*/ 1512254 w 2242520"/>
                <a:gd name="connsiteY1" fmla="*/ 15606 h 1919663"/>
                <a:gd name="connsiteX2" fmla="*/ 2235585 w 2242520"/>
                <a:gd name="connsiteY2" fmla="*/ 875416 h 1919663"/>
                <a:gd name="connsiteX3" fmla="*/ 1798857 w 2242520"/>
                <a:gd name="connsiteY3" fmla="*/ 1898997 h 1919663"/>
                <a:gd name="connsiteX4" fmla="*/ 556911 w 2242520"/>
                <a:gd name="connsiteY4" fmla="*/ 1489564 h 1919663"/>
                <a:gd name="connsiteX5" fmla="*/ 11000 w 2242520"/>
                <a:gd name="connsiteY5" fmla="*/ 629755 h 1919663"/>
                <a:gd name="connsiteX6" fmla="*/ 1034582 w 2242520"/>
                <a:gd name="connsiteY6" fmla="*/ 343152 h 1919663"/>
                <a:gd name="connsiteX0" fmla="*/ 1034582 w 2253299"/>
                <a:gd name="connsiteY0" fmla="*/ 435985 h 2012496"/>
                <a:gd name="connsiteX1" fmla="*/ 1280242 w 2253299"/>
                <a:gd name="connsiteY1" fmla="*/ 12904 h 2012496"/>
                <a:gd name="connsiteX2" fmla="*/ 2235585 w 2253299"/>
                <a:gd name="connsiteY2" fmla="*/ 968249 h 2012496"/>
                <a:gd name="connsiteX3" fmla="*/ 1798857 w 2253299"/>
                <a:gd name="connsiteY3" fmla="*/ 1991830 h 2012496"/>
                <a:gd name="connsiteX4" fmla="*/ 556911 w 2253299"/>
                <a:gd name="connsiteY4" fmla="*/ 1582397 h 2012496"/>
                <a:gd name="connsiteX5" fmla="*/ 11000 w 2253299"/>
                <a:gd name="connsiteY5" fmla="*/ 722588 h 2012496"/>
                <a:gd name="connsiteX6" fmla="*/ 1034582 w 2253299"/>
                <a:gd name="connsiteY6" fmla="*/ 435985 h 2012496"/>
                <a:gd name="connsiteX0" fmla="*/ 586989 w 2242434"/>
                <a:gd name="connsiteY0" fmla="*/ 487258 h 2009178"/>
                <a:gd name="connsiteX1" fmla="*/ 1269377 w 2242434"/>
                <a:gd name="connsiteY1" fmla="*/ 9586 h 2009178"/>
                <a:gd name="connsiteX2" fmla="*/ 2224720 w 2242434"/>
                <a:gd name="connsiteY2" fmla="*/ 964931 h 2009178"/>
                <a:gd name="connsiteX3" fmla="*/ 1787992 w 2242434"/>
                <a:gd name="connsiteY3" fmla="*/ 1988512 h 2009178"/>
                <a:gd name="connsiteX4" fmla="*/ 546046 w 2242434"/>
                <a:gd name="connsiteY4" fmla="*/ 1579079 h 2009178"/>
                <a:gd name="connsiteX5" fmla="*/ 135 w 2242434"/>
                <a:gd name="connsiteY5" fmla="*/ 719270 h 2009178"/>
                <a:gd name="connsiteX6" fmla="*/ 586989 w 2242434"/>
                <a:gd name="connsiteY6" fmla="*/ 487258 h 2009178"/>
                <a:gd name="connsiteX0" fmla="*/ 602616 w 2260356"/>
                <a:gd name="connsiteY0" fmla="*/ 487258 h 2028895"/>
                <a:gd name="connsiteX1" fmla="*/ 1285004 w 2260356"/>
                <a:gd name="connsiteY1" fmla="*/ 9586 h 2028895"/>
                <a:gd name="connsiteX2" fmla="*/ 2240347 w 2260356"/>
                <a:gd name="connsiteY2" fmla="*/ 964931 h 2028895"/>
                <a:gd name="connsiteX3" fmla="*/ 1803619 w 2260356"/>
                <a:gd name="connsiteY3" fmla="*/ 1988512 h 2028895"/>
                <a:gd name="connsiteX4" fmla="*/ 316014 w 2260356"/>
                <a:gd name="connsiteY4" fmla="*/ 1715556 h 2028895"/>
                <a:gd name="connsiteX5" fmla="*/ 15762 w 2260356"/>
                <a:gd name="connsiteY5" fmla="*/ 719270 h 2028895"/>
                <a:gd name="connsiteX6" fmla="*/ 602616 w 2260356"/>
                <a:gd name="connsiteY6" fmla="*/ 487258 h 2028895"/>
                <a:gd name="connsiteX0" fmla="*/ 1121883 w 2779623"/>
                <a:gd name="connsiteY0" fmla="*/ 487386 h 2029023"/>
                <a:gd name="connsiteX1" fmla="*/ 1804271 w 2779623"/>
                <a:gd name="connsiteY1" fmla="*/ 9714 h 2029023"/>
                <a:gd name="connsiteX2" fmla="*/ 2759614 w 2779623"/>
                <a:gd name="connsiteY2" fmla="*/ 965059 h 2029023"/>
                <a:gd name="connsiteX3" fmla="*/ 2322886 w 2779623"/>
                <a:gd name="connsiteY3" fmla="*/ 1988640 h 2029023"/>
                <a:gd name="connsiteX4" fmla="*/ 835281 w 2779623"/>
                <a:gd name="connsiteY4" fmla="*/ 1715684 h 2029023"/>
                <a:gd name="connsiteX5" fmla="*/ 2767 w 2779623"/>
                <a:gd name="connsiteY5" fmla="*/ 760342 h 2029023"/>
                <a:gd name="connsiteX6" fmla="*/ 1121883 w 2779623"/>
                <a:gd name="connsiteY6" fmla="*/ 487386 h 2029023"/>
                <a:gd name="connsiteX0" fmla="*/ 932037 w 2589777"/>
                <a:gd name="connsiteY0" fmla="*/ 487518 h 2029155"/>
                <a:gd name="connsiteX1" fmla="*/ 1614425 w 2589777"/>
                <a:gd name="connsiteY1" fmla="*/ 9846 h 2029155"/>
                <a:gd name="connsiteX2" fmla="*/ 2569768 w 2589777"/>
                <a:gd name="connsiteY2" fmla="*/ 965191 h 2029155"/>
                <a:gd name="connsiteX3" fmla="*/ 2133040 w 2589777"/>
                <a:gd name="connsiteY3" fmla="*/ 1988772 h 2029155"/>
                <a:gd name="connsiteX4" fmla="*/ 645435 w 2589777"/>
                <a:gd name="connsiteY4" fmla="*/ 1715816 h 2029155"/>
                <a:gd name="connsiteX5" fmla="*/ 3989 w 2589777"/>
                <a:gd name="connsiteY5" fmla="*/ 801418 h 2029155"/>
                <a:gd name="connsiteX6" fmla="*/ 932037 w 2589777"/>
                <a:gd name="connsiteY6" fmla="*/ 487518 h 2029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89777" h="2029155">
                  <a:moveTo>
                    <a:pt x="932037" y="487518"/>
                  </a:moveTo>
                  <a:cubicBezTo>
                    <a:pt x="1200443" y="355589"/>
                    <a:pt x="1341470" y="-69766"/>
                    <a:pt x="1614425" y="9846"/>
                  </a:cubicBezTo>
                  <a:cubicBezTo>
                    <a:pt x="1887380" y="89458"/>
                    <a:pt x="2483332" y="635370"/>
                    <a:pt x="2569768" y="965191"/>
                  </a:cubicBezTo>
                  <a:cubicBezTo>
                    <a:pt x="2656204" y="1295012"/>
                    <a:pt x="2453762" y="1863668"/>
                    <a:pt x="2133040" y="1988772"/>
                  </a:cubicBezTo>
                  <a:cubicBezTo>
                    <a:pt x="1812318" y="2113876"/>
                    <a:pt x="943411" y="1927356"/>
                    <a:pt x="645435" y="1715816"/>
                  </a:cubicBezTo>
                  <a:cubicBezTo>
                    <a:pt x="347459" y="1504276"/>
                    <a:pt x="-43778" y="1006134"/>
                    <a:pt x="3989" y="801418"/>
                  </a:cubicBezTo>
                  <a:cubicBezTo>
                    <a:pt x="51756" y="596702"/>
                    <a:pt x="663631" y="619447"/>
                    <a:pt x="932037" y="487518"/>
                  </a:cubicBezTo>
                  <a:close/>
                </a:path>
              </a:pathLst>
            </a:custGeom>
            <a:solidFill>
              <a:srgbClr val="2249CD">
                <a:alpha val="36000"/>
              </a:srgb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5110522" y="5350045"/>
            <a:ext cx="19888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latin typeface="Gill Sans MT" panose="020B0502020104020203" pitchFamily="34" charset="77"/>
              </a:rPr>
              <a:t>Realidad</a:t>
            </a:r>
            <a:r>
              <a:rPr lang="en-US" dirty="0">
                <a:latin typeface="Gill Sans MT" panose="020B0502020104020203" pitchFamily="34" charset="77"/>
              </a:rPr>
              <a:t>:</a:t>
            </a:r>
          </a:p>
          <a:p>
            <a:pPr algn="ctr"/>
            <a:r>
              <a:rPr lang="en-US" dirty="0" err="1">
                <a:latin typeface="Gill Sans MT" panose="020B0502020104020203" pitchFamily="34" charset="77"/>
              </a:rPr>
              <a:t>Compromiso</a:t>
            </a:r>
            <a:r>
              <a:rPr lang="en-US" dirty="0">
                <a:latin typeface="Gill Sans MT" panose="020B0502020104020203" pitchFamily="34" charset="77"/>
              </a:rPr>
              <a:t> entre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FP y FN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974A74-C055-C34E-9165-A751EA64E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DE4E38-1435-E212-FB4C-05F4CD708368}"/>
              </a:ext>
            </a:extLst>
          </p:cNvPr>
          <p:cNvSpPr txBox="1"/>
          <p:nvPr/>
        </p:nvSpPr>
        <p:spPr>
          <a:xfrm>
            <a:off x="5596513" y="564444"/>
            <a:ext cx="460510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magenta: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Verdareos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(TP)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azules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falsos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(FP)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rojos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falsos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(FN)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blancos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Verdaderos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(TN)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66DC68-961F-B7E8-9185-6F5646358D36}"/>
              </a:ext>
            </a:extLst>
          </p:cNvPr>
          <p:cNvSpPr/>
          <p:nvPr/>
        </p:nvSpPr>
        <p:spPr>
          <a:xfrm>
            <a:off x="10208155" y="626555"/>
            <a:ext cx="245904" cy="252070"/>
          </a:xfrm>
          <a:prstGeom prst="rect">
            <a:avLst/>
          </a:prstGeom>
          <a:solidFill>
            <a:srgbClr val="9D2E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617D71-5374-23FD-BB7B-F16D314A94DB}"/>
              </a:ext>
            </a:extLst>
          </p:cNvPr>
          <p:cNvSpPr/>
          <p:nvPr/>
        </p:nvSpPr>
        <p:spPr>
          <a:xfrm>
            <a:off x="10208155" y="935100"/>
            <a:ext cx="245904" cy="252070"/>
          </a:xfrm>
          <a:prstGeom prst="rect">
            <a:avLst/>
          </a:prstGeom>
          <a:solidFill>
            <a:srgbClr val="9AAB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99279C-DAF4-301F-518F-E630B81CC784}"/>
              </a:ext>
            </a:extLst>
          </p:cNvPr>
          <p:cNvSpPr/>
          <p:nvPr/>
        </p:nvSpPr>
        <p:spPr>
          <a:xfrm>
            <a:off x="10203732" y="1241090"/>
            <a:ext cx="245904" cy="25207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4AB3F8-78B5-E474-BD58-68C392540EE5}"/>
              </a:ext>
            </a:extLst>
          </p:cNvPr>
          <p:cNvSpPr/>
          <p:nvPr/>
        </p:nvSpPr>
        <p:spPr>
          <a:xfrm>
            <a:off x="10203732" y="1567121"/>
            <a:ext cx="245904" cy="25207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082339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751790"/>
              </p:ext>
            </p:extLst>
          </p:nvPr>
        </p:nvGraphicFramePr>
        <p:xfrm>
          <a:off x="3443785" y="2966493"/>
          <a:ext cx="3048000" cy="1112520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0828" y="3080788"/>
            <a:ext cx="279400" cy="1778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930" y="3437906"/>
            <a:ext cx="279400" cy="177800"/>
          </a:xfrm>
          <a:prstGeom prst="rect">
            <a:avLst/>
          </a:prstGeom>
        </p:spPr>
      </p:pic>
      <p:sp>
        <p:nvSpPr>
          <p:cNvPr id="13" name="Left Brace 12"/>
          <p:cNvSpPr/>
          <p:nvPr/>
        </p:nvSpPr>
        <p:spPr>
          <a:xfrm rot="5400000">
            <a:off x="5401008" y="1626651"/>
            <a:ext cx="178940" cy="200261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Left Brace 13"/>
          <p:cNvSpPr/>
          <p:nvPr/>
        </p:nvSpPr>
        <p:spPr>
          <a:xfrm>
            <a:off x="2916069" y="3367773"/>
            <a:ext cx="256350" cy="7112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7118" y="3074442"/>
            <a:ext cx="292100" cy="190500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2220" y="3827348"/>
            <a:ext cx="292100" cy="1905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AF632C-917F-734B-97BC-CFC2C38BF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9B2B06-EB15-8B49-0F22-557FF8DE4D40}"/>
              </a:ext>
            </a:extLst>
          </p:cNvPr>
          <p:cNvSpPr txBox="1"/>
          <p:nvPr/>
        </p:nvSpPr>
        <p:spPr>
          <a:xfrm>
            <a:off x="4915244" y="2095694"/>
            <a:ext cx="116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predicción</a:t>
            </a:r>
            <a:endParaRPr lang="en-US" dirty="0"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5CCA62-7EC9-4038-8E62-2BD52EFDCCB3}"/>
              </a:ext>
            </a:extLst>
          </p:cNvPr>
          <p:cNvSpPr txBox="1"/>
          <p:nvPr/>
        </p:nvSpPr>
        <p:spPr>
          <a:xfrm rot="16200000">
            <a:off x="2391055" y="3546846"/>
            <a:ext cx="53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real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7AE7C0-625F-0BDF-8BD8-ED7F42F0D88F}"/>
              </a:ext>
            </a:extLst>
          </p:cNvPr>
          <p:cNvSpPr txBox="1"/>
          <p:nvPr/>
        </p:nvSpPr>
        <p:spPr>
          <a:xfrm>
            <a:off x="1196152" y="1306171"/>
            <a:ext cx="47573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Matriz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 de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Confusión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: dos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clases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D68B5AB-CF3A-85B5-2FB3-D02CCA045B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4440457"/>
            <a:ext cx="9144000" cy="22154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3538C09-9102-448B-BC86-35099DB92130}"/>
              </a:ext>
            </a:extLst>
          </p:cNvPr>
          <p:cNvSpPr txBox="1"/>
          <p:nvPr/>
        </p:nvSpPr>
        <p:spPr>
          <a:xfrm>
            <a:off x="2629470" y="5830446"/>
            <a:ext cx="162408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Times" charset="0"/>
                <a:cs typeface="Times New Roman" panose="02020603050405020304" pitchFamily="18" charset="0"/>
              </a:rPr>
              <a:t>Negative (FN):</a:t>
            </a:r>
          </a:p>
        </p:txBody>
      </p:sp>
    </p:spTree>
    <p:extLst>
      <p:ext uri="{BB962C8B-B14F-4D97-AF65-F5344CB8AC3E}">
        <p14:creationId xmlns:p14="http://schemas.microsoft.com/office/powerpoint/2010/main" val="17453628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7777876"/>
              </p:ext>
            </p:extLst>
          </p:nvPr>
        </p:nvGraphicFramePr>
        <p:xfrm>
          <a:off x="3443785" y="2966493"/>
          <a:ext cx="3048000" cy="1112520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TP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FN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FP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TN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0828" y="3080788"/>
            <a:ext cx="279400" cy="1778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930" y="3437906"/>
            <a:ext cx="279400" cy="177800"/>
          </a:xfrm>
          <a:prstGeom prst="rect">
            <a:avLst/>
          </a:prstGeom>
        </p:spPr>
      </p:pic>
      <p:sp>
        <p:nvSpPr>
          <p:cNvPr id="13" name="Left Brace 12"/>
          <p:cNvSpPr/>
          <p:nvPr/>
        </p:nvSpPr>
        <p:spPr>
          <a:xfrm rot="5400000">
            <a:off x="5401008" y="1626651"/>
            <a:ext cx="178940" cy="200261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Left Brace 13"/>
          <p:cNvSpPr/>
          <p:nvPr/>
        </p:nvSpPr>
        <p:spPr>
          <a:xfrm>
            <a:off x="2916069" y="3367773"/>
            <a:ext cx="256350" cy="7112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7118" y="3074442"/>
            <a:ext cx="292100" cy="190500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2220" y="3827348"/>
            <a:ext cx="292100" cy="190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4440457"/>
            <a:ext cx="9144000" cy="221541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29470" y="5830446"/>
            <a:ext cx="162408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Times" charset="0"/>
                <a:cs typeface="Times New Roman" panose="02020603050405020304" pitchFamily="18" charset="0"/>
              </a:rPr>
              <a:t>Negative (FN):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FD5FB4F-BC80-DF4E-8619-5E4AE8AFB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B334D8-32C8-EF46-B15E-701F608067B7}"/>
              </a:ext>
            </a:extLst>
          </p:cNvPr>
          <p:cNvSpPr txBox="1"/>
          <p:nvPr/>
        </p:nvSpPr>
        <p:spPr>
          <a:xfrm>
            <a:off x="7071203" y="1388972"/>
            <a:ext cx="38436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>
                <a:solidFill>
                  <a:srgbClr val="FF0000"/>
                </a:solidFill>
                <a:latin typeface="Gill Sans MT" panose="020B0502020104020203" pitchFamily="34" charset="77"/>
              </a:rPr>
              <a:t>“TARGET DETECTION”</a:t>
            </a:r>
          </a:p>
          <a:p>
            <a:endParaRPr lang="en-US" sz="2800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r>
              <a:rPr lang="en-US" sz="2800" dirty="0">
                <a:solidFill>
                  <a:srgbClr val="FF0000"/>
                </a:solidFill>
                <a:latin typeface="Gill Sans MT" panose="020B0502020104020203" pitchFamily="34" charset="77"/>
              </a:rPr>
              <a:t>      </a:t>
            </a:r>
            <a:r>
              <a:rPr lang="en-US" dirty="0">
                <a:solidFill>
                  <a:srgbClr val="2249CD"/>
                </a:solidFill>
                <a:latin typeface="Gill Sans MT" panose="020B0502020104020203" pitchFamily="34" charset="77"/>
              </a:rPr>
              <a:t>Target        No-Target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3BABCC2-3428-5347-87A3-7487AF02E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4529" y="2116298"/>
            <a:ext cx="279400" cy="1778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F7E6955-091B-BF41-A9F2-512034EE0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891" y="2122874"/>
            <a:ext cx="292100" cy="190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74520B-0D9A-E52F-5C5E-652988BBD3D9}"/>
              </a:ext>
            </a:extLst>
          </p:cNvPr>
          <p:cNvSpPr txBox="1"/>
          <p:nvPr/>
        </p:nvSpPr>
        <p:spPr>
          <a:xfrm>
            <a:off x="4915244" y="2095694"/>
            <a:ext cx="116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predicción</a:t>
            </a:r>
            <a:endParaRPr lang="en-US" dirty="0"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0A6A50-B364-6AA3-7A1F-7FD154EF384D}"/>
              </a:ext>
            </a:extLst>
          </p:cNvPr>
          <p:cNvSpPr txBox="1"/>
          <p:nvPr/>
        </p:nvSpPr>
        <p:spPr>
          <a:xfrm rot="16200000">
            <a:off x="2391055" y="3546846"/>
            <a:ext cx="53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real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F3DE67-66AF-CD9B-6EE8-A4FBC5C9ADF5}"/>
              </a:ext>
            </a:extLst>
          </p:cNvPr>
          <p:cNvSpPr txBox="1"/>
          <p:nvPr/>
        </p:nvSpPr>
        <p:spPr>
          <a:xfrm>
            <a:off x="1196152" y="1306171"/>
            <a:ext cx="47573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Matriz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 de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Confusión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: dos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clases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3503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9418782"/>
              </p:ext>
            </p:extLst>
          </p:nvPr>
        </p:nvGraphicFramePr>
        <p:xfrm>
          <a:off x="3443785" y="2966493"/>
          <a:ext cx="3048000" cy="1112520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TP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FN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FP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TN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828" y="3080788"/>
            <a:ext cx="279400" cy="1778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930" y="3437906"/>
            <a:ext cx="279400" cy="177800"/>
          </a:xfrm>
          <a:prstGeom prst="rect">
            <a:avLst/>
          </a:prstGeom>
        </p:spPr>
      </p:pic>
      <p:sp>
        <p:nvSpPr>
          <p:cNvPr id="13" name="Left Brace 12"/>
          <p:cNvSpPr/>
          <p:nvPr/>
        </p:nvSpPr>
        <p:spPr>
          <a:xfrm rot="5400000">
            <a:off x="5401008" y="1626651"/>
            <a:ext cx="178940" cy="200261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Left Brace 13"/>
          <p:cNvSpPr/>
          <p:nvPr/>
        </p:nvSpPr>
        <p:spPr>
          <a:xfrm>
            <a:off x="2916069" y="3367773"/>
            <a:ext cx="256350" cy="7112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7118" y="3074442"/>
            <a:ext cx="292100" cy="190500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2220" y="3827348"/>
            <a:ext cx="292100" cy="190500"/>
          </a:xfrm>
          <a:prstGeom prst="rect">
            <a:avLst/>
          </a:prstGeom>
        </p:spPr>
      </p:pic>
      <p:cxnSp>
        <p:nvCxnSpPr>
          <p:cNvPr id="9" name="Straight Arrow Connector 8"/>
          <p:cNvCxnSpPr/>
          <p:nvPr/>
        </p:nvCxnSpPr>
        <p:spPr>
          <a:xfrm>
            <a:off x="6573673" y="3492498"/>
            <a:ext cx="640080" cy="0"/>
          </a:xfrm>
          <a:prstGeom prst="straightConnector1">
            <a:avLst/>
          </a:prstGeom>
          <a:ln w="222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295989" y="3299532"/>
            <a:ext cx="3206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P = TP+FN (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muestras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‘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’)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6575946" y="3890561"/>
            <a:ext cx="640080" cy="0"/>
          </a:xfrm>
          <a:prstGeom prst="straightConnector1">
            <a:avLst/>
          </a:prstGeom>
          <a:ln w="222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298262" y="3697595"/>
            <a:ext cx="3338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N = FP+TN (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muestras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‘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’)</a:t>
            </a:r>
          </a:p>
        </p:txBody>
      </p:sp>
      <p:cxnSp>
        <p:nvCxnSpPr>
          <p:cNvPr id="23" name="Elbow Connector 22"/>
          <p:cNvCxnSpPr>
            <a:stCxn id="2" idx="2"/>
          </p:cNvCxnSpPr>
          <p:nvPr/>
        </p:nvCxnSpPr>
        <p:spPr>
          <a:xfrm rot="16200000" flipH="1">
            <a:off x="6003803" y="3042996"/>
            <a:ext cx="173937" cy="224597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1909" y="4052436"/>
            <a:ext cx="2533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D = TP+FP (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detecciones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E4C079-0669-3F47-9B4B-FFDEDCE6A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1DB97F-0CA1-F98C-A4FF-12E6CBB20D68}"/>
              </a:ext>
            </a:extLst>
          </p:cNvPr>
          <p:cNvSpPr txBox="1"/>
          <p:nvPr/>
        </p:nvSpPr>
        <p:spPr>
          <a:xfrm>
            <a:off x="4915244" y="2095694"/>
            <a:ext cx="116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predicción</a:t>
            </a:r>
            <a:endParaRPr lang="en-US" dirty="0"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DDAB40-498A-FD42-8899-C9DA63212E7E}"/>
              </a:ext>
            </a:extLst>
          </p:cNvPr>
          <p:cNvSpPr txBox="1"/>
          <p:nvPr/>
        </p:nvSpPr>
        <p:spPr>
          <a:xfrm rot="16200000">
            <a:off x="2391055" y="3546846"/>
            <a:ext cx="53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real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0CF33A-5419-2F52-D367-B4A4655D2F21}"/>
              </a:ext>
            </a:extLst>
          </p:cNvPr>
          <p:cNvSpPr txBox="1"/>
          <p:nvPr/>
        </p:nvSpPr>
        <p:spPr>
          <a:xfrm>
            <a:off x="1196152" y="1306171"/>
            <a:ext cx="47573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Matriz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 de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Confusión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: dos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clases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5781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6BCFD-427E-4C89-8588-D04719C34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22227E92-6BE7-A50F-921D-C49B1D69E7EE}"/>
              </a:ext>
            </a:extLst>
          </p:cNvPr>
          <p:cNvSpPr txBox="1"/>
          <p:nvPr/>
        </p:nvSpPr>
        <p:spPr>
          <a:xfrm>
            <a:off x="4701918" y="3340521"/>
            <a:ext cx="487667" cy="367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CL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3260AE-EA37-B607-949C-C5E374451FDF}"/>
              </a:ext>
            </a:extLst>
          </p:cNvPr>
          <p:cNvSpPr txBox="1"/>
          <p:nvPr/>
        </p:nvSpPr>
        <p:spPr>
          <a:xfrm>
            <a:off x="4704418" y="3328031"/>
            <a:ext cx="487667" cy="367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CL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227B96-1306-391F-C596-C163DFA09D52}"/>
              </a:ext>
            </a:extLst>
          </p:cNvPr>
          <p:cNvSpPr txBox="1"/>
          <p:nvPr/>
        </p:nvSpPr>
        <p:spPr>
          <a:xfrm>
            <a:off x="4714408" y="3338021"/>
            <a:ext cx="487667" cy="367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CL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80F2273-4A0C-704F-E4E1-7B1626F410F7}"/>
              </a:ext>
            </a:extLst>
          </p:cNvPr>
          <p:cNvSpPr txBox="1"/>
          <p:nvPr/>
        </p:nvSpPr>
        <p:spPr>
          <a:xfrm>
            <a:off x="4716908" y="3325531"/>
            <a:ext cx="487667" cy="367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CL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FDFE0A3-FF03-2A58-A40A-B4EA6E958908}"/>
              </a:ext>
            </a:extLst>
          </p:cNvPr>
          <p:cNvGraphicFramePr>
            <a:graphicFrameLocks noGrp="1"/>
          </p:cNvGraphicFramePr>
          <p:nvPr/>
        </p:nvGraphicFramePr>
        <p:xfrm>
          <a:off x="3443785" y="2966493"/>
          <a:ext cx="3048000" cy="1112520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TP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FN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FP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TN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DD2E10B8-20DB-B932-5FC8-7F81CE7CBA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828" y="3080788"/>
            <a:ext cx="279400" cy="177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32AB10-116D-FDB3-71F9-FE1EFB5C15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930" y="3437906"/>
            <a:ext cx="279400" cy="177800"/>
          </a:xfrm>
          <a:prstGeom prst="rect">
            <a:avLst/>
          </a:prstGeom>
        </p:spPr>
      </p:pic>
      <p:sp>
        <p:nvSpPr>
          <p:cNvPr id="13" name="Left Brace 12">
            <a:extLst>
              <a:ext uri="{FF2B5EF4-FFF2-40B4-BE49-F238E27FC236}">
                <a16:creationId xmlns:a16="http://schemas.microsoft.com/office/drawing/2014/main" id="{D89921C1-811F-92B9-E2C4-1CDC13534AE4}"/>
              </a:ext>
            </a:extLst>
          </p:cNvPr>
          <p:cNvSpPr/>
          <p:nvPr/>
        </p:nvSpPr>
        <p:spPr>
          <a:xfrm rot="5400000">
            <a:off x="5401008" y="1626651"/>
            <a:ext cx="178940" cy="200261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C976D32F-6B7A-BD48-1DBC-DE4DA1589B43}"/>
              </a:ext>
            </a:extLst>
          </p:cNvPr>
          <p:cNvSpPr/>
          <p:nvPr/>
        </p:nvSpPr>
        <p:spPr>
          <a:xfrm>
            <a:off x="2916069" y="3367773"/>
            <a:ext cx="256350" cy="7112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20ADD9-54E4-E05D-555E-3826C97CB1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7118" y="3074442"/>
            <a:ext cx="292100" cy="1905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5F8A0BF-856C-E233-419A-722F57A04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2220" y="3827348"/>
            <a:ext cx="292100" cy="190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4485491-4939-9EAA-13E8-985D2ADED2DC}"/>
              </a:ext>
            </a:extLst>
          </p:cNvPr>
          <p:cNvCxnSpPr/>
          <p:nvPr/>
        </p:nvCxnSpPr>
        <p:spPr>
          <a:xfrm>
            <a:off x="6573673" y="3492498"/>
            <a:ext cx="640080" cy="0"/>
          </a:xfrm>
          <a:prstGeom prst="straightConnector1">
            <a:avLst/>
          </a:prstGeom>
          <a:ln w="222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441C712-6A44-381E-D0A6-B21790A87EFD}"/>
              </a:ext>
            </a:extLst>
          </p:cNvPr>
          <p:cNvSpPr txBox="1"/>
          <p:nvPr/>
        </p:nvSpPr>
        <p:spPr>
          <a:xfrm>
            <a:off x="7295989" y="3299532"/>
            <a:ext cx="3206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P = TP+FN (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muestras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‘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’)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29F1B4A-1137-05E7-A83C-3B4FA1EB6602}"/>
              </a:ext>
            </a:extLst>
          </p:cNvPr>
          <p:cNvCxnSpPr/>
          <p:nvPr/>
        </p:nvCxnSpPr>
        <p:spPr>
          <a:xfrm>
            <a:off x="6575946" y="3890561"/>
            <a:ext cx="640080" cy="0"/>
          </a:xfrm>
          <a:prstGeom prst="straightConnector1">
            <a:avLst/>
          </a:prstGeom>
          <a:ln w="222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1D922A7-06B0-BB97-D170-4D8C0BFEDDC5}"/>
              </a:ext>
            </a:extLst>
          </p:cNvPr>
          <p:cNvSpPr txBox="1"/>
          <p:nvPr/>
        </p:nvSpPr>
        <p:spPr>
          <a:xfrm>
            <a:off x="7298262" y="3697595"/>
            <a:ext cx="3338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N = FP+TN (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muestras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‘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’)</a:t>
            </a: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9874C695-0DFE-8959-CD20-4216C54D6B7F}"/>
              </a:ext>
            </a:extLst>
          </p:cNvPr>
          <p:cNvCxnSpPr>
            <a:stCxn id="2" idx="2"/>
          </p:cNvCxnSpPr>
          <p:nvPr/>
        </p:nvCxnSpPr>
        <p:spPr>
          <a:xfrm rot="16200000" flipH="1">
            <a:off x="6003803" y="3042996"/>
            <a:ext cx="173937" cy="224597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C361B67-63A7-84E1-95DC-125A97CE7D60}"/>
              </a:ext>
            </a:extLst>
          </p:cNvPr>
          <p:cNvSpPr txBox="1"/>
          <p:nvPr/>
        </p:nvSpPr>
        <p:spPr>
          <a:xfrm>
            <a:off x="7311909" y="4052436"/>
            <a:ext cx="2533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D = TP+FP (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detecciones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1A646F9-B468-7197-47E7-ECF605995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763060-B0AF-B707-AA86-6874527EE487}"/>
              </a:ext>
            </a:extLst>
          </p:cNvPr>
          <p:cNvSpPr txBox="1"/>
          <p:nvPr/>
        </p:nvSpPr>
        <p:spPr>
          <a:xfrm>
            <a:off x="4915244" y="2095694"/>
            <a:ext cx="116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predicción</a:t>
            </a:r>
            <a:endParaRPr lang="en-US" dirty="0"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BFEBC9-5178-E09A-1C08-2F0E9806D123}"/>
              </a:ext>
            </a:extLst>
          </p:cNvPr>
          <p:cNvSpPr txBox="1"/>
          <p:nvPr/>
        </p:nvSpPr>
        <p:spPr>
          <a:xfrm rot="16200000">
            <a:off x="2391055" y="3546846"/>
            <a:ext cx="53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real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07AD91-47FB-FC92-A025-628D54CBA9E8}"/>
              </a:ext>
            </a:extLst>
          </p:cNvPr>
          <p:cNvSpPr txBox="1"/>
          <p:nvPr/>
        </p:nvSpPr>
        <p:spPr>
          <a:xfrm>
            <a:off x="1196152" y="1306171"/>
            <a:ext cx="47573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Matriz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 de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Confusión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: dos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clases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90551D-7D7F-2467-2B59-2818DAB94E89}"/>
              </a:ext>
            </a:extLst>
          </p:cNvPr>
          <p:cNvSpPr txBox="1"/>
          <p:nvPr/>
        </p:nvSpPr>
        <p:spPr>
          <a:xfrm>
            <a:off x="1338926" y="4703067"/>
            <a:ext cx="1488100" cy="5407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Precision     =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7F48C9-37B6-7A7A-B096-E9E2257E4FB1}"/>
              </a:ext>
            </a:extLst>
          </p:cNvPr>
          <p:cNvSpPr txBox="1"/>
          <p:nvPr/>
        </p:nvSpPr>
        <p:spPr>
          <a:xfrm>
            <a:off x="1338925" y="5807706"/>
            <a:ext cx="1576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Recall          = 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0F587CD-84E6-8AB1-53BE-AA1B7A0542E2}"/>
              </a:ext>
            </a:extLst>
          </p:cNvPr>
          <p:cNvGrpSpPr/>
          <p:nvPr/>
        </p:nvGrpSpPr>
        <p:grpSpPr>
          <a:xfrm>
            <a:off x="3172419" y="4973436"/>
            <a:ext cx="1678409" cy="1018936"/>
            <a:chOff x="3172419" y="4973436"/>
            <a:chExt cx="1678409" cy="1018936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425D52-DF97-E109-E3DF-E3B6B7B0DE83}"/>
                </a:ext>
              </a:extLst>
            </p:cNvPr>
            <p:cNvCxnSpPr/>
            <p:nvPr/>
          </p:nvCxnSpPr>
          <p:spPr>
            <a:xfrm>
              <a:off x="3172419" y="4973436"/>
              <a:ext cx="167840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B153DB-B905-B3A1-338D-3933396A049F}"/>
                </a:ext>
              </a:extLst>
            </p:cNvPr>
            <p:cNvCxnSpPr/>
            <p:nvPr/>
          </p:nvCxnSpPr>
          <p:spPr>
            <a:xfrm>
              <a:off x="3172419" y="5992372"/>
              <a:ext cx="167840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022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0B2F5-B7CF-10FE-5C4A-A088944A4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E9699912-D90B-619A-3EF6-A7EEE0236C68}"/>
              </a:ext>
            </a:extLst>
          </p:cNvPr>
          <p:cNvSpPr txBox="1"/>
          <p:nvPr/>
        </p:nvSpPr>
        <p:spPr>
          <a:xfrm>
            <a:off x="4718922" y="3725707"/>
            <a:ext cx="4876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FP</a:t>
            </a:r>
            <a:endParaRPr lang="en-CL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CC15B24-9355-A43E-E6C0-414570422BCC}"/>
              </a:ext>
            </a:extLst>
          </p:cNvPr>
          <p:cNvSpPr txBox="1"/>
          <p:nvPr/>
        </p:nvSpPr>
        <p:spPr>
          <a:xfrm>
            <a:off x="5740746" y="3339410"/>
            <a:ext cx="4876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FN</a:t>
            </a:r>
            <a:endParaRPr lang="en-CL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89F027-14C0-4DD7-132C-37336470A4DD}"/>
              </a:ext>
            </a:extLst>
          </p:cNvPr>
          <p:cNvSpPr txBox="1"/>
          <p:nvPr/>
        </p:nvSpPr>
        <p:spPr>
          <a:xfrm>
            <a:off x="3725060" y="4597193"/>
            <a:ext cx="487667" cy="367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CL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CCF987-910A-AFC2-D14F-ABA634D98623}"/>
              </a:ext>
            </a:extLst>
          </p:cNvPr>
          <p:cNvSpPr txBox="1"/>
          <p:nvPr/>
        </p:nvSpPr>
        <p:spPr>
          <a:xfrm>
            <a:off x="3727560" y="5619019"/>
            <a:ext cx="487667" cy="367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CL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7D1CD90-0FC6-5697-C9BC-78BE006D902B}"/>
              </a:ext>
            </a:extLst>
          </p:cNvPr>
          <p:cNvGraphicFramePr>
            <a:graphicFrameLocks noGrp="1"/>
          </p:cNvGraphicFramePr>
          <p:nvPr/>
        </p:nvGraphicFramePr>
        <p:xfrm>
          <a:off x="3443785" y="2966493"/>
          <a:ext cx="3048000" cy="1112520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TP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FN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FP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TN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FF50A3A5-50B3-6F8E-509D-C56C4F5AF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828" y="3080788"/>
            <a:ext cx="279400" cy="177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7F54AC9-D116-BCD0-7CCB-B42E75046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930" y="3437906"/>
            <a:ext cx="279400" cy="177800"/>
          </a:xfrm>
          <a:prstGeom prst="rect">
            <a:avLst/>
          </a:prstGeom>
        </p:spPr>
      </p:pic>
      <p:sp>
        <p:nvSpPr>
          <p:cNvPr id="13" name="Left Brace 12">
            <a:extLst>
              <a:ext uri="{FF2B5EF4-FFF2-40B4-BE49-F238E27FC236}">
                <a16:creationId xmlns:a16="http://schemas.microsoft.com/office/drawing/2014/main" id="{E3C27BAE-7A66-6971-FD08-B183F33C3868}"/>
              </a:ext>
            </a:extLst>
          </p:cNvPr>
          <p:cNvSpPr/>
          <p:nvPr/>
        </p:nvSpPr>
        <p:spPr>
          <a:xfrm rot="5400000">
            <a:off x="5401008" y="1626651"/>
            <a:ext cx="178940" cy="200261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0BC88CC6-1A74-9011-54FB-22009710C869}"/>
              </a:ext>
            </a:extLst>
          </p:cNvPr>
          <p:cNvSpPr/>
          <p:nvPr/>
        </p:nvSpPr>
        <p:spPr>
          <a:xfrm>
            <a:off x="2916069" y="3367773"/>
            <a:ext cx="256350" cy="7112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D1054E-F9A5-ABD9-1C91-1AE1BF052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7118" y="3074442"/>
            <a:ext cx="292100" cy="1905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4A86A12-85A3-61A3-4001-3E8B4ACE27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2220" y="3827348"/>
            <a:ext cx="292100" cy="190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97BC440-9FA7-1710-7950-7174C17C79FA}"/>
              </a:ext>
            </a:extLst>
          </p:cNvPr>
          <p:cNvCxnSpPr/>
          <p:nvPr/>
        </p:nvCxnSpPr>
        <p:spPr>
          <a:xfrm>
            <a:off x="6573673" y="3492498"/>
            <a:ext cx="640080" cy="0"/>
          </a:xfrm>
          <a:prstGeom prst="straightConnector1">
            <a:avLst/>
          </a:prstGeom>
          <a:ln w="222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973D0D5-7819-F147-514E-A70E9916B26E}"/>
              </a:ext>
            </a:extLst>
          </p:cNvPr>
          <p:cNvSpPr txBox="1"/>
          <p:nvPr/>
        </p:nvSpPr>
        <p:spPr>
          <a:xfrm>
            <a:off x="7295989" y="3299532"/>
            <a:ext cx="3206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P = TP+FN (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muestras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‘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’)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E28EA0-0AAD-CEA5-4129-D701D215599B}"/>
              </a:ext>
            </a:extLst>
          </p:cNvPr>
          <p:cNvCxnSpPr/>
          <p:nvPr/>
        </p:nvCxnSpPr>
        <p:spPr>
          <a:xfrm>
            <a:off x="6575946" y="3890561"/>
            <a:ext cx="640080" cy="0"/>
          </a:xfrm>
          <a:prstGeom prst="straightConnector1">
            <a:avLst/>
          </a:prstGeom>
          <a:ln w="222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673FED9-C658-8C46-22B9-485009C1BB89}"/>
              </a:ext>
            </a:extLst>
          </p:cNvPr>
          <p:cNvSpPr txBox="1"/>
          <p:nvPr/>
        </p:nvSpPr>
        <p:spPr>
          <a:xfrm>
            <a:off x="7298262" y="3697595"/>
            <a:ext cx="3338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N = FP+TN (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muestras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‘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’)</a:t>
            </a: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E1B9F4E4-58AB-EE29-D1C6-F3B89B57B2D4}"/>
              </a:ext>
            </a:extLst>
          </p:cNvPr>
          <p:cNvCxnSpPr>
            <a:stCxn id="2" idx="2"/>
          </p:cNvCxnSpPr>
          <p:nvPr/>
        </p:nvCxnSpPr>
        <p:spPr>
          <a:xfrm rot="16200000" flipH="1">
            <a:off x="6003803" y="3042996"/>
            <a:ext cx="173937" cy="224597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E467312-48C7-8F32-4BAB-DAC20B5E2CE9}"/>
              </a:ext>
            </a:extLst>
          </p:cNvPr>
          <p:cNvSpPr txBox="1"/>
          <p:nvPr/>
        </p:nvSpPr>
        <p:spPr>
          <a:xfrm>
            <a:off x="7311909" y="4052436"/>
            <a:ext cx="2533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D = TP+FP (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detecciones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868503B-C968-7B94-1DA4-723113B5A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059326-EFED-B357-255D-8E624DEBD38C}"/>
              </a:ext>
            </a:extLst>
          </p:cNvPr>
          <p:cNvSpPr txBox="1"/>
          <p:nvPr/>
        </p:nvSpPr>
        <p:spPr>
          <a:xfrm>
            <a:off x="4915244" y="2095694"/>
            <a:ext cx="116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predicción</a:t>
            </a:r>
            <a:endParaRPr lang="en-US" dirty="0"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BDC4AC-7B94-845E-14C0-570E98AD81B2}"/>
              </a:ext>
            </a:extLst>
          </p:cNvPr>
          <p:cNvSpPr txBox="1"/>
          <p:nvPr/>
        </p:nvSpPr>
        <p:spPr>
          <a:xfrm rot="16200000">
            <a:off x="2391055" y="3546846"/>
            <a:ext cx="53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real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F1E4AB-1FF4-4FEC-17A9-79F0968C8377}"/>
              </a:ext>
            </a:extLst>
          </p:cNvPr>
          <p:cNvSpPr txBox="1"/>
          <p:nvPr/>
        </p:nvSpPr>
        <p:spPr>
          <a:xfrm>
            <a:off x="1196152" y="1306171"/>
            <a:ext cx="47573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Matriz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 de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Confusión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: dos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clases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C0B0AB-776E-E75D-F0CE-F58B800F0F84}"/>
              </a:ext>
            </a:extLst>
          </p:cNvPr>
          <p:cNvSpPr txBox="1"/>
          <p:nvPr/>
        </p:nvSpPr>
        <p:spPr>
          <a:xfrm>
            <a:off x="1338926" y="4703067"/>
            <a:ext cx="1488100" cy="5407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Precision     =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515434-3CC8-AD3E-F661-1AA3A116763E}"/>
              </a:ext>
            </a:extLst>
          </p:cNvPr>
          <p:cNvSpPr txBox="1"/>
          <p:nvPr/>
        </p:nvSpPr>
        <p:spPr>
          <a:xfrm>
            <a:off x="1338925" y="5807706"/>
            <a:ext cx="1576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Recall          = 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3FD673B-BDA0-544E-635C-F078FA0D60EC}"/>
              </a:ext>
            </a:extLst>
          </p:cNvPr>
          <p:cNvGrpSpPr/>
          <p:nvPr/>
        </p:nvGrpSpPr>
        <p:grpSpPr>
          <a:xfrm>
            <a:off x="3172419" y="4973436"/>
            <a:ext cx="1678409" cy="1018936"/>
            <a:chOff x="3172419" y="4973436"/>
            <a:chExt cx="1678409" cy="1018936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ABEE046-C79F-273C-60CD-6F851FC7737D}"/>
                </a:ext>
              </a:extLst>
            </p:cNvPr>
            <p:cNvCxnSpPr/>
            <p:nvPr/>
          </p:nvCxnSpPr>
          <p:spPr>
            <a:xfrm>
              <a:off x="3172419" y="4973436"/>
              <a:ext cx="167840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1A65DD8-5911-1848-6C9D-BD9A9B603B8B}"/>
                </a:ext>
              </a:extLst>
            </p:cNvPr>
            <p:cNvCxnSpPr/>
            <p:nvPr/>
          </p:nvCxnSpPr>
          <p:spPr>
            <a:xfrm>
              <a:off x="3172419" y="5992372"/>
              <a:ext cx="167840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2EA3C01-B6C2-F1B1-63B9-A9A731B0A29A}"/>
              </a:ext>
            </a:extLst>
          </p:cNvPr>
          <p:cNvSpPr txBox="1"/>
          <p:nvPr/>
        </p:nvSpPr>
        <p:spPr>
          <a:xfrm>
            <a:off x="3380283" y="4986936"/>
            <a:ext cx="487667" cy="367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CL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622C7E-631F-50F2-C6C8-E73D9040D185}"/>
              </a:ext>
            </a:extLst>
          </p:cNvPr>
          <p:cNvSpPr txBox="1"/>
          <p:nvPr/>
        </p:nvSpPr>
        <p:spPr>
          <a:xfrm>
            <a:off x="3382783" y="5978783"/>
            <a:ext cx="487667" cy="367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CL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937701B-CA13-C970-D005-0E9A200C351F}"/>
              </a:ext>
            </a:extLst>
          </p:cNvPr>
          <p:cNvGrpSpPr/>
          <p:nvPr/>
        </p:nvGrpSpPr>
        <p:grpSpPr>
          <a:xfrm>
            <a:off x="3793000" y="4988947"/>
            <a:ext cx="347277" cy="1391160"/>
            <a:chOff x="3793000" y="4988947"/>
            <a:chExt cx="347277" cy="1391160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0209E36-25EA-6F22-B611-0119D71814CC}"/>
                </a:ext>
              </a:extLst>
            </p:cNvPr>
            <p:cNvSpPr txBox="1"/>
            <p:nvPr/>
          </p:nvSpPr>
          <p:spPr>
            <a:xfrm>
              <a:off x="3793000" y="4988947"/>
              <a:ext cx="34477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+</a:t>
              </a:r>
              <a:endParaRPr lang="en-CL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0C626E0-930B-D027-B273-09281A81770A}"/>
                </a:ext>
              </a:extLst>
            </p:cNvPr>
            <p:cNvSpPr txBox="1"/>
            <p:nvPr/>
          </p:nvSpPr>
          <p:spPr>
            <a:xfrm>
              <a:off x="3795500" y="6010775"/>
              <a:ext cx="34477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+</a:t>
              </a:r>
              <a:endParaRPr lang="en-CL" dirty="0"/>
            </a:p>
          </p:txBody>
        </p:sp>
      </p:grpSp>
    </p:spTree>
    <p:extLst>
      <p:ext uri="{BB962C8B-B14F-4D97-AF65-F5344CB8AC3E}">
        <p14:creationId xmlns:p14="http://schemas.microsoft.com/office/powerpoint/2010/main" val="30907665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B305A-B6B6-D573-F7BF-8BF84988E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320D40DA-9841-FBF4-9B36-B5BF2D881EDE}"/>
              </a:ext>
            </a:extLst>
          </p:cNvPr>
          <p:cNvSpPr txBox="1"/>
          <p:nvPr/>
        </p:nvSpPr>
        <p:spPr>
          <a:xfrm>
            <a:off x="4074347" y="4984881"/>
            <a:ext cx="4876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FP</a:t>
            </a:r>
            <a:endParaRPr lang="en-CL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5E441A-37EF-16B1-0D05-0BDF28060FDE}"/>
              </a:ext>
            </a:extLst>
          </p:cNvPr>
          <p:cNvSpPr txBox="1"/>
          <p:nvPr/>
        </p:nvSpPr>
        <p:spPr>
          <a:xfrm>
            <a:off x="4106822" y="5992662"/>
            <a:ext cx="4876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FN</a:t>
            </a:r>
            <a:endParaRPr lang="en-CL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0CDD09-B20B-9AD7-2AA8-BF62927DD421}"/>
              </a:ext>
            </a:extLst>
          </p:cNvPr>
          <p:cNvSpPr txBox="1"/>
          <p:nvPr/>
        </p:nvSpPr>
        <p:spPr>
          <a:xfrm>
            <a:off x="3725060" y="4597193"/>
            <a:ext cx="487667" cy="367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CL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049059-9DA3-4121-FCCB-2D4CEAD67386}"/>
              </a:ext>
            </a:extLst>
          </p:cNvPr>
          <p:cNvSpPr txBox="1"/>
          <p:nvPr/>
        </p:nvSpPr>
        <p:spPr>
          <a:xfrm>
            <a:off x="3727560" y="5619019"/>
            <a:ext cx="487667" cy="367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CL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77DAEFA-E25D-35B0-3AEF-0652A27A0EB4}"/>
              </a:ext>
            </a:extLst>
          </p:cNvPr>
          <p:cNvGraphicFramePr>
            <a:graphicFrameLocks noGrp="1"/>
          </p:cNvGraphicFramePr>
          <p:nvPr/>
        </p:nvGraphicFramePr>
        <p:xfrm>
          <a:off x="3443785" y="2966493"/>
          <a:ext cx="3048000" cy="1112520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TP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FN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FP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TN</a:t>
                      </a:r>
                      <a:endParaRPr lang="en-US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BCD99496-82AD-3B76-E31A-9C416D919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828" y="3080788"/>
            <a:ext cx="279400" cy="177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6AAF88-36E2-36BA-3D30-D319C203E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930" y="3437906"/>
            <a:ext cx="279400" cy="177800"/>
          </a:xfrm>
          <a:prstGeom prst="rect">
            <a:avLst/>
          </a:prstGeom>
        </p:spPr>
      </p:pic>
      <p:sp>
        <p:nvSpPr>
          <p:cNvPr id="13" name="Left Brace 12">
            <a:extLst>
              <a:ext uri="{FF2B5EF4-FFF2-40B4-BE49-F238E27FC236}">
                <a16:creationId xmlns:a16="http://schemas.microsoft.com/office/drawing/2014/main" id="{3463533B-04C4-9B46-94AD-3752B23DADE9}"/>
              </a:ext>
            </a:extLst>
          </p:cNvPr>
          <p:cNvSpPr/>
          <p:nvPr/>
        </p:nvSpPr>
        <p:spPr>
          <a:xfrm rot="5400000">
            <a:off x="5401008" y="1626651"/>
            <a:ext cx="178940" cy="200261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86113FEC-61CD-A770-B945-96D0EFAA8D76}"/>
              </a:ext>
            </a:extLst>
          </p:cNvPr>
          <p:cNvSpPr/>
          <p:nvPr/>
        </p:nvSpPr>
        <p:spPr>
          <a:xfrm>
            <a:off x="2916069" y="3367773"/>
            <a:ext cx="256350" cy="7112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8FBF9A-75DE-8981-8D85-4D33FAB55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7118" y="3074442"/>
            <a:ext cx="292100" cy="1905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491AA0E-490F-E706-EF6A-97C86D9ED4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2220" y="3827348"/>
            <a:ext cx="292100" cy="190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1A36BBE-E190-C215-BBAD-68618BFC1021}"/>
              </a:ext>
            </a:extLst>
          </p:cNvPr>
          <p:cNvCxnSpPr/>
          <p:nvPr/>
        </p:nvCxnSpPr>
        <p:spPr>
          <a:xfrm>
            <a:off x="6573673" y="3492498"/>
            <a:ext cx="640080" cy="0"/>
          </a:xfrm>
          <a:prstGeom prst="straightConnector1">
            <a:avLst/>
          </a:prstGeom>
          <a:ln w="222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052DD61-1C94-80FD-FEAC-A17553F38E68}"/>
              </a:ext>
            </a:extLst>
          </p:cNvPr>
          <p:cNvSpPr txBox="1"/>
          <p:nvPr/>
        </p:nvSpPr>
        <p:spPr>
          <a:xfrm>
            <a:off x="7295989" y="3299532"/>
            <a:ext cx="3206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P = TP+FN (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muestras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‘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’)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9457E2D-9317-B3D4-9BF6-B4BD374857FE}"/>
              </a:ext>
            </a:extLst>
          </p:cNvPr>
          <p:cNvCxnSpPr/>
          <p:nvPr/>
        </p:nvCxnSpPr>
        <p:spPr>
          <a:xfrm>
            <a:off x="6575946" y="3890561"/>
            <a:ext cx="640080" cy="0"/>
          </a:xfrm>
          <a:prstGeom prst="straightConnector1">
            <a:avLst/>
          </a:prstGeom>
          <a:ln w="222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1CB5324-C6CD-FB81-13B5-43639F91A6EF}"/>
              </a:ext>
            </a:extLst>
          </p:cNvPr>
          <p:cNvSpPr txBox="1"/>
          <p:nvPr/>
        </p:nvSpPr>
        <p:spPr>
          <a:xfrm>
            <a:off x="7298262" y="3697595"/>
            <a:ext cx="3338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N = FP+TN (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muestras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‘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negativas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’)</a:t>
            </a: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C5DECA1B-FF32-4EA4-4533-DA00DFC96E18}"/>
              </a:ext>
            </a:extLst>
          </p:cNvPr>
          <p:cNvCxnSpPr>
            <a:stCxn id="2" idx="2"/>
          </p:cNvCxnSpPr>
          <p:nvPr/>
        </p:nvCxnSpPr>
        <p:spPr>
          <a:xfrm rot="16200000" flipH="1">
            <a:off x="6003803" y="3042996"/>
            <a:ext cx="173937" cy="224597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DFF5024-05B9-FB2F-CEB5-47AC4DEA2822}"/>
              </a:ext>
            </a:extLst>
          </p:cNvPr>
          <p:cNvSpPr txBox="1"/>
          <p:nvPr/>
        </p:nvSpPr>
        <p:spPr>
          <a:xfrm>
            <a:off x="7311909" y="4052436"/>
            <a:ext cx="2533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D = TP+FP (</a:t>
            </a:r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detecciones</a:t>
            </a:r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069466B-1B21-9FFF-D727-BB6D83E54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18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8965F0-BE6A-033C-6F99-EC164D96A88D}"/>
              </a:ext>
            </a:extLst>
          </p:cNvPr>
          <p:cNvSpPr txBox="1"/>
          <p:nvPr/>
        </p:nvSpPr>
        <p:spPr>
          <a:xfrm>
            <a:off x="4915244" y="2095694"/>
            <a:ext cx="116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predicción</a:t>
            </a:r>
            <a:endParaRPr lang="en-US" dirty="0"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50C311-3690-4CCE-0A1F-6B665503840E}"/>
              </a:ext>
            </a:extLst>
          </p:cNvPr>
          <p:cNvSpPr txBox="1"/>
          <p:nvPr/>
        </p:nvSpPr>
        <p:spPr>
          <a:xfrm rot="16200000">
            <a:off x="2391055" y="3546846"/>
            <a:ext cx="53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real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5CEFD7-2949-B143-FE0D-AFF584035067}"/>
              </a:ext>
            </a:extLst>
          </p:cNvPr>
          <p:cNvSpPr txBox="1"/>
          <p:nvPr/>
        </p:nvSpPr>
        <p:spPr>
          <a:xfrm>
            <a:off x="1196152" y="1306171"/>
            <a:ext cx="47573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Matriz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 de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Confusión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: dos </a:t>
            </a:r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clases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F929C8-26AC-BABF-2630-D2A17C09FAF8}"/>
              </a:ext>
            </a:extLst>
          </p:cNvPr>
          <p:cNvSpPr txBox="1"/>
          <p:nvPr/>
        </p:nvSpPr>
        <p:spPr>
          <a:xfrm>
            <a:off x="1338926" y="4703067"/>
            <a:ext cx="1488100" cy="5407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Precision     =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CFCAB3-80FA-9CF1-6EB0-548178F06F49}"/>
              </a:ext>
            </a:extLst>
          </p:cNvPr>
          <p:cNvSpPr txBox="1"/>
          <p:nvPr/>
        </p:nvSpPr>
        <p:spPr>
          <a:xfrm>
            <a:off x="1338925" y="5807706"/>
            <a:ext cx="1576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Recall          = 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E1404E2-0E89-783D-3C1F-B5B5F669AA66}"/>
              </a:ext>
            </a:extLst>
          </p:cNvPr>
          <p:cNvGrpSpPr/>
          <p:nvPr/>
        </p:nvGrpSpPr>
        <p:grpSpPr>
          <a:xfrm>
            <a:off x="3172419" y="4973436"/>
            <a:ext cx="1678409" cy="1018936"/>
            <a:chOff x="3172419" y="4973436"/>
            <a:chExt cx="1678409" cy="1018936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0B6F2D0-5459-1039-05B4-59A5DDBE6115}"/>
                </a:ext>
              </a:extLst>
            </p:cNvPr>
            <p:cNvCxnSpPr/>
            <p:nvPr/>
          </p:nvCxnSpPr>
          <p:spPr>
            <a:xfrm>
              <a:off x="3172419" y="4973436"/>
              <a:ext cx="167840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1E8D3D-9E60-7CFE-1057-42C3A0913987}"/>
                </a:ext>
              </a:extLst>
            </p:cNvPr>
            <p:cNvCxnSpPr/>
            <p:nvPr/>
          </p:nvCxnSpPr>
          <p:spPr>
            <a:xfrm>
              <a:off x="3172419" y="5992372"/>
              <a:ext cx="167840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BB69D86-DB07-A339-DDFA-816844DF71FC}"/>
              </a:ext>
            </a:extLst>
          </p:cNvPr>
          <p:cNvSpPr txBox="1"/>
          <p:nvPr/>
        </p:nvSpPr>
        <p:spPr>
          <a:xfrm>
            <a:off x="3380283" y="4986936"/>
            <a:ext cx="487667" cy="367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CL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D49CA3-750B-0FDE-EA6F-F84110B97E13}"/>
              </a:ext>
            </a:extLst>
          </p:cNvPr>
          <p:cNvSpPr txBox="1"/>
          <p:nvPr/>
        </p:nvSpPr>
        <p:spPr>
          <a:xfrm>
            <a:off x="3382783" y="5978783"/>
            <a:ext cx="487667" cy="367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CL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A1948FC-396C-DEF4-428F-C3C388C9527A}"/>
              </a:ext>
            </a:extLst>
          </p:cNvPr>
          <p:cNvGrpSpPr/>
          <p:nvPr/>
        </p:nvGrpSpPr>
        <p:grpSpPr>
          <a:xfrm>
            <a:off x="3793000" y="4988947"/>
            <a:ext cx="347277" cy="1391160"/>
            <a:chOff x="3793000" y="4988947"/>
            <a:chExt cx="347277" cy="1391160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34BEE9B-3F5B-6B4C-7E3E-C227C5307885}"/>
                </a:ext>
              </a:extLst>
            </p:cNvPr>
            <p:cNvSpPr txBox="1"/>
            <p:nvPr/>
          </p:nvSpPr>
          <p:spPr>
            <a:xfrm>
              <a:off x="3793000" y="4988947"/>
              <a:ext cx="34477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+</a:t>
              </a:r>
              <a:endParaRPr lang="en-CL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F1A7906-1DD3-1818-FAA3-7678F7A7759D}"/>
                </a:ext>
              </a:extLst>
            </p:cNvPr>
            <p:cNvSpPr txBox="1"/>
            <p:nvPr/>
          </p:nvSpPr>
          <p:spPr>
            <a:xfrm>
              <a:off x="3795500" y="6010775"/>
              <a:ext cx="34477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+</a:t>
              </a:r>
              <a:endParaRPr lang="en-CL" dirty="0"/>
            </a:p>
          </p:txBody>
        </p: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B77777BD-8F9B-042D-E7F8-F01F4424A8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5245" y="4473137"/>
            <a:ext cx="1471882" cy="102130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D3E287C-0CF6-D6F5-7918-9FFE67044D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1615" y="5492119"/>
            <a:ext cx="1488570" cy="1101408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3E4B79D4-4594-9370-8C95-B67C35A7F34C}"/>
              </a:ext>
            </a:extLst>
          </p:cNvPr>
          <p:cNvGrpSpPr/>
          <p:nvPr/>
        </p:nvGrpSpPr>
        <p:grpSpPr>
          <a:xfrm>
            <a:off x="7014000" y="4703067"/>
            <a:ext cx="4067674" cy="1997641"/>
            <a:chOff x="7014000" y="4703067"/>
            <a:chExt cx="4067674" cy="1997641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11031125-CC76-BA79-4AEF-60705E6B4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38939" y="4703067"/>
              <a:ext cx="2337206" cy="1792207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B5B4714-312D-D3E8-AD7A-F9FE28408FCD}"/>
                </a:ext>
              </a:extLst>
            </p:cNvPr>
            <p:cNvSpPr txBox="1"/>
            <p:nvPr/>
          </p:nvSpPr>
          <p:spPr>
            <a:xfrm>
              <a:off x="9664940" y="4849074"/>
              <a:ext cx="14167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D: </a:t>
              </a:r>
              <a:r>
                <a:rPr lang="en-US" dirty="0" err="1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Detección</a:t>
              </a:r>
              <a:endParaRPr lang="en-US" dirty="0">
                <a:latin typeface="Gill Sans MT" panose="020B0502020104020203" pitchFamily="34" charset="77"/>
                <a:ea typeface="Trebuchet MS" charset="0"/>
                <a:cs typeface="Trebuchet MS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6DB82AF-3449-1D8D-C0AE-9BC263BA65DC}"/>
                </a:ext>
              </a:extLst>
            </p:cNvPr>
            <p:cNvSpPr txBox="1"/>
            <p:nvPr/>
          </p:nvSpPr>
          <p:spPr>
            <a:xfrm>
              <a:off x="7014000" y="6054377"/>
              <a:ext cx="124200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P: </a:t>
              </a:r>
              <a:r>
                <a:rPr lang="en-US" dirty="0" err="1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Muestras</a:t>
              </a:r>
              <a:endParaRPr lang="en-US" dirty="0">
                <a:latin typeface="Gill Sans MT" panose="020B0502020104020203" pitchFamily="34" charset="77"/>
                <a:ea typeface="Trebuchet MS" charset="0"/>
                <a:cs typeface="Trebuchet MS" charset="0"/>
              </a:endParaRPr>
            </a:p>
            <a:p>
              <a:pPr algn="ctr"/>
              <a:r>
                <a:rPr lang="en-US" dirty="0" err="1">
                  <a:latin typeface="Gill Sans MT" panose="020B0502020104020203" pitchFamily="34" charset="77"/>
                  <a:ea typeface="Trebuchet MS" charset="0"/>
                  <a:cs typeface="Trebuchet MS" charset="0"/>
                </a:rPr>
                <a:t>positivas</a:t>
              </a:r>
              <a:endParaRPr lang="en-US" dirty="0">
                <a:latin typeface="Gill Sans MT" panose="020B0502020104020203" pitchFamily="34" charset="77"/>
                <a:ea typeface="Trebuchet MS" charset="0"/>
                <a:cs typeface="Trebuchet MS" charset="0"/>
              </a:endParaRPr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14A96B-510C-C8F7-8FF6-F7CCF81DCF85}"/>
                </a:ext>
              </a:extLst>
            </p:cNvPr>
            <p:cNvCxnSpPr/>
            <p:nvPr/>
          </p:nvCxnSpPr>
          <p:spPr>
            <a:xfrm flipV="1">
              <a:off x="9436340" y="5169547"/>
              <a:ext cx="339805" cy="18466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A8023FEC-39A4-D5FB-1D9A-5EE2580BA2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8409" y="5735843"/>
              <a:ext cx="449246" cy="30698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877917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808" y="330958"/>
            <a:ext cx="4672763" cy="61960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32931" y="409433"/>
            <a:ext cx="19752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Definiciones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87CAE3-ACE7-8948-8235-DDC7BDC69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405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42D8E-A1D3-ECF3-9BD4-7FE9183BC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EBF84FA-28CF-9EDA-6929-67BC6F21956E}"/>
              </a:ext>
            </a:extLst>
          </p:cNvPr>
          <p:cNvSpPr txBox="1"/>
          <p:nvPr/>
        </p:nvSpPr>
        <p:spPr>
          <a:xfrm>
            <a:off x="3309007" y="2101519"/>
            <a:ext cx="566116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dirty="0">
                <a:latin typeface="Gill Sans MT" panose="020B0502020104020203" pitchFamily="34" charset="77"/>
              </a:rPr>
              <a:t>Curva</a:t>
            </a:r>
          </a:p>
          <a:p>
            <a:pPr algn="ctr"/>
            <a:r>
              <a:rPr lang="en-US" sz="6000" dirty="0">
                <a:latin typeface="Gill Sans MT" panose="020B0502020104020203" pitchFamily="34" charset="77"/>
              </a:rPr>
              <a:t>Precision </a:t>
            </a:r>
            <a:r>
              <a:rPr lang="mr-IN" sz="6000" dirty="0">
                <a:latin typeface="Gill Sans MT" panose="020B0502020104020203" pitchFamily="34" charset="77"/>
              </a:rPr>
              <a:t>–</a:t>
            </a:r>
            <a:r>
              <a:rPr lang="en-US" sz="6000" dirty="0">
                <a:latin typeface="Gill Sans MT" panose="020B0502020104020203" pitchFamily="34" charset="77"/>
              </a:rPr>
              <a:t> Recall</a:t>
            </a:r>
          </a:p>
          <a:p>
            <a:pPr algn="ctr"/>
            <a:r>
              <a:rPr lang="en-US" sz="6000" dirty="0"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2297D5-E466-1502-CB9D-72B728662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2587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912362" y="2169997"/>
            <a:ext cx="4285397" cy="376678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Freeform 4"/>
          <p:cNvSpPr/>
          <p:nvPr/>
        </p:nvSpPr>
        <p:spPr>
          <a:xfrm>
            <a:off x="4529157" y="3166216"/>
            <a:ext cx="2729534" cy="1919913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9534" h="1919913">
                <a:moveTo>
                  <a:pt x="1034582" y="341268"/>
                </a:moveTo>
                <a:cubicBezTo>
                  <a:pt x="1284791" y="238910"/>
                  <a:pt x="1230200" y="-68165"/>
                  <a:pt x="1512254" y="13722"/>
                </a:cubicBezTo>
                <a:cubicBezTo>
                  <a:pt x="1794308" y="95609"/>
                  <a:pt x="2679138" y="518690"/>
                  <a:pt x="2726905" y="832588"/>
                </a:cubicBezTo>
                <a:cubicBezTo>
                  <a:pt x="2774672" y="1146486"/>
                  <a:pt x="2160523" y="1787931"/>
                  <a:pt x="1798857" y="1897113"/>
                </a:cubicBezTo>
                <a:cubicBezTo>
                  <a:pt x="1437191" y="2006295"/>
                  <a:pt x="854887" y="1699220"/>
                  <a:pt x="556911" y="1487680"/>
                </a:cubicBezTo>
                <a:cubicBezTo>
                  <a:pt x="258935" y="1276140"/>
                  <a:pt x="-64063" y="816665"/>
                  <a:pt x="11000" y="627871"/>
                </a:cubicBezTo>
                <a:cubicBezTo>
                  <a:pt x="86063" y="439077"/>
                  <a:pt x="784373" y="443626"/>
                  <a:pt x="1034582" y="341268"/>
                </a:cubicBezTo>
                <a:close/>
              </a:path>
            </a:pathLst>
          </a:cu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/>
          <p:cNvSpPr/>
          <p:nvPr/>
        </p:nvSpPr>
        <p:spPr>
          <a:xfrm>
            <a:off x="4811400" y="3074556"/>
            <a:ext cx="2589777" cy="2029155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  <a:gd name="connsiteX0" fmla="*/ 1034582 w 2242520"/>
              <a:gd name="connsiteY0" fmla="*/ 343152 h 1919663"/>
              <a:gd name="connsiteX1" fmla="*/ 1512254 w 2242520"/>
              <a:gd name="connsiteY1" fmla="*/ 15606 h 1919663"/>
              <a:gd name="connsiteX2" fmla="*/ 2235585 w 2242520"/>
              <a:gd name="connsiteY2" fmla="*/ 875416 h 1919663"/>
              <a:gd name="connsiteX3" fmla="*/ 1798857 w 2242520"/>
              <a:gd name="connsiteY3" fmla="*/ 1898997 h 1919663"/>
              <a:gd name="connsiteX4" fmla="*/ 556911 w 2242520"/>
              <a:gd name="connsiteY4" fmla="*/ 1489564 h 1919663"/>
              <a:gd name="connsiteX5" fmla="*/ 11000 w 2242520"/>
              <a:gd name="connsiteY5" fmla="*/ 629755 h 1919663"/>
              <a:gd name="connsiteX6" fmla="*/ 1034582 w 2242520"/>
              <a:gd name="connsiteY6" fmla="*/ 343152 h 1919663"/>
              <a:gd name="connsiteX0" fmla="*/ 1034582 w 2253299"/>
              <a:gd name="connsiteY0" fmla="*/ 435985 h 2012496"/>
              <a:gd name="connsiteX1" fmla="*/ 1280242 w 2253299"/>
              <a:gd name="connsiteY1" fmla="*/ 12904 h 2012496"/>
              <a:gd name="connsiteX2" fmla="*/ 2235585 w 2253299"/>
              <a:gd name="connsiteY2" fmla="*/ 968249 h 2012496"/>
              <a:gd name="connsiteX3" fmla="*/ 1798857 w 2253299"/>
              <a:gd name="connsiteY3" fmla="*/ 1991830 h 2012496"/>
              <a:gd name="connsiteX4" fmla="*/ 556911 w 2253299"/>
              <a:gd name="connsiteY4" fmla="*/ 1582397 h 2012496"/>
              <a:gd name="connsiteX5" fmla="*/ 11000 w 2253299"/>
              <a:gd name="connsiteY5" fmla="*/ 722588 h 2012496"/>
              <a:gd name="connsiteX6" fmla="*/ 1034582 w 2253299"/>
              <a:gd name="connsiteY6" fmla="*/ 435985 h 2012496"/>
              <a:gd name="connsiteX0" fmla="*/ 586989 w 2242434"/>
              <a:gd name="connsiteY0" fmla="*/ 487258 h 2009178"/>
              <a:gd name="connsiteX1" fmla="*/ 1269377 w 2242434"/>
              <a:gd name="connsiteY1" fmla="*/ 9586 h 2009178"/>
              <a:gd name="connsiteX2" fmla="*/ 2224720 w 2242434"/>
              <a:gd name="connsiteY2" fmla="*/ 964931 h 2009178"/>
              <a:gd name="connsiteX3" fmla="*/ 1787992 w 2242434"/>
              <a:gd name="connsiteY3" fmla="*/ 1988512 h 2009178"/>
              <a:gd name="connsiteX4" fmla="*/ 546046 w 2242434"/>
              <a:gd name="connsiteY4" fmla="*/ 1579079 h 2009178"/>
              <a:gd name="connsiteX5" fmla="*/ 135 w 2242434"/>
              <a:gd name="connsiteY5" fmla="*/ 719270 h 2009178"/>
              <a:gd name="connsiteX6" fmla="*/ 586989 w 2242434"/>
              <a:gd name="connsiteY6" fmla="*/ 487258 h 2009178"/>
              <a:gd name="connsiteX0" fmla="*/ 602616 w 2260356"/>
              <a:gd name="connsiteY0" fmla="*/ 487258 h 2028895"/>
              <a:gd name="connsiteX1" fmla="*/ 1285004 w 2260356"/>
              <a:gd name="connsiteY1" fmla="*/ 9586 h 2028895"/>
              <a:gd name="connsiteX2" fmla="*/ 2240347 w 2260356"/>
              <a:gd name="connsiteY2" fmla="*/ 964931 h 2028895"/>
              <a:gd name="connsiteX3" fmla="*/ 1803619 w 2260356"/>
              <a:gd name="connsiteY3" fmla="*/ 1988512 h 2028895"/>
              <a:gd name="connsiteX4" fmla="*/ 316014 w 2260356"/>
              <a:gd name="connsiteY4" fmla="*/ 1715556 h 2028895"/>
              <a:gd name="connsiteX5" fmla="*/ 15762 w 2260356"/>
              <a:gd name="connsiteY5" fmla="*/ 719270 h 2028895"/>
              <a:gd name="connsiteX6" fmla="*/ 602616 w 2260356"/>
              <a:gd name="connsiteY6" fmla="*/ 487258 h 2028895"/>
              <a:gd name="connsiteX0" fmla="*/ 1121883 w 2779623"/>
              <a:gd name="connsiteY0" fmla="*/ 487386 h 2029023"/>
              <a:gd name="connsiteX1" fmla="*/ 1804271 w 2779623"/>
              <a:gd name="connsiteY1" fmla="*/ 9714 h 2029023"/>
              <a:gd name="connsiteX2" fmla="*/ 2759614 w 2779623"/>
              <a:gd name="connsiteY2" fmla="*/ 965059 h 2029023"/>
              <a:gd name="connsiteX3" fmla="*/ 2322886 w 2779623"/>
              <a:gd name="connsiteY3" fmla="*/ 1988640 h 2029023"/>
              <a:gd name="connsiteX4" fmla="*/ 835281 w 2779623"/>
              <a:gd name="connsiteY4" fmla="*/ 1715684 h 2029023"/>
              <a:gd name="connsiteX5" fmla="*/ 2767 w 2779623"/>
              <a:gd name="connsiteY5" fmla="*/ 760342 h 2029023"/>
              <a:gd name="connsiteX6" fmla="*/ 1121883 w 2779623"/>
              <a:gd name="connsiteY6" fmla="*/ 487386 h 2029023"/>
              <a:gd name="connsiteX0" fmla="*/ 932037 w 2589777"/>
              <a:gd name="connsiteY0" fmla="*/ 487518 h 2029155"/>
              <a:gd name="connsiteX1" fmla="*/ 1614425 w 2589777"/>
              <a:gd name="connsiteY1" fmla="*/ 9846 h 2029155"/>
              <a:gd name="connsiteX2" fmla="*/ 2569768 w 2589777"/>
              <a:gd name="connsiteY2" fmla="*/ 965191 h 2029155"/>
              <a:gd name="connsiteX3" fmla="*/ 2133040 w 2589777"/>
              <a:gd name="connsiteY3" fmla="*/ 1988772 h 2029155"/>
              <a:gd name="connsiteX4" fmla="*/ 645435 w 2589777"/>
              <a:gd name="connsiteY4" fmla="*/ 1715816 h 2029155"/>
              <a:gd name="connsiteX5" fmla="*/ 3989 w 2589777"/>
              <a:gd name="connsiteY5" fmla="*/ 801418 h 2029155"/>
              <a:gd name="connsiteX6" fmla="*/ 932037 w 2589777"/>
              <a:gd name="connsiteY6" fmla="*/ 487518 h 2029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89777" h="2029155">
                <a:moveTo>
                  <a:pt x="932037" y="487518"/>
                </a:moveTo>
                <a:cubicBezTo>
                  <a:pt x="1200443" y="355589"/>
                  <a:pt x="1341470" y="-69766"/>
                  <a:pt x="1614425" y="9846"/>
                </a:cubicBezTo>
                <a:cubicBezTo>
                  <a:pt x="1887380" y="89458"/>
                  <a:pt x="2483332" y="635370"/>
                  <a:pt x="2569768" y="965191"/>
                </a:cubicBezTo>
                <a:cubicBezTo>
                  <a:pt x="2656204" y="1295012"/>
                  <a:pt x="2453762" y="1863668"/>
                  <a:pt x="2133040" y="1988772"/>
                </a:cubicBezTo>
                <a:cubicBezTo>
                  <a:pt x="1812318" y="2113876"/>
                  <a:pt x="943411" y="1927356"/>
                  <a:pt x="645435" y="1715816"/>
                </a:cubicBezTo>
                <a:cubicBezTo>
                  <a:pt x="347459" y="1504276"/>
                  <a:pt x="-43778" y="1006134"/>
                  <a:pt x="3989" y="801418"/>
                </a:cubicBezTo>
                <a:cubicBezTo>
                  <a:pt x="51756" y="596702"/>
                  <a:pt x="663631" y="619447"/>
                  <a:pt x="932037" y="487518"/>
                </a:cubicBezTo>
                <a:close/>
              </a:path>
            </a:pathLst>
          </a:custGeom>
          <a:solidFill>
            <a:srgbClr val="2249CD">
              <a:alpha val="36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5926813" y="3954021"/>
            <a:ext cx="38824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925375" y="4529509"/>
            <a:ext cx="3609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FP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496066" y="3710637"/>
            <a:ext cx="4090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FN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07267" y="5132281"/>
            <a:ext cx="43313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TN</a:t>
            </a:r>
            <a:endParaRPr lang="en-US" sz="1400" dirty="0">
              <a:latin typeface="Gill Sans MT" panose="020B0502020104020203" pitchFamily="34" charset="77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641486-0792-614A-9224-625B0C439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21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C6EB95-1CDC-BB06-6F3B-1D9FB705B19B}"/>
              </a:ext>
            </a:extLst>
          </p:cNvPr>
          <p:cNvSpPr txBox="1"/>
          <p:nvPr/>
        </p:nvSpPr>
        <p:spPr>
          <a:xfrm>
            <a:off x="1635646" y="2866029"/>
            <a:ext cx="240386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latin typeface="Gill Sans MT" panose="020B0502020104020203" pitchFamily="34" charset="77"/>
            </a:endParaRPr>
          </a:p>
          <a:p>
            <a:endParaRPr lang="en-US" dirty="0">
              <a:latin typeface="Gill Sans MT" panose="020B0502020104020203" pitchFamily="34" charset="77"/>
            </a:endParaRP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>
                <a:latin typeface="Gill Sans MT" panose="020B0502020104020203" pitchFamily="34" charset="77"/>
              </a:rPr>
              <a:t>Observar </a:t>
            </a:r>
            <a:r>
              <a:rPr lang="en-US" dirty="0" err="1">
                <a:latin typeface="Gill Sans MT" panose="020B0502020104020203" pitchFamily="34" charset="77"/>
              </a:rPr>
              <a:t>que</a:t>
            </a:r>
            <a:r>
              <a:rPr lang="en-US" dirty="0">
                <a:latin typeface="Gill Sans MT" panose="020B0502020104020203" pitchFamily="34" charset="77"/>
              </a:rPr>
              <a:t>:</a:t>
            </a:r>
          </a:p>
          <a:p>
            <a:r>
              <a:rPr lang="en-US" dirty="0">
                <a:latin typeface="Gill Sans MT" panose="020B0502020104020203" pitchFamily="34" charset="77"/>
              </a:rPr>
              <a:t>TP+FN = Ground Truth</a:t>
            </a:r>
          </a:p>
          <a:p>
            <a:r>
              <a:rPr lang="en-US" dirty="0">
                <a:latin typeface="Gill Sans MT" panose="020B0502020104020203" pitchFamily="34" charset="77"/>
              </a:rPr>
              <a:t>TP+FP = </a:t>
            </a:r>
            <a:r>
              <a:rPr lang="en-US" dirty="0" err="1">
                <a:latin typeface="Gill Sans MT" panose="020B0502020104020203" pitchFamily="34" charset="77"/>
              </a:rPr>
              <a:t>Detección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49BCD7-E09C-605D-135C-774E9B5D3067}"/>
              </a:ext>
            </a:extLst>
          </p:cNvPr>
          <p:cNvSpPr txBox="1"/>
          <p:nvPr/>
        </p:nvSpPr>
        <p:spPr>
          <a:xfrm>
            <a:off x="1687773" y="696035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Ejemplo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C2ADA8-203A-C5D4-DCF1-E86D1697A588}"/>
              </a:ext>
            </a:extLst>
          </p:cNvPr>
          <p:cNvSpPr txBox="1"/>
          <p:nvPr/>
        </p:nvSpPr>
        <p:spPr>
          <a:xfrm>
            <a:off x="5596513" y="564444"/>
            <a:ext cx="460510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magenta: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Verdareos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(TP)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azules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falsos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(FP)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rojos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falsos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(FN)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blancos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Verdaderos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(TN)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8458F16-D01A-E044-40AB-59FFE379BCBB}"/>
              </a:ext>
            </a:extLst>
          </p:cNvPr>
          <p:cNvSpPr/>
          <p:nvPr/>
        </p:nvSpPr>
        <p:spPr>
          <a:xfrm>
            <a:off x="10208155" y="626555"/>
            <a:ext cx="245904" cy="252070"/>
          </a:xfrm>
          <a:prstGeom prst="rect">
            <a:avLst/>
          </a:prstGeom>
          <a:solidFill>
            <a:srgbClr val="9D2E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B57F85-9D2C-C2D6-F54C-FA4271C31896}"/>
              </a:ext>
            </a:extLst>
          </p:cNvPr>
          <p:cNvSpPr/>
          <p:nvPr/>
        </p:nvSpPr>
        <p:spPr>
          <a:xfrm>
            <a:off x="10208155" y="935100"/>
            <a:ext cx="245904" cy="252070"/>
          </a:xfrm>
          <a:prstGeom prst="rect">
            <a:avLst/>
          </a:prstGeom>
          <a:solidFill>
            <a:srgbClr val="9AAB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0AA5CB-ECF8-FE21-A716-16D094D4D370}"/>
              </a:ext>
            </a:extLst>
          </p:cNvPr>
          <p:cNvSpPr/>
          <p:nvPr/>
        </p:nvSpPr>
        <p:spPr>
          <a:xfrm>
            <a:off x="10203732" y="1241090"/>
            <a:ext cx="245904" cy="25207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E0E076-9F6B-1B6B-BD6D-B92948AF062F}"/>
              </a:ext>
            </a:extLst>
          </p:cNvPr>
          <p:cNvSpPr/>
          <p:nvPr/>
        </p:nvSpPr>
        <p:spPr>
          <a:xfrm>
            <a:off x="10203732" y="1567121"/>
            <a:ext cx="245904" cy="25207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4970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912362" y="2169997"/>
            <a:ext cx="4285397" cy="376678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Freeform 4"/>
          <p:cNvSpPr/>
          <p:nvPr/>
        </p:nvSpPr>
        <p:spPr>
          <a:xfrm>
            <a:off x="4529157" y="3166216"/>
            <a:ext cx="2729534" cy="1919913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9534" h="1919913">
                <a:moveTo>
                  <a:pt x="1034582" y="341268"/>
                </a:moveTo>
                <a:cubicBezTo>
                  <a:pt x="1284791" y="238910"/>
                  <a:pt x="1230200" y="-68165"/>
                  <a:pt x="1512254" y="13722"/>
                </a:cubicBezTo>
                <a:cubicBezTo>
                  <a:pt x="1794308" y="95609"/>
                  <a:pt x="2679138" y="518690"/>
                  <a:pt x="2726905" y="832588"/>
                </a:cubicBezTo>
                <a:cubicBezTo>
                  <a:pt x="2774672" y="1146486"/>
                  <a:pt x="2160523" y="1787931"/>
                  <a:pt x="1798857" y="1897113"/>
                </a:cubicBezTo>
                <a:cubicBezTo>
                  <a:pt x="1437191" y="2006295"/>
                  <a:pt x="854887" y="1699220"/>
                  <a:pt x="556911" y="1487680"/>
                </a:cubicBezTo>
                <a:cubicBezTo>
                  <a:pt x="258935" y="1276140"/>
                  <a:pt x="-64063" y="816665"/>
                  <a:pt x="11000" y="627871"/>
                </a:cubicBezTo>
                <a:cubicBezTo>
                  <a:pt x="86063" y="439077"/>
                  <a:pt x="784373" y="443626"/>
                  <a:pt x="1034582" y="341268"/>
                </a:cubicBezTo>
                <a:close/>
              </a:path>
            </a:pathLst>
          </a:cu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/>
          <p:cNvSpPr/>
          <p:nvPr/>
        </p:nvSpPr>
        <p:spPr>
          <a:xfrm>
            <a:off x="4811400" y="3074556"/>
            <a:ext cx="2589777" cy="2029155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  <a:gd name="connsiteX0" fmla="*/ 1034582 w 2242520"/>
              <a:gd name="connsiteY0" fmla="*/ 343152 h 1919663"/>
              <a:gd name="connsiteX1" fmla="*/ 1512254 w 2242520"/>
              <a:gd name="connsiteY1" fmla="*/ 15606 h 1919663"/>
              <a:gd name="connsiteX2" fmla="*/ 2235585 w 2242520"/>
              <a:gd name="connsiteY2" fmla="*/ 875416 h 1919663"/>
              <a:gd name="connsiteX3" fmla="*/ 1798857 w 2242520"/>
              <a:gd name="connsiteY3" fmla="*/ 1898997 h 1919663"/>
              <a:gd name="connsiteX4" fmla="*/ 556911 w 2242520"/>
              <a:gd name="connsiteY4" fmla="*/ 1489564 h 1919663"/>
              <a:gd name="connsiteX5" fmla="*/ 11000 w 2242520"/>
              <a:gd name="connsiteY5" fmla="*/ 629755 h 1919663"/>
              <a:gd name="connsiteX6" fmla="*/ 1034582 w 2242520"/>
              <a:gd name="connsiteY6" fmla="*/ 343152 h 1919663"/>
              <a:gd name="connsiteX0" fmla="*/ 1034582 w 2253299"/>
              <a:gd name="connsiteY0" fmla="*/ 435985 h 2012496"/>
              <a:gd name="connsiteX1" fmla="*/ 1280242 w 2253299"/>
              <a:gd name="connsiteY1" fmla="*/ 12904 h 2012496"/>
              <a:gd name="connsiteX2" fmla="*/ 2235585 w 2253299"/>
              <a:gd name="connsiteY2" fmla="*/ 968249 h 2012496"/>
              <a:gd name="connsiteX3" fmla="*/ 1798857 w 2253299"/>
              <a:gd name="connsiteY3" fmla="*/ 1991830 h 2012496"/>
              <a:gd name="connsiteX4" fmla="*/ 556911 w 2253299"/>
              <a:gd name="connsiteY4" fmla="*/ 1582397 h 2012496"/>
              <a:gd name="connsiteX5" fmla="*/ 11000 w 2253299"/>
              <a:gd name="connsiteY5" fmla="*/ 722588 h 2012496"/>
              <a:gd name="connsiteX6" fmla="*/ 1034582 w 2253299"/>
              <a:gd name="connsiteY6" fmla="*/ 435985 h 2012496"/>
              <a:gd name="connsiteX0" fmla="*/ 586989 w 2242434"/>
              <a:gd name="connsiteY0" fmla="*/ 487258 h 2009178"/>
              <a:gd name="connsiteX1" fmla="*/ 1269377 w 2242434"/>
              <a:gd name="connsiteY1" fmla="*/ 9586 h 2009178"/>
              <a:gd name="connsiteX2" fmla="*/ 2224720 w 2242434"/>
              <a:gd name="connsiteY2" fmla="*/ 964931 h 2009178"/>
              <a:gd name="connsiteX3" fmla="*/ 1787992 w 2242434"/>
              <a:gd name="connsiteY3" fmla="*/ 1988512 h 2009178"/>
              <a:gd name="connsiteX4" fmla="*/ 546046 w 2242434"/>
              <a:gd name="connsiteY4" fmla="*/ 1579079 h 2009178"/>
              <a:gd name="connsiteX5" fmla="*/ 135 w 2242434"/>
              <a:gd name="connsiteY5" fmla="*/ 719270 h 2009178"/>
              <a:gd name="connsiteX6" fmla="*/ 586989 w 2242434"/>
              <a:gd name="connsiteY6" fmla="*/ 487258 h 2009178"/>
              <a:gd name="connsiteX0" fmla="*/ 602616 w 2260356"/>
              <a:gd name="connsiteY0" fmla="*/ 487258 h 2028895"/>
              <a:gd name="connsiteX1" fmla="*/ 1285004 w 2260356"/>
              <a:gd name="connsiteY1" fmla="*/ 9586 h 2028895"/>
              <a:gd name="connsiteX2" fmla="*/ 2240347 w 2260356"/>
              <a:gd name="connsiteY2" fmla="*/ 964931 h 2028895"/>
              <a:gd name="connsiteX3" fmla="*/ 1803619 w 2260356"/>
              <a:gd name="connsiteY3" fmla="*/ 1988512 h 2028895"/>
              <a:gd name="connsiteX4" fmla="*/ 316014 w 2260356"/>
              <a:gd name="connsiteY4" fmla="*/ 1715556 h 2028895"/>
              <a:gd name="connsiteX5" fmla="*/ 15762 w 2260356"/>
              <a:gd name="connsiteY5" fmla="*/ 719270 h 2028895"/>
              <a:gd name="connsiteX6" fmla="*/ 602616 w 2260356"/>
              <a:gd name="connsiteY6" fmla="*/ 487258 h 2028895"/>
              <a:gd name="connsiteX0" fmla="*/ 1121883 w 2779623"/>
              <a:gd name="connsiteY0" fmla="*/ 487386 h 2029023"/>
              <a:gd name="connsiteX1" fmla="*/ 1804271 w 2779623"/>
              <a:gd name="connsiteY1" fmla="*/ 9714 h 2029023"/>
              <a:gd name="connsiteX2" fmla="*/ 2759614 w 2779623"/>
              <a:gd name="connsiteY2" fmla="*/ 965059 h 2029023"/>
              <a:gd name="connsiteX3" fmla="*/ 2322886 w 2779623"/>
              <a:gd name="connsiteY3" fmla="*/ 1988640 h 2029023"/>
              <a:gd name="connsiteX4" fmla="*/ 835281 w 2779623"/>
              <a:gd name="connsiteY4" fmla="*/ 1715684 h 2029023"/>
              <a:gd name="connsiteX5" fmla="*/ 2767 w 2779623"/>
              <a:gd name="connsiteY5" fmla="*/ 760342 h 2029023"/>
              <a:gd name="connsiteX6" fmla="*/ 1121883 w 2779623"/>
              <a:gd name="connsiteY6" fmla="*/ 487386 h 2029023"/>
              <a:gd name="connsiteX0" fmla="*/ 932037 w 2589777"/>
              <a:gd name="connsiteY0" fmla="*/ 487518 h 2029155"/>
              <a:gd name="connsiteX1" fmla="*/ 1614425 w 2589777"/>
              <a:gd name="connsiteY1" fmla="*/ 9846 h 2029155"/>
              <a:gd name="connsiteX2" fmla="*/ 2569768 w 2589777"/>
              <a:gd name="connsiteY2" fmla="*/ 965191 h 2029155"/>
              <a:gd name="connsiteX3" fmla="*/ 2133040 w 2589777"/>
              <a:gd name="connsiteY3" fmla="*/ 1988772 h 2029155"/>
              <a:gd name="connsiteX4" fmla="*/ 645435 w 2589777"/>
              <a:gd name="connsiteY4" fmla="*/ 1715816 h 2029155"/>
              <a:gd name="connsiteX5" fmla="*/ 3989 w 2589777"/>
              <a:gd name="connsiteY5" fmla="*/ 801418 h 2029155"/>
              <a:gd name="connsiteX6" fmla="*/ 932037 w 2589777"/>
              <a:gd name="connsiteY6" fmla="*/ 487518 h 2029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89777" h="2029155">
                <a:moveTo>
                  <a:pt x="932037" y="487518"/>
                </a:moveTo>
                <a:cubicBezTo>
                  <a:pt x="1200443" y="355589"/>
                  <a:pt x="1341470" y="-69766"/>
                  <a:pt x="1614425" y="9846"/>
                </a:cubicBezTo>
                <a:cubicBezTo>
                  <a:pt x="1887380" y="89458"/>
                  <a:pt x="2483332" y="635370"/>
                  <a:pt x="2569768" y="965191"/>
                </a:cubicBezTo>
                <a:cubicBezTo>
                  <a:pt x="2656204" y="1295012"/>
                  <a:pt x="2453762" y="1863668"/>
                  <a:pt x="2133040" y="1988772"/>
                </a:cubicBezTo>
                <a:cubicBezTo>
                  <a:pt x="1812318" y="2113876"/>
                  <a:pt x="943411" y="1927356"/>
                  <a:pt x="645435" y="1715816"/>
                </a:cubicBezTo>
                <a:cubicBezTo>
                  <a:pt x="347459" y="1504276"/>
                  <a:pt x="-43778" y="1006134"/>
                  <a:pt x="3989" y="801418"/>
                </a:cubicBezTo>
                <a:cubicBezTo>
                  <a:pt x="51756" y="596702"/>
                  <a:pt x="663631" y="619447"/>
                  <a:pt x="932037" y="487518"/>
                </a:cubicBezTo>
                <a:close/>
              </a:path>
            </a:pathLst>
          </a:custGeom>
          <a:solidFill>
            <a:srgbClr val="2249CD">
              <a:alpha val="36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5926813" y="3954021"/>
            <a:ext cx="38824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925375" y="4529509"/>
            <a:ext cx="3609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FP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496066" y="3710637"/>
            <a:ext cx="4090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FN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07267" y="5132281"/>
            <a:ext cx="43313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TN</a:t>
            </a:r>
            <a:endParaRPr lang="en-US" sz="1400" dirty="0">
              <a:latin typeface="Gill Sans MT" panose="020B0502020104020203" pitchFamily="34" charset="7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635646" y="2866029"/>
            <a:ext cx="240386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</a:t>
            </a:r>
            <a:r>
              <a:rPr lang="en-US" dirty="0">
                <a:latin typeface="Gill Sans MT" panose="020B0502020104020203" pitchFamily="34" charset="77"/>
              </a:rPr>
              <a:t> = TP/(TP+FP)</a:t>
            </a:r>
          </a:p>
          <a:p>
            <a:r>
              <a:rPr lang="en-US" dirty="0">
                <a:latin typeface="Gill Sans MT" panose="020B0502020104020203" pitchFamily="34" charset="77"/>
              </a:rPr>
              <a:t>Re = TP/(TP+FN)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>
                <a:latin typeface="Gill Sans MT" panose="020B0502020104020203" pitchFamily="34" charset="77"/>
              </a:rPr>
              <a:t>Observar </a:t>
            </a:r>
            <a:r>
              <a:rPr lang="en-US" dirty="0" err="1">
                <a:latin typeface="Gill Sans MT" panose="020B0502020104020203" pitchFamily="34" charset="77"/>
              </a:rPr>
              <a:t>que</a:t>
            </a:r>
            <a:r>
              <a:rPr lang="en-US" dirty="0">
                <a:latin typeface="Gill Sans MT" panose="020B0502020104020203" pitchFamily="34" charset="77"/>
              </a:rPr>
              <a:t>:</a:t>
            </a:r>
          </a:p>
          <a:p>
            <a:r>
              <a:rPr lang="en-US" dirty="0">
                <a:latin typeface="Gill Sans MT" panose="020B0502020104020203" pitchFamily="34" charset="77"/>
              </a:rPr>
              <a:t>TP+FN = Ground Truth</a:t>
            </a:r>
          </a:p>
          <a:p>
            <a:r>
              <a:rPr lang="en-US" dirty="0">
                <a:latin typeface="Gill Sans MT" panose="020B0502020104020203" pitchFamily="34" charset="77"/>
              </a:rPr>
              <a:t>TP+FP = </a:t>
            </a:r>
            <a:r>
              <a:rPr lang="en-US" dirty="0" err="1">
                <a:latin typeface="Gill Sans MT" panose="020B0502020104020203" pitchFamily="34" charset="77"/>
              </a:rPr>
              <a:t>Detección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 flipV="1">
            <a:off x="8702722" y="2593077"/>
            <a:ext cx="0" cy="1173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8620835" y="3659878"/>
            <a:ext cx="12123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661133" y="2507349"/>
            <a:ext cx="392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782526" y="3451321"/>
            <a:ext cx="4459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Re</a:t>
            </a:r>
          </a:p>
        </p:txBody>
      </p:sp>
      <p:cxnSp>
        <p:nvCxnSpPr>
          <p:cNvPr id="19" name="Curved Connector 18"/>
          <p:cNvCxnSpPr/>
          <p:nvPr/>
        </p:nvCxnSpPr>
        <p:spPr>
          <a:xfrm>
            <a:off x="8702723" y="2866030"/>
            <a:ext cx="900753" cy="793849"/>
          </a:xfrm>
          <a:prstGeom prst="curvedConnector3">
            <a:avLst>
              <a:gd name="adj1" fmla="val 86364"/>
            </a:avLst>
          </a:prstGeom>
          <a:ln>
            <a:solidFill>
              <a:srgbClr val="00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8381352" y="3823196"/>
            <a:ext cx="22996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Curva Precision-Recall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B0736E3-FB8B-B446-BE9A-076B36607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22</a:t>
            </a:fld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720ED6-7EC0-7694-8C47-3AA8F4A6A11B}"/>
              </a:ext>
            </a:extLst>
          </p:cNvPr>
          <p:cNvSpPr txBox="1"/>
          <p:nvPr/>
        </p:nvSpPr>
        <p:spPr>
          <a:xfrm>
            <a:off x="8495639" y="3618304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Gill Sans MT" panose="020B0502020104020203" pitchFamily="34" charset="77"/>
              </a:rPr>
              <a:t>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8216BF-52B5-02D5-93E3-4BCB5F388B03}"/>
              </a:ext>
            </a:extLst>
          </p:cNvPr>
          <p:cNvSpPr txBox="1"/>
          <p:nvPr/>
        </p:nvSpPr>
        <p:spPr>
          <a:xfrm>
            <a:off x="9469539" y="3635988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0199CF-0B6D-4DDC-551F-659FCDA9E125}"/>
              </a:ext>
            </a:extLst>
          </p:cNvPr>
          <p:cNvSpPr txBox="1"/>
          <p:nvPr/>
        </p:nvSpPr>
        <p:spPr>
          <a:xfrm>
            <a:off x="8461073" y="2767812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C8E49E-912C-E1BC-AE75-CCAC889C7BB5}"/>
              </a:ext>
            </a:extLst>
          </p:cNvPr>
          <p:cNvSpPr txBox="1"/>
          <p:nvPr/>
        </p:nvSpPr>
        <p:spPr>
          <a:xfrm>
            <a:off x="1687773" y="696035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Ejemplo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14B6DE-D6B9-E0A0-8A1E-42F7764E03C9}"/>
              </a:ext>
            </a:extLst>
          </p:cNvPr>
          <p:cNvSpPr txBox="1"/>
          <p:nvPr/>
        </p:nvSpPr>
        <p:spPr>
          <a:xfrm>
            <a:off x="5596513" y="564444"/>
            <a:ext cx="460510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magenta: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Verdareos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(TP)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azules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falsos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(FP)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rojos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falsos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(FN)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blancos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Verdaderos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(TN)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A612520-7A49-0F01-8903-C66BE3E1EDF5}"/>
              </a:ext>
            </a:extLst>
          </p:cNvPr>
          <p:cNvSpPr/>
          <p:nvPr/>
        </p:nvSpPr>
        <p:spPr>
          <a:xfrm>
            <a:off x="10208155" y="626555"/>
            <a:ext cx="245904" cy="252070"/>
          </a:xfrm>
          <a:prstGeom prst="rect">
            <a:avLst/>
          </a:prstGeom>
          <a:solidFill>
            <a:srgbClr val="9D2E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A76F7CD-EB6D-DAD3-5A8F-1A59037B9046}"/>
              </a:ext>
            </a:extLst>
          </p:cNvPr>
          <p:cNvSpPr/>
          <p:nvPr/>
        </p:nvSpPr>
        <p:spPr>
          <a:xfrm>
            <a:off x="10208155" y="935100"/>
            <a:ext cx="245904" cy="252070"/>
          </a:xfrm>
          <a:prstGeom prst="rect">
            <a:avLst/>
          </a:prstGeom>
          <a:solidFill>
            <a:srgbClr val="9AAB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2C3AB5E-4046-42E1-015D-CC57DBBC2058}"/>
              </a:ext>
            </a:extLst>
          </p:cNvPr>
          <p:cNvSpPr/>
          <p:nvPr/>
        </p:nvSpPr>
        <p:spPr>
          <a:xfrm>
            <a:off x="10203732" y="1241090"/>
            <a:ext cx="245904" cy="25207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75FD1A-70F1-4236-0935-F96A2937807E}"/>
              </a:ext>
            </a:extLst>
          </p:cNvPr>
          <p:cNvSpPr/>
          <p:nvPr/>
        </p:nvSpPr>
        <p:spPr>
          <a:xfrm>
            <a:off x="10203732" y="1567121"/>
            <a:ext cx="245904" cy="25207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890395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Freeform 82"/>
          <p:cNvSpPr/>
          <p:nvPr/>
        </p:nvSpPr>
        <p:spPr>
          <a:xfrm>
            <a:off x="4547636" y="3588153"/>
            <a:ext cx="2632389" cy="2523281"/>
          </a:xfrm>
          <a:custGeom>
            <a:avLst/>
            <a:gdLst>
              <a:gd name="connsiteX0" fmla="*/ 0 w 2303469"/>
              <a:gd name="connsiteY0" fmla="*/ 0 h 2523281"/>
              <a:gd name="connsiteX1" fmla="*/ 1030147 w 2303469"/>
              <a:gd name="connsiteY1" fmla="*/ 69448 h 2523281"/>
              <a:gd name="connsiteX2" fmla="*/ 1516284 w 2303469"/>
              <a:gd name="connsiteY2" fmla="*/ 312516 h 2523281"/>
              <a:gd name="connsiteX3" fmla="*/ 2071869 w 2303469"/>
              <a:gd name="connsiteY3" fmla="*/ 983848 h 2523281"/>
              <a:gd name="connsiteX4" fmla="*/ 2268638 w 2303469"/>
              <a:gd name="connsiteY4" fmla="*/ 2106592 h 2523281"/>
              <a:gd name="connsiteX5" fmla="*/ 2303362 w 2303469"/>
              <a:gd name="connsiteY5" fmla="*/ 2523281 h 2523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03469" h="2523281">
                <a:moveTo>
                  <a:pt x="0" y="0"/>
                </a:moveTo>
                <a:cubicBezTo>
                  <a:pt x="388716" y="8681"/>
                  <a:pt x="777433" y="17362"/>
                  <a:pt x="1030147" y="69448"/>
                </a:cubicBezTo>
                <a:cubicBezTo>
                  <a:pt x="1282861" y="121534"/>
                  <a:pt x="1342664" y="160116"/>
                  <a:pt x="1516284" y="312516"/>
                </a:cubicBezTo>
                <a:cubicBezTo>
                  <a:pt x="1689904" y="464916"/>
                  <a:pt x="1946477" y="684835"/>
                  <a:pt x="2071869" y="983848"/>
                </a:cubicBezTo>
                <a:cubicBezTo>
                  <a:pt x="2197261" y="1282861"/>
                  <a:pt x="2230056" y="1850020"/>
                  <a:pt x="2268638" y="2106592"/>
                </a:cubicBezTo>
                <a:cubicBezTo>
                  <a:pt x="2307220" y="2363164"/>
                  <a:pt x="2303362" y="2523281"/>
                  <a:pt x="2303362" y="2523281"/>
                </a:cubicBezTo>
              </a:path>
            </a:pathLst>
          </a:custGeom>
          <a:noFill/>
          <a:ln w="38100">
            <a:solidFill>
              <a:srgbClr val="00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6811" y="208696"/>
            <a:ext cx="1384300" cy="876300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3856" y="170544"/>
            <a:ext cx="1308100" cy="9017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28747" y="436728"/>
            <a:ext cx="303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Precision =                       =  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908645" y="621394"/>
            <a:ext cx="100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983325" y="774032"/>
            <a:ext cx="245904" cy="252070"/>
          </a:xfrm>
          <a:prstGeom prst="rect">
            <a:avLst/>
          </a:prstGeom>
          <a:solidFill>
            <a:srgbClr val="9D2E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567646" y="774032"/>
            <a:ext cx="245904" cy="252070"/>
          </a:xfrm>
          <a:prstGeom prst="rect">
            <a:avLst/>
          </a:prstGeom>
          <a:solidFill>
            <a:srgbClr val="9AAB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253243" y="216687"/>
            <a:ext cx="245904" cy="252070"/>
          </a:xfrm>
          <a:prstGeom prst="rect">
            <a:avLst/>
          </a:prstGeom>
          <a:solidFill>
            <a:srgbClr val="9D2E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229229" y="715664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3210" y="439000"/>
            <a:ext cx="3121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      Recall =                        =  </a:t>
            </a:r>
          </a:p>
        </p:txBody>
      </p:sp>
      <p:cxnSp>
        <p:nvCxnSpPr>
          <p:cNvPr id="28" name="Straight Connector 27"/>
          <p:cNvCxnSpPr/>
          <p:nvPr/>
        </p:nvCxnSpPr>
        <p:spPr>
          <a:xfrm>
            <a:off x="9305507" y="623666"/>
            <a:ext cx="100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380187" y="776304"/>
            <a:ext cx="245904" cy="252070"/>
          </a:xfrm>
          <a:prstGeom prst="rect">
            <a:avLst/>
          </a:prstGeom>
          <a:solidFill>
            <a:srgbClr val="9D2E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9964508" y="776304"/>
            <a:ext cx="245904" cy="25207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650105" y="218959"/>
            <a:ext cx="245904" cy="252070"/>
          </a:xfrm>
          <a:prstGeom prst="rect">
            <a:avLst/>
          </a:prstGeom>
          <a:solidFill>
            <a:srgbClr val="9D2E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626091" y="717936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+</a:t>
            </a:r>
          </a:p>
        </p:txBody>
      </p:sp>
      <p:cxnSp>
        <p:nvCxnSpPr>
          <p:cNvPr id="34" name="Straight Arrow Connector 33"/>
          <p:cNvCxnSpPr/>
          <p:nvPr/>
        </p:nvCxnSpPr>
        <p:spPr>
          <a:xfrm flipV="1">
            <a:off x="4528352" y="3311655"/>
            <a:ext cx="0" cy="29206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4303358" y="6073256"/>
            <a:ext cx="3271372" cy="459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 rot="16200000">
            <a:off x="3464785" y="4626640"/>
            <a:ext cx="10328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Precision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83265" y="6269069"/>
            <a:ext cx="961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Recall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2725" y="6250672"/>
            <a:ext cx="3557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0                                                 1</a:t>
            </a:r>
          </a:p>
        </p:txBody>
      </p:sp>
      <p:cxnSp>
        <p:nvCxnSpPr>
          <p:cNvPr id="47" name="Straight Connector 46"/>
          <p:cNvCxnSpPr/>
          <p:nvPr/>
        </p:nvCxnSpPr>
        <p:spPr>
          <a:xfrm>
            <a:off x="7210331" y="6045959"/>
            <a:ext cx="0" cy="1590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 flipV="1">
            <a:off x="4428453" y="3586878"/>
            <a:ext cx="1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013249" y="340595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1</a:t>
            </a:r>
          </a:p>
        </p:txBody>
      </p:sp>
      <p:grpSp>
        <p:nvGrpSpPr>
          <p:cNvPr id="87" name="Group 86"/>
          <p:cNvGrpSpPr/>
          <p:nvPr/>
        </p:nvGrpSpPr>
        <p:grpSpPr>
          <a:xfrm>
            <a:off x="7063925" y="1329223"/>
            <a:ext cx="2228429" cy="4117772"/>
            <a:chOff x="5539924" y="1329223"/>
            <a:chExt cx="2228429" cy="4117772"/>
          </a:xfrm>
        </p:grpSpPr>
        <p:grpSp>
          <p:nvGrpSpPr>
            <p:cNvPr id="52" name="Group 51"/>
            <p:cNvGrpSpPr/>
            <p:nvPr/>
          </p:nvGrpSpPr>
          <p:grpSpPr>
            <a:xfrm>
              <a:off x="6608294" y="1329223"/>
              <a:ext cx="1160059" cy="1269238"/>
              <a:chOff x="2388361" y="2169997"/>
              <a:chExt cx="4285397" cy="3766782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2388361" y="2169997"/>
                <a:ext cx="4285397" cy="3766782"/>
              </a:xfrm>
              <a:prstGeom prst="rect">
                <a:avLst/>
              </a:prstGeom>
              <a:solidFill>
                <a:schemeClr val="bg1"/>
              </a:solidFill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4" name="Freeform 53"/>
              <p:cNvSpPr/>
              <p:nvPr/>
            </p:nvSpPr>
            <p:spPr>
              <a:xfrm>
                <a:off x="3005157" y="3166215"/>
                <a:ext cx="2729534" cy="1919913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9534" h="1919913">
                    <a:moveTo>
                      <a:pt x="1034582" y="341268"/>
                    </a:moveTo>
                    <a:cubicBezTo>
                      <a:pt x="1284791" y="238910"/>
                      <a:pt x="1230200" y="-68165"/>
                      <a:pt x="1512254" y="13722"/>
                    </a:cubicBezTo>
                    <a:cubicBezTo>
                      <a:pt x="1794308" y="95609"/>
                      <a:pt x="2679138" y="518690"/>
                      <a:pt x="2726905" y="832588"/>
                    </a:cubicBezTo>
                    <a:cubicBezTo>
                      <a:pt x="2774672" y="1146486"/>
                      <a:pt x="2160523" y="1787931"/>
                      <a:pt x="1798857" y="1897113"/>
                    </a:cubicBezTo>
                    <a:cubicBezTo>
                      <a:pt x="1437191" y="2006295"/>
                      <a:pt x="854887" y="1699220"/>
                      <a:pt x="556911" y="1487680"/>
                    </a:cubicBezTo>
                    <a:cubicBezTo>
                      <a:pt x="258935" y="1276140"/>
                      <a:pt x="-64063" y="816665"/>
                      <a:pt x="11000" y="627871"/>
                    </a:cubicBezTo>
                    <a:cubicBezTo>
                      <a:pt x="86063" y="439077"/>
                      <a:pt x="784373" y="443626"/>
                      <a:pt x="1034582" y="341268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5" name="Freeform 54"/>
              <p:cNvSpPr/>
              <p:nvPr/>
            </p:nvSpPr>
            <p:spPr>
              <a:xfrm>
                <a:off x="2929642" y="2363910"/>
                <a:ext cx="3421845" cy="3024829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  <a:gd name="connsiteX0" fmla="*/ 1034582 w 2242520"/>
                  <a:gd name="connsiteY0" fmla="*/ 343152 h 1919663"/>
                  <a:gd name="connsiteX1" fmla="*/ 1512254 w 2242520"/>
                  <a:gd name="connsiteY1" fmla="*/ 15606 h 1919663"/>
                  <a:gd name="connsiteX2" fmla="*/ 2235585 w 2242520"/>
                  <a:gd name="connsiteY2" fmla="*/ 875416 h 1919663"/>
                  <a:gd name="connsiteX3" fmla="*/ 1798857 w 2242520"/>
                  <a:gd name="connsiteY3" fmla="*/ 1898997 h 1919663"/>
                  <a:gd name="connsiteX4" fmla="*/ 556911 w 2242520"/>
                  <a:gd name="connsiteY4" fmla="*/ 1489564 h 1919663"/>
                  <a:gd name="connsiteX5" fmla="*/ 11000 w 2242520"/>
                  <a:gd name="connsiteY5" fmla="*/ 629755 h 1919663"/>
                  <a:gd name="connsiteX6" fmla="*/ 1034582 w 2242520"/>
                  <a:gd name="connsiteY6" fmla="*/ 343152 h 1919663"/>
                  <a:gd name="connsiteX0" fmla="*/ 1034582 w 2253299"/>
                  <a:gd name="connsiteY0" fmla="*/ 435985 h 2012496"/>
                  <a:gd name="connsiteX1" fmla="*/ 1280242 w 2253299"/>
                  <a:gd name="connsiteY1" fmla="*/ 12904 h 2012496"/>
                  <a:gd name="connsiteX2" fmla="*/ 2235585 w 2253299"/>
                  <a:gd name="connsiteY2" fmla="*/ 968249 h 2012496"/>
                  <a:gd name="connsiteX3" fmla="*/ 1798857 w 2253299"/>
                  <a:gd name="connsiteY3" fmla="*/ 1991830 h 2012496"/>
                  <a:gd name="connsiteX4" fmla="*/ 556911 w 2253299"/>
                  <a:gd name="connsiteY4" fmla="*/ 1582397 h 2012496"/>
                  <a:gd name="connsiteX5" fmla="*/ 11000 w 2253299"/>
                  <a:gd name="connsiteY5" fmla="*/ 722588 h 2012496"/>
                  <a:gd name="connsiteX6" fmla="*/ 1034582 w 2253299"/>
                  <a:gd name="connsiteY6" fmla="*/ 435985 h 2012496"/>
                  <a:gd name="connsiteX0" fmla="*/ 586989 w 2242434"/>
                  <a:gd name="connsiteY0" fmla="*/ 487258 h 2009178"/>
                  <a:gd name="connsiteX1" fmla="*/ 1269377 w 2242434"/>
                  <a:gd name="connsiteY1" fmla="*/ 9586 h 2009178"/>
                  <a:gd name="connsiteX2" fmla="*/ 2224720 w 2242434"/>
                  <a:gd name="connsiteY2" fmla="*/ 964931 h 2009178"/>
                  <a:gd name="connsiteX3" fmla="*/ 1787992 w 2242434"/>
                  <a:gd name="connsiteY3" fmla="*/ 1988512 h 2009178"/>
                  <a:gd name="connsiteX4" fmla="*/ 546046 w 2242434"/>
                  <a:gd name="connsiteY4" fmla="*/ 1579079 h 2009178"/>
                  <a:gd name="connsiteX5" fmla="*/ 135 w 2242434"/>
                  <a:gd name="connsiteY5" fmla="*/ 719270 h 2009178"/>
                  <a:gd name="connsiteX6" fmla="*/ 586989 w 2242434"/>
                  <a:gd name="connsiteY6" fmla="*/ 487258 h 2009178"/>
                  <a:gd name="connsiteX0" fmla="*/ 602616 w 2260356"/>
                  <a:gd name="connsiteY0" fmla="*/ 487258 h 2028895"/>
                  <a:gd name="connsiteX1" fmla="*/ 1285004 w 2260356"/>
                  <a:gd name="connsiteY1" fmla="*/ 9586 h 2028895"/>
                  <a:gd name="connsiteX2" fmla="*/ 2240347 w 2260356"/>
                  <a:gd name="connsiteY2" fmla="*/ 964931 h 2028895"/>
                  <a:gd name="connsiteX3" fmla="*/ 1803619 w 2260356"/>
                  <a:gd name="connsiteY3" fmla="*/ 1988512 h 2028895"/>
                  <a:gd name="connsiteX4" fmla="*/ 316014 w 2260356"/>
                  <a:gd name="connsiteY4" fmla="*/ 1715556 h 2028895"/>
                  <a:gd name="connsiteX5" fmla="*/ 15762 w 2260356"/>
                  <a:gd name="connsiteY5" fmla="*/ 719270 h 2028895"/>
                  <a:gd name="connsiteX6" fmla="*/ 602616 w 2260356"/>
                  <a:gd name="connsiteY6" fmla="*/ 487258 h 2028895"/>
                  <a:gd name="connsiteX0" fmla="*/ 1121883 w 2779623"/>
                  <a:gd name="connsiteY0" fmla="*/ 487386 h 2029023"/>
                  <a:gd name="connsiteX1" fmla="*/ 1804271 w 2779623"/>
                  <a:gd name="connsiteY1" fmla="*/ 9714 h 2029023"/>
                  <a:gd name="connsiteX2" fmla="*/ 2759614 w 2779623"/>
                  <a:gd name="connsiteY2" fmla="*/ 965059 h 2029023"/>
                  <a:gd name="connsiteX3" fmla="*/ 2322886 w 2779623"/>
                  <a:gd name="connsiteY3" fmla="*/ 1988640 h 2029023"/>
                  <a:gd name="connsiteX4" fmla="*/ 835281 w 2779623"/>
                  <a:gd name="connsiteY4" fmla="*/ 1715684 h 2029023"/>
                  <a:gd name="connsiteX5" fmla="*/ 2767 w 2779623"/>
                  <a:gd name="connsiteY5" fmla="*/ 760342 h 2029023"/>
                  <a:gd name="connsiteX6" fmla="*/ 1121883 w 2779623"/>
                  <a:gd name="connsiteY6" fmla="*/ 487386 h 2029023"/>
                  <a:gd name="connsiteX0" fmla="*/ 932037 w 2589777"/>
                  <a:gd name="connsiteY0" fmla="*/ 487518 h 2029155"/>
                  <a:gd name="connsiteX1" fmla="*/ 1614425 w 2589777"/>
                  <a:gd name="connsiteY1" fmla="*/ 9846 h 2029155"/>
                  <a:gd name="connsiteX2" fmla="*/ 2569768 w 2589777"/>
                  <a:gd name="connsiteY2" fmla="*/ 965191 h 2029155"/>
                  <a:gd name="connsiteX3" fmla="*/ 2133040 w 2589777"/>
                  <a:gd name="connsiteY3" fmla="*/ 1988772 h 2029155"/>
                  <a:gd name="connsiteX4" fmla="*/ 645435 w 2589777"/>
                  <a:gd name="connsiteY4" fmla="*/ 1715816 h 2029155"/>
                  <a:gd name="connsiteX5" fmla="*/ 3989 w 2589777"/>
                  <a:gd name="connsiteY5" fmla="*/ 801418 h 2029155"/>
                  <a:gd name="connsiteX6" fmla="*/ 932037 w 2589777"/>
                  <a:gd name="connsiteY6" fmla="*/ 487518 h 2029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89777" h="2029155">
                    <a:moveTo>
                      <a:pt x="932037" y="487518"/>
                    </a:moveTo>
                    <a:cubicBezTo>
                      <a:pt x="1200443" y="355589"/>
                      <a:pt x="1341470" y="-69766"/>
                      <a:pt x="1614425" y="9846"/>
                    </a:cubicBezTo>
                    <a:cubicBezTo>
                      <a:pt x="1887380" y="89458"/>
                      <a:pt x="2483332" y="635370"/>
                      <a:pt x="2569768" y="965191"/>
                    </a:cubicBezTo>
                    <a:cubicBezTo>
                      <a:pt x="2656204" y="1295012"/>
                      <a:pt x="2453762" y="1863668"/>
                      <a:pt x="2133040" y="1988772"/>
                    </a:cubicBezTo>
                    <a:cubicBezTo>
                      <a:pt x="1812318" y="2113876"/>
                      <a:pt x="943411" y="1927356"/>
                      <a:pt x="645435" y="1715816"/>
                    </a:cubicBezTo>
                    <a:cubicBezTo>
                      <a:pt x="347459" y="1504276"/>
                      <a:pt x="-43778" y="1006134"/>
                      <a:pt x="3989" y="801418"/>
                    </a:cubicBezTo>
                    <a:cubicBezTo>
                      <a:pt x="51756" y="596702"/>
                      <a:pt x="663631" y="619447"/>
                      <a:pt x="932037" y="487518"/>
                    </a:cubicBezTo>
                    <a:close/>
                  </a:path>
                </a:pathLst>
              </a:custGeom>
              <a:solidFill>
                <a:srgbClr val="2249CD">
                  <a:alpha val="36000"/>
                </a:srgb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56" name="Oval 55"/>
            <p:cNvSpPr/>
            <p:nvPr/>
          </p:nvSpPr>
          <p:spPr>
            <a:xfrm>
              <a:off x="5539924" y="5374995"/>
              <a:ext cx="72000" cy="72000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57" name="Straight Connector 56"/>
            <p:cNvCxnSpPr>
              <a:stCxn id="53" idx="2"/>
              <a:endCxn id="56" idx="0"/>
            </p:cNvCxnSpPr>
            <p:nvPr/>
          </p:nvCxnSpPr>
          <p:spPr>
            <a:xfrm flipH="1">
              <a:off x="5575924" y="2598461"/>
              <a:ext cx="1612400" cy="2776534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oup 85"/>
          <p:cNvGrpSpPr/>
          <p:nvPr/>
        </p:nvGrpSpPr>
        <p:grpSpPr>
          <a:xfrm>
            <a:off x="3148126" y="1336677"/>
            <a:ext cx="1874158" cy="2277393"/>
            <a:chOff x="1624126" y="1336676"/>
            <a:chExt cx="1874158" cy="2277393"/>
          </a:xfrm>
        </p:grpSpPr>
        <p:grpSp>
          <p:nvGrpSpPr>
            <p:cNvPr id="58" name="Group 57"/>
            <p:cNvGrpSpPr/>
            <p:nvPr/>
          </p:nvGrpSpPr>
          <p:grpSpPr>
            <a:xfrm>
              <a:off x="1624126" y="1336676"/>
              <a:ext cx="1160059" cy="1269238"/>
              <a:chOff x="2388361" y="2169997"/>
              <a:chExt cx="4285397" cy="3766782"/>
            </a:xfrm>
          </p:grpSpPr>
          <p:sp>
            <p:nvSpPr>
              <p:cNvPr id="59" name="Rectangle 58"/>
              <p:cNvSpPr/>
              <p:nvPr/>
            </p:nvSpPr>
            <p:spPr>
              <a:xfrm>
                <a:off x="2388361" y="2169997"/>
                <a:ext cx="4285397" cy="3766782"/>
              </a:xfrm>
              <a:prstGeom prst="rect">
                <a:avLst/>
              </a:prstGeom>
              <a:solidFill>
                <a:schemeClr val="bg1"/>
              </a:solidFill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60" name="Freeform 59"/>
              <p:cNvSpPr/>
              <p:nvPr/>
            </p:nvSpPr>
            <p:spPr>
              <a:xfrm>
                <a:off x="3005157" y="3166215"/>
                <a:ext cx="2729534" cy="1919913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9534" h="1919913">
                    <a:moveTo>
                      <a:pt x="1034582" y="341268"/>
                    </a:moveTo>
                    <a:cubicBezTo>
                      <a:pt x="1284791" y="238910"/>
                      <a:pt x="1230200" y="-68165"/>
                      <a:pt x="1512254" y="13722"/>
                    </a:cubicBezTo>
                    <a:cubicBezTo>
                      <a:pt x="1794308" y="95609"/>
                      <a:pt x="2679138" y="518690"/>
                      <a:pt x="2726905" y="832588"/>
                    </a:cubicBezTo>
                    <a:cubicBezTo>
                      <a:pt x="2774672" y="1146486"/>
                      <a:pt x="2160523" y="1787931"/>
                      <a:pt x="1798857" y="1897113"/>
                    </a:cubicBezTo>
                    <a:cubicBezTo>
                      <a:pt x="1437191" y="2006295"/>
                      <a:pt x="854887" y="1699220"/>
                      <a:pt x="556911" y="1487680"/>
                    </a:cubicBezTo>
                    <a:cubicBezTo>
                      <a:pt x="258935" y="1276140"/>
                      <a:pt x="-64063" y="816665"/>
                      <a:pt x="11000" y="627871"/>
                    </a:cubicBezTo>
                    <a:cubicBezTo>
                      <a:pt x="86063" y="439077"/>
                      <a:pt x="784373" y="443626"/>
                      <a:pt x="1034582" y="341268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61" name="Freeform 60"/>
              <p:cNvSpPr/>
              <p:nvPr/>
            </p:nvSpPr>
            <p:spPr>
              <a:xfrm>
                <a:off x="3928794" y="3555480"/>
                <a:ext cx="981831" cy="952007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  <a:gd name="connsiteX0" fmla="*/ 1034582 w 2242520"/>
                  <a:gd name="connsiteY0" fmla="*/ 343152 h 1919663"/>
                  <a:gd name="connsiteX1" fmla="*/ 1512254 w 2242520"/>
                  <a:gd name="connsiteY1" fmla="*/ 15606 h 1919663"/>
                  <a:gd name="connsiteX2" fmla="*/ 2235585 w 2242520"/>
                  <a:gd name="connsiteY2" fmla="*/ 875416 h 1919663"/>
                  <a:gd name="connsiteX3" fmla="*/ 1798857 w 2242520"/>
                  <a:gd name="connsiteY3" fmla="*/ 1898997 h 1919663"/>
                  <a:gd name="connsiteX4" fmla="*/ 556911 w 2242520"/>
                  <a:gd name="connsiteY4" fmla="*/ 1489564 h 1919663"/>
                  <a:gd name="connsiteX5" fmla="*/ 11000 w 2242520"/>
                  <a:gd name="connsiteY5" fmla="*/ 629755 h 1919663"/>
                  <a:gd name="connsiteX6" fmla="*/ 1034582 w 2242520"/>
                  <a:gd name="connsiteY6" fmla="*/ 343152 h 1919663"/>
                  <a:gd name="connsiteX0" fmla="*/ 1034582 w 2253299"/>
                  <a:gd name="connsiteY0" fmla="*/ 435985 h 2012496"/>
                  <a:gd name="connsiteX1" fmla="*/ 1280242 w 2253299"/>
                  <a:gd name="connsiteY1" fmla="*/ 12904 h 2012496"/>
                  <a:gd name="connsiteX2" fmla="*/ 2235585 w 2253299"/>
                  <a:gd name="connsiteY2" fmla="*/ 968249 h 2012496"/>
                  <a:gd name="connsiteX3" fmla="*/ 1798857 w 2253299"/>
                  <a:gd name="connsiteY3" fmla="*/ 1991830 h 2012496"/>
                  <a:gd name="connsiteX4" fmla="*/ 556911 w 2253299"/>
                  <a:gd name="connsiteY4" fmla="*/ 1582397 h 2012496"/>
                  <a:gd name="connsiteX5" fmla="*/ 11000 w 2253299"/>
                  <a:gd name="connsiteY5" fmla="*/ 722588 h 2012496"/>
                  <a:gd name="connsiteX6" fmla="*/ 1034582 w 2253299"/>
                  <a:gd name="connsiteY6" fmla="*/ 435985 h 2012496"/>
                  <a:gd name="connsiteX0" fmla="*/ 586989 w 2242434"/>
                  <a:gd name="connsiteY0" fmla="*/ 487258 h 2009178"/>
                  <a:gd name="connsiteX1" fmla="*/ 1269377 w 2242434"/>
                  <a:gd name="connsiteY1" fmla="*/ 9586 h 2009178"/>
                  <a:gd name="connsiteX2" fmla="*/ 2224720 w 2242434"/>
                  <a:gd name="connsiteY2" fmla="*/ 964931 h 2009178"/>
                  <a:gd name="connsiteX3" fmla="*/ 1787992 w 2242434"/>
                  <a:gd name="connsiteY3" fmla="*/ 1988512 h 2009178"/>
                  <a:gd name="connsiteX4" fmla="*/ 546046 w 2242434"/>
                  <a:gd name="connsiteY4" fmla="*/ 1579079 h 2009178"/>
                  <a:gd name="connsiteX5" fmla="*/ 135 w 2242434"/>
                  <a:gd name="connsiteY5" fmla="*/ 719270 h 2009178"/>
                  <a:gd name="connsiteX6" fmla="*/ 586989 w 2242434"/>
                  <a:gd name="connsiteY6" fmla="*/ 487258 h 2009178"/>
                  <a:gd name="connsiteX0" fmla="*/ 602616 w 2260356"/>
                  <a:gd name="connsiteY0" fmla="*/ 487258 h 2028895"/>
                  <a:gd name="connsiteX1" fmla="*/ 1285004 w 2260356"/>
                  <a:gd name="connsiteY1" fmla="*/ 9586 h 2028895"/>
                  <a:gd name="connsiteX2" fmla="*/ 2240347 w 2260356"/>
                  <a:gd name="connsiteY2" fmla="*/ 964931 h 2028895"/>
                  <a:gd name="connsiteX3" fmla="*/ 1803619 w 2260356"/>
                  <a:gd name="connsiteY3" fmla="*/ 1988512 h 2028895"/>
                  <a:gd name="connsiteX4" fmla="*/ 316014 w 2260356"/>
                  <a:gd name="connsiteY4" fmla="*/ 1715556 h 2028895"/>
                  <a:gd name="connsiteX5" fmla="*/ 15762 w 2260356"/>
                  <a:gd name="connsiteY5" fmla="*/ 719270 h 2028895"/>
                  <a:gd name="connsiteX6" fmla="*/ 602616 w 2260356"/>
                  <a:gd name="connsiteY6" fmla="*/ 487258 h 2028895"/>
                  <a:gd name="connsiteX0" fmla="*/ 1121883 w 2779623"/>
                  <a:gd name="connsiteY0" fmla="*/ 487386 h 2029023"/>
                  <a:gd name="connsiteX1" fmla="*/ 1804271 w 2779623"/>
                  <a:gd name="connsiteY1" fmla="*/ 9714 h 2029023"/>
                  <a:gd name="connsiteX2" fmla="*/ 2759614 w 2779623"/>
                  <a:gd name="connsiteY2" fmla="*/ 965059 h 2029023"/>
                  <a:gd name="connsiteX3" fmla="*/ 2322886 w 2779623"/>
                  <a:gd name="connsiteY3" fmla="*/ 1988640 h 2029023"/>
                  <a:gd name="connsiteX4" fmla="*/ 835281 w 2779623"/>
                  <a:gd name="connsiteY4" fmla="*/ 1715684 h 2029023"/>
                  <a:gd name="connsiteX5" fmla="*/ 2767 w 2779623"/>
                  <a:gd name="connsiteY5" fmla="*/ 760342 h 2029023"/>
                  <a:gd name="connsiteX6" fmla="*/ 1121883 w 2779623"/>
                  <a:gd name="connsiteY6" fmla="*/ 487386 h 2029023"/>
                  <a:gd name="connsiteX0" fmla="*/ 932037 w 2589777"/>
                  <a:gd name="connsiteY0" fmla="*/ 487518 h 2029155"/>
                  <a:gd name="connsiteX1" fmla="*/ 1614425 w 2589777"/>
                  <a:gd name="connsiteY1" fmla="*/ 9846 h 2029155"/>
                  <a:gd name="connsiteX2" fmla="*/ 2569768 w 2589777"/>
                  <a:gd name="connsiteY2" fmla="*/ 965191 h 2029155"/>
                  <a:gd name="connsiteX3" fmla="*/ 2133040 w 2589777"/>
                  <a:gd name="connsiteY3" fmla="*/ 1988772 h 2029155"/>
                  <a:gd name="connsiteX4" fmla="*/ 645435 w 2589777"/>
                  <a:gd name="connsiteY4" fmla="*/ 1715816 h 2029155"/>
                  <a:gd name="connsiteX5" fmla="*/ 3989 w 2589777"/>
                  <a:gd name="connsiteY5" fmla="*/ 801418 h 2029155"/>
                  <a:gd name="connsiteX6" fmla="*/ 932037 w 2589777"/>
                  <a:gd name="connsiteY6" fmla="*/ 487518 h 2029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89777" h="2029155">
                    <a:moveTo>
                      <a:pt x="932037" y="487518"/>
                    </a:moveTo>
                    <a:cubicBezTo>
                      <a:pt x="1200443" y="355589"/>
                      <a:pt x="1341470" y="-69766"/>
                      <a:pt x="1614425" y="9846"/>
                    </a:cubicBezTo>
                    <a:cubicBezTo>
                      <a:pt x="1887380" y="89458"/>
                      <a:pt x="2483332" y="635370"/>
                      <a:pt x="2569768" y="965191"/>
                    </a:cubicBezTo>
                    <a:cubicBezTo>
                      <a:pt x="2656204" y="1295012"/>
                      <a:pt x="2453762" y="1863668"/>
                      <a:pt x="2133040" y="1988772"/>
                    </a:cubicBezTo>
                    <a:cubicBezTo>
                      <a:pt x="1812318" y="2113876"/>
                      <a:pt x="943411" y="1927356"/>
                      <a:pt x="645435" y="1715816"/>
                    </a:cubicBezTo>
                    <a:cubicBezTo>
                      <a:pt x="347459" y="1504276"/>
                      <a:pt x="-43778" y="1006134"/>
                      <a:pt x="3989" y="801418"/>
                    </a:cubicBezTo>
                    <a:cubicBezTo>
                      <a:pt x="51756" y="596702"/>
                      <a:pt x="663631" y="619447"/>
                      <a:pt x="932037" y="487518"/>
                    </a:cubicBezTo>
                    <a:close/>
                  </a:path>
                </a:pathLst>
              </a:custGeom>
              <a:solidFill>
                <a:srgbClr val="2249CD">
                  <a:alpha val="36000"/>
                </a:srgb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62" name="Oval 61"/>
            <p:cNvSpPr/>
            <p:nvPr/>
          </p:nvSpPr>
          <p:spPr>
            <a:xfrm>
              <a:off x="3426284" y="3542069"/>
              <a:ext cx="72000" cy="72000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63" name="Straight Connector 62"/>
            <p:cNvCxnSpPr>
              <a:stCxn id="59" idx="2"/>
              <a:endCxn id="62" idx="0"/>
            </p:cNvCxnSpPr>
            <p:nvPr/>
          </p:nvCxnSpPr>
          <p:spPr>
            <a:xfrm>
              <a:off x="2204156" y="2605914"/>
              <a:ext cx="1258128" cy="936155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668807" y="1331149"/>
            <a:ext cx="1160059" cy="2589910"/>
            <a:chOff x="4144806" y="1331149"/>
            <a:chExt cx="1160059" cy="2589910"/>
          </a:xfrm>
        </p:grpSpPr>
        <p:grpSp>
          <p:nvGrpSpPr>
            <p:cNvPr id="66" name="Group 65"/>
            <p:cNvGrpSpPr/>
            <p:nvPr/>
          </p:nvGrpSpPr>
          <p:grpSpPr>
            <a:xfrm>
              <a:off x="4144806" y="1331149"/>
              <a:ext cx="1160059" cy="1269238"/>
              <a:chOff x="2388361" y="2169997"/>
              <a:chExt cx="4285397" cy="3766782"/>
            </a:xfrm>
          </p:grpSpPr>
          <p:sp>
            <p:nvSpPr>
              <p:cNvPr id="67" name="Rectangle 66"/>
              <p:cNvSpPr/>
              <p:nvPr/>
            </p:nvSpPr>
            <p:spPr>
              <a:xfrm>
                <a:off x="2388361" y="2169997"/>
                <a:ext cx="4285397" cy="3766782"/>
              </a:xfrm>
              <a:prstGeom prst="rect">
                <a:avLst/>
              </a:prstGeom>
              <a:solidFill>
                <a:schemeClr val="bg1"/>
              </a:solidFill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68" name="Freeform 67"/>
              <p:cNvSpPr/>
              <p:nvPr/>
            </p:nvSpPr>
            <p:spPr>
              <a:xfrm>
                <a:off x="3005157" y="3166215"/>
                <a:ext cx="2729534" cy="1919913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9534" h="1919913">
                    <a:moveTo>
                      <a:pt x="1034582" y="341268"/>
                    </a:moveTo>
                    <a:cubicBezTo>
                      <a:pt x="1284791" y="238910"/>
                      <a:pt x="1230200" y="-68165"/>
                      <a:pt x="1512254" y="13722"/>
                    </a:cubicBezTo>
                    <a:cubicBezTo>
                      <a:pt x="1794308" y="95609"/>
                      <a:pt x="2679138" y="518690"/>
                      <a:pt x="2726905" y="832588"/>
                    </a:cubicBezTo>
                    <a:cubicBezTo>
                      <a:pt x="2774672" y="1146486"/>
                      <a:pt x="2160523" y="1787931"/>
                      <a:pt x="1798857" y="1897113"/>
                    </a:cubicBezTo>
                    <a:cubicBezTo>
                      <a:pt x="1437191" y="2006295"/>
                      <a:pt x="854887" y="1699220"/>
                      <a:pt x="556911" y="1487680"/>
                    </a:cubicBezTo>
                    <a:cubicBezTo>
                      <a:pt x="258935" y="1276140"/>
                      <a:pt x="-64063" y="816665"/>
                      <a:pt x="11000" y="627871"/>
                    </a:cubicBezTo>
                    <a:cubicBezTo>
                      <a:pt x="86063" y="439077"/>
                      <a:pt x="784373" y="443626"/>
                      <a:pt x="1034582" y="341268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69" name="Freeform 68"/>
              <p:cNvSpPr/>
              <p:nvPr/>
            </p:nvSpPr>
            <p:spPr>
              <a:xfrm>
                <a:off x="3153716" y="2907804"/>
                <a:ext cx="2388869" cy="1921093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  <a:gd name="connsiteX0" fmla="*/ 1034582 w 2242520"/>
                  <a:gd name="connsiteY0" fmla="*/ 343152 h 1919663"/>
                  <a:gd name="connsiteX1" fmla="*/ 1512254 w 2242520"/>
                  <a:gd name="connsiteY1" fmla="*/ 15606 h 1919663"/>
                  <a:gd name="connsiteX2" fmla="*/ 2235585 w 2242520"/>
                  <a:gd name="connsiteY2" fmla="*/ 875416 h 1919663"/>
                  <a:gd name="connsiteX3" fmla="*/ 1798857 w 2242520"/>
                  <a:gd name="connsiteY3" fmla="*/ 1898997 h 1919663"/>
                  <a:gd name="connsiteX4" fmla="*/ 556911 w 2242520"/>
                  <a:gd name="connsiteY4" fmla="*/ 1489564 h 1919663"/>
                  <a:gd name="connsiteX5" fmla="*/ 11000 w 2242520"/>
                  <a:gd name="connsiteY5" fmla="*/ 629755 h 1919663"/>
                  <a:gd name="connsiteX6" fmla="*/ 1034582 w 2242520"/>
                  <a:gd name="connsiteY6" fmla="*/ 343152 h 1919663"/>
                  <a:gd name="connsiteX0" fmla="*/ 1034582 w 2253299"/>
                  <a:gd name="connsiteY0" fmla="*/ 435985 h 2012496"/>
                  <a:gd name="connsiteX1" fmla="*/ 1280242 w 2253299"/>
                  <a:gd name="connsiteY1" fmla="*/ 12904 h 2012496"/>
                  <a:gd name="connsiteX2" fmla="*/ 2235585 w 2253299"/>
                  <a:gd name="connsiteY2" fmla="*/ 968249 h 2012496"/>
                  <a:gd name="connsiteX3" fmla="*/ 1798857 w 2253299"/>
                  <a:gd name="connsiteY3" fmla="*/ 1991830 h 2012496"/>
                  <a:gd name="connsiteX4" fmla="*/ 556911 w 2253299"/>
                  <a:gd name="connsiteY4" fmla="*/ 1582397 h 2012496"/>
                  <a:gd name="connsiteX5" fmla="*/ 11000 w 2253299"/>
                  <a:gd name="connsiteY5" fmla="*/ 722588 h 2012496"/>
                  <a:gd name="connsiteX6" fmla="*/ 1034582 w 2253299"/>
                  <a:gd name="connsiteY6" fmla="*/ 435985 h 2012496"/>
                  <a:gd name="connsiteX0" fmla="*/ 586989 w 2242434"/>
                  <a:gd name="connsiteY0" fmla="*/ 487258 h 2009178"/>
                  <a:gd name="connsiteX1" fmla="*/ 1269377 w 2242434"/>
                  <a:gd name="connsiteY1" fmla="*/ 9586 h 2009178"/>
                  <a:gd name="connsiteX2" fmla="*/ 2224720 w 2242434"/>
                  <a:gd name="connsiteY2" fmla="*/ 964931 h 2009178"/>
                  <a:gd name="connsiteX3" fmla="*/ 1787992 w 2242434"/>
                  <a:gd name="connsiteY3" fmla="*/ 1988512 h 2009178"/>
                  <a:gd name="connsiteX4" fmla="*/ 546046 w 2242434"/>
                  <a:gd name="connsiteY4" fmla="*/ 1579079 h 2009178"/>
                  <a:gd name="connsiteX5" fmla="*/ 135 w 2242434"/>
                  <a:gd name="connsiteY5" fmla="*/ 719270 h 2009178"/>
                  <a:gd name="connsiteX6" fmla="*/ 586989 w 2242434"/>
                  <a:gd name="connsiteY6" fmla="*/ 487258 h 2009178"/>
                  <a:gd name="connsiteX0" fmla="*/ 602616 w 2260356"/>
                  <a:gd name="connsiteY0" fmla="*/ 487258 h 2028895"/>
                  <a:gd name="connsiteX1" fmla="*/ 1285004 w 2260356"/>
                  <a:gd name="connsiteY1" fmla="*/ 9586 h 2028895"/>
                  <a:gd name="connsiteX2" fmla="*/ 2240347 w 2260356"/>
                  <a:gd name="connsiteY2" fmla="*/ 964931 h 2028895"/>
                  <a:gd name="connsiteX3" fmla="*/ 1803619 w 2260356"/>
                  <a:gd name="connsiteY3" fmla="*/ 1988512 h 2028895"/>
                  <a:gd name="connsiteX4" fmla="*/ 316014 w 2260356"/>
                  <a:gd name="connsiteY4" fmla="*/ 1715556 h 2028895"/>
                  <a:gd name="connsiteX5" fmla="*/ 15762 w 2260356"/>
                  <a:gd name="connsiteY5" fmla="*/ 719270 h 2028895"/>
                  <a:gd name="connsiteX6" fmla="*/ 602616 w 2260356"/>
                  <a:gd name="connsiteY6" fmla="*/ 487258 h 2028895"/>
                  <a:gd name="connsiteX0" fmla="*/ 1121883 w 2779623"/>
                  <a:gd name="connsiteY0" fmla="*/ 487386 h 2029023"/>
                  <a:gd name="connsiteX1" fmla="*/ 1804271 w 2779623"/>
                  <a:gd name="connsiteY1" fmla="*/ 9714 h 2029023"/>
                  <a:gd name="connsiteX2" fmla="*/ 2759614 w 2779623"/>
                  <a:gd name="connsiteY2" fmla="*/ 965059 h 2029023"/>
                  <a:gd name="connsiteX3" fmla="*/ 2322886 w 2779623"/>
                  <a:gd name="connsiteY3" fmla="*/ 1988640 h 2029023"/>
                  <a:gd name="connsiteX4" fmla="*/ 835281 w 2779623"/>
                  <a:gd name="connsiteY4" fmla="*/ 1715684 h 2029023"/>
                  <a:gd name="connsiteX5" fmla="*/ 2767 w 2779623"/>
                  <a:gd name="connsiteY5" fmla="*/ 760342 h 2029023"/>
                  <a:gd name="connsiteX6" fmla="*/ 1121883 w 2779623"/>
                  <a:gd name="connsiteY6" fmla="*/ 487386 h 2029023"/>
                  <a:gd name="connsiteX0" fmla="*/ 932037 w 2589777"/>
                  <a:gd name="connsiteY0" fmla="*/ 487518 h 2029155"/>
                  <a:gd name="connsiteX1" fmla="*/ 1614425 w 2589777"/>
                  <a:gd name="connsiteY1" fmla="*/ 9846 h 2029155"/>
                  <a:gd name="connsiteX2" fmla="*/ 2569768 w 2589777"/>
                  <a:gd name="connsiteY2" fmla="*/ 965191 h 2029155"/>
                  <a:gd name="connsiteX3" fmla="*/ 2133040 w 2589777"/>
                  <a:gd name="connsiteY3" fmla="*/ 1988772 h 2029155"/>
                  <a:gd name="connsiteX4" fmla="*/ 645435 w 2589777"/>
                  <a:gd name="connsiteY4" fmla="*/ 1715816 h 2029155"/>
                  <a:gd name="connsiteX5" fmla="*/ 3989 w 2589777"/>
                  <a:gd name="connsiteY5" fmla="*/ 801418 h 2029155"/>
                  <a:gd name="connsiteX6" fmla="*/ 932037 w 2589777"/>
                  <a:gd name="connsiteY6" fmla="*/ 487518 h 2029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89777" h="2029155">
                    <a:moveTo>
                      <a:pt x="932037" y="487518"/>
                    </a:moveTo>
                    <a:cubicBezTo>
                      <a:pt x="1200443" y="355589"/>
                      <a:pt x="1341470" y="-69766"/>
                      <a:pt x="1614425" y="9846"/>
                    </a:cubicBezTo>
                    <a:cubicBezTo>
                      <a:pt x="1887380" y="89458"/>
                      <a:pt x="2483332" y="635370"/>
                      <a:pt x="2569768" y="965191"/>
                    </a:cubicBezTo>
                    <a:cubicBezTo>
                      <a:pt x="2656204" y="1295012"/>
                      <a:pt x="2453762" y="1863668"/>
                      <a:pt x="2133040" y="1988772"/>
                    </a:cubicBezTo>
                    <a:cubicBezTo>
                      <a:pt x="1812318" y="2113876"/>
                      <a:pt x="943411" y="1927356"/>
                      <a:pt x="645435" y="1715816"/>
                    </a:cubicBezTo>
                    <a:cubicBezTo>
                      <a:pt x="347459" y="1504276"/>
                      <a:pt x="-43778" y="1006134"/>
                      <a:pt x="3989" y="801418"/>
                    </a:cubicBezTo>
                    <a:cubicBezTo>
                      <a:pt x="51756" y="596702"/>
                      <a:pt x="663631" y="619447"/>
                      <a:pt x="932037" y="487518"/>
                    </a:cubicBezTo>
                    <a:close/>
                  </a:path>
                </a:pathLst>
              </a:custGeom>
              <a:solidFill>
                <a:srgbClr val="2249CD">
                  <a:alpha val="36000"/>
                </a:srgb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70" name="Oval 69"/>
            <p:cNvSpPr/>
            <p:nvPr/>
          </p:nvSpPr>
          <p:spPr>
            <a:xfrm>
              <a:off x="4685317" y="3849059"/>
              <a:ext cx="72000" cy="72000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71" name="Straight Connector 70"/>
            <p:cNvCxnSpPr>
              <a:stCxn id="67" idx="2"/>
              <a:endCxn id="70" idx="7"/>
            </p:cNvCxnSpPr>
            <p:nvPr/>
          </p:nvCxnSpPr>
          <p:spPr>
            <a:xfrm>
              <a:off x="4724836" y="2600387"/>
              <a:ext cx="21937" cy="1259216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/>
          <p:cNvGrpSpPr/>
          <p:nvPr/>
        </p:nvGrpSpPr>
        <p:grpSpPr>
          <a:xfrm>
            <a:off x="4426051" y="1330917"/>
            <a:ext cx="3629744" cy="3020338"/>
            <a:chOff x="2902051" y="1330917"/>
            <a:chExt cx="3629744" cy="3020338"/>
          </a:xfrm>
        </p:grpSpPr>
        <p:grpSp>
          <p:nvGrpSpPr>
            <p:cNvPr id="11" name="Group 10"/>
            <p:cNvGrpSpPr/>
            <p:nvPr/>
          </p:nvGrpSpPr>
          <p:grpSpPr>
            <a:xfrm>
              <a:off x="2902051" y="1330917"/>
              <a:ext cx="1160059" cy="1269238"/>
              <a:chOff x="2388361" y="2169997"/>
              <a:chExt cx="4285397" cy="3766782"/>
            </a:xfrm>
          </p:grpSpPr>
          <p:sp>
            <p:nvSpPr>
              <p:cNvPr id="4" name="Rectangle 3"/>
              <p:cNvSpPr/>
              <p:nvPr/>
            </p:nvSpPr>
            <p:spPr>
              <a:xfrm>
                <a:off x="2388361" y="2169997"/>
                <a:ext cx="4285397" cy="3766782"/>
              </a:xfrm>
              <a:prstGeom prst="rect">
                <a:avLst/>
              </a:prstGeom>
              <a:solidFill>
                <a:schemeClr val="bg1"/>
              </a:solidFill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" name="Freeform 4"/>
              <p:cNvSpPr/>
              <p:nvPr/>
            </p:nvSpPr>
            <p:spPr>
              <a:xfrm>
                <a:off x="3005157" y="3166215"/>
                <a:ext cx="2729534" cy="1919913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9534" h="1919913">
                    <a:moveTo>
                      <a:pt x="1034582" y="341268"/>
                    </a:moveTo>
                    <a:cubicBezTo>
                      <a:pt x="1284791" y="238910"/>
                      <a:pt x="1230200" y="-68165"/>
                      <a:pt x="1512254" y="13722"/>
                    </a:cubicBezTo>
                    <a:cubicBezTo>
                      <a:pt x="1794308" y="95609"/>
                      <a:pt x="2679138" y="518690"/>
                      <a:pt x="2726905" y="832588"/>
                    </a:cubicBezTo>
                    <a:cubicBezTo>
                      <a:pt x="2774672" y="1146486"/>
                      <a:pt x="2160523" y="1787931"/>
                      <a:pt x="1798857" y="1897113"/>
                    </a:cubicBezTo>
                    <a:cubicBezTo>
                      <a:pt x="1437191" y="2006295"/>
                      <a:pt x="854887" y="1699220"/>
                      <a:pt x="556911" y="1487680"/>
                    </a:cubicBezTo>
                    <a:cubicBezTo>
                      <a:pt x="258935" y="1276140"/>
                      <a:pt x="-64063" y="816665"/>
                      <a:pt x="11000" y="627871"/>
                    </a:cubicBezTo>
                    <a:cubicBezTo>
                      <a:pt x="86063" y="439077"/>
                      <a:pt x="784373" y="443626"/>
                      <a:pt x="1034582" y="341268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6" name="Freeform 5"/>
              <p:cNvSpPr/>
              <p:nvPr/>
            </p:nvSpPr>
            <p:spPr>
              <a:xfrm>
                <a:off x="3458437" y="3383718"/>
                <a:ext cx="1883347" cy="1450022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  <a:gd name="connsiteX0" fmla="*/ 1034582 w 2242520"/>
                  <a:gd name="connsiteY0" fmla="*/ 343152 h 1919663"/>
                  <a:gd name="connsiteX1" fmla="*/ 1512254 w 2242520"/>
                  <a:gd name="connsiteY1" fmla="*/ 15606 h 1919663"/>
                  <a:gd name="connsiteX2" fmla="*/ 2235585 w 2242520"/>
                  <a:gd name="connsiteY2" fmla="*/ 875416 h 1919663"/>
                  <a:gd name="connsiteX3" fmla="*/ 1798857 w 2242520"/>
                  <a:gd name="connsiteY3" fmla="*/ 1898997 h 1919663"/>
                  <a:gd name="connsiteX4" fmla="*/ 556911 w 2242520"/>
                  <a:gd name="connsiteY4" fmla="*/ 1489564 h 1919663"/>
                  <a:gd name="connsiteX5" fmla="*/ 11000 w 2242520"/>
                  <a:gd name="connsiteY5" fmla="*/ 629755 h 1919663"/>
                  <a:gd name="connsiteX6" fmla="*/ 1034582 w 2242520"/>
                  <a:gd name="connsiteY6" fmla="*/ 343152 h 1919663"/>
                  <a:gd name="connsiteX0" fmla="*/ 1034582 w 2253299"/>
                  <a:gd name="connsiteY0" fmla="*/ 435985 h 2012496"/>
                  <a:gd name="connsiteX1" fmla="*/ 1280242 w 2253299"/>
                  <a:gd name="connsiteY1" fmla="*/ 12904 h 2012496"/>
                  <a:gd name="connsiteX2" fmla="*/ 2235585 w 2253299"/>
                  <a:gd name="connsiteY2" fmla="*/ 968249 h 2012496"/>
                  <a:gd name="connsiteX3" fmla="*/ 1798857 w 2253299"/>
                  <a:gd name="connsiteY3" fmla="*/ 1991830 h 2012496"/>
                  <a:gd name="connsiteX4" fmla="*/ 556911 w 2253299"/>
                  <a:gd name="connsiteY4" fmla="*/ 1582397 h 2012496"/>
                  <a:gd name="connsiteX5" fmla="*/ 11000 w 2253299"/>
                  <a:gd name="connsiteY5" fmla="*/ 722588 h 2012496"/>
                  <a:gd name="connsiteX6" fmla="*/ 1034582 w 2253299"/>
                  <a:gd name="connsiteY6" fmla="*/ 435985 h 2012496"/>
                  <a:gd name="connsiteX0" fmla="*/ 586989 w 2242434"/>
                  <a:gd name="connsiteY0" fmla="*/ 487258 h 2009178"/>
                  <a:gd name="connsiteX1" fmla="*/ 1269377 w 2242434"/>
                  <a:gd name="connsiteY1" fmla="*/ 9586 h 2009178"/>
                  <a:gd name="connsiteX2" fmla="*/ 2224720 w 2242434"/>
                  <a:gd name="connsiteY2" fmla="*/ 964931 h 2009178"/>
                  <a:gd name="connsiteX3" fmla="*/ 1787992 w 2242434"/>
                  <a:gd name="connsiteY3" fmla="*/ 1988512 h 2009178"/>
                  <a:gd name="connsiteX4" fmla="*/ 546046 w 2242434"/>
                  <a:gd name="connsiteY4" fmla="*/ 1579079 h 2009178"/>
                  <a:gd name="connsiteX5" fmla="*/ 135 w 2242434"/>
                  <a:gd name="connsiteY5" fmla="*/ 719270 h 2009178"/>
                  <a:gd name="connsiteX6" fmla="*/ 586989 w 2242434"/>
                  <a:gd name="connsiteY6" fmla="*/ 487258 h 2009178"/>
                  <a:gd name="connsiteX0" fmla="*/ 602616 w 2260356"/>
                  <a:gd name="connsiteY0" fmla="*/ 487258 h 2028895"/>
                  <a:gd name="connsiteX1" fmla="*/ 1285004 w 2260356"/>
                  <a:gd name="connsiteY1" fmla="*/ 9586 h 2028895"/>
                  <a:gd name="connsiteX2" fmla="*/ 2240347 w 2260356"/>
                  <a:gd name="connsiteY2" fmla="*/ 964931 h 2028895"/>
                  <a:gd name="connsiteX3" fmla="*/ 1803619 w 2260356"/>
                  <a:gd name="connsiteY3" fmla="*/ 1988512 h 2028895"/>
                  <a:gd name="connsiteX4" fmla="*/ 316014 w 2260356"/>
                  <a:gd name="connsiteY4" fmla="*/ 1715556 h 2028895"/>
                  <a:gd name="connsiteX5" fmla="*/ 15762 w 2260356"/>
                  <a:gd name="connsiteY5" fmla="*/ 719270 h 2028895"/>
                  <a:gd name="connsiteX6" fmla="*/ 602616 w 2260356"/>
                  <a:gd name="connsiteY6" fmla="*/ 487258 h 2028895"/>
                  <a:gd name="connsiteX0" fmla="*/ 1121883 w 2779623"/>
                  <a:gd name="connsiteY0" fmla="*/ 487386 h 2029023"/>
                  <a:gd name="connsiteX1" fmla="*/ 1804271 w 2779623"/>
                  <a:gd name="connsiteY1" fmla="*/ 9714 h 2029023"/>
                  <a:gd name="connsiteX2" fmla="*/ 2759614 w 2779623"/>
                  <a:gd name="connsiteY2" fmla="*/ 965059 h 2029023"/>
                  <a:gd name="connsiteX3" fmla="*/ 2322886 w 2779623"/>
                  <a:gd name="connsiteY3" fmla="*/ 1988640 h 2029023"/>
                  <a:gd name="connsiteX4" fmla="*/ 835281 w 2779623"/>
                  <a:gd name="connsiteY4" fmla="*/ 1715684 h 2029023"/>
                  <a:gd name="connsiteX5" fmla="*/ 2767 w 2779623"/>
                  <a:gd name="connsiteY5" fmla="*/ 760342 h 2029023"/>
                  <a:gd name="connsiteX6" fmla="*/ 1121883 w 2779623"/>
                  <a:gd name="connsiteY6" fmla="*/ 487386 h 2029023"/>
                  <a:gd name="connsiteX0" fmla="*/ 932037 w 2589777"/>
                  <a:gd name="connsiteY0" fmla="*/ 487518 h 2029155"/>
                  <a:gd name="connsiteX1" fmla="*/ 1614425 w 2589777"/>
                  <a:gd name="connsiteY1" fmla="*/ 9846 h 2029155"/>
                  <a:gd name="connsiteX2" fmla="*/ 2569768 w 2589777"/>
                  <a:gd name="connsiteY2" fmla="*/ 965191 h 2029155"/>
                  <a:gd name="connsiteX3" fmla="*/ 2133040 w 2589777"/>
                  <a:gd name="connsiteY3" fmla="*/ 1988772 h 2029155"/>
                  <a:gd name="connsiteX4" fmla="*/ 645435 w 2589777"/>
                  <a:gd name="connsiteY4" fmla="*/ 1715816 h 2029155"/>
                  <a:gd name="connsiteX5" fmla="*/ 3989 w 2589777"/>
                  <a:gd name="connsiteY5" fmla="*/ 801418 h 2029155"/>
                  <a:gd name="connsiteX6" fmla="*/ 932037 w 2589777"/>
                  <a:gd name="connsiteY6" fmla="*/ 487518 h 2029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89777" h="2029155">
                    <a:moveTo>
                      <a:pt x="932037" y="487518"/>
                    </a:moveTo>
                    <a:cubicBezTo>
                      <a:pt x="1200443" y="355589"/>
                      <a:pt x="1341470" y="-69766"/>
                      <a:pt x="1614425" y="9846"/>
                    </a:cubicBezTo>
                    <a:cubicBezTo>
                      <a:pt x="1887380" y="89458"/>
                      <a:pt x="2483332" y="635370"/>
                      <a:pt x="2569768" y="965191"/>
                    </a:cubicBezTo>
                    <a:cubicBezTo>
                      <a:pt x="2656204" y="1295012"/>
                      <a:pt x="2453762" y="1863668"/>
                      <a:pt x="2133040" y="1988772"/>
                    </a:cubicBezTo>
                    <a:cubicBezTo>
                      <a:pt x="1812318" y="2113876"/>
                      <a:pt x="943411" y="1927356"/>
                      <a:pt x="645435" y="1715816"/>
                    </a:cubicBezTo>
                    <a:cubicBezTo>
                      <a:pt x="347459" y="1504276"/>
                      <a:pt x="-43778" y="1006134"/>
                      <a:pt x="3989" y="801418"/>
                    </a:cubicBezTo>
                    <a:cubicBezTo>
                      <a:pt x="51756" y="596702"/>
                      <a:pt x="663631" y="619447"/>
                      <a:pt x="932037" y="487518"/>
                    </a:cubicBezTo>
                    <a:close/>
                  </a:path>
                </a:pathLst>
              </a:custGeom>
              <a:solidFill>
                <a:srgbClr val="2249CD">
                  <a:alpha val="36000"/>
                </a:srgb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40" name="Oval 39"/>
            <p:cNvSpPr/>
            <p:nvPr/>
          </p:nvSpPr>
          <p:spPr>
            <a:xfrm>
              <a:off x="3975014" y="3582615"/>
              <a:ext cx="72000" cy="72000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42" name="Straight Connector 41"/>
            <p:cNvCxnSpPr>
              <a:stCxn id="4" idx="2"/>
              <a:endCxn id="40" idx="0"/>
            </p:cNvCxnSpPr>
            <p:nvPr/>
          </p:nvCxnSpPr>
          <p:spPr>
            <a:xfrm>
              <a:off x="3482081" y="2600155"/>
              <a:ext cx="528933" cy="98246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4" name="Group 73"/>
            <p:cNvGrpSpPr/>
            <p:nvPr/>
          </p:nvGrpSpPr>
          <p:grpSpPr>
            <a:xfrm>
              <a:off x="5371736" y="1331151"/>
              <a:ext cx="1160059" cy="1269238"/>
              <a:chOff x="2388361" y="2169997"/>
              <a:chExt cx="4285397" cy="3766782"/>
            </a:xfrm>
          </p:grpSpPr>
          <p:sp>
            <p:nvSpPr>
              <p:cNvPr id="75" name="Rectangle 74"/>
              <p:cNvSpPr/>
              <p:nvPr/>
            </p:nvSpPr>
            <p:spPr>
              <a:xfrm>
                <a:off x="2388361" y="2169997"/>
                <a:ext cx="4285397" cy="3766782"/>
              </a:xfrm>
              <a:prstGeom prst="rect">
                <a:avLst/>
              </a:prstGeom>
              <a:solidFill>
                <a:schemeClr val="bg1"/>
              </a:solidFill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76" name="Freeform 75"/>
              <p:cNvSpPr/>
              <p:nvPr/>
            </p:nvSpPr>
            <p:spPr>
              <a:xfrm>
                <a:off x="3005157" y="3166215"/>
                <a:ext cx="2729534" cy="1919913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9534" h="1919913">
                    <a:moveTo>
                      <a:pt x="1034582" y="341268"/>
                    </a:moveTo>
                    <a:cubicBezTo>
                      <a:pt x="1284791" y="238910"/>
                      <a:pt x="1230200" y="-68165"/>
                      <a:pt x="1512254" y="13722"/>
                    </a:cubicBezTo>
                    <a:cubicBezTo>
                      <a:pt x="1794308" y="95609"/>
                      <a:pt x="2679138" y="518690"/>
                      <a:pt x="2726905" y="832588"/>
                    </a:cubicBezTo>
                    <a:cubicBezTo>
                      <a:pt x="2774672" y="1146486"/>
                      <a:pt x="2160523" y="1787931"/>
                      <a:pt x="1798857" y="1897113"/>
                    </a:cubicBezTo>
                    <a:cubicBezTo>
                      <a:pt x="1437191" y="2006295"/>
                      <a:pt x="854887" y="1699220"/>
                      <a:pt x="556911" y="1487680"/>
                    </a:cubicBezTo>
                    <a:cubicBezTo>
                      <a:pt x="258935" y="1276140"/>
                      <a:pt x="-64063" y="816665"/>
                      <a:pt x="11000" y="627871"/>
                    </a:cubicBezTo>
                    <a:cubicBezTo>
                      <a:pt x="86063" y="439077"/>
                      <a:pt x="784373" y="443626"/>
                      <a:pt x="1034582" y="341268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77" name="Freeform 76"/>
              <p:cNvSpPr/>
              <p:nvPr/>
            </p:nvSpPr>
            <p:spPr>
              <a:xfrm>
                <a:off x="3068197" y="2907798"/>
                <a:ext cx="3268025" cy="2195913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  <a:gd name="connsiteX0" fmla="*/ 1034582 w 2242520"/>
                  <a:gd name="connsiteY0" fmla="*/ 343152 h 1919663"/>
                  <a:gd name="connsiteX1" fmla="*/ 1512254 w 2242520"/>
                  <a:gd name="connsiteY1" fmla="*/ 15606 h 1919663"/>
                  <a:gd name="connsiteX2" fmla="*/ 2235585 w 2242520"/>
                  <a:gd name="connsiteY2" fmla="*/ 875416 h 1919663"/>
                  <a:gd name="connsiteX3" fmla="*/ 1798857 w 2242520"/>
                  <a:gd name="connsiteY3" fmla="*/ 1898997 h 1919663"/>
                  <a:gd name="connsiteX4" fmla="*/ 556911 w 2242520"/>
                  <a:gd name="connsiteY4" fmla="*/ 1489564 h 1919663"/>
                  <a:gd name="connsiteX5" fmla="*/ 11000 w 2242520"/>
                  <a:gd name="connsiteY5" fmla="*/ 629755 h 1919663"/>
                  <a:gd name="connsiteX6" fmla="*/ 1034582 w 2242520"/>
                  <a:gd name="connsiteY6" fmla="*/ 343152 h 1919663"/>
                  <a:gd name="connsiteX0" fmla="*/ 1034582 w 2253299"/>
                  <a:gd name="connsiteY0" fmla="*/ 435985 h 2012496"/>
                  <a:gd name="connsiteX1" fmla="*/ 1280242 w 2253299"/>
                  <a:gd name="connsiteY1" fmla="*/ 12904 h 2012496"/>
                  <a:gd name="connsiteX2" fmla="*/ 2235585 w 2253299"/>
                  <a:gd name="connsiteY2" fmla="*/ 968249 h 2012496"/>
                  <a:gd name="connsiteX3" fmla="*/ 1798857 w 2253299"/>
                  <a:gd name="connsiteY3" fmla="*/ 1991830 h 2012496"/>
                  <a:gd name="connsiteX4" fmla="*/ 556911 w 2253299"/>
                  <a:gd name="connsiteY4" fmla="*/ 1582397 h 2012496"/>
                  <a:gd name="connsiteX5" fmla="*/ 11000 w 2253299"/>
                  <a:gd name="connsiteY5" fmla="*/ 722588 h 2012496"/>
                  <a:gd name="connsiteX6" fmla="*/ 1034582 w 2253299"/>
                  <a:gd name="connsiteY6" fmla="*/ 435985 h 2012496"/>
                  <a:gd name="connsiteX0" fmla="*/ 586989 w 2242434"/>
                  <a:gd name="connsiteY0" fmla="*/ 487258 h 2009178"/>
                  <a:gd name="connsiteX1" fmla="*/ 1269377 w 2242434"/>
                  <a:gd name="connsiteY1" fmla="*/ 9586 h 2009178"/>
                  <a:gd name="connsiteX2" fmla="*/ 2224720 w 2242434"/>
                  <a:gd name="connsiteY2" fmla="*/ 964931 h 2009178"/>
                  <a:gd name="connsiteX3" fmla="*/ 1787992 w 2242434"/>
                  <a:gd name="connsiteY3" fmla="*/ 1988512 h 2009178"/>
                  <a:gd name="connsiteX4" fmla="*/ 546046 w 2242434"/>
                  <a:gd name="connsiteY4" fmla="*/ 1579079 h 2009178"/>
                  <a:gd name="connsiteX5" fmla="*/ 135 w 2242434"/>
                  <a:gd name="connsiteY5" fmla="*/ 719270 h 2009178"/>
                  <a:gd name="connsiteX6" fmla="*/ 586989 w 2242434"/>
                  <a:gd name="connsiteY6" fmla="*/ 487258 h 2009178"/>
                  <a:gd name="connsiteX0" fmla="*/ 602616 w 2260356"/>
                  <a:gd name="connsiteY0" fmla="*/ 487258 h 2028895"/>
                  <a:gd name="connsiteX1" fmla="*/ 1285004 w 2260356"/>
                  <a:gd name="connsiteY1" fmla="*/ 9586 h 2028895"/>
                  <a:gd name="connsiteX2" fmla="*/ 2240347 w 2260356"/>
                  <a:gd name="connsiteY2" fmla="*/ 964931 h 2028895"/>
                  <a:gd name="connsiteX3" fmla="*/ 1803619 w 2260356"/>
                  <a:gd name="connsiteY3" fmla="*/ 1988512 h 2028895"/>
                  <a:gd name="connsiteX4" fmla="*/ 316014 w 2260356"/>
                  <a:gd name="connsiteY4" fmla="*/ 1715556 h 2028895"/>
                  <a:gd name="connsiteX5" fmla="*/ 15762 w 2260356"/>
                  <a:gd name="connsiteY5" fmla="*/ 719270 h 2028895"/>
                  <a:gd name="connsiteX6" fmla="*/ 602616 w 2260356"/>
                  <a:gd name="connsiteY6" fmla="*/ 487258 h 2028895"/>
                  <a:gd name="connsiteX0" fmla="*/ 1121883 w 2779623"/>
                  <a:gd name="connsiteY0" fmla="*/ 487386 h 2029023"/>
                  <a:gd name="connsiteX1" fmla="*/ 1804271 w 2779623"/>
                  <a:gd name="connsiteY1" fmla="*/ 9714 h 2029023"/>
                  <a:gd name="connsiteX2" fmla="*/ 2759614 w 2779623"/>
                  <a:gd name="connsiteY2" fmla="*/ 965059 h 2029023"/>
                  <a:gd name="connsiteX3" fmla="*/ 2322886 w 2779623"/>
                  <a:gd name="connsiteY3" fmla="*/ 1988640 h 2029023"/>
                  <a:gd name="connsiteX4" fmla="*/ 835281 w 2779623"/>
                  <a:gd name="connsiteY4" fmla="*/ 1715684 h 2029023"/>
                  <a:gd name="connsiteX5" fmla="*/ 2767 w 2779623"/>
                  <a:gd name="connsiteY5" fmla="*/ 760342 h 2029023"/>
                  <a:gd name="connsiteX6" fmla="*/ 1121883 w 2779623"/>
                  <a:gd name="connsiteY6" fmla="*/ 487386 h 2029023"/>
                  <a:gd name="connsiteX0" fmla="*/ 932037 w 2589777"/>
                  <a:gd name="connsiteY0" fmla="*/ 487518 h 2029155"/>
                  <a:gd name="connsiteX1" fmla="*/ 1614425 w 2589777"/>
                  <a:gd name="connsiteY1" fmla="*/ 9846 h 2029155"/>
                  <a:gd name="connsiteX2" fmla="*/ 2569768 w 2589777"/>
                  <a:gd name="connsiteY2" fmla="*/ 965191 h 2029155"/>
                  <a:gd name="connsiteX3" fmla="*/ 2133040 w 2589777"/>
                  <a:gd name="connsiteY3" fmla="*/ 1988772 h 2029155"/>
                  <a:gd name="connsiteX4" fmla="*/ 645435 w 2589777"/>
                  <a:gd name="connsiteY4" fmla="*/ 1715816 h 2029155"/>
                  <a:gd name="connsiteX5" fmla="*/ 3989 w 2589777"/>
                  <a:gd name="connsiteY5" fmla="*/ 801418 h 2029155"/>
                  <a:gd name="connsiteX6" fmla="*/ 932037 w 2589777"/>
                  <a:gd name="connsiteY6" fmla="*/ 487518 h 2029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89777" h="2029155">
                    <a:moveTo>
                      <a:pt x="932037" y="487518"/>
                    </a:moveTo>
                    <a:cubicBezTo>
                      <a:pt x="1200443" y="355589"/>
                      <a:pt x="1341470" y="-69766"/>
                      <a:pt x="1614425" y="9846"/>
                    </a:cubicBezTo>
                    <a:cubicBezTo>
                      <a:pt x="1887380" y="89458"/>
                      <a:pt x="2483332" y="635370"/>
                      <a:pt x="2569768" y="965191"/>
                    </a:cubicBezTo>
                    <a:cubicBezTo>
                      <a:pt x="2656204" y="1295012"/>
                      <a:pt x="2453762" y="1863668"/>
                      <a:pt x="2133040" y="1988772"/>
                    </a:cubicBezTo>
                    <a:cubicBezTo>
                      <a:pt x="1812318" y="2113876"/>
                      <a:pt x="943411" y="1927356"/>
                      <a:pt x="645435" y="1715816"/>
                    </a:cubicBezTo>
                    <a:cubicBezTo>
                      <a:pt x="347459" y="1504276"/>
                      <a:pt x="-43778" y="1006134"/>
                      <a:pt x="3989" y="801418"/>
                    </a:cubicBezTo>
                    <a:cubicBezTo>
                      <a:pt x="51756" y="596702"/>
                      <a:pt x="663631" y="619447"/>
                      <a:pt x="932037" y="487518"/>
                    </a:cubicBezTo>
                    <a:close/>
                  </a:path>
                </a:pathLst>
              </a:custGeom>
              <a:solidFill>
                <a:srgbClr val="2249CD">
                  <a:alpha val="36000"/>
                </a:srgb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80" name="Oval 79"/>
            <p:cNvSpPr/>
            <p:nvPr/>
          </p:nvSpPr>
          <p:spPr>
            <a:xfrm>
              <a:off x="5184954" y="4279255"/>
              <a:ext cx="72000" cy="72000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81" name="Straight Connector 80"/>
            <p:cNvCxnSpPr>
              <a:stCxn id="75" idx="2"/>
              <a:endCxn id="80" idx="7"/>
            </p:cNvCxnSpPr>
            <p:nvPr/>
          </p:nvCxnSpPr>
          <p:spPr>
            <a:xfrm flipH="1">
              <a:off x="5246410" y="2600389"/>
              <a:ext cx="705356" cy="168941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/>
          <p:cNvSpPr txBox="1"/>
          <p:nvPr/>
        </p:nvSpPr>
        <p:spPr>
          <a:xfrm>
            <a:off x="7933580" y="4197635"/>
            <a:ext cx="254306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AREA BAJO LA CURVA</a:t>
            </a:r>
          </a:p>
          <a:p>
            <a:pPr algn="ctr"/>
            <a:endParaRPr lang="en-US" dirty="0">
              <a:latin typeface="Gill Sans MT" panose="020B0502020104020203" pitchFamily="34" charset="77"/>
            </a:endParaRPr>
          </a:p>
          <a:p>
            <a:pPr algn="ctr"/>
            <a:r>
              <a:rPr lang="en-US" dirty="0" err="1">
                <a:latin typeface="Gill Sans MT" panose="020B0502020104020203" pitchFamily="34" charset="77"/>
              </a:rPr>
              <a:t>mPA</a:t>
            </a:r>
            <a:endParaRPr lang="en-US" dirty="0">
              <a:latin typeface="Gill Sans MT" panose="020B0502020104020203" pitchFamily="34" charset="77"/>
            </a:endParaRPr>
          </a:p>
          <a:p>
            <a:pPr algn="ctr"/>
            <a:endParaRPr lang="en-US" dirty="0">
              <a:latin typeface="Gill Sans MT" panose="020B0502020104020203" pitchFamily="34" charset="77"/>
            </a:endParaRP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(mean Precision Average)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51D04E-242B-8E41-A545-E32C814FC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136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 animBg="1"/>
      <p:bldP spid="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772279" y="2101519"/>
            <a:ext cx="8734635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dirty="0">
                <a:latin typeface="Gill Sans MT" panose="020B0502020104020203" pitchFamily="34" charset="77"/>
              </a:rPr>
              <a:t>Curva</a:t>
            </a:r>
          </a:p>
          <a:p>
            <a:pPr algn="ctr"/>
            <a:r>
              <a:rPr lang="en-US" sz="6000" dirty="0">
                <a:latin typeface="Gill Sans MT" panose="020B0502020104020203" pitchFamily="34" charset="77"/>
              </a:rPr>
              <a:t>ROC</a:t>
            </a:r>
          </a:p>
          <a:p>
            <a:pPr algn="ctr"/>
            <a:r>
              <a:rPr lang="en-US" sz="4400" dirty="0">
                <a:latin typeface="Gill Sans MT" panose="020B0502020104020203" pitchFamily="34" charset="77"/>
              </a:rPr>
              <a:t>(Receiver Operation Characteristic)</a:t>
            </a:r>
          </a:p>
          <a:p>
            <a:pPr algn="ctr"/>
            <a:r>
              <a:rPr lang="en-US" sz="6000" dirty="0"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51CCD5-B1F7-8F43-B156-83105DF07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0892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912362" y="2169997"/>
            <a:ext cx="4285397" cy="376678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Freeform 4"/>
          <p:cNvSpPr/>
          <p:nvPr/>
        </p:nvSpPr>
        <p:spPr>
          <a:xfrm>
            <a:off x="4529157" y="3166216"/>
            <a:ext cx="2729534" cy="1919913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9534" h="1919913">
                <a:moveTo>
                  <a:pt x="1034582" y="341268"/>
                </a:moveTo>
                <a:cubicBezTo>
                  <a:pt x="1284791" y="238910"/>
                  <a:pt x="1230200" y="-68165"/>
                  <a:pt x="1512254" y="13722"/>
                </a:cubicBezTo>
                <a:cubicBezTo>
                  <a:pt x="1794308" y="95609"/>
                  <a:pt x="2679138" y="518690"/>
                  <a:pt x="2726905" y="832588"/>
                </a:cubicBezTo>
                <a:cubicBezTo>
                  <a:pt x="2774672" y="1146486"/>
                  <a:pt x="2160523" y="1787931"/>
                  <a:pt x="1798857" y="1897113"/>
                </a:cubicBezTo>
                <a:cubicBezTo>
                  <a:pt x="1437191" y="2006295"/>
                  <a:pt x="854887" y="1699220"/>
                  <a:pt x="556911" y="1487680"/>
                </a:cubicBezTo>
                <a:cubicBezTo>
                  <a:pt x="258935" y="1276140"/>
                  <a:pt x="-64063" y="816665"/>
                  <a:pt x="11000" y="627871"/>
                </a:cubicBezTo>
                <a:cubicBezTo>
                  <a:pt x="86063" y="439077"/>
                  <a:pt x="784373" y="443626"/>
                  <a:pt x="1034582" y="341268"/>
                </a:cubicBezTo>
                <a:close/>
              </a:path>
            </a:pathLst>
          </a:cu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/>
          <p:cNvSpPr/>
          <p:nvPr/>
        </p:nvSpPr>
        <p:spPr>
          <a:xfrm>
            <a:off x="4811400" y="3074556"/>
            <a:ext cx="2589777" cy="2029155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  <a:gd name="connsiteX0" fmla="*/ 1034582 w 2242520"/>
              <a:gd name="connsiteY0" fmla="*/ 343152 h 1919663"/>
              <a:gd name="connsiteX1" fmla="*/ 1512254 w 2242520"/>
              <a:gd name="connsiteY1" fmla="*/ 15606 h 1919663"/>
              <a:gd name="connsiteX2" fmla="*/ 2235585 w 2242520"/>
              <a:gd name="connsiteY2" fmla="*/ 875416 h 1919663"/>
              <a:gd name="connsiteX3" fmla="*/ 1798857 w 2242520"/>
              <a:gd name="connsiteY3" fmla="*/ 1898997 h 1919663"/>
              <a:gd name="connsiteX4" fmla="*/ 556911 w 2242520"/>
              <a:gd name="connsiteY4" fmla="*/ 1489564 h 1919663"/>
              <a:gd name="connsiteX5" fmla="*/ 11000 w 2242520"/>
              <a:gd name="connsiteY5" fmla="*/ 629755 h 1919663"/>
              <a:gd name="connsiteX6" fmla="*/ 1034582 w 2242520"/>
              <a:gd name="connsiteY6" fmla="*/ 343152 h 1919663"/>
              <a:gd name="connsiteX0" fmla="*/ 1034582 w 2253299"/>
              <a:gd name="connsiteY0" fmla="*/ 435985 h 2012496"/>
              <a:gd name="connsiteX1" fmla="*/ 1280242 w 2253299"/>
              <a:gd name="connsiteY1" fmla="*/ 12904 h 2012496"/>
              <a:gd name="connsiteX2" fmla="*/ 2235585 w 2253299"/>
              <a:gd name="connsiteY2" fmla="*/ 968249 h 2012496"/>
              <a:gd name="connsiteX3" fmla="*/ 1798857 w 2253299"/>
              <a:gd name="connsiteY3" fmla="*/ 1991830 h 2012496"/>
              <a:gd name="connsiteX4" fmla="*/ 556911 w 2253299"/>
              <a:gd name="connsiteY4" fmla="*/ 1582397 h 2012496"/>
              <a:gd name="connsiteX5" fmla="*/ 11000 w 2253299"/>
              <a:gd name="connsiteY5" fmla="*/ 722588 h 2012496"/>
              <a:gd name="connsiteX6" fmla="*/ 1034582 w 2253299"/>
              <a:gd name="connsiteY6" fmla="*/ 435985 h 2012496"/>
              <a:gd name="connsiteX0" fmla="*/ 586989 w 2242434"/>
              <a:gd name="connsiteY0" fmla="*/ 487258 h 2009178"/>
              <a:gd name="connsiteX1" fmla="*/ 1269377 w 2242434"/>
              <a:gd name="connsiteY1" fmla="*/ 9586 h 2009178"/>
              <a:gd name="connsiteX2" fmla="*/ 2224720 w 2242434"/>
              <a:gd name="connsiteY2" fmla="*/ 964931 h 2009178"/>
              <a:gd name="connsiteX3" fmla="*/ 1787992 w 2242434"/>
              <a:gd name="connsiteY3" fmla="*/ 1988512 h 2009178"/>
              <a:gd name="connsiteX4" fmla="*/ 546046 w 2242434"/>
              <a:gd name="connsiteY4" fmla="*/ 1579079 h 2009178"/>
              <a:gd name="connsiteX5" fmla="*/ 135 w 2242434"/>
              <a:gd name="connsiteY5" fmla="*/ 719270 h 2009178"/>
              <a:gd name="connsiteX6" fmla="*/ 586989 w 2242434"/>
              <a:gd name="connsiteY6" fmla="*/ 487258 h 2009178"/>
              <a:gd name="connsiteX0" fmla="*/ 602616 w 2260356"/>
              <a:gd name="connsiteY0" fmla="*/ 487258 h 2028895"/>
              <a:gd name="connsiteX1" fmla="*/ 1285004 w 2260356"/>
              <a:gd name="connsiteY1" fmla="*/ 9586 h 2028895"/>
              <a:gd name="connsiteX2" fmla="*/ 2240347 w 2260356"/>
              <a:gd name="connsiteY2" fmla="*/ 964931 h 2028895"/>
              <a:gd name="connsiteX3" fmla="*/ 1803619 w 2260356"/>
              <a:gd name="connsiteY3" fmla="*/ 1988512 h 2028895"/>
              <a:gd name="connsiteX4" fmla="*/ 316014 w 2260356"/>
              <a:gd name="connsiteY4" fmla="*/ 1715556 h 2028895"/>
              <a:gd name="connsiteX5" fmla="*/ 15762 w 2260356"/>
              <a:gd name="connsiteY5" fmla="*/ 719270 h 2028895"/>
              <a:gd name="connsiteX6" fmla="*/ 602616 w 2260356"/>
              <a:gd name="connsiteY6" fmla="*/ 487258 h 2028895"/>
              <a:gd name="connsiteX0" fmla="*/ 1121883 w 2779623"/>
              <a:gd name="connsiteY0" fmla="*/ 487386 h 2029023"/>
              <a:gd name="connsiteX1" fmla="*/ 1804271 w 2779623"/>
              <a:gd name="connsiteY1" fmla="*/ 9714 h 2029023"/>
              <a:gd name="connsiteX2" fmla="*/ 2759614 w 2779623"/>
              <a:gd name="connsiteY2" fmla="*/ 965059 h 2029023"/>
              <a:gd name="connsiteX3" fmla="*/ 2322886 w 2779623"/>
              <a:gd name="connsiteY3" fmla="*/ 1988640 h 2029023"/>
              <a:gd name="connsiteX4" fmla="*/ 835281 w 2779623"/>
              <a:gd name="connsiteY4" fmla="*/ 1715684 h 2029023"/>
              <a:gd name="connsiteX5" fmla="*/ 2767 w 2779623"/>
              <a:gd name="connsiteY5" fmla="*/ 760342 h 2029023"/>
              <a:gd name="connsiteX6" fmla="*/ 1121883 w 2779623"/>
              <a:gd name="connsiteY6" fmla="*/ 487386 h 2029023"/>
              <a:gd name="connsiteX0" fmla="*/ 932037 w 2589777"/>
              <a:gd name="connsiteY0" fmla="*/ 487518 h 2029155"/>
              <a:gd name="connsiteX1" fmla="*/ 1614425 w 2589777"/>
              <a:gd name="connsiteY1" fmla="*/ 9846 h 2029155"/>
              <a:gd name="connsiteX2" fmla="*/ 2569768 w 2589777"/>
              <a:gd name="connsiteY2" fmla="*/ 965191 h 2029155"/>
              <a:gd name="connsiteX3" fmla="*/ 2133040 w 2589777"/>
              <a:gd name="connsiteY3" fmla="*/ 1988772 h 2029155"/>
              <a:gd name="connsiteX4" fmla="*/ 645435 w 2589777"/>
              <a:gd name="connsiteY4" fmla="*/ 1715816 h 2029155"/>
              <a:gd name="connsiteX5" fmla="*/ 3989 w 2589777"/>
              <a:gd name="connsiteY5" fmla="*/ 801418 h 2029155"/>
              <a:gd name="connsiteX6" fmla="*/ 932037 w 2589777"/>
              <a:gd name="connsiteY6" fmla="*/ 487518 h 2029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89777" h="2029155">
                <a:moveTo>
                  <a:pt x="932037" y="487518"/>
                </a:moveTo>
                <a:cubicBezTo>
                  <a:pt x="1200443" y="355589"/>
                  <a:pt x="1341470" y="-69766"/>
                  <a:pt x="1614425" y="9846"/>
                </a:cubicBezTo>
                <a:cubicBezTo>
                  <a:pt x="1887380" y="89458"/>
                  <a:pt x="2483332" y="635370"/>
                  <a:pt x="2569768" y="965191"/>
                </a:cubicBezTo>
                <a:cubicBezTo>
                  <a:pt x="2656204" y="1295012"/>
                  <a:pt x="2453762" y="1863668"/>
                  <a:pt x="2133040" y="1988772"/>
                </a:cubicBezTo>
                <a:cubicBezTo>
                  <a:pt x="1812318" y="2113876"/>
                  <a:pt x="943411" y="1927356"/>
                  <a:pt x="645435" y="1715816"/>
                </a:cubicBezTo>
                <a:cubicBezTo>
                  <a:pt x="347459" y="1504276"/>
                  <a:pt x="-43778" y="1006134"/>
                  <a:pt x="3989" y="801418"/>
                </a:cubicBezTo>
                <a:cubicBezTo>
                  <a:pt x="51756" y="596702"/>
                  <a:pt x="663631" y="619447"/>
                  <a:pt x="932037" y="487518"/>
                </a:cubicBezTo>
                <a:close/>
              </a:path>
            </a:pathLst>
          </a:custGeom>
          <a:solidFill>
            <a:srgbClr val="2249CD">
              <a:alpha val="36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5926813" y="3954021"/>
            <a:ext cx="38824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925375" y="4529509"/>
            <a:ext cx="3609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FP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496066" y="3710637"/>
            <a:ext cx="4090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FN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07267" y="5132281"/>
            <a:ext cx="43313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TN</a:t>
            </a:r>
            <a:endParaRPr lang="en-US" sz="1400" dirty="0">
              <a:latin typeface="Gill Sans MT" panose="020B0502020104020203" pitchFamily="34" charset="7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851546" y="2866030"/>
            <a:ext cx="196560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</a:t>
            </a:r>
            <a:r>
              <a:rPr lang="en-US" dirty="0">
                <a:latin typeface="Gill Sans MT" panose="020B0502020104020203" pitchFamily="34" charset="77"/>
              </a:rPr>
              <a:t> = TP/(TP+FP)</a:t>
            </a:r>
          </a:p>
          <a:p>
            <a:r>
              <a:rPr lang="en-US" dirty="0">
                <a:latin typeface="Gill Sans MT" panose="020B0502020104020203" pitchFamily="34" charset="77"/>
              </a:rPr>
              <a:t>Re = TP/(TP+FN)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>
                <a:latin typeface="Gill Sans MT" panose="020B0502020104020203" pitchFamily="34" charset="77"/>
              </a:rPr>
              <a:t>TPR = TP/(TP+FN)</a:t>
            </a:r>
          </a:p>
          <a:p>
            <a:r>
              <a:rPr lang="en-US" dirty="0">
                <a:latin typeface="Gill Sans MT" panose="020B0502020104020203" pitchFamily="34" charset="77"/>
              </a:rPr>
              <a:t>FPR = FP/(TN+FP)</a:t>
            </a:r>
          </a:p>
          <a:p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/>
          <p:cNvCxnSpPr/>
          <p:nvPr/>
        </p:nvCxnSpPr>
        <p:spPr>
          <a:xfrm flipV="1">
            <a:off x="8702722" y="2593077"/>
            <a:ext cx="0" cy="1173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8620835" y="3659878"/>
            <a:ext cx="12123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61133" y="2507349"/>
            <a:ext cx="392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782526" y="3451321"/>
            <a:ext cx="4459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Re</a:t>
            </a:r>
          </a:p>
        </p:txBody>
      </p:sp>
      <p:cxnSp>
        <p:nvCxnSpPr>
          <p:cNvPr id="16" name="Curved Connector 15"/>
          <p:cNvCxnSpPr/>
          <p:nvPr/>
        </p:nvCxnSpPr>
        <p:spPr>
          <a:xfrm>
            <a:off x="8702723" y="2866030"/>
            <a:ext cx="900753" cy="793849"/>
          </a:xfrm>
          <a:prstGeom prst="curvedConnector3">
            <a:avLst>
              <a:gd name="adj1" fmla="val 86364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V="1">
            <a:off x="8702722" y="4775557"/>
            <a:ext cx="0" cy="1173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8620835" y="5842358"/>
            <a:ext cx="12123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661132" y="4689829"/>
            <a:ext cx="5806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TPR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2527" y="5633801"/>
            <a:ext cx="5501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FPR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1222" y="6004566"/>
            <a:ext cx="13045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Curva ROC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81352" y="3823196"/>
            <a:ext cx="22996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Curva Precision-Recall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F6BBB4B-7F97-1F47-AB98-BFC32B784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25</a:t>
            </a:fld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F96263-2B0E-3047-EC8E-9CECAD2840B0}"/>
              </a:ext>
            </a:extLst>
          </p:cNvPr>
          <p:cNvSpPr txBox="1"/>
          <p:nvPr/>
        </p:nvSpPr>
        <p:spPr>
          <a:xfrm>
            <a:off x="8495639" y="3618304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170D0F-E26A-7BD4-9CB2-415AA30727CA}"/>
              </a:ext>
            </a:extLst>
          </p:cNvPr>
          <p:cNvSpPr txBox="1"/>
          <p:nvPr/>
        </p:nvSpPr>
        <p:spPr>
          <a:xfrm>
            <a:off x="9469539" y="3635988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C622119-D288-77CD-A295-9446A5960239}"/>
              </a:ext>
            </a:extLst>
          </p:cNvPr>
          <p:cNvSpPr txBox="1"/>
          <p:nvPr/>
        </p:nvSpPr>
        <p:spPr>
          <a:xfrm>
            <a:off x="8461073" y="2767812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1BA300-600B-FB42-F753-EDC037A0B016}"/>
              </a:ext>
            </a:extLst>
          </p:cNvPr>
          <p:cNvSpPr txBox="1"/>
          <p:nvPr/>
        </p:nvSpPr>
        <p:spPr>
          <a:xfrm>
            <a:off x="8470239" y="5815404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Gill Sans MT" panose="020B0502020104020203" pitchFamily="34" charset="77"/>
              </a:rPr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A7026F2-B35C-3CB3-E141-7B9C30A69D8A}"/>
              </a:ext>
            </a:extLst>
          </p:cNvPr>
          <p:cNvSpPr txBox="1"/>
          <p:nvPr/>
        </p:nvSpPr>
        <p:spPr>
          <a:xfrm>
            <a:off x="9444139" y="5833088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A4E8FD-0EC5-B698-EF33-C818438C38E2}"/>
              </a:ext>
            </a:extLst>
          </p:cNvPr>
          <p:cNvSpPr txBox="1"/>
          <p:nvPr/>
        </p:nvSpPr>
        <p:spPr>
          <a:xfrm>
            <a:off x="8435673" y="4964912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899A2C-6C1D-5B17-F97C-F57C1481BC4E}"/>
              </a:ext>
            </a:extLst>
          </p:cNvPr>
          <p:cNvSpPr txBox="1"/>
          <p:nvPr/>
        </p:nvSpPr>
        <p:spPr>
          <a:xfrm>
            <a:off x="1687773" y="696035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Ejemplo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9BC7F5-9D3E-83BE-1F15-62AA4E9501CE}"/>
              </a:ext>
            </a:extLst>
          </p:cNvPr>
          <p:cNvSpPr txBox="1"/>
          <p:nvPr/>
        </p:nvSpPr>
        <p:spPr>
          <a:xfrm>
            <a:off x="5596513" y="564444"/>
            <a:ext cx="460510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magenta: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Verdareos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(TP)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azules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falsos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(FP)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rojos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falsos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(FN)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blancos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Verdaderos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(TN)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F0D478B-294D-C00D-DF1F-0BB5ED72A99B}"/>
              </a:ext>
            </a:extLst>
          </p:cNvPr>
          <p:cNvSpPr/>
          <p:nvPr/>
        </p:nvSpPr>
        <p:spPr>
          <a:xfrm>
            <a:off x="10208155" y="626555"/>
            <a:ext cx="245904" cy="252070"/>
          </a:xfrm>
          <a:prstGeom prst="rect">
            <a:avLst/>
          </a:prstGeom>
          <a:solidFill>
            <a:srgbClr val="9D2E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C07FE9-4E8E-19C9-8F8A-D26983790AA5}"/>
              </a:ext>
            </a:extLst>
          </p:cNvPr>
          <p:cNvSpPr/>
          <p:nvPr/>
        </p:nvSpPr>
        <p:spPr>
          <a:xfrm>
            <a:off x="10208155" y="935100"/>
            <a:ext cx="245904" cy="252070"/>
          </a:xfrm>
          <a:prstGeom prst="rect">
            <a:avLst/>
          </a:prstGeom>
          <a:solidFill>
            <a:srgbClr val="9AAB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EF4A51E-20E3-5FF6-6EAE-577FF740F0EC}"/>
              </a:ext>
            </a:extLst>
          </p:cNvPr>
          <p:cNvSpPr/>
          <p:nvPr/>
        </p:nvSpPr>
        <p:spPr>
          <a:xfrm>
            <a:off x="10203732" y="1241090"/>
            <a:ext cx="245904" cy="25207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6CCBDA1-0544-2817-4D53-442D419E848C}"/>
              </a:ext>
            </a:extLst>
          </p:cNvPr>
          <p:cNvSpPr/>
          <p:nvPr/>
        </p:nvSpPr>
        <p:spPr>
          <a:xfrm>
            <a:off x="10203732" y="1567121"/>
            <a:ext cx="245904" cy="25207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2" name="Arc 41">
            <a:extLst>
              <a:ext uri="{FF2B5EF4-FFF2-40B4-BE49-F238E27FC236}">
                <a16:creationId xmlns:a16="http://schemas.microsoft.com/office/drawing/2014/main" id="{AA4BE2E8-6782-D67B-AD72-7B584C68171B}"/>
              </a:ext>
            </a:extLst>
          </p:cNvPr>
          <p:cNvSpPr/>
          <p:nvPr/>
        </p:nvSpPr>
        <p:spPr>
          <a:xfrm>
            <a:off x="8711464" y="5086129"/>
            <a:ext cx="1981937" cy="1512924"/>
          </a:xfrm>
          <a:prstGeom prst="arc">
            <a:avLst>
              <a:gd name="adj1" fmla="val 10825595"/>
              <a:gd name="adj2" fmla="val 15872855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37010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912362" y="2169997"/>
            <a:ext cx="4285397" cy="376678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Freeform 4"/>
          <p:cNvSpPr/>
          <p:nvPr/>
        </p:nvSpPr>
        <p:spPr>
          <a:xfrm>
            <a:off x="4529157" y="3166216"/>
            <a:ext cx="2729534" cy="1919913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9534" h="1919913">
                <a:moveTo>
                  <a:pt x="1034582" y="341268"/>
                </a:moveTo>
                <a:cubicBezTo>
                  <a:pt x="1284791" y="238910"/>
                  <a:pt x="1230200" y="-68165"/>
                  <a:pt x="1512254" y="13722"/>
                </a:cubicBezTo>
                <a:cubicBezTo>
                  <a:pt x="1794308" y="95609"/>
                  <a:pt x="2679138" y="518690"/>
                  <a:pt x="2726905" y="832588"/>
                </a:cubicBezTo>
                <a:cubicBezTo>
                  <a:pt x="2774672" y="1146486"/>
                  <a:pt x="2160523" y="1787931"/>
                  <a:pt x="1798857" y="1897113"/>
                </a:cubicBezTo>
                <a:cubicBezTo>
                  <a:pt x="1437191" y="2006295"/>
                  <a:pt x="854887" y="1699220"/>
                  <a:pt x="556911" y="1487680"/>
                </a:cubicBezTo>
                <a:cubicBezTo>
                  <a:pt x="258935" y="1276140"/>
                  <a:pt x="-64063" y="816665"/>
                  <a:pt x="11000" y="627871"/>
                </a:cubicBezTo>
                <a:cubicBezTo>
                  <a:pt x="86063" y="439077"/>
                  <a:pt x="784373" y="443626"/>
                  <a:pt x="1034582" y="341268"/>
                </a:cubicBezTo>
                <a:close/>
              </a:path>
            </a:pathLst>
          </a:cu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/>
          <p:cNvSpPr/>
          <p:nvPr/>
        </p:nvSpPr>
        <p:spPr>
          <a:xfrm>
            <a:off x="4811400" y="3074556"/>
            <a:ext cx="2589777" cy="2029155"/>
          </a:xfrm>
          <a:custGeom>
            <a:avLst/>
            <a:gdLst>
              <a:gd name="connsiteX0" fmla="*/ 1034582 w 2729534"/>
              <a:gd name="connsiteY0" fmla="*/ 341268 h 1919913"/>
              <a:gd name="connsiteX1" fmla="*/ 1512254 w 2729534"/>
              <a:gd name="connsiteY1" fmla="*/ 13722 h 1919913"/>
              <a:gd name="connsiteX2" fmla="*/ 2726905 w 2729534"/>
              <a:gd name="connsiteY2" fmla="*/ 832588 h 1919913"/>
              <a:gd name="connsiteX3" fmla="*/ 1798857 w 2729534"/>
              <a:gd name="connsiteY3" fmla="*/ 1897113 h 1919913"/>
              <a:gd name="connsiteX4" fmla="*/ 556911 w 2729534"/>
              <a:gd name="connsiteY4" fmla="*/ 1487680 h 1919913"/>
              <a:gd name="connsiteX5" fmla="*/ 11000 w 2729534"/>
              <a:gd name="connsiteY5" fmla="*/ 627871 h 1919913"/>
              <a:gd name="connsiteX6" fmla="*/ 1034582 w 2729534"/>
              <a:gd name="connsiteY6" fmla="*/ 341268 h 1919913"/>
              <a:gd name="connsiteX0" fmla="*/ 1034582 w 2242520"/>
              <a:gd name="connsiteY0" fmla="*/ 343152 h 1919663"/>
              <a:gd name="connsiteX1" fmla="*/ 1512254 w 2242520"/>
              <a:gd name="connsiteY1" fmla="*/ 15606 h 1919663"/>
              <a:gd name="connsiteX2" fmla="*/ 2235585 w 2242520"/>
              <a:gd name="connsiteY2" fmla="*/ 875416 h 1919663"/>
              <a:gd name="connsiteX3" fmla="*/ 1798857 w 2242520"/>
              <a:gd name="connsiteY3" fmla="*/ 1898997 h 1919663"/>
              <a:gd name="connsiteX4" fmla="*/ 556911 w 2242520"/>
              <a:gd name="connsiteY4" fmla="*/ 1489564 h 1919663"/>
              <a:gd name="connsiteX5" fmla="*/ 11000 w 2242520"/>
              <a:gd name="connsiteY5" fmla="*/ 629755 h 1919663"/>
              <a:gd name="connsiteX6" fmla="*/ 1034582 w 2242520"/>
              <a:gd name="connsiteY6" fmla="*/ 343152 h 1919663"/>
              <a:gd name="connsiteX0" fmla="*/ 1034582 w 2253299"/>
              <a:gd name="connsiteY0" fmla="*/ 435985 h 2012496"/>
              <a:gd name="connsiteX1" fmla="*/ 1280242 w 2253299"/>
              <a:gd name="connsiteY1" fmla="*/ 12904 h 2012496"/>
              <a:gd name="connsiteX2" fmla="*/ 2235585 w 2253299"/>
              <a:gd name="connsiteY2" fmla="*/ 968249 h 2012496"/>
              <a:gd name="connsiteX3" fmla="*/ 1798857 w 2253299"/>
              <a:gd name="connsiteY3" fmla="*/ 1991830 h 2012496"/>
              <a:gd name="connsiteX4" fmla="*/ 556911 w 2253299"/>
              <a:gd name="connsiteY4" fmla="*/ 1582397 h 2012496"/>
              <a:gd name="connsiteX5" fmla="*/ 11000 w 2253299"/>
              <a:gd name="connsiteY5" fmla="*/ 722588 h 2012496"/>
              <a:gd name="connsiteX6" fmla="*/ 1034582 w 2253299"/>
              <a:gd name="connsiteY6" fmla="*/ 435985 h 2012496"/>
              <a:gd name="connsiteX0" fmla="*/ 586989 w 2242434"/>
              <a:gd name="connsiteY0" fmla="*/ 487258 h 2009178"/>
              <a:gd name="connsiteX1" fmla="*/ 1269377 w 2242434"/>
              <a:gd name="connsiteY1" fmla="*/ 9586 h 2009178"/>
              <a:gd name="connsiteX2" fmla="*/ 2224720 w 2242434"/>
              <a:gd name="connsiteY2" fmla="*/ 964931 h 2009178"/>
              <a:gd name="connsiteX3" fmla="*/ 1787992 w 2242434"/>
              <a:gd name="connsiteY3" fmla="*/ 1988512 h 2009178"/>
              <a:gd name="connsiteX4" fmla="*/ 546046 w 2242434"/>
              <a:gd name="connsiteY4" fmla="*/ 1579079 h 2009178"/>
              <a:gd name="connsiteX5" fmla="*/ 135 w 2242434"/>
              <a:gd name="connsiteY5" fmla="*/ 719270 h 2009178"/>
              <a:gd name="connsiteX6" fmla="*/ 586989 w 2242434"/>
              <a:gd name="connsiteY6" fmla="*/ 487258 h 2009178"/>
              <a:gd name="connsiteX0" fmla="*/ 602616 w 2260356"/>
              <a:gd name="connsiteY0" fmla="*/ 487258 h 2028895"/>
              <a:gd name="connsiteX1" fmla="*/ 1285004 w 2260356"/>
              <a:gd name="connsiteY1" fmla="*/ 9586 h 2028895"/>
              <a:gd name="connsiteX2" fmla="*/ 2240347 w 2260356"/>
              <a:gd name="connsiteY2" fmla="*/ 964931 h 2028895"/>
              <a:gd name="connsiteX3" fmla="*/ 1803619 w 2260356"/>
              <a:gd name="connsiteY3" fmla="*/ 1988512 h 2028895"/>
              <a:gd name="connsiteX4" fmla="*/ 316014 w 2260356"/>
              <a:gd name="connsiteY4" fmla="*/ 1715556 h 2028895"/>
              <a:gd name="connsiteX5" fmla="*/ 15762 w 2260356"/>
              <a:gd name="connsiteY5" fmla="*/ 719270 h 2028895"/>
              <a:gd name="connsiteX6" fmla="*/ 602616 w 2260356"/>
              <a:gd name="connsiteY6" fmla="*/ 487258 h 2028895"/>
              <a:gd name="connsiteX0" fmla="*/ 1121883 w 2779623"/>
              <a:gd name="connsiteY0" fmla="*/ 487386 h 2029023"/>
              <a:gd name="connsiteX1" fmla="*/ 1804271 w 2779623"/>
              <a:gd name="connsiteY1" fmla="*/ 9714 h 2029023"/>
              <a:gd name="connsiteX2" fmla="*/ 2759614 w 2779623"/>
              <a:gd name="connsiteY2" fmla="*/ 965059 h 2029023"/>
              <a:gd name="connsiteX3" fmla="*/ 2322886 w 2779623"/>
              <a:gd name="connsiteY3" fmla="*/ 1988640 h 2029023"/>
              <a:gd name="connsiteX4" fmla="*/ 835281 w 2779623"/>
              <a:gd name="connsiteY4" fmla="*/ 1715684 h 2029023"/>
              <a:gd name="connsiteX5" fmla="*/ 2767 w 2779623"/>
              <a:gd name="connsiteY5" fmla="*/ 760342 h 2029023"/>
              <a:gd name="connsiteX6" fmla="*/ 1121883 w 2779623"/>
              <a:gd name="connsiteY6" fmla="*/ 487386 h 2029023"/>
              <a:gd name="connsiteX0" fmla="*/ 932037 w 2589777"/>
              <a:gd name="connsiteY0" fmla="*/ 487518 h 2029155"/>
              <a:gd name="connsiteX1" fmla="*/ 1614425 w 2589777"/>
              <a:gd name="connsiteY1" fmla="*/ 9846 h 2029155"/>
              <a:gd name="connsiteX2" fmla="*/ 2569768 w 2589777"/>
              <a:gd name="connsiteY2" fmla="*/ 965191 h 2029155"/>
              <a:gd name="connsiteX3" fmla="*/ 2133040 w 2589777"/>
              <a:gd name="connsiteY3" fmla="*/ 1988772 h 2029155"/>
              <a:gd name="connsiteX4" fmla="*/ 645435 w 2589777"/>
              <a:gd name="connsiteY4" fmla="*/ 1715816 h 2029155"/>
              <a:gd name="connsiteX5" fmla="*/ 3989 w 2589777"/>
              <a:gd name="connsiteY5" fmla="*/ 801418 h 2029155"/>
              <a:gd name="connsiteX6" fmla="*/ 932037 w 2589777"/>
              <a:gd name="connsiteY6" fmla="*/ 487518 h 2029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89777" h="2029155">
                <a:moveTo>
                  <a:pt x="932037" y="487518"/>
                </a:moveTo>
                <a:cubicBezTo>
                  <a:pt x="1200443" y="355589"/>
                  <a:pt x="1341470" y="-69766"/>
                  <a:pt x="1614425" y="9846"/>
                </a:cubicBezTo>
                <a:cubicBezTo>
                  <a:pt x="1887380" y="89458"/>
                  <a:pt x="2483332" y="635370"/>
                  <a:pt x="2569768" y="965191"/>
                </a:cubicBezTo>
                <a:cubicBezTo>
                  <a:pt x="2656204" y="1295012"/>
                  <a:pt x="2453762" y="1863668"/>
                  <a:pt x="2133040" y="1988772"/>
                </a:cubicBezTo>
                <a:cubicBezTo>
                  <a:pt x="1812318" y="2113876"/>
                  <a:pt x="943411" y="1927356"/>
                  <a:pt x="645435" y="1715816"/>
                </a:cubicBezTo>
                <a:cubicBezTo>
                  <a:pt x="347459" y="1504276"/>
                  <a:pt x="-43778" y="1006134"/>
                  <a:pt x="3989" y="801418"/>
                </a:cubicBezTo>
                <a:cubicBezTo>
                  <a:pt x="51756" y="596702"/>
                  <a:pt x="663631" y="619447"/>
                  <a:pt x="932037" y="487518"/>
                </a:cubicBezTo>
                <a:close/>
              </a:path>
            </a:pathLst>
          </a:custGeom>
          <a:solidFill>
            <a:srgbClr val="2249CD">
              <a:alpha val="36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5926813" y="3954021"/>
            <a:ext cx="38824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TP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925375" y="4529509"/>
            <a:ext cx="3609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FP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496066" y="3710637"/>
            <a:ext cx="4090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FN</a:t>
            </a:r>
            <a:endParaRPr lang="en-US" sz="1400" dirty="0">
              <a:solidFill>
                <a:schemeClr val="bg1"/>
              </a:solidFill>
              <a:latin typeface="Gill Sans MT" panose="020B0502020104020203" pitchFamily="34" charset="7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07267" y="5132281"/>
            <a:ext cx="43313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TN</a:t>
            </a:r>
            <a:endParaRPr lang="en-US" sz="1400" dirty="0">
              <a:latin typeface="Gill Sans MT" panose="020B0502020104020203" pitchFamily="34" charset="7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851547" y="2866030"/>
            <a:ext cx="1965603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</a:t>
            </a:r>
            <a:r>
              <a:rPr lang="en-US" dirty="0">
                <a:latin typeface="Gill Sans MT" panose="020B0502020104020203" pitchFamily="34" charset="77"/>
              </a:rPr>
              <a:t> = TP/(TP+FP)</a:t>
            </a:r>
          </a:p>
          <a:p>
            <a:r>
              <a:rPr lang="en-US" dirty="0">
                <a:latin typeface="Gill Sans MT" panose="020B0502020104020203" pitchFamily="34" charset="77"/>
              </a:rPr>
              <a:t>Re = TP/(TP+FN)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>
                <a:latin typeface="Gill Sans MT" panose="020B0502020104020203" pitchFamily="34" charset="77"/>
              </a:rPr>
              <a:t>TPR = TP/(TP+FN)</a:t>
            </a:r>
          </a:p>
          <a:p>
            <a:r>
              <a:rPr lang="en-US" dirty="0">
                <a:latin typeface="Gill Sans MT" panose="020B0502020104020203" pitchFamily="34" charset="77"/>
              </a:rPr>
              <a:t>FPR = FP/(TN+FP)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>
                <a:latin typeface="Gill Sans MT" panose="020B0502020104020203" pitchFamily="34" charset="77"/>
              </a:rPr>
              <a:t>Sensitivity = TPR</a:t>
            </a:r>
          </a:p>
          <a:p>
            <a:r>
              <a:rPr lang="en-US" dirty="0">
                <a:latin typeface="Gill Sans MT" panose="020B0502020104020203" pitchFamily="34" charset="77"/>
              </a:rPr>
              <a:t>1-Specificity = FPR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 flipV="1">
            <a:off x="8702722" y="2593077"/>
            <a:ext cx="0" cy="1173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8620835" y="3659878"/>
            <a:ext cx="12123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61133" y="2507349"/>
            <a:ext cx="3924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782526" y="3451321"/>
            <a:ext cx="4459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Re</a:t>
            </a:r>
          </a:p>
        </p:txBody>
      </p:sp>
      <p:cxnSp>
        <p:nvCxnSpPr>
          <p:cNvPr id="16" name="Curved Connector 15"/>
          <p:cNvCxnSpPr/>
          <p:nvPr/>
        </p:nvCxnSpPr>
        <p:spPr>
          <a:xfrm>
            <a:off x="8702723" y="2866030"/>
            <a:ext cx="900753" cy="793849"/>
          </a:xfrm>
          <a:prstGeom prst="curvedConnector3">
            <a:avLst>
              <a:gd name="adj1" fmla="val 86364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9F81D13F-93AB-AD4A-842F-3B2FD7A30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26</a:t>
            </a:fld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1FE4A7-F164-BF27-BAA4-AF861B013054}"/>
              </a:ext>
            </a:extLst>
          </p:cNvPr>
          <p:cNvSpPr txBox="1"/>
          <p:nvPr/>
        </p:nvSpPr>
        <p:spPr>
          <a:xfrm>
            <a:off x="1687773" y="696035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Ejemplo</a:t>
            </a:r>
            <a:endParaRPr lang="en-US" sz="2800" dirty="0">
              <a:solidFill>
                <a:schemeClr val="accent2"/>
              </a:solidFill>
              <a:latin typeface="Gill Sans MT" panose="020B0502020104020203" pitchFamily="34" charset="77"/>
              <a:ea typeface="Trebuchet MS" charset="0"/>
              <a:cs typeface="Trebuchet MS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8E1BC5-A187-FAB3-A747-13D63FF06064}"/>
              </a:ext>
            </a:extLst>
          </p:cNvPr>
          <p:cNvSpPr/>
          <p:nvPr/>
        </p:nvSpPr>
        <p:spPr>
          <a:xfrm>
            <a:off x="8381352" y="3823196"/>
            <a:ext cx="22996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Curva Precision-Recall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26DD47-8132-08DA-32AA-5B52DA18222C}"/>
              </a:ext>
            </a:extLst>
          </p:cNvPr>
          <p:cNvSpPr txBox="1"/>
          <p:nvPr/>
        </p:nvSpPr>
        <p:spPr>
          <a:xfrm>
            <a:off x="5596513" y="564444"/>
            <a:ext cx="460510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magenta: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Verdareos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(TP)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azules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falsos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positivos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(FP)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rojos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falsos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(FN)
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Píxeles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blancos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: Verdaderos </a:t>
            </a:r>
            <a:r>
              <a:rPr lang="en-US" sz="2000" dirty="0" err="1">
                <a:latin typeface="Gill Sans MT" panose="020B0502020104020203" pitchFamily="34" charset="77"/>
                <a:ea typeface="Trebuchet MS" charset="0"/>
                <a:cs typeface="Trebuchet MS" charset="0"/>
              </a:rPr>
              <a:t>negativos</a:t>
            </a:r>
            <a:r>
              <a:rPr lang="en-US" sz="2000" dirty="0">
                <a:latin typeface="Gill Sans MT" panose="020B0502020104020203" pitchFamily="34" charset="77"/>
                <a:ea typeface="Trebuchet MS" charset="0"/>
                <a:cs typeface="Trebuchet MS" charset="0"/>
              </a:rPr>
              <a:t> (TN)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27FC9F5-0E66-C65D-919F-FF6C5E9B4F09}"/>
              </a:ext>
            </a:extLst>
          </p:cNvPr>
          <p:cNvSpPr/>
          <p:nvPr/>
        </p:nvSpPr>
        <p:spPr>
          <a:xfrm>
            <a:off x="10208155" y="626555"/>
            <a:ext cx="245904" cy="252070"/>
          </a:xfrm>
          <a:prstGeom prst="rect">
            <a:avLst/>
          </a:prstGeom>
          <a:solidFill>
            <a:srgbClr val="9D2E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CCD9F87-6FA5-6F11-3C32-CE1E625D977F}"/>
              </a:ext>
            </a:extLst>
          </p:cNvPr>
          <p:cNvSpPr/>
          <p:nvPr/>
        </p:nvSpPr>
        <p:spPr>
          <a:xfrm>
            <a:off x="10208155" y="935100"/>
            <a:ext cx="245904" cy="252070"/>
          </a:xfrm>
          <a:prstGeom prst="rect">
            <a:avLst/>
          </a:prstGeom>
          <a:solidFill>
            <a:srgbClr val="9AAB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D4612FC-001B-5210-326A-6F50979A41BA}"/>
              </a:ext>
            </a:extLst>
          </p:cNvPr>
          <p:cNvSpPr/>
          <p:nvPr/>
        </p:nvSpPr>
        <p:spPr>
          <a:xfrm>
            <a:off x="10203732" y="1241090"/>
            <a:ext cx="245904" cy="25207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7793983-438D-6454-49A3-8C1C19845945}"/>
              </a:ext>
            </a:extLst>
          </p:cNvPr>
          <p:cNvSpPr/>
          <p:nvPr/>
        </p:nvSpPr>
        <p:spPr>
          <a:xfrm>
            <a:off x="10203732" y="1567121"/>
            <a:ext cx="245904" cy="25207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C98BAFE-2016-5154-5621-E87F31E5E128}"/>
              </a:ext>
            </a:extLst>
          </p:cNvPr>
          <p:cNvCxnSpPr/>
          <p:nvPr/>
        </p:nvCxnSpPr>
        <p:spPr>
          <a:xfrm flipV="1">
            <a:off x="8702722" y="4775557"/>
            <a:ext cx="0" cy="1173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C44F100-C5CE-87E4-6E20-1AF5911FE0D6}"/>
              </a:ext>
            </a:extLst>
          </p:cNvPr>
          <p:cNvCxnSpPr/>
          <p:nvPr/>
        </p:nvCxnSpPr>
        <p:spPr>
          <a:xfrm>
            <a:off x="8620835" y="5842358"/>
            <a:ext cx="12123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FA50F-D27F-0181-A94C-5832732FE304}"/>
              </a:ext>
            </a:extLst>
          </p:cNvPr>
          <p:cNvSpPr/>
          <p:nvPr/>
        </p:nvSpPr>
        <p:spPr>
          <a:xfrm>
            <a:off x="8661132" y="4689829"/>
            <a:ext cx="5806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TPR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03DD095-6EF8-1730-6B38-02041F7C95B2}"/>
              </a:ext>
            </a:extLst>
          </p:cNvPr>
          <p:cNvSpPr/>
          <p:nvPr/>
        </p:nvSpPr>
        <p:spPr>
          <a:xfrm>
            <a:off x="9782527" y="5633801"/>
            <a:ext cx="5501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FPR</a:t>
            </a:r>
          </a:p>
        </p:txBody>
      </p:sp>
      <p:sp>
        <p:nvSpPr>
          <p:cNvPr id="42" name="Arc 41">
            <a:extLst>
              <a:ext uri="{FF2B5EF4-FFF2-40B4-BE49-F238E27FC236}">
                <a16:creationId xmlns:a16="http://schemas.microsoft.com/office/drawing/2014/main" id="{C92D02BC-ED07-81A5-620F-CC5A6BF8A15B}"/>
              </a:ext>
            </a:extLst>
          </p:cNvPr>
          <p:cNvSpPr/>
          <p:nvPr/>
        </p:nvSpPr>
        <p:spPr>
          <a:xfrm>
            <a:off x="8711464" y="5086129"/>
            <a:ext cx="1981937" cy="1512924"/>
          </a:xfrm>
          <a:prstGeom prst="arc">
            <a:avLst>
              <a:gd name="adj1" fmla="val 10825595"/>
              <a:gd name="adj2" fmla="val 15872855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FFEE5E0-8669-3E63-0AAE-269C70335FBB}"/>
              </a:ext>
            </a:extLst>
          </p:cNvPr>
          <p:cNvSpPr/>
          <p:nvPr/>
        </p:nvSpPr>
        <p:spPr>
          <a:xfrm>
            <a:off x="8761222" y="6004566"/>
            <a:ext cx="13045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Curva ROC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722FF9A-D38A-C085-8B03-FB7F57CBBF86}"/>
              </a:ext>
            </a:extLst>
          </p:cNvPr>
          <p:cNvSpPr txBox="1"/>
          <p:nvPr/>
        </p:nvSpPr>
        <p:spPr>
          <a:xfrm>
            <a:off x="8470239" y="5815404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Gill Sans MT" panose="020B0502020104020203" pitchFamily="34" charset="77"/>
              </a:rPr>
              <a:t>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025522-16CF-9492-8B03-E4C9FAC35FBF}"/>
              </a:ext>
            </a:extLst>
          </p:cNvPr>
          <p:cNvSpPr txBox="1"/>
          <p:nvPr/>
        </p:nvSpPr>
        <p:spPr>
          <a:xfrm>
            <a:off x="9444139" y="5833088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43EF6B-76B2-E828-095D-8B2CF8B0F468}"/>
              </a:ext>
            </a:extLst>
          </p:cNvPr>
          <p:cNvSpPr txBox="1"/>
          <p:nvPr/>
        </p:nvSpPr>
        <p:spPr>
          <a:xfrm>
            <a:off x="8435673" y="4964912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1FD330-1CD6-9206-152F-472B393A54A1}"/>
              </a:ext>
            </a:extLst>
          </p:cNvPr>
          <p:cNvSpPr txBox="1"/>
          <p:nvPr/>
        </p:nvSpPr>
        <p:spPr>
          <a:xfrm>
            <a:off x="8495639" y="3618304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900407-CDDE-19FE-4F3F-7AD6439819AE}"/>
              </a:ext>
            </a:extLst>
          </p:cNvPr>
          <p:cNvSpPr txBox="1"/>
          <p:nvPr/>
        </p:nvSpPr>
        <p:spPr>
          <a:xfrm>
            <a:off x="9469539" y="3635988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AA8F551-1A41-284F-7AD9-57B7F5811926}"/>
              </a:ext>
            </a:extLst>
          </p:cNvPr>
          <p:cNvSpPr txBox="1"/>
          <p:nvPr/>
        </p:nvSpPr>
        <p:spPr>
          <a:xfrm>
            <a:off x="8461073" y="2767812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985432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Freeform 82"/>
          <p:cNvSpPr/>
          <p:nvPr/>
        </p:nvSpPr>
        <p:spPr>
          <a:xfrm flipH="1">
            <a:off x="4570503" y="3580834"/>
            <a:ext cx="2639827" cy="2481581"/>
          </a:xfrm>
          <a:custGeom>
            <a:avLst/>
            <a:gdLst>
              <a:gd name="connsiteX0" fmla="*/ 0 w 2303469"/>
              <a:gd name="connsiteY0" fmla="*/ 0 h 2523281"/>
              <a:gd name="connsiteX1" fmla="*/ 1030147 w 2303469"/>
              <a:gd name="connsiteY1" fmla="*/ 69448 h 2523281"/>
              <a:gd name="connsiteX2" fmla="*/ 1516284 w 2303469"/>
              <a:gd name="connsiteY2" fmla="*/ 312516 h 2523281"/>
              <a:gd name="connsiteX3" fmla="*/ 2071869 w 2303469"/>
              <a:gd name="connsiteY3" fmla="*/ 983848 h 2523281"/>
              <a:gd name="connsiteX4" fmla="*/ 2268638 w 2303469"/>
              <a:gd name="connsiteY4" fmla="*/ 2106592 h 2523281"/>
              <a:gd name="connsiteX5" fmla="*/ 2303362 w 2303469"/>
              <a:gd name="connsiteY5" fmla="*/ 2523281 h 2523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03469" h="2523281">
                <a:moveTo>
                  <a:pt x="0" y="0"/>
                </a:moveTo>
                <a:cubicBezTo>
                  <a:pt x="388716" y="8681"/>
                  <a:pt x="777433" y="17362"/>
                  <a:pt x="1030147" y="69448"/>
                </a:cubicBezTo>
                <a:cubicBezTo>
                  <a:pt x="1282861" y="121534"/>
                  <a:pt x="1342664" y="160116"/>
                  <a:pt x="1516284" y="312516"/>
                </a:cubicBezTo>
                <a:cubicBezTo>
                  <a:pt x="1689904" y="464916"/>
                  <a:pt x="1946477" y="684835"/>
                  <a:pt x="2071869" y="983848"/>
                </a:cubicBezTo>
                <a:cubicBezTo>
                  <a:pt x="2197261" y="1282861"/>
                  <a:pt x="2230056" y="1850020"/>
                  <a:pt x="2268638" y="2106592"/>
                </a:cubicBezTo>
                <a:cubicBezTo>
                  <a:pt x="2307220" y="2363164"/>
                  <a:pt x="2303362" y="2523281"/>
                  <a:pt x="2303362" y="2523281"/>
                </a:cubicBezTo>
              </a:path>
            </a:pathLst>
          </a:custGeom>
          <a:noFill/>
          <a:ln w="38100">
            <a:solidFill>
              <a:srgbClr val="00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90" name="Group 89"/>
          <p:cNvGrpSpPr/>
          <p:nvPr/>
        </p:nvGrpSpPr>
        <p:grpSpPr>
          <a:xfrm>
            <a:off x="5979412" y="237171"/>
            <a:ext cx="4027598" cy="882603"/>
            <a:chOff x="365047" y="202393"/>
            <a:chExt cx="4027598" cy="882603"/>
          </a:xfrm>
        </p:grpSpPr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9856" y="202393"/>
              <a:ext cx="1308100" cy="838001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365047" y="436728"/>
              <a:ext cx="306365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           FPR =                     =  </a:t>
              </a:r>
            </a:p>
          </p:txBody>
        </p:sp>
        <p:cxnSp>
          <p:nvCxnSpPr>
            <p:cNvPr id="17" name="Straight Connector 16"/>
            <p:cNvCxnSpPr/>
            <p:nvPr/>
          </p:nvCxnSpPr>
          <p:spPr>
            <a:xfrm>
              <a:off x="3384645" y="621394"/>
              <a:ext cx="100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/>
            <p:cNvSpPr/>
            <p:nvPr/>
          </p:nvSpPr>
          <p:spPr>
            <a:xfrm>
              <a:off x="3459325" y="774032"/>
              <a:ext cx="245904" cy="25207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043646" y="774032"/>
              <a:ext cx="245904" cy="252070"/>
            </a:xfrm>
            <a:prstGeom prst="rect">
              <a:avLst/>
            </a:prstGeom>
            <a:solidFill>
              <a:srgbClr val="9AABD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729243" y="216687"/>
              <a:ext cx="245904" cy="252070"/>
            </a:xfrm>
            <a:prstGeom prst="rect">
              <a:avLst/>
            </a:prstGeom>
            <a:solidFill>
              <a:srgbClr val="9AABD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705229" y="715664"/>
              <a:ext cx="3193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+</a:t>
              </a:r>
            </a:p>
          </p:txBody>
        </p:sp>
      </p:grpSp>
      <p:grpSp>
        <p:nvGrpSpPr>
          <p:cNvPr id="91" name="Group 90"/>
          <p:cNvGrpSpPr/>
          <p:nvPr/>
        </p:nvGrpSpPr>
        <p:grpSpPr>
          <a:xfrm>
            <a:off x="1782092" y="208696"/>
            <a:ext cx="4103798" cy="878572"/>
            <a:chOff x="4685709" y="208696"/>
            <a:chExt cx="4103798" cy="878572"/>
          </a:xfrm>
        </p:grpSpPr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82811" y="208696"/>
              <a:ext cx="1384300" cy="8763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4685709" y="439000"/>
              <a:ext cx="31935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           TPR =                       =  </a:t>
              </a:r>
            </a:p>
          </p:txBody>
        </p:sp>
        <p:cxnSp>
          <p:nvCxnSpPr>
            <p:cNvPr id="28" name="Straight Connector 27"/>
            <p:cNvCxnSpPr/>
            <p:nvPr/>
          </p:nvCxnSpPr>
          <p:spPr>
            <a:xfrm>
              <a:off x="7781507" y="623666"/>
              <a:ext cx="100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tangle 28"/>
            <p:cNvSpPr/>
            <p:nvPr/>
          </p:nvSpPr>
          <p:spPr>
            <a:xfrm>
              <a:off x="7856187" y="776304"/>
              <a:ext cx="245904" cy="252070"/>
            </a:xfrm>
            <a:prstGeom prst="rect">
              <a:avLst/>
            </a:prstGeom>
            <a:solidFill>
              <a:srgbClr val="9D2E5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440508" y="776304"/>
              <a:ext cx="245904" cy="25207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8126105" y="218959"/>
              <a:ext cx="245904" cy="252070"/>
            </a:xfrm>
            <a:prstGeom prst="rect">
              <a:avLst/>
            </a:prstGeom>
            <a:solidFill>
              <a:srgbClr val="9D2E5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102091" y="717936"/>
              <a:ext cx="3193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+</a:t>
              </a:r>
            </a:p>
          </p:txBody>
        </p:sp>
      </p:grpSp>
      <p:cxnSp>
        <p:nvCxnSpPr>
          <p:cNvPr id="34" name="Straight Arrow Connector 33"/>
          <p:cNvCxnSpPr/>
          <p:nvPr/>
        </p:nvCxnSpPr>
        <p:spPr>
          <a:xfrm flipV="1">
            <a:off x="4528352" y="3311655"/>
            <a:ext cx="0" cy="29206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4303358" y="6073256"/>
            <a:ext cx="3271372" cy="459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 rot="16200000">
            <a:off x="3347479" y="4374650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11601" y="6253028"/>
            <a:ext cx="961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FPR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2725" y="6250672"/>
            <a:ext cx="3557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0                                                 1</a:t>
            </a:r>
          </a:p>
        </p:txBody>
      </p:sp>
      <p:cxnSp>
        <p:nvCxnSpPr>
          <p:cNvPr id="47" name="Straight Connector 46"/>
          <p:cNvCxnSpPr/>
          <p:nvPr/>
        </p:nvCxnSpPr>
        <p:spPr>
          <a:xfrm>
            <a:off x="7210331" y="6045959"/>
            <a:ext cx="0" cy="1590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 flipV="1">
            <a:off x="4428453" y="3586878"/>
            <a:ext cx="1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013249" y="340595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1</a:t>
            </a:r>
          </a:p>
        </p:txBody>
      </p:sp>
      <p:grpSp>
        <p:nvGrpSpPr>
          <p:cNvPr id="87" name="Group 86"/>
          <p:cNvGrpSpPr/>
          <p:nvPr/>
        </p:nvGrpSpPr>
        <p:grpSpPr>
          <a:xfrm>
            <a:off x="6807253" y="1329224"/>
            <a:ext cx="2485101" cy="2305015"/>
            <a:chOff x="5283252" y="1329223"/>
            <a:chExt cx="2485101" cy="2305015"/>
          </a:xfrm>
        </p:grpSpPr>
        <p:grpSp>
          <p:nvGrpSpPr>
            <p:cNvPr id="52" name="Group 51"/>
            <p:cNvGrpSpPr/>
            <p:nvPr/>
          </p:nvGrpSpPr>
          <p:grpSpPr>
            <a:xfrm>
              <a:off x="6608294" y="1329223"/>
              <a:ext cx="1160059" cy="1269238"/>
              <a:chOff x="2388361" y="2169997"/>
              <a:chExt cx="4285397" cy="3766782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2388361" y="2169997"/>
                <a:ext cx="4285397" cy="3766782"/>
              </a:xfrm>
              <a:prstGeom prst="rect">
                <a:avLst/>
              </a:prstGeom>
              <a:solidFill>
                <a:schemeClr val="bg1"/>
              </a:solidFill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4" name="Freeform 53"/>
              <p:cNvSpPr/>
              <p:nvPr/>
            </p:nvSpPr>
            <p:spPr>
              <a:xfrm>
                <a:off x="3005157" y="3166215"/>
                <a:ext cx="2729534" cy="1919913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9534" h="1919913">
                    <a:moveTo>
                      <a:pt x="1034582" y="341268"/>
                    </a:moveTo>
                    <a:cubicBezTo>
                      <a:pt x="1284791" y="238910"/>
                      <a:pt x="1230200" y="-68165"/>
                      <a:pt x="1512254" y="13722"/>
                    </a:cubicBezTo>
                    <a:cubicBezTo>
                      <a:pt x="1794308" y="95609"/>
                      <a:pt x="2679138" y="518690"/>
                      <a:pt x="2726905" y="832588"/>
                    </a:cubicBezTo>
                    <a:cubicBezTo>
                      <a:pt x="2774672" y="1146486"/>
                      <a:pt x="2160523" y="1787931"/>
                      <a:pt x="1798857" y="1897113"/>
                    </a:cubicBezTo>
                    <a:cubicBezTo>
                      <a:pt x="1437191" y="2006295"/>
                      <a:pt x="854887" y="1699220"/>
                      <a:pt x="556911" y="1487680"/>
                    </a:cubicBezTo>
                    <a:cubicBezTo>
                      <a:pt x="258935" y="1276140"/>
                      <a:pt x="-64063" y="816665"/>
                      <a:pt x="11000" y="627871"/>
                    </a:cubicBezTo>
                    <a:cubicBezTo>
                      <a:pt x="86063" y="439077"/>
                      <a:pt x="784373" y="443626"/>
                      <a:pt x="1034582" y="341268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5" name="Freeform 54"/>
              <p:cNvSpPr/>
              <p:nvPr/>
            </p:nvSpPr>
            <p:spPr>
              <a:xfrm>
                <a:off x="2929642" y="2363910"/>
                <a:ext cx="3421845" cy="3024829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  <a:gd name="connsiteX0" fmla="*/ 1034582 w 2242520"/>
                  <a:gd name="connsiteY0" fmla="*/ 343152 h 1919663"/>
                  <a:gd name="connsiteX1" fmla="*/ 1512254 w 2242520"/>
                  <a:gd name="connsiteY1" fmla="*/ 15606 h 1919663"/>
                  <a:gd name="connsiteX2" fmla="*/ 2235585 w 2242520"/>
                  <a:gd name="connsiteY2" fmla="*/ 875416 h 1919663"/>
                  <a:gd name="connsiteX3" fmla="*/ 1798857 w 2242520"/>
                  <a:gd name="connsiteY3" fmla="*/ 1898997 h 1919663"/>
                  <a:gd name="connsiteX4" fmla="*/ 556911 w 2242520"/>
                  <a:gd name="connsiteY4" fmla="*/ 1489564 h 1919663"/>
                  <a:gd name="connsiteX5" fmla="*/ 11000 w 2242520"/>
                  <a:gd name="connsiteY5" fmla="*/ 629755 h 1919663"/>
                  <a:gd name="connsiteX6" fmla="*/ 1034582 w 2242520"/>
                  <a:gd name="connsiteY6" fmla="*/ 343152 h 1919663"/>
                  <a:gd name="connsiteX0" fmla="*/ 1034582 w 2253299"/>
                  <a:gd name="connsiteY0" fmla="*/ 435985 h 2012496"/>
                  <a:gd name="connsiteX1" fmla="*/ 1280242 w 2253299"/>
                  <a:gd name="connsiteY1" fmla="*/ 12904 h 2012496"/>
                  <a:gd name="connsiteX2" fmla="*/ 2235585 w 2253299"/>
                  <a:gd name="connsiteY2" fmla="*/ 968249 h 2012496"/>
                  <a:gd name="connsiteX3" fmla="*/ 1798857 w 2253299"/>
                  <a:gd name="connsiteY3" fmla="*/ 1991830 h 2012496"/>
                  <a:gd name="connsiteX4" fmla="*/ 556911 w 2253299"/>
                  <a:gd name="connsiteY4" fmla="*/ 1582397 h 2012496"/>
                  <a:gd name="connsiteX5" fmla="*/ 11000 w 2253299"/>
                  <a:gd name="connsiteY5" fmla="*/ 722588 h 2012496"/>
                  <a:gd name="connsiteX6" fmla="*/ 1034582 w 2253299"/>
                  <a:gd name="connsiteY6" fmla="*/ 435985 h 2012496"/>
                  <a:gd name="connsiteX0" fmla="*/ 586989 w 2242434"/>
                  <a:gd name="connsiteY0" fmla="*/ 487258 h 2009178"/>
                  <a:gd name="connsiteX1" fmla="*/ 1269377 w 2242434"/>
                  <a:gd name="connsiteY1" fmla="*/ 9586 h 2009178"/>
                  <a:gd name="connsiteX2" fmla="*/ 2224720 w 2242434"/>
                  <a:gd name="connsiteY2" fmla="*/ 964931 h 2009178"/>
                  <a:gd name="connsiteX3" fmla="*/ 1787992 w 2242434"/>
                  <a:gd name="connsiteY3" fmla="*/ 1988512 h 2009178"/>
                  <a:gd name="connsiteX4" fmla="*/ 546046 w 2242434"/>
                  <a:gd name="connsiteY4" fmla="*/ 1579079 h 2009178"/>
                  <a:gd name="connsiteX5" fmla="*/ 135 w 2242434"/>
                  <a:gd name="connsiteY5" fmla="*/ 719270 h 2009178"/>
                  <a:gd name="connsiteX6" fmla="*/ 586989 w 2242434"/>
                  <a:gd name="connsiteY6" fmla="*/ 487258 h 2009178"/>
                  <a:gd name="connsiteX0" fmla="*/ 602616 w 2260356"/>
                  <a:gd name="connsiteY0" fmla="*/ 487258 h 2028895"/>
                  <a:gd name="connsiteX1" fmla="*/ 1285004 w 2260356"/>
                  <a:gd name="connsiteY1" fmla="*/ 9586 h 2028895"/>
                  <a:gd name="connsiteX2" fmla="*/ 2240347 w 2260356"/>
                  <a:gd name="connsiteY2" fmla="*/ 964931 h 2028895"/>
                  <a:gd name="connsiteX3" fmla="*/ 1803619 w 2260356"/>
                  <a:gd name="connsiteY3" fmla="*/ 1988512 h 2028895"/>
                  <a:gd name="connsiteX4" fmla="*/ 316014 w 2260356"/>
                  <a:gd name="connsiteY4" fmla="*/ 1715556 h 2028895"/>
                  <a:gd name="connsiteX5" fmla="*/ 15762 w 2260356"/>
                  <a:gd name="connsiteY5" fmla="*/ 719270 h 2028895"/>
                  <a:gd name="connsiteX6" fmla="*/ 602616 w 2260356"/>
                  <a:gd name="connsiteY6" fmla="*/ 487258 h 2028895"/>
                  <a:gd name="connsiteX0" fmla="*/ 1121883 w 2779623"/>
                  <a:gd name="connsiteY0" fmla="*/ 487386 h 2029023"/>
                  <a:gd name="connsiteX1" fmla="*/ 1804271 w 2779623"/>
                  <a:gd name="connsiteY1" fmla="*/ 9714 h 2029023"/>
                  <a:gd name="connsiteX2" fmla="*/ 2759614 w 2779623"/>
                  <a:gd name="connsiteY2" fmla="*/ 965059 h 2029023"/>
                  <a:gd name="connsiteX3" fmla="*/ 2322886 w 2779623"/>
                  <a:gd name="connsiteY3" fmla="*/ 1988640 h 2029023"/>
                  <a:gd name="connsiteX4" fmla="*/ 835281 w 2779623"/>
                  <a:gd name="connsiteY4" fmla="*/ 1715684 h 2029023"/>
                  <a:gd name="connsiteX5" fmla="*/ 2767 w 2779623"/>
                  <a:gd name="connsiteY5" fmla="*/ 760342 h 2029023"/>
                  <a:gd name="connsiteX6" fmla="*/ 1121883 w 2779623"/>
                  <a:gd name="connsiteY6" fmla="*/ 487386 h 2029023"/>
                  <a:gd name="connsiteX0" fmla="*/ 932037 w 2589777"/>
                  <a:gd name="connsiteY0" fmla="*/ 487518 h 2029155"/>
                  <a:gd name="connsiteX1" fmla="*/ 1614425 w 2589777"/>
                  <a:gd name="connsiteY1" fmla="*/ 9846 h 2029155"/>
                  <a:gd name="connsiteX2" fmla="*/ 2569768 w 2589777"/>
                  <a:gd name="connsiteY2" fmla="*/ 965191 h 2029155"/>
                  <a:gd name="connsiteX3" fmla="*/ 2133040 w 2589777"/>
                  <a:gd name="connsiteY3" fmla="*/ 1988772 h 2029155"/>
                  <a:gd name="connsiteX4" fmla="*/ 645435 w 2589777"/>
                  <a:gd name="connsiteY4" fmla="*/ 1715816 h 2029155"/>
                  <a:gd name="connsiteX5" fmla="*/ 3989 w 2589777"/>
                  <a:gd name="connsiteY5" fmla="*/ 801418 h 2029155"/>
                  <a:gd name="connsiteX6" fmla="*/ 932037 w 2589777"/>
                  <a:gd name="connsiteY6" fmla="*/ 487518 h 2029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89777" h="2029155">
                    <a:moveTo>
                      <a:pt x="932037" y="487518"/>
                    </a:moveTo>
                    <a:cubicBezTo>
                      <a:pt x="1200443" y="355589"/>
                      <a:pt x="1341470" y="-69766"/>
                      <a:pt x="1614425" y="9846"/>
                    </a:cubicBezTo>
                    <a:cubicBezTo>
                      <a:pt x="1887380" y="89458"/>
                      <a:pt x="2483332" y="635370"/>
                      <a:pt x="2569768" y="965191"/>
                    </a:cubicBezTo>
                    <a:cubicBezTo>
                      <a:pt x="2656204" y="1295012"/>
                      <a:pt x="2453762" y="1863668"/>
                      <a:pt x="2133040" y="1988772"/>
                    </a:cubicBezTo>
                    <a:cubicBezTo>
                      <a:pt x="1812318" y="2113876"/>
                      <a:pt x="943411" y="1927356"/>
                      <a:pt x="645435" y="1715816"/>
                    </a:cubicBezTo>
                    <a:cubicBezTo>
                      <a:pt x="347459" y="1504276"/>
                      <a:pt x="-43778" y="1006134"/>
                      <a:pt x="3989" y="801418"/>
                    </a:cubicBezTo>
                    <a:cubicBezTo>
                      <a:pt x="51756" y="596702"/>
                      <a:pt x="663631" y="619447"/>
                      <a:pt x="932037" y="487518"/>
                    </a:cubicBezTo>
                    <a:close/>
                  </a:path>
                </a:pathLst>
              </a:custGeom>
              <a:solidFill>
                <a:srgbClr val="2249CD">
                  <a:alpha val="36000"/>
                </a:srgb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56" name="Oval 55"/>
            <p:cNvSpPr/>
            <p:nvPr/>
          </p:nvSpPr>
          <p:spPr>
            <a:xfrm>
              <a:off x="5283252" y="3562238"/>
              <a:ext cx="72000" cy="72000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57" name="Straight Connector 56"/>
            <p:cNvCxnSpPr>
              <a:endCxn id="56" idx="0"/>
            </p:cNvCxnSpPr>
            <p:nvPr/>
          </p:nvCxnSpPr>
          <p:spPr>
            <a:xfrm flipH="1">
              <a:off x="5319252" y="2598461"/>
              <a:ext cx="1869072" cy="963777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oup 85"/>
          <p:cNvGrpSpPr/>
          <p:nvPr/>
        </p:nvGrpSpPr>
        <p:grpSpPr>
          <a:xfrm>
            <a:off x="3148126" y="1336677"/>
            <a:ext cx="1489150" cy="4346825"/>
            <a:chOff x="1624126" y="1336676"/>
            <a:chExt cx="1489150" cy="4346825"/>
          </a:xfrm>
        </p:grpSpPr>
        <p:grpSp>
          <p:nvGrpSpPr>
            <p:cNvPr id="58" name="Group 57"/>
            <p:cNvGrpSpPr/>
            <p:nvPr/>
          </p:nvGrpSpPr>
          <p:grpSpPr>
            <a:xfrm>
              <a:off x="1624126" y="1336676"/>
              <a:ext cx="1160059" cy="1269238"/>
              <a:chOff x="2388361" y="2169997"/>
              <a:chExt cx="4285397" cy="3766782"/>
            </a:xfrm>
          </p:grpSpPr>
          <p:sp>
            <p:nvSpPr>
              <p:cNvPr id="59" name="Rectangle 58"/>
              <p:cNvSpPr/>
              <p:nvPr/>
            </p:nvSpPr>
            <p:spPr>
              <a:xfrm>
                <a:off x="2388361" y="2169997"/>
                <a:ext cx="4285397" cy="3766782"/>
              </a:xfrm>
              <a:prstGeom prst="rect">
                <a:avLst/>
              </a:prstGeom>
              <a:solidFill>
                <a:schemeClr val="bg1"/>
              </a:solidFill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60" name="Freeform 59"/>
              <p:cNvSpPr/>
              <p:nvPr/>
            </p:nvSpPr>
            <p:spPr>
              <a:xfrm>
                <a:off x="3005157" y="3166215"/>
                <a:ext cx="2729534" cy="1919913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9534" h="1919913">
                    <a:moveTo>
                      <a:pt x="1034582" y="341268"/>
                    </a:moveTo>
                    <a:cubicBezTo>
                      <a:pt x="1284791" y="238910"/>
                      <a:pt x="1230200" y="-68165"/>
                      <a:pt x="1512254" y="13722"/>
                    </a:cubicBezTo>
                    <a:cubicBezTo>
                      <a:pt x="1794308" y="95609"/>
                      <a:pt x="2679138" y="518690"/>
                      <a:pt x="2726905" y="832588"/>
                    </a:cubicBezTo>
                    <a:cubicBezTo>
                      <a:pt x="2774672" y="1146486"/>
                      <a:pt x="2160523" y="1787931"/>
                      <a:pt x="1798857" y="1897113"/>
                    </a:cubicBezTo>
                    <a:cubicBezTo>
                      <a:pt x="1437191" y="2006295"/>
                      <a:pt x="854887" y="1699220"/>
                      <a:pt x="556911" y="1487680"/>
                    </a:cubicBezTo>
                    <a:cubicBezTo>
                      <a:pt x="258935" y="1276140"/>
                      <a:pt x="-64063" y="816665"/>
                      <a:pt x="11000" y="627871"/>
                    </a:cubicBezTo>
                    <a:cubicBezTo>
                      <a:pt x="86063" y="439077"/>
                      <a:pt x="784373" y="443626"/>
                      <a:pt x="1034582" y="341268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61" name="Freeform 60"/>
              <p:cNvSpPr/>
              <p:nvPr/>
            </p:nvSpPr>
            <p:spPr>
              <a:xfrm>
                <a:off x="3928794" y="3555480"/>
                <a:ext cx="981831" cy="952007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  <a:gd name="connsiteX0" fmla="*/ 1034582 w 2242520"/>
                  <a:gd name="connsiteY0" fmla="*/ 343152 h 1919663"/>
                  <a:gd name="connsiteX1" fmla="*/ 1512254 w 2242520"/>
                  <a:gd name="connsiteY1" fmla="*/ 15606 h 1919663"/>
                  <a:gd name="connsiteX2" fmla="*/ 2235585 w 2242520"/>
                  <a:gd name="connsiteY2" fmla="*/ 875416 h 1919663"/>
                  <a:gd name="connsiteX3" fmla="*/ 1798857 w 2242520"/>
                  <a:gd name="connsiteY3" fmla="*/ 1898997 h 1919663"/>
                  <a:gd name="connsiteX4" fmla="*/ 556911 w 2242520"/>
                  <a:gd name="connsiteY4" fmla="*/ 1489564 h 1919663"/>
                  <a:gd name="connsiteX5" fmla="*/ 11000 w 2242520"/>
                  <a:gd name="connsiteY5" fmla="*/ 629755 h 1919663"/>
                  <a:gd name="connsiteX6" fmla="*/ 1034582 w 2242520"/>
                  <a:gd name="connsiteY6" fmla="*/ 343152 h 1919663"/>
                  <a:gd name="connsiteX0" fmla="*/ 1034582 w 2253299"/>
                  <a:gd name="connsiteY0" fmla="*/ 435985 h 2012496"/>
                  <a:gd name="connsiteX1" fmla="*/ 1280242 w 2253299"/>
                  <a:gd name="connsiteY1" fmla="*/ 12904 h 2012496"/>
                  <a:gd name="connsiteX2" fmla="*/ 2235585 w 2253299"/>
                  <a:gd name="connsiteY2" fmla="*/ 968249 h 2012496"/>
                  <a:gd name="connsiteX3" fmla="*/ 1798857 w 2253299"/>
                  <a:gd name="connsiteY3" fmla="*/ 1991830 h 2012496"/>
                  <a:gd name="connsiteX4" fmla="*/ 556911 w 2253299"/>
                  <a:gd name="connsiteY4" fmla="*/ 1582397 h 2012496"/>
                  <a:gd name="connsiteX5" fmla="*/ 11000 w 2253299"/>
                  <a:gd name="connsiteY5" fmla="*/ 722588 h 2012496"/>
                  <a:gd name="connsiteX6" fmla="*/ 1034582 w 2253299"/>
                  <a:gd name="connsiteY6" fmla="*/ 435985 h 2012496"/>
                  <a:gd name="connsiteX0" fmla="*/ 586989 w 2242434"/>
                  <a:gd name="connsiteY0" fmla="*/ 487258 h 2009178"/>
                  <a:gd name="connsiteX1" fmla="*/ 1269377 w 2242434"/>
                  <a:gd name="connsiteY1" fmla="*/ 9586 h 2009178"/>
                  <a:gd name="connsiteX2" fmla="*/ 2224720 w 2242434"/>
                  <a:gd name="connsiteY2" fmla="*/ 964931 h 2009178"/>
                  <a:gd name="connsiteX3" fmla="*/ 1787992 w 2242434"/>
                  <a:gd name="connsiteY3" fmla="*/ 1988512 h 2009178"/>
                  <a:gd name="connsiteX4" fmla="*/ 546046 w 2242434"/>
                  <a:gd name="connsiteY4" fmla="*/ 1579079 h 2009178"/>
                  <a:gd name="connsiteX5" fmla="*/ 135 w 2242434"/>
                  <a:gd name="connsiteY5" fmla="*/ 719270 h 2009178"/>
                  <a:gd name="connsiteX6" fmla="*/ 586989 w 2242434"/>
                  <a:gd name="connsiteY6" fmla="*/ 487258 h 2009178"/>
                  <a:gd name="connsiteX0" fmla="*/ 602616 w 2260356"/>
                  <a:gd name="connsiteY0" fmla="*/ 487258 h 2028895"/>
                  <a:gd name="connsiteX1" fmla="*/ 1285004 w 2260356"/>
                  <a:gd name="connsiteY1" fmla="*/ 9586 h 2028895"/>
                  <a:gd name="connsiteX2" fmla="*/ 2240347 w 2260356"/>
                  <a:gd name="connsiteY2" fmla="*/ 964931 h 2028895"/>
                  <a:gd name="connsiteX3" fmla="*/ 1803619 w 2260356"/>
                  <a:gd name="connsiteY3" fmla="*/ 1988512 h 2028895"/>
                  <a:gd name="connsiteX4" fmla="*/ 316014 w 2260356"/>
                  <a:gd name="connsiteY4" fmla="*/ 1715556 h 2028895"/>
                  <a:gd name="connsiteX5" fmla="*/ 15762 w 2260356"/>
                  <a:gd name="connsiteY5" fmla="*/ 719270 h 2028895"/>
                  <a:gd name="connsiteX6" fmla="*/ 602616 w 2260356"/>
                  <a:gd name="connsiteY6" fmla="*/ 487258 h 2028895"/>
                  <a:gd name="connsiteX0" fmla="*/ 1121883 w 2779623"/>
                  <a:gd name="connsiteY0" fmla="*/ 487386 h 2029023"/>
                  <a:gd name="connsiteX1" fmla="*/ 1804271 w 2779623"/>
                  <a:gd name="connsiteY1" fmla="*/ 9714 h 2029023"/>
                  <a:gd name="connsiteX2" fmla="*/ 2759614 w 2779623"/>
                  <a:gd name="connsiteY2" fmla="*/ 965059 h 2029023"/>
                  <a:gd name="connsiteX3" fmla="*/ 2322886 w 2779623"/>
                  <a:gd name="connsiteY3" fmla="*/ 1988640 h 2029023"/>
                  <a:gd name="connsiteX4" fmla="*/ 835281 w 2779623"/>
                  <a:gd name="connsiteY4" fmla="*/ 1715684 h 2029023"/>
                  <a:gd name="connsiteX5" fmla="*/ 2767 w 2779623"/>
                  <a:gd name="connsiteY5" fmla="*/ 760342 h 2029023"/>
                  <a:gd name="connsiteX6" fmla="*/ 1121883 w 2779623"/>
                  <a:gd name="connsiteY6" fmla="*/ 487386 h 2029023"/>
                  <a:gd name="connsiteX0" fmla="*/ 932037 w 2589777"/>
                  <a:gd name="connsiteY0" fmla="*/ 487518 h 2029155"/>
                  <a:gd name="connsiteX1" fmla="*/ 1614425 w 2589777"/>
                  <a:gd name="connsiteY1" fmla="*/ 9846 h 2029155"/>
                  <a:gd name="connsiteX2" fmla="*/ 2569768 w 2589777"/>
                  <a:gd name="connsiteY2" fmla="*/ 965191 h 2029155"/>
                  <a:gd name="connsiteX3" fmla="*/ 2133040 w 2589777"/>
                  <a:gd name="connsiteY3" fmla="*/ 1988772 h 2029155"/>
                  <a:gd name="connsiteX4" fmla="*/ 645435 w 2589777"/>
                  <a:gd name="connsiteY4" fmla="*/ 1715816 h 2029155"/>
                  <a:gd name="connsiteX5" fmla="*/ 3989 w 2589777"/>
                  <a:gd name="connsiteY5" fmla="*/ 801418 h 2029155"/>
                  <a:gd name="connsiteX6" fmla="*/ 932037 w 2589777"/>
                  <a:gd name="connsiteY6" fmla="*/ 487518 h 2029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89777" h="2029155">
                    <a:moveTo>
                      <a:pt x="932037" y="487518"/>
                    </a:moveTo>
                    <a:cubicBezTo>
                      <a:pt x="1200443" y="355589"/>
                      <a:pt x="1341470" y="-69766"/>
                      <a:pt x="1614425" y="9846"/>
                    </a:cubicBezTo>
                    <a:cubicBezTo>
                      <a:pt x="1887380" y="89458"/>
                      <a:pt x="2483332" y="635370"/>
                      <a:pt x="2569768" y="965191"/>
                    </a:cubicBezTo>
                    <a:cubicBezTo>
                      <a:pt x="2656204" y="1295012"/>
                      <a:pt x="2453762" y="1863668"/>
                      <a:pt x="2133040" y="1988772"/>
                    </a:cubicBezTo>
                    <a:cubicBezTo>
                      <a:pt x="1812318" y="2113876"/>
                      <a:pt x="943411" y="1927356"/>
                      <a:pt x="645435" y="1715816"/>
                    </a:cubicBezTo>
                    <a:cubicBezTo>
                      <a:pt x="347459" y="1504276"/>
                      <a:pt x="-43778" y="1006134"/>
                      <a:pt x="3989" y="801418"/>
                    </a:cubicBezTo>
                    <a:cubicBezTo>
                      <a:pt x="51756" y="596702"/>
                      <a:pt x="663631" y="619447"/>
                      <a:pt x="932037" y="487518"/>
                    </a:cubicBezTo>
                    <a:close/>
                  </a:path>
                </a:pathLst>
              </a:custGeom>
              <a:solidFill>
                <a:srgbClr val="2249CD">
                  <a:alpha val="36000"/>
                </a:srgb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62" name="Oval 61"/>
            <p:cNvSpPr/>
            <p:nvPr/>
          </p:nvSpPr>
          <p:spPr>
            <a:xfrm>
              <a:off x="3041276" y="5611501"/>
              <a:ext cx="72000" cy="72000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63" name="Straight Connector 62"/>
            <p:cNvCxnSpPr>
              <a:stCxn id="59" idx="2"/>
              <a:endCxn id="62" idx="0"/>
            </p:cNvCxnSpPr>
            <p:nvPr/>
          </p:nvCxnSpPr>
          <p:spPr>
            <a:xfrm>
              <a:off x="2204156" y="2605914"/>
              <a:ext cx="873120" cy="3005587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/>
          <p:cNvGrpSpPr/>
          <p:nvPr/>
        </p:nvGrpSpPr>
        <p:grpSpPr>
          <a:xfrm>
            <a:off x="5070327" y="1331149"/>
            <a:ext cx="1758538" cy="2894708"/>
            <a:chOff x="3546327" y="1331149"/>
            <a:chExt cx="1758538" cy="2894708"/>
          </a:xfrm>
        </p:grpSpPr>
        <p:grpSp>
          <p:nvGrpSpPr>
            <p:cNvPr id="66" name="Group 65"/>
            <p:cNvGrpSpPr/>
            <p:nvPr/>
          </p:nvGrpSpPr>
          <p:grpSpPr>
            <a:xfrm>
              <a:off x="4144806" y="1331149"/>
              <a:ext cx="1160059" cy="1269238"/>
              <a:chOff x="2388361" y="2169997"/>
              <a:chExt cx="4285397" cy="3766782"/>
            </a:xfrm>
          </p:grpSpPr>
          <p:sp>
            <p:nvSpPr>
              <p:cNvPr id="67" name="Rectangle 66"/>
              <p:cNvSpPr/>
              <p:nvPr/>
            </p:nvSpPr>
            <p:spPr>
              <a:xfrm>
                <a:off x="2388361" y="2169997"/>
                <a:ext cx="4285397" cy="3766782"/>
              </a:xfrm>
              <a:prstGeom prst="rect">
                <a:avLst/>
              </a:prstGeom>
              <a:solidFill>
                <a:schemeClr val="bg1"/>
              </a:solidFill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68" name="Freeform 67"/>
              <p:cNvSpPr/>
              <p:nvPr/>
            </p:nvSpPr>
            <p:spPr>
              <a:xfrm>
                <a:off x="3005157" y="3166215"/>
                <a:ext cx="2729534" cy="1919913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9534" h="1919913">
                    <a:moveTo>
                      <a:pt x="1034582" y="341268"/>
                    </a:moveTo>
                    <a:cubicBezTo>
                      <a:pt x="1284791" y="238910"/>
                      <a:pt x="1230200" y="-68165"/>
                      <a:pt x="1512254" y="13722"/>
                    </a:cubicBezTo>
                    <a:cubicBezTo>
                      <a:pt x="1794308" y="95609"/>
                      <a:pt x="2679138" y="518690"/>
                      <a:pt x="2726905" y="832588"/>
                    </a:cubicBezTo>
                    <a:cubicBezTo>
                      <a:pt x="2774672" y="1146486"/>
                      <a:pt x="2160523" y="1787931"/>
                      <a:pt x="1798857" y="1897113"/>
                    </a:cubicBezTo>
                    <a:cubicBezTo>
                      <a:pt x="1437191" y="2006295"/>
                      <a:pt x="854887" y="1699220"/>
                      <a:pt x="556911" y="1487680"/>
                    </a:cubicBezTo>
                    <a:cubicBezTo>
                      <a:pt x="258935" y="1276140"/>
                      <a:pt x="-64063" y="816665"/>
                      <a:pt x="11000" y="627871"/>
                    </a:cubicBezTo>
                    <a:cubicBezTo>
                      <a:pt x="86063" y="439077"/>
                      <a:pt x="784373" y="443626"/>
                      <a:pt x="1034582" y="341268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69" name="Freeform 68"/>
              <p:cNvSpPr/>
              <p:nvPr/>
            </p:nvSpPr>
            <p:spPr>
              <a:xfrm>
                <a:off x="3153716" y="2907804"/>
                <a:ext cx="2388869" cy="1921093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  <a:gd name="connsiteX0" fmla="*/ 1034582 w 2242520"/>
                  <a:gd name="connsiteY0" fmla="*/ 343152 h 1919663"/>
                  <a:gd name="connsiteX1" fmla="*/ 1512254 w 2242520"/>
                  <a:gd name="connsiteY1" fmla="*/ 15606 h 1919663"/>
                  <a:gd name="connsiteX2" fmla="*/ 2235585 w 2242520"/>
                  <a:gd name="connsiteY2" fmla="*/ 875416 h 1919663"/>
                  <a:gd name="connsiteX3" fmla="*/ 1798857 w 2242520"/>
                  <a:gd name="connsiteY3" fmla="*/ 1898997 h 1919663"/>
                  <a:gd name="connsiteX4" fmla="*/ 556911 w 2242520"/>
                  <a:gd name="connsiteY4" fmla="*/ 1489564 h 1919663"/>
                  <a:gd name="connsiteX5" fmla="*/ 11000 w 2242520"/>
                  <a:gd name="connsiteY5" fmla="*/ 629755 h 1919663"/>
                  <a:gd name="connsiteX6" fmla="*/ 1034582 w 2242520"/>
                  <a:gd name="connsiteY6" fmla="*/ 343152 h 1919663"/>
                  <a:gd name="connsiteX0" fmla="*/ 1034582 w 2253299"/>
                  <a:gd name="connsiteY0" fmla="*/ 435985 h 2012496"/>
                  <a:gd name="connsiteX1" fmla="*/ 1280242 w 2253299"/>
                  <a:gd name="connsiteY1" fmla="*/ 12904 h 2012496"/>
                  <a:gd name="connsiteX2" fmla="*/ 2235585 w 2253299"/>
                  <a:gd name="connsiteY2" fmla="*/ 968249 h 2012496"/>
                  <a:gd name="connsiteX3" fmla="*/ 1798857 w 2253299"/>
                  <a:gd name="connsiteY3" fmla="*/ 1991830 h 2012496"/>
                  <a:gd name="connsiteX4" fmla="*/ 556911 w 2253299"/>
                  <a:gd name="connsiteY4" fmla="*/ 1582397 h 2012496"/>
                  <a:gd name="connsiteX5" fmla="*/ 11000 w 2253299"/>
                  <a:gd name="connsiteY5" fmla="*/ 722588 h 2012496"/>
                  <a:gd name="connsiteX6" fmla="*/ 1034582 w 2253299"/>
                  <a:gd name="connsiteY6" fmla="*/ 435985 h 2012496"/>
                  <a:gd name="connsiteX0" fmla="*/ 586989 w 2242434"/>
                  <a:gd name="connsiteY0" fmla="*/ 487258 h 2009178"/>
                  <a:gd name="connsiteX1" fmla="*/ 1269377 w 2242434"/>
                  <a:gd name="connsiteY1" fmla="*/ 9586 h 2009178"/>
                  <a:gd name="connsiteX2" fmla="*/ 2224720 w 2242434"/>
                  <a:gd name="connsiteY2" fmla="*/ 964931 h 2009178"/>
                  <a:gd name="connsiteX3" fmla="*/ 1787992 w 2242434"/>
                  <a:gd name="connsiteY3" fmla="*/ 1988512 h 2009178"/>
                  <a:gd name="connsiteX4" fmla="*/ 546046 w 2242434"/>
                  <a:gd name="connsiteY4" fmla="*/ 1579079 h 2009178"/>
                  <a:gd name="connsiteX5" fmla="*/ 135 w 2242434"/>
                  <a:gd name="connsiteY5" fmla="*/ 719270 h 2009178"/>
                  <a:gd name="connsiteX6" fmla="*/ 586989 w 2242434"/>
                  <a:gd name="connsiteY6" fmla="*/ 487258 h 2009178"/>
                  <a:gd name="connsiteX0" fmla="*/ 602616 w 2260356"/>
                  <a:gd name="connsiteY0" fmla="*/ 487258 h 2028895"/>
                  <a:gd name="connsiteX1" fmla="*/ 1285004 w 2260356"/>
                  <a:gd name="connsiteY1" fmla="*/ 9586 h 2028895"/>
                  <a:gd name="connsiteX2" fmla="*/ 2240347 w 2260356"/>
                  <a:gd name="connsiteY2" fmla="*/ 964931 h 2028895"/>
                  <a:gd name="connsiteX3" fmla="*/ 1803619 w 2260356"/>
                  <a:gd name="connsiteY3" fmla="*/ 1988512 h 2028895"/>
                  <a:gd name="connsiteX4" fmla="*/ 316014 w 2260356"/>
                  <a:gd name="connsiteY4" fmla="*/ 1715556 h 2028895"/>
                  <a:gd name="connsiteX5" fmla="*/ 15762 w 2260356"/>
                  <a:gd name="connsiteY5" fmla="*/ 719270 h 2028895"/>
                  <a:gd name="connsiteX6" fmla="*/ 602616 w 2260356"/>
                  <a:gd name="connsiteY6" fmla="*/ 487258 h 2028895"/>
                  <a:gd name="connsiteX0" fmla="*/ 1121883 w 2779623"/>
                  <a:gd name="connsiteY0" fmla="*/ 487386 h 2029023"/>
                  <a:gd name="connsiteX1" fmla="*/ 1804271 w 2779623"/>
                  <a:gd name="connsiteY1" fmla="*/ 9714 h 2029023"/>
                  <a:gd name="connsiteX2" fmla="*/ 2759614 w 2779623"/>
                  <a:gd name="connsiteY2" fmla="*/ 965059 h 2029023"/>
                  <a:gd name="connsiteX3" fmla="*/ 2322886 w 2779623"/>
                  <a:gd name="connsiteY3" fmla="*/ 1988640 h 2029023"/>
                  <a:gd name="connsiteX4" fmla="*/ 835281 w 2779623"/>
                  <a:gd name="connsiteY4" fmla="*/ 1715684 h 2029023"/>
                  <a:gd name="connsiteX5" fmla="*/ 2767 w 2779623"/>
                  <a:gd name="connsiteY5" fmla="*/ 760342 h 2029023"/>
                  <a:gd name="connsiteX6" fmla="*/ 1121883 w 2779623"/>
                  <a:gd name="connsiteY6" fmla="*/ 487386 h 2029023"/>
                  <a:gd name="connsiteX0" fmla="*/ 932037 w 2589777"/>
                  <a:gd name="connsiteY0" fmla="*/ 487518 h 2029155"/>
                  <a:gd name="connsiteX1" fmla="*/ 1614425 w 2589777"/>
                  <a:gd name="connsiteY1" fmla="*/ 9846 h 2029155"/>
                  <a:gd name="connsiteX2" fmla="*/ 2569768 w 2589777"/>
                  <a:gd name="connsiteY2" fmla="*/ 965191 h 2029155"/>
                  <a:gd name="connsiteX3" fmla="*/ 2133040 w 2589777"/>
                  <a:gd name="connsiteY3" fmla="*/ 1988772 h 2029155"/>
                  <a:gd name="connsiteX4" fmla="*/ 645435 w 2589777"/>
                  <a:gd name="connsiteY4" fmla="*/ 1715816 h 2029155"/>
                  <a:gd name="connsiteX5" fmla="*/ 3989 w 2589777"/>
                  <a:gd name="connsiteY5" fmla="*/ 801418 h 2029155"/>
                  <a:gd name="connsiteX6" fmla="*/ 932037 w 2589777"/>
                  <a:gd name="connsiteY6" fmla="*/ 487518 h 2029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89777" h="2029155">
                    <a:moveTo>
                      <a:pt x="932037" y="487518"/>
                    </a:moveTo>
                    <a:cubicBezTo>
                      <a:pt x="1200443" y="355589"/>
                      <a:pt x="1341470" y="-69766"/>
                      <a:pt x="1614425" y="9846"/>
                    </a:cubicBezTo>
                    <a:cubicBezTo>
                      <a:pt x="1887380" y="89458"/>
                      <a:pt x="2483332" y="635370"/>
                      <a:pt x="2569768" y="965191"/>
                    </a:cubicBezTo>
                    <a:cubicBezTo>
                      <a:pt x="2656204" y="1295012"/>
                      <a:pt x="2453762" y="1863668"/>
                      <a:pt x="2133040" y="1988772"/>
                    </a:cubicBezTo>
                    <a:cubicBezTo>
                      <a:pt x="1812318" y="2113876"/>
                      <a:pt x="943411" y="1927356"/>
                      <a:pt x="645435" y="1715816"/>
                    </a:cubicBezTo>
                    <a:cubicBezTo>
                      <a:pt x="347459" y="1504276"/>
                      <a:pt x="-43778" y="1006134"/>
                      <a:pt x="3989" y="801418"/>
                    </a:cubicBezTo>
                    <a:cubicBezTo>
                      <a:pt x="51756" y="596702"/>
                      <a:pt x="663631" y="619447"/>
                      <a:pt x="932037" y="487518"/>
                    </a:cubicBezTo>
                    <a:close/>
                  </a:path>
                </a:pathLst>
              </a:custGeom>
              <a:solidFill>
                <a:srgbClr val="2249CD">
                  <a:alpha val="36000"/>
                </a:srgb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70" name="Oval 69"/>
            <p:cNvSpPr/>
            <p:nvPr/>
          </p:nvSpPr>
          <p:spPr>
            <a:xfrm>
              <a:off x="3546327" y="4153857"/>
              <a:ext cx="72000" cy="72000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71" name="Straight Connector 70"/>
            <p:cNvCxnSpPr>
              <a:stCxn id="67" idx="2"/>
              <a:endCxn id="70" idx="7"/>
            </p:cNvCxnSpPr>
            <p:nvPr/>
          </p:nvCxnSpPr>
          <p:spPr>
            <a:xfrm flipH="1">
              <a:off x="3607783" y="2600387"/>
              <a:ext cx="1117053" cy="1564014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/>
          <p:cNvGrpSpPr/>
          <p:nvPr/>
        </p:nvGrpSpPr>
        <p:grpSpPr>
          <a:xfrm>
            <a:off x="4426051" y="1330918"/>
            <a:ext cx="3629744" cy="3687269"/>
            <a:chOff x="2902051" y="1330917"/>
            <a:chExt cx="3629744" cy="3687269"/>
          </a:xfrm>
        </p:grpSpPr>
        <p:grpSp>
          <p:nvGrpSpPr>
            <p:cNvPr id="11" name="Group 10"/>
            <p:cNvGrpSpPr/>
            <p:nvPr/>
          </p:nvGrpSpPr>
          <p:grpSpPr>
            <a:xfrm>
              <a:off x="2902051" y="1330917"/>
              <a:ext cx="1160059" cy="1269238"/>
              <a:chOff x="2388361" y="2169997"/>
              <a:chExt cx="4285397" cy="3766782"/>
            </a:xfrm>
          </p:grpSpPr>
          <p:sp>
            <p:nvSpPr>
              <p:cNvPr id="4" name="Rectangle 3"/>
              <p:cNvSpPr/>
              <p:nvPr/>
            </p:nvSpPr>
            <p:spPr>
              <a:xfrm>
                <a:off x="2388361" y="2169997"/>
                <a:ext cx="4285397" cy="3766782"/>
              </a:xfrm>
              <a:prstGeom prst="rect">
                <a:avLst/>
              </a:prstGeom>
              <a:solidFill>
                <a:schemeClr val="bg1"/>
              </a:solidFill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" name="Freeform 4"/>
              <p:cNvSpPr/>
              <p:nvPr/>
            </p:nvSpPr>
            <p:spPr>
              <a:xfrm>
                <a:off x="3005157" y="3166215"/>
                <a:ext cx="2729534" cy="1919913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9534" h="1919913">
                    <a:moveTo>
                      <a:pt x="1034582" y="341268"/>
                    </a:moveTo>
                    <a:cubicBezTo>
                      <a:pt x="1284791" y="238910"/>
                      <a:pt x="1230200" y="-68165"/>
                      <a:pt x="1512254" y="13722"/>
                    </a:cubicBezTo>
                    <a:cubicBezTo>
                      <a:pt x="1794308" y="95609"/>
                      <a:pt x="2679138" y="518690"/>
                      <a:pt x="2726905" y="832588"/>
                    </a:cubicBezTo>
                    <a:cubicBezTo>
                      <a:pt x="2774672" y="1146486"/>
                      <a:pt x="2160523" y="1787931"/>
                      <a:pt x="1798857" y="1897113"/>
                    </a:cubicBezTo>
                    <a:cubicBezTo>
                      <a:pt x="1437191" y="2006295"/>
                      <a:pt x="854887" y="1699220"/>
                      <a:pt x="556911" y="1487680"/>
                    </a:cubicBezTo>
                    <a:cubicBezTo>
                      <a:pt x="258935" y="1276140"/>
                      <a:pt x="-64063" y="816665"/>
                      <a:pt x="11000" y="627871"/>
                    </a:cubicBezTo>
                    <a:cubicBezTo>
                      <a:pt x="86063" y="439077"/>
                      <a:pt x="784373" y="443626"/>
                      <a:pt x="1034582" y="341268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6" name="Freeform 5"/>
              <p:cNvSpPr/>
              <p:nvPr/>
            </p:nvSpPr>
            <p:spPr>
              <a:xfrm>
                <a:off x="3458437" y="3383718"/>
                <a:ext cx="1883347" cy="1450022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  <a:gd name="connsiteX0" fmla="*/ 1034582 w 2242520"/>
                  <a:gd name="connsiteY0" fmla="*/ 343152 h 1919663"/>
                  <a:gd name="connsiteX1" fmla="*/ 1512254 w 2242520"/>
                  <a:gd name="connsiteY1" fmla="*/ 15606 h 1919663"/>
                  <a:gd name="connsiteX2" fmla="*/ 2235585 w 2242520"/>
                  <a:gd name="connsiteY2" fmla="*/ 875416 h 1919663"/>
                  <a:gd name="connsiteX3" fmla="*/ 1798857 w 2242520"/>
                  <a:gd name="connsiteY3" fmla="*/ 1898997 h 1919663"/>
                  <a:gd name="connsiteX4" fmla="*/ 556911 w 2242520"/>
                  <a:gd name="connsiteY4" fmla="*/ 1489564 h 1919663"/>
                  <a:gd name="connsiteX5" fmla="*/ 11000 w 2242520"/>
                  <a:gd name="connsiteY5" fmla="*/ 629755 h 1919663"/>
                  <a:gd name="connsiteX6" fmla="*/ 1034582 w 2242520"/>
                  <a:gd name="connsiteY6" fmla="*/ 343152 h 1919663"/>
                  <a:gd name="connsiteX0" fmla="*/ 1034582 w 2253299"/>
                  <a:gd name="connsiteY0" fmla="*/ 435985 h 2012496"/>
                  <a:gd name="connsiteX1" fmla="*/ 1280242 w 2253299"/>
                  <a:gd name="connsiteY1" fmla="*/ 12904 h 2012496"/>
                  <a:gd name="connsiteX2" fmla="*/ 2235585 w 2253299"/>
                  <a:gd name="connsiteY2" fmla="*/ 968249 h 2012496"/>
                  <a:gd name="connsiteX3" fmla="*/ 1798857 w 2253299"/>
                  <a:gd name="connsiteY3" fmla="*/ 1991830 h 2012496"/>
                  <a:gd name="connsiteX4" fmla="*/ 556911 w 2253299"/>
                  <a:gd name="connsiteY4" fmla="*/ 1582397 h 2012496"/>
                  <a:gd name="connsiteX5" fmla="*/ 11000 w 2253299"/>
                  <a:gd name="connsiteY5" fmla="*/ 722588 h 2012496"/>
                  <a:gd name="connsiteX6" fmla="*/ 1034582 w 2253299"/>
                  <a:gd name="connsiteY6" fmla="*/ 435985 h 2012496"/>
                  <a:gd name="connsiteX0" fmla="*/ 586989 w 2242434"/>
                  <a:gd name="connsiteY0" fmla="*/ 487258 h 2009178"/>
                  <a:gd name="connsiteX1" fmla="*/ 1269377 w 2242434"/>
                  <a:gd name="connsiteY1" fmla="*/ 9586 h 2009178"/>
                  <a:gd name="connsiteX2" fmla="*/ 2224720 w 2242434"/>
                  <a:gd name="connsiteY2" fmla="*/ 964931 h 2009178"/>
                  <a:gd name="connsiteX3" fmla="*/ 1787992 w 2242434"/>
                  <a:gd name="connsiteY3" fmla="*/ 1988512 h 2009178"/>
                  <a:gd name="connsiteX4" fmla="*/ 546046 w 2242434"/>
                  <a:gd name="connsiteY4" fmla="*/ 1579079 h 2009178"/>
                  <a:gd name="connsiteX5" fmla="*/ 135 w 2242434"/>
                  <a:gd name="connsiteY5" fmla="*/ 719270 h 2009178"/>
                  <a:gd name="connsiteX6" fmla="*/ 586989 w 2242434"/>
                  <a:gd name="connsiteY6" fmla="*/ 487258 h 2009178"/>
                  <a:gd name="connsiteX0" fmla="*/ 602616 w 2260356"/>
                  <a:gd name="connsiteY0" fmla="*/ 487258 h 2028895"/>
                  <a:gd name="connsiteX1" fmla="*/ 1285004 w 2260356"/>
                  <a:gd name="connsiteY1" fmla="*/ 9586 h 2028895"/>
                  <a:gd name="connsiteX2" fmla="*/ 2240347 w 2260356"/>
                  <a:gd name="connsiteY2" fmla="*/ 964931 h 2028895"/>
                  <a:gd name="connsiteX3" fmla="*/ 1803619 w 2260356"/>
                  <a:gd name="connsiteY3" fmla="*/ 1988512 h 2028895"/>
                  <a:gd name="connsiteX4" fmla="*/ 316014 w 2260356"/>
                  <a:gd name="connsiteY4" fmla="*/ 1715556 h 2028895"/>
                  <a:gd name="connsiteX5" fmla="*/ 15762 w 2260356"/>
                  <a:gd name="connsiteY5" fmla="*/ 719270 h 2028895"/>
                  <a:gd name="connsiteX6" fmla="*/ 602616 w 2260356"/>
                  <a:gd name="connsiteY6" fmla="*/ 487258 h 2028895"/>
                  <a:gd name="connsiteX0" fmla="*/ 1121883 w 2779623"/>
                  <a:gd name="connsiteY0" fmla="*/ 487386 h 2029023"/>
                  <a:gd name="connsiteX1" fmla="*/ 1804271 w 2779623"/>
                  <a:gd name="connsiteY1" fmla="*/ 9714 h 2029023"/>
                  <a:gd name="connsiteX2" fmla="*/ 2759614 w 2779623"/>
                  <a:gd name="connsiteY2" fmla="*/ 965059 h 2029023"/>
                  <a:gd name="connsiteX3" fmla="*/ 2322886 w 2779623"/>
                  <a:gd name="connsiteY3" fmla="*/ 1988640 h 2029023"/>
                  <a:gd name="connsiteX4" fmla="*/ 835281 w 2779623"/>
                  <a:gd name="connsiteY4" fmla="*/ 1715684 h 2029023"/>
                  <a:gd name="connsiteX5" fmla="*/ 2767 w 2779623"/>
                  <a:gd name="connsiteY5" fmla="*/ 760342 h 2029023"/>
                  <a:gd name="connsiteX6" fmla="*/ 1121883 w 2779623"/>
                  <a:gd name="connsiteY6" fmla="*/ 487386 h 2029023"/>
                  <a:gd name="connsiteX0" fmla="*/ 932037 w 2589777"/>
                  <a:gd name="connsiteY0" fmla="*/ 487518 h 2029155"/>
                  <a:gd name="connsiteX1" fmla="*/ 1614425 w 2589777"/>
                  <a:gd name="connsiteY1" fmla="*/ 9846 h 2029155"/>
                  <a:gd name="connsiteX2" fmla="*/ 2569768 w 2589777"/>
                  <a:gd name="connsiteY2" fmla="*/ 965191 h 2029155"/>
                  <a:gd name="connsiteX3" fmla="*/ 2133040 w 2589777"/>
                  <a:gd name="connsiteY3" fmla="*/ 1988772 h 2029155"/>
                  <a:gd name="connsiteX4" fmla="*/ 645435 w 2589777"/>
                  <a:gd name="connsiteY4" fmla="*/ 1715816 h 2029155"/>
                  <a:gd name="connsiteX5" fmla="*/ 3989 w 2589777"/>
                  <a:gd name="connsiteY5" fmla="*/ 801418 h 2029155"/>
                  <a:gd name="connsiteX6" fmla="*/ 932037 w 2589777"/>
                  <a:gd name="connsiteY6" fmla="*/ 487518 h 2029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89777" h="2029155">
                    <a:moveTo>
                      <a:pt x="932037" y="487518"/>
                    </a:moveTo>
                    <a:cubicBezTo>
                      <a:pt x="1200443" y="355589"/>
                      <a:pt x="1341470" y="-69766"/>
                      <a:pt x="1614425" y="9846"/>
                    </a:cubicBezTo>
                    <a:cubicBezTo>
                      <a:pt x="1887380" y="89458"/>
                      <a:pt x="2483332" y="635370"/>
                      <a:pt x="2569768" y="965191"/>
                    </a:cubicBezTo>
                    <a:cubicBezTo>
                      <a:pt x="2656204" y="1295012"/>
                      <a:pt x="2453762" y="1863668"/>
                      <a:pt x="2133040" y="1988772"/>
                    </a:cubicBezTo>
                    <a:cubicBezTo>
                      <a:pt x="1812318" y="2113876"/>
                      <a:pt x="943411" y="1927356"/>
                      <a:pt x="645435" y="1715816"/>
                    </a:cubicBezTo>
                    <a:cubicBezTo>
                      <a:pt x="347459" y="1504276"/>
                      <a:pt x="-43778" y="1006134"/>
                      <a:pt x="3989" y="801418"/>
                    </a:cubicBezTo>
                    <a:cubicBezTo>
                      <a:pt x="51756" y="596702"/>
                      <a:pt x="663631" y="619447"/>
                      <a:pt x="932037" y="487518"/>
                    </a:cubicBezTo>
                    <a:close/>
                  </a:path>
                </a:pathLst>
              </a:custGeom>
              <a:solidFill>
                <a:srgbClr val="2249CD">
                  <a:alpha val="36000"/>
                </a:srgb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40" name="Oval 39"/>
            <p:cNvSpPr/>
            <p:nvPr/>
          </p:nvSpPr>
          <p:spPr>
            <a:xfrm>
              <a:off x="3124788" y="4946186"/>
              <a:ext cx="72000" cy="72000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42" name="Straight Connector 41"/>
            <p:cNvCxnSpPr>
              <a:stCxn id="4" idx="2"/>
              <a:endCxn id="40" idx="0"/>
            </p:cNvCxnSpPr>
            <p:nvPr/>
          </p:nvCxnSpPr>
          <p:spPr>
            <a:xfrm flipH="1">
              <a:off x="3160788" y="2600155"/>
              <a:ext cx="321293" cy="2346031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4" name="Group 73"/>
            <p:cNvGrpSpPr/>
            <p:nvPr/>
          </p:nvGrpSpPr>
          <p:grpSpPr>
            <a:xfrm>
              <a:off x="5371736" y="1331151"/>
              <a:ext cx="1160059" cy="1269238"/>
              <a:chOff x="2388361" y="2169997"/>
              <a:chExt cx="4285397" cy="3766782"/>
            </a:xfrm>
          </p:grpSpPr>
          <p:sp>
            <p:nvSpPr>
              <p:cNvPr id="75" name="Rectangle 74"/>
              <p:cNvSpPr/>
              <p:nvPr/>
            </p:nvSpPr>
            <p:spPr>
              <a:xfrm>
                <a:off x="2388361" y="2169997"/>
                <a:ext cx="4285397" cy="3766782"/>
              </a:xfrm>
              <a:prstGeom prst="rect">
                <a:avLst/>
              </a:prstGeom>
              <a:solidFill>
                <a:schemeClr val="bg1"/>
              </a:solidFill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76" name="Freeform 75"/>
              <p:cNvSpPr/>
              <p:nvPr/>
            </p:nvSpPr>
            <p:spPr>
              <a:xfrm>
                <a:off x="3005157" y="3166215"/>
                <a:ext cx="2729534" cy="1919913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9534" h="1919913">
                    <a:moveTo>
                      <a:pt x="1034582" y="341268"/>
                    </a:moveTo>
                    <a:cubicBezTo>
                      <a:pt x="1284791" y="238910"/>
                      <a:pt x="1230200" y="-68165"/>
                      <a:pt x="1512254" y="13722"/>
                    </a:cubicBezTo>
                    <a:cubicBezTo>
                      <a:pt x="1794308" y="95609"/>
                      <a:pt x="2679138" y="518690"/>
                      <a:pt x="2726905" y="832588"/>
                    </a:cubicBezTo>
                    <a:cubicBezTo>
                      <a:pt x="2774672" y="1146486"/>
                      <a:pt x="2160523" y="1787931"/>
                      <a:pt x="1798857" y="1897113"/>
                    </a:cubicBezTo>
                    <a:cubicBezTo>
                      <a:pt x="1437191" y="2006295"/>
                      <a:pt x="854887" y="1699220"/>
                      <a:pt x="556911" y="1487680"/>
                    </a:cubicBezTo>
                    <a:cubicBezTo>
                      <a:pt x="258935" y="1276140"/>
                      <a:pt x="-64063" y="816665"/>
                      <a:pt x="11000" y="627871"/>
                    </a:cubicBezTo>
                    <a:cubicBezTo>
                      <a:pt x="86063" y="439077"/>
                      <a:pt x="784373" y="443626"/>
                      <a:pt x="1034582" y="341268"/>
                    </a:cubicBezTo>
                    <a:close/>
                  </a:path>
                </a:pathLst>
              </a:custGeom>
              <a:solidFill>
                <a:srgbClr val="FF0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77" name="Freeform 76"/>
              <p:cNvSpPr/>
              <p:nvPr/>
            </p:nvSpPr>
            <p:spPr>
              <a:xfrm>
                <a:off x="3068197" y="2907798"/>
                <a:ext cx="3268025" cy="2195913"/>
              </a:xfrm>
              <a:custGeom>
                <a:avLst/>
                <a:gdLst>
                  <a:gd name="connsiteX0" fmla="*/ 1034582 w 2729534"/>
                  <a:gd name="connsiteY0" fmla="*/ 341268 h 1919913"/>
                  <a:gd name="connsiteX1" fmla="*/ 1512254 w 2729534"/>
                  <a:gd name="connsiteY1" fmla="*/ 13722 h 1919913"/>
                  <a:gd name="connsiteX2" fmla="*/ 2726905 w 2729534"/>
                  <a:gd name="connsiteY2" fmla="*/ 832588 h 1919913"/>
                  <a:gd name="connsiteX3" fmla="*/ 1798857 w 2729534"/>
                  <a:gd name="connsiteY3" fmla="*/ 1897113 h 1919913"/>
                  <a:gd name="connsiteX4" fmla="*/ 556911 w 2729534"/>
                  <a:gd name="connsiteY4" fmla="*/ 1487680 h 1919913"/>
                  <a:gd name="connsiteX5" fmla="*/ 11000 w 2729534"/>
                  <a:gd name="connsiteY5" fmla="*/ 627871 h 1919913"/>
                  <a:gd name="connsiteX6" fmla="*/ 1034582 w 2729534"/>
                  <a:gd name="connsiteY6" fmla="*/ 341268 h 1919913"/>
                  <a:gd name="connsiteX0" fmla="*/ 1034582 w 2242520"/>
                  <a:gd name="connsiteY0" fmla="*/ 343152 h 1919663"/>
                  <a:gd name="connsiteX1" fmla="*/ 1512254 w 2242520"/>
                  <a:gd name="connsiteY1" fmla="*/ 15606 h 1919663"/>
                  <a:gd name="connsiteX2" fmla="*/ 2235585 w 2242520"/>
                  <a:gd name="connsiteY2" fmla="*/ 875416 h 1919663"/>
                  <a:gd name="connsiteX3" fmla="*/ 1798857 w 2242520"/>
                  <a:gd name="connsiteY3" fmla="*/ 1898997 h 1919663"/>
                  <a:gd name="connsiteX4" fmla="*/ 556911 w 2242520"/>
                  <a:gd name="connsiteY4" fmla="*/ 1489564 h 1919663"/>
                  <a:gd name="connsiteX5" fmla="*/ 11000 w 2242520"/>
                  <a:gd name="connsiteY5" fmla="*/ 629755 h 1919663"/>
                  <a:gd name="connsiteX6" fmla="*/ 1034582 w 2242520"/>
                  <a:gd name="connsiteY6" fmla="*/ 343152 h 1919663"/>
                  <a:gd name="connsiteX0" fmla="*/ 1034582 w 2253299"/>
                  <a:gd name="connsiteY0" fmla="*/ 435985 h 2012496"/>
                  <a:gd name="connsiteX1" fmla="*/ 1280242 w 2253299"/>
                  <a:gd name="connsiteY1" fmla="*/ 12904 h 2012496"/>
                  <a:gd name="connsiteX2" fmla="*/ 2235585 w 2253299"/>
                  <a:gd name="connsiteY2" fmla="*/ 968249 h 2012496"/>
                  <a:gd name="connsiteX3" fmla="*/ 1798857 w 2253299"/>
                  <a:gd name="connsiteY3" fmla="*/ 1991830 h 2012496"/>
                  <a:gd name="connsiteX4" fmla="*/ 556911 w 2253299"/>
                  <a:gd name="connsiteY4" fmla="*/ 1582397 h 2012496"/>
                  <a:gd name="connsiteX5" fmla="*/ 11000 w 2253299"/>
                  <a:gd name="connsiteY5" fmla="*/ 722588 h 2012496"/>
                  <a:gd name="connsiteX6" fmla="*/ 1034582 w 2253299"/>
                  <a:gd name="connsiteY6" fmla="*/ 435985 h 2012496"/>
                  <a:gd name="connsiteX0" fmla="*/ 586989 w 2242434"/>
                  <a:gd name="connsiteY0" fmla="*/ 487258 h 2009178"/>
                  <a:gd name="connsiteX1" fmla="*/ 1269377 w 2242434"/>
                  <a:gd name="connsiteY1" fmla="*/ 9586 h 2009178"/>
                  <a:gd name="connsiteX2" fmla="*/ 2224720 w 2242434"/>
                  <a:gd name="connsiteY2" fmla="*/ 964931 h 2009178"/>
                  <a:gd name="connsiteX3" fmla="*/ 1787992 w 2242434"/>
                  <a:gd name="connsiteY3" fmla="*/ 1988512 h 2009178"/>
                  <a:gd name="connsiteX4" fmla="*/ 546046 w 2242434"/>
                  <a:gd name="connsiteY4" fmla="*/ 1579079 h 2009178"/>
                  <a:gd name="connsiteX5" fmla="*/ 135 w 2242434"/>
                  <a:gd name="connsiteY5" fmla="*/ 719270 h 2009178"/>
                  <a:gd name="connsiteX6" fmla="*/ 586989 w 2242434"/>
                  <a:gd name="connsiteY6" fmla="*/ 487258 h 2009178"/>
                  <a:gd name="connsiteX0" fmla="*/ 602616 w 2260356"/>
                  <a:gd name="connsiteY0" fmla="*/ 487258 h 2028895"/>
                  <a:gd name="connsiteX1" fmla="*/ 1285004 w 2260356"/>
                  <a:gd name="connsiteY1" fmla="*/ 9586 h 2028895"/>
                  <a:gd name="connsiteX2" fmla="*/ 2240347 w 2260356"/>
                  <a:gd name="connsiteY2" fmla="*/ 964931 h 2028895"/>
                  <a:gd name="connsiteX3" fmla="*/ 1803619 w 2260356"/>
                  <a:gd name="connsiteY3" fmla="*/ 1988512 h 2028895"/>
                  <a:gd name="connsiteX4" fmla="*/ 316014 w 2260356"/>
                  <a:gd name="connsiteY4" fmla="*/ 1715556 h 2028895"/>
                  <a:gd name="connsiteX5" fmla="*/ 15762 w 2260356"/>
                  <a:gd name="connsiteY5" fmla="*/ 719270 h 2028895"/>
                  <a:gd name="connsiteX6" fmla="*/ 602616 w 2260356"/>
                  <a:gd name="connsiteY6" fmla="*/ 487258 h 2028895"/>
                  <a:gd name="connsiteX0" fmla="*/ 1121883 w 2779623"/>
                  <a:gd name="connsiteY0" fmla="*/ 487386 h 2029023"/>
                  <a:gd name="connsiteX1" fmla="*/ 1804271 w 2779623"/>
                  <a:gd name="connsiteY1" fmla="*/ 9714 h 2029023"/>
                  <a:gd name="connsiteX2" fmla="*/ 2759614 w 2779623"/>
                  <a:gd name="connsiteY2" fmla="*/ 965059 h 2029023"/>
                  <a:gd name="connsiteX3" fmla="*/ 2322886 w 2779623"/>
                  <a:gd name="connsiteY3" fmla="*/ 1988640 h 2029023"/>
                  <a:gd name="connsiteX4" fmla="*/ 835281 w 2779623"/>
                  <a:gd name="connsiteY4" fmla="*/ 1715684 h 2029023"/>
                  <a:gd name="connsiteX5" fmla="*/ 2767 w 2779623"/>
                  <a:gd name="connsiteY5" fmla="*/ 760342 h 2029023"/>
                  <a:gd name="connsiteX6" fmla="*/ 1121883 w 2779623"/>
                  <a:gd name="connsiteY6" fmla="*/ 487386 h 2029023"/>
                  <a:gd name="connsiteX0" fmla="*/ 932037 w 2589777"/>
                  <a:gd name="connsiteY0" fmla="*/ 487518 h 2029155"/>
                  <a:gd name="connsiteX1" fmla="*/ 1614425 w 2589777"/>
                  <a:gd name="connsiteY1" fmla="*/ 9846 h 2029155"/>
                  <a:gd name="connsiteX2" fmla="*/ 2569768 w 2589777"/>
                  <a:gd name="connsiteY2" fmla="*/ 965191 h 2029155"/>
                  <a:gd name="connsiteX3" fmla="*/ 2133040 w 2589777"/>
                  <a:gd name="connsiteY3" fmla="*/ 1988772 h 2029155"/>
                  <a:gd name="connsiteX4" fmla="*/ 645435 w 2589777"/>
                  <a:gd name="connsiteY4" fmla="*/ 1715816 h 2029155"/>
                  <a:gd name="connsiteX5" fmla="*/ 3989 w 2589777"/>
                  <a:gd name="connsiteY5" fmla="*/ 801418 h 2029155"/>
                  <a:gd name="connsiteX6" fmla="*/ 932037 w 2589777"/>
                  <a:gd name="connsiteY6" fmla="*/ 487518 h 2029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89777" h="2029155">
                    <a:moveTo>
                      <a:pt x="932037" y="487518"/>
                    </a:moveTo>
                    <a:cubicBezTo>
                      <a:pt x="1200443" y="355589"/>
                      <a:pt x="1341470" y="-69766"/>
                      <a:pt x="1614425" y="9846"/>
                    </a:cubicBezTo>
                    <a:cubicBezTo>
                      <a:pt x="1887380" y="89458"/>
                      <a:pt x="2483332" y="635370"/>
                      <a:pt x="2569768" y="965191"/>
                    </a:cubicBezTo>
                    <a:cubicBezTo>
                      <a:pt x="2656204" y="1295012"/>
                      <a:pt x="2453762" y="1863668"/>
                      <a:pt x="2133040" y="1988772"/>
                    </a:cubicBezTo>
                    <a:cubicBezTo>
                      <a:pt x="1812318" y="2113876"/>
                      <a:pt x="943411" y="1927356"/>
                      <a:pt x="645435" y="1715816"/>
                    </a:cubicBezTo>
                    <a:cubicBezTo>
                      <a:pt x="347459" y="1504276"/>
                      <a:pt x="-43778" y="1006134"/>
                      <a:pt x="3989" y="801418"/>
                    </a:cubicBezTo>
                    <a:cubicBezTo>
                      <a:pt x="51756" y="596702"/>
                      <a:pt x="663631" y="619447"/>
                      <a:pt x="932037" y="487518"/>
                    </a:cubicBezTo>
                    <a:close/>
                  </a:path>
                </a:pathLst>
              </a:custGeom>
              <a:solidFill>
                <a:srgbClr val="2249CD">
                  <a:alpha val="36000"/>
                </a:srgb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80" name="Oval 79"/>
            <p:cNvSpPr/>
            <p:nvPr/>
          </p:nvSpPr>
          <p:spPr>
            <a:xfrm>
              <a:off x="4447019" y="3621528"/>
              <a:ext cx="72000" cy="72000"/>
            </a:xfrm>
            <a:prstGeom prst="ellipse">
              <a:avLst/>
            </a:prstGeom>
            <a:solidFill>
              <a:schemeClr val="tx1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81" name="Straight Connector 80"/>
            <p:cNvCxnSpPr>
              <a:endCxn id="80" idx="6"/>
            </p:cNvCxnSpPr>
            <p:nvPr/>
          </p:nvCxnSpPr>
          <p:spPr>
            <a:xfrm flipH="1">
              <a:off x="4519019" y="2600389"/>
              <a:ext cx="1432747" cy="1057139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TextBox 95"/>
          <p:cNvSpPr txBox="1"/>
          <p:nvPr/>
        </p:nvSpPr>
        <p:spPr>
          <a:xfrm>
            <a:off x="7971573" y="4197635"/>
            <a:ext cx="246708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AREA BAJO LA CURVA</a:t>
            </a:r>
          </a:p>
          <a:p>
            <a:pPr algn="ctr"/>
            <a:endParaRPr lang="en-US" dirty="0">
              <a:latin typeface="Gill Sans MT" panose="020B0502020104020203" pitchFamily="34" charset="77"/>
            </a:endParaRPr>
          </a:p>
          <a:p>
            <a:pPr algn="ctr"/>
            <a:r>
              <a:rPr lang="en-US" dirty="0" err="1">
                <a:latin typeface="Gill Sans MT" panose="020B0502020104020203" pitchFamily="34" charset="77"/>
              </a:rPr>
              <a:t>Az</a:t>
            </a:r>
            <a:endParaRPr lang="en-US" dirty="0">
              <a:latin typeface="Gill Sans MT" panose="020B0502020104020203" pitchFamily="34" charset="77"/>
            </a:endParaRPr>
          </a:p>
          <a:p>
            <a:pPr algn="ctr"/>
            <a:endParaRPr lang="en-US" dirty="0">
              <a:latin typeface="Gill Sans MT" panose="020B0502020104020203" pitchFamily="34" charset="77"/>
            </a:endParaRP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(AUC)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D0DF77-B7DC-A64A-AF9A-48341C630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596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 animBg="1"/>
      <p:bldP spid="9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249524"/>
            <a:ext cx="9144000" cy="339583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4659135"/>
            <a:ext cx="9144000" cy="180496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8" name="Rectangle 7"/>
          <p:cNvSpPr/>
          <p:nvPr/>
        </p:nvSpPr>
        <p:spPr>
          <a:xfrm>
            <a:off x="1524001" y="4636837"/>
            <a:ext cx="1173707" cy="43331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A7855F-9B90-5547-8408-DEFE51509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28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D8C2A1-F91D-1B8C-FDE6-F964729CF100}"/>
              </a:ext>
            </a:extLst>
          </p:cNvPr>
          <p:cNvSpPr txBox="1"/>
          <p:nvPr/>
        </p:nvSpPr>
        <p:spPr>
          <a:xfrm>
            <a:off x="609597" y="468925"/>
            <a:ext cx="32332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Ejemplo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: Curva ROC</a:t>
            </a:r>
          </a:p>
        </p:txBody>
      </p:sp>
    </p:spTree>
    <p:extLst>
      <p:ext uri="{BB962C8B-B14F-4D97-AF65-F5344CB8AC3E}">
        <p14:creationId xmlns:p14="http://schemas.microsoft.com/office/powerpoint/2010/main" val="8297254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2957" y="0"/>
            <a:ext cx="6336387" cy="657531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861C62-FA92-1747-95D3-08B4DF16D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29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95DF4F-A646-A7A4-E23F-71EDA0516E78}"/>
              </a:ext>
            </a:extLst>
          </p:cNvPr>
          <p:cNvSpPr txBox="1"/>
          <p:nvPr/>
        </p:nvSpPr>
        <p:spPr>
          <a:xfrm>
            <a:off x="609597" y="468925"/>
            <a:ext cx="32332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Ejemplo</a:t>
            </a:r>
            <a:r>
              <a:rPr lang="en-US" sz="2800" dirty="0">
                <a:solidFill>
                  <a:schemeClr val="accent2"/>
                </a:solidFill>
                <a:latin typeface="Gill Sans MT" panose="020B0502020104020203" pitchFamily="34" charset="77"/>
                <a:ea typeface="Trebuchet MS" charset="0"/>
                <a:cs typeface="Trebuchet MS" charset="0"/>
              </a:rPr>
              <a:t>: Curva ROC</a:t>
            </a:r>
          </a:p>
        </p:txBody>
      </p:sp>
    </p:spTree>
    <p:extLst>
      <p:ext uri="{BB962C8B-B14F-4D97-AF65-F5344CB8AC3E}">
        <p14:creationId xmlns:p14="http://schemas.microsoft.com/office/powerpoint/2010/main" val="12769509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2189A-100E-A582-DC99-7E7845D0E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A14C3AF-3D8A-1E4F-C6EC-A29E1D08CE2F}"/>
              </a:ext>
            </a:extLst>
          </p:cNvPr>
          <p:cNvSpPr txBox="1"/>
          <p:nvPr/>
        </p:nvSpPr>
        <p:spPr>
          <a:xfrm>
            <a:off x="2209358" y="2459504"/>
            <a:ext cx="777328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dirty="0" err="1">
                <a:latin typeface="Gill Sans MT" panose="020B0502020104020203" pitchFamily="34" charset="77"/>
              </a:rPr>
              <a:t>Genuinos</a:t>
            </a:r>
            <a:r>
              <a:rPr lang="en-US" sz="6000" dirty="0">
                <a:latin typeface="Gill Sans MT" panose="020B0502020104020203" pitchFamily="34" charset="77"/>
              </a:rPr>
              <a:t> &amp; </a:t>
            </a:r>
            <a:r>
              <a:rPr lang="en-US" sz="6000" dirty="0" err="1">
                <a:latin typeface="Gill Sans MT" panose="020B0502020104020203" pitchFamily="34" charset="77"/>
              </a:rPr>
              <a:t>Impostores</a:t>
            </a:r>
            <a:endParaRPr lang="en-US" sz="4400" dirty="0">
              <a:latin typeface="Gill Sans MT" panose="020B0502020104020203" pitchFamily="34" charset="77"/>
            </a:endParaRPr>
          </a:p>
          <a:p>
            <a:pPr algn="ctr"/>
            <a:r>
              <a:rPr lang="en-US" sz="6000" dirty="0">
                <a:latin typeface="Gill Sans MT" panose="020B0502020104020203" pitchFamily="34" charset="77"/>
              </a:rPr>
              <a:t> </a:t>
            </a:r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</a:rPr>
              <a:t>(</a:t>
            </a:r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métricas</a:t>
            </a:r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</a:rPr>
              <a:t> </a:t>
            </a:r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en</a:t>
            </a:r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</a:rPr>
              <a:t> </a:t>
            </a:r>
            <a:r>
              <a:rPr lang="en-US" sz="36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biometría</a:t>
            </a:r>
            <a:r>
              <a:rPr lang="en-US" sz="3600" dirty="0">
                <a:solidFill>
                  <a:schemeClr val="accent2"/>
                </a:solidFill>
                <a:latin typeface="Gill Sans MT" panose="020B0502020104020203" pitchFamily="34" charset="77"/>
              </a:rPr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CB9405-C699-7F92-D3F6-B6FA11FB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1767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4195940" y="2005036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9" name="Straight Arrow Connector 28"/>
          <p:cNvCxnSpPr>
            <a:cxnSpLocks/>
            <a:stCxn id="25" idx="3"/>
          </p:cNvCxnSpPr>
          <p:nvPr/>
        </p:nvCxnSpPr>
        <p:spPr>
          <a:xfrm>
            <a:off x="5582786" y="2456247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ight Arrow 32"/>
          <p:cNvSpPr/>
          <p:nvPr/>
        </p:nvSpPr>
        <p:spPr>
          <a:xfrm>
            <a:off x="3677961" y="2322554"/>
            <a:ext cx="517979" cy="30080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458491" y="460830"/>
            <a:ext cx="37144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Gill Sans MT" panose="020B0502020104020203" pitchFamily="34" charset="77"/>
                <a:cs typeface="Trebuchet MS"/>
              </a:rPr>
              <a:t>Face Verification Schema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F286A3-471E-DE41-8702-E48C8EE03929}"/>
              </a:ext>
            </a:extLst>
          </p:cNvPr>
          <p:cNvSpPr txBox="1"/>
          <p:nvPr/>
        </p:nvSpPr>
        <p:spPr>
          <a:xfrm>
            <a:off x="4306587" y="2149793"/>
            <a:ext cx="1189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Extraction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A65331C9-0EF5-DE40-9B09-141EECB49A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0245" y="1642727"/>
            <a:ext cx="1141566" cy="1660460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3650F2DB-AFBE-054C-8C8C-D3F4E179D1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0342" y="3672519"/>
            <a:ext cx="1141566" cy="1660460"/>
          </a:xfrm>
          <a:prstGeom prst="rect">
            <a:avLst/>
          </a:prstGeom>
          <a:ln w="63500">
            <a:solidFill>
              <a:schemeClr val="accent1">
                <a:lumMod val="60000"/>
                <a:lumOff val="40000"/>
              </a:schemeClr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346E5A-92E7-714D-A7FB-691EC0B5745A}"/>
              </a:ext>
            </a:extLst>
          </p:cNvPr>
          <p:cNvSpPr txBox="1"/>
          <p:nvPr/>
        </p:nvSpPr>
        <p:spPr>
          <a:xfrm>
            <a:off x="2420245" y="1272746"/>
            <a:ext cx="1036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Imagen A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999076-AEED-D040-B7AA-0B0D3D546C75}"/>
              </a:ext>
            </a:extLst>
          </p:cNvPr>
          <p:cNvSpPr txBox="1"/>
          <p:nvPr/>
        </p:nvSpPr>
        <p:spPr>
          <a:xfrm>
            <a:off x="2475343" y="3303187"/>
            <a:ext cx="1035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Imagen B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C7D5B98-8229-D248-966C-CD246C3158CC}"/>
              </a:ext>
            </a:extLst>
          </p:cNvPr>
          <p:cNvSpPr/>
          <p:nvPr/>
        </p:nvSpPr>
        <p:spPr>
          <a:xfrm>
            <a:off x="4176037" y="4064545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9671280-B5D1-7146-8F37-7009E159E46D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5562883" y="4515756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ight Arrow 56">
            <a:extLst>
              <a:ext uri="{FF2B5EF4-FFF2-40B4-BE49-F238E27FC236}">
                <a16:creationId xmlns:a16="http://schemas.microsoft.com/office/drawing/2014/main" id="{3DB99C0B-77B9-4E43-A1B4-981112580532}"/>
              </a:ext>
            </a:extLst>
          </p:cNvPr>
          <p:cNvSpPr/>
          <p:nvPr/>
        </p:nvSpPr>
        <p:spPr>
          <a:xfrm>
            <a:off x="3658058" y="4382063"/>
            <a:ext cx="517979" cy="30080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2984F7-E748-C546-9A71-6F8ADF2F6C70}"/>
              </a:ext>
            </a:extLst>
          </p:cNvPr>
          <p:cNvSpPr txBox="1"/>
          <p:nvPr/>
        </p:nvSpPr>
        <p:spPr>
          <a:xfrm>
            <a:off x="4286684" y="4209302"/>
            <a:ext cx="11893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Extraction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28AF01-D50B-7E4E-B1AB-C8A6D38438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6434" y="2126388"/>
            <a:ext cx="545366" cy="659717"/>
          </a:xfrm>
          <a:prstGeom prst="rect">
            <a:avLst/>
          </a:prstGeom>
        </p:spPr>
      </p:pic>
      <p:sp>
        <p:nvSpPr>
          <p:cNvPr id="59" name="Rectangle 58">
            <a:extLst>
              <a:ext uri="{FF2B5EF4-FFF2-40B4-BE49-F238E27FC236}">
                <a16:creationId xmlns:a16="http://schemas.microsoft.com/office/drawing/2014/main" id="{EB3B584E-88D0-7E49-99E1-BE40247CEABB}"/>
              </a:ext>
            </a:extLst>
          </p:cNvPr>
          <p:cNvSpPr/>
          <p:nvPr/>
        </p:nvSpPr>
        <p:spPr>
          <a:xfrm>
            <a:off x="5915793" y="2005036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A9791ED-740E-E54D-A7AB-F5A452399748}"/>
              </a:ext>
            </a:extLst>
          </p:cNvPr>
          <p:cNvCxnSpPr>
            <a:cxnSpLocks/>
            <a:stCxn id="59" idx="3"/>
          </p:cNvCxnSpPr>
          <p:nvPr/>
        </p:nvCxnSpPr>
        <p:spPr>
          <a:xfrm>
            <a:off x="7302639" y="2456247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662FE968-62A6-5546-B5E4-FA3ADA277C96}"/>
              </a:ext>
            </a:extLst>
          </p:cNvPr>
          <p:cNvSpPr/>
          <p:nvPr/>
        </p:nvSpPr>
        <p:spPr>
          <a:xfrm>
            <a:off x="5915792" y="4060949"/>
            <a:ext cx="1386847" cy="9024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5BF211E-2A99-D54B-BF07-F2A2F8BC406B}"/>
              </a:ext>
            </a:extLst>
          </p:cNvPr>
          <p:cNvCxnSpPr>
            <a:cxnSpLocks/>
            <a:stCxn id="61" idx="3"/>
          </p:cNvCxnSpPr>
          <p:nvPr/>
        </p:nvCxnSpPr>
        <p:spPr>
          <a:xfrm>
            <a:off x="7302638" y="4512160"/>
            <a:ext cx="352908" cy="1992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5DCFE804-23E3-0747-9717-941522C86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6629" y="4209302"/>
            <a:ext cx="545366" cy="659717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334A672-3075-244A-8E89-4152BF73CD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0029" y="2352650"/>
            <a:ext cx="254000" cy="2159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BC2F1C7-EA92-B944-9A6B-387936A23D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2075" y="4337649"/>
            <a:ext cx="279400" cy="330200"/>
          </a:xfrm>
          <a:prstGeom prst="rect">
            <a:avLst/>
          </a:prstGeom>
        </p:spPr>
      </p:pic>
      <p:sp>
        <p:nvSpPr>
          <p:cNvPr id="64" name="Right Brace 63">
            <a:extLst>
              <a:ext uri="{FF2B5EF4-FFF2-40B4-BE49-F238E27FC236}">
                <a16:creationId xmlns:a16="http://schemas.microsoft.com/office/drawing/2014/main" id="{F18B197A-DF71-4541-846E-5A27BC3141B9}"/>
              </a:ext>
            </a:extLst>
          </p:cNvPr>
          <p:cNvSpPr/>
          <p:nvPr/>
        </p:nvSpPr>
        <p:spPr>
          <a:xfrm>
            <a:off x="8196650" y="2149792"/>
            <a:ext cx="481913" cy="270584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D5F754F-A6AA-064C-BE9B-0A9CED3B92D7}"/>
              </a:ext>
            </a:extLst>
          </p:cNvPr>
          <p:cNvSpPr txBox="1"/>
          <p:nvPr/>
        </p:nvSpPr>
        <p:spPr>
          <a:xfrm>
            <a:off x="8803997" y="3041047"/>
            <a:ext cx="15371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latin typeface="Gill Sans MT" panose="020B0502020104020203" pitchFamily="34" charset="77"/>
              </a:rPr>
              <a:t>Vectores</a:t>
            </a:r>
            <a:r>
              <a:rPr lang="en-US" dirty="0">
                <a:latin typeface="Gill Sans MT" panose="020B0502020104020203" pitchFamily="34" charset="77"/>
              </a:rPr>
              <a:t> de n 
</a:t>
            </a:r>
            <a:r>
              <a:rPr lang="en-US" dirty="0" err="1">
                <a:latin typeface="Gill Sans MT" panose="020B0502020104020203" pitchFamily="34" charset="77"/>
              </a:rPr>
              <a:t>elementos</a:t>
            </a:r>
            <a:r>
              <a:rPr lang="en-US" dirty="0">
                <a:latin typeface="Gill Sans MT" panose="020B0502020104020203" pitchFamily="34" charset="77"/>
              </a:rPr>
              <a:t>
(1 x n)</a:t>
            </a: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42720BC9-DD29-174E-A248-95004A62B7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2529" y="5819023"/>
            <a:ext cx="1574800" cy="431800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EDF89CE3-18D6-A143-A475-63D988E27707}"/>
              </a:ext>
            </a:extLst>
          </p:cNvPr>
          <p:cNvSpPr txBox="1"/>
          <p:nvPr/>
        </p:nvSpPr>
        <p:spPr>
          <a:xfrm>
            <a:off x="5582787" y="5447211"/>
            <a:ext cx="6126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Si la imagen-A y la imagen-B son de la </a:t>
            </a:r>
            <a:r>
              <a:rPr lang="en-US" dirty="0" err="1">
                <a:latin typeface="Gill Sans MT" panose="020B0502020104020203" pitchFamily="34" charset="77"/>
              </a:rPr>
              <a:t>misma</a:t>
            </a:r>
            <a:r>
              <a:rPr lang="en-US" dirty="0">
                <a:latin typeface="Gill Sans MT" panose="020B0502020104020203" pitchFamily="34" charset="77"/>
              </a:rPr>
              <a:t> persona
	score s es </a:t>
            </a:r>
            <a:r>
              <a:rPr lang="en-US" dirty="0" err="1">
                <a:latin typeface="Gill Sans MT" panose="020B0502020104020203" pitchFamily="34" charset="77"/>
              </a:rPr>
              <a:t>alta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8656C8B-8362-BE4B-A594-A268B4442B6F}"/>
              </a:ext>
            </a:extLst>
          </p:cNvPr>
          <p:cNvSpPr txBox="1"/>
          <p:nvPr/>
        </p:nvSpPr>
        <p:spPr>
          <a:xfrm>
            <a:off x="5562884" y="6113389"/>
            <a:ext cx="5368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Si la imagen-A y la imagen-B son de personas </a:t>
            </a:r>
            <a:r>
              <a:rPr lang="en-US" dirty="0" err="1">
                <a:latin typeface="Gill Sans MT" panose="020B0502020104020203" pitchFamily="34" charset="77"/>
              </a:rPr>
              <a:t>diferentes</a:t>
            </a:r>
            <a:r>
              <a:rPr lang="en-US" dirty="0">
                <a:latin typeface="Gill Sans MT" panose="020B0502020104020203" pitchFamily="34" charset="77"/>
              </a:rPr>
              <a:t>
	score s es baja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65B486D-6FB2-7D42-96B7-8B6568448611}"/>
              </a:ext>
            </a:extLst>
          </p:cNvPr>
          <p:cNvSpPr txBox="1"/>
          <p:nvPr/>
        </p:nvSpPr>
        <p:spPr>
          <a:xfrm>
            <a:off x="1858344" y="5793301"/>
            <a:ext cx="15424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Similitud</a:t>
            </a:r>
            <a:r>
              <a:rPr lang="en-US" dirty="0">
                <a:latin typeface="Gill Sans MT" panose="020B0502020104020203" pitchFamily="34" charset="77"/>
              </a:rPr>
              <a:t>:</a:t>
            </a:r>
          </a:p>
          <a:p>
            <a:r>
              <a:rPr lang="en-US" dirty="0">
                <a:latin typeface="Gill Sans MT" panose="020B0502020104020203" pitchFamily="34" charset="77"/>
              </a:rPr>
              <a:t>cos - similarity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7DF729B-0322-A847-988A-F770DF6FBDA6}"/>
              </a:ext>
            </a:extLst>
          </p:cNvPr>
          <p:cNvCxnSpPr/>
          <p:nvPr/>
        </p:nvCxnSpPr>
        <p:spPr>
          <a:xfrm flipV="1">
            <a:off x="9098692" y="1130397"/>
            <a:ext cx="691978" cy="8746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7BEDB152-5053-984F-B44D-A5F256A5834F}"/>
              </a:ext>
            </a:extLst>
          </p:cNvPr>
          <p:cNvCxnSpPr>
            <a:cxnSpLocks/>
          </p:cNvCxnSpPr>
          <p:nvPr/>
        </p:nvCxnSpPr>
        <p:spPr>
          <a:xfrm flipV="1">
            <a:off x="9098692" y="1456615"/>
            <a:ext cx="976184" cy="5484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6" name="Picture 75">
            <a:extLst>
              <a:ext uri="{FF2B5EF4-FFF2-40B4-BE49-F238E27FC236}">
                <a16:creationId xmlns:a16="http://schemas.microsoft.com/office/drawing/2014/main" id="{2DCB79CC-8BD0-F74B-BC20-D345004B11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0876" y="894125"/>
            <a:ext cx="254000" cy="215900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758A6C4-2788-4C48-B4BE-0640C73071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7769" y="1291514"/>
            <a:ext cx="279400" cy="330200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CBA3E7E7-479D-8D46-AADC-65CA55A495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89083" y="1366963"/>
            <a:ext cx="101600" cy="171450"/>
          </a:xfrm>
          <a:prstGeom prst="rect">
            <a:avLst/>
          </a:prstGeom>
        </p:spPr>
      </p:pic>
      <p:sp>
        <p:nvSpPr>
          <p:cNvPr id="79" name="Arc 78">
            <a:extLst>
              <a:ext uri="{FF2B5EF4-FFF2-40B4-BE49-F238E27FC236}">
                <a16:creationId xmlns:a16="http://schemas.microsoft.com/office/drawing/2014/main" id="{84CAE9D0-EE7E-FC4D-A795-2715206C87CC}"/>
              </a:ext>
            </a:extLst>
          </p:cNvPr>
          <p:cNvSpPr/>
          <p:nvPr/>
        </p:nvSpPr>
        <p:spPr>
          <a:xfrm>
            <a:off x="9333473" y="1614100"/>
            <a:ext cx="210065" cy="171450"/>
          </a:xfrm>
          <a:prstGeom prst="arc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05DAF23E-6272-0E4A-AE5D-8E7EA11889A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10953" y="2167387"/>
            <a:ext cx="1321605" cy="31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4988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B034BF2-3B2C-4041-AC19-EB381E39870B}"/>
              </a:ext>
            </a:extLst>
          </p:cNvPr>
          <p:cNvSpPr/>
          <p:nvPr/>
        </p:nvSpPr>
        <p:spPr>
          <a:xfrm>
            <a:off x="2055342" y="1013255"/>
            <a:ext cx="2693773" cy="3830595"/>
          </a:xfrm>
          <a:prstGeom prst="roundRect">
            <a:avLst>
              <a:gd name="adj" fmla="val 5713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991E28-2EFE-284D-88AD-1706FD6D1FD8}"/>
              </a:ext>
            </a:extLst>
          </p:cNvPr>
          <p:cNvSpPr txBox="1"/>
          <p:nvPr/>
        </p:nvSpPr>
        <p:spPr>
          <a:xfrm>
            <a:off x="2139295" y="590717"/>
            <a:ext cx="2476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</a:rPr>
              <a:t>Conjunto de imágenes 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2B9D39-2565-374C-A785-5B8262B384F8}"/>
              </a:ext>
            </a:extLst>
          </p:cNvPr>
          <p:cNvSpPr/>
          <p:nvPr/>
        </p:nvSpPr>
        <p:spPr>
          <a:xfrm>
            <a:off x="2639541" y="1419657"/>
            <a:ext cx="518984" cy="59312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286A17-4A41-CB4A-AB78-BDA3AC128150}"/>
              </a:ext>
            </a:extLst>
          </p:cNvPr>
          <p:cNvSpPr txBox="1"/>
          <p:nvPr/>
        </p:nvSpPr>
        <p:spPr>
          <a:xfrm>
            <a:off x="2565448" y="1393054"/>
            <a:ext cx="6671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Face 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431107-7A02-9A41-9D72-559A75A42D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214" y="1608610"/>
            <a:ext cx="406400" cy="2921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D238D14-BBB8-954D-94C7-12025B64E923}"/>
              </a:ext>
            </a:extLst>
          </p:cNvPr>
          <p:cNvCxnSpPr/>
          <p:nvPr/>
        </p:nvCxnSpPr>
        <p:spPr>
          <a:xfrm>
            <a:off x="3192160" y="1729946"/>
            <a:ext cx="5807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1812BFB8-169A-524C-B782-3441946B45CC}"/>
              </a:ext>
            </a:extLst>
          </p:cNvPr>
          <p:cNvSpPr/>
          <p:nvPr/>
        </p:nvSpPr>
        <p:spPr>
          <a:xfrm>
            <a:off x="2631300" y="2214612"/>
            <a:ext cx="518984" cy="59312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5B3186-D787-8049-9A30-44D667EB97F7}"/>
              </a:ext>
            </a:extLst>
          </p:cNvPr>
          <p:cNvSpPr txBox="1"/>
          <p:nvPr/>
        </p:nvSpPr>
        <p:spPr>
          <a:xfrm>
            <a:off x="2557207" y="2188009"/>
            <a:ext cx="6671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Face 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58B1C0D-1841-6747-AE78-10C278EDC94F}"/>
              </a:ext>
            </a:extLst>
          </p:cNvPr>
          <p:cNvCxnSpPr/>
          <p:nvPr/>
        </p:nvCxnSpPr>
        <p:spPr>
          <a:xfrm>
            <a:off x="3183919" y="2524901"/>
            <a:ext cx="5807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8943FAFC-61FC-194B-B2DF-966577079200}"/>
              </a:ext>
            </a:extLst>
          </p:cNvPr>
          <p:cNvSpPr/>
          <p:nvPr/>
        </p:nvSpPr>
        <p:spPr>
          <a:xfrm>
            <a:off x="2676889" y="3789324"/>
            <a:ext cx="518984" cy="59312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BACEC5-35FE-0A44-99C5-864FFD6EB074}"/>
              </a:ext>
            </a:extLst>
          </p:cNvPr>
          <p:cNvSpPr txBox="1"/>
          <p:nvPr/>
        </p:nvSpPr>
        <p:spPr>
          <a:xfrm>
            <a:off x="2602796" y="3762721"/>
            <a:ext cx="6671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Face 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m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892FAE-6EC2-4C43-AB8E-2A1181EA32F3}"/>
              </a:ext>
            </a:extLst>
          </p:cNvPr>
          <p:cNvCxnSpPr/>
          <p:nvPr/>
        </p:nvCxnSpPr>
        <p:spPr>
          <a:xfrm>
            <a:off x="3229508" y="4099613"/>
            <a:ext cx="5807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A55DC4FF-4796-E74D-A1DF-AAAB15FE2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276" y="2423037"/>
            <a:ext cx="406400" cy="2921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C417CED-FDD5-7449-A3FD-3CBD0D99BC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8602" y="4035035"/>
            <a:ext cx="558800" cy="2921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5C37D7C-B3A9-464F-8240-EF6060D550D9}"/>
              </a:ext>
            </a:extLst>
          </p:cNvPr>
          <p:cNvSpPr txBox="1"/>
          <p:nvPr/>
        </p:nvSpPr>
        <p:spPr>
          <a:xfrm>
            <a:off x="2775441" y="2917527"/>
            <a:ext cx="2359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:</a:t>
            </a:r>
          </a:p>
          <a:p>
            <a:r>
              <a:rPr lang="en-US" dirty="0">
                <a:latin typeface="Gill Sans MT" panose="020B0502020104020203" pitchFamily="34" charset="77"/>
              </a:rPr>
              <a:t>: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B04ABB76-97E0-1346-88C7-6CBABF859B4A}"/>
              </a:ext>
            </a:extLst>
          </p:cNvPr>
          <p:cNvSpPr/>
          <p:nvPr/>
        </p:nvSpPr>
        <p:spPr>
          <a:xfrm>
            <a:off x="5400861" y="1013255"/>
            <a:ext cx="2693773" cy="3830595"/>
          </a:xfrm>
          <a:prstGeom prst="roundRect">
            <a:avLst>
              <a:gd name="adj" fmla="val 5713"/>
            </a:avLst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8AC2BE-66FC-1A44-8AD5-21D16A616E99}"/>
              </a:ext>
            </a:extLst>
          </p:cNvPr>
          <p:cNvSpPr txBox="1"/>
          <p:nvPr/>
        </p:nvSpPr>
        <p:spPr>
          <a:xfrm>
            <a:off x="5484814" y="590717"/>
            <a:ext cx="2475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</a:rPr>
              <a:t>Conjunto de imágenes B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AF06999-BA8D-E14D-96D6-52953AC7D3F2}"/>
              </a:ext>
            </a:extLst>
          </p:cNvPr>
          <p:cNvSpPr/>
          <p:nvPr/>
        </p:nvSpPr>
        <p:spPr>
          <a:xfrm>
            <a:off x="5985060" y="1419657"/>
            <a:ext cx="518984" cy="59312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72488E-BD61-664A-935E-57147AC637E8}"/>
              </a:ext>
            </a:extLst>
          </p:cNvPr>
          <p:cNvSpPr txBox="1"/>
          <p:nvPr/>
        </p:nvSpPr>
        <p:spPr>
          <a:xfrm>
            <a:off x="5910967" y="1393054"/>
            <a:ext cx="6671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Face 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7D70AD1-BE54-B440-BFCE-6FD9CA62E7FB}"/>
              </a:ext>
            </a:extLst>
          </p:cNvPr>
          <p:cNvCxnSpPr/>
          <p:nvPr/>
        </p:nvCxnSpPr>
        <p:spPr>
          <a:xfrm>
            <a:off x="6537679" y="1729946"/>
            <a:ext cx="5807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5D45BAC4-96CE-9042-A561-AF53E0F1DF64}"/>
              </a:ext>
            </a:extLst>
          </p:cNvPr>
          <p:cNvSpPr/>
          <p:nvPr/>
        </p:nvSpPr>
        <p:spPr>
          <a:xfrm>
            <a:off x="5976819" y="2214612"/>
            <a:ext cx="518984" cy="59312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E2D481-5F31-E14B-9F40-79828B2C938B}"/>
              </a:ext>
            </a:extLst>
          </p:cNvPr>
          <p:cNvSpPr txBox="1"/>
          <p:nvPr/>
        </p:nvSpPr>
        <p:spPr>
          <a:xfrm>
            <a:off x="5902726" y="2188009"/>
            <a:ext cx="6671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Face 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2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940A6E7-0906-2242-834F-34825BCA1029}"/>
              </a:ext>
            </a:extLst>
          </p:cNvPr>
          <p:cNvCxnSpPr/>
          <p:nvPr/>
        </p:nvCxnSpPr>
        <p:spPr>
          <a:xfrm>
            <a:off x="6529438" y="2524901"/>
            <a:ext cx="5807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240ED9C1-20B8-064D-ACCC-55D853016315}"/>
              </a:ext>
            </a:extLst>
          </p:cNvPr>
          <p:cNvSpPr/>
          <p:nvPr/>
        </p:nvSpPr>
        <p:spPr>
          <a:xfrm>
            <a:off x="6022408" y="3789324"/>
            <a:ext cx="518984" cy="59312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63F400-B065-F84A-B929-D12C469C4C86}"/>
              </a:ext>
            </a:extLst>
          </p:cNvPr>
          <p:cNvSpPr txBox="1"/>
          <p:nvPr/>
        </p:nvSpPr>
        <p:spPr>
          <a:xfrm>
            <a:off x="5948315" y="3762721"/>
            <a:ext cx="6671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Face 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0FD932F-AD33-EF47-966A-46606CE09AE4}"/>
              </a:ext>
            </a:extLst>
          </p:cNvPr>
          <p:cNvCxnSpPr/>
          <p:nvPr/>
        </p:nvCxnSpPr>
        <p:spPr>
          <a:xfrm>
            <a:off x="6575027" y="4099613"/>
            <a:ext cx="5807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0981B90-F055-7F41-9268-A2F7F3AAE037}"/>
              </a:ext>
            </a:extLst>
          </p:cNvPr>
          <p:cNvSpPr txBox="1"/>
          <p:nvPr/>
        </p:nvSpPr>
        <p:spPr>
          <a:xfrm>
            <a:off x="6120960" y="2917527"/>
            <a:ext cx="2359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:</a:t>
            </a:r>
          </a:p>
          <a:p>
            <a:r>
              <a:rPr lang="en-US" dirty="0">
                <a:latin typeface="Gill Sans MT" panose="020B0502020104020203" pitchFamily="34" charset="77"/>
              </a:rPr>
              <a:t>: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F9C3550-8BFA-C549-9EBD-939E750115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0641" y="3907870"/>
            <a:ext cx="596900" cy="4064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FE06E31D-BF5A-2445-8046-A50C2D23BC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8532" y="2365887"/>
            <a:ext cx="444500" cy="4064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E9A78BE4-5E76-4B47-A0A4-3BCA2A89EF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4740" y="1551460"/>
            <a:ext cx="431800" cy="4064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B236F42-1C9C-C548-B648-10A3883CD824}"/>
              </a:ext>
            </a:extLst>
          </p:cNvPr>
          <p:cNvSpPr txBox="1"/>
          <p:nvPr/>
        </p:nvSpPr>
        <p:spPr>
          <a:xfrm>
            <a:off x="8765059" y="1393054"/>
            <a:ext cx="215057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La </a:t>
            </a:r>
            <a:r>
              <a:rPr lang="en-US" dirty="0" err="1">
                <a:latin typeface="Gill Sans MT" panose="020B0502020104020203" pitchFamily="34" charset="77"/>
              </a:rPr>
              <a:t>cara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i</a:t>
            </a:r>
            <a:r>
              <a:rPr lang="en-US" dirty="0">
                <a:latin typeface="Gill Sans MT" panose="020B0502020104020203" pitchFamily="34" charset="77"/>
              </a:rPr>
              <a:t> del conjunto A y la </a:t>
            </a:r>
            <a:r>
              <a:rPr lang="en-US" dirty="0" err="1">
                <a:latin typeface="Gill Sans MT" panose="020B0502020104020203" pitchFamily="34" charset="77"/>
              </a:rPr>
              <a:t>cara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i</a:t>
            </a:r>
            <a:r>
              <a:rPr lang="en-US" dirty="0">
                <a:latin typeface="Gill Sans MT" panose="020B0502020104020203" pitchFamily="34" charset="77"/>
              </a:rPr>
              <a:t> del conjunto B son de la </a:t>
            </a:r>
            <a:r>
              <a:rPr lang="en-US" dirty="0" err="1">
                <a:latin typeface="Gill Sans MT" panose="020B0502020104020203" pitchFamily="34" charset="77"/>
              </a:rPr>
              <a:t>misma</a:t>
            </a:r>
            <a:r>
              <a:rPr lang="en-US" dirty="0">
                <a:latin typeface="Gill Sans MT" panose="020B0502020104020203" pitchFamily="34" charset="77"/>
              </a:rPr>
              <a:t> persona.
</a:t>
            </a:r>
          </a:p>
          <a:p>
            <a:r>
              <a:rPr lang="en-US" dirty="0">
                <a:latin typeface="Gill Sans MT" panose="020B0502020104020203" pitchFamily="34" charset="77"/>
              </a:rPr>
              <a:t>La </a:t>
            </a:r>
            <a:r>
              <a:rPr lang="en-US" dirty="0" err="1">
                <a:latin typeface="Gill Sans MT" panose="020B0502020104020203" pitchFamily="34" charset="77"/>
              </a:rPr>
              <a:t>cara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i</a:t>
            </a:r>
            <a:r>
              <a:rPr lang="en-US" dirty="0">
                <a:latin typeface="Gill Sans MT" panose="020B0502020104020203" pitchFamily="34" charset="77"/>
              </a:rPr>
              <a:t> del conjunto A y la </a:t>
            </a:r>
            <a:r>
              <a:rPr lang="en-US" dirty="0" err="1">
                <a:latin typeface="Gill Sans MT" panose="020B0502020104020203" pitchFamily="34" charset="77"/>
              </a:rPr>
              <a:t>cara</a:t>
            </a:r>
            <a:r>
              <a:rPr lang="en-US" dirty="0">
                <a:latin typeface="Gill Sans MT" panose="020B0502020104020203" pitchFamily="34" charset="77"/>
              </a:rPr>
              <a:t> j del conjunto B para </a:t>
            </a:r>
            <a:r>
              <a:rPr lang="en-US" dirty="0" err="1">
                <a:latin typeface="Gill Sans MT" panose="020B0502020104020203" pitchFamily="34" charset="77"/>
              </a:rPr>
              <a:t>i</a:t>
            </a:r>
            <a:r>
              <a:rPr lang="en-US" dirty="0">
                <a:latin typeface="Gill Sans MT" panose="020B0502020104020203" pitchFamily="34" charset="77"/>
              </a:rPr>
              <a:t>=j son de personas </a:t>
            </a:r>
            <a:r>
              <a:rPr lang="en-US" dirty="0" err="1">
                <a:latin typeface="Gill Sans MT" panose="020B0502020104020203" pitchFamily="34" charset="77"/>
              </a:rPr>
              <a:t>diferentes</a:t>
            </a:r>
            <a:r>
              <a:rPr lang="en-US" dirty="0">
                <a:latin typeface="Gill Sans MT" panose="020B0502020104020203" pitchFamily="34" charset="77"/>
              </a:rPr>
              <a:t>.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C4EA921-4B44-4F46-9A6A-E4EF147D8084}"/>
              </a:ext>
            </a:extLst>
          </p:cNvPr>
          <p:cNvCxnSpPr/>
          <p:nvPr/>
        </p:nvCxnSpPr>
        <p:spPr>
          <a:xfrm flipH="1">
            <a:off x="9741243" y="3669958"/>
            <a:ext cx="98854" cy="2379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0D78F9F-41B0-D44B-A7FA-3D76A369A864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3402228" y="4843850"/>
            <a:ext cx="1" cy="336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5" name="Picture 44">
            <a:extLst>
              <a:ext uri="{FF2B5EF4-FFF2-40B4-BE49-F238E27FC236}">
                <a16:creationId xmlns:a16="http://schemas.microsoft.com/office/drawing/2014/main" id="{1696726A-02A0-CC4E-8D8F-57A917463A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73204" y="5793527"/>
            <a:ext cx="1143000" cy="39370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3CE183D8-8197-CF44-983D-CAF91B86F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484" y="5381558"/>
            <a:ext cx="289575" cy="208132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8C928A8-2228-6C45-BB91-C4D0B441F3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7260" y="5751137"/>
            <a:ext cx="289575" cy="208132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C027F490-9686-2040-99DD-4BAD353C2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016" y="6238667"/>
            <a:ext cx="398165" cy="208132"/>
          </a:xfrm>
          <a:prstGeom prst="rect">
            <a:avLst/>
          </a:prstGeom>
        </p:spPr>
      </p:pic>
      <p:sp>
        <p:nvSpPr>
          <p:cNvPr id="49" name="Right Bracket 48">
            <a:extLst>
              <a:ext uri="{FF2B5EF4-FFF2-40B4-BE49-F238E27FC236}">
                <a16:creationId xmlns:a16="http://schemas.microsoft.com/office/drawing/2014/main" id="{E520D491-4F65-C548-8C7B-2B6C5B6460A8}"/>
              </a:ext>
            </a:extLst>
          </p:cNvPr>
          <p:cNvSpPr/>
          <p:nvPr/>
        </p:nvSpPr>
        <p:spPr>
          <a:xfrm>
            <a:off x="3897737" y="5354080"/>
            <a:ext cx="108590" cy="1139914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0" name="Right Bracket 49">
            <a:extLst>
              <a:ext uri="{FF2B5EF4-FFF2-40B4-BE49-F238E27FC236}">
                <a16:creationId xmlns:a16="http://schemas.microsoft.com/office/drawing/2014/main" id="{CCDF427A-415F-0842-A9A7-4ADE8C268661}"/>
              </a:ext>
            </a:extLst>
          </p:cNvPr>
          <p:cNvSpPr/>
          <p:nvPr/>
        </p:nvSpPr>
        <p:spPr>
          <a:xfrm rot="10800000">
            <a:off x="3419939" y="5370553"/>
            <a:ext cx="108590" cy="1139914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B5ED485-CFDC-804C-8D30-AC6C87A92B53}"/>
              </a:ext>
            </a:extLst>
          </p:cNvPr>
          <p:cNvCxnSpPr>
            <a:cxnSpLocks/>
          </p:cNvCxnSpPr>
          <p:nvPr/>
        </p:nvCxnSpPr>
        <p:spPr>
          <a:xfrm flipH="1">
            <a:off x="6717964" y="4835609"/>
            <a:ext cx="1" cy="3368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Picture 53">
            <a:extLst>
              <a:ext uri="{FF2B5EF4-FFF2-40B4-BE49-F238E27FC236}">
                <a16:creationId xmlns:a16="http://schemas.microsoft.com/office/drawing/2014/main" id="{0D223882-F2C8-F046-8EE3-8F15EF26EF4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85142" y="5793527"/>
            <a:ext cx="1155700" cy="393700"/>
          </a:xfrm>
          <a:prstGeom prst="rect">
            <a:avLst/>
          </a:prstGeom>
        </p:spPr>
      </p:pic>
      <p:sp>
        <p:nvSpPr>
          <p:cNvPr id="55" name="Right Bracket 54">
            <a:extLst>
              <a:ext uri="{FF2B5EF4-FFF2-40B4-BE49-F238E27FC236}">
                <a16:creationId xmlns:a16="http://schemas.microsoft.com/office/drawing/2014/main" id="{62C263D8-038C-044E-A307-2FC3850BDA30}"/>
              </a:ext>
            </a:extLst>
          </p:cNvPr>
          <p:cNvSpPr/>
          <p:nvPr/>
        </p:nvSpPr>
        <p:spPr>
          <a:xfrm>
            <a:off x="7435901" y="5370553"/>
            <a:ext cx="108590" cy="1139914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Bracket 55">
            <a:extLst>
              <a:ext uri="{FF2B5EF4-FFF2-40B4-BE49-F238E27FC236}">
                <a16:creationId xmlns:a16="http://schemas.microsoft.com/office/drawing/2014/main" id="{EC641321-0F57-E743-B40D-F624BEE809BB}"/>
              </a:ext>
            </a:extLst>
          </p:cNvPr>
          <p:cNvSpPr/>
          <p:nvPr/>
        </p:nvSpPr>
        <p:spPr>
          <a:xfrm rot="10800000">
            <a:off x="6958103" y="5387026"/>
            <a:ext cx="108590" cy="1139914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255B3435-E0A8-174E-9C73-CBA41F87C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9408" y="6208545"/>
            <a:ext cx="399909" cy="272278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1151585B-DC39-654F-ABB7-B72333735A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3278" y="5718099"/>
            <a:ext cx="297804" cy="272278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8D06DDB-A002-5741-BEC8-88CAF91D42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4758" y="5385583"/>
            <a:ext cx="289296" cy="272278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7DA46219-BF5C-7549-9C33-D0DD7C78A375}"/>
              </a:ext>
            </a:extLst>
          </p:cNvPr>
          <p:cNvSpPr txBox="1"/>
          <p:nvPr/>
        </p:nvSpPr>
        <p:spPr>
          <a:xfrm>
            <a:off x="7119442" y="5912455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: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0559AF8-0453-484C-A258-551286669BB7}"/>
              </a:ext>
            </a:extLst>
          </p:cNvPr>
          <p:cNvSpPr txBox="1"/>
          <p:nvPr/>
        </p:nvSpPr>
        <p:spPr>
          <a:xfrm>
            <a:off x="3564805" y="5891857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: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D681823-A151-874E-801A-E85F6E6D2F0E}"/>
              </a:ext>
            </a:extLst>
          </p:cNvPr>
          <p:cNvSpPr txBox="1"/>
          <p:nvPr/>
        </p:nvSpPr>
        <p:spPr>
          <a:xfrm>
            <a:off x="1850384" y="6382782"/>
            <a:ext cx="1754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</a:rPr>
              <a:t>m x n elementos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B91B959-2A27-0744-BEAC-05577D937A51}"/>
              </a:ext>
            </a:extLst>
          </p:cNvPr>
          <p:cNvSpPr txBox="1"/>
          <p:nvPr/>
        </p:nvSpPr>
        <p:spPr>
          <a:xfrm>
            <a:off x="5252619" y="6399255"/>
            <a:ext cx="1754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</a:rPr>
              <a:t>m x n elementos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999360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599E86-44AB-0045-80E4-04EFC7C43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135" y="815888"/>
            <a:ext cx="4318343" cy="43183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1D1D31-F840-264F-9279-41EC2DD4B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597" y="2618602"/>
            <a:ext cx="2743200" cy="53340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693C1DCC-4127-7B44-B8CB-128F9E70ED5B}"/>
              </a:ext>
            </a:extLst>
          </p:cNvPr>
          <p:cNvSpPr/>
          <p:nvPr/>
        </p:nvSpPr>
        <p:spPr>
          <a:xfrm rot="2802933">
            <a:off x="4901516" y="2727923"/>
            <a:ext cx="5319578" cy="494271"/>
          </a:xfrm>
          <a:prstGeom prst="ellipse">
            <a:avLst/>
          </a:prstGeom>
          <a:solidFill>
            <a:schemeClr val="tx2">
              <a:lumMod val="20000"/>
              <a:lumOff val="80000"/>
              <a:alpha val="4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5F59E7-9B3D-4E49-B4E0-79677DECB9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2738" y="5685997"/>
            <a:ext cx="1079500" cy="342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079C7E3-86DD-9A4D-AE0E-046B35F5E2FE}"/>
              </a:ext>
            </a:extLst>
          </p:cNvPr>
          <p:cNvSpPr txBox="1"/>
          <p:nvPr/>
        </p:nvSpPr>
        <p:spPr>
          <a:xfrm>
            <a:off x="3793699" y="5610997"/>
            <a:ext cx="613456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Similitud</a:t>
            </a:r>
            <a:r>
              <a:rPr lang="en-US" dirty="0">
                <a:latin typeface="Gill Sans MT" panose="020B0502020104020203" pitchFamily="34" charset="77"/>
              </a:rPr>
              <a:t> entre la </a:t>
            </a:r>
            <a:r>
              <a:rPr lang="en-US" dirty="0" err="1">
                <a:latin typeface="Gill Sans MT" panose="020B0502020104020203" pitchFamily="34" charset="77"/>
              </a:rPr>
              <a:t>cara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i</a:t>
            </a:r>
            <a:r>
              <a:rPr lang="en-US" dirty="0">
                <a:latin typeface="Gill Sans MT" panose="020B0502020104020203" pitchFamily="34" charset="77"/>
              </a:rPr>
              <a:t> del conjunto A y la </a:t>
            </a:r>
            <a:r>
              <a:rPr lang="en-US" dirty="0" err="1">
                <a:latin typeface="Gill Sans MT" panose="020B0502020104020203" pitchFamily="34" charset="77"/>
              </a:rPr>
              <a:t>cara</a:t>
            </a:r>
            <a:r>
              <a:rPr lang="en-US" dirty="0">
                <a:latin typeface="Gill Sans MT" panose="020B0502020104020203" pitchFamily="34" charset="77"/>
              </a:rPr>
              <a:t> j del conjunto B</a:t>
            </a:r>
          </a:p>
          <a:p>
            <a:r>
              <a:rPr lang="en-US" dirty="0">
                <a:latin typeface="Gill Sans MT" panose="020B0502020104020203" pitchFamily="34" charset="77"/>
              </a:rPr>
              <a:t>
d+: Diagonal: pares </a:t>
            </a:r>
            <a:r>
              <a:rPr lang="en-US" dirty="0" err="1">
                <a:latin typeface="Gill Sans MT" panose="020B0502020104020203" pitchFamily="34" charset="77"/>
              </a:rPr>
              <a:t>positivos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genuines</a:t>
            </a:r>
            <a:r>
              <a:rPr lang="en-US" dirty="0">
                <a:latin typeface="Gill Sans MT" panose="020B0502020104020203" pitchFamily="34" charset="77"/>
              </a:rPr>
              <a:t>)
d-: No Diagonal: pares </a:t>
            </a:r>
            <a:r>
              <a:rPr lang="en-US" dirty="0" err="1">
                <a:latin typeface="Gill Sans MT" panose="020B0502020104020203" pitchFamily="34" charset="77"/>
              </a:rPr>
              <a:t>negativos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impostores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6DF63-9A3A-6048-81F3-B1DB98FCA3F3}"/>
              </a:ext>
            </a:extLst>
          </p:cNvPr>
          <p:cNvSpPr txBox="1"/>
          <p:nvPr/>
        </p:nvSpPr>
        <p:spPr>
          <a:xfrm>
            <a:off x="2174858" y="3336667"/>
            <a:ext cx="1816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m x m </a:t>
            </a:r>
            <a:r>
              <a:rPr lang="en-US" dirty="0" err="1">
                <a:latin typeface="Gill Sans MT" panose="020B0502020104020203" pitchFamily="34" charset="77"/>
              </a:rPr>
              <a:t>elementos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062266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599E86-44AB-0045-80E4-04EFC7C43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135" y="815888"/>
            <a:ext cx="4318343" cy="43183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1D1D31-F840-264F-9279-41EC2DD4B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597" y="2618602"/>
            <a:ext cx="2743200" cy="53340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693C1DCC-4127-7B44-B8CB-128F9E70ED5B}"/>
              </a:ext>
            </a:extLst>
          </p:cNvPr>
          <p:cNvSpPr/>
          <p:nvPr/>
        </p:nvSpPr>
        <p:spPr>
          <a:xfrm rot="2802933">
            <a:off x="4901516" y="2727923"/>
            <a:ext cx="5319578" cy="494271"/>
          </a:xfrm>
          <a:prstGeom prst="ellipse">
            <a:avLst/>
          </a:prstGeom>
          <a:solidFill>
            <a:schemeClr val="tx2">
              <a:lumMod val="20000"/>
              <a:lumOff val="80000"/>
              <a:alpha val="40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5F59E7-9B3D-4E49-B4E0-79677DECB9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2738" y="5685997"/>
            <a:ext cx="1079500" cy="34290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E01E7BB-6FD9-0245-BCED-79A6A0569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3000" y="728183"/>
            <a:ext cx="5644912" cy="5001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02C334B-E7DB-01D0-6881-A1675E2887DC}"/>
              </a:ext>
            </a:extLst>
          </p:cNvPr>
          <p:cNvSpPr txBox="1"/>
          <p:nvPr/>
        </p:nvSpPr>
        <p:spPr>
          <a:xfrm>
            <a:off x="3793699" y="5610997"/>
            <a:ext cx="613456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Similitud</a:t>
            </a:r>
            <a:r>
              <a:rPr lang="en-US" dirty="0">
                <a:latin typeface="Gill Sans MT" panose="020B0502020104020203" pitchFamily="34" charset="77"/>
              </a:rPr>
              <a:t> entre la </a:t>
            </a:r>
            <a:r>
              <a:rPr lang="en-US" dirty="0" err="1">
                <a:latin typeface="Gill Sans MT" panose="020B0502020104020203" pitchFamily="34" charset="77"/>
              </a:rPr>
              <a:t>cara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i</a:t>
            </a:r>
            <a:r>
              <a:rPr lang="en-US" dirty="0">
                <a:latin typeface="Gill Sans MT" panose="020B0502020104020203" pitchFamily="34" charset="77"/>
              </a:rPr>
              <a:t> del conjunto A y la </a:t>
            </a:r>
            <a:r>
              <a:rPr lang="en-US" dirty="0" err="1">
                <a:latin typeface="Gill Sans MT" panose="020B0502020104020203" pitchFamily="34" charset="77"/>
              </a:rPr>
              <a:t>cara</a:t>
            </a:r>
            <a:r>
              <a:rPr lang="en-US" dirty="0">
                <a:latin typeface="Gill Sans MT" panose="020B0502020104020203" pitchFamily="34" charset="77"/>
              </a:rPr>
              <a:t> j del conjunto B</a:t>
            </a:r>
          </a:p>
          <a:p>
            <a:r>
              <a:rPr lang="en-US" dirty="0">
                <a:latin typeface="Gill Sans MT" panose="020B0502020104020203" pitchFamily="34" charset="77"/>
              </a:rPr>
              <a:t>
d+: Diagonal: pares </a:t>
            </a:r>
            <a:r>
              <a:rPr lang="en-US" dirty="0" err="1">
                <a:latin typeface="Gill Sans MT" panose="020B0502020104020203" pitchFamily="34" charset="77"/>
              </a:rPr>
              <a:t>positivos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genuines</a:t>
            </a:r>
            <a:r>
              <a:rPr lang="en-US" dirty="0">
                <a:latin typeface="Gill Sans MT" panose="020B0502020104020203" pitchFamily="34" charset="77"/>
              </a:rPr>
              <a:t>)
d-: No Diagonal: pares </a:t>
            </a:r>
            <a:r>
              <a:rPr lang="en-US" dirty="0" err="1">
                <a:latin typeface="Gill Sans MT" panose="020B0502020104020203" pitchFamily="34" charset="77"/>
              </a:rPr>
              <a:t>negativos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impostores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AAA497-93E9-6F67-2D4F-5F9F57A2FE23}"/>
              </a:ext>
            </a:extLst>
          </p:cNvPr>
          <p:cNvSpPr txBox="1"/>
          <p:nvPr/>
        </p:nvSpPr>
        <p:spPr>
          <a:xfrm>
            <a:off x="2174858" y="3336667"/>
            <a:ext cx="1816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m x m </a:t>
            </a:r>
            <a:r>
              <a:rPr lang="en-US" dirty="0" err="1">
                <a:latin typeface="Gill Sans MT" panose="020B0502020104020203" pitchFamily="34" charset="77"/>
              </a:rPr>
              <a:t>elementos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534779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4615F0-730A-5943-9922-C52853C60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500" y="480711"/>
            <a:ext cx="5969000" cy="46609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E25BABD-D0DF-1349-988F-23A7A6452590}"/>
              </a:ext>
            </a:extLst>
          </p:cNvPr>
          <p:cNvCxnSpPr/>
          <p:nvPr/>
        </p:nvCxnSpPr>
        <p:spPr>
          <a:xfrm>
            <a:off x="9259331" y="4868562"/>
            <a:ext cx="9020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80B645F-E6A3-9840-9B17-1979D7A76614}"/>
              </a:ext>
            </a:extLst>
          </p:cNvPr>
          <p:cNvSpPr txBox="1"/>
          <p:nvPr/>
        </p:nvSpPr>
        <p:spPr>
          <a:xfrm>
            <a:off x="9630032" y="4972729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BF96432-413A-9647-8411-CBCAF920547E}"/>
              </a:ext>
            </a:extLst>
          </p:cNvPr>
          <p:cNvCxnSpPr>
            <a:cxnSpLocks/>
          </p:cNvCxnSpPr>
          <p:nvPr/>
        </p:nvCxnSpPr>
        <p:spPr>
          <a:xfrm flipV="1">
            <a:off x="2562415" y="2082802"/>
            <a:ext cx="0" cy="1402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612043D-3D59-5446-9501-E51794B0A6DD}"/>
              </a:ext>
            </a:extLst>
          </p:cNvPr>
          <p:cNvSpPr txBox="1"/>
          <p:nvPr/>
        </p:nvSpPr>
        <p:spPr>
          <a:xfrm rot="16200000">
            <a:off x="802556" y="2664587"/>
            <a:ext cx="2876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Probability density frequency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0215F68-D06E-404C-9298-C531E5F669E9}"/>
              </a:ext>
            </a:extLst>
          </p:cNvPr>
          <p:cNvGrpSpPr/>
          <p:nvPr/>
        </p:nvGrpSpPr>
        <p:grpSpPr>
          <a:xfrm>
            <a:off x="6257290" y="2778728"/>
            <a:ext cx="203200" cy="3553493"/>
            <a:chOff x="4733290" y="2778727"/>
            <a:chExt cx="203200" cy="35534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23BCCF5-BF9B-F041-9EBB-89098CA1E7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618" y="2778727"/>
              <a:ext cx="0" cy="3204171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DCC00B-C696-D846-9647-496AEFE3B8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33290" y="5989320"/>
              <a:ext cx="203200" cy="342900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E409-9470-C149-861A-FAE1875DE044}"/>
              </a:ext>
            </a:extLst>
          </p:cNvPr>
          <p:cNvGrpSpPr/>
          <p:nvPr/>
        </p:nvGrpSpPr>
        <p:grpSpPr>
          <a:xfrm>
            <a:off x="2969502" y="3243729"/>
            <a:ext cx="3393199" cy="3240207"/>
            <a:chOff x="1445501" y="3243728"/>
            <a:chExt cx="3393199" cy="3240207"/>
          </a:xfrm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D2D7D07A-C160-7245-BCFA-6DE6DC725D6A}"/>
                </a:ext>
              </a:extLst>
            </p:cNvPr>
            <p:cNvSpPr/>
            <p:nvPr/>
          </p:nvSpPr>
          <p:spPr>
            <a:xfrm>
              <a:off x="3937000" y="3243728"/>
              <a:ext cx="901700" cy="1638300"/>
            </a:xfrm>
            <a:custGeom>
              <a:avLst/>
              <a:gdLst>
                <a:gd name="connsiteX0" fmla="*/ 0 w 901700"/>
                <a:gd name="connsiteY0" fmla="*/ 1638300 h 1638300"/>
                <a:gd name="connsiteX1" fmla="*/ 254000 w 901700"/>
                <a:gd name="connsiteY1" fmla="*/ 1460500 h 1638300"/>
                <a:gd name="connsiteX2" fmla="*/ 469900 w 901700"/>
                <a:gd name="connsiteY2" fmla="*/ 1168400 h 1638300"/>
                <a:gd name="connsiteX3" fmla="*/ 660400 w 901700"/>
                <a:gd name="connsiteY3" fmla="*/ 889000 h 1638300"/>
                <a:gd name="connsiteX4" fmla="*/ 749300 w 901700"/>
                <a:gd name="connsiteY4" fmla="*/ 508000 h 1638300"/>
                <a:gd name="connsiteX5" fmla="*/ 838200 w 901700"/>
                <a:gd name="connsiteY5" fmla="*/ 101600 h 1638300"/>
                <a:gd name="connsiteX6" fmla="*/ 901700 w 901700"/>
                <a:gd name="connsiteY6" fmla="*/ 0 h 1638300"/>
                <a:gd name="connsiteX7" fmla="*/ 901700 w 901700"/>
                <a:gd name="connsiteY7" fmla="*/ 1638300 h 1638300"/>
                <a:gd name="connsiteX8" fmla="*/ 0 w 901700"/>
                <a:gd name="connsiteY8" fmla="*/ 1638300 h 1638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01700" h="1638300">
                  <a:moveTo>
                    <a:pt x="0" y="1638300"/>
                  </a:moveTo>
                  <a:lnTo>
                    <a:pt x="254000" y="1460500"/>
                  </a:lnTo>
                  <a:lnTo>
                    <a:pt x="469900" y="1168400"/>
                  </a:lnTo>
                  <a:lnTo>
                    <a:pt x="660400" y="889000"/>
                  </a:lnTo>
                  <a:lnTo>
                    <a:pt x="749300" y="508000"/>
                  </a:lnTo>
                  <a:lnTo>
                    <a:pt x="838200" y="101600"/>
                  </a:lnTo>
                  <a:lnTo>
                    <a:pt x="901700" y="0"/>
                  </a:lnTo>
                  <a:lnTo>
                    <a:pt x="901700" y="1638300"/>
                  </a:lnTo>
                  <a:lnTo>
                    <a:pt x="0" y="163830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E9B9FCA-F8E0-1A48-86B2-AFFF9E018ED6}"/>
                </a:ext>
              </a:extLst>
            </p:cNvPr>
            <p:cNvGrpSpPr/>
            <p:nvPr/>
          </p:nvGrpSpPr>
          <p:grpSpPr>
            <a:xfrm>
              <a:off x="1445501" y="4640580"/>
              <a:ext cx="3126499" cy="1843355"/>
              <a:chOff x="1445501" y="4640580"/>
              <a:chExt cx="3126499" cy="1843355"/>
            </a:xfrm>
          </p:grpSpPr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F6E9935C-1AD7-4146-92D4-8B5FB0D1BC13}"/>
                  </a:ext>
                </a:extLst>
              </p:cNvPr>
              <p:cNvCxnSpPr/>
              <p:nvPr/>
            </p:nvCxnSpPr>
            <p:spPr>
              <a:xfrm flipH="1">
                <a:off x="3371850" y="4640580"/>
                <a:ext cx="1200150" cy="108585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2ECD1CE-5DA9-214A-B57B-9E8905FB9315}"/>
                  </a:ext>
                </a:extLst>
              </p:cNvPr>
              <p:cNvSpPr txBox="1"/>
              <p:nvPr/>
            </p:nvSpPr>
            <p:spPr>
              <a:xfrm>
                <a:off x="1445501" y="5837604"/>
                <a:ext cx="226215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dirty="0">
                    <a:latin typeface="Gill Sans MT" panose="020B0502020104020203" pitchFamily="34" charset="77"/>
                  </a:rPr>
                  <a:t>FNMR</a:t>
                </a:r>
              </a:p>
              <a:p>
                <a:pPr algn="r"/>
                <a:r>
                  <a:rPr lang="en-US" dirty="0">
                    <a:latin typeface="Gill Sans MT" panose="020B0502020104020203" pitchFamily="34" charset="77"/>
                  </a:rPr>
                  <a:t>False Non-Match Rate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4893598-E418-C04A-A634-0FB56D23E79E}"/>
              </a:ext>
            </a:extLst>
          </p:cNvPr>
          <p:cNvGrpSpPr/>
          <p:nvPr/>
        </p:nvGrpSpPr>
        <p:grpSpPr>
          <a:xfrm>
            <a:off x="6375400" y="3257176"/>
            <a:ext cx="2068762" cy="3226756"/>
            <a:chOff x="4851400" y="3257176"/>
            <a:chExt cx="2068762" cy="3226756"/>
          </a:xfrm>
        </p:grpSpPr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D9677518-F503-0041-A336-7E5D63B8C24F}"/>
                </a:ext>
              </a:extLst>
            </p:cNvPr>
            <p:cNvSpPr/>
            <p:nvPr/>
          </p:nvSpPr>
          <p:spPr>
            <a:xfrm>
              <a:off x="4851400" y="3257176"/>
              <a:ext cx="812800" cy="1638300"/>
            </a:xfrm>
            <a:custGeom>
              <a:avLst/>
              <a:gdLst>
                <a:gd name="connsiteX0" fmla="*/ 812800 w 812800"/>
                <a:gd name="connsiteY0" fmla="*/ 1600200 h 1638300"/>
                <a:gd name="connsiteX1" fmla="*/ 558800 w 812800"/>
                <a:gd name="connsiteY1" fmla="*/ 1511300 h 1638300"/>
                <a:gd name="connsiteX2" fmla="*/ 381000 w 812800"/>
                <a:gd name="connsiteY2" fmla="*/ 1333500 h 1638300"/>
                <a:gd name="connsiteX3" fmla="*/ 241300 w 812800"/>
                <a:gd name="connsiteY3" fmla="*/ 1003300 h 1638300"/>
                <a:gd name="connsiteX4" fmla="*/ 114300 w 812800"/>
                <a:gd name="connsiteY4" fmla="*/ 584200 h 1638300"/>
                <a:gd name="connsiteX5" fmla="*/ 0 w 812800"/>
                <a:gd name="connsiteY5" fmla="*/ 0 h 1638300"/>
                <a:gd name="connsiteX6" fmla="*/ 0 w 812800"/>
                <a:gd name="connsiteY6" fmla="*/ 1638300 h 1638300"/>
                <a:gd name="connsiteX7" fmla="*/ 812800 w 812800"/>
                <a:gd name="connsiteY7" fmla="*/ 1600200 h 1638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12800" h="1638300">
                  <a:moveTo>
                    <a:pt x="812800" y="1600200"/>
                  </a:moveTo>
                  <a:lnTo>
                    <a:pt x="558800" y="1511300"/>
                  </a:lnTo>
                  <a:lnTo>
                    <a:pt x="381000" y="1333500"/>
                  </a:lnTo>
                  <a:lnTo>
                    <a:pt x="241300" y="1003300"/>
                  </a:lnTo>
                  <a:lnTo>
                    <a:pt x="114300" y="584200"/>
                  </a:lnTo>
                  <a:lnTo>
                    <a:pt x="0" y="0"/>
                  </a:lnTo>
                  <a:lnTo>
                    <a:pt x="0" y="1638300"/>
                  </a:lnTo>
                  <a:lnTo>
                    <a:pt x="812800" y="1600200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16CD457-6FAD-5F47-B267-84125B278152}"/>
                </a:ext>
              </a:extLst>
            </p:cNvPr>
            <p:cNvGrpSpPr/>
            <p:nvPr/>
          </p:nvGrpSpPr>
          <p:grpSpPr>
            <a:xfrm>
              <a:off x="5014449" y="4640580"/>
              <a:ext cx="1905713" cy="1843352"/>
              <a:chOff x="1322391" y="4640583"/>
              <a:chExt cx="1905713" cy="1843352"/>
            </a:xfrm>
          </p:grpSpPr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67ABDD-DDF9-194A-A94E-900B429C5D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2391" y="4640583"/>
                <a:ext cx="685510" cy="108585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7C6ACC0-BD23-D14A-81D9-0C7CF3CE5620}"/>
                  </a:ext>
                </a:extLst>
              </p:cNvPr>
              <p:cNvSpPr txBox="1"/>
              <p:nvPr/>
            </p:nvSpPr>
            <p:spPr>
              <a:xfrm>
                <a:off x="1462877" y="5837604"/>
                <a:ext cx="176522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MT" panose="020B0502020104020203" pitchFamily="34" charset="77"/>
                  </a:rPr>
                  <a:t>FMR</a:t>
                </a:r>
              </a:p>
              <a:p>
                <a:r>
                  <a:rPr lang="en-US" dirty="0">
                    <a:latin typeface="Gill Sans MT" panose="020B0502020104020203" pitchFamily="34" charset="77"/>
                  </a:rPr>
                  <a:t>False Match Rate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56310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4615F0-730A-5943-9922-C52853C60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500" y="480711"/>
            <a:ext cx="5969000" cy="46609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E25BABD-D0DF-1349-988F-23A7A6452590}"/>
              </a:ext>
            </a:extLst>
          </p:cNvPr>
          <p:cNvCxnSpPr/>
          <p:nvPr/>
        </p:nvCxnSpPr>
        <p:spPr>
          <a:xfrm>
            <a:off x="9259331" y="4868562"/>
            <a:ext cx="9020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80B645F-E6A3-9840-9B17-1979D7A76614}"/>
              </a:ext>
            </a:extLst>
          </p:cNvPr>
          <p:cNvSpPr txBox="1"/>
          <p:nvPr/>
        </p:nvSpPr>
        <p:spPr>
          <a:xfrm>
            <a:off x="9630032" y="4972729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BF96432-413A-9647-8411-CBCAF920547E}"/>
              </a:ext>
            </a:extLst>
          </p:cNvPr>
          <p:cNvCxnSpPr>
            <a:cxnSpLocks/>
          </p:cNvCxnSpPr>
          <p:nvPr/>
        </p:nvCxnSpPr>
        <p:spPr>
          <a:xfrm flipV="1">
            <a:off x="2562415" y="2082802"/>
            <a:ext cx="0" cy="1402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612043D-3D59-5446-9501-E51794B0A6DD}"/>
              </a:ext>
            </a:extLst>
          </p:cNvPr>
          <p:cNvSpPr txBox="1"/>
          <p:nvPr/>
        </p:nvSpPr>
        <p:spPr>
          <a:xfrm rot="16200000">
            <a:off x="802556" y="2664587"/>
            <a:ext cx="2876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Probability density frequency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2CE8DCF0-F6FD-0D40-B15A-8E4E9D1B0D0D}"/>
              </a:ext>
            </a:extLst>
          </p:cNvPr>
          <p:cNvSpPr/>
          <p:nvPr/>
        </p:nvSpPr>
        <p:spPr>
          <a:xfrm>
            <a:off x="5396754" y="4067736"/>
            <a:ext cx="759759" cy="820271"/>
          </a:xfrm>
          <a:custGeom>
            <a:avLst/>
            <a:gdLst>
              <a:gd name="connsiteX0" fmla="*/ 0 w 759759"/>
              <a:gd name="connsiteY0" fmla="*/ 806824 h 820271"/>
              <a:gd name="connsiteX1" fmla="*/ 215153 w 759759"/>
              <a:gd name="connsiteY1" fmla="*/ 699247 h 820271"/>
              <a:gd name="connsiteX2" fmla="*/ 416859 w 759759"/>
              <a:gd name="connsiteY2" fmla="*/ 578224 h 820271"/>
              <a:gd name="connsiteX3" fmla="*/ 477371 w 759759"/>
              <a:gd name="connsiteY3" fmla="*/ 470647 h 820271"/>
              <a:gd name="connsiteX4" fmla="*/ 504265 w 759759"/>
              <a:gd name="connsiteY4" fmla="*/ 430306 h 820271"/>
              <a:gd name="connsiteX5" fmla="*/ 517712 w 759759"/>
              <a:gd name="connsiteY5" fmla="*/ 410136 h 820271"/>
              <a:gd name="connsiteX6" fmla="*/ 531159 w 759759"/>
              <a:gd name="connsiteY6" fmla="*/ 376518 h 820271"/>
              <a:gd name="connsiteX7" fmla="*/ 551329 w 759759"/>
              <a:gd name="connsiteY7" fmla="*/ 309283 h 820271"/>
              <a:gd name="connsiteX8" fmla="*/ 759759 w 759759"/>
              <a:gd name="connsiteY8" fmla="*/ 0 h 820271"/>
              <a:gd name="connsiteX9" fmla="*/ 759759 w 759759"/>
              <a:gd name="connsiteY9" fmla="*/ 820271 h 820271"/>
              <a:gd name="connsiteX10" fmla="*/ 0 w 759759"/>
              <a:gd name="connsiteY10" fmla="*/ 806824 h 820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59759" h="820271">
                <a:moveTo>
                  <a:pt x="0" y="806824"/>
                </a:moveTo>
                <a:lnTo>
                  <a:pt x="215153" y="699247"/>
                </a:lnTo>
                <a:lnTo>
                  <a:pt x="416859" y="578224"/>
                </a:lnTo>
                <a:cubicBezTo>
                  <a:pt x="461581" y="429146"/>
                  <a:pt x="404970" y="579249"/>
                  <a:pt x="477371" y="470647"/>
                </a:cubicBezTo>
                <a:lnTo>
                  <a:pt x="504265" y="430306"/>
                </a:lnTo>
                <a:lnTo>
                  <a:pt x="517712" y="410136"/>
                </a:lnTo>
                <a:cubicBezTo>
                  <a:pt x="526020" y="385211"/>
                  <a:pt x="521265" y="396304"/>
                  <a:pt x="531159" y="376518"/>
                </a:cubicBezTo>
                <a:lnTo>
                  <a:pt x="551329" y="309283"/>
                </a:lnTo>
                <a:lnTo>
                  <a:pt x="759759" y="0"/>
                </a:lnTo>
                <a:lnTo>
                  <a:pt x="759759" y="820271"/>
                </a:lnTo>
                <a:lnTo>
                  <a:pt x="0" y="806824"/>
                </a:ln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FB7C5F1D-AAF4-2540-A0AF-B11B36F263F1}"/>
              </a:ext>
            </a:extLst>
          </p:cNvPr>
          <p:cNvSpPr/>
          <p:nvPr/>
        </p:nvSpPr>
        <p:spPr>
          <a:xfrm>
            <a:off x="6169960" y="3307976"/>
            <a:ext cx="1075765" cy="1580030"/>
          </a:xfrm>
          <a:custGeom>
            <a:avLst/>
            <a:gdLst>
              <a:gd name="connsiteX0" fmla="*/ 6723 w 1075765"/>
              <a:gd name="connsiteY0" fmla="*/ 1573306 h 1580030"/>
              <a:gd name="connsiteX1" fmla="*/ 0 w 1075765"/>
              <a:gd name="connsiteY1" fmla="*/ 705971 h 1580030"/>
              <a:gd name="connsiteX2" fmla="*/ 67235 w 1075765"/>
              <a:gd name="connsiteY2" fmla="*/ 336177 h 1580030"/>
              <a:gd name="connsiteX3" fmla="*/ 141194 w 1075765"/>
              <a:gd name="connsiteY3" fmla="*/ 0 h 1580030"/>
              <a:gd name="connsiteX4" fmla="*/ 141194 w 1075765"/>
              <a:gd name="connsiteY4" fmla="*/ 0 h 1580030"/>
              <a:gd name="connsiteX5" fmla="*/ 329453 w 1075765"/>
              <a:gd name="connsiteY5" fmla="*/ 591671 h 1580030"/>
              <a:gd name="connsiteX6" fmla="*/ 510988 w 1075765"/>
              <a:gd name="connsiteY6" fmla="*/ 1109383 h 1580030"/>
              <a:gd name="connsiteX7" fmla="*/ 773206 w 1075765"/>
              <a:gd name="connsiteY7" fmla="*/ 1465730 h 1580030"/>
              <a:gd name="connsiteX8" fmla="*/ 1075765 w 1075765"/>
              <a:gd name="connsiteY8" fmla="*/ 1580030 h 1580030"/>
              <a:gd name="connsiteX9" fmla="*/ 6723 w 1075765"/>
              <a:gd name="connsiteY9" fmla="*/ 1573306 h 1580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75765" h="1580030">
                <a:moveTo>
                  <a:pt x="6723" y="1573306"/>
                </a:moveTo>
                <a:lnTo>
                  <a:pt x="0" y="705971"/>
                </a:lnTo>
                <a:lnTo>
                  <a:pt x="67235" y="336177"/>
                </a:lnTo>
                <a:lnTo>
                  <a:pt x="141194" y="0"/>
                </a:lnTo>
                <a:lnTo>
                  <a:pt x="141194" y="0"/>
                </a:lnTo>
                <a:lnTo>
                  <a:pt x="329453" y="591671"/>
                </a:lnTo>
                <a:lnTo>
                  <a:pt x="510988" y="1109383"/>
                </a:lnTo>
                <a:lnTo>
                  <a:pt x="773206" y="1465730"/>
                </a:lnTo>
                <a:lnTo>
                  <a:pt x="1075765" y="1580030"/>
                </a:lnTo>
                <a:lnTo>
                  <a:pt x="6723" y="1573306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0215F68-D06E-404C-9298-C531E5F669E9}"/>
              </a:ext>
            </a:extLst>
          </p:cNvPr>
          <p:cNvGrpSpPr/>
          <p:nvPr/>
        </p:nvGrpSpPr>
        <p:grpSpPr>
          <a:xfrm>
            <a:off x="6041390" y="2778728"/>
            <a:ext cx="203200" cy="3553493"/>
            <a:chOff x="4733290" y="2778727"/>
            <a:chExt cx="203200" cy="35534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23BCCF5-BF9B-F041-9EBB-89098CA1E732}"/>
                </a:ext>
              </a:extLst>
            </p:cNvPr>
            <p:cNvCxnSpPr>
              <a:cxnSpLocks/>
            </p:cNvCxnSpPr>
            <p:nvPr/>
          </p:nvCxnSpPr>
          <p:spPr>
            <a:xfrm>
              <a:off x="4862514" y="2778727"/>
              <a:ext cx="0" cy="3204171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DCC00B-C696-D846-9647-496AEFE3B8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33290" y="5989320"/>
              <a:ext cx="203200" cy="342900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E9B9FCA-F8E0-1A48-86B2-AFFF9E018ED6}"/>
              </a:ext>
            </a:extLst>
          </p:cNvPr>
          <p:cNvGrpSpPr/>
          <p:nvPr/>
        </p:nvGrpSpPr>
        <p:grpSpPr>
          <a:xfrm>
            <a:off x="2804402" y="4640581"/>
            <a:ext cx="3126499" cy="1843355"/>
            <a:chOff x="1280401" y="4640580"/>
            <a:chExt cx="3126499" cy="184335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2ECD1CE-5DA9-214A-B57B-9E8905FB9315}"/>
                </a:ext>
              </a:extLst>
            </p:cNvPr>
            <p:cNvSpPr txBox="1"/>
            <p:nvPr/>
          </p:nvSpPr>
          <p:spPr>
            <a:xfrm>
              <a:off x="1280401" y="5837604"/>
              <a:ext cx="22621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>
                  <a:latin typeface="Gill Sans MT" panose="020B0502020104020203" pitchFamily="34" charset="77"/>
                </a:rPr>
                <a:t>FNMR</a:t>
              </a:r>
            </a:p>
            <a:p>
              <a:pPr algn="r"/>
              <a:r>
                <a:rPr lang="en-US" dirty="0">
                  <a:latin typeface="Gill Sans MT" panose="020B0502020104020203" pitchFamily="34" charset="77"/>
                </a:rPr>
                <a:t>False Non-Match Rate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6E9935C-1AD7-4146-92D4-8B5FB0D1BC13}"/>
                </a:ext>
              </a:extLst>
            </p:cNvPr>
            <p:cNvCxnSpPr/>
            <p:nvPr/>
          </p:nvCxnSpPr>
          <p:spPr>
            <a:xfrm flipH="1">
              <a:off x="3206750" y="4640580"/>
              <a:ext cx="1200150" cy="108585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16CD457-6FAD-5F47-B267-84125B278152}"/>
              </a:ext>
            </a:extLst>
          </p:cNvPr>
          <p:cNvGrpSpPr/>
          <p:nvPr/>
        </p:nvGrpSpPr>
        <p:grpSpPr>
          <a:xfrm>
            <a:off x="6538450" y="4640580"/>
            <a:ext cx="1905713" cy="1843352"/>
            <a:chOff x="1322391" y="4640583"/>
            <a:chExt cx="1905713" cy="1843352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F67ABDD-DDF9-194A-A94E-900B429C5DA0}"/>
                </a:ext>
              </a:extLst>
            </p:cNvPr>
            <p:cNvCxnSpPr>
              <a:cxnSpLocks/>
            </p:cNvCxnSpPr>
            <p:nvPr/>
          </p:nvCxnSpPr>
          <p:spPr>
            <a:xfrm>
              <a:off x="1322391" y="4640583"/>
              <a:ext cx="685510" cy="108585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7C6ACC0-BD23-D14A-81D9-0C7CF3CE5620}"/>
                </a:ext>
              </a:extLst>
            </p:cNvPr>
            <p:cNvSpPr txBox="1"/>
            <p:nvPr/>
          </p:nvSpPr>
          <p:spPr>
            <a:xfrm>
              <a:off x="1462877" y="5837604"/>
              <a:ext cx="17652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FMR</a:t>
              </a:r>
            </a:p>
            <a:p>
              <a:r>
                <a:rPr lang="en-US" dirty="0">
                  <a:latin typeface="Gill Sans MT" panose="020B0502020104020203" pitchFamily="34" charset="77"/>
                </a:rPr>
                <a:t>False Match Rate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8564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73F2DFB-5223-5446-9ABD-70C04E2DF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950" y="876300"/>
            <a:ext cx="7778750" cy="518583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EB9F8ED-7E82-7F46-BBD3-69B447C822E5}"/>
              </a:ext>
            </a:extLst>
          </p:cNvPr>
          <p:cNvSpPr/>
          <p:nvPr/>
        </p:nvSpPr>
        <p:spPr>
          <a:xfrm>
            <a:off x="3238500" y="5511800"/>
            <a:ext cx="6172200" cy="25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85C02F8-1DAD-D94C-8D7E-3D11F25DED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400" y="5566717"/>
            <a:ext cx="5753100" cy="15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3076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838955D-E97B-0545-9333-60278A8CC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3300" y="880533"/>
            <a:ext cx="7454900" cy="4969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55FC5E2-DAB2-1143-90ED-420A9F6335A8}"/>
              </a:ext>
            </a:extLst>
          </p:cNvPr>
          <p:cNvSpPr/>
          <p:nvPr/>
        </p:nvSpPr>
        <p:spPr>
          <a:xfrm>
            <a:off x="5753100" y="4711700"/>
            <a:ext cx="762000" cy="292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1248294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4615F0-730A-5943-9922-C52853C60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500" y="480711"/>
            <a:ext cx="5969000" cy="4660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E4D0A1-800E-DC40-8D25-F5465464CF55}"/>
              </a:ext>
            </a:extLst>
          </p:cNvPr>
          <p:cNvSpPr txBox="1"/>
          <p:nvPr/>
        </p:nvSpPr>
        <p:spPr>
          <a:xfrm>
            <a:off x="7269888" y="2255107"/>
            <a:ext cx="1898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Distribution of d+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FABAD-376F-4A48-8531-0F5F2E92ED49}"/>
              </a:ext>
            </a:extLst>
          </p:cNvPr>
          <p:cNvSpPr txBox="1"/>
          <p:nvPr/>
        </p:nvSpPr>
        <p:spPr>
          <a:xfrm>
            <a:off x="3690552" y="1456037"/>
            <a:ext cx="1853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Distribution of d-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DFA2514-41A0-8B40-92B7-BBFB8904B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886" y="2753497"/>
            <a:ext cx="1422400" cy="469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507FFDB-6E8A-FB4D-875A-96214476EA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1937" y="1978627"/>
            <a:ext cx="1422400" cy="469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CECA08-876E-A24C-B0D8-48C424393123}"/>
              </a:ext>
            </a:extLst>
          </p:cNvPr>
          <p:cNvCxnSpPr/>
          <p:nvPr/>
        </p:nvCxnSpPr>
        <p:spPr>
          <a:xfrm>
            <a:off x="5861223" y="951469"/>
            <a:ext cx="0" cy="419014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23BCCF5-BF9B-F041-9EBB-89098CA1E732}"/>
              </a:ext>
            </a:extLst>
          </p:cNvPr>
          <p:cNvCxnSpPr>
            <a:cxnSpLocks/>
          </p:cNvCxnSpPr>
          <p:nvPr/>
        </p:nvCxnSpPr>
        <p:spPr>
          <a:xfrm>
            <a:off x="6816818" y="1978628"/>
            <a:ext cx="0" cy="320417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1EA17CF-A9EC-4B4E-9042-2763584A94FD}"/>
              </a:ext>
            </a:extLst>
          </p:cNvPr>
          <p:cNvCxnSpPr/>
          <p:nvPr/>
        </p:nvCxnSpPr>
        <p:spPr>
          <a:xfrm>
            <a:off x="5525084" y="3138615"/>
            <a:ext cx="62034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117E5D7-C1CF-B241-A00F-49EBF16C34B0}"/>
              </a:ext>
            </a:extLst>
          </p:cNvPr>
          <p:cNvCxnSpPr>
            <a:cxnSpLocks/>
          </p:cNvCxnSpPr>
          <p:nvPr/>
        </p:nvCxnSpPr>
        <p:spPr>
          <a:xfrm>
            <a:off x="6332392" y="3822355"/>
            <a:ext cx="111049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00CF9D98-19B6-D641-BA98-2470BEEFB6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92609" y="5477939"/>
            <a:ext cx="2543258" cy="101021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C6B2205-157B-A449-9445-DB174438B4C4}"/>
              </a:ext>
            </a:extLst>
          </p:cNvPr>
          <p:cNvSpPr txBox="1"/>
          <p:nvPr/>
        </p:nvSpPr>
        <p:spPr>
          <a:xfrm>
            <a:off x="7727763" y="5846199"/>
            <a:ext cx="2946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 de </a:t>
            </a:r>
            <a:r>
              <a:rPr lang="en-US" dirty="0" err="1">
                <a:latin typeface="Gill Sans MT" panose="020B0502020104020203" pitchFamily="34" charset="77"/>
              </a:rPr>
              <a:t>cada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distribución</a:t>
            </a:r>
            <a:r>
              <a:rPr lang="en-US" dirty="0">
                <a:latin typeface="Gill Sans MT" panose="020B0502020104020203" pitchFamily="34" charset="77"/>
              </a:rPr>
              <a:t> =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90B09F-055B-1240-975D-755499026C79}"/>
              </a:ext>
            </a:extLst>
          </p:cNvPr>
          <p:cNvSpPr txBox="1"/>
          <p:nvPr/>
        </p:nvSpPr>
        <p:spPr>
          <a:xfrm>
            <a:off x="1820562" y="5325762"/>
            <a:ext cx="1425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Performance: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E25BABD-D0DF-1349-988F-23A7A6452590}"/>
              </a:ext>
            </a:extLst>
          </p:cNvPr>
          <p:cNvCxnSpPr/>
          <p:nvPr/>
        </p:nvCxnSpPr>
        <p:spPr>
          <a:xfrm>
            <a:off x="9259331" y="4868562"/>
            <a:ext cx="9020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80B645F-E6A3-9840-9B17-1979D7A76614}"/>
              </a:ext>
            </a:extLst>
          </p:cNvPr>
          <p:cNvSpPr txBox="1"/>
          <p:nvPr/>
        </p:nvSpPr>
        <p:spPr>
          <a:xfrm>
            <a:off x="9630032" y="4972729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BF96432-413A-9647-8411-CBCAF920547E}"/>
              </a:ext>
            </a:extLst>
          </p:cNvPr>
          <p:cNvCxnSpPr>
            <a:cxnSpLocks/>
          </p:cNvCxnSpPr>
          <p:nvPr/>
        </p:nvCxnSpPr>
        <p:spPr>
          <a:xfrm flipV="1">
            <a:off x="2562415" y="2082802"/>
            <a:ext cx="0" cy="1402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612043D-3D59-5446-9501-E51794B0A6DD}"/>
              </a:ext>
            </a:extLst>
          </p:cNvPr>
          <p:cNvSpPr txBox="1"/>
          <p:nvPr/>
        </p:nvSpPr>
        <p:spPr>
          <a:xfrm rot="16200000">
            <a:off x="802556" y="2664587"/>
            <a:ext cx="2876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Probability density frequency</a:t>
            </a:r>
          </a:p>
        </p:txBody>
      </p:sp>
    </p:spTree>
    <p:extLst>
      <p:ext uri="{BB962C8B-B14F-4D97-AF65-F5344CB8AC3E}">
        <p14:creationId xmlns:p14="http://schemas.microsoft.com/office/powerpoint/2010/main" val="4627625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F7DD55D-9BBE-BD47-AC02-9DE04620F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833" y="4074618"/>
            <a:ext cx="2236377" cy="17462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D85AA7-E2A8-0942-BEAE-67357D0FDC8E}"/>
              </a:ext>
            </a:extLst>
          </p:cNvPr>
          <p:cNvSpPr txBox="1"/>
          <p:nvPr/>
        </p:nvSpPr>
        <p:spPr>
          <a:xfrm>
            <a:off x="4223928" y="5883187"/>
            <a:ext cx="1019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d’ = 2.22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49128F-9D22-2B46-9AC1-59BCAC7968A0}"/>
              </a:ext>
            </a:extLst>
          </p:cNvPr>
          <p:cNvSpPr txBox="1"/>
          <p:nvPr/>
        </p:nvSpPr>
        <p:spPr>
          <a:xfrm>
            <a:off x="4289031" y="3241282"/>
            <a:ext cx="1019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d’ = 0.20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C06852-9EEA-6A48-9C0A-DF226C7EE341}"/>
              </a:ext>
            </a:extLst>
          </p:cNvPr>
          <p:cNvSpPr txBox="1"/>
          <p:nvPr/>
        </p:nvSpPr>
        <p:spPr>
          <a:xfrm>
            <a:off x="2438401" y="605482"/>
            <a:ext cx="2621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Gill Sans MT" panose="020B0502020104020203" pitchFamily="34" charset="77"/>
              </a:rPr>
              <a:t>Ejemplos de d'
para diferentes algoritmos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BA9B6E-041D-3240-B681-FA067A027C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67936" y="1450027"/>
            <a:ext cx="2236377" cy="17289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AECB97-BF45-BE45-B097-8DD5332120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69600" y="4073366"/>
            <a:ext cx="2236377" cy="17321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2879A32-E459-E045-B5BC-D27AF37CFC4D}"/>
              </a:ext>
            </a:extLst>
          </p:cNvPr>
          <p:cNvSpPr txBox="1"/>
          <p:nvPr/>
        </p:nvSpPr>
        <p:spPr>
          <a:xfrm>
            <a:off x="7090695" y="5886952"/>
            <a:ext cx="1019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d’ = 3.23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93A906-34C0-6344-8D85-05BEF350A41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73574" y="1450027"/>
            <a:ext cx="2232402" cy="174627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6D521FF-9224-5144-B18C-93F00766F2A1}"/>
              </a:ext>
            </a:extLst>
          </p:cNvPr>
          <p:cNvSpPr txBox="1"/>
          <p:nvPr/>
        </p:nvSpPr>
        <p:spPr>
          <a:xfrm>
            <a:off x="7090695" y="3274078"/>
            <a:ext cx="1019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d’ = 1.59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532AF8-2078-CF44-BFA1-129C0417F48B}"/>
              </a:ext>
            </a:extLst>
          </p:cNvPr>
          <p:cNvSpPr txBox="1"/>
          <p:nvPr/>
        </p:nvSpPr>
        <p:spPr>
          <a:xfrm>
            <a:off x="8705976" y="6067853"/>
            <a:ext cx="1449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The best one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9E4D2EA-75B1-294F-AE59-6B3CD9B27C42}"/>
              </a:ext>
            </a:extLst>
          </p:cNvPr>
          <p:cNvCxnSpPr/>
          <p:nvPr/>
        </p:nvCxnSpPr>
        <p:spPr>
          <a:xfrm flipH="1" flipV="1">
            <a:off x="8567351" y="5883187"/>
            <a:ext cx="259492" cy="184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15560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B9BFC-3ED1-B444-8BB8-557A4E0F7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metrics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1EDBBB-B093-6C46-96A2-04BD5F990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800" y="2334397"/>
            <a:ext cx="7518400" cy="533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45E164-34DA-F14C-99E5-5BE3BD5EDFE9}"/>
              </a:ext>
            </a:extLst>
          </p:cNvPr>
          <p:cNvSpPr txBox="1"/>
          <p:nvPr/>
        </p:nvSpPr>
        <p:spPr>
          <a:xfrm>
            <a:off x="3389869" y="3657600"/>
            <a:ext cx="720011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For Euclidean distance: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>
                <a:latin typeface="Gill Sans MT" panose="020B0502020104020203" pitchFamily="34" charset="77"/>
              </a:rPr>
              <a:t>For other metrics, matrix         is learned from negative and positive pairs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1A1E70-28ED-5142-8589-519E0C83A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417" y="3672704"/>
            <a:ext cx="1143000" cy="317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9110118-135E-6A4E-A3C4-76E847EF4802}"/>
              </a:ext>
            </a:extLst>
          </p:cNvPr>
          <p:cNvSpPr txBox="1"/>
          <p:nvPr/>
        </p:nvSpPr>
        <p:spPr>
          <a:xfrm>
            <a:off x="3407998" y="4743456"/>
            <a:ext cx="6680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If image-A and image-B are from the same person the distance is low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02F5DC-7568-1842-AB0B-8E5AEAC1130C}"/>
              </a:ext>
            </a:extLst>
          </p:cNvPr>
          <p:cNvSpPr txBox="1"/>
          <p:nvPr/>
        </p:nvSpPr>
        <p:spPr>
          <a:xfrm>
            <a:off x="3388095" y="5308034"/>
            <a:ext cx="66820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If image-A and image-B are from different persons the distance is high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44259C-B81B-F247-8FC1-D5F7CF1BE50C}"/>
              </a:ext>
            </a:extLst>
          </p:cNvPr>
          <p:cNvSpPr txBox="1"/>
          <p:nvPr/>
        </p:nvSpPr>
        <p:spPr>
          <a:xfrm>
            <a:off x="3384307" y="5909221"/>
            <a:ext cx="40596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Genuine distribution is at the left side</a:t>
            </a:r>
          </a:p>
          <a:p>
            <a:r>
              <a:rPr lang="en-US" dirty="0">
                <a:latin typeface="Gill Sans MT" panose="020B0502020104020203" pitchFamily="34" charset="77"/>
              </a:rPr>
              <a:t>Impostor distribution is at the right side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B37560C-E03A-E04D-8489-87C4DC9BB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8542" y="4306337"/>
            <a:ext cx="165100" cy="15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8776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B9BFC-3ED1-B444-8BB8-557A4E0F7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metrics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7DFE74-B078-E54E-BEE5-A8F88E591463}"/>
              </a:ext>
            </a:extLst>
          </p:cNvPr>
          <p:cNvSpPr txBox="1"/>
          <p:nvPr/>
        </p:nvSpPr>
        <p:spPr>
          <a:xfrm>
            <a:off x="2426044" y="1445735"/>
            <a:ext cx="76982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Sometimes the metric is obtained from the output of a classifier (for example SVM or neural network). In this case, there are two classes, ‘1’ for genuine (same person) and ‘0’ for impostor (different persons). Typically, the classifier has a score at the output that is compared with a threshold. If the score is greater than the threshold the classification is ‘1’, otherwise is ‘0’. The score can be used in this case as a similarity metric.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AAC749C-3905-764C-807E-71A69ACD3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9307" y="3237808"/>
            <a:ext cx="3135870" cy="275896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142A1AD-FB0C-094C-B550-FE934B74A0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043" y="3492353"/>
            <a:ext cx="682325" cy="992473"/>
          </a:xfrm>
          <a:prstGeom prst="rect">
            <a:avLst/>
          </a:prstGeom>
          <a:ln w="38100"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4F5766F-16A8-4043-9F92-58A317207B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043" y="4688160"/>
            <a:ext cx="682325" cy="992473"/>
          </a:xfrm>
          <a:prstGeom prst="rect">
            <a:avLst/>
          </a:prstGeom>
          <a:ln w="63500">
            <a:noFill/>
          </a:ln>
        </p:spPr>
      </p:pic>
      <p:sp>
        <p:nvSpPr>
          <p:cNvPr id="15" name="Right Arrow 14">
            <a:extLst>
              <a:ext uri="{FF2B5EF4-FFF2-40B4-BE49-F238E27FC236}">
                <a16:creationId xmlns:a16="http://schemas.microsoft.com/office/drawing/2014/main" id="{380096CF-BC79-6141-BDC8-9365D1D1B64B}"/>
              </a:ext>
            </a:extLst>
          </p:cNvPr>
          <p:cNvSpPr/>
          <p:nvPr/>
        </p:nvSpPr>
        <p:spPr>
          <a:xfrm>
            <a:off x="3223009" y="3838184"/>
            <a:ext cx="517979" cy="30080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5EAFAA0A-7E64-6C4A-BB55-8D3FCFDFA1AF}"/>
              </a:ext>
            </a:extLst>
          </p:cNvPr>
          <p:cNvSpPr/>
          <p:nvPr/>
        </p:nvSpPr>
        <p:spPr>
          <a:xfrm>
            <a:off x="3223010" y="4992132"/>
            <a:ext cx="517979" cy="300808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9D3B43-41AC-9847-9468-7F6B7BAC930E}"/>
              </a:ext>
            </a:extLst>
          </p:cNvPr>
          <p:cNvSpPr txBox="1"/>
          <p:nvPr/>
        </p:nvSpPr>
        <p:spPr>
          <a:xfrm>
            <a:off x="7257536" y="4176578"/>
            <a:ext cx="1612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same:        0.95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5549B6-56C5-D846-8D46-DDEEBC88925D}"/>
              </a:ext>
            </a:extLst>
          </p:cNvPr>
          <p:cNvSpPr txBox="1"/>
          <p:nvPr/>
        </p:nvSpPr>
        <p:spPr>
          <a:xfrm>
            <a:off x="7274009" y="4650259"/>
            <a:ext cx="1456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different: 0.05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74AEF3-D487-784F-A4AA-C306866E85D8}"/>
              </a:ext>
            </a:extLst>
          </p:cNvPr>
          <p:cNvSpPr txBox="1"/>
          <p:nvPr/>
        </p:nvSpPr>
        <p:spPr>
          <a:xfrm>
            <a:off x="1524000" y="6100175"/>
            <a:ext cx="37564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If image-A and image-B are from the same person the score s is high.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0E6504-8FB9-744D-BD77-76078763FF1E}"/>
              </a:ext>
            </a:extLst>
          </p:cNvPr>
          <p:cNvSpPr txBox="1"/>
          <p:nvPr/>
        </p:nvSpPr>
        <p:spPr>
          <a:xfrm>
            <a:off x="5677243" y="6100175"/>
            <a:ext cx="48505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If image-A and image-B are from different persons the score s is low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0C6CB5-4CC4-2E4A-90B0-287A35B53AD3}"/>
              </a:ext>
            </a:extLst>
          </p:cNvPr>
          <p:cNvSpPr txBox="1"/>
          <p:nvPr/>
        </p:nvSpPr>
        <p:spPr>
          <a:xfrm>
            <a:off x="8532981" y="3201931"/>
            <a:ext cx="697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score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7C10BFD-020F-C24C-BD09-34A7DBCB278D}"/>
              </a:ext>
            </a:extLst>
          </p:cNvPr>
          <p:cNvSpPr/>
          <p:nvPr/>
        </p:nvSpPr>
        <p:spPr>
          <a:xfrm>
            <a:off x="8246118" y="4114278"/>
            <a:ext cx="590697" cy="461088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9E348E0-5690-EC43-A025-1B476F6A4601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8541466" y="3631160"/>
            <a:ext cx="253796" cy="483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A710CA-6E64-194B-8AF9-B71B102DD89F}"/>
              </a:ext>
            </a:extLst>
          </p:cNvPr>
          <p:cNvSpPr txBox="1"/>
          <p:nvPr/>
        </p:nvSpPr>
        <p:spPr>
          <a:xfrm>
            <a:off x="1981200" y="394654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7D1CB8-AEB2-A947-90B5-C7A3E3A2D8EC}"/>
              </a:ext>
            </a:extLst>
          </p:cNvPr>
          <p:cNvSpPr txBox="1"/>
          <p:nvPr/>
        </p:nvSpPr>
        <p:spPr>
          <a:xfrm>
            <a:off x="1948249" y="4939213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0436048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1055</TotalTime>
  <Words>1430</Words>
  <Application>Microsoft Macintosh PowerPoint</Application>
  <PresentationFormat>Widescreen</PresentationFormat>
  <Paragraphs>407</Paragraphs>
  <Slides>42</Slides>
  <Notes>8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 Display</vt:lpstr>
      <vt:lpstr>Arial</vt:lpstr>
      <vt:lpstr>Gill Sans MT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Other metrics</vt:lpstr>
      <vt:lpstr>Other metrics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21</cp:revision>
  <dcterms:created xsi:type="dcterms:W3CDTF">2026-03-08T16:41:49Z</dcterms:created>
  <dcterms:modified xsi:type="dcterms:W3CDTF">2026-06-03T20:55:56Z</dcterms:modified>
</cp:coreProperties>
</file>