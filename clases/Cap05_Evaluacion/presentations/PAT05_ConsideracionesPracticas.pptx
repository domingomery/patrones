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7" r:id="rId2"/>
    <p:sldId id="331" r:id="rId3"/>
    <p:sldId id="314" r:id="rId4"/>
    <p:sldId id="316" r:id="rId5"/>
    <p:sldId id="323" r:id="rId6"/>
    <p:sldId id="325" r:id="rId7"/>
    <p:sldId id="324" r:id="rId8"/>
    <p:sldId id="326" r:id="rId9"/>
    <p:sldId id="327" r:id="rId10"/>
    <p:sldId id="330" r:id="rId11"/>
    <p:sldId id="321" r:id="rId12"/>
    <p:sldId id="329" r:id="rId13"/>
    <p:sldId id="390" r:id="rId14"/>
    <p:sldId id="4446" r:id="rId15"/>
    <p:sldId id="4581" r:id="rId16"/>
    <p:sldId id="4595" r:id="rId17"/>
    <p:sldId id="4583" r:id="rId18"/>
    <p:sldId id="4584" r:id="rId19"/>
    <p:sldId id="4574" r:id="rId20"/>
    <p:sldId id="4575" r:id="rId21"/>
    <p:sldId id="4608" r:id="rId22"/>
    <p:sldId id="4578" r:id="rId23"/>
    <p:sldId id="4585" r:id="rId24"/>
    <p:sldId id="4587" r:id="rId25"/>
    <p:sldId id="4586" r:id="rId26"/>
    <p:sldId id="4588" r:id="rId27"/>
    <p:sldId id="4589" r:id="rId28"/>
    <p:sldId id="4590" r:id="rId29"/>
    <p:sldId id="4592" r:id="rId30"/>
    <p:sldId id="4593" r:id="rId31"/>
    <p:sldId id="1884" r:id="rId32"/>
    <p:sldId id="4612" r:id="rId33"/>
    <p:sldId id="4594" r:id="rId34"/>
    <p:sldId id="4613" r:id="rId35"/>
    <p:sldId id="388" r:id="rId36"/>
    <p:sldId id="368" r:id="rId37"/>
    <p:sldId id="375" r:id="rId38"/>
    <p:sldId id="376" r:id="rId39"/>
    <p:sldId id="387" r:id="rId40"/>
    <p:sldId id="377" r:id="rId41"/>
    <p:sldId id="379" r:id="rId42"/>
    <p:sldId id="372" r:id="rId43"/>
    <p:sldId id="380" r:id="rId44"/>
    <p:sldId id="381" r:id="rId45"/>
    <p:sldId id="384" r:id="rId46"/>
    <p:sldId id="374" r:id="rId47"/>
    <p:sldId id="383" r:id="rId48"/>
    <p:sldId id="382" r:id="rId49"/>
    <p:sldId id="373" r:id="rId50"/>
    <p:sldId id="391" r:id="rId51"/>
    <p:sldId id="370" r:id="rId52"/>
    <p:sldId id="371" r:id="rId53"/>
    <p:sldId id="386" r:id="rId54"/>
    <p:sldId id="4615" r:id="rId55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84"/>
    <p:restoredTop sz="94658"/>
  </p:normalViewPr>
  <p:slideViewPr>
    <p:cSldViewPr snapToGrid="0">
      <p:cViewPr varScale="1">
        <p:scale>
          <a:sx n="89" d="100"/>
          <a:sy n="89" d="100"/>
        </p:scale>
        <p:origin x="18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11-06-26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BF1233-98AC-A140-BD6A-E50DFECCE6DE}" type="slidenum">
              <a:rPr lang="es-ES_tradnl" smtClean="0"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2050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PRINCIPAL: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Extraer</a:t>
            </a:r>
            <a:r>
              <a:rPr lang="en-US" dirty="0"/>
              <a:t> por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>
                <a:solidFill>
                  <a:srgbClr val="0432FF"/>
                </a:solidFill>
              </a:rPr>
              <a:t>radiografía</a:t>
            </a:r>
            <a:r>
              <a:rPr lang="en-US" dirty="0"/>
              <a:t> N ‘</a:t>
            </a:r>
            <a:r>
              <a:rPr lang="en-US" dirty="0" err="1"/>
              <a:t>ventanitas</a:t>
            </a:r>
            <a:r>
              <a:rPr lang="en-US" dirty="0"/>
              <a:t>’ (</a:t>
            </a:r>
            <a:r>
              <a:rPr lang="en-US" i="1" dirty="0">
                <a:solidFill>
                  <a:srgbClr val="FF0000"/>
                </a:solidFill>
              </a:rPr>
              <a:t>patches</a:t>
            </a:r>
            <a:r>
              <a:rPr lang="en-US" dirty="0"/>
              <a:t>) de las zonas </a:t>
            </a:r>
            <a:r>
              <a:rPr lang="en-US" dirty="0" err="1"/>
              <a:t>oscuras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Entrenar</a:t>
            </a:r>
            <a:r>
              <a:rPr lang="en-US" dirty="0"/>
              <a:t> un </a:t>
            </a:r>
            <a:r>
              <a:rPr lang="en-US" dirty="0" err="1"/>
              <a:t>clasificador</a:t>
            </a:r>
            <a:r>
              <a:rPr lang="en-US" dirty="0"/>
              <a:t> que </a:t>
            </a:r>
            <a:r>
              <a:rPr lang="en-US" dirty="0" err="1"/>
              <a:t>reconozca</a:t>
            </a:r>
            <a:r>
              <a:rPr lang="en-US" dirty="0"/>
              <a:t> a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>
                <a:solidFill>
                  <a:srgbClr val="00B050"/>
                </a:solidFill>
              </a:rPr>
              <a:t>clase</a:t>
            </a:r>
            <a:r>
              <a:rPr lang="en-US" dirty="0"/>
              <a:t> </a:t>
            </a:r>
            <a:r>
              <a:rPr lang="en-US" dirty="0" err="1"/>
              <a:t>peretenece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i="1" dirty="0">
                <a:solidFill>
                  <a:srgbClr val="FF0000"/>
                </a:solidFill>
              </a:rPr>
              <a:t>patch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Determinar</a:t>
            </a:r>
            <a:r>
              <a:rPr lang="en-US" dirty="0"/>
              <a:t> a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>
                <a:solidFill>
                  <a:srgbClr val="00B050"/>
                </a:solidFill>
              </a:rPr>
              <a:t>clase</a:t>
            </a:r>
            <a:r>
              <a:rPr lang="en-US" dirty="0"/>
              <a:t> </a:t>
            </a:r>
            <a:r>
              <a:rPr lang="en-US" dirty="0" err="1"/>
              <a:t>pertenece</a:t>
            </a:r>
            <a:r>
              <a:rPr lang="en-US" dirty="0"/>
              <a:t> una </a:t>
            </a:r>
            <a:r>
              <a:rPr lang="en-US" dirty="0" err="1">
                <a:solidFill>
                  <a:srgbClr val="0432FF"/>
                </a:solidFill>
              </a:rPr>
              <a:t>radiografía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de la </a:t>
            </a:r>
            <a:r>
              <a:rPr lang="en-US" dirty="0" err="1"/>
              <a:t>mayoría</a:t>
            </a:r>
            <a:r>
              <a:rPr lang="en-US" dirty="0"/>
              <a:t> de </a:t>
            </a:r>
            <a:r>
              <a:rPr lang="en-US" dirty="0" err="1"/>
              <a:t>votos</a:t>
            </a:r>
            <a:r>
              <a:rPr lang="en-US" dirty="0"/>
              <a:t> de la </a:t>
            </a:r>
            <a:r>
              <a:rPr lang="en-US" dirty="0" err="1">
                <a:solidFill>
                  <a:srgbClr val="00B050"/>
                </a:solidFill>
              </a:rPr>
              <a:t>clasificación</a:t>
            </a:r>
            <a:r>
              <a:rPr lang="en-US" dirty="0"/>
              <a:t> individual de los </a:t>
            </a:r>
            <a:r>
              <a:rPr lang="en-US" i="1" dirty="0">
                <a:solidFill>
                  <a:srgbClr val="FF0000"/>
                </a:solidFill>
              </a:rPr>
              <a:t>patches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22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11-06-26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11-06-26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11-06-26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11-06-26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11-06-26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11-06-26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2C457589-72F1-974D-B204-6AE212262628}" type="datetimeFigureOut">
              <a:rPr lang="en-CL" smtClean="0"/>
              <a:pPr/>
              <a:t>11-06-26</a:t>
            </a:fld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6" Type="http://schemas.microsoft.com/office/2007/relationships/hdphoto" Target="../media/hdphoto1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6157455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Consideraciones Prácticas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V)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BA6A0-45CC-BC6E-7653-C9E7A92F8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6406"/>
            <a:ext cx="10515600" cy="1745188"/>
          </a:xfrm>
        </p:spPr>
        <p:txBody>
          <a:bodyPr>
            <a:norm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Estimación Métricas de Desempeño</a:t>
            </a:r>
            <a:br>
              <a:rPr lang="en-CL" dirty="0">
                <a:latin typeface="Gill Sans MT" panose="020B0502020104020203" pitchFamily="34" charset="77"/>
              </a:rPr>
            </a:br>
            <a:br>
              <a:rPr lang="en-CL" dirty="0">
                <a:latin typeface="Gill Sans MT" panose="020B0502020104020203" pitchFamily="34" charset="77"/>
              </a:rPr>
            </a:br>
            <a:r>
              <a:rPr lang="en-CL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(Ejemplo: Accuracy)</a:t>
            </a:r>
          </a:p>
        </p:txBody>
      </p:sp>
    </p:spTree>
    <p:extLst>
      <p:ext uri="{BB962C8B-B14F-4D97-AF65-F5344CB8AC3E}">
        <p14:creationId xmlns:p14="http://schemas.microsoft.com/office/powerpoint/2010/main" val="639380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92072" y="504196"/>
            <a:ext cx="7289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Gill Sans MT" panose="020B0502020104020203" pitchFamily="34" charset="77"/>
              </a:rPr>
              <a:t>Estimación</a:t>
            </a:r>
            <a:r>
              <a:rPr lang="en-US" sz="3200" dirty="0">
                <a:latin typeface="Gill Sans MT" panose="020B0502020104020203" pitchFamily="34" charset="77"/>
              </a:rPr>
              <a:t> del Accuracy de un </a:t>
            </a:r>
            <a:r>
              <a:rPr lang="en-US" sz="3200" dirty="0" err="1">
                <a:latin typeface="Gill Sans MT" panose="020B0502020104020203" pitchFamily="34" charset="77"/>
              </a:rPr>
              <a:t>Clasificador</a:t>
            </a:r>
            <a:endParaRPr lang="en-US" sz="3200" dirty="0">
              <a:latin typeface="Gill Sans MT" panose="020B0502020104020203" pitchFamily="34" charset="77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766769" y="1152501"/>
            <a:ext cx="8267681" cy="2102177"/>
            <a:chOff x="242768" y="1152500"/>
            <a:chExt cx="8267681" cy="2102177"/>
          </a:xfrm>
        </p:grpSpPr>
        <p:sp>
          <p:nvSpPr>
            <p:cNvPr id="5" name="Rectangle 4"/>
            <p:cNvSpPr/>
            <p:nvPr/>
          </p:nvSpPr>
          <p:spPr>
            <a:xfrm>
              <a:off x="242768" y="1998110"/>
              <a:ext cx="7974449" cy="840327"/>
            </a:xfrm>
            <a:prstGeom prst="rect">
              <a:avLst/>
            </a:prstGeom>
            <a:noFill/>
            <a:ln w="19050" cmpd="sng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242768" y="1344428"/>
              <a:ext cx="7974449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3174821" y="1152500"/>
              <a:ext cx="222817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[ AVAILABLE DATA ] 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064493" y="2885345"/>
              <a:ext cx="445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N</a:t>
              </a:r>
              <a:r>
                <a:rPr lang="en-US" baseline="-25000" dirty="0">
                  <a:latin typeface="Gill Sans MT" panose="020B0502020104020203" pitchFamily="34" charset="77"/>
                </a:rPr>
                <a:t>0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766768" y="1529430"/>
            <a:ext cx="7392890" cy="1722427"/>
            <a:chOff x="242768" y="1529429"/>
            <a:chExt cx="7392890" cy="1722427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7437636" y="1998110"/>
              <a:ext cx="0" cy="84032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242768" y="1721357"/>
              <a:ext cx="7194868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174821" y="1529429"/>
              <a:ext cx="171431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[ USED DATA ] 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271456" y="288252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N</a:t>
              </a:r>
              <a:endParaRPr lang="en-US" baseline="-25000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DB7929-2448-9842-85C4-F2E7FB2E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5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66769" y="1998111"/>
            <a:ext cx="7974449" cy="840327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83658" y="2001116"/>
            <a:ext cx="4748316" cy="840327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31974" y="1998111"/>
            <a:ext cx="2432598" cy="840327"/>
          </a:xfrm>
          <a:prstGeom prst="rect">
            <a:avLst/>
          </a:prstGeom>
          <a:solidFill>
            <a:srgbClr val="00FF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33840" y="2209540"/>
            <a:ext cx="2052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 TRAINING DATA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7055" y="2212548"/>
            <a:ext cx="1882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 TESTING DATA  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766769" y="1344428"/>
            <a:ext cx="7974449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98821" y="1152500"/>
            <a:ext cx="222817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[ AVAILABLE DATA ]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2072" y="504196"/>
            <a:ext cx="7289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Gill Sans MT" panose="020B0502020104020203" pitchFamily="34" charset="77"/>
              </a:rPr>
              <a:t>Estimación</a:t>
            </a:r>
            <a:r>
              <a:rPr lang="en-US" sz="3200" dirty="0">
                <a:latin typeface="Gill Sans MT" panose="020B0502020104020203" pitchFamily="34" charset="77"/>
              </a:rPr>
              <a:t> del Accuracy de un </a:t>
            </a:r>
            <a:r>
              <a:rPr lang="en-US" sz="3200" dirty="0" err="1">
                <a:latin typeface="Gill Sans MT" panose="020B0502020104020203" pitchFamily="34" charset="77"/>
              </a:rPr>
              <a:t>Clasificador</a:t>
            </a:r>
            <a:endParaRPr lang="en-US" sz="3200" dirty="0">
              <a:latin typeface="Gill Sans MT" panose="020B0502020104020203" pitchFamily="34" charset="7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0350" y="5892970"/>
            <a:ext cx="4647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        Sampling:	[ Random / Non random ]</a:t>
            </a:r>
          </a:p>
          <a:p>
            <a:r>
              <a:rPr lang="en-US" dirty="0">
                <a:latin typeface="Gill Sans MT" panose="020B0502020104020203" pitchFamily="34" charset="77"/>
              </a:rPr>
              <a:t>		[ Stratified / Non stratified ]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766768" y="1721357"/>
            <a:ext cx="7194868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98821" y="1529429"/>
            <a:ext cx="17143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[ USED DATA ]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8715" y="2107441"/>
            <a:ext cx="758542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USED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1766770" y="2930414"/>
            <a:ext cx="4765207" cy="1794091"/>
            <a:chOff x="242769" y="2930413"/>
            <a:chExt cx="4765207" cy="1794091"/>
          </a:xfrm>
        </p:grpSpPr>
        <p:grpSp>
          <p:nvGrpSpPr>
            <p:cNvPr id="4" name="Group 3"/>
            <p:cNvGrpSpPr/>
            <p:nvPr/>
          </p:nvGrpSpPr>
          <p:grpSpPr>
            <a:xfrm>
              <a:off x="242769" y="2930413"/>
              <a:ext cx="4765207" cy="1794091"/>
              <a:chOff x="242769" y="2930413"/>
              <a:chExt cx="4765207" cy="1794091"/>
            </a:xfrm>
          </p:grpSpPr>
          <p:sp>
            <p:nvSpPr>
              <p:cNvPr id="2" name="Left Brace 1"/>
              <p:cNvSpPr/>
              <p:nvPr/>
            </p:nvSpPr>
            <p:spPr>
              <a:xfrm rot="16200000">
                <a:off x="2421445" y="751737"/>
                <a:ext cx="407856" cy="4765207"/>
              </a:xfrm>
              <a:prstGeom prst="leftBrac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1390003" y="3678764"/>
                <a:ext cx="2502519" cy="104574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1569228" y="4005246"/>
                <a:ext cx="21323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MODEL LEARNING</a:t>
                </a:r>
              </a:p>
            </p:txBody>
          </p:sp>
          <p:cxnSp>
            <p:nvCxnSpPr>
              <p:cNvPr id="21" name="Straight Arrow Connector 20"/>
              <p:cNvCxnSpPr/>
              <p:nvPr/>
            </p:nvCxnSpPr>
            <p:spPr>
              <a:xfrm>
                <a:off x="2625386" y="3317380"/>
                <a:ext cx="0" cy="3361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84716" y="3274704"/>
              <a:ext cx="1498600" cy="254000"/>
            </a:xfrm>
            <a:prstGeom prst="rect">
              <a:avLst/>
            </a:prstGeom>
          </p:spPr>
        </p:pic>
      </p:grpSp>
      <p:sp>
        <p:nvSpPr>
          <p:cNvPr id="18" name="Left Brace 17"/>
          <p:cNvSpPr/>
          <p:nvPr/>
        </p:nvSpPr>
        <p:spPr>
          <a:xfrm rot="16200000">
            <a:off x="7525751" y="1941036"/>
            <a:ext cx="382571" cy="2370117"/>
          </a:xfrm>
          <a:prstGeom prst="leftBrace">
            <a:avLst/>
          </a:prstGeom>
          <a:ln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6473864" y="3317380"/>
            <a:ext cx="2502519" cy="1410133"/>
            <a:chOff x="4949863" y="3317379"/>
            <a:chExt cx="2502519" cy="1410133"/>
          </a:xfrm>
        </p:grpSpPr>
        <p:sp>
          <p:nvSpPr>
            <p:cNvPr id="16" name="Rectangle 15"/>
            <p:cNvSpPr/>
            <p:nvPr/>
          </p:nvSpPr>
          <p:spPr>
            <a:xfrm>
              <a:off x="4949863" y="3681772"/>
              <a:ext cx="2502519" cy="10457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251200" y="4008254"/>
              <a:ext cx="19194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Gill Sans MT" panose="020B0502020104020203" pitchFamily="34" charset="77"/>
                </a:rPr>
                <a:t>CLASSIFICATION</a:t>
              </a:r>
            </a:p>
          </p:txBody>
        </p:sp>
        <p:cxnSp>
          <p:nvCxnSpPr>
            <p:cNvPr id="20" name="Straight Arrow Connector 19"/>
            <p:cNvCxnSpPr>
              <a:stCxn id="18" idx="1"/>
              <a:endCxn id="16" idx="0"/>
            </p:cNvCxnSpPr>
            <p:nvPr/>
          </p:nvCxnSpPr>
          <p:spPr>
            <a:xfrm>
              <a:off x="6193036" y="3317379"/>
              <a:ext cx="8087" cy="36439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8202" y="3356592"/>
              <a:ext cx="558800" cy="254000"/>
            </a:xfrm>
            <a:prstGeom prst="rect">
              <a:avLst/>
            </a:prstGeom>
          </p:spPr>
        </p:pic>
      </p:grpSp>
      <p:grpSp>
        <p:nvGrpSpPr>
          <p:cNvPr id="48" name="Group 47"/>
          <p:cNvGrpSpPr/>
          <p:nvPr/>
        </p:nvGrpSpPr>
        <p:grpSpPr>
          <a:xfrm>
            <a:off x="7287171" y="3317380"/>
            <a:ext cx="2891506" cy="2149804"/>
            <a:chOff x="5763171" y="3317380"/>
            <a:chExt cx="2891506" cy="2149804"/>
          </a:xfrm>
        </p:grpSpPr>
        <p:sp>
          <p:nvSpPr>
            <p:cNvPr id="27" name="TextBox 26"/>
            <p:cNvSpPr txBox="1"/>
            <p:nvPr/>
          </p:nvSpPr>
          <p:spPr>
            <a:xfrm>
              <a:off x="5763171" y="5063612"/>
              <a:ext cx="1047082" cy="4035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dirty="0">
                  <a:latin typeface="Gill Sans MT" panose="020B0502020104020203" pitchFamily="34" charset="77"/>
                </a:rPr>
                <a:t>Accuracy</a:t>
              </a:r>
            </a:p>
          </p:txBody>
        </p:sp>
        <p:cxnSp>
          <p:nvCxnSpPr>
            <p:cNvPr id="29" name="Elbow Connector 28"/>
            <p:cNvCxnSpPr>
              <a:stCxn id="18" idx="1"/>
              <a:endCxn id="27" idx="3"/>
            </p:cNvCxnSpPr>
            <p:nvPr/>
          </p:nvCxnSpPr>
          <p:spPr>
            <a:xfrm rot="16200000" flipH="1">
              <a:off x="5527636" y="3982781"/>
              <a:ext cx="1948018" cy="617216"/>
            </a:xfrm>
            <a:prstGeom prst="bentConnector4">
              <a:avLst>
                <a:gd name="adj1" fmla="val 3900"/>
                <a:gd name="adj2" fmla="val 271919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59377" y="4066275"/>
              <a:ext cx="495300" cy="254000"/>
            </a:xfrm>
            <a:prstGeom prst="rect">
              <a:avLst/>
            </a:prstGeom>
          </p:spPr>
        </p:pic>
      </p:grpSp>
      <p:grpSp>
        <p:nvGrpSpPr>
          <p:cNvPr id="42" name="Group 41"/>
          <p:cNvGrpSpPr/>
          <p:nvPr/>
        </p:nvGrpSpPr>
        <p:grpSpPr>
          <a:xfrm>
            <a:off x="5416523" y="3864410"/>
            <a:ext cx="1057341" cy="818958"/>
            <a:chOff x="3892522" y="3864410"/>
            <a:chExt cx="1057341" cy="818958"/>
          </a:xfrm>
        </p:grpSpPr>
        <p:grpSp>
          <p:nvGrpSpPr>
            <p:cNvPr id="9" name="Group 8"/>
            <p:cNvGrpSpPr/>
            <p:nvPr/>
          </p:nvGrpSpPr>
          <p:grpSpPr>
            <a:xfrm>
              <a:off x="3892522" y="3864410"/>
              <a:ext cx="1057341" cy="587597"/>
              <a:chOff x="3892522" y="3864410"/>
              <a:chExt cx="1057341" cy="587597"/>
            </a:xfrm>
          </p:grpSpPr>
          <p:cxnSp>
            <p:nvCxnSpPr>
              <p:cNvPr id="22" name="Straight Arrow Connector 21"/>
              <p:cNvCxnSpPr>
                <a:stCxn id="3" idx="3"/>
                <a:endCxn id="16" idx="1"/>
              </p:cNvCxnSpPr>
              <p:nvPr/>
            </p:nvCxnSpPr>
            <p:spPr>
              <a:xfrm>
                <a:off x="3892522" y="4201634"/>
                <a:ext cx="1057341" cy="300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3920999" y="3864410"/>
                <a:ext cx="1010213" cy="5875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latin typeface="Gill Sans MT" panose="020B0502020104020203" pitchFamily="34" charset="77"/>
                  </a:rPr>
                  <a:t>Model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latin typeface="Gill Sans MT" panose="020B0502020104020203" pitchFamily="34" charset="77"/>
                  </a:rPr>
                  <a:t>Parameters</a:t>
                </a:r>
              </a:p>
            </p:txBody>
          </p:sp>
        </p:grpSp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07572" y="4467468"/>
              <a:ext cx="228600" cy="215900"/>
            </a:xfrm>
            <a:prstGeom prst="rect">
              <a:avLst/>
            </a:prstGeom>
          </p:spPr>
        </p:pic>
      </p:grpSp>
      <p:grpSp>
        <p:nvGrpSpPr>
          <p:cNvPr id="49" name="Group 48"/>
          <p:cNvGrpSpPr/>
          <p:nvPr/>
        </p:nvGrpSpPr>
        <p:grpSpPr>
          <a:xfrm>
            <a:off x="7701324" y="5494064"/>
            <a:ext cx="228600" cy="755008"/>
            <a:chOff x="6177324" y="5494064"/>
            <a:chExt cx="228600" cy="755008"/>
          </a:xfrm>
        </p:grpSpPr>
        <p:cxnSp>
          <p:nvCxnSpPr>
            <p:cNvPr id="37" name="Straight Arrow Connector 36"/>
            <p:cNvCxnSpPr/>
            <p:nvPr/>
          </p:nvCxnSpPr>
          <p:spPr>
            <a:xfrm>
              <a:off x="6290836" y="5494064"/>
              <a:ext cx="0" cy="3361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77324" y="5931572"/>
              <a:ext cx="228600" cy="317500"/>
            </a:xfrm>
            <a:prstGeom prst="rect">
              <a:avLst/>
            </a:prstGeom>
          </p:spPr>
        </p:pic>
      </p:grpSp>
      <p:grpSp>
        <p:nvGrpSpPr>
          <p:cNvPr id="47" name="Group 46"/>
          <p:cNvGrpSpPr/>
          <p:nvPr/>
        </p:nvGrpSpPr>
        <p:grpSpPr>
          <a:xfrm>
            <a:off x="7420436" y="4727512"/>
            <a:ext cx="392129" cy="336100"/>
            <a:chOff x="5896435" y="4727512"/>
            <a:chExt cx="392129" cy="336100"/>
          </a:xfrm>
        </p:grpSpPr>
        <p:cxnSp>
          <p:nvCxnSpPr>
            <p:cNvPr id="25" name="Straight Arrow Connector 24"/>
            <p:cNvCxnSpPr/>
            <p:nvPr/>
          </p:nvCxnSpPr>
          <p:spPr>
            <a:xfrm>
              <a:off x="6288564" y="4727512"/>
              <a:ext cx="0" cy="3361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96435" y="4767936"/>
              <a:ext cx="254000" cy="254000"/>
            </a:xfrm>
            <a:prstGeom prst="rect">
              <a:avLst/>
            </a:prstGeom>
          </p:spPr>
        </p:pic>
      </p:grpSp>
      <p:grpSp>
        <p:nvGrpSpPr>
          <p:cNvPr id="24" name="Group 23"/>
          <p:cNvGrpSpPr/>
          <p:nvPr/>
        </p:nvGrpSpPr>
        <p:grpSpPr>
          <a:xfrm>
            <a:off x="7823201" y="4274462"/>
            <a:ext cx="2555865" cy="826531"/>
            <a:chOff x="6299200" y="4274461"/>
            <a:chExt cx="2555865" cy="826531"/>
          </a:xfrm>
        </p:grpSpPr>
        <p:sp>
          <p:nvSpPr>
            <p:cNvPr id="6" name="TextBox 5"/>
            <p:cNvSpPr txBox="1"/>
            <p:nvPr/>
          </p:nvSpPr>
          <p:spPr>
            <a:xfrm>
              <a:off x="6299200" y="4731660"/>
              <a:ext cx="1334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(prediction)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91714" y="4274461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(ideal)</a:t>
              </a:r>
            </a:p>
          </p:txBody>
        </p:sp>
      </p:grp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D4A8F5B7-DC27-9A46-8A88-02760B756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9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66769" y="1998111"/>
            <a:ext cx="7974449" cy="840327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83658" y="2001116"/>
            <a:ext cx="4748316" cy="840327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31974" y="1998111"/>
            <a:ext cx="2432598" cy="840327"/>
          </a:xfrm>
          <a:prstGeom prst="rect">
            <a:avLst/>
          </a:prstGeom>
          <a:solidFill>
            <a:srgbClr val="00FF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766769" y="1344428"/>
            <a:ext cx="7974449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98821" y="1152500"/>
            <a:ext cx="222817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[ AVAILABLE DATA ]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2072" y="504196"/>
            <a:ext cx="7289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Gill Sans MT" panose="020B0502020104020203" pitchFamily="34" charset="77"/>
              </a:rPr>
              <a:t>Estimación</a:t>
            </a:r>
            <a:r>
              <a:rPr lang="en-US" sz="3200" dirty="0">
                <a:latin typeface="Gill Sans MT" panose="020B0502020104020203" pitchFamily="34" charset="77"/>
              </a:rPr>
              <a:t> del Accuracy de un </a:t>
            </a:r>
            <a:r>
              <a:rPr lang="en-US" sz="3200" dirty="0" err="1">
                <a:latin typeface="Gill Sans MT" panose="020B0502020104020203" pitchFamily="34" charset="77"/>
              </a:rPr>
              <a:t>Clasificador</a:t>
            </a:r>
            <a:endParaRPr lang="en-US" sz="3200" dirty="0">
              <a:latin typeface="Gill Sans MT" panose="020B0502020104020203" pitchFamily="34" charset="77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766768" y="1721357"/>
            <a:ext cx="7194868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98821" y="1529429"/>
            <a:ext cx="17143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[ USED DATA ]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5417" y="1830251"/>
            <a:ext cx="466795" cy="788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000" dirty="0" err="1">
                <a:latin typeface="Gill Sans MT" panose="020B0502020104020203" pitchFamily="34" charset="77"/>
              </a:rPr>
              <a:t>η</a:t>
            </a:r>
            <a:endParaRPr lang="en-US" sz="4000" dirty="0">
              <a:latin typeface="Gill Sans MT" panose="020B0502020104020203" pitchFamily="34" charset="7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78715" y="2107441"/>
            <a:ext cx="758542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USED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3840" y="2209540"/>
            <a:ext cx="2052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 TRAINING DATA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7055" y="2212548"/>
            <a:ext cx="1882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 TESTING DATA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FC3037-4881-014A-9084-DEFE689E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81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66769" y="1998111"/>
            <a:ext cx="7974449" cy="840327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83658" y="2001116"/>
            <a:ext cx="4748316" cy="840327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31974" y="1998111"/>
            <a:ext cx="2432598" cy="840327"/>
          </a:xfrm>
          <a:prstGeom prst="rect">
            <a:avLst/>
          </a:prstGeom>
          <a:solidFill>
            <a:srgbClr val="00FF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92072" y="504196"/>
            <a:ext cx="7289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Gill Sans MT" panose="020B0502020104020203" pitchFamily="34" charset="77"/>
              </a:rPr>
              <a:t>Estimación</a:t>
            </a:r>
            <a:r>
              <a:rPr lang="en-US" sz="3200" dirty="0">
                <a:latin typeface="Gill Sans MT" panose="020B0502020104020203" pitchFamily="34" charset="77"/>
              </a:rPr>
              <a:t> del Accuracy de un </a:t>
            </a:r>
            <a:r>
              <a:rPr lang="en-US" sz="3200" dirty="0" err="1">
                <a:latin typeface="Gill Sans MT" panose="020B0502020104020203" pitchFamily="34" charset="77"/>
              </a:rPr>
              <a:t>Clasificador</a:t>
            </a:r>
            <a:endParaRPr lang="en-US" sz="3200" dirty="0">
              <a:latin typeface="Gill Sans MT" panose="020B0502020104020203" pitchFamily="34" charset="7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15417" y="1830251"/>
            <a:ext cx="466795" cy="788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000" dirty="0" err="1">
                <a:latin typeface="Gill Sans MT" panose="020B0502020104020203" pitchFamily="34" charset="77"/>
              </a:rPr>
              <a:t>η</a:t>
            </a:r>
            <a:endParaRPr lang="en-US" sz="4000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539048-F259-B540-9A30-C017086B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915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66769" y="1998111"/>
            <a:ext cx="7974449" cy="840327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83658" y="2001116"/>
            <a:ext cx="4748316" cy="840327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31974" y="1998111"/>
            <a:ext cx="2432598" cy="840327"/>
          </a:xfrm>
          <a:prstGeom prst="rect">
            <a:avLst/>
          </a:prstGeom>
          <a:solidFill>
            <a:srgbClr val="00FF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92072" y="504196"/>
            <a:ext cx="7289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Gill Sans MT" panose="020B0502020104020203" pitchFamily="34" charset="77"/>
              </a:rPr>
              <a:t>Estimación</a:t>
            </a:r>
            <a:r>
              <a:rPr lang="en-US" sz="3200" dirty="0">
                <a:latin typeface="Gill Sans MT" panose="020B0502020104020203" pitchFamily="34" charset="77"/>
              </a:rPr>
              <a:t> del Accuracy de un </a:t>
            </a:r>
            <a:r>
              <a:rPr lang="en-US" sz="3200" dirty="0" err="1">
                <a:latin typeface="Gill Sans MT" panose="020B0502020104020203" pitchFamily="34" charset="77"/>
              </a:rPr>
              <a:t>Clasificador</a:t>
            </a:r>
            <a:endParaRPr lang="en-US" sz="3200" dirty="0">
              <a:latin typeface="Gill Sans MT" panose="020B0502020104020203" pitchFamily="34" charset="7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15417" y="1830251"/>
            <a:ext cx="466795" cy="788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000" dirty="0" err="1">
                <a:latin typeface="Gill Sans MT" panose="020B0502020104020203" pitchFamily="34" charset="77"/>
              </a:rPr>
              <a:t>η</a:t>
            </a:r>
            <a:endParaRPr lang="en-US" sz="4000" dirty="0">
              <a:latin typeface="Gill Sans MT" panose="020B0502020104020203" pitchFamily="34" charset="7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10662" y="1572756"/>
            <a:ext cx="183992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HO: HOLD OUT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473FCE-B918-D54B-AD0A-3FBF1B2BA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04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66769" y="1998111"/>
            <a:ext cx="7974449" cy="840327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83658" y="2001116"/>
            <a:ext cx="5977452" cy="840327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61111" y="1998111"/>
            <a:ext cx="1203461" cy="840327"/>
          </a:xfrm>
          <a:prstGeom prst="rect">
            <a:avLst/>
          </a:prstGeom>
          <a:solidFill>
            <a:srgbClr val="00FF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92072" y="504196"/>
            <a:ext cx="7289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Gill Sans MT" panose="020B0502020104020203" pitchFamily="34" charset="77"/>
              </a:rPr>
              <a:t>Estimación</a:t>
            </a:r>
            <a:r>
              <a:rPr lang="en-US" sz="3200" dirty="0">
                <a:latin typeface="Gill Sans MT" panose="020B0502020104020203" pitchFamily="34" charset="77"/>
              </a:rPr>
              <a:t> del Accuracy de un </a:t>
            </a:r>
            <a:r>
              <a:rPr lang="en-US" sz="3200" dirty="0" err="1">
                <a:latin typeface="Gill Sans MT" panose="020B0502020104020203" pitchFamily="34" charset="77"/>
              </a:rPr>
              <a:t>Clasificador</a:t>
            </a:r>
            <a:endParaRPr lang="en-US" sz="3200" dirty="0">
              <a:latin typeface="Gill Sans MT" panose="020B0502020104020203" pitchFamily="34" charset="7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24045" y="1830251"/>
            <a:ext cx="649538" cy="788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000" dirty="0">
                <a:latin typeface="Gill Sans MT" panose="020B0502020104020203" pitchFamily="34" charset="77"/>
              </a:rPr>
              <a:t>η</a:t>
            </a:r>
            <a:r>
              <a:rPr lang="en-US" sz="4000" baseline="-25000" dirty="0"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0661" y="1572756"/>
            <a:ext cx="343671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CV: CROSS VALIDATION – n folds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78059" y="2926616"/>
            <a:ext cx="7974449" cy="840327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794948" y="2929621"/>
            <a:ext cx="7169623" cy="840327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58855" y="2926616"/>
            <a:ext cx="1203461" cy="840327"/>
          </a:xfrm>
          <a:prstGeom prst="rect">
            <a:avLst/>
          </a:prstGeom>
          <a:solidFill>
            <a:srgbClr val="00FF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35335" y="2758756"/>
            <a:ext cx="649538" cy="788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000" dirty="0">
                <a:latin typeface="Gill Sans MT" panose="020B0502020104020203" pitchFamily="34" charset="77"/>
              </a:rPr>
              <a:t>η</a:t>
            </a:r>
            <a:r>
              <a:rPr lang="en-US" sz="4000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5238" y="3855121"/>
            <a:ext cx="7974449" cy="840327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792127" y="3858126"/>
            <a:ext cx="7169623" cy="840327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70710" y="3855121"/>
            <a:ext cx="1203461" cy="840327"/>
          </a:xfrm>
          <a:prstGeom prst="rect">
            <a:avLst/>
          </a:prstGeom>
          <a:solidFill>
            <a:srgbClr val="00FF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832514" y="3687261"/>
            <a:ext cx="649538" cy="788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000" dirty="0">
                <a:latin typeface="Gill Sans MT" panose="020B0502020104020203" pitchFamily="34" charset="77"/>
              </a:rPr>
              <a:t>η</a:t>
            </a:r>
            <a:r>
              <a:rPr lang="en-US" sz="4000" baseline="-25000" dirty="0"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72417" y="5136401"/>
            <a:ext cx="7974449" cy="840327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789306" y="5139406"/>
            <a:ext cx="7169623" cy="840327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768434" y="5136401"/>
            <a:ext cx="1203461" cy="840327"/>
          </a:xfrm>
          <a:prstGeom prst="rect">
            <a:avLst/>
          </a:prstGeom>
          <a:solidFill>
            <a:srgbClr val="00FF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826487" y="4968541"/>
            <a:ext cx="655950" cy="788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000" dirty="0" err="1">
                <a:latin typeface="Gill Sans MT" panose="020B0502020104020203" pitchFamily="34" charset="77"/>
              </a:rPr>
              <a:t>η</a:t>
            </a:r>
            <a:r>
              <a:rPr lang="en-US" sz="4000" baseline="-25000" dirty="0" err="1">
                <a:latin typeface="Gill Sans MT" panose="020B0502020104020203" pitchFamily="34" charset="77"/>
              </a:rPr>
              <a:t>n</a:t>
            </a:r>
            <a:endParaRPr lang="en-US" sz="4000" baseline="-25000" dirty="0">
              <a:latin typeface="Gill Sans MT" panose="020B0502020104020203" pitchFamily="34" charset="7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58182" y="5988789"/>
            <a:ext cx="4782357" cy="64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200" dirty="0" err="1">
                <a:latin typeface="Gill Sans MT" panose="020B0502020104020203" pitchFamily="34" charset="77"/>
              </a:rPr>
              <a:t>η</a:t>
            </a:r>
            <a:r>
              <a:rPr lang="en-US" sz="3200" dirty="0">
                <a:latin typeface="Gill Sans MT" panose="020B0502020104020203" pitchFamily="34" charset="77"/>
              </a:rPr>
              <a:t> = (η</a:t>
            </a:r>
            <a:r>
              <a:rPr lang="en-US" sz="3200" baseline="-25000" dirty="0">
                <a:latin typeface="Gill Sans MT" panose="020B0502020104020203" pitchFamily="34" charset="77"/>
              </a:rPr>
              <a:t>1</a:t>
            </a:r>
            <a:r>
              <a:rPr lang="en-US" sz="3200" dirty="0">
                <a:latin typeface="Gill Sans MT" panose="020B0502020104020203" pitchFamily="34" charset="77"/>
              </a:rPr>
              <a:t>+ η</a:t>
            </a:r>
            <a:r>
              <a:rPr lang="en-US" sz="3200" baseline="-25000" dirty="0">
                <a:latin typeface="Gill Sans MT" panose="020B0502020104020203" pitchFamily="34" charset="77"/>
              </a:rPr>
              <a:t>2</a:t>
            </a:r>
            <a:r>
              <a:rPr lang="en-US" sz="3200" dirty="0">
                <a:latin typeface="Gill Sans MT" panose="020B0502020104020203" pitchFamily="34" charset="77"/>
              </a:rPr>
              <a:t>+ η</a:t>
            </a:r>
            <a:r>
              <a:rPr lang="en-US" sz="3200" baseline="-25000" dirty="0">
                <a:latin typeface="Gill Sans MT" panose="020B0502020104020203" pitchFamily="34" charset="77"/>
              </a:rPr>
              <a:t>3</a:t>
            </a:r>
            <a:r>
              <a:rPr lang="en-US" sz="3200" dirty="0">
                <a:latin typeface="Gill Sans MT" panose="020B0502020104020203" pitchFamily="34" charset="77"/>
              </a:rPr>
              <a:t>+ . . . + </a:t>
            </a:r>
            <a:r>
              <a:rPr lang="en-US" sz="3200" dirty="0" err="1">
                <a:latin typeface="Gill Sans MT" panose="020B0502020104020203" pitchFamily="34" charset="77"/>
              </a:rPr>
              <a:t>η</a:t>
            </a:r>
            <a:r>
              <a:rPr lang="en-US" sz="3200" baseline="-25000" dirty="0" err="1">
                <a:latin typeface="Gill Sans MT" panose="020B0502020104020203" pitchFamily="34" charset="77"/>
              </a:rPr>
              <a:t>n</a:t>
            </a:r>
            <a:r>
              <a:rPr lang="en-US" sz="3200" dirty="0">
                <a:latin typeface="Gill Sans MT" panose="020B0502020104020203" pitchFamily="34" charset="77"/>
              </a:rPr>
              <a:t>)/n</a:t>
            </a:r>
            <a:endParaRPr lang="en-US" sz="3200" baseline="-25000" dirty="0">
              <a:latin typeface="Gill Sans MT" panose="020B0502020104020203" pitchFamily="34" charset="7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70709" y="474513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4946D9-8AC2-E64A-91F7-5C6D1B48F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3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66769" y="1998111"/>
            <a:ext cx="7974449" cy="840327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83658" y="2001116"/>
            <a:ext cx="7175270" cy="840327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92072" y="504196"/>
            <a:ext cx="7289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Gill Sans MT" panose="020B0502020104020203" pitchFamily="34" charset="77"/>
              </a:rPr>
              <a:t>Estimación</a:t>
            </a:r>
            <a:r>
              <a:rPr lang="en-US" sz="3200" dirty="0">
                <a:latin typeface="Gill Sans MT" panose="020B0502020104020203" pitchFamily="34" charset="77"/>
              </a:rPr>
              <a:t> del Accuracy de un </a:t>
            </a:r>
            <a:r>
              <a:rPr lang="en-US" sz="3200" dirty="0" err="1">
                <a:latin typeface="Gill Sans MT" panose="020B0502020104020203" pitchFamily="34" charset="77"/>
              </a:rPr>
              <a:t>Clasificador</a:t>
            </a:r>
            <a:endParaRPr lang="en-US" sz="3200" dirty="0">
              <a:latin typeface="Gill Sans MT" panose="020B0502020104020203" pitchFamily="34" charset="7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24045" y="1830251"/>
            <a:ext cx="649538" cy="788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000" dirty="0">
                <a:latin typeface="Gill Sans MT" panose="020B0502020104020203" pitchFamily="34" charset="77"/>
              </a:rPr>
              <a:t>η</a:t>
            </a:r>
            <a:r>
              <a:rPr lang="en-US" sz="4000" baseline="-25000" dirty="0"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78059" y="2926616"/>
            <a:ext cx="7974449" cy="840327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794948" y="2929621"/>
            <a:ext cx="7169623" cy="840327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35335" y="2758756"/>
            <a:ext cx="649538" cy="788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000" dirty="0">
                <a:latin typeface="Gill Sans MT" panose="020B0502020104020203" pitchFamily="34" charset="77"/>
              </a:rPr>
              <a:t>η</a:t>
            </a:r>
            <a:r>
              <a:rPr lang="en-US" sz="4000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5238" y="3855121"/>
            <a:ext cx="7974449" cy="840327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792127" y="3858126"/>
            <a:ext cx="7169623" cy="840327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832514" y="3687261"/>
            <a:ext cx="649538" cy="788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000" dirty="0">
                <a:latin typeface="Gill Sans MT" panose="020B0502020104020203" pitchFamily="34" charset="77"/>
              </a:rPr>
              <a:t>η</a:t>
            </a:r>
            <a:r>
              <a:rPr lang="en-US" sz="4000" baseline="-25000" dirty="0"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72417" y="5136401"/>
            <a:ext cx="7974449" cy="840327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789306" y="5139406"/>
            <a:ext cx="7169623" cy="840327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790421" y="4968541"/>
            <a:ext cx="728084" cy="7817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000" dirty="0" err="1">
                <a:latin typeface="Gill Sans MT" panose="020B0502020104020203" pitchFamily="34" charset="77"/>
              </a:rPr>
              <a:t>η</a:t>
            </a:r>
            <a:r>
              <a:rPr lang="en-US" sz="4000" baseline="-25000" dirty="0" err="1">
                <a:latin typeface="Gill Sans MT" panose="020B0502020104020203" pitchFamily="34" charset="77"/>
              </a:rPr>
              <a:t>N</a:t>
            </a:r>
            <a:endParaRPr lang="en-US" sz="4000" baseline="-25000" dirty="0">
              <a:latin typeface="Gill Sans MT" panose="020B0502020104020203" pitchFamily="34" charset="7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64648" y="6029797"/>
            <a:ext cx="6704934" cy="641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200" dirty="0" err="1">
                <a:latin typeface="Gill Sans MT" panose="020B0502020104020203" pitchFamily="34" charset="77"/>
              </a:rPr>
              <a:t>η</a:t>
            </a:r>
            <a:r>
              <a:rPr lang="en-US" sz="3200" dirty="0">
                <a:latin typeface="Gill Sans MT" panose="020B0502020104020203" pitchFamily="34" charset="77"/>
              </a:rPr>
              <a:t> = (η</a:t>
            </a:r>
            <a:r>
              <a:rPr lang="en-US" sz="3200" baseline="-25000" dirty="0">
                <a:latin typeface="Gill Sans MT" panose="020B0502020104020203" pitchFamily="34" charset="77"/>
              </a:rPr>
              <a:t>1</a:t>
            </a:r>
            <a:r>
              <a:rPr lang="en-US" sz="3200" dirty="0">
                <a:latin typeface="Gill Sans MT" panose="020B0502020104020203" pitchFamily="34" charset="77"/>
              </a:rPr>
              <a:t>+ η</a:t>
            </a:r>
            <a:r>
              <a:rPr lang="en-US" sz="3200" baseline="-25000" dirty="0">
                <a:latin typeface="Gill Sans MT" panose="020B0502020104020203" pitchFamily="34" charset="77"/>
              </a:rPr>
              <a:t>2</a:t>
            </a:r>
            <a:r>
              <a:rPr lang="en-US" sz="3200" dirty="0">
                <a:latin typeface="Gill Sans MT" panose="020B0502020104020203" pitchFamily="34" charset="77"/>
              </a:rPr>
              <a:t>+ η</a:t>
            </a:r>
            <a:r>
              <a:rPr lang="en-US" sz="3200" baseline="-25000" dirty="0">
                <a:latin typeface="Gill Sans MT" panose="020B0502020104020203" pitchFamily="34" charset="77"/>
              </a:rPr>
              <a:t>3</a:t>
            </a:r>
            <a:r>
              <a:rPr lang="en-US" sz="3200" dirty="0">
                <a:latin typeface="Gill Sans MT" panose="020B0502020104020203" pitchFamily="34" charset="77"/>
              </a:rPr>
              <a:t>+ . . . + </a:t>
            </a:r>
            <a:r>
              <a:rPr lang="en-US" sz="3200" dirty="0" err="1">
                <a:latin typeface="Gill Sans MT" panose="020B0502020104020203" pitchFamily="34" charset="77"/>
              </a:rPr>
              <a:t>η</a:t>
            </a:r>
            <a:r>
              <a:rPr lang="en-US" sz="3200" baseline="-25000" dirty="0" err="1">
                <a:latin typeface="Gill Sans MT" panose="020B0502020104020203" pitchFamily="34" charset="77"/>
              </a:rPr>
              <a:t>N</a:t>
            </a:r>
            <a:r>
              <a:rPr lang="en-US" sz="3200" dirty="0">
                <a:latin typeface="Gill Sans MT" panose="020B0502020104020203" pitchFamily="34" charset="77"/>
              </a:rPr>
              <a:t>)/N</a:t>
            </a:r>
            <a:endParaRPr lang="en-US" sz="3200" baseline="-25000" dirty="0">
              <a:latin typeface="Gill Sans MT" panose="020B0502020104020203" pitchFamily="34" charset="7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823210" y="1998111"/>
            <a:ext cx="149393" cy="840327"/>
          </a:xfrm>
          <a:prstGeom prst="rect">
            <a:avLst/>
          </a:prstGeom>
          <a:solidFill>
            <a:srgbClr val="00FF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10661" y="1572756"/>
            <a:ext cx="648248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L1: LEAVE ONE OUT (N folds) (N is the number of used samples)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1606" y="1713671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1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435070" y="1786026"/>
            <a:ext cx="370424" cy="178603"/>
            <a:chOff x="7362164" y="1666955"/>
            <a:chExt cx="370424" cy="178603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7732588" y="1666955"/>
              <a:ext cx="0" cy="1786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7362164" y="1759564"/>
              <a:ext cx="37042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 rot="10800000">
            <a:off x="8984370" y="1792896"/>
            <a:ext cx="370424" cy="178603"/>
            <a:chOff x="7362164" y="1666955"/>
            <a:chExt cx="370424" cy="178603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7732588" y="1666955"/>
              <a:ext cx="0" cy="1786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7362164" y="1759564"/>
              <a:ext cx="37042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/>
          <p:cNvSpPr/>
          <p:nvPr/>
        </p:nvSpPr>
        <p:spPr>
          <a:xfrm>
            <a:off x="8674848" y="2925878"/>
            <a:ext cx="149393" cy="840327"/>
          </a:xfrm>
          <a:prstGeom prst="rect">
            <a:avLst/>
          </a:prstGeom>
          <a:solidFill>
            <a:srgbClr val="00FF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529573" y="3858848"/>
            <a:ext cx="149393" cy="840327"/>
          </a:xfrm>
          <a:prstGeom prst="rect">
            <a:avLst/>
          </a:prstGeom>
          <a:solidFill>
            <a:srgbClr val="00FF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774572" y="5136401"/>
            <a:ext cx="149393" cy="840327"/>
          </a:xfrm>
          <a:prstGeom prst="rect">
            <a:avLst/>
          </a:prstGeom>
          <a:solidFill>
            <a:srgbClr val="00FF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70709" y="474513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FF7B40-897E-DF4C-AB1E-0DBBF65CA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52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66769" y="1998111"/>
            <a:ext cx="7974449" cy="840327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83658" y="2001116"/>
            <a:ext cx="7175270" cy="840327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92072" y="504196"/>
            <a:ext cx="7289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Gill Sans MT" panose="020B0502020104020203" pitchFamily="34" charset="77"/>
              </a:rPr>
              <a:t>Estimación</a:t>
            </a:r>
            <a:r>
              <a:rPr lang="en-US" sz="3200" dirty="0">
                <a:latin typeface="Gill Sans MT" panose="020B0502020104020203" pitchFamily="34" charset="77"/>
              </a:rPr>
              <a:t> del Accuracy de un </a:t>
            </a:r>
            <a:r>
              <a:rPr lang="en-US" sz="3200" dirty="0" err="1">
                <a:latin typeface="Gill Sans MT" panose="020B0502020104020203" pitchFamily="34" charset="77"/>
              </a:rPr>
              <a:t>Clasificador</a:t>
            </a:r>
            <a:endParaRPr lang="en-US" sz="3200" dirty="0">
              <a:latin typeface="Gill Sans MT" panose="020B0502020104020203" pitchFamily="34" charset="7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24045" y="1830251"/>
            <a:ext cx="649538" cy="788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000" dirty="0">
                <a:latin typeface="Gill Sans MT" panose="020B0502020104020203" pitchFamily="34" charset="77"/>
              </a:rPr>
              <a:t>η</a:t>
            </a:r>
            <a:r>
              <a:rPr lang="en-US" sz="4000" baseline="-25000" dirty="0"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78059" y="2926616"/>
            <a:ext cx="7974449" cy="840327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794948" y="2929621"/>
            <a:ext cx="7169623" cy="840327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35335" y="2758756"/>
            <a:ext cx="649538" cy="788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000" dirty="0">
                <a:latin typeface="Gill Sans MT" panose="020B0502020104020203" pitchFamily="34" charset="77"/>
              </a:rPr>
              <a:t>η</a:t>
            </a:r>
            <a:r>
              <a:rPr lang="en-US" sz="4000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5238" y="3855121"/>
            <a:ext cx="7974449" cy="840327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792127" y="3858126"/>
            <a:ext cx="7169623" cy="840327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832514" y="3687261"/>
            <a:ext cx="649538" cy="788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000" dirty="0">
                <a:latin typeface="Gill Sans MT" panose="020B0502020104020203" pitchFamily="34" charset="77"/>
              </a:rPr>
              <a:t>η</a:t>
            </a:r>
            <a:r>
              <a:rPr lang="en-US" sz="4000" baseline="-25000" dirty="0"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72417" y="5136401"/>
            <a:ext cx="7974449" cy="840327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789306" y="5139406"/>
            <a:ext cx="7169623" cy="840327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826487" y="4968541"/>
            <a:ext cx="655950" cy="788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000" dirty="0" err="1">
                <a:latin typeface="Gill Sans MT" panose="020B0502020104020203" pitchFamily="34" charset="77"/>
              </a:rPr>
              <a:t>η</a:t>
            </a:r>
            <a:r>
              <a:rPr lang="en-US" sz="4000" baseline="-25000" dirty="0" err="1">
                <a:latin typeface="Gill Sans MT" panose="020B0502020104020203" pitchFamily="34" charset="77"/>
              </a:rPr>
              <a:t>n</a:t>
            </a:r>
            <a:endParaRPr lang="en-US" sz="4000" baseline="-25000" dirty="0">
              <a:latin typeface="Gill Sans MT" panose="020B0502020104020203" pitchFamily="34" charset="7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58182" y="5988789"/>
            <a:ext cx="4782357" cy="64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200" dirty="0" err="1">
                <a:latin typeface="Gill Sans MT" panose="020B0502020104020203" pitchFamily="34" charset="77"/>
              </a:rPr>
              <a:t>η</a:t>
            </a:r>
            <a:r>
              <a:rPr lang="en-US" sz="3200" dirty="0">
                <a:latin typeface="Gill Sans MT" panose="020B0502020104020203" pitchFamily="34" charset="77"/>
              </a:rPr>
              <a:t> = (η</a:t>
            </a:r>
            <a:r>
              <a:rPr lang="en-US" sz="3200" baseline="-25000" dirty="0">
                <a:latin typeface="Gill Sans MT" panose="020B0502020104020203" pitchFamily="34" charset="77"/>
              </a:rPr>
              <a:t>1</a:t>
            </a:r>
            <a:r>
              <a:rPr lang="en-US" sz="3200" dirty="0">
                <a:latin typeface="Gill Sans MT" panose="020B0502020104020203" pitchFamily="34" charset="77"/>
              </a:rPr>
              <a:t>+ η</a:t>
            </a:r>
            <a:r>
              <a:rPr lang="en-US" sz="3200" baseline="-25000" dirty="0">
                <a:latin typeface="Gill Sans MT" panose="020B0502020104020203" pitchFamily="34" charset="77"/>
              </a:rPr>
              <a:t>2</a:t>
            </a:r>
            <a:r>
              <a:rPr lang="en-US" sz="3200" dirty="0">
                <a:latin typeface="Gill Sans MT" panose="020B0502020104020203" pitchFamily="34" charset="77"/>
              </a:rPr>
              <a:t>+ η</a:t>
            </a:r>
            <a:r>
              <a:rPr lang="en-US" sz="3200" baseline="-25000" dirty="0">
                <a:latin typeface="Gill Sans MT" panose="020B0502020104020203" pitchFamily="34" charset="77"/>
              </a:rPr>
              <a:t>3</a:t>
            </a:r>
            <a:r>
              <a:rPr lang="en-US" sz="3200" dirty="0">
                <a:latin typeface="Gill Sans MT" panose="020B0502020104020203" pitchFamily="34" charset="77"/>
              </a:rPr>
              <a:t>+ . . . + </a:t>
            </a:r>
            <a:r>
              <a:rPr lang="en-US" sz="3200" dirty="0" err="1">
                <a:latin typeface="Gill Sans MT" panose="020B0502020104020203" pitchFamily="34" charset="77"/>
              </a:rPr>
              <a:t>η</a:t>
            </a:r>
            <a:r>
              <a:rPr lang="en-US" sz="3200" baseline="-25000" dirty="0" err="1">
                <a:latin typeface="Gill Sans MT" panose="020B0502020104020203" pitchFamily="34" charset="77"/>
              </a:rPr>
              <a:t>n</a:t>
            </a:r>
            <a:r>
              <a:rPr lang="en-US" sz="3200" dirty="0">
                <a:latin typeface="Gill Sans MT" panose="020B0502020104020203" pitchFamily="34" charset="77"/>
              </a:rPr>
              <a:t>)/n</a:t>
            </a:r>
            <a:endParaRPr lang="en-US" sz="3200" baseline="-25000" dirty="0">
              <a:latin typeface="Gill Sans MT" panose="020B0502020104020203" pitchFamily="34" charset="7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823210" y="1998111"/>
            <a:ext cx="149393" cy="840327"/>
          </a:xfrm>
          <a:prstGeom prst="rect">
            <a:avLst/>
          </a:prstGeom>
          <a:solidFill>
            <a:srgbClr val="00FF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10661" y="1572756"/>
            <a:ext cx="42814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L1*: LEAVE ONE OUT (n folds) (with n&lt;N)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1606" y="1713671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1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435070" y="1786026"/>
            <a:ext cx="370424" cy="178603"/>
            <a:chOff x="7362164" y="1666955"/>
            <a:chExt cx="370424" cy="178603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7732588" y="1666955"/>
              <a:ext cx="0" cy="1786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7362164" y="1759564"/>
              <a:ext cx="37042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 rot="10800000">
            <a:off x="8984370" y="1792896"/>
            <a:ext cx="370424" cy="178603"/>
            <a:chOff x="7362164" y="1666955"/>
            <a:chExt cx="370424" cy="178603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7732588" y="1666955"/>
              <a:ext cx="0" cy="1786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7362164" y="1759564"/>
              <a:ext cx="37042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/>
          <p:cNvSpPr/>
          <p:nvPr/>
        </p:nvSpPr>
        <p:spPr>
          <a:xfrm>
            <a:off x="6522048" y="2925878"/>
            <a:ext cx="149393" cy="840327"/>
          </a:xfrm>
          <a:prstGeom prst="rect">
            <a:avLst/>
          </a:prstGeom>
          <a:solidFill>
            <a:srgbClr val="00FF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474701" y="3858848"/>
            <a:ext cx="149393" cy="840327"/>
          </a:xfrm>
          <a:prstGeom prst="rect">
            <a:avLst/>
          </a:prstGeom>
          <a:solidFill>
            <a:srgbClr val="00FF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774572" y="5136401"/>
            <a:ext cx="149393" cy="840327"/>
          </a:xfrm>
          <a:prstGeom prst="rect">
            <a:avLst/>
          </a:prstGeom>
          <a:solidFill>
            <a:srgbClr val="00FF00"/>
          </a:solidFill>
          <a:ln w="19050" cmpd="sng">
            <a:solidFill>
              <a:srgbClr val="00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70709" y="474513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45C6B7-1089-8C4E-9801-F2B1EA30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70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354" y="1168667"/>
            <a:ext cx="6104646" cy="4915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10916" y="1116863"/>
            <a:ext cx="227151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[ SIMULATED DATA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2072" y="504196"/>
            <a:ext cx="7289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Gill Sans MT" panose="020B0502020104020203" pitchFamily="34" charset="77"/>
              </a:rPr>
              <a:t>Estimación</a:t>
            </a:r>
            <a:r>
              <a:rPr lang="en-US" sz="3200" dirty="0">
                <a:latin typeface="Gill Sans MT" panose="020B0502020104020203" pitchFamily="34" charset="77"/>
              </a:rPr>
              <a:t> del Accuracy de un </a:t>
            </a:r>
            <a:r>
              <a:rPr lang="en-US" sz="3200" dirty="0" err="1">
                <a:latin typeface="Gill Sans MT" panose="020B0502020104020203" pitchFamily="34" charset="77"/>
              </a:rPr>
              <a:t>Clasificador</a:t>
            </a:r>
            <a:endParaRPr lang="en-US" sz="3200" dirty="0">
              <a:latin typeface="Gill Sans MT" panose="020B0502020104020203" pitchFamily="34" charset="7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38338" y="1419031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   2 Classes</a:t>
            </a:r>
          </a:p>
          <a:p>
            <a:r>
              <a:rPr lang="en-US" dirty="0">
                <a:latin typeface="Gill Sans MT" panose="020B0502020104020203" pitchFamily="34" charset="77"/>
              </a:rPr>
              <a:t>   2 Gaussian Distributions </a:t>
            </a:r>
          </a:p>
          <a:p>
            <a:r>
              <a:rPr lang="en-US" dirty="0">
                <a:latin typeface="Gill Sans MT" panose="020B0502020104020203" pitchFamily="34" charset="77"/>
              </a:rPr>
              <a:t>   μ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 = (1,1)</a:t>
            </a:r>
          </a:p>
          <a:p>
            <a:r>
              <a:rPr lang="en-US" dirty="0">
                <a:latin typeface="Gill Sans MT" panose="020B0502020104020203" pitchFamily="34" charset="77"/>
              </a:rPr>
              <a:t>   μ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 =  (-1,-1)</a:t>
            </a:r>
          </a:p>
          <a:p>
            <a:r>
              <a:rPr lang="en-US" dirty="0">
                <a:latin typeface="Gill Sans MT" panose="020B0502020104020203" pitchFamily="34" charset="77"/>
              </a:rPr>
              <a:t>   σ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 = σ</a:t>
            </a:r>
            <a:r>
              <a:rPr lang="en-US" baseline="-25000" dirty="0">
                <a:latin typeface="Gill Sans MT" panose="020B0502020104020203" pitchFamily="34" charset="77"/>
              </a:rPr>
              <a:t>1 </a:t>
            </a:r>
            <a:r>
              <a:rPr lang="en-US" dirty="0">
                <a:latin typeface="Gill Sans MT" panose="020B0502020104020203" pitchFamily="34" charset="77"/>
              </a:rPr>
              <a:t> = 1</a:t>
            </a:r>
          </a:p>
          <a:p>
            <a:r>
              <a:rPr lang="en-US" dirty="0">
                <a:latin typeface="Gill Sans MT" panose="020B0502020104020203" pitchFamily="34" charset="77"/>
              </a:rPr>
              <a:t>   500 samples /class</a:t>
            </a:r>
          </a:p>
          <a:p>
            <a:r>
              <a:rPr lang="en-US" dirty="0">
                <a:latin typeface="Gill Sans MT" panose="020B0502020104020203" pitchFamily="34" charset="77"/>
              </a:rPr>
              <a:t>   N</a:t>
            </a:r>
            <a:r>
              <a:rPr lang="en-US" baseline="-25000" dirty="0">
                <a:latin typeface="Gill Sans MT" panose="020B0502020104020203" pitchFamily="34" charset="77"/>
              </a:rPr>
              <a:t>0</a:t>
            </a:r>
            <a:r>
              <a:rPr lang="en-US" dirty="0">
                <a:latin typeface="Gill Sans MT" panose="020B0502020104020203" pitchFamily="34" charset="77"/>
              </a:rPr>
              <a:t> = 1000 (available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2071" y="3850372"/>
            <a:ext cx="2180405" cy="230832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[ CLASSIFIER ]</a:t>
            </a:r>
          </a:p>
          <a:p>
            <a:r>
              <a:rPr lang="en-US" dirty="0">
                <a:latin typeface="Gill Sans MT" panose="020B0502020104020203" pitchFamily="34" charset="77"/>
              </a:rPr>
              <a:t>   Linear SVM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[ SAMPLING ]</a:t>
            </a:r>
          </a:p>
          <a:p>
            <a:r>
              <a:rPr lang="en-US" dirty="0">
                <a:latin typeface="Gill Sans MT" panose="020B0502020104020203" pitchFamily="34" charset="77"/>
              </a:rPr>
              <a:t>   Random / Stratified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1000 Repetitions!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D8BAD6-1A50-6D4C-A7E9-3DCD6C5B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5783474"/>
            <a:ext cx="2133600" cy="365125"/>
          </a:xfrm>
        </p:spPr>
        <p:txBody>
          <a:bodyPr/>
          <a:lstStyle/>
          <a:p>
            <a:fld id="{9C0B2870-7350-8D40-A01A-CE539DF873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73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54892" y="180337"/>
            <a:ext cx="5923943" cy="6355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/>
                <a:cs typeface="Consolas"/>
              </a:rPr>
              <a:t>    Method: Parameters       N/N</a:t>
            </a:r>
            <a:r>
              <a:rPr lang="en-US" sz="1100" baseline="-25000" dirty="0">
                <a:latin typeface="Consolas"/>
                <a:cs typeface="Consolas"/>
              </a:rPr>
              <a:t>O</a:t>
            </a:r>
            <a:r>
              <a:rPr lang="en-US" sz="1100" dirty="0">
                <a:latin typeface="Consolas"/>
                <a:cs typeface="Consolas"/>
              </a:rPr>
              <a:t>          mean      </a:t>
            </a:r>
            <a:r>
              <a:rPr lang="en-US" sz="1100" dirty="0" err="1">
                <a:latin typeface="Consolas"/>
                <a:cs typeface="Consolas"/>
              </a:rPr>
              <a:t>std</a:t>
            </a:r>
            <a:r>
              <a:rPr lang="en-US" sz="1100" dirty="0">
                <a:latin typeface="Consolas"/>
                <a:cs typeface="Consolas"/>
              </a:rPr>
              <a:t>     min    max</a:t>
            </a:r>
          </a:p>
          <a:p>
            <a:r>
              <a:rPr lang="en-US" sz="1100" dirty="0">
                <a:latin typeface="Consolas"/>
                <a:cs typeface="Consolas"/>
              </a:rPr>
              <a:t>        HO: 90%-10%      :    1 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92.73 +/- 2.49 [ 83.00, 99.00 ]</a:t>
            </a:r>
          </a:p>
          <a:p>
            <a:r>
              <a:rPr lang="en-US" sz="1100" dirty="0">
                <a:latin typeface="Consolas"/>
                <a:cs typeface="Consolas"/>
              </a:rPr>
              <a:t>        HO: 80%-20%      :    1 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92.66 +/- 1.69 [ 86.50, 97.50 ]</a:t>
            </a:r>
          </a:p>
          <a:p>
            <a:r>
              <a:rPr lang="en-US" sz="1100" dirty="0">
                <a:latin typeface="Consolas"/>
                <a:cs typeface="Consolas"/>
              </a:rPr>
              <a:t>        HO: 75%-25%      :    1 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92.67 +/- 1.48 [ 87.60, 96.40 ]</a:t>
            </a:r>
          </a:p>
          <a:p>
            <a:r>
              <a:rPr lang="en-US" sz="1100" dirty="0">
                <a:latin typeface="Consolas"/>
                <a:cs typeface="Consolas"/>
              </a:rPr>
              <a:t>        HO: 67%-33%      :    1 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92.66 +/- 1.24 [ 88.86, 96.69 ]</a:t>
            </a:r>
          </a:p>
          <a:p>
            <a:r>
              <a:rPr lang="en-US" sz="1100" dirty="0">
                <a:latin typeface="Consolas"/>
                <a:cs typeface="Consolas"/>
              </a:rPr>
              <a:t>        HO: 50%-50%      :    1 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92.71 +/- 0.95 [ 90.00, 95.40 ]</a:t>
            </a:r>
          </a:p>
          <a:p>
            <a:r>
              <a:rPr lang="en-US" sz="1100" dirty="0">
                <a:latin typeface="Consolas"/>
                <a:cs typeface="Consolas"/>
              </a:rPr>
              <a:t>        HO: 90%-10%      :   0.5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92.52 +/- 3.73 [ 80.00,100.00 ]</a:t>
            </a:r>
          </a:p>
          <a:p>
            <a:r>
              <a:rPr lang="en-US" sz="1100" dirty="0">
                <a:latin typeface="Consolas"/>
                <a:cs typeface="Consolas"/>
              </a:rPr>
              <a:t>        HO: 80%-20%      :   0.5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92.48 +/- 2.47 [ 84.00, 99.00 ]</a:t>
            </a:r>
          </a:p>
          <a:p>
            <a:r>
              <a:rPr lang="en-US" sz="1100" dirty="0">
                <a:latin typeface="Consolas"/>
                <a:cs typeface="Consolas"/>
              </a:rPr>
              <a:t>        HO: 75%-25%      :   0.5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92.61 +/- 2.25 [ 83.87, 99.19 ]</a:t>
            </a:r>
          </a:p>
          <a:p>
            <a:r>
              <a:rPr lang="en-US" sz="1100" dirty="0">
                <a:latin typeface="Consolas"/>
                <a:cs typeface="Consolas"/>
              </a:rPr>
              <a:t>        HO: 67%-33%      :   0.5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92.60 +/- 1.92 [ 84.94, 98.80 ]</a:t>
            </a:r>
          </a:p>
          <a:p>
            <a:r>
              <a:rPr lang="en-US" sz="1100" dirty="0">
                <a:latin typeface="Consolas"/>
                <a:cs typeface="Consolas"/>
              </a:rPr>
              <a:t>        HO: 50%-50%      :   0.5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92.50 +/- 1.57 [ 87.20, 97.20 ]</a:t>
            </a:r>
          </a:p>
          <a:p>
            <a:r>
              <a:rPr lang="en-US" sz="1100" dirty="0">
                <a:latin typeface="Consolas"/>
                <a:cs typeface="Consolas"/>
              </a:rPr>
              <a:t>        HO: 90%-10%      :   0.1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91.97 +/- 8.55 [ 60.00,100.00 ]</a:t>
            </a:r>
          </a:p>
          <a:p>
            <a:r>
              <a:rPr lang="en-US" sz="1100" dirty="0">
                <a:latin typeface="Consolas"/>
                <a:cs typeface="Consolas"/>
              </a:rPr>
              <a:t>        HO: 80%-20%      :   0.1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92.37 +/- 6.03 [ 70.00,100.00 ]</a:t>
            </a:r>
          </a:p>
          <a:p>
            <a:r>
              <a:rPr lang="en-US" sz="1100" dirty="0">
                <a:latin typeface="Consolas"/>
                <a:cs typeface="Consolas"/>
              </a:rPr>
              <a:t>        HO: 75%-25%      :   0.1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92.01 +/- 5.34 [ 75.00,100.00 ]</a:t>
            </a:r>
          </a:p>
          <a:p>
            <a:r>
              <a:rPr lang="en-US" sz="1100" dirty="0">
                <a:latin typeface="Consolas"/>
                <a:cs typeface="Consolas"/>
              </a:rPr>
              <a:t>        HO: 67%-33%      :   0.1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91.84 +/- 4.72 [ 78.12,100.00 ]</a:t>
            </a:r>
          </a:p>
          <a:p>
            <a:r>
              <a:rPr lang="en-US" sz="1100" dirty="0">
                <a:latin typeface="Consolas"/>
                <a:cs typeface="Consolas"/>
              </a:rPr>
              <a:t>        HO: 50%-50%      :   0.1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91.67 +/- 3.98 [ 72.00,100.00 ]</a:t>
            </a:r>
          </a:p>
          <a:p>
            <a:endParaRPr lang="en-US" sz="1100" dirty="0">
              <a:latin typeface="Consolas"/>
              <a:cs typeface="Consolas"/>
            </a:endParaRPr>
          </a:p>
          <a:p>
            <a:r>
              <a:rPr lang="en-US" sz="1100" dirty="0">
                <a:latin typeface="Consolas"/>
                <a:cs typeface="Consolas"/>
              </a:rPr>
              <a:t>        CV:  5-fold      :    1 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92.76 +/- 0.23 [ 92.00, 93.30 ]</a:t>
            </a:r>
          </a:p>
          <a:p>
            <a:r>
              <a:rPr lang="en-US" sz="1100" dirty="0">
                <a:latin typeface="Consolas"/>
                <a:cs typeface="Consolas"/>
              </a:rPr>
              <a:t>        CV: 10-fold      :    1 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92.84 +/- 0.17 [ 92.00, 93.30 ]</a:t>
            </a:r>
          </a:p>
          <a:p>
            <a:r>
              <a:rPr lang="en-US" sz="1100" dirty="0">
                <a:latin typeface="Consolas"/>
                <a:cs typeface="Consolas"/>
              </a:rPr>
              <a:t>        CV:  5-fold x 20 :    1 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92.76 +/- 0.05 [ 92.61, 92.90 ]</a:t>
            </a:r>
          </a:p>
          <a:p>
            <a:r>
              <a:rPr lang="en-US" sz="1100" dirty="0">
                <a:latin typeface="Consolas"/>
                <a:cs typeface="Consolas"/>
              </a:rPr>
              <a:t>        CV:  5-fold x 10 :    1 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92.76 +/- 0.08 [ 92.54, 92.98 ]</a:t>
            </a:r>
          </a:p>
          <a:p>
            <a:r>
              <a:rPr lang="en-US" sz="1100" dirty="0">
                <a:latin typeface="Consolas"/>
                <a:cs typeface="Consolas"/>
              </a:rPr>
              <a:t>        CV:  5-fold x 5  :   0.5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92.54 +/- 0.84 [ 89.60, 95.40 ]</a:t>
            </a:r>
          </a:p>
          <a:p>
            <a:r>
              <a:rPr lang="en-US" sz="1100" dirty="0">
                <a:latin typeface="Consolas"/>
                <a:cs typeface="Consolas"/>
              </a:rPr>
              <a:t>        CV: 10-fold      :   0.5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92.64 +/- 0.82 [ 89.20, 95.20 ]</a:t>
            </a:r>
          </a:p>
          <a:p>
            <a:r>
              <a:rPr lang="en-US" sz="1100" dirty="0">
                <a:latin typeface="Consolas"/>
                <a:cs typeface="Consolas"/>
              </a:rPr>
              <a:t>        CV:  5-fold x 20 :   0.5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92.59 +/- 0.82 [ 89.90, 95.06 ]</a:t>
            </a:r>
          </a:p>
          <a:p>
            <a:r>
              <a:rPr lang="en-US" sz="1100" dirty="0">
                <a:latin typeface="Consolas"/>
                <a:cs typeface="Consolas"/>
              </a:rPr>
              <a:t>        CV:  5-fold x 10 :   0.5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92.63 +/- 0.82 [ 89.88, 95.36 ]</a:t>
            </a:r>
          </a:p>
          <a:p>
            <a:r>
              <a:rPr lang="en-US" sz="1100" dirty="0">
                <a:latin typeface="Consolas"/>
                <a:cs typeface="Consolas"/>
              </a:rPr>
              <a:t>        CV:  5-fold      :   0.1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91.95 +/- 2.75 [ 81.00, 99.00 ]</a:t>
            </a:r>
          </a:p>
          <a:p>
            <a:r>
              <a:rPr lang="en-US" sz="1100" dirty="0">
                <a:latin typeface="Consolas"/>
                <a:cs typeface="Consolas"/>
              </a:rPr>
              <a:t>        CV: 10-fold      :   0.1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92.16 +/- 2.49 [ 81.00,100.00 ]</a:t>
            </a:r>
          </a:p>
          <a:p>
            <a:r>
              <a:rPr lang="en-US" sz="1100" dirty="0">
                <a:latin typeface="Consolas"/>
                <a:cs typeface="Consolas"/>
              </a:rPr>
              <a:t>        CV:  5-fold x 20 :   0.1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92.03 +/- 2.49 [ 83.30, 98.90 ]</a:t>
            </a:r>
          </a:p>
          <a:p>
            <a:r>
              <a:rPr lang="en-US" sz="1100" dirty="0">
                <a:latin typeface="Consolas"/>
                <a:cs typeface="Consolas"/>
              </a:rPr>
              <a:t>        CV:  5-fold x 10 :   0.1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92.06 +/- 2.42 [ 84.80, 98.60 ]</a:t>
            </a:r>
          </a:p>
          <a:p>
            <a:endParaRPr lang="en-US" sz="1100" dirty="0">
              <a:latin typeface="Consolas"/>
              <a:cs typeface="Consolas"/>
            </a:endParaRPr>
          </a:p>
          <a:p>
            <a:r>
              <a:rPr lang="en-US" sz="1100" dirty="0">
                <a:latin typeface="Consolas"/>
                <a:cs typeface="Consolas"/>
              </a:rPr>
              <a:t>        L1:              :    1 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92.90 +/- 0.00 [ 92.90, 92.90 ]</a:t>
            </a:r>
          </a:p>
          <a:p>
            <a:r>
              <a:rPr lang="en-US" sz="1100" dirty="0">
                <a:latin typeface="Consolas"/>
                <a:cs typeface="Consolas"/>
              </a:rPr>
              <a:t>        L1:              :   0.5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92.63 +/- 0.84 [ 89.60, 95.20 ]</a:t>
            </a:r>
          </a:p>
          <a:p>
            <a:r>
              <a:rPr lang="en-US" sz="1100" dirty="0">
                <a:latin typeface="Consolas"/>
                <a:cs typeface="Consolas"/>
              </a:rPr>
              <a:t>        L1:              :   0.1  : </a:t>
            </a:r>
            <a:r>
              <a:rPr lang="en-US" sz="1100" dirty="0" err="1">
                <a:latin typeface="Consolas"/>
                <a:cs typeface="Consolas"/>
              </a:rPr>
              <a:t>acc</a:t>
            </a:r>
            <a:r>
              <a:rPr lang="en-US" sz="1100" dirty="0">
                <a:latin typeface="Consolas"/>
                <a:cs typeface="Consolas"/>
              </a:rPr>
              <a:t> =  91.93 +/- 2.65 [ 83.00,100.00 ]</a:t>
            </a:r>
          </a:p>
          <a:p>
            <a:r>
              <a:rPr lang="it-IT" sz="1100" dirty="0">
                <a:latin typeface="Consolas"/>
                <a:cs typeface="Consolas"/>
              </a:rPr>
              <a:t> </a:t>
            </a:r>
          </a:p>
          <a:p>
            <a:r>
              <a:rPr lang="it-IT" sz="1100" dirty="0">
                <a:latin typeface="Consolas"/>
                <a:cs typeface="Consolas"/>
              </a:rPr>
              <a:t>        L1*: 200-fold    :    1   : </a:t>
            </a:r>
            <a:r>
              <a:rPr lang="it-IT" sz="1100" dirty="0" err="1">
                <a:latin typeface="Consolas"/>
                <a:cs typeface="Consolas"/>
              </a:rPr>
              <a:t>acc</a:t>
            </a:r>
            <a:r>
              <a:rPr lang="it-IT" sz="1100" dirty="0">
                <a:latin typeface="Consolas"/>
                <a:cs typeface="Consolas"/>
              </a:rPr>
              <a:t> =  92.91 +/- 1.29 [ 88.50, 96.00 ]</a:t>
            </a:r>
          </a:p>
          <a:p>
            <a:r>
              <a:rPr lang="it-IT" sz="1100" dirty="0">
                <a:latin typeface="Consolas"/>
                <a:cs typeface="Consolas"/>
              </a:rPr>
              <a:t>        L1*: 100-fold    :    1   : </a:t>
            </a:r>
            <a:r>
              <a:rPr lang="it-IT" sz="1100" dirty="0" err="1">
                <a:latin typeface="Consolas"/>
                <a:cs typeface="Consolas"/>
              </a:rPr>
              <a:t>acc</a:t>
            </a:r>
            <a:r>
              <a:rPr lang="it-IT" sz="1100" dirty="0">
                <a:latin typeface="Consolas"/>
                <a:cs typeface="Consolas"/>
              </a:rPr>
              <a:t> =  92.86 +/- 1.82 [ 87.00, 98.00 ]</a:t>
            </a:r>
          </a:p>
          <a:p>
            <a:r>
              <a:rPr lang="it-IT" sz="1100" dirty="0">
                <a:latin typeface="Consolas"/>
                <a:cs typeface="Consolas"/>
              </a:rPr>
              <a:t>        L1*:  50-fold    :    1   : </a:t>
            </a:r>
            <a:r>
              <a:rPr lang="it-IT" sz="1100" dirty="0" err="1">
                <a:latin typeface="Consolas"/>
                <a:cs typeface="Consolas"/>
              </a:rPr>
              <a:t>acc</a:t>
            </a:r>
            <a:r>
              <a:rPr lang="it-IT" sz="1100" dirty="0">
                <a:latin typeface="Consolas"/>
                <a:cs typeface="Consolas"/>
              </a:rPr>
              <a:t> =  92.99 +/- 2.60 [ 83.00,100.00 ]</a:t>
            </a:r>
            <a:endParaRPr lang="en-US" sz="1100" dirty="0">
              <a:latin typeface="Consolas"/>
              <a:cs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92071" y="359531"/>
            <a:ext cx="2865464" cy="193899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ill Sans MT" panose="020B0502020104020203" pitchFamily="34" charset="77"/>
              </a:rPr>
              <a:t>After 1000 Repetitions!</a:t>
            </a:r>
          </a:p>
          <a:p>
            <a:endParaRPr lang="en-US" sz="2000" dirty="0">
              <a:latin typeface="Gill Sans MT" panose="020B0502020104020203" pitchFamily="34" charset="77"/>
            </a:endParaRPr>
          </a:p>
          <a:p>
            <a:endParaRPr lang="en-US" sz="2000" dirty="0">
              <a:latin typeface="Gill Sans MT" panose="020B0502020104020203" pitchFamily="34" charset="77"/>
            </a:endParaRPr>
          </a:p>
          <a:p>
            <a:endParaRPr lang="en-US" sz="2000" dirty="0">
              <a:latin typeface="Gill Sans MT" panose="020B0502020104020203" pitchFamily="34" charset="77"/>
            </a:endParaRPr>
          </a:p>
          <a:p>
            <a:r>
              <a:rPr lang="en-US" sz="2000" dirty="0">
                <a:latin typeface="Gill Sans MT" panose="020B0502020104020203" pitchFamily="34" charset="77"/>
              </a:rPr>
              <a:t>N</a:t>
            </a:r>
            <a:r>
              <a:rPr lang="en-US" sz="2000" baseline="-25000" dirty="0">
                <a:latin typeface="Gill Sans MT" panose="020B0502020104020203" pitchFamily="34" charset="77"/>
              </a:rPr>
              <a:t>0</a:t>
            </a:r>
            <a:r>
              <a:rPr lang="en-US" sz="2000" dirty="0">
                <a:latin typeface="Gill Sans MT" panose="020B0502020104020203" pitchFamily="34" charset="77"/>
              </a:rPr>
              <a:t> = 1000 (available data)</a:t>
            </a:r>
          </a:p>
          <a:p>
            <a:r>
              <a:rPr lang="en-US" sz="2000" dirty="0">
                <a:latin typeface="Gill Sans MT" panose="020B0502020104020203" pitchFamily="34" charset="77"/>
              </a:rPr>
              <a:t>N used data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969" y="4302868"/>
            <a:ext cx="2434624" cy="1960539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 rot="2711351">
            <a:off x="2475841" y="5101127"/>
            <a:ext cx="1790900" cy="279809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4256FA-CA19-CD45-B1AA-CAD8FF0D6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12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2232AC-8B26-0849-8DB2-5F4EE44387B4}"/>
              </a:ext>
            </a:extLst>
          </p:cNvPr>
          <p:cNvSpPr/>
          <p:nvPr/>
        </p:nvSpPr>
        <p:spPr>
          <a:xfrm>
            <a:off x="7975600" y="431800"/>
            <a:ext cx="2451100" cy="2476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4EEC74-D63F-B740-BB41-6732E540545E}"/>
              </a:ext>
            </a:extLst>
          </p:cNvPr>
          <p:cNvSpPr/>
          <p:nvPr/>
        </p:nvSpPr>
        <p:spPr>
          <a:xfrm>
            <a:off x="7918450" y="3045464"/>
            <a:ext cx="2451100" cy="21869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587E6C-7729-2649-8088-3425244E650E}"/>
              </a:ext>
            </a:extLst>
          </p:cNvPr>
          <p:cNvSpPr/>
          <p:nvPr/>
        </p:nvSpPr>
        <p:spPr>
          <a:xfrm>
            <a:off x="7975600" y="5187950"/>
            <a:ext cx="2451100" cy="1238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2196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25FF-5A0E-9F04-797C-F0032EFD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95FB7-7C3C-340B-E759-EA0EE9B32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6406"/>
            <a:ext cx="10515600" cy="1745188"/>
          </a:xfrm>
        </p:spPr>
        <p:txBody>
          <a:bodyPr>
            <a:norm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Aspectos Prácticos </a:t>
            </a:r>
            <a:r>
              <a:rPr lang="en-CL" dirty="0">
                <a:solidFill>
                  <a:schemeClr val="accent2"/>
                </a:solidFill>
                <a:latin typeface="Gill Sans MT" panose="020B0502020104020203" pitchFamily="34" charset="77"/>
              </a:rPr>
              <a:t>(y éticos)</a:t>
            </a:r>
            <a:r>
              <a:rPr lang="en-CL" dirty="0">
                <a:latin typeface="Gill Sans MT" panose="020B0502020104020203" pitchFamily="34" charset="77"/>
              </a:rPr>
              <a:t> </a:t>
            </a:r>
            <a:br>
              <a:rPr lang="en-CL" dirty="0">
                <a:latin typeface="Gill Sans MT" panose="020B0502020104020203" pitchFamily="34" charset="77"/>
              </a:rPr>
            </a:br>
            <a:r>
              <a:rPr lang="en-CL" dirty="0">
                <a:latin typeface="Gill Sans MT" panose="020B0502020104020203" pitchFamily="34" charset="77"/>
              </a:rPr>
              <a:t>en Machine Learning</a:t>
            </a:r>
            <a:br>
              <a:rPr lang="en-CL" dirty="0">
                <a:latin typeface="Gill Sans MT" panose="020B0502020104020203" pitchFamily="34" charset="77"/>
              </a:rPr>
            </a:br>
            <a:endParaRPr lang="en-CL" sz="2800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11075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6D92E884-9D8E-2203-96A2-A239338A3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573" y="508439"/>
            <a:ext cx="8759661" cy="575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9954EAF-F3D3-404F-B698-57DF6CA23810}"/>
              </a:ext>
            </a:extLst>
          </p:cNvPr>
          <p:cNvSpPr/>
          <p:nvPr/>
        </p:nvSpPr>
        <p:spPr>
          <a:xfrm rot="5400000">
            <a:off x="9256849" y="4031590"/>
            <a:ext cx="5529773" cy="1589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A00412-E5AE-A881-100F-321EA2FC965A}"/>
              </a:ext>
            </a:extLst>
          </p:cNvPr>
          <p:cNvSpPr txBox="1"/>
          <p:nvPr/>
        </p:nvSpPr>
        <p:spPr>
          <a:xfrm>
            <a:off x="678632" y="2510969"/>
            <a:ext cx="3493318" cy="1384995"/>
          </a:xfrm>
          <a:prstGeom prst="rect">
            <a:avLst/>
          </a:prstGeom>
          <a:solidFill>
            <a:schemeClr val="bg1">
              <a:alpha val="71581"/>
            </a:schemeClr>
          </a:solidFill>
        </p:spPr>
        <p:txBody>
          <a:bodyPr wrap="squar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Si entrenamos los modelos con datos de mala calidad...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896087-FEA6-997F-7BED-68A4409ECC10}"/>
              </a:ext>
            </a:extLst>
          </p:cNvPr>
          <p:cNvSpPr txBox="1"/>
          <p:nvPr/>
        </p:nvSpPr>
        <p:spPr>
          <a:xfrm>
            <a:off x="678632" y="508439"/>
            <a:ext cx="6435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GIGO: Garbage in = Garbage 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D794CC-62C5-930E-4EFD-B10F85C84CCF}"/>
              </a:ext>
            </a:extLst>
          </p:cNvPr>
          <p:cNvSpPr txBox="1"/>
          <p:nvPr/>
        </p:nvSpPr>
        <p:spPr>
          <a:xfrm>
            <a:off x="678632" y="4092275"/>
            <a:ext cx="3493318" cy="1384995"/>
          </a:xfrm>
          <a:prstGeom prst="rect">
            <a:avLst/>
          </a:prstGeom>
          <a:solidFill>
            <a:schemeClr val="bg1">
              <a:alpha val="71581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… No </a:t>
            </a:r>
            <a:r>
              <a:rPr lang="en-US" sz="2800" dirty="0" err="1">
                <a:latin typeface="Gill Sans MT" panose="020B0502020104020203" pitchFamily="34" charset="77"/>
              </a:rPr>
              <a:t>esperemos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resultados</a:t>
            </a:r>
            <a:r>
              <a:rPr lang="en-US" sz="2800" dirty="0">
                <a:latin typeface="Gill Sans MT" panose="020B0502020104020203" pitchFamily="34" charset="77"/>
              </a:rPr>
              <a:t> de </a:t>
            </a:r>
            <a:r>
              <a:rPr lang="en-US" sz="2800" dirty="0" err="1">
                <a:latin typeface="Gill Sans MT" panose="020B0502020104020203" pitchFamily="34" charset="77"/>
              </a:rPr>
              <a:t>buena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calidad</a:t>
            </a:r>
            <a:endParaRPr lang="en-US" sz="2800" dirty="0">
              <a:latin typeface="Gill Sans MT" panose="020B050202010402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102D8D-04C0-F932-AF73-BC74FCDAC8CE}"/>
              </a:ext>
            </a:extLst>
          </p:cNvPr>
          <p:cNvSpPr txBox="1"/>
          <p:nvPr/>
        </p:nvSpPr>
        <p:spPr>
          <a:xfrm>
            <a:off x="637838" y="6395040"/>
            <a:ext cx="5703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bg1">
                    <a:lumMod val="50000"/>
                  </a:schemeClr>
                </a:solidFill>
              </a:rPr>
              <a:t>http://</a:t>
            </a:r>
            <a:r>
              <a:rPr lang="es-ES_tradnl" sz="1200" dirty="0" err="1">
                <a:solidFill>
                  <a:schemeClr val="bg1">
                    <a:lumMod val="50000"/>
                  </a:schemeClr>
                </a:solidFill>
              </a:rPr>
              <a:t>getgareth.github.io</a:t>
            </a:r>
            <a:r>
              <a:rPr lang="es-ES_tradnl" sz="1200" dirty="0">
                <a:solidFill>
                  <a:schemeClr val="bg1">
                    <a:lumMod val="50000"/>
                  </a:schemeClr>
                </a:solidFill>
              </a:rPr>
              <a:t>/2016/12/27/</a:t>
            </a:r>
            <a:r>
              <a:rPr lang="es-ES_tradnl" sz="1200" dirty="0" err="1">
                <a:solidFill>
                  <a:schemeClr val="bg1">
                    <a:lumMod val="50000"/>
                  </a:schemeClr>
                </a:solidFill>
              </a:rPr>
              <a:t>Garbage</a:t>
            </a:r>
            <a:r>
              <a:rPr lang="es-ES_tradnl" sz="1200" dirty="0">
                <a:solidFill>
                  <a:schemeClr val="bg1">
                    <a:lumMod val="50000"/>
                  </a:schemeClr>
                </a:solidFill>
              </a:rPr>
              <a:t>-in,-</a:t>
            </a:r>
            <a:r>
              <a:rPr lang="es-ES_tradnl" sz="1200" dirty="0" err="1">
                <a:solidFill>
                  <a:schemeClr val="bg1">
                    <a:lumMod val="50000"/>
                  </a:schemeClr>
                </a:solidFill>
              </a:rPr>
              <a:t>garbage</a:t>
            </a:r>
            <a:r>
              <a:rPr lang="es-ES_tradnl" sz="12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s-ES_tradnl" sz="1200" dirty="0" err="1">
                <a:solidFill>
                  <a:schemeClr val="bg1">
                    <a:lumMod val="50000"/>
                  </a:schemeClr>
                </a:solidFill>
              </a:rPr>
              <a:t>out</a:t>
            </a:r>
            <a:r>
              <a:rPr lang="es-ES_tradnl" sz="1200" dirty="0">
                <a:solidFill>
                  <a:schemeClr val="bg1">
                    <a:lumMod val="50000"/>
                  </a:schemeClr>
                </a:solidFill>
              </a:rPr>
              <a:t>.-A-</a:t>
            </a:r>
            <a:r>
              <a:rPr lang="es-ES_tradnl" sz="1200" dirty="0" err="1">
                <a:solidFill>
                  <a:schemeClr val="bg1">
                    <a:lumMod val="50000"/>
                  </a:schemeClr>
                </a:solidFill>
              </a:rPr>
              <a:t>developer</a:t>
            </a:r>
            <a:r>
              <a:rPr lang="es-ES_tradnl" sz="12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s-ES_tradnl" sz="1200" dirty="0" err="1">
                <a:solidFill>
                  <a:schemeClr val="bg1">
                    <a:lumMod val="50000"/>
                  </a:schemeClr>
                </a:solidFill>
              </a:rPr>
              <a:t>story.html</a:t>
            </a:r>
            <a:endParaRPr lang="es-ES_tradnl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EDABAD-8CEA-5C55-DA2D-E7BAD53B97A3}"/>
              </a:ext>
            </a:extLst>
          </p:cNvPr>
          <p:cNvSpPr txBox="1"/>
          <p:nvPr/>
        </p:nvSpPr>
        <p:spPr>
          <a:xfrm rot="19997086">
            <a:off x="82811" y="2992846"/>
            <a:ext cx="11965648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000">
                <a:latin typeface="Gill Sans MT" panose="020B0502020104020203" pitchFamily="34" charset="77"/>
              </a:rPr>
              <a:t>Y si sabes que tu modelo está mal, por favor no lo uses...</a:t>
            </a:r>
            <a:endParaRPr lang="en-US" sz="40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33405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90,988,534 Human Beings Stock Photos, High-Res Pictures, and Images - Getty  Images | Trafficking in human beings">
            <a:extLst>
              <a:ext uri="{FF2B5EF4-FFF2-40B4-BE49-F238E27FC236}">
                <a16:creationId xmlns:a16="http://schemas.microsoft.com/office/drawing/2014/main" id="{EBA41ACB-C42A-9358-BDCC-7F7A5EEA24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197"/>
          <a:stretch/>
        </p:blipFill>
        <p:spPr bwMode="auto">
          <a:xfrm>
            <a:off x="281353" y="1080967"/>
            <a:ext cx="11465169" cy="425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93E095F-B990-03F3-4893-59A16F2D4CB2}"/>
              </a:ext>
            </a:extLst>
          </p:cNvPr>
          <p:cNvSpPr/>
          <p:nvPr/>
        </p:nvSpPr>
        <p:spPr>
          <a:xfrm>
            <a:off x="281353" y="1080967"/>
            <a:ext cx="4337539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7FFEEF-5F24-8868-3B75-619C7EAD4185}"/>
              </a:ext>
            </a:extLst>
          </p:cNvPr>
          <p:cNvSpPr/>
          <p:nvPr/>
        </p:nvSpPr>
        <p:spPr>
          <a:xfrm>
            <a:off x="8804029" y="1080967"/>
            <a:ext cx="1301264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564ADA-4FD8-3A1D-93F7-59564CA83C20}"/>
              </a:ext>
            </a:extLst>
          </p:cNvPr>
          <p:cNvSpPr/>
          <p:nvPr/>
        </p:nvSpPr>
        <p:spPr>
          <a:xfrm>
            <a:off x="1940166" y="2434558"/>
            <a:ext cx="1301264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E5C228-4960-AE23-5D91-9A787DF45D5D}"/>
              </a:ext>
            </a:extLst>
          </p:cNvPr>
          <p:cNvSpPr/>
          <p:nvPr/>
        </p:nvSpPr>
        <p:spPr>
          <a:xfrm>
            <a:off x="6025656" y="1080967"/>
            <a:ext cx="1301264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9FED00-BC62-7C92-9C67-E60DDCFC55FE}"/>
              </a:ext>
            </a:extLst>
          </p:cNvPr>
          <p:cNvSpPr/>
          <p:nvPr/>
        </p:nvSpPr>
        <p:spPr>
          <a:xfrm>
            <a:off x="4659919" y="2625971"/>
            <a:ext cx="1301264" cy="1403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CAF4F5-F7EC-75BC-6475-FFA291FE19CB}"/>
              </a:ext>
            </a:extLst>
          </p:cNvPr>
          <p:cNvSpPr/>
          <p:nvPr/>
        </p:nvSpPr>
        <p:spPr>
          <a:xfrm>
            <a:off x="7438285" y="2702173"/>
            <a:ext cx="1301264" cy="1326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B66C65-3E11-FD7F-932A-23A404E5B7A6}"/>
              </a:ext>
            </a:extLst>
          </p:cNvPr>
          <p:cNvSpPr/>
          <p:nvPr/>
        </p:nvSpPr>
        <p:spPr>
          <a:xfrm>
            <a:off x="10169759" y="2696309"/>
            <a:ext cx="1301264" cy="1283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8EC7B4-7E62-408F-513A-9D64A3AB1B8D}"/>
              </a:ext>
            </a:extLst>
          </p:cNvPr>
          <p:cNvSpPr/>
          <p:nvPr/>
        </p:nvSpPr>
        <p:spPr>
          <a:xfrm>
            <a:off x="480636" y="4029076"/>
            <a:ext cx="2807686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899902-2488-A64A-3A74-ACEF77EB14DF}"/>
              </a:ext>
            </a:extLst>
          </p:cNvPr>
          <p:cNvSpPr/>
          <p:nvPr/>
        </p:nvSpPr>
        <p:spPr>
          <a:xfrm>
            <a:off x="6054956" y="4047459"/>
            <a:ext cx="1371608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E55E-A468-6782-A622-4707856CF2AC}"/>
              </a:ext>
            </a:extLst>
          </p:cNvPr>
          <p:cNvSpPr/>
          <p:nvPr/>
        </p:nvSpPr>
        <p:spPr>
          <a:xfrm>
            <a:off x="8821603" y="4061624"/>
            <a:ext cx="1301264" cy="1283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718AD8-8FAC-ACE4-5F2B-58D8AC7F4DA7}"/>
              </a:ext>
            </a:extLst>
          </p:cNvPr>
          <p:cNvSpPr txBox="1"/>
          <p:nvPr/>
        </p:nvSpPr>
        <p:spPr>
          <a:xfrm>
            <a:off x="678632" y="508439"/>
            <a:ext cx="6885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Muestreo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: </a:t>
            </a:r>
            <a:r>
              <a:rPr lang="en-US" sz="3600" dirty="0" err="1">
                <a:latin typeface="Gill Sans MT" panose="020B0502020104020203" pitchFamily="34" charset="77"/>
              </a:rPr>
              <a:t>Considerar</a:t>
            </a:r>
            <a:r>
              <a:rPr lang="en-US" sz="3600" dirty="0">
                <a:latin typeface="Gill Sans MT" panose="020B0502020104020203" pitchFamily="34" charset="77"/>
              </a:rPr>
              <a:t> la </a:t>
            </a:r>
            <a:r>
              <a:rPr lang="en-US" sz="3600" dirty="0" err="1">
                <a:latin typeface="Gill Sans MT" panose="020B0502020104020203" pitchFamily="34" charset="77"/>
              </a:rPr>
              <a:t>demografía</a:t>
            </a:r>
            <a:endParaRPr lang="en-US" sz="3600" dirty="0">
              <a:latin typeface="Gill Sans MT" panose="020B0502020104020203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4971F8-46BB-DE32-510A-DA54E719BB01}"/>
              </a:ext>
            </a:extLst>
          </p:cNvPr>
          <p:cNvSpPr txBox="1"/>
          <p:nvPr/>
        </p:nvSpPr>
        <p:spPr>
          <a:xfrm>
            <a:off x="564987" y="5451618"/>
            <a:ext cx="10792391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>
                <a:latin typeface="Gill Sans MT" panose="020B0502020104020203" pitchFamily="34" charset="77"/>
              </a:rPr>
              <a:t>Si el problema es detectar una enfermedad que afecta por igual a hombres y mujeres.</a:t>
            </a:r>
            <a:endParaRPr lang="en-US" sz="40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059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9471E-330A-AA2A-12CA-923DC8C6D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90,988,534 Human Beings Stock Photos, High-Res Pictures, and Images - Getty  Images | Trafficking in human beings">
            <a:extLst>
              <a:ext uri="{FF2B5EF4-FFF2-40B4-BE49-F238E27FC236}">
                <a16:creationId xmlns:a16="http://schemas.microsoft.com/office/drawing/2014/main" id="{15E43E21-252D-4F6F-B93E-75E3DDF520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197"/>
          <a:stretch/>
        </p:blipFill>
        <p:spPr bwMode="auto">
          <a:xfrm>
            <a:off x="281353" y="1080967"/>
            <a:ext cx="11465169" cy="425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6D7E455-CFE5-76AB-AB81-04BCE462EA83}"/>
              </a:ext>
            </a:extLst>
          </p:cNvPr>
          <p:cNvSpPr/>
          <p:nvPr/>
        </p:nvSpPr>
        <p:spPr>
          <a:xfrm>
            <a:off x="281353" y="1080967"/>
            <a:ext cx="4337539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6CCDC9-5EF6-9D81-F8AB-84F59F8ABEE1}"/>
              </a:ext>
            </a:extLst>
          </p:cNvPr>
          <p:cNvSpPr/>
          <p:nvPr/>
        </p:nvSpPr>
        <p:spPr>
          <a:xfrm>
            <a:off x="8804029" y="1080967"/>
            <a:ext cx="1301264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56C902-C5EE-16C3-B395-603200750AF8}"/>
              </a:ext>
            </a:extLst>
          </p:cNvPr>
          <p:cNvSpPr/>
          <p:nvPr/>
        </p:nvSpPr>
        <p:spPr>
          <a:xfrm>
            <a:off x="1940166" y="2434558"/>
            <a:ext cx="1301264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683913-1AEA-33A7-CDA8-BEE62C978C9F}"/>
              </a:ext>
            </a:extLst>
          </p:cNvPr>
          <p:cNvSpPr/>
          <p:nvPr/>
        </p:nvSpPr>
        <p:spPr>
          <a:xfrm>
            <a:off x="6025656" y="1080967"/>
            <a:ext cx="1301264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6269D1-321F-546A-A3D5-64CC65C8D021}"/>
              </a:ext>
            </a:extLst>
          </p:cNvPr>
          <p:cNvSpPr/>
          <p:nvPr/>
        </p:nvSpPr>
        <p:spPr>
          <a:xfrm>
            <a:off x="4659919" y="2625971"/>
            <a:ext cx="1301264" cy="1403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B9B342-72B3-5F55-C0FF-5CFD3E9112E1}"/>
              </a:ext>
            </a:extLst>
          </p:cNvPr>
          <p:cNvSpPr/>
          <p:nvPr/>
        </p:nvSpPr>
        <p:spPr>
          <a:xfrm>
            <a:off x="7438285" y="2702173"/>
            <a:ext cx="1301264" cy="1326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224485-E1AE-413D-63CA-E275FFD11E84}"/>
              </a:ext>
            </a:extLst>
          </p:cNvPr>
          <p:cNvSpPr/>
          <p:nvPr/>
        </p:nvSpPr>
        <p:spPr>
          <a:xfrm>
            <a:off x="10169759" y="2696309"/>
            <a:ext cx="1301264" cy="1283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F581CA-652C-C04D-7271-24BBAE9A4F79}"/>
              </a:ext>
            </a:extLst>
          </p:cNvPr>
          <p:cNvSpPr/>
          <p:nvPr/>
        </p:nvSpPr>
        <p:spPr>
          <a:xfrm>
            <a:off x="480636" y="4029076"/>
            <a:ext cx="2807686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00D78A-01D3-3180-E2F7-F9CD0CC2F335}"/>
              </a:ext>
            </a:extLst>
          </p:cNvPr>
          <p:cNvSpPr/>
          <p:nvPr/>
        </p:nvSpPr>
        <p:spPr>
          <a:xfrm>
            <a:off x="6054956" y="4047459"/>
            <a:ext cx="1371608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B1DF8A-2A1E-7C36-F9DD-3AEA3C2626B4}"/>
              </a:ext>
            </a:extLst>
          </p:cNvPr>
          <p:cNvSpPr/>
          <p:nvPr/>
        </p:nvSpPr>
        <p:spPr>
          <a:xfrm>
            <a:off x="8821603" y="4061624"/>
            <a:ext cx="1301264" cy="1283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2D5B05-04D7-E0D7-6575-77EBDA82AA42}"/>
              </a:ext>
            </a:extLst>
          </p:cNvPr>
          <p:cNvSpPr txBox="1"/>
          <p:nvPr/>
        </p:nvSpPr>
        <p:spPr>
          <a:xfrm>
            <a:off x="564987" y="5451618"/>
            <a:ext cx="10792391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Entonces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incluye</a:t>
            </a:r>
            <a:r>
              <a:rPr lang="en-US" sz="4000" dirty="0">
                <a:latin typeface="Gill Sans MT" panose="020B0502020104020203" pitchFamily="34" charset="77"/>
              </a:rPr>
              <a:t> a hombres y </a:t>
            </a:r>
            <a:r>
              <a:rPr lang="en-US" sz="4000" dirty="0" err="1">
                <a:latin typeface="Gill Sans MT" panose="020B0502020104020203" pitchFamily="34" charset="77"/>
              </a:rPr>
              <a:t>mujeres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en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tu</a:t>
            </a:r>
            <a:r>
              <a:rPr lang="en-US" sz="4000" dirty="0">
                <a:latin typeface="Gill Sans MT" panose="020B0502020104020203" pitchFamily="34" charset="77"/>
              </a:rPr>
              <a:t> conjunto de </a:t>
            </a:r>
            <a:r>
              <a:rPr lang="en-US" sz="4000" dirty="0" err="1">
                <a:latin typeface="Gill Sans MT" panose="020B0502020104020203" pitchFamily="34" charset="77"/>
              </a:rPr>
              <a:t>datos</a:t>
            </a:r>
            <a:r>
              <a:rPr lang="en-US" sz="4000" dirty="0">
                <a:latin typeface="Gill Sans MT" panose="020B0502020104020203" pitchFamily="34" charset="77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EF6F2B-F17A-D6AB-06A9-DD0AC1B45309}"/>
              </a:ext>
            </a:extLst>
          </p:cNvPr>
          <p:cNvSpPr txBox="1"/>
          <p:nvPr/>
        </p:nvSpPr>
        <p:spPr>
          <a:xfrm>
            <a:off x="678632" y="508439"/>
            <a:ext cx="6885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Muestreo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: </a:t>
            </a:r>
            <a:r>
              <a:rPr lang="en-US" sz="3600" dirty="0" err="1">
                <a:latin typeface="Gill Sans MT" panose="020B0502020104020203" pitchFamily="34" charset="77"/>
              </a:rPr>
              <a:t>Considerar</a:t>
            </a:r>
            <a:r>
              <a:rPr lang="en-US" sz="3600" dirty="0">
                <a:latin typeface="Gill Sans MT" panose="020B0502020104020203" pitchFamily="34" charset="77"/>
              </a:rPr>
              <a:t> la </a:t>
            </a:r>
            <a:r>
              <a:rPr lang="en-US" sz="3600" dirty="0" err="1">
                <a:latin typeface="Gill Sans MT" panose="020B0502020104020203" pitchFamily="34" charset="77"/>
              </a:rPr>
              <a:t>demografía</a:t>
            </a:r>
            <a:endParaRPr lang="en-US" sz="36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0452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AFF9C-68DF-1934-2E7E-8ECB785C2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90,988,534 Human Beings Stock Photos, High-Res Pictures, and Images - Getty  Images | Trafficking in human beings">
            <a:extLst>
              <a:ext uri="{FF2B5EF4-FFF2-40B4-BE49-F238E27FC236}">
                <a16:creationId xmlns:a16="http://schemas.microsoft.com/office/drawing/2014/main" id="{7A52E3C9-0001-D1AF-AF44-57A8D1F069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197"/>
          <a:stretch/>
        </p:blipFill>
        <p:spPr bwMode="auto">
          <a:xfrm>
            <a:off x="281353" y="1080967"/>
            <a:ext cx="11465169" cy="425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2E9F6AE-275D-708B-C6F2-1FA980282497}"/>
              </a:ext>
            </a:extLst>
          </p:cNvPr>
          <p:cNvSpPr/>
          <p:nvPr/>
        </p:nvSpPr>
        <p:spPr>
          <a:xfrm>
            <a:off x="3856886" y="-1947283"/>
            <a:ext cx="4337539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2F62BE-0DAF-73BF-4926-EA109FFED323}"/>
              </a:ext>
            </a:extLst>
          </p:cNvPr>
          <p:cNvSpPr/>
          <p:nvPr/>
        </p:nvSpPr>
        <p:spPr>
          <a:xfrm>
            <a:off x="13045071" y="1080967"/>
            <a:ext cx="1301264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6AA4E-23D9-E00B-0485-00CD9995FBB1}"/>
              </a:ext>
            </a:extLst>
          </p:cNvPr>
          <p:cNvSpPr/>
          <p:nvPr/>
        </p:nvSpPr>
        <p:spPr>
          <a:xfrm>
            <a:off x="1799490" y="-1738117"/>
            <a:ext cx="1301264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2C739-763D-26BE-3BC0-B4CBDE49A3B1}"/>
              </a:ext>
            </a:extLst>
          </p:cNvPr>
          <p:cNvSpPr/>
          <p:nvPr/>
        </p:nvSpPr>
        <p:spPr>
          <a:xfrm>
            <a:off x="10122867" y="-1830679"/>
            <a:ext cx="1301264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F59A95-0C7F-9B52-D801-7F77D9B09201}"/>
              </a:ext>
            </a:extLst>
          </p:cNvPr>
          <p:cNvSpPr/>
          <p:nvPr/>
        </p:nvSpPr>
        <p:spPr>
          <a:xfrm>
            <a:off x="-2567345" y="4029076"/>
            <a:ext cx="1301264" cy="1403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C2E114-8C85-DBC4-ECCE-EF520B8829D7}"/>
              </a:ext>
            </a:extLst>
          </p:cNvPr>
          <p:cNvSpPr/>
          <p:nvPr/>
        </p:nvSpPr>
        <p:spPr>
          <a:xfrm>
            <a:off x="8540254" y="8047896"/>
            <a:ext cx="1301264" cy="1326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CF3BA4-D559-9E12-4066-12F8E4C479C0}"/>
              </a:ext>
            </a:extLst>
          </p:cNvPr>
          <p:cNvSpPr/>
          <p:nvPr/>
        </p:nvSpPr>
        <p:spPr>
          <a:xfrm>
            <a:off x="12930562" y="3590403"/>
            <a:ext cx="1301264" cy="1283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B59F6E-CC23-C56E-AF31-710C3A8040FE}"/>
              </a:ext>
            </a:extLst>
          </p:cNvPr>
          <p:cNvSpPr/>
          <p:nvPr/>
        </p:nvSpPr>
        <p:spPr>
          <a:xfrm>
            <a:off x="-3839336" y="1391724"/>
            <a:ext cx="2807686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FC0A9-12A1-92D0-FF48-4F4ACE5B7DB9}"/>
              </a:ext>
            </a:extLst>
          </p:cNvPr>
          <p:cNvSpPr/>
          <p:nvPr/>
        </p:nvSpPr>
        <p:spPr>
          <a:xfrm>
            <a:off x="5070218" y="7275394"/>
            <a:ext cx="1371608" cy="1545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8DBF0F-D315-7DB6-B65F-BE7969D277AC}"/>
              </a:ext>
            </a:extLst>
          </p:cNvPr>
          <p:cNvSpPr/>
          <p:nvPr/>
        </p:nvSpPr>
        <p:spPr>
          <a:xfrm>
            <a:off x="-2435493" y="-1161282"/>
            <a:ext cx="1301264" cy="1283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198E07-91F9-FE51-CCA8-7A9B4CFD2A54}"/>
              </a:ext>
            </a:extLst>
          </p:cNvPr>
          <p:cNvSpPr txBox="1"/>
          <p:nvPr/>
        </p:nvSpPr>
        <p:spPr>
          <a:xfrm>
            <a:off x="564987" y="5451618"/>
            <a:ext cx="10792391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Entonces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incluye</a:t>
            </a:r>
            <a:r>
              <a:rPr lang="en-US" sz="4000" dirty="0">
                <a:latin typeface="Gill Sans MT" panose="020B0502020104020203" pitchFamily="34" charset="77"/>
              </a:rPr>
              <a:t> a hombres y </a:t>
            </a:r>
            <a:r>
              <a:rPr lang="en-US" sz="4000" dirty="0" err="1">
                <a:latin typeface="Gill Sans MT" panose="020B0502020104020203" pitchFamily="34" charset="77"/>
              </a:rPr>
              <a:t>mujeres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en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tu</a:t>
            </a:r>
            <a:r>
              <a:rPr lang="en-US" sz="4000" dirty="0">
                <a:latin typeface="Gill Sans MT" panose="020B0502020104020203" pitchFamily="34" charset="77"/>
              </a:rPr>
              <a:t> conjunto de </a:t>
            </a:r>
            <a:r>
              <a:rPr lang="en-US" sz="4000" dirty="0" err="1">
                <a:latin typeface="Gill Sans MT" panose="020B0502020104020203" pitchFamily="34" charset="77"/>
              </a:rPr>
              <a:t>datos</a:t>
            </a:r>
            <a:r>
              <a:rPr lang="en-US" sz="4000" dirty="0">
                <a:latin typeface="Gill Sans MT" panose="020B0502020104020203" pitchFamily="34" charset="77"/>
              </a:rPr>
              <a:t>...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06A8AA-C754-209E-C954-521A6B019946}"/>
              </a:ext>
            </a:extLst>
          </p:cNvPr>
          <p:cNvSpPr txBox="1"/>
          <p:nvPr/>
        </p:nvSpPr>
        <p:spPr>
          <a:xfrm>
            <a:off x="678632" y="508439"/>
            <a:ext cx="6885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Muestreo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: </a:t>
            </a:r>
            <a:r>
              <a:rPr lang="en-US" sz="3600" dirty="0" err="1">
                <a:latin typeface="Gill Sans MT" panose="020B0502020104020203" pitchFamily="34" charset="77"/>
              </a:rPr>
              <a:t>Considerar</a:t>
            </a:r>
            <a:r>
              <a:rPr lang="en-US" sz="3600" dirty="0">
                <a:latin typeface="Gill Sans MT" panose="020B0502020104020203" pitchFamily="34" charset="77"/>
              </a:rPr>
              <a:t> la </a:t>
            </a:r>
            <a:r>
              <a:rPr lang="en-US" sz="3600" dirty="0" err="1">
                <a:latin typeface="Gill Sans MT" panose="020B0502020104020203" pitchFamily="34" charset="77"/>
              </a:rPr>
              <a:t>demografía</a:t>
            </a:r>
            <a:endParaRPr lang="en-US" sz="36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96104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39B5E-90CD-499A-12F3-7972CEBE4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5E79C1A5-B4E8-62A7-0A05-C78E5C107E06}"/>
              </a:ext>
            </a:extLst>
          </p:cNvPr>
          <p:cNvSpPr txBox="1"/>
          <p:nvPr/>
        </p:nvSpPr>
        <p:spPr>
          <a:xfrm>
            <a:off x="678632" y="508439"/>
            <a:ext cx="7515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Splitting: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Considerar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grupos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“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disjuntos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2029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562CB0-CF09-C515-EB89-E1254A68F2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6"/>
          <a:stretch/>
        </p:blipFill>
        <p:spPr>
          <a:xfrm>
            <a:off x="410633" y="3928533"/>
            <a:ext cx="5398232" cy="1511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B0591B-5865-1550-4E21-2C85961A40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20"/>
          <a:stretch/>
        </p:blipFill>
        <p:spPr>
          <a:xfrm>
            <a:off x="5939366" y="3859335"/>
            <a:ext cx="5398231" cy="156421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3409F4D-1A7F-0AC9-9721-01D54A87747E}"/>
              </a:ext>
            </a:extLst>
          </p:cNvPr>
          <p:cNvSpPr txBox="1"/>
          <p:nvPr/>
        </p:nvSpPr>
        <p:spPr>
          <a:xfrm>
            <a:off x="318959" y="1417514"/>
            <a:ext cx="2505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1. SELECTION OF PEOPLE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7010BB-C91E-73B7-1F58-1D635D01C3A5}"/>
              </a:ext>
            </a:extLst>
          </p:cNvPr>
          <p:cNvSpPr txBox="1"/>
          <p:nvPr/>
        </p:nvSpPr>
        <p:spPr>
          <a:xfrm>
            <a:off x="678632" y="508439"/>
            <a:ext cx="7515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Splitting: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Considerar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grupos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“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disjuntos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767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9BC2D-A0F6-44FA-ACF3-DD69543FA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1CA020-55CB-948C-C00B-D0BBFE267C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6"/>
          <a:stretch/>
        </p:blipFill>
        <p:spPr>
          <a:xfrm>
            <a:off x="410633" y="3928533"/>
            <a:ext cx="5398232" cy="1511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E54DE7-5687-E889-17F1-6373387858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20"/>
          <a:stretch/>
        </p:blipFill>
        <p:spPr>
          <a:xfrm>
            <a:off x="5939366" y="3859335"/>
            <a:ext cx="5398231" cy="1564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F9D4B0-05DB-06A1-7D63-572BA9B18F9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49219" y="3461175"/>
            <a:ext cx="365760" cy="365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75AE31-5DB5-33E5-ACAE-9E5875A9B9C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25753" y="3454664"/>
            <a:ext cx="365760" cy="365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8EB16A-A01E-2D12-5765-C6BD06B04F2B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160574" y="3454664"/>
            <a:ext cx="365760" cy="365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848CCA-BA98-96F3-F3C3-B125AD113F9B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661337" y="3454664"/>
            <a:ext cx="365760" cy="365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E5C13C-6281-A46D-F4BA-4DCDC3072698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6231141" y="3454664"/>
            <a:ext cx="365760" cy="3657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D693B26-DC08-B5F6-0DFF-0ABCA2294182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4886546" y="3461175"/>
            <a:ext cx="365760" cy="3657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19B78DE-3DA9-600D-F041-9C57799F59C5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4456350" y="3461175"/>
            <a:ext cx="365760" cy="3657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12EB7EE-A34B-07E0-2783-FCDDAA610BAF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2661911" y="3464077"/>
            <a:ext cx="365760" cy="3657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08FB62-DAA9-A885-5A26-34CA99F0A642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3085377" y="3461175"/>
            <a:ext cx="365760" cy="3657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6694FED-ABC5-D504-1718-590BF3389EA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8856" y="3461175"/>
            <a:ext cx="375782" cy="3657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A08D3A1-33CD-02A2-8183-C11A91A844F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89162" y="3461175"/>
            <a:ext cx="370637" cy="3657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824BDAF-1184-DC0A-0EE7-7164EBDD4D8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90770" y="3461175"/>
            <a:ext cx="371139" cy="365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8A4A75-9171-73EE-3575-EC15B366A50B}"/>
              </a:ext>
            </a:extLst>
          </p:cNvPr>
          <p:cNvSpPr txBox="1"/>
          <p:nvPr/>
        </p:nvSpPr>
        <p:spPr>
          <a:xfrm>
            <a:off x="318959" y="1417514"/>
            <a:ext cx="2505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1. SELECTION OF PEOPLE</a:t>
            </a:r>
          </a:p>
          <a:p>
            <a:r>
              <a:rPr lang="es-ES_tradnl" dirty="0"/>
              <a:t>2. ACQUISITION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350AA0-1F14-EFF0-1E00-114056CA3271}"/>
              </a:ext>
            </a:extLst>
          </p:cNvPr>
          <p:cNvSpPr txBox="1"/>
          <p:nvPr/>
        </p:nvSpPr>
        <p:spPr>
          <a:xfrm>
            <a:off x="678632" y="508439"/>
            <a:ext cx="7515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Splitting: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Considerar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grupos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“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disjuntos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1170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E068A-6B8A-18D8-B803-0C73CE6B5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6FCFEC-6DBD-4356-E5B1-B00B07BC0B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6"/>
          <a:stretch/>
        </p:blipFill>
        <p:spPr>
          <a:xfrm>
            <a:off x="410633" y="3928533"/>
            <a:ext cx="5398232" cy="1511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7EA9EE-E2D4-FC1F-5274-41CCDCDDC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20"/>
          <a:stretch/>
        </p:blipFill>
        <p:spPr>
          <a:xfrm>
            <a:off x="5939366" y="3859335"/>
            <a:ext cx="5398231" cy="1564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31BC02-ABD4-3E5D-4A85-92FF1566700E}"/>
              </a:ext>
            </a:extLst>
          </p:cNvPr>
          <p:cNvPicPr>
            <a:picLocks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49219" y="3461175"/>
            <a:ext cx="365760" cy="365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D7898E-E1B7-EC3D-C453-E0E918426BB7}"/>
              </a:ext>
            </a:extLst>
          </p:cNvPr>
          <p:cNvPicPr>
            <a:picLocks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25753" y="3454664"/>
            <a:ext cx="365760" cy="365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8D36C2-F9CA-742A-2CC4-22CB3097367F}"/>
              </a:ext>
            </a:extLst>
          </p:cNvPr>
          <p:cNvPicPr>
            <a:picLocks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60574" y="3454664"/>
            <a:ext cx="365760" cy="365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AD2820-1FA8-0017-6BD0-F3719B0663C8}"/>
              </a:ext>
            </a:extLst>
          </p:cNvPr>
          <p:cNvPicPr>
            <a:picLocks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61337" y="3454664"/>
            <a:ext cx="365760" cy="365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70CCA1-7437-639C-087A-4ACBBA2A6A56}"/>
              </a:ext>
            </a:extLst>
          </p:cNvPr>
          <p:cNvPicPr>
            <a:picLocks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31141" y="3454664"/>
            <a:ext cx="365760" cy="3657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5E74937-68DC-1412-5E85-5181A9A45F22}"/>
              </a:ext>
            </a:extLst>
          </p:cNvPr>
          <p:cNvPicPr>
            <a:picLocks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86546" y="3461175"/>
            <a:ext cx="365760" cy="3657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4501CEC-0BB4-375A-C825-3C89C98974A3}"/>
              </a:ext>
            </a:extLst>
          </p:cNvPr>
          <p:cNvPicPr>
            <a:picLocks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56350" y="3461175"/>
            <a:ext cx="365760" cy="3657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9E291DA-EF99-025F-88DA-2177A31D5B49}"/>
              </a:ext>
            </a:extLst>
          </p:cNvPr>
          <p:cNvPicPr>
            <a:picLocks/>
          </p:cNvPicPr>
          <p:nvPr/>
        </p:nvPicPr>
        <p:blipFill>
          <a:blip r:embed="rId10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661911" y="3464077"/>
            <a:ext cx="365760" cy="3657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EA3E918-6C00-3E75-7698-4C0DCF168F10}"/>
              </a:ext>
            </a:extLst>
          </p:cNvPr>
          <p:cNvPicPr>
            <a:picLocks/>
          </p:cNvPicPr>
          <p:nvPr/>
        </p:nvPicPr>
        <p:blipFill>
          <a:blip r:embed="rId1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085377" y="3461175"/>
            <a:ext cx="365760" cy="3657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B554214-25A5-7D46-8D09-EC18610D034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418856" y="3461175"/>
            <a:ext cx="375782" cy="3657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DA2B1A8-293D-26F2-58DE-8CC29E6F7670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989162" y="3461175"/>
            <a:ext cx="370637" cy="3657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23380BD-1BDC-CDCE-981C-CD4B5BBA8F7A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90770" y="3461175"/>
            <a:ext cx="371139" cy="365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BEF3DF-A88B-3145-79E1-BDF74C74CB2A}"/>
              </a:ext>
            </a:extLst>
          </p:cNvPr>
          <p:cNvSpPr txBox="1"/>
          <p:nvPr/>
        </p:nvSpPr>
        <p:spPr>
          <a:xfrm>
            <a:off x="318959" y="1417514"/>
            <a:ext cx="2505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1. SELECTION OF PEOPLE</a:t>
            </a:r>
          </a:p>
          <a:p>
            <a:r>
              <a:rPr lang="es-ES_tradnl" dirty="0"/>
              <a:t>2. ACQUISITION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7A6158-7321-4597-8470-8AE1AA1B3E95}"/>
              </a:ext>
            </a:extLst>
          </p:cNvPr>
          <p:cNvSpPr txBox="1"/>
          <p:nvPr/>
        </p:nvSpPr>
        <p:spPr>
          <a:xfrm>
            <a:off x="678632" y="508439"/>
            <a:ext cx="7515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Splitting: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Considerar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grupos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“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disjuntos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3071146"/>
      </p:ext>
    </p:extLst>
  </p:cSld>
  <p:clrMapOvr>
    <a:masterClrMapping/>
  </p:clrMapOvr>
  <p:transition spd="slow">
    <p:randomBar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47A7F-3A95-3BDF-9DA1-59790E4AC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5C5BF2-5C97-D0E3-E7E7-DC635621F6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6"/>
          <a:stretch/>
        </p:blipFill>
        <p:spPr>
          <a:xfrm>
            <a:off x="410633" y="3928533"/>
            <a:ext cx="5398232" cy="1511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1A5852-2A11-CE8E-C476-5A71CB94D4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20"/>
          <a:stretch/>
        </p:blipFill>
        <p:spPr>
          <a:xfrm>
            <a:off x="5939366" y="3859335"/>
            <a:ext cx="5398231" cy="1564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88C735-8054-7AF0-2E86-8E530218A7AB}"/>
              </a:ext>
            </a:extLst>
          </p:cNvPr>
          <p:cNvPicPr>
            <a:picLocks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60975" y="2144150"/>
            <a:ext cx="365760" cy="365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7D559B-7736-8132-EEC4-3DA4684DD962}"/>
              </a:ext>
            </a:extLst>
          </p:cNvPr>
          <p:cNvPicPr>
            <a:picLocks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809947" y="2144150"/>
            <a:ext cx="365760" cy="365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BFF59D-374D-00A5-AFAC-40D7C47D4107}"/>
              </a:ext>
            </a:extLst>
          </p:cNvPr>
          <p:cNvPicPr>
            <a:picLocks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02263" y="2144150"/>
            <a:ext cx="365760" cy="365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9B4CB1-4751-8E27-F68C-E9DB718F5436}"/>
              </a:ext>
            </a:extLst>
          </p:cNvPr>
          <p:cNvPicPr>
            <a:picLocks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46472" y="2144150"/>
            <a:ext cx="365760" cy="365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ED0C843-9D41-1529-D1C5-A03E45F14FBC}"/>
              </a:ext>
            </a:extLst>
          </p:cNvPr>
          <p:cNvPicPr>
            <a:picLocks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387202" y="2144150"/>
            <a:ext cx="365760" cy="3657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D472BD0-696B-7BFC-16CC-E736752ABC17}"/>
              </a:ext>
            </a:extLst>
          </p:cNvPr>
          <p:cNvPicPr>
            <a:picLocks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45116" y="2144150"/>
            <a:ext cx="365760" cy="3657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9BA8EC2-5026-C8D0-B30E-30FA8AC3A9FB}"/>
              </a:ext>
            </a:extLst>
          </p:cNvPr>
          <p:cNvPicPr>
            <a:picLocks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58244" y="2144150"/>
            <a:ext cx="365760" cy="3657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A02889E-7C4F-8D0C-7A8C-CCC9EB8BD569}"/>
              </a:ext>
            </a:extLst>
          </p:cNvPr>
          <p:cNvPicPr>
            <a:picLocks/>
          </p:cNvPicPr>
          <p:nvPr/>
        </p:nvPicPr>
        <p:blipFill>
          <a:blip r:embed="rId10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876834" y="2144150"/>
            <a:ext cx="365760" cy="3657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8F2B01F-74B2-76DD-5351-910B0B95591D}"/>
              </a:ext>
            </a:extLst>
          </p:cNvPr>
          <p:cNvPicPr>
            <a:picLocks/>
          </p:cNvPicPr>
          <p:nvPr/>
        </p:nvPicPr>
        <p:blipFill>
          <a:blip r:embed="rId1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829942" y="2144150"/>
            <a:ext cx="365760" cy="3657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A076EB1-1DF2-BED9-9CFF-3C9E1177AE77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73418" y="2144150"/>
            <a:ext cx="375782" cy="3657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374627A-8E57-5486-992F-8A8BFF421A61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66466" y="2144150"/>
            <a:ext cx="370637" cy="3657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E77139F-1EEF-9F8F-E8D4-DE050E7EFBE4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86546" y="2144150"/>
            <a:ext cx="371139" cy="365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0DB4FC-A54E-B2F0-E858-9D4EB47D6F1D}"/>
              </a:ext>
            </a:extLst>
          </p:cNvPr>
          <p:cNvSpPr txBox="1"/>
          <p:nvPr/>
        </p:nvSpPr>
        <p:spPr>
          <a:xfrm>
            <a:off x="318959" y="1417514"/>
            <a:ext cx="25054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1. SELECTION OF PEOPLE</a:t>
            </a:r>
          </a:p>
          <a:p>
            <a:r>
              <a:rPr lang="es-ES_tradnl" dirty="0"/>
              <a:t>2. ACQUISITION</a:t>
            </a:r>
          </a:p>
          <a:p>
            <a:r>
              <a:rPr lang="es-ES_tradnl" dirty="0"/>
              <a:t>3. RANDOMIZE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0433D8-E07E-5688-349B-ABEF85A9D664}"/>
              </a:ext>
            </a:extLst>
          </p:cNvPr>
          <p:cNvSpPr txBox="1"/>
          <p:nvPr/>
        </p:nvSpPr>
        <p:spPr>
          <a:xfrm>
            <a:off x="678632" y="508439"/>
            <a:ext cx="7515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Splitting: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Considerar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grupos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“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disjuntos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369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8F02C-F463-BFB6-CA2A-717363059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3AEB20-78E2-1231-FA4A-91655C2DEF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6"/>
          <a:stretch/>
        </p:blipFill>
        <p:spPr>
          <a:xfrm>
            <a:off x="410633" y="3928533"/>
            <a:ext cx="5398232" cy="1511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8532BF-A7CF-C8D9-D551-2AA39401AC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20"/>
          <a:stretch/>
        </p:blipFill>
        <p:spPr>
          <a:xfrm>
            <a:off x="5939366" y="3859335"/>
            <a:ext cx="5398231" cy="1564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84D520-E933-BA2E-0498-6692782D7D29}"/>
              </a:ext>
            </a:extLst>
          </p:cNvPr>
          <p:cNvPicPr>
            <a:picLocks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587804" y="2144150"/>
            <a:ext cx="365760" cy="365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296945-8DC3-4213-3802-4DAA07B0E492}"/>
              </a:ext>
            </a:extLst>
          </p:cNvPr>
          <p:cNvPicPr>
            <a:picLocks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270688" y="2144150"/>
            <a:ext cx="365760" cy="365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06CA73-0189-5D63-85E3-F875370E45B0}"/>
              </a:ext>
            </a:extLst>
          </p:cNvPr>
          <p:cNvPicPr>
            <a:picLocks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63004" y="2144150"/>
            <a:ext cx="365760" cy="365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7313F1-3589-9015-C17A-60A21E1EA634}"/>
              </a:ext>
            </a:extLst>
          </p:cNvPr>
          <p:cNvPicPr>
            <a:picLocks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73301" y="2144150"/>
            <a:ext cx="365760" cy="365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E6DD10-F687-D969-4B22-A975E4374384}"/>
              </a:ext>
            </a:extLst>
          </p:cNvPr>
          <p:cNvPicPr>
            <a:picLocks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47943" y="2144150"/>
            <a:ext cx="365760" cy="3657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2E0C08-5E6A-D409-5465-A3F2B78ED428}"/>
              </a:ext>
            </a:extLst>
          </p:cNvPr>
          <p:cNvPicPr>
            <a:picLocks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71945" y="2144150"/>
            <a:ext cx="365760" cy="3657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40B724F-D157-A7A4-D3A7-C57A0A8AB50A}"/>
              </a:ext>
            </a:extLst>
          </p:cNvPr>
          <p:cNvPicPr>
            <a:picLocks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18985" y="2144150"/>
            <a:ext cx="365760" cy="3657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8EB2D0B-408B-7AC4-1E6B-150CFB507FFA}"/>
              </a:ext>
            </a:extLst>
          </p:cNvPr>
          <p:cNvPicPr>
            <a:picLocks/>
          </p:cNvPicPr>
          <p:nvPr/>
        </p:nvPicPr>
        <p:blipFill>
          <a:blip r:embed="rId10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337575" y="2144150"/>
            <a:ext cx="365760" cy="3657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7B932A2-0531-AA6E-9733-962021784583}"/>
              </a:ext>
            </a:extLst>
          </p:cNvPr>
          <p:cNvPicPr>
            <a:picLocks/>
          </p:cNvPicPr>
          <p:nvPr/>
        </p:nvPicPr>
        <p:blipFill>
          <a:blip r:embed="rId1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290683" y="2144150"/>
            <a:ext cx="365760" cy="3657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241AF72-C6AE-4EED-BE52-77D6A407E3AE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100247" y="2144150"/>
            <a:ext cx="375782" cy="3657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4772C40-8107-A53F-2E39-95FAD7A4D00F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827207" y="2144150"/>
            <a:ext cx="370637" cy="3657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83BF72B-943B-791E-BECC-F5E7C426B2BD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47287" y="2144150"/>
            <a:ext cx="371139" cy="365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BB407A-A5C5-5787-08C0-AA3E491CFAE6}"/>
              </a:ext>
            </a:extLst>
          </p:cNvPr>
          <p:cNvSpPr txBox="1"/>
          <p:nvPr/>
        </p:nvSpPr>
        <p:spPr>
          <a:xfrm>
            <a:off x="318959" y="1417514"/>
            <a:ext cx="25054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1. SELECTION OF PEOPLE</a:t>
            </a:r>
          </a:p>
          <a:p>
            <a:r>
              <a:rPr lang="es-ES_tradnl" dirty="0"/>
              <a:t>2. ACQUISITION</a:t>
            </a:r>
          </a:p>
          <a:p>
            <a:r>
              <a:rPr lang="es-ES_tradnl" dirty="0"/>
              <a:t>3. RANDOMIZE</a:t>
            </a:r>
          </a:p>
          <a:p>
            <a:r>
              <a:rPr lang="es-ES_tradnl" dirty="0"/>
              <a:t>4. SPLITTING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2F2511-566E-1A5C-70C4-5ABEFEC32E26}"/>
              </a:ext>
            </a:extLst>
          </p:cNvPr>
          <p:cNvSpPr txBox="1"/>
          <p:nvPr/>
        </p:nvSpPr>
        <p:spPr>
          <a:xfrm>
            <a:off x="3501693" y="1570890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TRAINING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8846F1-3F1B-91C4-2704-6DBDF26934E1}"/>
              </a:ext>
            </a:extLst>
          </p:cNvPr>
          <p:cNvSpPr txBox="1"/>
          <p:nvPr/>
        </p:nvSpPr>
        <p:spPr>
          <a:xfrm>
            <a:off x="7964572" y="1570890"/>
            <a:ext cx="975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TESTING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BDF26C-CD86-66DD-418B-6CDBB835B05B}"/>
              </a:ext>
            </a:extLst>
          </p:cNvPr>
          <p:cNvSpPr txBox="1"/>
          <p:nvPr/>
        </p:nvSpPr>
        <p:spPr>
          <a:xfrm>
            <a:off x="678632" y="508439"/>
            <a:ext cx="7515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Splitting: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Considerar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grupos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“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disjuntos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15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00E3F-F1A2-6B44-388C-32F928A0E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14F19-4430-E541-940B-985FEE2DFE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6"/>
          <a:stretch/>
        </p:blipFill>
        <p:spPr>
          <a:xfrm>
            <a:off x="410633" y="3928533"/>
            <a:ext cx="5398232" cy="1511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7D067D-129B-A295-45D0-1D625A4D01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20"/>
          <a:stretch/>
        </p:blipFill>
        <p:spPr>
          <a:xfrm>
            <a:off x="5939366" y="3859335"/>
            <a:ext cx="5398231" cy="1564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795809-83DB-B5D6-A58F-5C4ED5FAEAFB}"/>
              </a:ext>
            </a:extLst>
          </p:cNvPr>
          <p:cNvPicPr>
            <a:picLocks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587804" y="2144150"/>
            <a:ext cx="365760" cy="365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EE6F52-275E-B07E-E54B-33E9AE95871E}"/>
              </a:ext>
            </a:extLst>
          </p:cNvPr>
          <p:cNvPicPr>
            <a:picLocks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270688" y="2144150"/>
            <a:ext cx="365760" cy="365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B3EA3D-39F3-C0B3-0AAF-7F244A0B333B}"/>
              </a:ext>
            </a:extLst>
          </p:cNvPr>
          <p:cNvPicPr>
            <a:picLocks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63004" y="2144150"/>
            <a:ext cx="365760" cy="365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724A1C-A9AB-1059-DCF7-1CBB71B38650}"/>
              </a:ext>
            </a:extLst>
          </p:cNvPr>
          <p:cNvPicPr>
            <a:picLocks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73301" y="2144150"/>
            <a:ext cx="365760" cy="365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DB825EE-764F-26B4-FBE3-BE0CCB7687CC}"/>
              </a:ext>
            </a:extLst>
          </p:cNvPr>
          <p:cNvPicPr>
            <a:picLocks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47943" y="2144150"/>
            <a:ext cx="365760" cy="3657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9956FD0-D615-F524-95C4-DF441B3F97D0}"/>
              </a:ext>
            </a:extLst>
          </p:cNvPr>
          <p:cNvPicPr>
            <a:picLocks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71945" y="2144150"/>
            <a:ext cx="365760" cy="3657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C69A404-3861-0972-C647-F43534CE4199}"/>
              </a:ext>
            </a:extLst>
          </p:cNvPr>
          <p:cNvPicPr>
            <a:picLocks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18985" y="2144150"/>
            <a:ext cx="365760" cy="3657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73D88DC-303C-BBAC-DC3F-1CEAC991F1AB}"/>
              </a:ext>
            </a:extLst>
          </p:cNvPr>
          <p:cNvPicPr>
            <a:picLocks/>
          </p:cNvPicPr>
          <p:nvPr/>
        </p:nvPicPr>
        <p:blipFill>
          <a:blip r:embed="rId10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337575" y="2144150"/>
            <a:ext cx="365760" cy="3657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BFC9BFC-D655-75EB-52F3-52A9F14D2171}"/>
              </a:ext>
            </a:extLst>
          </p:cNvPr>
          <p:cNvPicPr>
            <a:picLocks/>
          </p:cNvPicPr>
          <p:nvPr/>
        </p:nvPicPr>
        <p:blipFill>
          <a:blip r:embed="rId1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290683" y="2144150"/>
            <a:ext cx="365760" cy="3657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BBAA428-C7A6-2B8D-5634-99836E98816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100247" y="2144150"/>
            <a:ext cx="375782" cy="3657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8D4EFE8-1D4A-E273-E14F-29B4575008B2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827207" y="2144150"/>
            <a:ext cx="370637" cy="3657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BFDAAE6-5DD1-F9BB-206C-B08E12212527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47287" y="2144150"/>
            <a:ext cx="371139" cy="365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E2D85A-3B94-25C6-16F6-C29C169AEDAF}"/>
              </a:ext>
            </a:extLst>
          </p:cNvPr>
          <p:cNvSpPr txBox="1"/>
          <p:nvPr/>
        </p:nvSpPr>
        <p:spPr>
          <a:xfrm>
            <a:off x="318959" y="1417514"/>
            <a:ext cx="25054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1. SELECTION OF PEOPLE</a:t>
            </a:r>
          </a:p>
          <a:p>
            <a:r>
              <a:rPr lang="es-ES_tradnl" dirty="0"/>
              <a:t>2. ACQUISITION</a:t>
            </a:r>
          </a:p>
          <a:p>
            <a:r>
              <a:rPr lang="es-ES_tradnl" dirty="0"/>
              <a:t>3. RANDOMIZE</a:t>
            </a:r>
          </a:p>
          <a:p>
            <a:r>
              <a:rPr lang="es-ES_tradnl" dirty="0"/>
              <a:t>4. SPLITTING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7D1139-1D86-2C57-12AC-31513BA63A0D}"/>
              </a:ext>
            </a:extLst>
          </p:cNvPr>
          <p:cNvSpPr txBox="1"/>
          <p:nvPr/>
        </p:nvSpPr>
        <p:spPr>
          <a:xfrm>
            <a:off x="3501693" y="1570890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TRAINING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73122F-361D-CD8B-FA1E-B38952E9EB17}"/>
              </a:ext>
            </a:extLst>
          </p:cNvPr>
          <p:cNvSpPr txBox="1"/>
          <p:nvPr/>
        </p:nvSpPr>
        <p:spPr>
          <a:xfrm>
            <a:off x="7964572" y="1570890"/>
            <a:ext cx="975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TESTING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EE9201-1F30-F9FC-4264-E47353A1A9DE}"/>
              </a:ext>
            </a:extLst>
          </p:cNvPr>
          <p:cNvSpPr txBox="1"/>
          <p:nvPr/>
        </p:nvSpPr>
        <p:spPr>
          <a:xfrm>
            <a:off x="7256585" y="3007132"/>
            <a:ext cx="2630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TYPICAL ACCURACY &gt; 90%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63BDB7-6164-0475-E30E-CD1AF4E651FE}"/>
              </a:ext>
            </a:extLst>
          </p:cNvPr>
          <p:cNvSpPr txBox="1"/>
          <p:nvPr/>
        </p:nvSpPr>
        <p:spPr>
          <a:xfrm>
            <a:off x="678632" y="508439"/>
            <a:ext cx="7515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Splitting: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Considerar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grupos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“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disjuntos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1880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1F22A-8DEC-2BA9-D45D-F800DFD1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B364BE-7DCA-2B72-7095-A54541F875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6"/>
          <a:stretch/>
        </p:blipFill>
        <p:spPr>
          <a:xfrm>
            <a:off x="410633" y="3928533"/>
            <a:ext cx="5398232" cy="1511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E91F4B-106F-9A3A-8E47-4FE2DCA34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20"/>
          <a:stretch/>
        </p:blipFill>
        <p:spPr>
          <a:xfrm>
            <a:off x="5939366" y="3859335"/>
            <a:ext cx="5398231" cy="1564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491BC6-EB55-35AA-926B-71C22F1534C8}"/>
              </a:ext>
            </a:extLst>
          </p:cNvPr>
          <p:cNvPicPr>
            <a:picLocks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587804" y="2144150"/>
            <a:ext cx="365760" cy="365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749929-1534-4239-5D53-53E37E73B8B6}"/>
              </a:ext>
            </a:extLst>
          </p:cNvPr>
          <p:cNvPicPr>
            <a:picLocks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270688" y="2144150"/>
            <a:ext cx="365760" cy="365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4336E7-0BE2-758D-E767-C25BB67BE90E}"/>
              </a:ext>
            </a:extLst>
          </p:cNvPr>
          <p:cNvPicPr>
            <a:picLocks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63004" y="2144150"/>
            <a:ext cx="365760" cy="365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FC1475-CE4C-22C8-CB89-8DC8142CA1D7}"/>
              </a:ext>
            </a:extLst>
          </p:cNvPr>
          <p:cNvPicPr>
            <a:picLocks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73301" y="2144150"/>
            <a:ext cx="365760" cy="365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043473-CAAA-2931-B45B-ED408E08C461}"/>
              </a:ext>
            </a:extLst>
          </p:cNvPr>
          <p:cNvPicPr>
            <a:picLocks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47943" y="2144150"/>
            <a:ext cx="365760" cy="3657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F8460AE-EA8B-B2B3-6938-78457B23B617}"/>
              </a:ext>
            </a:extLst>
          </p:cNvPr>
          <p:cNvPicPr>
            <a:picLocks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71945" y="2144150"/>
            <a:ext cx="365760" cy="3657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2EC23EF-96AD-43A5-7C40-F5D5A9D6CBCC}"/>
              </a:ext>
            </a:extLst>
          </p:cNvPr>
          <p:cNvPicPr>
            <a:picLocks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18985" y="2144150"/>
            <a:ext cx="365760" cy="3657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FC29C4-CB91-EA21-6C1C-DAF7E75FCB55}"/>
              </a:ext>
            </a:extLst>
          </p:cNvPr>
          <p:cNvPicPr>
            <a:picLocks/>
          </p:cNvPicPr>
          <p:nvPr/>
        </p:nvPicPr>
        <p:blipFill>
          <a:blip r:embed="rId10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337575" y="2144150"/>
            <a:ext cx="365760" cy="3657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90B442B-1481-27FA-9329-E7D794AAFA3F}"/>
              </a:ext>
            </a:extLst>
          </p:cNvPr>
          <p:cNvPicPr>
            <a:picLocks/>
          </p:cNvPicPr>
          <p:nvPr/>
        </p:nvPicPr>
        <p:blipFill>
          <a:blip r:embed="rId1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290683" y="2144150"/>
            <a:ext cx="365760" cy="3657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9DA3D48-C1A7-0C73-5AAE-D3ED70AC2C7C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100247" y="2144150"/>
            <a:ext cx="375782" cy="3657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73101EC-A29D-CB90-BD8B-DCC894E3EB9B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827207" y="2144150"/>
            <a:ext cx="370637" cy="3657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EBC2D9F-7818-B503-3F35-FAB7E908E3B9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47287" y="2144150"/>
            <a:ext cx="371139" cy="365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5D91E1-16F8-0F6E-6C5E-1638CC2B9BC2}"/>
              </a:ext>
            </a:extLst>
          </p:cNvPr>
          <p:cNvSpPr txBox="1"/>
          <p:nvPr/>
        </p:nvSpPr>
        <p:spPr>
          <a:xfrm>
            <a:off x="318959" y="1417514"/>
            <a:ext cx="25054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1. SELECTION OF PEOPLE</a:t>
            </a:r>
          </a:p>
          <a:p>
            <a:r>
              <a:rPr lang="es-ES_tradnl" dirty="0"/>
              <a:t>2. ACQUISITION</a:t>
            </a:r>
          </a:p>
          <a:p>
            <a:r>
              <a:rPr lang="es-ES_tradnl" dirty="0"/>
              <a:t>3. RANDOMIZE</a:t>
            </a:r>
          </a:p>
          <a:p>
            <a:r>
              <a:rPr lang="es-ES_tradnl" dirty="0"/>
              <a:t>4. SPLITTING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CB3F2BF-5D2B-2115-A3FD-70558609A2D5}"/>
              </a:ext>
            </a:extLst>
          </p:cNvPr>
          <p:cNvGrpSpPr/>
          <p:nvPr/>
        </p:nvGrpSpPr>
        <p:grpSpPr>
          <a:xfrm>
            <a:off x="1266092" y="773722"/>
            <a:ext cx="9284677" cy="5275386"/>
            <a:chOff x="1266092" y="773722"/>
            <a:chExt cx="9284677" cy="527538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65171CE-EB8F-6C83-487A-6D873091810C}"/>
                </a:ext>
              </a:extLst>
            </p:cNvPr>
            <p:cNvCxnSpPr/>
            <p:nvPr/>
          </p:nvCxnSpPr>
          <p:spPr>
            <a:xfrm>
              <a:off x="1266092" y="773723"/>
              <a:ext cx="8909539" cy="5275385"/>
            </a:xfrm>
            <a:prstGeom prst="line">
              <a:avLst/>
            </a:prstGeom>
            <a:ln w="146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3026877-87E9-D07E-48B2-D8805A24B4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230" y="773722"/>
              <a:ext cx="8909539" cy="5275385"/>
            </a:xfrm>
            <a:prstGeom prst="line">
              <a:avLst/>
            </a:prstGeom>
            <a:ln w="146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E07E22C-AF85-B09E-D2F0-B82EDF9DE6FF}"/>
              </a:ext>
            </a:extLst>
          </p:cNvPr>
          <p:cNvSpPr txBox="1"/>
          <p:nvPr/>
        </p:nvSpPr>
        <p:spPr>
          <a:xfrm>
            <a:off x="3501693" y="1570890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TRAINING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B6A163-1C6A-F336-B6D5-77CC8228A8F3}"/>
              </a:ext>
            </a:extLst>
          </p:cNvPr>
          <p:cNvSpPr txBox="1"/>
          <p:nvPr/>
        </p:nvSpPr>
        <p:spPr>
          <a:xfrm>
            <a:off x="7964572" y="1570890"/>
            <a:ext cx="975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TESTING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B776A7-657A-C9A7-15ED-1E534E0A5F87}"/>
              </a:ext>
            </a:extLst>
          </p:cNvPr>
          <p:cNvSpPr txBox="1"/>
          <p:nvPr/>
        </p:nvSpPr>
        <p:spPr>
          <a:xfrm>
            <a:off x="7256585" y="3007132"/>
            <a:ext cx="2630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TYPICAL ACCURACY &gt; 90%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C52FC3-271F-7556-EE1A-2F78D8EB14E5}"/>
              </a:ext>
            </a:extLst>
          </p:cNvPr>
          <p:cNvSpPr txBox="1"/>
          <p:nvPr/>
        </p:nvSpPr>
        <p:spPr>
          <a:xfrm>
            <a:off x="678632" y="508439"/>
            <a:ext cx="7515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Splitting: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Considerar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grupos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“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disjuntos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8158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31E52-F8B3-C098-5B4A-BE08EB642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152C89-6C2B-10F5-8FFC-599DF66691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6"/>
          <a:stretch/>
        </p:blipFill>
        <p:spPr>
          <a:xfrm>
            <a:off x="410633" y="3928533"/>
            <a:ext cx="5398232" cy="1511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A387B4-3E57-16F1-417D-64894FAA37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20"/>
          <a:stretch/>
        </p:blipFill>
        <p:spPr>
          <a:xfrm>
            <a:off x="5939366" y="3859335"/>
            <a:ext cx="5398231" cy="1564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5533A8-39B3-069A-F5E7-1C98768C036F}"/>
              </a:ext>
            </a:extLst>
          </p:cNvPr>
          <p:cNvPicPr>
            <a:picLocks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587804" y="2144150"/>
            <a:ext cx="365760" cy="365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98A8D6-B8A7-9548-3671-D3DCDF71C1AB}"/>
              </a:ext>
            </a:extLst>
          </p:cNvPr>
          <p:cNvPicPr>
            <a:picLocks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270688" y="2144150"/>
            <a:ext cx="365760" cy="365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788B34-7B89-D8C0-AA0C-8B252722F5AE}"/>
              </a:ext>
            </a:extLst>
          </p:cNvPr>
          <p:cNvPicPr>
            <a:picLocks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63004" y="2144150"/>
            <a:ext cx="365760" cy="365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8C9936-A049-C312-448B-4C7BA08DE922}"/>
              </a:ext>
            </a:extLst>
          </p:cNvPr>
          <p:cNvPicPr>
            <a:picLocks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73301" y="2144150"/>
            <a:ext cx="365760" cy="365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07FDE7E-8864-A6A1-B789-5DBFE1739E21}"/>
              </a:ext>
            </a:extLst>
          </p:cNvPr>
          <p:cNvPicPr>
            <a:picLocks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47943" y="2144150"/>
            <a:ext cx="365760" cy="3657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7EDD9C-7708-E958-8E47-2BC9F3612273}"/>
              </a:ext>
            </a:extLst>
          </p:cNvPr>
          <p:cNvPicPr>
            <a:picLocks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71945" y="2144150"/>
            <a:ext cx="365760" cy="3657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079BC7-D64C-AAB2-3F34-40B59F79D9DC}"/>
              </a:ext>
            </a:extLst>
          </p:cNvPr>
          <p:cNvPicPr>
            <a:picLocks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18985" y="2144150"/>
            <a:ext cx="365760" cy="3657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46224CB-A2A7-16F3-F9CA-C3F88BDF2949}"/>
              </a:ext>
            </a:extLst>
          </p:cNvPr>
          <p:cNvPicPr>
            <a:picLocks/>
          </p:cNvPicPr>
          <p:nvPr/>
        </p:nvPicPr>
        <p:blipFill>
          <a:blip r:embed="rId10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337575" y="2144150"/>
            <a:ext cx="365760" cy="3657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AD35025-7252-91D5-21AA-97BEF4D70D19}"/>
              </a:ext>
            </a:extLst>
          </p:cNvPr>
          <p:cNvPicPr>
            <a:picLocks/>
          </p:cNvPicPr>
          <p:nvPr/>
        </p:nvPicPr>
        <p:blipFill>
          <a:blip r:embed="rId1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290683" y="2144150"/>
            <a:ext cx="365760" cy="3657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553F984-C019-0513-6697-58D2B1704667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100247" y="2144150"/>
            <a:ext cx="375782" cy="3657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DD4DDE1-3F54-3199-D64B-98FAEFE08E4D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827207" y="2144150"/>
            <a:ext cx="370637" cy="3657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511BF9A-2F3D-8977-FCD8-0AEC206D6D39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47287" y="2144150"/>
            <a:ext cx="371139" cy="365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B8A2F0-06AF-77D6-F932-EB9FA649F4E8}"/>
              </a:ext>
            </a:extLst>
          </p:cNvPr>
          <p:cNvSpPr txBox="1"/>
          <p:nvPr/>
        </p:nvSpPr>
        <p:spPr>
          <a:xfrm>
            <a:off x="318959" y="1417514"/>
            <a:ext cx="25054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1. SELECTION OF PEOPLE</a:t>
            </a:r>
          </a:p>
          <a:p>
            <a:r>
              <a:rPr lang="es-ES_tradnl" dirty="0"/>
              <a:t>2. ACQUISITION</a:t>
            </a:r>
          </a:p>
          <a:p>
            <a:r>
              <a:rPr lang="es-ES_tradnl" dirty="0"/>
              <a:t>3. RANDOMIZE</a:t>
            </a:r>
          </a:p>
          <a:p>
            <a:r>
              <a:rPr lang="es-ES_tradnl" dirty="0"/>
              <a:t>4. SPLITTING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3645DC-D00F-DA07-C701-958FD8843E24}"/>
              </a:ext>
            </a:extLst>
          </p:cNvPr>
          <p:cNvGrpSpPr/>
          <p:nvPr/>
        </p:nvGrpSpPr>
        <p:grpSpPr>
          <a:xfrm>
            <a:off x="1219200" y="2509910"/>
            <a:ext cx="6551484" cy="1418623"/>
            <a:chOff x="1219200" y="2509910"/>
            <a:chExt cx="6551484" cy="1418623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EACE521-C48C-5651-C5E2-46396FFF7F05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1219200" y="2509910"/>
              <a:ext cx="6551484" cy="14186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B3B4FAD-0983-DC48-9A58-1C97CC914C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9200" y="2509910"/>
              <a:ext cx="1219200" cy="14186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8E6B89E-9FE7-415E-2498-533A53F9A39D}"/>
              </a:ext>
            </a:extLst>
          </p:cNvPr>
          <p:cNvGrpSpPr/>
          <p:nvPr/>
        </p:nvGrpSpPr>
        <p:grpSpPr>
          <a:xfrm>
            <a:off x="4001865" y="2509910"/>
            <a:ext cx="4752960" cy="1418623"/>
            <a:chOff x="398979" y="2509910"/>
            <a:chExt cx="4752960" cy="1418623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A617E65-5A1C-FF76-536A-40D495420689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 flipV="1">
              <a:off x="1219200" y="2509910"/>
              <a:ext cx="3932739" cy="14186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C842B02-FB1A-EDDD-C45A-4505853FCDDD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 flipH="1" flipV="1">
              <a:off x="398979" y="2509910"/>
              <a:ext cx="820221" cy="14186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36628B6-1633-963E-6263-79DD16B06A16}"/>
              </a:ext>
            </a:extLst>
          </p:cNvPr>
          <p:cNvGrpSpPr/>
          <p:nvPr/>
        </p:nvGrpSpPr>
        <p:grpSpPr>
          <a:xfrm>
            <a:off x="6012526" y="2509910"/>
            <a:ext cx="4370121" cy="1395176"/>
            <a:chOff x="-3150921" y="2533357"/>
            <a:chExt cx="4370121" cy="1395176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E08016D-CAAA-8229-8185-829DCE252147}"/>
                </a:ext>
              </a:extLst>
            </p:cNvPr>
            <p:cNvCxnSpPr>
              <a:cxnSpLocks/>
              <a:endCxn id="26" idx="2"/>
            </p:cNvCxnSpPr>
            <p:nvPr/>
          </p:nvCxnSpPr>
          <p:spPr>
            <a:xfrm flipH="1" flipV="1">
              <a:off x="124691" y="2533357"/>
              <a:ext cx="1094509" cy="13951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2010029-6D4D-D931-AA96-1DB918A54C81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H="1" flipV="1">
              <a:off x="-3150921" y="2533357"/>
              <a:ext cx="4370121" cy="13951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2372C8E-C0C1-D9ED-8F26-19DF3F07D5AA}"/>
              </a:ext>
            </a:extLst>
          </p:cNvPr>
          <p:cNvGrpSpPr/>
          <p:nvPr/>
        </p:nvGrpSpPr>
        <p:grpSpPr>
          <a:xfrm>
            <a:off x="1266092" y="773722"/>
            <a:ext cx="9284677" cy="5275386"/>
            <a:chOff x="1266092" y="773722"/>
            <a:chExt cx="9284677" cy="5275386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6062EEE-6E40-E01E-0941-F5059273157F}"/>
                </a:ext>
              </a:extLst>
            </p:cNvPr>
            <p:cNvCxnSpPr/>
            <p:nvPr/>
          </p:nvCxnSpPr>
          <p:spPr>
            <a:xfrm>
              <a:off x="1266092" y="773723"/>
              <a:ext cx="8909539" cy="5275385"/>
            </a:xfrm>
            <a:prstGeom prst="line">
              <a:avLst/>
            </a:prstGeom>
            <a:ln w="146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7A87FF2-A8DF-21C9-B3B6-3E31969398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230" y="773722"/>
              <a:ext cx="8909539" cy="5275385"/>
            </a:xfrm>
            <a:prstGeom prst="line">
              <a:avLst/>
            </a:prstGeom>
            <a:ln w="146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7749E187-DDDB-64FC-6769-BACE6EB5DCBA}"/>
              </a:ext>
            </a:extLst>
          </p:cNvPr>
          <p:cNvSpPr txBox="1"/>
          <p:nvPr/>
        </p:nvSpPr>
        <p:spPr>
          <a:xfrm>
            <a:off x="3501693" y="1570890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TRAINING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B32882-F237-F1EB-CF2B-52D668CE38DC}"/>
              </a:ext>
            </a:extLst>
          </p:cNvPr>
          <p:cNvSpPr txBox="1"/>
          <p:nvPr/>
        </p:nvSpPr>
        <p:spPr>
          <a:xfrm>
            <a:off x="7964572" y="1570890"/>
            <a:ext cx="975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TESTING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94FEA4-41C2-42D0-29F4-12B3B3DCA565}"/>
              </a:ext>
            </a:extLst>
          </p:cNvPr>
          <p:cNvSpPr txBox="1"/>
          <p:nvPr/>
        </p:nvSpPr>
        <p:spPr>
          <a:xfrm>
            <a:off x="678632" y="508439"/>
            <a:ext cx="9873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Splitting: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Considerar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grupos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“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disjuntos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” </a:t>
            </a:r>
            <a:r>
              <a:rPr lang="en-US" sz="3600" dirty="0">
                <a:solidFill>
                  <a:srgbClr val="FF0000"/>
                </a:solidFill>
                <a:latin typeface="Gill Sans MT" panose="020B0502020104020203" pitchFamily="34" charset="77"/>
              </a:rPr>
              <a:t>POR QUÉ?</a:t>
            </a:r>
          </a:p>
        </p:txBody>
      </p:sp>
    </p:spTree>
    <p:extLst>
      <p:ext uri="{BB962C8B-B14F-4D97-AF65-F5344CB8AC3E}">
        <p14:creationId xmlns:p14="http://schemas.microsoft.com/office/powerpoint/2010/main" val="3999080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BC832-E765-3998-7D62-A3E1389A3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D20CF6-1303-CE12-4137-BC9A1B1346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6"/>
          <a:stretch/>
        </p:blipFill>
        <p:spPr>
          <a:xfrm>
            <a:off x="410633" y="3928533"/>
            <a:ext cx="5398232" cy="1511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E91F12-533C-74B3-0B23-262E8BEE54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20"/>
          <a:stretch/>
        </p:blipFill>
        <p:spPr>
          <a:xfrm>
            <a:off x="5939366" y="3859335"/>
            <a:ext cx="5398231" cy="1564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5FFB7B-02A9-34C5-3241-5B6A0E96BB5B}"/>
              </a:ext>
            </a:extLst>
          </p:cNvPr>
          <p:cNvPicPr>
            <a:picLocks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49219" y="3461175"/>
            <a:ext cx="365760" cy="365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139A7B-E31D-A742-B0EE-DB86B7C60E10}"/>
              </a:ext>
            </a:extLst>
          </p:cNvPr>
          <p:cNvPicPr>
            <a:picLocks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25753" y="3454664"/>
            <a:ext cx="365760" cy="365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3ECAD9-DF92-E822-26AF-D205AB873902}"/>
              </a:ext>
            </a:extLst>
          </p:cNvPr>
          <p:cNvPicPr>
            <a:picLocks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60574" y="3454664"/>
            <a:ext cx="365760" cy="365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84792F-94A0-F66C-D0C9-0996D992BB7A}"/>
              </a:ext>
            </a:extLst>
          </p:cNvPr>
          <p:cNvPicPr>
            <a:picLocks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61337" y="3454664"/>
            <a:ext cx="365760" cy="365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B70080A-8AD8-E9AA-A3C5-715A4FEF9EA2}"/>
              </a:ext>
            </a:extLst>
          </p:cNvPr>
          <p:cNvPicPr>
            <a:picLocks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31141" y="3454664"/>
            <a:ext cx="365760" cy="3657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9B2851D-1951-0AB7-098A-F395672BC1F6}"/>
              </a:ext>
            </a:extLst>
          </p:cNvPr>
          <p:cNvPicPr>
            <a:picLocks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86546" y="3461175"/>
            <a:ext cx="365760" cy="3657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92A0576-757A-FE21-6966-6CECC81938EC}"/>
              </a:ext>
            </a:extLst>
          </p:cNvPr>
          <p:cNvPicPr>
            <a:picLocks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56350" y="3461175"/>
            <a:ext cx="365760" cy="3657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6979D40-5988-474E-B46E-6CFB1C419A5D}"/>
              </a:ext>
            </a:extLst>
          </p:cNvPr>
          <p:cNvPicPr>
            <a:picLocks/>
          </p:cNvPicPr>
          <p:nvPr/>
        </p:nvPicPr>
        <p:blipFill>
          <a:blip r:embed="rId10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661911" y="3464077"/>
            <a:ext cx="365760" cy="3657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D7654E3-EE74-4CA3-329F-8C81DB377DDA}"/>
              </a:ext>
            </a:extLst>
          </p:cNvPr>
          <p:cNvPicPr>
            <a:picLocks/>
          </p:cNvPicPr>
          <p:nvPr/>
        </p:nvPicPr>
        <p:blipFill>
          <a:blip r:embed="rId1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085377" y="3461175"/>
            <a:ext cx="365760" cy="3657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6B044C1-192D-557D-ACE5-885EBF1D4C52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418856" y="3461175"/>
            <a:ext cx="375782" cy="3657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6241E5A-C312-6508-609E-BA43F9ACD558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989162" y="3461175"/>
            <a:ext cx="370637" cy="3657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E238087-B534-0EB0-C3A1-12061DC992BC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90770" y="3461175"/>
            <a:ext cx="371139" cy="365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E26C18-4EEE-E845-1C17-4816864C39AE}"/>
              </a:ext>
            </a:extLst>
          </p:cNvPr>
          <p:cNvSpPr txBox="1"/>
          <p:nvPr/>
        </p:nvSpPr>
        <p:spPr>
          <a:xfrm>
            <a:off x="318959" y="1417514"/>
            <a:ext cx="2505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1. SELECTION OF PEOPLE</a:t>
            </a:r>
          </a:p>
          <a:p>
            <a:r>
              <a:rPr lang="es-ES_tradnl" dirty="0"/>
              <a:t>2. ACQUISITION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FA823-F14A-47BA-85F0-84256775314A}"/>
              </a:ext>
            </a:extLst>
          </p:cNvPr>
          <p:cNvSpPr txBox="1"/>
          <p:nvPr/>
        </p:nvSpPr>
        <p:spPr>
          <a:xfrm>
            <a:off x="678632" y="508439"/>
            <a:ext cx="7515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Splitting: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Considerar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grupos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“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disjuntos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986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50F80-3962-A0E3-02E5-D3E32FEC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38586F-0BB3-5B9A-DCA9-1DC6CE9DF4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6"/>
          <a:stretch/>
        </p:blipFill>
        <p:spPr>
          <a:xfrm>
            <a:off x="410633" y="3928533"/>
            <a:ext cx="5398232" cy="1511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22DE26-6BA8-B60B-A52D-73BB72894E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20"/>
          <a:stretch/>
        </p:blipFill>
        <p:spPr>
          <a:xfrm>
            <a:off x="5939366" y="3859335"/>
            <a:ext cx="5398231" cy="1564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6722D2-00CA-A8E7-F8C4-A417B1D9119A}"/>
              </a:ext>
            </a:extLst>
          </p:cNvPr>
          <p:cNvPicPr>
            <a:picLocks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52897" y="2296597"/>
            <a:ext cx="365760" cy="365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6AFE28-2339-4648-2CD7-B39BB9A4CD04}"/>
              </a:ext>
            </a:extLst>
          </p:cNvPr>
          <p:cNvPicPr>
            <a:picLocks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229431" y="2290086"/>
            <a:ext cx="365760" cy="365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6DE385-3AD1-2FE3-A089-32C5383A2ACF}"/>
              </a:ext>
            </a:extLst>
          </p:cNvPr>
          <p:cNvPicPr>
            <a:picLocks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67758" y="2290086"/>
            <a:ext cx="365760" cy="365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BA71A01-8C79-94B4-C5FD-DCC05ECD8239}"/>
              </a:ext>
            </a:extLst>
          </p:cNvPr>
          <p:cNvPicPr>
            <a:picLocks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35275" y="2297211"/>
            <a:ext cx="365760" cy="365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1EA95E-A392-20C4-1F87-975EC4994465}"/>
              </a:ext>
            </a:extLst>
          </p:cNvPr>
          <p:cNvPicPr>
            <a:picLocks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05079" y="2297211"/>
            <a:ext cx="365760" cy="3657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E2B2113-E182-5760-81EB-017DB293E6F6}"/>
              </a:ext>
            </a:extLst>
          </p:cNvPr>
          <p:cNvPicPr>
            <a:picLocks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226932" y="2290086"/>
            <a:ext cx="365760" cy="3657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C10BA2E-6AB8-3EAF-3C7A-F5CFE18873CF}"/>
              </a:ext>
            </a:extLst>
          </p:cNvPr>
          <p:cNvPicPr>
            <a:picLocks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96736" y="2290086"/>
            <a:ext cx="365760" cy="3657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7509A85-1D65-FE81-C87B-B173E937EF4A}"/>
              </a:ext>
            </a:extLst>
          </p:cNvPr>
          <p:cNvPicPr>
            <a:picLocks/>
          </p:cNvPicPr>
          <p:nvPr/>
        </p:nvPicPr>
        <p:blipFill>
          <a:blip r:embed="rId10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79125" y="2290086"/>
            <a:ext cx="365760" cy="3657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808089D-FBB4-8A7D-651C-9B0427048F30}"/>
              </a:ext>
            </a:extLst>
          </p:cNvPr>
          <p:cNvPicPr>
            <a:picLocks/>
          </p:cNvPicPr>
          <p:nvPr/>
        </p:nvPicPr>
        <p:blipFill>
          <a:blip r:embed="rId1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02591" y="2287184"/>
            <a:ext cx="365760" cy="3657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B946E44-F91C-D35D-B240-BF4AF785F01C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93181" y="2296597"/>
            <a:ext cx="375782" cy="3657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1925630-69EA-83AD-1F3A-C067FCE42A7D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63487" y="2296597"/>
            <a:ext cx="370637" cy="3657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720FD7C-7C13-4FBC-0571-C260FA1E5612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97954" y="2296597"/>
            <a:ext cx="371139" cy="365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3E1C08-DF2B-952C-A549-01AD56D84F08}"/>
              </a:ext>
            </a:extLst>
          </p:cNvPr>
          <p:cNvSpPr txBox="1"/>
          <p:nvPr/>
        </p:nvSpPr>
        <p:spPr>
          <a:xfrm>
            <a:off x="318959" y="1417514"/>
            <a:ext cx="28489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1. SELECTION OF PEOPLE</a:t>
            </a:r>
          </a:p>
          <a:p>
            <a:r>
              <a:rPr lang="es-ES_tradnl" dirty="0"/>
              <a:t>2. ACQUISITION</a:t>
            </a:r>
          </a:p>
          <a:p>
            <a:r>
              <a:rPr lang="es-ES_tradnl" dirty="0"/>
              <a:t>3. RANDOMIZE PER SUBJECT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7B0E6A-D958-0521-B7B0-9483A0760DBB}"/>
              </a:ext>
            </a:extLst>
          </p:cNvPr>
          <p:cNvSpPr txBox="1"/>
          <p:nvPr/>
        </p:nvSpPr>
        <p:spPr>
          <a:xfrm>
            <a:off x="678632" y="508439"/>
            <a:ext cx="7515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Splitting: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Considerar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grupos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“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disjuntos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3515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61F89-FE5D-4219-032D-79CD5621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F6AC2F-811A-37E7-64B8-EF1BCD40B7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6"/>
          <a:stretch/>
        </p:blipFill>
        <p:spPr>
          <a:xfrm>
            <a:off x="410633" y="3928533"/>
            <a:ext cx="5398232" cy="1511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65DF28-9A31-7051-A389-D15357BE1A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20"/>
          <a:stretch/>
        </p:blipFill>
        <p:spPr>
          <a:xfrm>
            <a:off x="5939366" y="3859335"/>
            <a:ext cx="5398231" cy="1564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199DE2-9385-774D-164D-DA5367420A36}"/>
              </a:ext>
            </a:extLst>
          </p:cNvPr>
          <p:cNvPicPr>
            <a:picLocks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79726" y="2296597"/>
            <a:ext cx="365760" cy="365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ECEA27-4E26-7FE3-3F8A-C6DA3222AA2A}"/>
              </a:ext>
            </a:extLst>
          </p:cNvPr>
          <p:cNvPicPr>
            <a:picLocks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956260" y="2290086"/>
            <a:ext cx="365760" cy="365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064F1A-94A1-92FB-B530-F8556C0216A7}"/>
              </a:ext>
            </a:extLst>
          </p:cNvPr>
          <p:cNvPicPr>
            <a:picLocks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86406" y="2290086"/>
            <a:ext cx="365760" cy="365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B53405-FA4A-ACD5-3CFC-7B3CC36B8F61}"/>
              </a:ext>
            </a:extLst>
          </p:cNvPr>
          <p:cNvPicPr>
            <a:picLocks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653923" y="2297211"/>
            <a:ext cx="365760" cy="365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9F7247-EA94-0050-4DA9-B0968DCE4E79}"/>
              </a:ext>
            </a:extLst>
          </p:cNvPr>
          <p:cNvPicPr>
            <a:picLocks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223727" y="2297211"/>
            <a:ext cx="365760" cy="3657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EF409BA-0891-63F7-9380-89073F97B8DC}"/>
              </a:ext>
            </a:extLst>
          </p:cNvPr>
          <p:cNvPicPr>
            <a:picLocks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45580" y="2290086"/>
            <a:ext cx="365760" cy="3657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3BD01B0-ED77-1D4D-4EF0-8DE12375EB0C}"/>
              </a:ext>
            </a:extLst>
          </p:cNvPr>
          <p:cNvPicPr>
            <a:picLocks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15384" y="2290086"/>
            <a:ext cx="365760" cy="3657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ED5A67B-CCB5-21C7-2227-CD7AE7A5D67A}"/>
              </a:ext>
            </a:extLst>
          </p:cNvPr>
          <p:cNvPicPr>
            <a:picLocks/>
          </p:cNvPicPr>
          <p:nvPr/>
        </p:nvPicPr>
        <p:blipFill>
          <a:blip r:embed="rId10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805954" y="2290086"/>
            <a:ext cx="365760" cy="3657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97BC093-5EE1-C96D-2F89-3FC068240083}"/>
              </a:ext>
            </a:extLst>
          </p:cNvPr>
          <p:cNvPicPr>
            <a:picLocks/>
          </p:cNvPicPr>
          <p:nvPr/>
        </p:nvPicPr>
        <p:blipFill>
          <a:blip r:embed="rId1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229420" y="2287184"/>
            <a:ext cx="365760" cy="3657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B4880FF-3509-79E6-BDC5-F237A52772F5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511829" y="2296597"/>
            <a:ext cx="375782" cy="3657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D494FBB-260A-FFAF-4987-50E0A5AF3194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082135" y="2296597"/>
            <a:ext cx="370637" cy="3657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991A5EE-8D31-5B06-0A79-FD593F3FED9B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16602" y="2296597"/>
            <a:ext cx="371139" cy="365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3F2432-DCFB-25FA-4686-53850D1652F7}"/>
              </a:ext>
            </a:extLst>
          </p:cNvPr>
          <p:cNvSpPr txBox="1"/>
          <p:nvPr/>
        </p:nvSpPr>
        <p:spPr>
          <a:xfrm>
            <a:off x="318959" y="1417514"/>
            <a:ext cx="28489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1. SELECTION OF PEOPLE</a:t>
            </a:r>
          </a:p>
          <a:p>
            <a:r>
              <a:rPr lang="es-ES_tradnl" dirty="0"/>
              <a:t>2. ACQUISITION</a:t>
            </a:r>
          </a:p>
          <a:p>
            <a:r>
              <a:rPr lang="es-ES_tradnl" dirty="0"/>
              <a:t>3. RANDOMIZE PER SUBJECT</a:t>
            </a:r>
          </a:p>
          <a:p>
            <a:r>
              <a:rPr lang="es-ES_tradnl" dirty="0"/>
              <a:t>4. SPLITTING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8C3FEF-4671-8185-131F-5254C097FC49}"/>
              </a:ext>
            </a:extLst>
          </p:cNvPr>
          <p:cNvSpPr txBox="1"/>
          <p:nvPr/>
        </p:nvSpPr>
        <p:spPr>
          <a:xfrm>
            <a:off x="4556769" y="1758463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B9E8F-20B4-B4E5-003E-AA508D614C60}"/>
              </a:ext>
            </a:extLst>
          </p:cNvPr>
          <p:cNvSpPr txBox="1"/>
          <p:nvPr/>
        </p:nvSpPr>
        <p:spPr>
          <a:xfrm>
            <a:off x="8199033" y="1758463"/>
            <a:ext cx="975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TESTING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BE5C9AD-D1DD-73B6-F6D1-EAA69D9D3104}"/>
              </a:ext>
            </a:extLst>
          </p:cNvPr>
          <p:cNvGrpSpPr/>
          <p:nvPr/>
        </p:nvGrpSpPr>
        <p:grpSpPr>
          <a:xfrm>
            <a:off x="4075280" y="590090"/>
            <a:ext cx="4947984" cy="5460050"/>
            <a:chOff x="4075280" y="590090"/>
            <a:chExt cx="4947984" cy="546005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8654595-932D-2FE9-65E1-F27B1AD4D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075280" y="590090"/>
              <a:ext cx="4947984" cy="459244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22AD25-F749-663F-C9A6-75D232FD59DB}"/>
                </a:ext>
              </a:extLst>
            </p:cNvPr>
            <p:cNvSpPr txBox="1"/>
            <p:nvPr/>
          </p:nvSpPr>
          <p:spPr>
            <a:xfrm>
              <a:off x="5613962" y="5342254"/>
              <a:ext cx="81144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4000" b="1" dirty="0">
                  <a:solidFill>
                    <a:srgbClr val="00B050"/>
                  </a:solidFill>
                </a:rPr>
                <a:t>OK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F83F663-89F3-CF67-A1D4-02D3F13A68FB}"/>
              </a:ext>
            </a:extLst>
          </p:cNvPr>
          <p:cNvSpPr txBox="1"/>
          <p:nvPr/>
        </p:nvSpPr>
        <p:spPr>
          <a:xfrm>
            <a:off x="7437695" y="3111502"/>
            <a:ext cx="2683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TYPICAL ACCURACY  &lt; 80%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D32A37-FA4D-0476-F53A-A69A73340AB7}"/>
              </a:ext>
            </a:extLst>
          </p:cNvPr>
          <p:cNvSpPr txBox="1"/>
          <p:nvPr/>
        </p:nvSpPr>
        <p:spPr>
          <a:xfrm>
            <a:off x="678632" y="508439"/>
            <a:ext cx="7515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Splitting: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Considerar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grupos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 “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disjuntos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238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79BC8-CBDE-A412-8D5F-9A39BF3D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5932AC-1DB2-1A0B-6129-1C4F88083847}"/>
              </a:ext>
            </a:extLst>
          </p:cNvPr>
          <p:cNvSpPr txBox="1"/>
          <p:nvPr/>
        </p:nvSpPr>
        <p:spPr>
          <a:xfrm>
            <a:off x="678632" y="508439"/>
            <a:ext cx="738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Generalización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: 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Datos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Representativos</a:t>
            </a:r>
            <a:endParaRPr lang="en-US" sz="3600" dirty="0">
              <a:solidFill>
                <a:srgbClr val="0070C0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935317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DE4C8B6-BEF3-4C41-A127-4A2E7507B6C1}"/>
              </a:ext>
            </a:extLst>
          </p:cNvPr>
          <p:cNvGrpSpPr/>
          <p:nvPr/>
        </p:nvGrpSpPr>
        <p:grpSpPr>
          <a:xfrm>
            <a:off x="-1" y="1342060"/>
            <a:ext cx="12210077" cy="4922598"/>
            <a:chOff x="-1" y="1342060"/>
            <a:chExt cx="12210077" cy="492259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CFBC622-5117-ED42-8CF0-875550187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342060"/>
              <a:ext cx="12192000" cy="4615962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BC8CBE7-FEBE-164F-8C3F-05A37BE79994}"/>
                </a:ext>
              </a:extLst>
            </p:cNvPr>
            <p:cNvSpPr txBox="1"/>
            <p:nvPr/>
          </p:nvSpPr>
          <p:spPr>
            <a:xfrm>
              <a:off x="241740" y="1366894"/>
              <a:ext cx="1231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Classes → 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4CE665E-611F-3947-A7E6-7A5DEF46666E}"/>
                </a:ext>
              </a:extLst>
            </p:cNvPr>
            <p:cNvSpPr/>
            <p:nvPr/>
          </p:nvSpPr>
          <p:spPr>
            <a:xfrm>
              <a:off x="441434" y="1965756"/>
              <a:ext cx="3026980" cy="3016469"/>
            </a:xfrm>
            <a:prstGeom prst="rect">
              <a:avLst/>
            </a:prstGeom>
            <a:noFill/>
            <a:ln w="41275">
              <a:solidFill>
                <a:srgbClr val="0432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ll Sans MT" panose="020B0502020104020203" pitchFamily="34" charset="77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A293475-5524-BE4A-B57A-645C4D181B26}"/>
                </a:ext>
              </a:extLst>
            </p:cNvPr>
            <p:cNvSpPr/>
            <p:nvPr/>
          </p:nvSpPr>
          <p:spPr>
            <a:xfrm>
              <a:off x="4708634" y="1916311"/>
              <a:ext cx="3026980" cy="3016469"/>
            </a:xfrm>
            <a:prstGeom prst="rect">
              <a:avLst/>
            </a:prstGeom>
            <a:noFill/>
            <a:ln w="41275">
              <a:solidFill>
                <a:srgbClr val="0432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ll Sans MT" panose="020B0502020104020203" pitchFamily="34" charset="77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381A046-48D5-CA4D-AFD1-C53FCD5BACE3}"/>
                </a:ext>
              </a:extLst>
            </p:cNvPr>
            <p:cNvSpPr/>
            <p:nvPr/>
          </p:nvSpPr>
          <p:spPr>
            <a:xfrm>
              <a:off x="8815195" y="1965755"/>
              <a:ext cx="3026980" cy="3016469"/>
            </a:xfrm>
            <a:prstGeom prst="rect">
              <a:avLst/>
            </a:prstGeom>
            <a:noFill/>
            <a:ln w="41275">
              <a:solidFill>
                <a:srgbClr val="0432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ll Sans MT" panose="020B0502020104020203" pitchFamily="34" charset="77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CE1DD24-B81D-9246-A683-0756FA4B737A}"/>
                </a:ext>
              </a:extLst>
            </p:cNvPr>
            <p:cNvSpPr/>
            <p:nvPr/>
          </p:nvSpPr>
          <p:spPr>
            <a:xfrm>
              <a:off x="-1" y="5563976"/>
              <a:ext cx="3830595" cy="369332"/>
            </a:xfrm>
            <a:prstGeom prst="rect">
              <a:avLst/>
            </a:prstGeom>
            <a:noFill/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ll Sans MT" panose="020B0502020104020203" pitchFamily="34" charset="77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989903E-E844-EC4B-9917-F7D0249F8F69}"/>
                </a:ext>
              </a:extLst>
            </p:cNvPr>
            <p:cNvSpPr/>
            <p:nvPr/>
          </p:nvSpPr>
          <p:spPr>
            <a:xfrm>
              <a:off x="4331766" y="5551619"/>
              <a:ext cx="3830595" cy="369332"/>
            </a:xfrm>
            <a:prstGeom prst="rect">
              <a:avLst/>
            </a:prstGeom>
            <a:noFill/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981B7F-BA8F-4741-8F62-4EDCCC0AAC8D}"/>
                </a:ext>
              </a:extLst>
            </p:cNvPr>
            <p:cNvSpPr/>
            <p:nvPr/>
          </p:nvSpPr>
          <p:spPr>
            <a:xfrm>
              <a:off x="8361405" y="5546746"/>
              <a:ext cx="3830595" cy="369332"/>
            </a:xfrm>
            <a:prstGeom prst="rect">
              <a:avLst/>
            </a:prstGeom>
            <a:noFill/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ll Sans MT" panose="020B0502020104020203" pitchFamily="34" charset="77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E38042C-CC37-C140-84F0-BE0D8A20ADDA}"/>
                </a:ext>
              </a:extLst>
            </p:cNvPr>
            <p:cNvCxnSpPr/>
            <p:nvPr/>
          </p:nvCxnSpPr>
          <p:spPr>
            <a:xfrm>
              <a:off x="0" y="6082547"/>
              <a:ext cx="383059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53505C4-9936-E94B-B6E0-423805DDD0AF}"/>
                </a:ext>
              </a:extLst>
            </p:cNvPr>
            <p:cNvSpPr txBox="1"/>
            <p:nvPr/>
          </p:nvSpPr>
          <p:spPr>
            <a:xfrm>
              <a:off x="1773270" y="5968423"/>
              <a:ext cx="30489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ill Sans MT" panose="020B0502020104020203" pitchFamily="34" charset="77"/>
                </a:rPr>
                <a:t>N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6C13EE0-A9A6-994F-AD10-12929D2AD45C}"/>
                </a:ext>
              </a:extLst>
            </p:cNvPr>
            <p:cNvCxnSpPr/>
            <p:nvPr/>
          </p:nvCxnSpPr>
          <p:spPr>
            <a:xfrm>
              <a:off x="4331767" y="6082828"/>
              <a:ext cx="383059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1A6FF9E-E997-3242-B94B-5D1A31FA2616}"/>
                </a:ext>
              </a:extLst>
            </p:cNvPr>
            <p:cNvSpPr txBox="1"/>
            <p:nvPr/>
          </p:nvSpPr>
          <p:spPr>
            <a:xfrm>
              <a:off x="6105037" y="5968704"/>
              <a:ext cx="30489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ill Sans MT" panose="020B0502020104020203" pitchFamily="34" charset="77"/>
                </a:rPr>
                <a:t>N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43D4515-EB65-9742-841B-C953392B6905}"/>
                </a:ext>
              </a:extLst>
            </p:cNvPr>
            <p:cNvCxnSpPr/>
            <p:nvPr/>
          </p:nvCxnSpPr>
          <p:spPr>
            <a:xfrm>
              <a:off x="8379482" y="6101783"/>
              <a:ext cx="383059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B70280C-C71A-D04F-87EE-276D363164DF}"/>
                </a:ext>
              </a:extLst>
            </p:cNvPr>
            <p:cNvSpPr txBox="1"/>
            <p:nvPr/>
          </p:nvSpPr>
          <p:spPr>
            <a:xfrm>
              <a:off x="10152752" y="5987659"/>
              <a:ext cx="30489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ill Sans MT" panose="020B0502020104020203" pitchFamily="34" charset="77"/>
                </a:rPr>
                <a:t>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03A8202-43A3-1B41-8533-00E8C4CEE7A1}"/>
                </a:ext>
              </a:extLst>
            </p:cNvPr>
            <p:cNvSpPr txBox="1"/>
            <p:nvPr/>
          </p:nvSpPr>
          <p:spPr>
            <a:xfrm>
              <a:off x="887703" y="2132883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  <a:latin typeface="Gill Sans MT" panose="020B0502020104020203" pitchFamily="34" charset="77"/>
                </a:rPr>
                <a:t>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A60C162-5AF0-D847-89A3-7B756C5F3797}"/>
                </a:ext>
              </a:extLst>
            </p:cNvPr>
            <p:cNvSpPr txBox="1"/>
            <p:nvPr/>
          </p:nvSpPr>
          <p:spPr>
            <a:xfrm>
              <a:off x="990675" y="269306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  <a:latin typeface="Gill Sans MT" panose="020B0502020104020203" pitchFamily="34" charset="77"/>
                </a:rPr>
                <a:t>2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5CA50ED-3DF6-334A-8A56-74FD6B6A841D}"/>
                </a:ext>
              </a:extLst>
            </p:cNvPr>
            <p:cNvSpPr txBox="1"/>
            <p:nvPr/>
          </p:nvSpPr>
          <p:spPr>
            <a:xfrm>
              <a:off x="1464355" y="464955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  <a:latin typeface="Gill Sans MT" panose="020B0502020104020203" pitchFamily="34" charset="77"/>
                </a:rPr>
                <a:t>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FF060B2-FBA8-1247-AD8E-1AB6A26855B4}"/>
                </a:ext>
              </a:extLst>
            </p:cNvPr>
            <p:cNvSpPr txBox="1"/>
            <p:nvPr/>
          </p:nvSpPr>
          <p:spPr>
            <a:xfrm>
              <a:off x="661157" y="29690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  <a:latin typeface="Gill Sans MT" panose="020B0502020104020203" pitchFamily="34" charset="77"/>
                </a:rPr>
                <a:t>3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1A978C6-94DB-9440-BC87-480828D72F07}"/>
                </a:ext>
              </a:extLst>
            </p:cNvPr>
            <p:cNvSpPr txBox="1"/>
            <p:nvPr/>
          </p:nvSpPr>
          <p:spPr>
            <a:xfrm>
              <a:off x="1295475" y="341799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  <a:latin typeface="Gill Sans MT" panose="020B0502020104020203" pitchFamily="34" charset="77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AA5F3D04-D683-7642-8144-06A2DF7F832F}"/>
              </a:ext>
            </a:extLst>
          </p:cNvPr>
          <p:cNvSpPr txBox="1"/>
          <p:nvPr/>
        </p:nvSpPr>
        <p:spPr>
          <a:xfrm>
            <a:off x="71850" y="151252"/>
            <a:ext cx="60212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Image Classification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Example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5094C6-91E6-354B-88C5-1D3AA86A1A73}"/>
              </a:ext>
            </a:extLst>
          </p:cNvPr>
          <p:cNvSpPr txBox="1"/>
          <p:nvPr/>
        </p:nvSpPr>
        <p:spPr>
          <a:xfrm>
            <a:off x="6581614" y="148927"/>
            <a:ext cx="5210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dirty="0">
                <a:latin typeface="Gill Sans MT" panose="020B0502020104020203" pitchFamily="34" charset="77"/>
                <a:cs typeface="Trebuchet MS"/>
              </a:rPr>
              <a:t>COVID Detection with Rx</a:t>
            </a:r>
            <a:endParaRPr lang="en-US" sz="2800" dirty="0">
              <a:solidFill>
                <a:srgbClr val="0096FF"/>
              </a:solidFill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69844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A7A77-5E17-4D5E-315D-5DE148797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562F6C6-7652-5648-00B4-F92CAF5660B9}"/>
              </a:ext>
            </a:extLst>
          </p:cNvPr>
          <p:cNvSpPr/>
          <p:nvPr/>
        </p:nvSpPr>
        <p:spPr>
          <a:xfrm>
            <a:off x="398585" y="2110157"/>
            <a:ext cx="3001107" cy="35403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3DADA-A325-0460-C5C6-0E68496B1E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6"/>
          <a:stretch/>
        </p:blipFill>
        <p:spPr>
          <a:xfrm>
            <a:off x="678632" y="2603970"/>
            <a:ext cx="2449798" cy="686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B7D68E-0B53-9EFE-4362-F438A7B3BE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20"/>
          <a:stretch/>
        </p:blipFill>
        <p:spPr>
          <a:xfrm>
            <a:off x="678632" y="3537492"/>
            <a:ext cx="2449798" cy="7098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238E7C-3466-82C8-1672-19ED2F97C6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6"/>
          <a:stretch/>
        </p:blipFill>
        <p:spPr>
          <a:xfrm flipH="1">
            <a:off x="608294" y="4494733"/>
            <a:ext cx="2449798" cy="6861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86EA6D7-F054-DB66-10C2-9A51B9262224}"/>
              </a:ext>
            </a:extLst>
          </p:cNvPr>
          <p:cNvSpPr txBox="1"/>
          <p:nvPr/>
        </p:nvSpPr>
        <p:spPr>
          <a:xfrm>
            <a:off x="1312985" y="1547449"/>
            <a:ext cx="1274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HOSPITAL 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021CC5D-A9EC-8819-10C8-E771B5C33706}"/>
              </a:ext>
            </a:extLst>
          </p:cNvPr>
          <p:cNvSpPr/>
          <p:nvPr/>
        </p:nvSpPr>
        <p:spPr>
          <a:xfrm>
            <a:off x="7819294" y="2110157"/>
            <a:ext cx="3001107" cy="35403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85420C-36F6-1ABC-9E16-340FB363B9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6"/>
          <a:stretch/>
        </p:blipFill>
        <p:spPr>
          <a:xfrm flipH="1">
            <a:off x="8099340" y="2589298"/>
            <a:ext cx="2375067" cy="6861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D428DA-5DCD-5947-2A89-B835F4CFCB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20"/>
          <a:stretch/>
        </p:blipFill>
        <p:spPr>
          <a:xfrm>
            <a:off x="8099341" y="3537492"/>
            <a:ext cx="2449798" cy="70986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DCF74D1-4251-1B94-012C-FD22171083AF}"/>
              </a:ext>
            </a:extLst>
          </p:cNvPr>
          <p:cNvSpPr txBox="1"/>
          <p:nvPr/>
        </p:nvSpPr>
        <p:spPr>
          <a:xfrm>
            <a:off x="8733694" y="1547449"/>
            <a:ext cx="1274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HOSPITAL B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A359C5B-E3CF-A721-B34C-BF5E09E3FF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20"/>
          <a:stretch/>
        </p:blipFill>
        <p:spPr>
          <a:xfrm flipH="1">
            <a:off x="8024610" y="4440734"/>
            <a:ext cx="2449798" cy="709866"/>
          </a:xfrm>
          <a:prstGeom prst="rect">
            <a:avLst/>
          </a:prstGeom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DA0B30B-E1DE-7CC9-09D1-C1A326BBFE57}"/>
              </a:ext>
            </a:extLst>
          </p:cNvPr>
          <p:cNvSpPr/>
          <p:nvPr/>
        </p:nvSpPr>
        <p:spPr>
          <a:xfrm>
            <a:off x="4366847" y="3643617"/>
            <a:ext cx="2485292" cy="11898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/>
              <a:t>TRAINING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8CE3F4-2466-48A7-8B93-69172B10B386}"/>
              </a:ext>
            </a:extLst>
          </p:cNvPr>
          <p:cNvSpPr txBox="1"/>
          <p:nvPr/>
        </p:nvSpPr>
        <p:spPr>
          <a:xfrm>
            <a:off x="5166102" y="5658856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MODEL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CD446C7-217B-FF8C-4736-2839955D411C}"/>
              </a:ext>
            </a:extLst>
          </p:cNvPr>
          <p:cNvCxnSpPr>
            <a:stCxn id="27" idx="2"/>
          </p:cNvCxnSpPr>
          <p:nvPr/>
        </p:nvCxnSpPr>
        <p:spPr>
          <a:xfrm>
            <a:off x="5609493" y="4833509"/>
            <a:ext cx="0" cy="548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8FCCE71C-3656-ED80-3321-5290FEC6A8AD}"/>
              </a:ext>
            </a:extLst>
          </p:cNvPr>
          <p:cNvCxnSpPr>
            <a:stCxn id="5" idx="3"/>
            <a:endCxn id="27" idx="0"/>
          </p:cNvCxnSpPr>
          <p:nvPr/>
        </p:nvCxnSpPr>
        <p:spPr>
          <a:xfrm>
            <a:off x="3128430" y="2947044"/>
            <a:ext cx="2481063" cy="6965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E15D4FF-7A55-BCB5-E721-698C9291D2C6}"/>
              </a:ext>
            </a:extLst>
          </p:cNvPr>
          <p:cNvGrpSpPr/>
          <p:nvPr/>
        </p:nvGrpSpPr>
        <p:grpSpPr>
          <a:xfrm>
            <a:off x="1266092" y="773722"/>
            <a:ext cx="9284677" cy="5275386"/>
            <a:chOff x="1266092" y="773722"/>
            <a:chExt cx="9284677" cy="5275386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2D7DE4B-16AF-D8A8-8247-F67EEE5CA9D6}"/>
                </a:ext>
              </a:extLst>
            </p:cNvPr>
            <p:cNvCxnSpPr/>
            <p:nvPr/>
          </p:nvCxnSpPr>
          <p:spPr>
            <a:xfrm>
              <a:off x="1266092" y="773723"/>
              <a:ext cx="8909539" cy="5275385"/>
            </a:xfrm>
            <a:prstGeom prst="line">
              <a:avLst/>
            </a:prstGeom>
            <a:ln w="146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B8970C-64E2-8D8A-4441-9EB55B4B28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230" y="773722"/>
              <a:ext cx="8909539" cy="5275385"/>
            </a:xfrm>
            <a:prstGeom prst="line">
              <a:avLst/>
            </a:prstGeom>
            <a:ln w="146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DB7D465-B63A-4485-DAFA-CB29940AFB8F}"/>
              </a:ext>
            </a:extLst>
          </p:cNvPr>
          <p:cNvSpPr txBox="1"/>
          <p:nvPr/>
        </p:nvSpPr>
        <p:spPr>
          <a:xfrm>
            <a:off x="678632" y="508439"/>
            <a:ext cx="738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Generalización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: 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Datos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Representativos</a:t>
            </a:r>
            <a:endParaRPr lang="en-US" sz="3600" dirty="0">
              <a:solidFill>
                <a:srgbClr val="0070C0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30402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22BB5-7DA3-6D1E-38E5-35359114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3EE4F1-C31D-8ED9-DC1B-8B58F499597E}"/>
              </a:ext>
            </a:extLst>
          </p:cNvPr>
          <p:cNvSpPr/>
          <p:nvPr/>
        </p:nvSpPr>
        <p:spPr>
          <a:xfrm>
            <a:off x="398585" y="2110157"/>
            <a:ext cx="3001107" cy="35403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9309AB-68F7-B4BD-0EDC-9C14155FEA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6"/>
          <a:stretch/>
        </p:blipFill>
        <p:spPr>
          <a:xfrm>
            <a:off x="678632" y="2603970"/>
            <a:ext cx="2449798" cy="686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2D51BF-85B8-0944-2E95-7481C60874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20"/>
          <a:stretch/>
        </p:blipFill>
        <p:spPr>
          <a:xfrm>
            <a:off x="678632" y="3537492"/>
            <a:ext cx="2449798" cy="7098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8F45BA-A58E-DB21-8C95-67F827E286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6"/>
          <a:stretch/>
        </p:blipFill>
        <p:spPr>
          <a:xfrm flipH="1">
            <a:off x="608294" y="4494733"/>
            <a:ext cx="2449798" cy="6861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876BA46-6EB4-0017-E04B-269A0D7D48A5}"/>
              </a:ext>
            </a:extLst>
          </p:cNvPr>
          <p:cNvSpPr txBox="1"/>
          <p:nvPr/>
        </p:nvSpPr>
        <p:spPr>
          <a:xfrm>
            <a:off x="1312985" y="1547449"/>
            <a:ext cx="1274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HOSPITAL 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7A1FB25-29DF-E665-4422-5FE4B4E5C957}"/>
              </a:ext>
            </a:extLst>
          </p:cNvPr>
          <p:cNvSpPr/>
          <p:nvPr/>
        </p:nvSpPr>
        <p:spPr>
          <a:xfrm>
            <a:off x="7819294" y="2110157"/>
            <a:ext cx="3001107" cy="35403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23195B-97FB-F8F4-7F84-B5626140A1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6"/>
          <a:stretch/>
        </p:blipFill>
        <p:spPr>
          <a:xfrm flipH="1">
            <a:off x="8099340" y="2589298"/>
            <a:ext cx="2375067" cy="6861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84A418D-56C0-F8B9-9A90-E4D30980DA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20"/>
          <a:stretch/>
        </p:blipFill>
        <p:spPr>
          <a:xfrm>
            <a:off x="8099341" y="3537492"/>
            <a:ext cx="2449798" cy="70986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354A51B-B1FD-378D-D041-AE413DD075E3}"/>
              </a:ext>
            </a:extLst>
          </p:cNvPr>
          <p:cNvSpPr txBox="1"/>
          <p:nvPr/>
        </p:nvSpPr>
        <p:spPr>
          <a:xfrm>
            <a:off x="8733694" y="1547449"/>
            <a:ext cx="1274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HOSPITAL B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D0689A9-F289-8EA1-270B-C3565BD3CF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20"/>
          <a:stretch/>
        </p:blipFill>
        <p:spPr>
          <a:xfrm flipH="1">
            <a:off x="8024610" y="4440734"/>
            <a:ext cx="2449798" cy="709866"/>
          </a:xfrm>
          <a:prstGeom prst="rect">
            <a:avLst/>
          </a:prstGeom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D87D374-8672-D2DB-687D-453E73A86A55}"/>
              </a:ext>
            </a:extLst>
          </p:cNvPr>
          <p:cNvSpPr/>
          <p:nvPr/>
        </p:nvSpPr>
        <p:spPr>
          <a:xfrm>
            <a:off x="4366847" y="3643617"/>
            <a:ext cx="2485292" cy="11898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/>
              <a:t>TRAINING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64D01A-664B-4221-A703-20E04C2517D8}"/>
              </a:ext>
            </a:extLst>
          </p:cNvPr>
          <p:cNvSpPr txBox="1"/>
          <p:nvPr/>
        </p:nvSpPr>
        <p:spPr>
          <a:xfrm>
            <a:off x="5166102" y="5658856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MODEL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FE2AA7F-5DAA-5AC8-BD37-F08669A08750}"/>
              </a:ext>
            </a:extLst>
          </p:cNvPr>
          <p:cNvCxnSpPr>
            <a:stCxn id="27" idx="2"/>
          </p:cNvCxnSpPr>
          <p:nvPr/>
        </p:nvCxnSpPr>
        <p:spPr>
          <a:xfrm>
            <a:off x="5609493" y="4833509"/>
            <a:ext cx="0" cy="548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Elbow Connector 1">
            <a:extLst>
              <a:ext uri="{FF2B5EF4-FFF2-40B4-BE49-F238E27FC236}">
                <a16:creationId xmlns:a16="http://schemas.microsoft.com/office/drawing/2014/main" id="{DD8026C2-02AC-5DB5-5906-0FEF99572F56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128430" y="2947044"/>
            <a:ext cx="1918358" cy="696573"/>
          </a:xfrm>
          <a:prstGeom prst="bentConnector3">
            <a:avLst>
              <a:gd name="adj1" fmla="val 999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A2FA4B1A-DFE6-7D37-AC10-000D5B877280}"/>
              </a:ext>
            </a:extLst>
          </p:cNvPr>
          <p:cNvCxnSpPr>
            <a:cxnSpLocks/>
          </p:cNvCxnSpPr>
          <p:nvPr/>
        </p:nvCxnSpPr>
        <p:spPr>
          <a:xfrm flipH="1">
            <a:off x="5961644" y="2947044"/>
            <a:ext cx="1918358" cy="696573"/>
          </a:xfrm>
          <a:prstGeom prst="bentConnector3">
            <a:avLst>
              <a:gd name="adj1" fmla="val 999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87BACA3-8E66-9D78-0BA8-10F0352C1011}"/>
              </a:ext>
            </a:extLst>
          </p:cNvPr>
          <p:cNvGrpSpPr/>
          <p:nvPr/>
        </p:nvGrpSpPr>
        <p:grpSpPr>
          <a:xfrm>
            <a:off x="4276675" y="45713"/>
            <a:ext cx="2776859" cy="2624293"/>
            <a:chOff x="4075280" y="590090"/>
            <a:chExt cx="4947984" cy="546005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271E8D6-531C-A9A9-A4E8-F97FED3E2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075280" y="590090"/>
              <a:ext cx="4947984" cy="459244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73F8C5-68F6-28A9-6378-1571C65A8736}"/>
                </a:ext>
              </a:extLst>
            </p:cNvPr>
            <p:cNvSpPr txBox="1"/>
            <p:nvPr/>
          </p:nvSpPr>
          <p:spPr>
            <a:xfrm>
              <a:off x="5613962" y="5342254"/>
              <a:ext cx="81144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4000" b="1" dirty="0">
                  <a:solidFill>
                    <a:srgbClr val="00B050"/>
                  </a:solidFill>
                </a:rPr>
                <a:t>OK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C76CCF5-A6CC-F0A7-925E-1AEBB7AA93B2}"/>
              </a:ext>
            </a:extLst>
          </p:cNvPr>
          <p:cNvSpPr txBox="1"/>
          <p:nvPr/>
        </p:nvSpPr>
        <p:spPr>
          <a:xfrm>
            <a:off x="678632" y="508439"/>
            <a:ext cx="738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Generalización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: </a:t>
            </a:r>
            <a:r>
              <a:rPr lang="en-US" sz="3600" dirty="0">
                <a:solidFill>
                  <a:srgbClr val="0070C0"/>
                </a:solidFill>
                <a:latin typeface="Gill Sans MT" panose="020B0502020104020203" pitchFamily="34" charset="77"/>
              </a:rPr>
              <a:t>Datos </a:t>
            </a:r>
            <a:r>
              <a:rPr lang="en-US" sz="36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Representativos</a:t>
            </a:r>
            <a:endParaRPr lang="en-US" sz="3600" dirty="0">
              <a:solidFill>
                <a:srgbClr val="0070C0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78995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AA90B-E22C-6E99-91BA-BF7501B1F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D1D5-D84B-FAC5-AC57-BC7ED7BC7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6406"/>
            <a:ext cx="10515600" cy="1745188"/>
          </a:xfrm>
        </p:spPr>
        <p:txBody>
          <a:bodyPr>
            <a:norm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Desarrollo de un Proyecto</a:t>
            </a:r>
            <a:br>
              <a:rPr lang="en-CL" dirty="0">
                <a:latin typeface="Gill Sans MT" panose="020B0502020104020203" pitchFamily="34" charset="77"/>
              </a:rPr>
            </a:br>
            <a:br>
              <a:rPr lang="en-CL" dirty="0">
                <a:latin typeface="Gill Sans MT" panose="020B0502020104020203" pitchFamily="34" charset="77"/>
              </a:rPr>
            </a:br>
            <a:r>
              <a:rPr lang="en-CL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(Ejemplo: Reconocimiento de Iris)</a:t>
            </a:r>
          </a:p>
        </p:txBody>
      </p:sp>
    </p:spTree>
    <p:extLst>
      <p:ext uri="{BB962C8B-B14F-4D97-AF65-F5344CB8AC3E}">
        <p14:creationId xmlns:p14="http://schemas.microsoft.com/office/powerpoint/2010/main" val="7867941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Arrow 3">
            <a:extLst>
              <a:ext uri="{FF2B5EF4-FFF2-40B4-BE49-F238E27FC236}">
                <a16:creationId xmlns:a16="http://schemas.microsoft.com/office/drawing/2014/main" id="{54591C4D-F7D4-B3D3-9283-A16B86BFA48A}"/>
              </a:ext>
            </a:extLst>
          </p:cNvPr>
          <p:cNvSpPr/>
          <p:nvPr/>
        </p:nvSpPr>
        <p:spPr>
          <a:xfrm>
            <a:off x="6357179" y="3404050"/>
            <a:ext cx="432487" cy="4201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1B401-1F0F-39B3-48E0-FBEAB0B5C0FA}"/>
              </a:ext>
            </a:extLst>
          </p:cNvPr>
          <p:cNvSpPr txBox="1"/>
          <p:nvPr/>
        </p:nvSpPr>
        <p:spPr>
          <a:xfrm>
            <a:off x="7338646" y="3229393"/>
            <a:ext cx="30738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400" dirty="0"/>
              <a:t>PERSONA 27</a:t>
            </a:r>
          </a:p>
        </p:txBody>
      </p:sp>
      <p:pic>
        <p:nvPicPr>
          <p:cNvPr id="6" name="Picture 2" descr="Cómo Fotografiar los Ojos de una Persona desde muy Cerca">
            <a:extLst>
              <a:ext uri="{FF2B5EF4-FFF2-40B4-BE49-F238E27FC236}">
                <a16:creationId xmlns:a16="http://schemas.microsoft.com/office/drawing/2014/main" id="{33012BD3-C418-5DF3-F151-ED463FA569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1" t="6066" r="20975" b="11413"/>
          <a:stretch/>
        </p:blipFill>
        <p:spPr bwMode="auto">
          <a:xfrm>
            <a:off x="812946" y="1384655"/>
            <a:ext cx="4737743" cy="4458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47425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D996CE-5EAA-0742-8003-AACED81A7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2723"/>
            <a:ext cx="12192000" cy="421255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7A44C32-00C6-DD49-BBFD-37C58035CDCB}"/>
              </a:ext>
            </a:extLst>
          </p:cNvPr>
          <p:cNvGrpSpPr/>
          <p:nvPr/>
        </p:nvGrpSpPr>
        <p:grpSpPr>
          <a:xfrm>
            <a:off x="3433010" y="575438"/>
            <a:ext cx="4209367" cy="461665"/>
            <a:chOff x="3433010" y="575438"/>
            <a:chExt cx="4209367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F9C4F9-68EA-2C49-A93D-6F7E69959FE8}"/>
                </a:ext>
              </a:extLst>
            </p:cNvPr>
            <p:cNvSpPr txBox="1"/>
            <p:nvPr/>
          </p:nvSpPr>
          <p:spPr>
            <a:xfrm>
              <a:off x="4242857" y="575438"/>
              <a:ext cx="33995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9300"/>
                  </a:solidFill>
                  <a:latin typeface="Trebuchet MS" panose="020B0703020202090204" pitchFamily="34" charset="0"/>
                </a:rPr>
                <a:t>AVANZAR POR BLOQUES</a:t>
              </a:r>
            </a:p>
          </p:txBody>
        </p: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54102C5C-E00D-E547-926A-DBC37A5DE9BA}"/>
                </a:ext>
              </a:extLst>
            </p:cNvPr>
            <p:cNvSpPr/>
            <p:nvPr/>
          </p:nvSpPr>
          <p:spPr>
            <a:xfrm>
              <a:off x="3433010" y="637827"/>
              <a:ext cx="641684" cy="336885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4A12DA8-6E0E-B740-A8E2-FB3A434BCF06}"/>
              </a:ext>
            </a:extLst>
          </p:cNvPr>
          <p:cNvGrpSpPr/>
          <p:nvPr/>
        </p:nvGrpSpPr>
        <p:grpSpPr>
          <a:xfrm>
            <a:off x="745990" y="5758508"/>
            <a:ext cx="10283579" cy="461665"/>
            <a:chOff x="745990" y="5758508"/>
            <a:chExt cx="10283579" cy="46166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3337BE-DE4F-DE4C-8BEB-DC6015803911}"/>
                </a:ext>
              </a:extLst>
            </p:cNvPr>
            <p:cNvSpPr txBox="1"/>
            <p:nvPr/>
          </p:nvSpPr>
          <p:spPr>
            <a:xfrm>
              <a:off x="1447972" y="5758508"/>
              <a:ext cx="95815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9300"/>
                  </a:solidFill>
                  <a:latin typeface="Trebuchet MS" panose="020B0703020202090204" pitchFamily="34" charset="0"/>
                </a:rPr>
                <a:t>CADA BLOQUE GUARDADO EN LA NUBE, INDEXADO, DE FÁCIL ACCESO</a:t>
              </a:r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030523FD-85FB-4C4E-9669-E1C9987CAB36}"/>
                </a:ext>
              </a:extLst>
            </p:cNvPr>
            <p:cNvSpPr/>
            <p:nvPr/>
          </p:nvSpPr>
          <p:spPr>
            <a:xfrm>
              <a:off x="745990" y="5820897"/>
              <a:ext cx="641684" cy="336885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634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D8D1B-9F90-9448-95EA-1EB8082FD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8966"/>
            <a:ext cx="5715000" cy="1828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745F3D6-589D-4941-B4A2-8463828787AC}"/>
              </a:ext>
            </a:extLst>
          </p:cNvPr>
          <p:cNvSpPr/>
          <p:nvPr/>
        </p:nvSpPr>
        <p:spPr>
          <a:xfrm>
            <a:off x="477078" y="636105"/>
            <a:ext cx="993913" cy="993913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C77D83C6-65A4-444A-8DBA-B20F28D23C3F}"/>
              </a:ext>
            </a:extLst>
          </p:cNvPr>
          <p:cNvSpPr/>
          <p:nvPr/>
        </p:nvSpPr>
        <p:spPr>
          <a:xfrm>
            <a:off x="1364974" y="132522"/>
            <a:ext cx="5022574" cy="2027582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313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D8D1B-9F90-9448-95EA-1EB8082FD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8966"/>
            <a:ext cx="5715000" cy="1828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745F3D6-589D-4941-B4A2-8463828787AC}"/>
              </a:ext>
            </a:extLst>
          </p:cNvPr>
          <p:cNvSpPr/>
          <p:nvPr/>
        </p:nvSpPr>
        <p:spPr>
          <a:xfrm>
            <a:off x="477078" y="636105"/>
            <a:ext cx="993913" cy="993913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C77D83C6-65A4-444A-8DBA-B20F28D23C3F}"/>
              </a:ext>
            </a:extLst>
          </p:cNvPr>
          <p:cNvSpPr/>
          <p:nvPr/>
        </p:nvSpPr>
        <p:spPr>
          <a:xfrm>
            <a:off x="1364974" y="132522"/>
            <a:ext cx="5022574" cy="2027582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5F3A1EAF-6AF8-C943-BCEB-80A0E162718F}"/>
              </a:ext>
            </a:extLst>
          </p:cNvPr>
          <p:cNvSpPr/>
          <p:nvPr/>
        </p:nvSpPr>
        <p:spPr>
          <a:xfrm>
            <a:off x="6315601" y="3604591"/>
            <a:ext cx="914400" cy="874644"/>
          </a:xfrm>
          <a:prstGeom prst="plus">
            <a:avLst>
              <a:gd name="adj" fmla="val 4318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5A40A0-FF19-E749-8F6D-1FDDA9737D82}"/>
              </a:ext>
            </a:extLst>
          </p:cNvPr>
          <p:cNvSpPr txBox="1"/>
          <p:nvPr/>
        </p:nvSpPr>
        <p:spPr>
          <a:xfrm>
            <a:off x="7498501" y="3136546"/>
            <a:ext cx="455284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rebuchet MS" panose="020B0703020202090204" pitchFamily="34" charset="0"/>
              </a:rPr>
              <a:t>Tonos de Gris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rebuchet MS" panose="020B0703020202090204" pitchFamily="34" charset="0"/>
              </a:rPr>
              <a:t>HSV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rebuchet MS" panose="020B0703020202090204" pitchFamily="34" charset="0"/>
              </a:rPr>
              <a:t>Otros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espacios</a:t>
            </a:r>
            <a:r>
              <a:rPr lang="en-US" sz="2800" dirty="0">
                <a:latin typeface="Trebuchet MS" panose="020B0703020202090204" pitchFamily="34" charset="0"/>
              </a:rPr>
              <a:t> de </a:t>
            </a:r>
            <a:r>
              <a:rPr lang="en-US" sz="2800" dirty="0" err="1">
                <a:latin typeface="Trebuchet MS" panose="020B0703020202090204" pitchFamily="34" charset="0"/>
              </a:rPr>
              <a:t>colores</a:t>
            </a:r>
            <a:endParaRPr lang="en-US" sz="2800" dirty="0">
              <a:latin typeface="Trebuchet MS" panose="020B070302020209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rebuchet MS" panose="020B0703020202090204" pitchFamily="34" charset="0"/>
              </a:rPr>
              <a:t>Otras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Segmentaciones</a:t>
            </a:r>
            <a:endParaRPr lang="en-US" sz="2800" dirty="0">
              <a:latin typeface="Trebuchet MS" panose="020B070302020209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E5BD08B-9A2A-1B47-979D-DAB641931821}"/>
              </a:ext>
            </a:extLst>
          </p:cNvPr>
          <p:cNvGrpSpPr/>
          <p:nvPr/>
        </p:nvGrpSpPr>
        <p:grpSpPr>
          <a:xfrm>
            <a:off x="171227" y="5999138"/>
            <a:ext cx="11953908" cy="461665"/>
            <a:chOff x="745990" y="5758508"/>
            <a:chExt cx="11953908" cy="46166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48ED79-6253-8F45-9491-9EC07797844F}"/>
                </a:ext>
              </a:extLst>
            </p:cNvPr>
            <p:cNvSpPr txBox="1"/>
            <p:nvPr/>
          </p:nvSpPr>
          <p:spPr>
            <a:xfrm>
              <a:off x="1447972" y="5758508"/>
              <a:ext cx="11251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9300"/>
                  </a:solidFill>
                  <a:latin typeface="Trebuchet MS" panose="020B0703020202090204" pitchFamily="34" charset="0"/>
                </a:rPr>
                <a:t>CADA GRUPO DE IMÁGENES GUARDADO EN LA NUBE, INDEXADO, DE FÁCIL ACCESO</a:t>
              </a:r>
            </a:p>
          </p:txBody>
        </p:sp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141A5A09-B367-CB42-882A-622CB60CE713}"/>
                </a:ext>
              </a:extLst>
            </p:cNvPr>
            <p:cNvSpPr/>
            <p:nvPr/>
          </p:nvSpPr>
          <p:spPr>
            <a:xfrm>
              <a:off x="745990" y="5820897"/>
              <a:ext cx="641684" cy="336885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A collage of different colored eyes&#10;&#10;Description automatically generated with low confidence">
            <a:extLst>
              <a:ext uri="{FF2B5EF4-FFF2-40B4-BE49-F238E27FC236}">
                <a16:creationId xmlns:a16="http://schemas.microsoft.com/office/drawing/2014/main" id="{5480CBB6-8F36-12B0-33E9-379395FC8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031" y="1992482"/>
            <a:ext cx="3738937" cy="384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99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D8D1B-9F90-9448-95EA-1EB8082FD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8966"/>
            <a:ext cx="5715000" cy="18288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58AD7A3-7132-C948-97AE-260974522832}"/>
              </a:ext>
            </a:extLst>
          </p:cNvPr>
          <p:cNvSpPr/>
          <p:nvPr/>
        </p:nvSpPr>
        <p:spPr>
          <a:xfrm>
            <a:off x="1603511" y="636105"/>
            <a:ext cx="993913" cy="993913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B0F5EED-6757-824F-91E5-BCF2B41E6977}"/>
              </a:ext>
            </a:extLst>
          </p:cNvPr>
          <p:cNvSpPr/>
          <p:nvPr/>
        </p:nvSpPr>
        <p:spPr>
          <a:xfrm>
            <a:off x="2544415" y="155714"/>
            <a:ext cx="5022574" cy="1832114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3144E82-9A8A-6F4F-8F1F-B888BC380029}"/>
              </a:ext>
            </a:extLst>
          </p:cNvPr>
          <p:cNvSpPr/>
          <p:nvPr/>
        </p:nvSpPr>
        <p:spPr>
          <a:xfrm rot="10800000">
            <a:off x="-3332923" y="155714"/>
            <a:ext cx="5022574" cy="2027582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714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D8D1B-9F90-9448-95EA-1EB8082FD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8966"/>
            <a:ext cx="5715000" cy="18288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58AD7A3-7132-C948-97AE-260974522832}"/>
              </a:ext>
            </a:extLst>
          </p:cNvPr>
          <p:cNvSpPr/>
          <p:nvPr/>
        </p:nvSpPr>
        <p:spPr>
          <a:xfrm>
            <a:off x="1603511" y="636105"/>
            <a:ext cx="993913" cy="993913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B0F5EED-6757-824F-91E5-BCF2B41E6977}"/>
              </a:ext>
            </a:extLst>
          </p:cNvPr>
          <p:cNvSpPr/>
          <p:nvPr/>
        </p:nvSpPr>
        <p:spPr>
          <a:xfrm>
            <a:off x="2544415" y="155714"/>
            <a:ext cx="5022574" cy="1832114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3144E82-9A8A-6F4F-8F1F-B888BC380029}"/>
              </a:ext>
            </a:extLst>
          </p:cNvPr>
          <p:cNvSpPr/>
          <p:nvPr/>
        </p:nvSpPr>
        <p:spPr>
          <a:xfrm rot="10800000">
            <a:off x="-3332923" y="155714"/>
            <a:ext cx="5022574" cy="2027582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902AB7D-933E-834C-B978-E23DE15F456E}"/>
              </a:ext>
            </a:extLst>
          </p:cNvPr>
          <p:cNvCxnSpPr>
            <a:stCxn id="4" idx="4"/>
          </p:cNvCxnSpPr>
          <p:nvPr/>
        </p:nvCxnSpPr>
        <p:spPr>
          <a:xfrm>
            <a:off x="2100468" y="1630018"/>
            <a:ext cx="0" cy="1258956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21A4B47-E9CE-724E-A1AF-023A62D6D6C1}"/>
              </a:ext>
            </a:extLst>
          </p:cNvPr>
          <p:cNvSpPr/>
          <p:nvPr/>
        </p:nvSpPr>
        <p:spPr>
          <a:xfrm>
            <a:off x="1113184" y="2911420"/>
            <a:ext cx="1961322" cy="4664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TIPO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FF5802-56BB-A94D-AFC3-7424E9572A7F}"/>
              </a:ext>
            </a:extLst>
          </p:cNvPr>
          <p:cNvSpPr txBox="1"/>
          <p:nvPr/>
        </p:nvSpPr>
        <p:spPr>
          <a:xfrm>
            <a:off x="3659326" y="2883642"/>
            <a:ext cx="281359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rebuchet MS" panose="020B0703020202090204" pitchFamily="34" charset="0"/>
              </a:rPr>
              <a:t>Geométrica</a:t>
            </a:r>
            <a:endParaRPr lang="en-US" sz="2800" dirty="0">
              <a:latin typeface="Trebuchet MS" panose="020B070302020209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rebuchet MS" panose="020B0703020202090204" pitchFamily="34" charset="0"/>
              </a:rPr>
              <a:t>Intensidad</a:t>
            </a:r>
            <a:endParaRPr lang="en-US" sz="2800" dirty="0">
              <a:latin typeface="Trebuchet MS" panose="020B070302020209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rebuchet MS" panose="020B0703020202090204" pitchFamily="34" charset="0"/>
              </a:rPr>
              <a:t>Intensidad</a:t>
            </a:r>
            <a:r>
              <a:rPr lang="en-US" sz="2800" dirty="0">
                <a:latin typeface="Trebuchet MS" panose="020B0703020202090204" pitchFamily="34" charset="0"/>
              </a:rPr>
              <a:t> con</a:t>
            </a:r>
          </a:p>
          <a:p>
            <a:r>
              <a:rPr lang="en-US" sz="2800" dirty="0">
                <a:latin typeface="Trebuchet MS" panose="020B0703020202090204" pitchFamily="34" charset="0"/>
              </a:rPr>
              <a:t>   </a:t>
            </a:r>
            <a:r>
              <a:rPr lang="en-US" sz="2800" dirty="0" err="1">
                <a:latin typeface="Trebuchet MS" panose="020B0703020202090204" pitchFamily="34" charset="0"/>
              </a:rPr>
              <a:t>Geometría</a:t>
            </a:r>
            <a:endParaRPr lang="en-US" sz="2800" dirty="0">
              <a:latin typeface="Trebuchet MS" panose="020B070302020209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3D009CA-6782-8D4A-AFC9-4567A997E2ED}"/>
              </a:ext>
            </a:extLst>
          </p:cNvPr>
          <p:cNvSpPr/>
          <p:nvPr/>
        </p:nvSpPr>
        <p:spPr>
          <a:xfrm>
            <a:off x="3740246" y="3073261"/>
            <a:ext cx="144000" cy="144000"/>
          </a:xfrm>
          <a:prstGeom prst="ellipse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78DDDDA-0F3A-984E-BB19-FF8A97774B03}"/>
              </a:ext>
            </a:extLst>
          </p:cNvPr>
          <p:cNvSpPr/>
          <p:nvPr/>
        </p:nvSpPr>
        <p:spPr>
          <a:xfrm>
            <a:off x="3740246" y="3504140"/>
            <a:ext cx="144000" cy="144000"/>
          </a:xfrm>
          <a:prstGeom prst="ellipse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AA92FDD-49DA-9648-A7BB-90BF0542F1A8}"/>
              </a:ext>
            </a:extLst>
          </p:cNvPr>
          <p:cNvSpPr/>
          <p:nvPr/>
        </p:nvSpPr>
        <p:spPr>
          <a:xfrm>
            <a:off x="3740246" y="3935019"/>
            <a:ext cx="144000" cy="144000"/>
          </a:xfrm>
          <a:prstGeom prst="ellipse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3F5BCB-B974-D648-8AA4-DE6452F5F202}"/>
              </a:ext>
            </a:extLst>
          </p:cNvPr>
          <p:cNvCxnSpPr>
            <a:cxnSpLocks/>
            <a:stCxn id="9" idx="3"/>
            <a:endCxn id="11" idx="2"/>
          </p:cNvCxnSpPr>
          <p:nvPr/>
        </p:nvCxnSpPr>
        <p:spPr>
          <a:xfrm>
            <a:off x="3074506" y="3144653"/>
            <a:ext cx="665740" cy="6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3EB3B495-A0B8-A84E-8294-FE4EF9AA44E7}"/>
              </a:ext>
            </a:extLst>
          </p:cNvPr>
          <p:cNvCxnSpPr>
            <a:cxnSpLocks/>
            <a:stCxn id="9" idx="2"/>
            <a:endCxn id="12" idx="2"/>
          </p:cNvCxnSpPr>
          <p:nvPr/>
        </p:nvCxnSpPr>
        <p:spPr>
          <a:xfrm rot="16200000" flipH="1">
            <a:off x="2817918" y="2653811"/>
            <a:ext cx="198255" cy="164640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1E7BD65-3BAE-6945-8F0B-9EF3D226F974}"/>
              </a:ext>
            </a:extLst>
          </p:cNvPr>
          <p:cNvCxnSpPr>
            <a:cxnSpLocks/>
            <a:stCxn id="9" idx="1"/>
            <a:endCxn id="13" idx="2"/>
          </p:cNvCxnSpPr>
          <p:nvPr/>
        </p:nvCxnSpPr>
        <p:spPr>
          <a:xfrm rot="10800000" flipH="1" flipV="1">
            <a:off x="1113184" y="3144653"/>
            <a:ext cx="2627062" cy="862366"/>
          </a:xfrm>
          <a:prstGeom prst="bentConnector3">
            <a:avLst>
              <a:gd name="adj1" fmla="val -8702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ight Arrow 23">
            <a:extLst>
              <a:ext uri="{FF2B5EF4-FFF2-40B4-BE49-F238E27FC236}">
                <a16:creationId xmlns:a16="http://schemas.microsoft.com/office/drawing/2014/main" id="{5F7F345C-6C2F-7D45-A08A-5F2EEDCF1FC1}"/>
              </a:ext>
            </a:extLst>
          </p:cNvPr>
          <p:cNvSpPr/>
          <p:nvPr/>
        </p:nvSpPr>
        <p:spPr>
          <a:xfrm>
            <a:off x="6682877" y="3393925"/>
            <a:ext cx="449179" cy="3588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D488ED-6A41-CB41-B0AF-3DCF4EDF407A}"/>
              </a:ext>
            </a:extLst>
          </p:cNvPr>
          <p:cNvSpPr txBox="1"/>
          <p:nvPr/>
        </p:nvSpPr>
        <p:spPr>
          <a:xfrm>
            <a:off x="7504286" y="3411531"/>
            <a:ext cx="3029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EXTRAER, GUARDAR, INDEXAR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9D25D92-16B3-5B48-A49B-E85960C30F9B}"/>
              </a:ext>
            </a:extLst>
          </p:cNvPr>
          <p:cNvGrpSpPr/>
          <p:nvPr/>
        </p:nvGrpSpPr>
        <p:grpSpPr>
          <a:xfrm>
            <a:off x="163776" y="6019961"/>
            <a:ext cx="12028224" cy="461665"/>
            <a:chOff x="745990" y="5758508"/>
            <a:chExt cx="12028224" cy="46166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C640EB-27CF-2148-89A0-88E69516B473}"/>
                </a:ext>
              </a:extLst>
            </p:cNvPr>
            <p:cNvSpPr txBox="1"/>
            <p:nvPr/>
          </p:nvSpPr>
          <p:spPr>
            <a:xfrm>
              <a:off x="1447972" y="5758508"/>
              <a:ext cx="113262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9300"/>
                  </a:solidFill>
                  <a:latin typeface="Trebuchet MS" panose="020B0703020202090204" pitchFamily="34" charset="0"/>
                </a:rPr>
                <a:t>CADA GRUPO DE FEATURES GUARDADO EN LA NUBE, INDEXADO, DE FÁCIL ACCESO</a:t>
              </a:r>
            </a:p>
          </p:txBody>
        </p:sp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6D8A1A50-39EE-194E-A29E-D5C67E4D0284}"/>
                </a:ext>
              </a:extLst>
            </p:cNvPr>
            <p:cNvSpPr/>
            <p:nvPr/>
          </p:nvSpPr>
          <p:spPr>
            <a:xfrm>
              <a:off x="745990" y="5820897"/>
              <a:ext cx="641684" cy="336885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199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D8D1B-9F90-9448-95EA-1EB8082FD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8966"/>
            <a:ext cx="5715000" cy="18288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58AD7A3-7132-C948-97AE-260974522832}"/>
              </a:ext>
            </a:extLst>
          </p:cNvPr>
          <p:cNvSpPr/>
          <p:nvPr/>
        </p:nvSpPr>
        <p:spPr>
          <a:xfrm>
            <a:off x="1603511" y="636105"/>
            <a:ext cx="993913" cy="993913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B0F5EED-6757-824F-91E5-BCF2B41E6977}"/>
              </a:ext>
            </a:extLst>
          </p:cNvPr>
          <p:cNvSpPr/>
          <p:nvPr/>
        </p:nvSpPr>
        <p:spPr>
          <a:xfrm>
            <a:off x="2544415" y="155714"/>
            <a:ext cx="5022574" cy="1832114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3144E82-9A8A-6F4F-8F1F-B888BC380029}"/>
              </a:ext>
            </a:extLst>
          </p:cNvPr>
          <p:cNvSpPr/>
          <p:nvPr/>
        </p:nvSpPr>
        <p:spPr>
          <a:xfrm rot="10800000">
            <a:off x="-3332923" y="155714"/>
            <a:ext cx="5022574" cy="2027582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902AB7D-933E-834C-B978-E23DE15F456E}"/>
              </a:ext>
            </a:extLst>
          </p:cNvPr>
          <p:cNvCxnSpPr>
            <a:stCxn id="4" idx="4"/>
          </p:cNvCxnSpPr>
          <p:nvPr/>
        </p:nvCxnSpPr>
        <p:spPr>
          <a:xfrm>
            <a:off x="2100468" y="1630018"/>
            <a:ext cx="0" cy="1258956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DF8900F-AA0E-724B-8F06-231FFE98B89F}"/>
              </a:ext>
            </a:extLst>
          </p:cNvPr>
          <p:cNvSpPr txBox="1"/>
          <p:nvPr/>
        </p:nvSpPr>
        <p:spPr>
          <a:xfrm>
            <a:off x="34187" y="2912619"/>
            <a:ext cx="11229356" cy="304698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Crear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funciones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como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por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ejemplo</a:t>
            </a:r>
            <a:endParaRPr lang="en-US" sz="24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Xtrain_lbp_gray,ytrain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extract_features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(‘gray’,‘train’,‘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lbp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’)</a:t>
            </a: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Xtest_lbp_gray,ytrain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 =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extract_features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(‘gray’,‘test’,‘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lbp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’)</a:t>
            </a:r>
          </a:p>
          <a:p>
            <a:endParaRPr lang="en-US" sz="24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Xtrain_lbp_gray,ytrain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load_features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(‘gray’,‘train’,‘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lbp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’)</a:t>
            </a: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Xtest_lbp_gray,ytrain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 =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load_features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(‘gray’,‘test’,‘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lbp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’)</a:t>
            </a:r>
          </a:p>
          <a:p>
            <a:endParaRPr lang="en-US" sz="24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AACE90A-8770-6348-AC80-6C5BB5B530CE}"/>
              </a:ext>
            </a:extLst>
          </p:cNvPr>
          <p:cNvGrpSpPr/>
          <p:nvPr/>
        </p:nvGrpSpPr>
        <p:grpSpPr>
          <a:xfrm>
            <a:off x="163776" y="6019961"/>
            <a:ext cx="12028224" cy="461665"/>
            <a:chOff x="745990" y="5758508"/>
            <a:chExt cx="12028224" cy="4616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B11D30-C79A-134B-BD38-BE082391638B}"/>
                </a:ext>
              </a:extLst>
            </p:cNvPr>
            <p:cNvSpPr txBox="1"/>
            <p:nvPr/>
          </p:nvSpPr>
          <p:spPr>
            <a:xfrm>
              <a:off x="1447972" y="5758508"/>
              <a:ext cx="113262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9300"/>
                  </a:solidFill>
                  <a:latin typeface="Trebuchet MS" panose="020B0703020202090204" pitchFamily="34" charset="0"/>
                </a:rPr>
                <a:t>CADA GRUPO DE FEATURES GUARDADO EN LA NUBE, INDEXADO, DE FÁCIL ACCESO</a:t>
              </a:r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9DFFFD4C-A7EC-F84F-819D-4E9E6943DB20}"/>
                </a:ext>
              </a:extLst>
            </p:cNvPr>
            <p:cNvSpPr/>
            <p:nvPr/>
          </p:nvSpPr>
          <p:spPr>
            <a:xfrm>
              <a:off x="745990" y="5820897"/>
              <a:ext cx="641684" cy="336885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885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D8D1B-9F90-9448-95EA-1EB8082FD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8966"/>
            <a:ext cx="5715000" cy="1828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DD1FDBD-CDB2-584D-A8E1-18844120DA37}"/>
              </a:ext>
            </a:extLst>
          </p:cNvPr>
          <p:cNvSpPr/>
          <p:nvPr/>
        </p:nvSpPr>
        <p:spPr>
          <a:xfrm>
            <a:off x="2716694" y="636105"/>
            <a:ext cx="993913" cy="993913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A5B3CAF0-63BA-8A45-B871-A8081A5A9665}"/>
              </a:ext>
            </a:extLst>
          </p:cNvPr>
          <p:cNvSpPr/>
          <p:nvPr/>
        </p:nvSpPr>
        <p:spPr>
          <a:xfrm>
            <a:off x="3657598" y="227154"/>
            <a:ext cx="5022574" cy="1832114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FC6E2E3-2086-2F4B-975B-BB4511C76296}"/>
              </a:ext>
            </a:extLst>
          </p:cNvPr>
          <p:cNvSpPr/>
          <p:nvPr/>
        </p:nvSpPr>
        <p:spPr>
          <a:xfrm rot="10800000">
            <a:off x="-2219740" y="155714"/>
            <a:ext cx="5022574" cy="2027582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515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D8D1B-9F90-9448-95EA-1EB8082FD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8966"/>
            <a:ext cx="5715000" cy="1828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DD1FDBD-CDB2-584D-A8E1-18844120DA37}"/>
              </a:ext>
            </a:extLst>
          </p:cNvPr>
          <p:cNvSpPr/>
          <p:nvPr/>
        </p:nvSpPr>
        <p:spPr>
          <a:xfrm>
            <a:off x="2716694" y="636105"/>
            <a:ext cx="993913" cy="993913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A5B3CAF0-63BA-8A45-B871-A8081A5A9665}"/>
              </a:ext>
            </a:extLst>
          </p:cNvPr>
          <p:cNvSpPr/>
          <p:nvPr/>
        </p:nvSpPr>
        <p:spPr>
          <a:xfrm>
            <a:off x="3657598" y="198578"/>
            <a:ext cx="5022574" cy="1832114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FC6E2E3-2086-2F4B-975B-BB4511C76296}"/>
              </a:ext>
            </a:extLst>
          </p:cNvPr>
          <p:cNvSpPr/>
          <p:nvPr/>
        </p:nvSpPr>
        <p:spPr>
          <a:xfrm rot="10800000">
            <a:off x="-2219740" y="155714"/>
            <a:ext cx="5022574" cy="2027582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31C16BA-DA52-254E-B39B-F606B3848C0F}"/>
              </a:ext>
            </a:extLst>
          </p:cNvPr>
          <p:cNvCxnSpPr/>
          <p:nvPr/>
        </p:nvCxnSpPr>
        <p:spPr>
          <a:xfrm>
            <a:off x="3210811" y="1630018"/>
            <a:ext cx="0" cy="1258956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7381439-B4A1-5244-BBF9-B18784D222DB}"/>
              </a:ext>
            </a:extLst>
          </p:cNvPr>
          <p:cNvSpPr/>
          <p:nvPr/>
        </p:nvSpPr>
        <p:spPr>
          <a:xfrm>
            <a:off x="2223527" y="2911420"/>
            <a:ext cx="1961322" cy="4664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ALGORITMO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316A64-35EF-3849-8887-0457D335C2C2}"/>
              </a:ext>
            </a:extLst>
          </p:cNvPr>
          <p:cNvSpPr txBox="1"/>
          <p:nvPr/>
        </p:nvSpPr>
        <p:spPr>
          <a:xfrm>
            <a:off x="4769669" y="2883642"/>
            <a:ext cx="226536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rebuchet MS" panose="020B0703020202090204" pitchFamily="34" charset="0"/>
              </a:rPr>
              <a:t>1) SFS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rebuchet MS" panose="020B0703020202090204" pitchFamily="34" charset="0"/>
              </a:rPr>
              <a:t>2) SFS+PCA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rebuchet MS" panose="020B0703020202090204" pitchFamily="34" charset="0"/>
              </a:rPr>
              <a:t>       :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A0244EB-9A54-D848-9FE3-C01C1D39E7D3}"/>
              </a:ext>
            </a:extLst>
          </p:cNvPr>
          <p:cNvSpPr/>
          <p:nvPr/>
        </p:nvSpPr>
        <p:spPr>
          <a:xfrm>
            <a:off x="4850589" y="3073261"/>
            <a:ext cx="144000" cy="144000"/>
          </a:xfrm>
          <a:prstGeom prst="ellipse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CD2B7D1-0EC5-AB41-A0C4-3EBDB6AC0B5E}"/>
              </a:ext>
            </a:extLst>
          </p:cNvPr>
          <p:cNvSpPr/>
          <p:nvPr/>
        </p:nvSpPr>
        <p:spPr>
          <a:xfrm>
            <a:off x="4850589" y="3504140"/>
            <a:ext cx="144000" cy="144000"/>
          </a:xfrm>
          <a:prstGeom prst="ellipse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98699A6-09FC-AF4B-BC62-5879B4315D36}"/>
              </a:ext>
            </a:extLst>
          </p:cNvPr>
          <p:cNvSpPr/>
          <p:nvPr/>
        </p:nvSpPr>
        <p:spPr>
          <a:xfrm>
            <a:off x="4850589" y="3935019"/>
            <a:ext cx="144000" cy="144000"/>
          </a:xfrm>
          <a:prstGeom prst="ellipse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10F096-8921-6C4D-AF6D-70B4EA269DA3}"/>
              </a:ext>
            </a:extLst>
          </p:cNvPr>
          <p:cNvCxnSpPr>
            <a:cxnSpLocks/>
            <a:stCxn id="8" idx="3"/>
            <a:endCxn id="10" idx="2"/>
          </p:cNvCxnSpPr>
          <p:nvPr/>
        </p:nvCxnSpPr>
        <p:spPr>
          <a:xfrm>
            <a:off x="4184849" y="3144653"/>
            <a:ext cx="665740" cy="6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4C1E0E75-92ED-1E41-A572-C6D8883FA31F}"/>
              </a:ext>
            </a:extLst>
          </p:cNvPr>
          <p:cNvCxnSpPr>
            <a:cxnSpLocks/>
            <a:stCxn id="8" idx="2"/>
            <a:endCxn id="11" idx="2"/>
          </p:cNvCxnSpPr>
          <p:nvPr/>
        </p:nvCxnSpPr>
        <p:spPr>
          <a:xfrm rot="16200000" flipH="1">
            <a:off x="3928261" y="2653811"/>
            <a:ext cx="198255" cy="164640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A6DD7F28-8C40-8F41-85CC-3A7DA5D77C9D}"/>
              </a:ext>
            </a:extLst>
          </p:cNvPr>
          <p:cNvCxnSpPr>
            <a:cxnSpLocks/>
            <a:stCxn id="8" idx="1"/>
            <a:endCxn id="12" idx="2"/>
          </p:cNvCxnSpPr>
          <p:nvPr/>
        </p:nvCxnSpPr>
        <p:spPr>
          <a:xfrm rot="10800000" flipH="1" flipV="1">
            <a:off x="2223527" y="3144653"/>
            <a:ext cx="2627062" cy="862366"/>
          </a:xfrm>
          <a:prstGeom prst="bentConnector3">
            <a:avLst>
              <a:gd name="adj1" fmla="val -8702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ight Arrow 15">
            <a:extLst>
              <a:ext uri="{FF2B5EF4-FFF2-40B4-BE49-F238E27FC236}">
                <a16:creationId xmlns:a16="http://schemas.microsoft.com/office/drawing/2014/main" id="{BD07127A-5F79-2A47-AEAF-0684B0045011}"/>
              </a:ext>
            </a:extLst>
          </p:cNvPr>
          <p:cNvSpPr/>
          <p:nvPr/>
        </p:nvSpPr>
        <p:spPr>
          <a:xfrm>
            <a:off x="7793220" y="3393925"/>
            <a:ext cx="449179" cy="3588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31ACC6-E2A6-274E-9FD1-F5562EFFE492}"/>
              </a:ext>
            </a:extLst>
          </p:cNvPr>
          <p:cNvSpPr txBox="1"/>
          <p:nvPr/>
        </p:nvSpPr>
        <p:spPr>
          <a:xfrm>
            <a:off x="8242399" y="3377883"/>
            <a:ext cx="3478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SELECCIONAR, GUARDAR, INDEXAR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D907313-3D03-E94F-86DF-A25BB3C02BDC}"/>
              </a:ext>
            </a:extLst>
          </p:cNvPr>
          <p:cNvGrpSpPr/>
          <p:nvPr/>
        </p:nvGrpSpPr>
        <p:grpSpPr>
          <a:xfrm>
            <a:off x="163776" y="6019961"/>
            <a:ext cx="12028224" cy="461665"/>
            <a:chOff x="745990" y="5758508"/>
            <a:chExt cx="12028224" cy="46166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0051B16-0BCD-2340-8203-84CCC170DD74}"/>
                </a:ext>
              </a:extLst>
            </p:cNvPr>
            <p:cNvSpPr txBox="1"/>
            <p:nvPr/>
          </p:nvSpPr>
          <p:spPr>
            <a:xfrm>
              <a:off x="1447972" y="5758508"/>
              <a:ext cx="113262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9300"/>
                  </a:solidFill>
                  <a:latin typeface="Trebuchet MS" panose="020B0703020202090204" pitchFamily="34" charset="0"/>
                </a:rPr>
                <a:t>CADA GRUPO DE FEATURES GUARDADO EN LA NUBE, INDEXADO, DE FÁCIL ACCESO</a:t>
              </a:r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AC715053-879E-0845-A5D7-1BFA19B9D961}"/>
                </a:ext>
              </a:extLst>
            </p:cNvPr>
            <p:cNvSpPr/>
            <p:nvPr/>
          </p:nvSpPr>
          <p:spPr>
            <a:xfrm>
              <a:off x="745990" y="5820897"/>
              <a:ext cx="641684" cy="336885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1788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D8D1B-9F90-9448-95EA-1EB8082FD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8966"/>
            <a:ext cx="5715000" cy="1828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DD1FDBD-CDB2-584D-A8E1-18844120DA37}"/>
              </a:ext>
            </a:extLst>
          </p:cNvPr>
          <p:cNvSpPr/>
          <p:nvPr/>
        </p:nvSpPr>
        <p:spPr>
          <a:xfrm>
            <a:off x="2716694" y="636105"/>
            <a:ext cx="993913" cy="993913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A5B3CAF0-63BA-8A45-B871-A8081A5A9665}"/>
              </a:ext>
            </a:extLst>
          </p:cNvPr>
          <p:cNvSpPr/>
          <p:nvPr/>
        </p:nvSpPr>
        <p:spPr>
          <a:xfrm>
            <a:off x="3657598" y="227154"/>
            <a:ext cx="5022574" cy="1832114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FC6E2E3-2086-2F4B-975B-BB4511C76296}"/>
              </a:ext>
            </a:extLst>
          </p:cNvPr>
          <p:cNvSpPr/>
          <p:nvPr/>
        </p:nvSpPr>
        <p:spPr>
          <a:xfrm rot="10800000">
            <a:off x="-2219740" y="155714"/>
            <a:ext cx="5022574" cy="2027582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E32202E-656C-4E43-9311-00AB38B45253}"/>
              </a:ext>
            </a:extLst>
          </p:cNvPr>
          <p:cNvCxnSpPr/>
          <p:nvPr/>
        </p:nvCxnSpPr>
        <p:spPr>
          <a:xfrm>
            <a:off x="3210814" y="1630018"/>
            <a:ext cx="0" cy="1258956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DD51D72-54DC-6E48-8E3F-B826C5C31A0D}"/>
              </a:ext>
            </a:extLst>
          </p:cNvPr>
          <p:cNvSpPr txBox="1"/>
          <p:nvPr/>
        </p:nvSpPr>
        <p:spPr>
          <a:xfrm>
            <a:off x="34187" y="2912619"/>
            <a:ext cx="10379765" cy="304698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Crear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funciones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como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por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ejemplo</a:t>
            </a:r>
            <a:endParaRPr lang="en-US" sz="24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X1 =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np.concatenate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((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Xtrain_lbp_gray,Xtrain_lbp_red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),axis=1)</a:t>
            </a: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X2 =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np.concatenate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((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Xtest_lbp_gray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,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Xtest_lbp_red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),axis=1)</a:t>
            </a:r>
          </a:p>
          <a:p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select_features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(X1,ytrain,algoritmo=1)</a:t>
            </a: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X1_sel = X1[:,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X2_sel = X2[:,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endParaRPr lang="en-US" sz="24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4079058-F27A-9C43-AB6E-0360E7CA2B01}"/>
              </a:ext>
            </a:extLst>
          </p:cNvPr>
          <p:cNvGrpSpPr/>
          <p:nvPr/>
        </p:nvGrpSpPr>
        <p:grpSpPr>
          <a:xfrm>
            <a:off x="163776" y="6019961"/>
            <a:ext cx="12028224" cy="461665"/>
            <a:chOff x="745990" y="5758508"/>
            <a:chExt cx="12028224" cy="461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D9A0F14-6F8D-904C-B7B7-19F180B12C06}"/>
                </a:ext>
              </a:extLst>
            </p:cNvPr>
            <p:cNvSpPr txBox="1"/>
            <p:nvPr/>
          </p:nvSpPr>
          <p:spPr>
            <a:xfrm>
              <a:off x="1447972" y="5758508"/>
              <a:ext cx="113262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9300"/>
                  </a:solidFill>
                  <a:latin typeface="Trebuchet MS" panose="020B0703020202090204" pitchFamily="34" charset="0"/>
                </a:rPr>
                <a:t>CADA GRUPO DE FEATURES GUARDADO EN LA NUBE, INDEXADO, DE FÁCIL ACCESO</a:t>
              </a:r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5C780398-CD25-C54D-8D50-C86CB2EA27E4}"/>
                </a:ext>
              </a:extLst>
            </p:cNvPr>
            <p:cNvSpPr/>
            <p:nvPr/>
          </p:nvSpPr>
          <p:spPr>
            <a:xfrm>
              <a:off x="745990" y="5820897"/>
              <a:ext cx="641684" cy="336885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111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D8D1B-9F90-9448-95EA-1EB8082FD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8966"/>
            <a:ext cx="5715000" cy="1828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DD1FDBD-CDB2-584D-A8E1-18844120DA37}"/>
              </a:ext>
            </a:extLst>
          </p:cNvPr>
          <p:cNvSpPr/>
          <p:nvPr/>
        </p:nvSpPr>
        <p:spPr>
          <a:xfrm>
            <a:off x="2716694" y="636105"/>
            <a:ext cx="993913" cy="993913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A5B3CAF0-63BA-8A45-B871-A8081A5A9665}"/>
              </a:ext>
            </a:extLst>
          </p:cNvPr>
          <p:cNvSpPr/>
          <p:nvPr/>
        </p:nvSpPr>
        <p:spPr>
          <a:xfrm>
            <a:off x="3657598" y="227154"/>
            <a:ext cx="5022574" cy="1832114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FC6E2E3-2086-2F4B-975B-BB4511C76296}"/>
              </a:ext>
            </a:extLst>
          </p:cNvPr>
          <p:cNvSpPr/>
          <p:nvPr/>
        </p:nvSpPr>
        <p:spPr>
          <a:xfrm rot="10800000">
            <a:off x="-2219740" y="155714"/>
            <a:ext cx="5022574" cy="2027582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E32202E-656C-4E43-9311-00AB38B45253}"/>
              </a:ext>
            </a:extLst>
          </p:cNvPr>
          <p:cNvCxnSpPr/>
          <p:nvPr/>
        </p:nvCxnSpPr>
        <p:spPr>
          <a:xfrm>
            <a:off x="3210814" y="1630018"/>
            <a:ext cx="0" cy="1258956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DD51D72-54DC-6E48-8E3F-B826C5C31A0D}"/>
              </a:ext>
            </a:extLst>
          </p:cNvPr>
          <p:cNvSpPr txBox="1"/>
          <p:nvPr/>
        </p:nvSpPr>
        <p:spPr>
          <a:xfrm>
            <a:off x="34187" y="2912619"/>
            <a:ext cx="7151317" cy="230832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Crear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funciones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como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por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ejemplo</a:t>
            </a:r>
            <a:endParaRPr lang="en-US" sz="24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load_selected_features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algoritmo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=1)</a:t>
            </a: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X1_sel = X1[:,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X2_sel = X2[:,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endParaRPr lang="en-US" sz="24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4079058-F27A-9C43-AB6E-0360E7CA2B01}"/>
              </a:ext>
            </a:extLst>
          </p:cNvPr>
          <p:cNvGrpSpPr/>
          <p:nvPr/>
        </p:nvGrpSpPr>
        <p:grpSpPr>
          <a:xfrm>
            <a:off x="163776" y="6019961"/>
            <a:ext cx="12028224" cy="461665"/>
            <a:chOff x="745990" y="5758508"/>
            <a:chExt cx="12028224" cy="461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D9A0F14-6F8D-904C-B7B7-19F180B12C06}"/>
                </a:ext>
              </a:extLst>
            </p:cNvPr>
            <p:cNvSpPr txBox="1"/>
            <p:nvPr/>
          </p:nvSpPr>
          <p:spPr>
            <a:xfrm>
              <a:off x="1447972" y="5758508"/>
              <a:ext cx="113262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9300"/>
                  </a:solidFill>
                  <a:latin typeface="Trebuchet MS" panose="020B0703020202090204" pitchFamily="34" charset="0"/>
                </a:rPr>
                <a:t>CADA GRUPO DE FEATURES GUARDADO EN LA NUBE, INDEXADO, DE FÁCIL ACCESO</a:t>
              </a:r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5C780398-CD25-C54D-8D50-C86CB2EA27E4}"/>
                </a:ext>
              </a:extLst>
            </p:cNvPr>
            <p:cNvSpPr/>
            <p:nvPr/>
          </p:nvSpPr>
          <p:spPr>
            <a:xfrm>
              <a:off x="745990" y="5820897"/>
              <a:ext cx="641684" cy="336885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302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D8D1B-9F90-9448-95EA-1EB8082FD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8966"/>
            <a:ext cx="5715000" cy="1828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3F784B3-8832-5947-B578-8E5C4E6FCB99}"/>
              </a:ext>
            </a:extLst>
          </p:cNvPr>
          <p:cNvSpPr/>
          <p:nvPr/>
        </p:nvSpPr>
        <p:spPr>
          <a:xfrm>
            <a:off x="3882887" y="636105"/>
            <a:ext cx="993913" cy="993913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729C3E07-92CE-D440-BA87-B071CB463A51}"/>
              </a:ext>
            </a:extLst>
          </p:cNvPr>
          <p:cNvSpPr/>
          <p:nvPr/>
        </p:nvSpPr>
        <p:spPr>
          <a:xfrm>
            <a:off x="4823791" y="155714"/>
            <a:ext cx="5022574" cy="1832114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6D0151C2-DE53-4446-B23D-82E8DBEE27EA}"/>
              </a:ext>
            </a:extLst>
          </p:cNvPr>
          <p:cNvSpPr/>
          <p:nvPr/>
        </p:nvSpPr>
        <p:spPr>
          <a:xfrm rot="10800000">
            <a:off x="-1053547" y="155714"/>
            <a:ext cx="5022574" cy="2027582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201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D8D1B-9F90-9448-95EA-1EB8082FD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8966"/>
            <a:ext cx="5715000" cy="1828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3F784B3-8832-5947-B578-8E5C4E6FCB99}"/>
              </a:ext>
            </a:extLst>
          </p:cNvPr>
          <p:cNvSpPr/>
          <p:nvPr/>
        </p:nvSpPr>
        <p:spPr>
          <a:xfrm>
            <a:off x="3882887" y="636105"/>
            <a:ext cx="993913" cy="993913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729C3E07-92CE-D440-BA87-B071CB463A51}"/>
              </a:ext>
            </a:extLst>
          </p:cNvPr>
          <p:cNvSpPr/>
          <p:nvPr/>
        </p:nvSpPr>
        <p:spPr>
          <a:xfrm>
            <a:off x="4823791" y="155714"/>
            <a:ext cx="5022574" cy="1832114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6D0151C2-DE53-4446-B23D-82E8DBEE27EA}"/>
              </a:ext>
            </a:extLst>
          </p:cNvPr>
          <p:cNvSpPr/>
          <p:nvPr/>
        </p:nvSpPr>
        <p:spPr>
          <a:xfrm rot="10800000">
            <a:off x="-1053547" y="155714"/>
            <a:ext cx="5022574" cy="2027582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0D4044-3363-7D49-95D8-31EB7A930FD3}"/>
              </a:ext>
            </a:extLst>
          </p:cNvPr>
          <p:cNvCxnSpPr/>
          <p:nvPr/>
        </p:nvCxnSpPr>
        <p:spPr>
          <a:xfrm>
            <a:off x="4360347" y="1630018"/>
            <a:ext cx="0" cy="1258956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0D0858-6F9F-A542-9A3F-B96FC08ECB28}"/>
              </a:ext>
            </a:extLst>
          </p:cNvPr>
          <p:cNvSpPr/>
          <p:nvPr/>
        </p:nvSpPr>
        <p:spPr>
          <a:xfrm>
            <a:off x="3373063" y="2911420"/>
            <a:ext cx="1961322" cy="4664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CLASIFICADOR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8C1211-7885-4745-B1FF-B30A1B78C703}"/>
              </a:ext>
            </a:extLst>
          </p:cNvPr>
          <p:cNvSpPr txBox="1"/>
          <p:nvPr/>
        </p:nvSpPr>
        <p:spPr>
          <a:xfrm>
            <a:off x="5919205" y="2883642"/>
            <a:ext cx="188384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rebuchet MS" panose="020B0703020202090204" pitchFamily="34" charset="0"/>
              </a:rPr>
              <a:t>1) LDA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rebuchet MS" panose="020B0703020202090204" pitchFamily="34" charset="0"/>
              </a:rPr>
              <a:t>2) KNN-3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rebuchet MS" panose="020B0703020202090204" pitchFamily="34" charset="0"/>
              </a:rPr>
              <a:t>       :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0FDCC02-D4DC-434C-B5B9-EBC89E3FAB12}"/>
              </a:ext>
            </a:extLst>
          </p:cNvPr>
          <p:cNvSpPr/>
          <p:nvPr/>
        </p:nvSpPr>
        <p:spPr>
          <a:xfrm>
            <a:off x="6000125" y="3073261"/>
            <a:ext cx="144000" cy="144000"/>
          </a:xfrm>
          <a:prstGeom prst="ellipse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3B43A2A-0605-3043-A8A7-C35CE2E1153B}"/>
              </a:ext>
            </a:extLst>
          </p:cNvPr>
          <p:cNvSpPr/>
          <p:nvPr/>
        </p:nvSpPr>
        <p:spPr>
          <a:xfrm>
            <a:off x="6000125" y="3504140"/>
            <a:ext cx="144000" cy="144000"/>
          </a:xfrm>
          <a:prstGeom prst="ellipse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1776C15-9B44-CC48-B9FB-4EDCAC2AE714}"/>
              </a:ext>
            </a:extLst>
          </p:cNvPr>
          <p:cNvSpPr/>
          <p:nvPr/>
        </p:nvSpPr>
        <p:spPr>
          <a:xfrm>
            <a:off x="6000125" y="3935019"/>
            <a:ext cx="144000" cy="144000"/>
          </a:xfrm>
          <a:prstGeom prst="ellipse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F29E85-346D-B74C-B6D4-ACABEF3831C7}"/>
              </a:ext>
            </a:extLst>
          </p:cNvPr>
          <p:cNvCxnSpPr>
            <a:cxnSpLocks/>
            <a:stCxn id="13" idx="3"/>
            <a:endCxn id="15" idx="2"/>
          </p:cNvCxnSpPr>
          <p:nvPr/>
        </p:nvCxnSpPr>
        <p:spPr>
          <a:xfrm>
            <a:off x="5334385" y="3144653"/>
            <a:ext cx="665740" cy="6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6936CA36-F4B0-5E4C-95F6-857BD9F9515C}"/>
              </a:ext>
            </a:extLst>
          </p:cNvPr>
          <p:cNvCxnSpPr>
            <a:cxnSpLocks/>
            <a:stCxn id="13" idx="2"/>
            <a:endCxn id="16" idx="2"/>
          </p:cNvCxnSpPr>
          <p:nvPr/>
        </p:nvCxnSpPr>
        <p:spPr>
          <a:xfrm rot="16200000" flipH="1">
            <a:off x="5077797" y="2653811"/>
            <a:ext cx="198255" cy="164640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FEF12887-5148-314B-A510-67990FB7CC2C}"/>
              </a:ext>
            </a:extLst>
          </p:cNvPr>
          <p:cNvCxnSpPr>
            <a:cxnSpLocks/>
            <a:stCxn id="13" idx="1"/>
            <a:endCxn id="17" idx="2"/>
          </p:cNvCxnSpPr>
          <p:nvPr/>
        </p:nvCxnSpPr>
        <p:spPr>
          <a:xfrm rot="10800000" flipH="1" flipV="1">
            <a:off x="3373063" y="3144653"/>
            <a:ext cx="2627062" cy="862366"/>
          </a:xfrm>
          <a:prstGeom prst="bentConnector3">
            <a:avLst>
              <a:gd name="adj1" fmla="val -8702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ight Arrow 20">
            <a:extLst>
              <a:ext uri="{FF2B5EF4-FFF2-40B4-BE49-F238E27FC236}">
                <a16:creationId xmlns:a16="http://schemas.microsoft.com/office/drawing/2014/main" id="{2C33E09D-218C-BC4A-A438-DF3D8EBBA231}"/>
              </a:ext>
            </a:extLst>
          </p:cNvPr>
          <p:cNvSpPr/>
          <p:nvPr/>
        </p:nvSpPr>
        <p:spPr>
          <a:xfrm>
            <a:off x="7949977" y="3393925"/>
            <a:ext cx="449179" cy="3588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5CE597-1751-044B-B60A-E08ADF0ACA5C}"/>
              </a:ext>
            </a:extLst>
          </p:cNvPr>
          <p:cNvSpPr txBox="1"/>
          <p:nvPr/>
        </p:nvSpPr>
        <p:spPr>
          <a:xfrm>
            <a:off x="8759368" y="3250198"/>
            <a:ext cx="2173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DEFINIR, ENTRENAR, </a:t>
            </a:r>
          </a:p>
          <a:p>
            <a:r>
              <a:rPr lang="en-US" dirty="0"/>
              <a:t>GUARDAR, INDEXAR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A5F0DF7-4BFD-1144-A5D9-D8C5518E55A1}"/>
              </a:ext>
            </a:extLst>
          </p:cNvPr>
          <p:cNvGrpSpPr/>
          <p:nvPr/>
        </p:nvGrpSpPr>
        <p:grpSpPr>
          <a:xfrm>
            <a:off x="163776" y="6019961"/>
            <a:ext cx="11113935" cy="461665"/>
            <a:chOff x="745990" y="5758508"/>
            <a:chExt cx="11113935" cy="46166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AE773D-3826-2049-BE6B-46B3DCDB4E27}"/>
                </a:ext>
              </a:extLst>
            </p:cNvPr>
            <p:cNvSpPr txBox="1"/>
            <p:nvPr/>
          </p:nvSpPr>
          <p:spPr>
            <a:xfrm>
              <a:off x="1447972" y="5758508"/>
              <a:ext cx="104119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9300"/>
                  </a:solidFill>
                  <a:latin typeface="Trebuchet MS" panose="020B0703020202090204" pitchFamily="34" charset="0"/>
                </a:rPr>
                <a:t>CADA CLASIFICADOR GUARDADO EN LA NUBE, INDEXADO, DE FÁCIL ACCESO</a:t>
              </a:r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F23403BA-E4C4-0344-AD41-72008C3F2C26}"/>
                </a:ext>
              </a:extLst>
            </p:cNvPr>
            <p:cNvSpPr/>
            <p:nvPr/>
          </p:nvSpPr>
          <p:spPr>
            <a:xfrm>
              <a:off x="745990" y="5820897"/>
              <a:ext cx="641684" cy="336885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7783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D8D1B-9F90-9448-95EA-1EB8082FD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8966"/>
            <a:ext cx="5715000" cy="1828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3F784B3-8832-5947-B578-8E5C4E6FCB99}"/>
              </a:ext>
            </a:extLst>
          </p:cNvPr>
          <p:cNvSpPr/>
          <p:nvPr/>
        </p:nvSpPr>
        <p:spPr>
          <a:xfrm>
            <a:off x="3882887" y="636105"/>
            <a:ext cx="993913" cy="993913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729C3E07-92CE-D440-BA87-B071CB463A51}"/>
              </a:ext>
            </a:extLst>
          </p:cNvPr>
          <p:cNvSpPr/>
          <p:nvPr/>
        </p:nvSpPr>
        <p:spPr>
          <a:xfrm>
            <a:off x="4823791" y="155714"/>
            <a:ext cx="5022574" cy="1832114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6D0151C2-DE53-4446-B23D-82E8DBEE27EA}"/>
              </a:ext>
            </a:extLst>
          </p:cNvPr>
          <p:cNvSpPr/>
          <p:nvPr/>
        </p:nvSpPr>
        <p:spPr>
          <a:xfrm rot="10800000">
            <a:off x="-1053547" y="155714"/>
            <a:ext cx="5022574" cy="2027582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137EEE5-ABB2-A844-99B2-B6182D0C90B8}"/>
              </a:ext>
            </a:extLst>
          </p:cNvPr>
          <p:cNvCxnSpPr/>
          <p:nvPr/>
        </p:nvCxnSpPr>
        <p:spPr>
          <a:xfrm>
            <a:off x="4386478" y="1630018"/>
            <a:ext cx="0" cy="1258956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1285F5-27C4-0348-84A5-11A6BA3206F1}"/>
              </a:ext>
            </a:extLst>
          </p:cNvPr>
          <p:cNvSpPr txBox="1"/>
          <p:nvPr/>
        </p:nvSpPr>
        <p:spPr>
          <a:xfrm>
            <a:off x="34187" y="2912619"/>
            <a:ext cx="5622052" cy="193899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Crear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funciones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como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por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ejemplo</a:t>
            </a:r>
            <a:endParaRPr lang="en-US" sz="24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clf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load_classifier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</a:t>
            </a:r>
          </a:p>
          <a:p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clf.fit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(X1_sel,ytrain)</a:t>
            </a:r>
          </a:p>
          <a:p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ypred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clf.predict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(X2,sel)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7A7CA7C-73D1-BA4D-B9E4-356E2980D172}"/>
              </a:ext>
            </a:extLst>
          </p:cNvPr>
          <p:cNvGrpSpPr/>
          <p:nvPr/>
        </p:nvGrpSpPr>
        <p:grpSpPr>
          <a:xfrm>
            <a:off x="163776" y="6019961"/>
            <a:ext cx="11113935" cy="461665"/>
            <a:chOff x="745990" y="5758508"/>
            <a:chExt cx="11113935" cy="461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5668401-BF81-3841-A600-4D4F74E3A2AB}"/>
                </a:ext>
              </a:extLst>
            </p:cNvPr>
            <p:cNvSpPr txBox="1"/>
            <p:nvPr/>
          </p:nvSpPr>
          <p:spPr>
            <a:xfrm>
              <a:off x="1447972" y="5758508"/>
              <a:ext cx="104119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9300"/>
                  </a:solidFill>
                  <a:latin typeface="Trebuchet MS" panose="020B0703020202090204" pitchFamily="34" charset="0"/>
                </a:rPr>
                <a:t>CADA CLASIFICADOR GUARDADO EN LA NUBE, INDEXADO, DE FÁCIL ACCESO</a:t>
              </a:r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171DB2EB-5D28-E94E-A852-1814AC1F8554}"/>
                </a:ext>
              </a:extLst>
            </p:cNvPr>
            <p:cNvSpPr/>
            <p:nvPr/>
          </p:nvSpPr>
          <p:spPr>
            <a:xfrm>
              <a:off x="745990" y="5820897"/>
              <a:ext cx="641684" cy="336885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4E7D250-FE08-E442-AC82-55A67A966E29}"/>
              </a:ext>
            </a:extLst>
          </p:cNvPr>
          <p:cNvSpPr txBox="1"/>
          <p:nvPr/>
        </p:nvSpPr>
        <p:spPr>
          <a:xfrm>
            <a:off x="6260816" y="2888974"/>
            <a:ext cx="5622052" cy="193899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Crear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funciones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como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por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ejemplo</a:t>
            </a:r>
            <a:endParaRPr lang="en-US" sz="24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clf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load_trained_classifier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</a:t>
            </a:r>
          </a:p>
          <a:p>
            <a:endParaRPr lang="en-US" sz="24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ypred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clf.predict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(X2,sel)</a:t>
            </a:r>
          </a:p>
        </p:txBody>
      </p:sp>
    </p:spTree>
    <p:extLst>
      <p:ext uri="{BB962C8B-B14F-4D97-AF65-F5344CB8AC3E}">
        <p14:creationId xmlns:p14="http://schemas.microsoft.com/office/powerpoint/2010/main" val="28573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12" grpId="0" build="p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D8D1B-9F90-9448-95EA-1EB8082FD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8966"/>
            <a:ext cx="5715000" cy="1828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B80ABC49-5718-0A43-A14E-6C9B6D4940B4}"/>
              </a:ext>
            </a:extLst>
          </p:cNvPr>
          <p:cNvSpPr/>
          <p:nvPr/>
        </p:nvSpPr>
        <p:spPr>
          <a:xfrm>
            <a:off x="5022573" y="636105"/>
            <a:ext cx="993913" cy="993913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7D345F86-87A0-224A-B645-A2AB1A830270}"/>
              </a:ext>
            </a:extLst>
          </p:cNvPr>
          <p:cNvSpPr/>
          <p:nvPr/>
        </p:nvSpPr>
        <p:spPr>
          <a:xfrm rot="10800000">
            <a:off x="86139" y="155714"/>
            <a:ext cx="5022574" cy="2027582"/>
          </a:xfrm>
          <a:custGeom>
            <a:avLst/>
            <a:gdLst>
              <a:gd name="connsiteX0" fmla="*/ 53009 w 5022574"/>
              <a:gd name="connsiteY0" fmla="*/ 0 h 2027582"/>
              <a:gd name="connsiteX1" fmla="*/ 39756 w 5022574"/>
              <a:gd name="connsiteY1" fmla="*/ 702365 h 2027582"/>
              <a:gd name="connsiteX2" fmla="*/ 92765 w 5022574"/>
              <a:gd name="connsiteY2" fmla="*/ 848139 h 2027582"/>
              <a:gd name="connsiteX3" fmla="*/ 119269 w 5022574"/>
              <a:gd name="connsiteY3" fmla="*/ 1007165 h 2027582"/>
              <a:gd name="connsiteX4" fmla="*/ 92765 w 5022574"/>
              <a:gd name="connsiteY4" fmla="*/ 1192695 h 2027582"/>
              <a:gd name="connsiteX5" fmla="*/ 0 w 5022574"/>
              <a:gd name="connsiteY5" fmla="*/ 1325217 h 2027582"/>
              <a:gd name="connsiteX6" fmla="*/ 13252 w 5022574"/>
              <a:gd name="connsiteY6" fmla="*/ 2027582 h 2027582"/>
              <a:gd name="connsiteX7" fmla="*/ 5022574 w 5022574"/>
              <a:gd name="connsiteY7" fmla="*/ 2027582 h 2027582"/>
              <a:gd name="connsiteX8" fmla="*/ 5009322 w 5022574"/>
              <a:gd name="connsiteY8" fmla="*/ 39756 h 2027582"/>
              <a:gd name="connsiteX9" fmla="*/ 53009 w 5022574"/>
              <a:gd name="connsiteY9" fmla="*/ 0 h 202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2574" h="2027582">
                <a:moveTo>
                  <a:pt x="53009" y="0"/>
                </a:moveTo>
                <a:lnTo>
                  <a:pt x="39756" y="702365"/>
                </a:lnTo>
                <a:lnTo>
                  <a:pt x="92765" y="848139"/>
                </a:lnTo>
                <a:lnTo>
                  <a:pt x="119269" y="1007165"/>
                </a:lnTo>
                <a:lnTo>
                  <a:pt x="92765" y="1192695"/>
                </a:lnTo>
                <a:lnTo>
                  <a:pt x="0" y="1325217"/>
                </a:lnTo>
                <a:lnTo>
                  <a:pt x="13252" y="2027582"/>
                </a:lnTo>
                <a:lnTo>
                  <a:pt x="5022574" y="2027582"/>
                </a:lnTo>
                <a:cubicBezTo>
                  <a:pt x="5018157" y="1364973"/>
                  <a:pt x="5013739" y="702365"/>
                  <a:pt x="5009322" y="39756"/>
                </a:cubicBezTo>
                <a:lnTo>
                  <a:pt x="53009" y="0"/>
                </a:lnTo>
                <a:close/>
              </a:path>
            </a:pathLst>
          </a:cu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8B3BAF3-0112-4C4D-8687-FA582D7089BB}"/>
              </a:ext>
            </a:extLst>
          </p:cNvPr>
          <p:cNvCxnSpPr/>
          <p:nvPr/>
        </p:nvCxnSpPr>
        <p:spPr>
          <a:xfrm>
            <a:off x="5536004" y="1630018"/>
            <a:ext cx="0" cy="1258956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B1169E2-0BC0-EF48-9180-445ADEC52496}"/>
              </a:ext>
            </a:extLst>
          </p:cNvPr>
          <p:cNvSpPr/>
          <p:nvPr/>
        </p:nvSpPr>
        <p:spPr>
          <a:xfrm>
            <a:off x="4548720" y="2911420"/>
            <a:ext cx="1961322" cy="4664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DEFINIR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D619E-29EF-ED43-A78F-68AFDA8C7862}"/>
              </a:ext>
            </a:extLst>
          </p:cNvPr>
          <p:cNvSpPr txBox="1"/>
          <p:nvPr/>
        </p:nvSpPr>
        <p:spPr>
          <a:xfrm>
            <a:off x="7094862" y="2883642"/>
            <a:ext cx="217239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rebuchet MS" panose="020B0703020202090204" pitchFamily="34" charset="0"/>
              </a:rPr>
              <a:t>1) holdout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rebuchet MS" panose="020B0703020202090204" pitchFamily="34" charset="0"/>
              </a:rPr>
              <a:t>2) </a:t>
            </a:r>
            <a:r>
              <a:rPr lang="en-US" sz="2800" dirty="0" err="1">
                <a:latin typeface="Trebuchet MS" panose="020B0703020202090204" pitchFamily="34" charset="0"/>
              </a:rPr>
              <a:t>crossval</a:t>
            </a:r>
            <a:endParaRPr lang="en-US" sz="2800" dirty="0">
              <a:latin typeface="Trebuchet MS" panose="020B070302020209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rebuchet MS" panose="020B0703020202090204" pitchFamily="34" charset="0"/>
              </a:rPr>
              <a:t>3) reports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7C8E525-6752-9747-B426-4CE43FC4D913}"/>
              </a:ext>
            </a:extLst>
          </p:cNvPr>
          <p:cNvSpPr/>
          <p:nvPr/>
        </p:nvSpPr>
        <p:spPr>
          <a:xfrm>
            <a:off x="7175782" y="3073261"/>
            <a:ext cx="144000" cy="144000"/>
          </a:xfrm>
          <a:prstGeom prst="ellipse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AC64CDB-892B-0040-814B-056D1FC14BBE}"/>
              </a:ext>
            </a:extLst>
          </p:cNvPr>
          <p:cNvSpPr/>
          <p:nvPr/>
        </p:nvSpPr>
        <p:spPr>
          <a:xfrm>
            <a:off x="7175782" y="3504140"/>
            <a:ext cx="144000" cy="144000"/>
          </a:xfrm>
          <a:prstGeom prst="ellipse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F0C518F-C619-694B-B588-F108A7ED48A8}"/>
              </a:ext>
            </a:extLst>
          </p:cNvPr>
          <p:cNvSpPr/>
          <p:nvPr/>
        </p:nvSpPr>
        <p:spPr>
          <a:xfrm>
            <a:off x="7175782" y="3935019"/>
            <a:ext cx="144000" cy="144000"/>
          </a:xfrm>
          <a:prstGeom prst="ellipse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F50E9B4-4F61-C448-9D45-5B649F0CE9DA}"/>
              </a:ext>
            </a:extLst>
          </p:cNvPr>
          <p:cNvCxnSpPr>
            <a:cxnSpLocks/>
            <a:stCxn id="8" idx="3"/>
            <a:endCxn id="10" idx="2"/>
          </p:cNvCxnSpPr>
          <p:nvPr/>
        </p:nvCxnSpPr>
        <p:spPr>
          <a:xfrm>
            <a:off x="6510042" y="3144653"/>
            <a:ext cx="665740" cy="6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BFC044CD-77D1-9E4D-8916-2EFA9EB11A17}"/>
              </a:ext>
            </a:extLst>
          </p:cNvPr>
          <p:cNvCxnSpPr>
            <a:cxnSpLocks/>
            <a:stCxn id="8" idx="2"/>
            <a:endCxn id="11" idx="2"/>
          </p:cNvCxnSpPr>
          <p:nvPr/>
        </p:nvCxnSpPr>
        <p:spPr>
          <a:xfrm rot="16200000" flipH="1">
            <a:off x="6253454" y="2653811"/>
            <a:ext cx="198255" cy="164640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EECC67B5-D483-D843-835B-8DAFF6AD134E}"/>
              </a:ext>
            </a:extLst>
          </p:cNvPr>
          <p:cNvCxnSpPr>
            <a:cxnSpLocks/>
            <a:stCxn id="8" idx="1"/>
            <a:endCxn id="12" idx="2"/>
          </p:cNvCxnSpPr>
          <p:nvPr/>
        </p:nvCxnSpPr>
        <p:spPr>
          <a:xfrm rot="10800000" flipH="1" flipV="1">
            <a:off x="4548720" y="3144653"/>
            <a:ext cx="2627062" cy="862366"/>
          </a:xfrm>
          <a:prstGeom prst="bentConnector3">
            <a:avLst>
              <a:gd name="adj1" fmla="val -8702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ight Arrow 15">
            <a:extLst>
              <a:ext uri="{FF2B5EF4-FFF2-40B4-BE49-F238E27FC236}">
                <a16:creationId xmlns:a16="http://schemas.microsoft.com/office/drawing/2014/main" id="{3F4AF66E-C49C-1C45-8B6D-D5895C3CC9DB}"/>
              </a:ext>
            </a:extLst>
          </p:cNvPr>
          <p:cNvSpPr/>
          <p:nvPr/>
        </p:nvSpPr>
        <p:spPr>
          <a:xfrm>
            <a:off x="9465271" y="3393925"/>
            <a:ext cx="449179" cy="3588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846C77-EDE3-8B4E-B9F4-E4C253672747}"/>
              </a:ext>
            </a:extLst>
          </p:cNvPr>
          <p:cNvSpPr txBox="1"/>
          <p:nvPr/>
        </p:nvSpPr>
        <p:spPr>
          <a:xfrm>
            <a:off x="9935025" y="3367765"/>
            <a:ext cx="2042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DEFINIR,  GUARDAR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3F2B21-CACD-7C4A-A843-E89FB13EC220}"/>
              </a:ext>
            </a:extLst>
          </p:cNvPr>
          <p:cNvCxnSpPr/>
          <p:nvPr/>
        </p:nvCxnSpPr>
        <p:spPr>
          <a:xfrm flipV="1">
            <a:off x="8660674" y="4376057"/>
            <a:ext cx="0" cy="679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4EFDF99-E898-9746-A9AD-0EB752D94352}"/>
              </a:ext>
            </a:extLst>
          </p:cNvPr>
          <p:cNvSpPr txBox="1"/>
          <p:nvPr/>
        </p:nvSpPr>
        <p:spPr>
          <a:xfrm>
            <a:off x="6510042" y="5045326"/>
            <a:ext cx="51737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claridad</a:t>
            </a:r>
            <a:r>
              <a:rPr lang="en-US" dirty="0"/>
              <a:t> de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evaluados</a:t>
            </a:r>
            <a:r>
              <a:rPr lang="en-US" dirty="0"/>
              <a:t> con sus</a:t>
            </a:r>
          </a:p>
          <a:p>
            <a:r>
              <a:rPr lang="en-US" dirty="0" err="1"/>
              <a:t>métricas</a:t>
            </a:r>
            <a:r>
              <a:rPr lang="en-US" dirty="0"/>
              <a:t> de </a:t>
            </a:r>
            <a:r>
              <a:rPr lang="en-US" dirty="0" err="1"/>
              <a:t>desempeño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4897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5EB68-2699-27C2-96E2-01A8CCBFA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D7F8-6360-647F-4BBD-3AE031F49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6406"/>
            <a:ext cx="10515600" cy="1745188"/>
          </a:xfrm>
        </p:spPr>
        <p:txBody>
          <a:bodyPr>
            <a:norm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Implementación y Pruebas</a:t>
            </a:r>
            <a:br>
              <a:rPr lang="en-CL" dirty="0">
                <a:latin typeface="Gill Sans MT" panose="020B0502020104020203" pitchFamily="34" charset="77"/>
              </a:rPr>
            </a:br>
            <a:br>
              <a:rPr lang="en-CL" dirty="0">
                <a:latin typeface="Gill Sans MT" panose="020B0502020104020203" pitchFamily="34" charset="77"/>
              </a:rPr>
            </a:br>
            <a:r>
              <a:rPr lang="en-CL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(Metodología de Andrew Ng)</a:t>
            </a:r>
          </a:p>
        </p:txBody>
      </p:sp>
    </p:spTree>
    <p:extLst>
      <p:ext uri="{BB962C8B-B14F-4D97-AF65-F5344CB8AC3E}">
        <p14:creationId xmlns:p14="http://schemas.microsoft.com/office/powerpoint/2010/main" val="35247466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7A064E-E5F7-D74E-8CCD-D7CFBF2DD3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86"/>
          <a:stretch/>
        </p:blipFill>
        <p:spPr>
          <a:xfrm>
            <a:off x="2475282" y="191529"/>
            <a:ext cx="7241435" cy="64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750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A83C6B-58ED-6B4B-BB6B-5B6A2959572A}"/>
              </a:ext>
            </a:extLst>
          </p:cNvPr>
          <p:cNvSpPr txBox="1"/>
          <p:nvPr/>
        </p:nvSpPr>
        <p:spPr>
          <a:xfrm>
            <a:off x="2575112" y="1259840"/>
            <a:ext cx="1011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Trebuchet MS" panose="020B0703020202090204" pitchFamily="34" charset="0"/>
              </a:rPr>
              <a:t>IDEA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AA9AB5-0EEF-3144-B0AA-66EB3DCAC5C0}"/>
              </a:ext>
            </a:extLst>
          </p:cNvPr>
          <p:cNvSpPr txBox="1"/>
          <p:nvPr/>
        </p:nvSpPr>
        <p:spPr>
          <a:xfrm>
            <a:off x="8589361" y="2430205"/>
            <a:ext cx="33588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Trebuchet MS" panose="020B0703020202090204" pitchFamily="34" charset="0"/>
              </a:rPr>
              <a:t>IMPLEMENTACIÓN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6E7910-50EC-7F45-956A-4FA1A47E0E1E}"/>
              </a:ext>
            </a:extLst>
          </p:cNvPr>
          <p:cNvSpPr txBox="1"/>
          <p:nvPr/>
        </p:nvSpPr>
        <p:spPr>
          <a:xfrm>
            <a:off x="4646826" y="5737572"/>
            <a:ext cx="28983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Trebuchet MS" panose="020B0703020202090204" pitchFamily="34" charset="0"/>
              </a:rPr>
              <a:t>EXPERIMENTOS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34824855-8F3B-0D4F-BD56-02641E39F617}"/>
              </a:ext>
            </a:extLst>
          </p:cNvPr>
          <p:cNvSpPr/>
          <p:nvPr/>
        </p:nvSpPr>
        <p:spPr>
          <a:xfrm>
            <a:off x="4246361" y="1306594"/>
            <a:ext cx="1869157" cy="2743200"/>
          </a:xfrm>
          <a:custGeom>
            <a:avLst/>
            <a:gdLst>
              <a:gd name="connsiteX0" fmla="*/ 149688 w 1869157"/>
              <a:gd name="connsiteY0" fmla="*/ 2743200 h 2743200"/>
              <a:gd name="connsiteX1" fmla="*/ 601 w 1869157"/>
              <a:gd name="connsiteY1" fmla="*/ 1749287 h 2743200"/>
              <a:gd name="connsiteX2" fmla="*/ 199383 w 1869157"/>
              <a:gd name="connsiteY2" fmla="*/ 934278 h 2743200"/>
              <a:gd name="connsiteX3" fmla="*/ 696340 w 1869157"/>
              <a:gd name="connsiteY3" fmla="*/ 407505 h 2743200"/>
              <a:gd name="connsiteX4" fmla="*/ 1352323 w 1869157"/>
              <a:gd name="connsiteY4" fmla="*/ 79513 h 2743200"/>
              <a:gd name="connsiteX5" fmla="*/ 1869157 w 1869157"/>
              <a:gd name="connsiteY5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9157" h="2743200">
                <a:moveTo>
                  <a:pt x="149688" y="2743200"/>
                </a:moveTo>
                <a:cubicBezTo>
                  <a:pt x="71003" y="2396987"/>
                  <a:pt x="-7682" y="2050774"/>
                  <a:pt x="601" y="1749287"/>
                </a:cubicBezTo>
                <a:cubicBezTo>
                  <a:pt x="8883" y="1447800"/>
                  <a:pt x="83426" y="1157908"/>
                  <a:pt x="199383" y="934278"/>
                </a:cubicBezTo>
                <a:cubicBezTo>
                  <a:pt x="315340" y="710648"/>
                  <a:pt x="504183" y="549966"/>
                  <a:pt x="696340" y="407505"/>
                </a:cubicBezTo>
                <a:cubicBezTo>
                  <a:pt x="888497" y="265044"/>
                  <a:pt x="1156854" y="147430"/>
                  <a:pt x="1352323" y="79513"/>
                </a:cubicBezTo>
                <a:cubicBezTo>
                  <a:pt x="1547792" y="11596"/>
                  <a:pt x="1708474" y="5798"/>
                  <a:pt x="1869157" y="0"/>
                </a:cubicBezTo>
              </a:path>
            </a:pathLst>
          </a:custGeom>
          <a:noFill/>
          <a:ln w="762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9286BE9-AD5A-4C41-820A-C548498DDB12}"/>
              </a:ext>
            </a:extLst>
          </p:cNvPr>
          <p:cNvSpPr/>
          <p:nvPr/>
        </p:nvSpPr>
        <p:spPr>
          <a:xfrm rot="7046917">
            <a:off x="6052942" y="1256317"/>
            <a:ext cx="1869157" cy="2743200"/>
          </a:xfrm>
          <a:custGeom>
            <a:avLst/>
            <a:gdLst>
              <a:gd name="connsiteX0" fmla="*/ 149688 w 1869157"/>
              <a:gd name="connsiteY0" fmla="*/ 2743200 h 2743200"/>
              <a:gd name="connsiteX1" fmla="*/ 601 w 1869157"/>
              <a:gd name="connsiteY1" fmla="*/ 1749287 h 2743200"/>
              <a:gd name="connsiteX2" fmla="*/ 199383 w 1869157"/>
              <a:gd name="connsiteY2" fmla="*/ 934278 h 2743200"/>
              <a:gd name="connsiteX3" fmla="*/ 696340 w 1869157"/>
              <a:gd name="connsiteY3" fmla="*/ 407505 h 2743200"/>
              <a:gd name="connsiteX4" fmla="*/ 1352323 w 1869157"/>
              <a:gd name="connsiteY4" fmla="*/ 79513 h 2743200"/>
              <a:gd name="connsiteX5" fmla="*/ 1869157 w 1869157"/>
              <a:gd name="connsiteY5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9157" h="2743200">
                <a:moveTo>
                  <a:pt x="149688" y="2743200"/>
                </a:moveTo>
                <a:cubicBezTo>
                  <a:pt x="71003" y="2396987"/>
                  <a:pt x="-7682" y="2050774"/>
                  <a:pt x="601" y="1749287"/>
                </a:cubicBezTo>
                <a:cubicBezTo>
                  <a:pt x="8883" y="1447800"/>
                  <a:pt x="83426" y="1157908"/>
                  <a:pt x="199383" y="934278"/>
                </a:cubicBezTo>
                <a:cubicBezTo>
                  <a:pt x="315340" y="710648"/>
                  <a:pt x="504183" y="549966"/>
                  <a:pt x="696340" y="407505"/>
                </a:cubicBezTo>
                <a:cubicBezTo>
                  <a:pt x="888497" y="265044"/>
                  <a:pt x="1156854" y="147430"/>
                  <a:pt x="1352323" y="79513"/>
                </a:cubicBezTo>
                <a:cubicBezTo>
                  <a:pt x="1547792" y="11596"/>
                  <a:pt x="1708474" y="5798"/>
                  <a:pt x="1869157" y="0"/>
                </a:cubicBezTo>
              </a:path>
            </a:pathLst>
          </a:custGeom>
          <a:noFill/>
          <a:ln w="76200">
            <a:solidFill>
              <a:srgbClr val="FF93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6521E96D-31AC-AB4A-9530-282F1EAB8E37}"/>
              </a:ext>
            </a:extLst>
          </p:cNvPr>
          <p:cNvSpPr/>
          <p:nvPr/>
        </p:nvSpPr>
        <p:spPr>
          <a:xfrm rot="14342892">
            <a:off x="5195442" y="2791579"/>
            <a:ext cx="1869157" cy="2743200"/>
          </a:xfrm>
          <a:custGeom>
            <a:avLst/>
            <a:gdLst>
              <a:gd name="connsiteX0" fmla="*/ 149688 w 1869157"/>
              <a:gd name="connsiteY0" fmla="*/ 2743200 h 2743200"/>
              <a:gd name="connsiteX1" fmla="*/ 601 w 1869157"/>
              <a:gd name="connsiteY1" fmla="*/ 1749287 h 2743200"/>
              <a:gd name="connsiteX2" fmla="*/ 199383 w 1869157"/>
              <a:gd name="connsiteY2" fmla="*/ 934278 h 2743200"/>
              <a:gd name="connsiteX3" fmla="*/ 696340 w 1869157"/>
              <a:gd name="connsiteY3" fmla="*/ 407505 h 2743200"/>
              <a:gd name="connsiteX4" fmla="*/ 1352323 w 1869157"/>
              <a:gd name="connsiteY4" fmla="*/ 79513 h 2743200"/>
              <a:gd name="connsiteX5" fmla="*/ 1869157 w 1869157"/>
              <a:gd name="connsiteY5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9157" h="2743200">
                <a:moveTo>
                  <a:pt x="149688" y="2743200"/>
                </a:moveTo>
                <a:cubicBezTo>
                  <a:pt x="71003" y="2396987"/>
                  <a:pt x="-7682" y="2050774"/>
                  <a:pt x="601" y="1749287"/>
                </a:cubicBezTo>
                <a:cubicBezTo>
                  <a:pt x="8883" y="1447800"/>
                  <a:pt x="83426" y="1157908"/>
                  <a:pt x="199383" y="934278"/>
                </a:cubicBezTo>
                <a:cubicBezTo>
                  <a:pt x="315340" y="710648"/>
                  <a:pt x="504183" y="549966"/>
                  <a:pt x="696340" y="407505"/>
                </a:cubicBezTo>
                <a:cubicBezTo>
                  <a:pt x="888497" y="265044"/>
                  <a:pt x="1156854" y="147430"/>
                  <a:pt x="1352323" y="79513"/>
                </a:cubicBezTo>
                <a:cubicBezTo>
                  <a:pt x="1547792" y="11596"/>
                  <a:pt x="1708474" y="5798"/>
                  <a:pt x="1869157" y="0"/>
                </a:cubicBezTo>
              </a:path>
            </a:pathLst>
          </a:custGeom>
          <a:noFill/>
          <a:ln w="762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7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2" grpId="0" animBg="1"/>
      <p:bldP spid="7" grpId="0" animBg="1"/>
      <p:bldP spid="1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3D0FBE3-C765-6447-977E-FBCA3014F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020" y="0"/>
            <a:ext cx="6029960" cy="6029960"/>
          </a:xfrm>
          <a:prstGeom prst="rect">
            <a:avLst/>
          </a:prstGeom>
        </p:spPr>
      </p:pic>
      <p:pic>
        <p:nvPicPr>
          <p:cNvPr id="1026" name="Picture 2" descr="GIFs de rueda de hámster - 70 roedores animados corren en una rueda |  USAGIF.com">
            <a:extLst>
              <a:ext uri="{FF2B5EF4-FFF2-40B4-BE49-F238E27FC236}">
                <a16:creationId xmlns:a16="http://schemas.microsoft.com/office/drawing/2014/main" id="{C871ADE2-ACDB-26D9-01BE-2C1ADA77D5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9" r="20071"/>
          <a:stretch>
            <a:fillRect/>
          </a:stretch>
        </p:blipFill>
        <p:spPr bwMode="auto">
          <a:xfrm flipH="1">
            <a:off x="3081020" y="626555"/>
            <a:ext cx="6029960" cy="4840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A83C6B-58ED-6B4B-BB6B-5B6A2959572A}"/>
              </a:ext>
            </a:extLst>
          </p:cNvPr>
          <p:cNvSpPr txBox="1"/>
          <p:nvPr/>
        </p:nvSpPr>
        <p:spPr>
          <a:xfrm>
            <a:off x="2575112" y="1259840"/>
            <a:ext cx="1011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Trebuchet MS" panose="020B0703020202090204" pitchFamily="34" charset="0"/>
              </a:rPr>
              <a:t>IDEA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AA9AB5-0EEF-3144-B0AA-66EB3DCAC5C0}"/>
              </a:ext>
            </a:extLst>
          </p:cNvPr>
          <p:cNvSpPr txBox="1"/>
          <p:nvPr/>
        </p:nvSpPr>
        <p:spPr>
          <a:xfrm>
            <a:off x="8589361" y="2430205"/>
            <a:ext cx="33588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Trebuchet MS" panose="020B0703020202090204" pitchFamily="34" charset="0"/>
              </a:rPr>
              <a:t>IMPLEMENTACIÓN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6E7910-50EC-7F45-956A-4FA1A47E0E1E}"/>
              </a:ext>
            </a:extLst>
          </p:cNvPr>
          <p:cNvSpPr txBox="1"/>
          <p:nvPr/>
        </p:nvSpPr>
        <p:spPr>
          <a:xfrm>
            <a:off x="4646826" y="5737572"/>
            <a:ext cx="28983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Trebuchet MS" panose="020B0703020202090204" pitchFamily="34" charset="0"/>
              </a:rPr>
              <a:t>EXPERIMENTOS</a:t>
            </a:r>
          </a:p>
        </p:txBody>
      </p:sp>
    </p:spTree>
    <p:extLst>
      <p:ext uri="{BB962C8B-B14F-4D97-AF65-F5344CB8AC3E}">
        <p14:creationId xmlns:p14="http://schemas.microsoft.com/office/powerpoint/2010/main" val="370530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7BBE4-029E-F10D-6ECE-F297AE730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6E12C8-8C05-0B94-BB8A-9147F254DF11}"/>
              </a:ext>
            </a:extLst>
          </p:cNvPr>
          <p:cNvSpPr txBox="1"/>
          <p:nvPr/>
        </p:nvSpPr>
        <p:spPr>
          <a:xfrm>
            <a:off x="1128794" y="181957"/>
            <a:ext cx="9443956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Gill Sans MT" panose="020B0502020104020203" pitchFamily="34" charset="77"/>
              </a:rPr>
              <a:t>Consejos</a:t>
            </a:r>
            <a:r>
              <a:rPr lang="en-US" sz="3200" dirty="0">
                <a:latin typeface="Gill Sans MT" panose="020B0502020104020203" pitchFamily="34" charset="77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Gill Sans MT" panose="020B0502020104020203" pitchFamily="34" charset="77"/>
              </a:rPr>
              <a:t>Como </a:t>
            </a:r>
            <a:r>
              <a:rPr lang="en-US" sz="3200" dirty="0" err="1">
                <a:latin typeface="Gill Sans MT" panose="020B0502020104020203" pitchFamily="34" charset="77"/>
              </a:rPr>
              <a:t>en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esta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metodología</a:t>
            </a:r>
            <a:r>
              <a:rPr lang="en-US" sz="3200" dirty="0">
                <a:latin typeface="Gill Sans MT" panose="020B0502020104020203" pitchFamily="34" charset="77"/>
              </a:rPr>
              <a:t> hay </a:t>
            </a:r>
            <a:r>
              <a:rPr lang="en-US" sz="3200" dirty="0" err="1">
                <a:latin typeface="Gill Sans MT" panose="020B0502020104020203" pitchFamily="34" charset="77"/>
              </a:rPr>
              <a:t>que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dar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muchas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vueltas</a:t>
            </a:r>
            <a:r>
              <a:rPr lang="en-US" sz="3200" dirty="0">
                <a:latin typeface="Gill Sans MT" panose="020B0502020104020203" pitchFamily="34" charset="77"/>
              </a:rPr>
              <a:t>, </a:t>
            </a:r>
            <a:r>
              <a:rPr lang="en-US" sz="3200" dirty="0" err="1">
                <a:latin typeface="Gill Sans MT" panose="020B0502020104020203" pitchFamily="34" charset="77"/>
              </a:rPr>
              <a:t>hacer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todo</a:t>
            </a:r>
            <a:r>
              <a:rPr lang="en-US" sz="3200" dirty="0">
                <a:latin typeface="Gill Sans MT" panose="020B0502020104020203" pitchFamily="34" charset="77"/>
              </a:rPr>
              <a:t> lo </a:t>
            </a:r>
            <a:r>
              <a:rPr lang="en-US" sz="3200" dirty="0" err="1">
                <a:latin typeface="Gill Sans MT" panose="020B0502020104020203" pitchFamily="34" charset="77"/>
              </a:rPr>
              <a:t>posible</a:t>
            </a:r>
            <a:r>
              <a:rPr lang="en-US" sz="3200" dirty="0">
                <a:latin typeface="Gill Sans MT" panose="020B0502020104020203" pitchFamily="34" charset="77"/>
              </a:rPr>
              <a:t> para </a:t>
            </a:r>
            <a:r>
              <a:rPr lang="en-US" sz="3200" dirty="0" err="1">
                <a:latin typeface="Gill Sans MT" panose="020B0502020104020203" pitchFamily="34" charset="77"/>
              </a:rPr>
              <a:t>que</a:t>
            </a:r>
            <a:r>
              <a:rPr lang="en-US" sz="3200" dirty="0">
                <a:latin typeface="Gill Sans MT" panose="020B0502020104020203" pitchFamily="34" charset="77"/>
              </a:rPr>
              <a:t>  las </a:t>
            </a:r>
            <a:r>
              <a:rPr lang="en-US" sz="3200" dirty="0" err="1">
                <a:latin typeface="Gill Sans MT" panose="020B0502020104020203" pitchFamily="34" charset="77"/>
              </a:rPr>
              <a:t>primeras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vueltas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sean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rápidas</a:t>
            </a:r>
            <a:r>
              <a:rPr lang="en-US" sz="3200" dirty="0">
                <a:latin typeface="Gill Sans MT" panose="020B0502020104020203" pitchFamily="34" charset="77"/>
              </a:rPr>
              <a:t>, </a:t>
            </a:r>
            <a:r>
              <a:rPr lang="en-US" sz="3200" dirty="0" err="1">
                <a:latin typeface="Gill Sans MT" panose="020B0502020104020203" pitchFamily="34" charset="77"/>
              </a:rPr>
              <a:t>esto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quiere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decir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que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los</a:t>
            </a:r>
            <a:r>
              <a:rPr lang="en-US" sz="3200" dirty="0">
                <a:latin typeface="Gill Sans MT" panose="020B0502020104020203" pitchFamily="34" charset="77"/>
              </a:rPr>
              <a:t> primeros </a:t>
            </a:r>
            <a:r>
              <a:rPr lang="en-US" sz="3200" dirty="0" err="1">
                <a:latin typeface="Gill Sans MT" panose="020B0502020104020203" pitchFamily="34" charset="77"/>
              </a:rPr>
              <a:t>experimentos</a:t>
            </a:r>
            <a:r>
              <a:rPr lang="en-US" sz="3200" dirty="0">
                <a:latin typeface="Gill Sans MT" panose="020B0502020104020203" pitchFamily="34" charset="77"/>
              </a:rPr>
              <a:t> (con </a:t>
            </a:r>
            <a:r>
              <a:rPr lang="en-US" sz="3200" dirty="0" err="1">
                <a:latin typeface="Gill Sans MT" panose="020B0502020104020203" pitchFamily="34" charset="77"/>
              </a:rPr>
              <a:t>los</a:t>
            </a:r>
            <a:r>
              <a:rPr lang="en-US" sz="3200" dirty="0">
                <a:latin typeface="Gill Sans MT" panose="020B0502020104020203" pitchFamily="34" charset="77"/>
              </a:rPr>
              <a:t> primeros </a:t>
            </a:r>
            <a:r>
              <a:rPr lang="en-US" sz="3200" dirty="0" err="1">
                <a:latin typeface="Gill Sans MT" panose="020B0502020104020203" pitchFamily="34" charset="77"/>
              </a:rPr>
              <a:t>resultados</a:t>
            </a:r>
            <a:r>
              <a:rPr lang="en-US" sz="3200" dirty="0">
                <a:latin typeface="Gill Sans MT" panose="020B0502020104020203" pitchFamily="34" charset="77"/>
              </a:rPr>
              <a:t>, </a:t>
            </a:r>
            <a:r>
              <a:rPr lang="en-US" sz="3200" dirty="0" err="1">
                <a:latin typeface="Gill Sans MT" panose="020B0502020104020203" pitchFamily="34" charset="77"/>
              </a:rPr>
              <a:t>aunque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sean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malos</a:t>
            </a:r>
            <a:r>
              <a:rPr lang="en-US" sz="3200" dirty="0">
                <a:latin typeface="Gill Sans MT" panose="020B0502020104020203" pitchFamily="34" charset="77"/>
              </a:rPr>
              <a:t>) se </a:t>
            </a:r>
            <a:r>
              <a:rPr lang="en-US" sz="3200" dirty="0" err="1">
                <a:latin typeface="Gill Sans MT" panose="020B0502020104020203" pitchFamily="34" charset="77"/>
              </a:rPr>
              <a:t>deben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conseguir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en</a:t>
            </a:r>
            <a:r>
              <a:rPr lang="en-US" sz="3200" dirty="0">
                <a:latin typeface="Gill Sans MT" panose="020B0502020104020203" pitchFamily="34" charset="77"/>
              </a:rPr>
              <a:t> las </a:t>
            </a:r>
            <a:r>
              <a:rPr lang="en-US" sz="3200" dirty="0" err="1">
                <a:latin typeface="Gill Sans MT" panose="020B0502020104020203" pitchFamily="34" charset="77"/>
              </a:rPr>
              <a:t>primeras</a:t>
            </a:r>
            <a:r>
              <a:rPr lang="en-US" sz="3200" dirty="0">
                <a:latin typeface="Gill Sans MT" panose="020B0502020104020203" pitchFamily="34" charset="77"/>
              </a:rPr>
              <a:t> horas o días.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>
                <a:latin typeface="Gill Sans MT" panose="020B0502020104020203" pitchFamily="34" charset="77"/>
              </a:rPr>
              <a:t>Empezar</a:t>
            </a:r>
            <a:r>
              <a:rPr lang="en-US" sz="3200" dirty="0">
                <a:latin typeface="Gill Sans MT" panose="020B0502020104020203" pitchFamily="34" charset="77"/>
              </a:rPr>
              <a:t> con </a:t>
            </a:r>
            <a:r>
              <a:rPr lang="en-US" sz="3200" dirty="0" err="1">
                <a:latin typeface="Gill Sans MT" panose="020B0502020104020203" pitchFamily="34" charset="77"/>
              </a:rPr>
              <a:t>pocos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datos</a:t>
            </a:r>
            <a:r>
              <a:rPr lang="en-US" sz="3200" dirty="0">
                <a:latin typeface="Gill Sans MT" panose="020B0502020104020203" pitchFamily="34" charset="77"/>
              </a:rPr>
              <a:t>, para </a:t>
            </a:r>
            <a:r>
              <a:rPr lang="en-US" sz="3200" dirty="0" err="1">
                <a:latin typeface="Gill Sans MT" panose="020B0502020104020203" pitchFamily="34" charset="77"/>
              </a:rPr>
              <a:t>tener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entrenamientos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rápidos</a:t>
            </a:r>
            <a:r>
              <a:rPr lang="en-US" sz="3200" dirty="0">
                <a:latin typeface="Gill Sans MT" panose="020B0502020104020203" pitchFamily="34" charset="77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>
                <a:latin typeface="Gill Sans MT" panose="020B0502020104020203" pitchFamily="34" charset="77"/>
              </a:rPr>
              <a:t>Dejar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los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entrenamiento</a:t>
            </a:r>
            <a:r>
              <a:rPr lang="en-US" sz="3200" dirty="0">
                <a:latin typeface="Gill Sans MT" panose="020B0502020104020203" pitchFamily="34" charset="77"/>
              </a:rPr>
              <a:t> y </a:t>
            </a:r>
            <a:r>
              <a:rPr lang="en-US" sz="3200" dirty="0" err="1">
                <a:latin typeface="Gill Sans MT" panose="020B0502020104020203" pitchFamily="34" charset="77"/>
              </a:rPr>
              <a:t>pruebas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que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demanden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más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tiempo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cuando</a:t>
            </a:r>
            <a:r>
              <a:rPr lang="en-US" sz="3200" dirty="0">
                <a:latin typeface="Gill Sans MT" panose="020B0502020104020203" pitchFamily="34" charset="77"/>
              </a:rPr>
              <a:t> se </a:t>
            </a:r>
            <a:r>
              <a:rPr lang="en-US" sz="3200" dirty="0" err="1">
                <a:latin typeface="Gill Sans MT" panose="020B0502020104020203" pitchFamily="34" charset="77"/>
              </a:rPr>
              <a:t>tenga</a:t>
            </a:r>
            <a:r>
              <a:rPr lang="en-US" sz="3200" dirty="0">
                <a:latin typeface="Gill Sans MT" panose="020B0502020104020203" pitchFamily="34" charset="77"/>
              </a:rPr>
              <a:t> completa </a:t>
            </a:r>
            <a:r>
              <a:rPr lang="en-US" sz="3200" dirty="0" err="1">
                <a:latin typeface="Gill Sans MT" panose="020B0502020104020203" pitchFamily="34" charset="77"/>
              </a:rPr>
              <a:t>seguridad</a:t>
            </a:r>
            <a:r>
              <a:rPr lang="en-US" sz="3200" dirty="0">
                <a:latin typeface="Gill Sans MT" panose="020B0502020104020203" pitchFamily="34" charset="77"/>
              </a:rPr>
              <a:t> de </a:t>
            </a:r>
            <a:r>
              <a:rPr lang="en-US" sz="3200" dirty="0" err="1">
                <a:latin typeface="Gill Sans MT" panose="020B0502020104020203" pitchFamily="34" charset="77"/>
              </a:rPr>
              <a:t>que</a:t>
            </a:r>
            <a:r>
              <a:rPr lang="en-US" sz="3200" dirty="0">
                <a:latin typeface="Gill Sans MT" panose="020B0502020104020203" pitchFamily="34" charset="77"/>
              </a:rPr>
              <a:t> la </a:t>
            </a:r>
            <a:r>
              <a:rPr lang="en-US" sz="3200" dirty="0" err="1">
                <a:latin typeface="Gill Sans MT" panose="020B0502020104020203" pitchFamily="34" charset="77"/>
              </a:rPr>
              <a:t>implementación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está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haciendo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exactamente</a:t>
            </a:r>
            <a:r>
              <a:rPr lang="en-US" sz="3200" dirty="0">
                <a:latin typeface="Gill Sans MT" panose="020B0502020104020203" pitchFamily="34" charset="77"/>
              </a:rPr>
              <a:t> lo </a:t>
            </a:r>
            <a:r>
              <a:rPr lang="en-US" sz="3200" dirty="0" err="1">
                <a:latin typeface="Gill Sans MT" panose="020B0502020104020203" pitchFamily="34" charset="77"/>
              </a:rPr>
              <a:t>que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queremos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que</a:t>
            </a:r>
            <a:r>
              <a:rPr lang="en-US" sz="3200" dirty="0">
                <a:latin typeface="Gill Sans MT" panose="020B0502020104020203" pitchFamily="34" charset="77"/>
              </a:rPr>
              <a:t> </a:t>
            </a:r>
            <a:r>
              <a:rPr lang="en-US" sz="3200" dirty="0" err="1">
                <a:latin typeface="Gill Sans MT" panose="020B0502020104020203" pitchFamily="34" charset="77"/>
              </a:rPr>
              <a:t>haga</a:t>
            </a:r>
            <a:r>
              <a:rPr lang="en-US" sz="3200" dirty="0">
                <a:latin typeface="Gill Sans MT" panose="020B0502020104020203" pitchFamily="34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955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2009</Words>
  <Application>Microsoft Macintosh PowerPoint</Application>
  <PresentationFormat>Widescreen</PresentationFormat>
  <Paragraphs>320</Paragraphs>
  <Slides>54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Aptos Display</vt:lpstr>
      <vt:lpstr>Arial</vt:lpstr>
      <vt:lpstr>Consolas</vt:lpstr>
      <vt:lpstr>Gill Sans MT</vt:lpstr>
      <vt:lpstr>Trebuchet MS</vt:lpstr>
      <vt:lpstr>Office Theme</vt:lpstr>
      <vt:lpstr>PowerPoint Presentation</vt:lpstr>
      <vt:lpstr>Estimación Métricas de Desempeño  (Ejemplo: Accuracy)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Aspectos Prácticos (y éticos)  en Machine Learning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Desarrollo de un Proyecto  (Ejemplo: Reconocimiento de Iris)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Implementación y Pruebas  (Metodología de Andrew Ng)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19</cp:revision>
  <dcterms:created xsi:type="dcterms:W3CDTF">2026-03-08T16:41:49Z</dcterms:created>
  <dcterms:modified xsi:type="dcterms:W3CDTF">2026-06-11T12:59:44Z</dcterms:modified>
</cp:coreProperties>
</file>