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7" r:id="rId2"/>
    <p:sldId id="324" r:id="rId3"/>
    <p:sldId id="333" r:id="rId4"/>
    <p:sldId id="791" r:id="rId5"/>
    <p:sldId id="792" r:id="rId6"/>
    <p:sldId id="793" r:id="rId7"/>
    <p:sldId id="794" r:id="rId8"/>
    <p:sldId id="795" r:id="rId9"/>
    <p:sldId id="796" r:id="rId10"/>
    <p:sldId id="797" r:id="rId11"/>
    <p:sldId id="798" r:id="rId12"/>
    <p:sldId id="799" r:id="rId13"/>
    <p:sldId id="800" r:id="rId14"/>
    <p:sldId id="801" r:id="rId15"/>
    <p:sldId id="802" r:id="rId16"/>
    <p:sldId id="803" r:id="rId17"/>
    <p:sldId id="804" r:id="rId18"/>
    <p:sldId id="805" r:id="rId19"/>
    <p:sldId id="806" r:id="rId20"/>
    <p:sldId id="829" r:id="rId21"/>
    <p:sldId id="808" r:id="rId22"/>
    <p:sldId id="809" r:id="rId23"/>
    <p:sldId id="810" r:id="rId24"/>
    <p:sldId id="811" r:id="rId25"/>
    <p:sldId id="812" r:id="rId26"/>
    <p:sldId id="813" r:id="rId27"/>
    <p:sldId id="814" r:id="rId28"/>
    <p:sldId id="815" r:id="rId29"/>
    <p:sldId id="816" r:id="rId30"/>
    <p:sldId id="817" r:id="rId31"/>
    <p:sldId id="818" r:id="rId32"/>
    <p:sldId id="819" r:id="rId33"/>
    <p:sldId id="820" r:id="rId34"/>
    <p:sldId id="821" r:id="rId35"/>
    <p:sldId id="822" r:id="rId36"/>
    <p:sldId id="823" r:id="rId37"/>
    <p:sldId id="782" r:id="rId38"/>
    <p:sldId id="826" r:id="rId39"/>
    <p:sldId id="827" r:id="rId40"/>
    <p:sldId id="828" r:id="rId41"/>
    <p:sldId id="824" r:id="rId42"/>
    <p:sldId id="825" r:id="rId43"/>
    <p:sldId id="790" r:id="rId44"/>
  </p:sldIdLst>
  <p:sldSz cx="12192000" cy="6858000"/>
  <p:notesSz cx="6858000" cy="9144000"/>
  <p:defaultTextStyle>
    <a:defPPr>
      <a:defRPr lang="en-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21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01"/>
    <p:restoredTop sz="94658"/>
  </p:normalViewPr>
  <p:slideViewPr>
    <p:cSldViewPr snapToGrid="0">
      <p:cViewPr>
        <p:scale>
          <a:sx n="100" d="100"/>
          <a:sy n="100" d="100"/>
        </p:scale>
        <p:origin x="144" y="504"/>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Gill Sans MT" panose="020B0502020104020203" pitchFamily="34" charset="77"/>
              </a:defRPr>
            </a:lvl1pPr>
          </a:lstStyle>
          <a:p>
            <a:endParaRPr lang="en-CL"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Gill Sans MT" panose="020B0502020104020203" pitchFamily="34" charset="77"/>
              </a:defRPr>
            </a:lvl1pPr>
          </a:lstStyle>
          <a:p>
            <a:fld id="{1249748F-0FE7-C64C-B0B9-9306A54D4824}" type="datetimeFigureOut">
              <a:rPr lang="en-CL" smtClean="0"/>
              <a:pPr/>
              <a:t>27-05-26</a:t>
            </a:fld>
            <a:endParaRPr lang="en-CL"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L"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Gill Sans MT" panose="020B0502020104020203" pitchFamily="34" charset="77"/>
              </a:defRPr>
            </a:lvl1pPr>
          </a:lstStyle>
          <a:p>
            <a:endParaRPr lang="en-CL"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Gill Sans MT" panose="020B0502020104020203" pitchFamily="34" charset="77"/>
              </a:defRPr>
            </a:lvl1pPr>
          </a:lstStyle>
          <a:p>
            <a:fld id="{8C36E6B2-EC45-1147-8496-DFA2586CC8C4}" type="slidenum">
              <a:rPr lang="en-CL" smtClean="0"/>
              <a:pPr/>
              <a:t>‹#›</a:t>
            </a:fld>
            <a:endParaRPr lang="en-CL" dirty="0"/>
          </a:p>
        </p:txBody>
      </p:sp>
    </p:spTree>
    <p:extLst>
      <p:ext uri="{BB962C8B-B14F-4D97-AF65-F5344CB8AC3E}">
        <p14:creationId xmlns:p14="http://schemas.microsoft.com/office/powerpoint/2010/main" val="303457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Gill Sans MT" panose="020B0502020104020203" pitchFamily="34" charset="77"/>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63F19DA8-E282-4E63-9FB1-69D6A3FD6FEB}" type="slidenum">
              <a:rPr lang="en-US"/>
              <a:pPr/>
              <a:t>43</a:t>
            </a:fld>
            <a:endParaRPr 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xfrm>
            <a:off x="914400" y="4343400"/>
            <a:ext cx="5029200" cy="4114800"/>
          </a:xfrm>
          <a:noFill/>
          <a:ln/>
        </p:spPr>
        <p:txBody>
          <a:bodyPr/>
          <a:lstStyle/>
          <a:p>
            <a:pPr eaLnBrk="1" hangingPunct="1"/>
            <a:endParaRPr lang="es-ES"/>
          </a:p>
        </p:txBody>
      </p:sp>
    </p:spTree>
    <p:extLst>
      <p:ext uri="{BB962C8B-B14F-4D97-AF65-F5344CB8AC3E}">
        <p14:creationId xmlns:p14="http://schemas.microsoft.com/office/powerpoint/2010/main" val="1282947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B8DC0-3787-B971-5D00-8727CB18CC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L"/>
          </a:p>
        </p:txBody>
      </p:sp>
      <p:sp>
        <p:nvSpPr>
          <p:cNvPr id="3" name="Subtitle 2">
            <a:extLst>
              <a:ext uri="{FF2B5EF4-FFF2-40B4-BE49-F238E27FC236}">
                <a16:creationId xmlns:a16="http://schemas.microsoft.com/office/drawing/2014/main" id="{084A3FB4-AFDF-6CFB-84FB-E0438C517C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L"/>
          </a:p>
        </p:txBody>
      </p:sp>
      <p:sp>
        <p:nvSpPr>
          <p:cNvPr id="4" name="Date Placeholder 3">
            <a:extLst>
              <a:ext uri="{FF2B5EF4-FFF2-40B4-BE49-F238E27FC236}">
                <a16:creationId xmlns:a16="http://schemas.microsoft.com/office/drawing/2014/main" id="{C32F51BE-7742-8427-323B-6746C927646C}"/>
              </a:ext>
            </a:extLst>
          </p:cNvPr>
          <p:cNvSpPr>
            <a:spLocks noGrp="1"/>
          </p:cNvSpPr>
          <p:nvPr>
            <p:ph type="dt" sz="half" idx="10"/>
          </p:nvPr>
        </p:nvSpPr>
        <p:spPr/>
        <p:txBody>
          <a:bodyPr/>
          <a:lstStyle/>
          <a:p>
            <a:fld id="{2C457589-72F1-974D-B204-6AE212262628}" type="datetimeFigureOut">
              <a:rPr lang="en-CL" smtClean="0"/>
              <a:t>27-05-26</a:t>
            </a:fld>
            <a:endParaRPr lang="en-CL"/>
          </a:p>
        </p:txBody>
      </p:sp>
      <p:sp>
        <p:nvSpPr>
          <p:cNvPr id="5" name="Footer Placeholder 4">
            <a:extLst>
              <a:ext uri="{FF2B5EF4-FFF2-40B4-BE49-F238E27FC236}">
                <a16:creationId xmlns:a16="http://schemas.microsoft.com/office/drawing/2014/main" id="{6317082A-B0F6-05B3-4148-6F125B3BECC3}"/>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C935BB3A-30A8-1717-EEEF-CCDD19DE1700}"/>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401876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E5084-85EB-0ADC-D7F0-0DA592CEDEB0}"/>
              </a:ext>
            </a:extLst>
          </p:cNvPr>
          <p:cNvSpPr>
            <a:spLocks noGrp="1"/>
          </p:cNvSpPr>
          <p:nvPr>
            <p:ph type="title"/>
          </p:nvPr>
        </p:nvSpPr>
        <p:spPr/>
        <p:txBody>
          <a:bodyPr/>
          <a:lstStyle/>
          <a:p>
            <a:r>
              <a:rPr lang="en-US"/>
              <a:t>Click to edit Master title style</a:t>
            </a:r>
            <a:endParaRPr lang="en-CL"/>
          </a:p>
        </p:txBody>
      </p:sp>
      <p:sp>
        <p:nvSpPr>
          <p:cNvPr id="3" name="Content Placeholder 2">
            <a:extLst>
              <a:ext uri="{FF2B5EF4-FFF2-40B4-BE49-F238E27FC236}">
                <a16:creationId xmlns:a16="http://schemas.microsoft.com/office/drawing/2014/main" id="{0EA50CEA-EC43-5349-1EBB-8F562F4E7D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Date Placeholder 3">
            <a:extLst>
              <a:ext uri="{FF2B5EF4-FFF2-40B4-BE49-F238E27FC236}">
                <a16:creationId xmlns:a16="http://schemas.microsoft.com/office/drawing/2014/main" id="{7A6EC922-A7D2-9731-7041-D7AC6FB838AD}"/>
              </a:ext>
            </a:extLst>
          </p:cNvPr>
          <p:cNvSpPr>
            <a:spLocks noGrp="1"/>
          </p:cNvSpPr>
          <p:nvPr>
            <p:ph type="dt" sz="half" idx="10"/>
          </p:nvPr>
        </p:nvSpPr>
        <p:spPr/>
        <p:txBody>
          <a:bodyPr/>
          <a:lstStyle/>
          <a:p>
            <a:fld id="{2C457589-72F1-974D-B204-6AE212262628}" type="datetimeFigureOut">
              <a:rPr lang="en-CL" smtClean="0"/>
              <a:t>27-05-26</a:t>
            </a:fld>
            <a:endParaRPr lang="en-CL"/>
          </a:p>
        </p:txBody>
      </p:sp>
      <p:sp>
        <p:nvSpPr>
          <p:cNvPr id="5" name="Footer Placeholder 4">
            <a:extLst>
              <a:ext uri="{FF2B5EF4-FFF2-40B4-BE49-F238E27FC236}">
                <a16:creationId xmlns:a16="http://schemas.microsoft.com/office/drawing/2014/main" id="{5B7AEC05-6729-F167-4DA1-FB23E0490BAE}"/>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446505FA-C70E-C130-A20D-DB301157A757}"/>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7885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F4697-BA84-150B-4C2D-F847137962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L"/>
          </a:p>
        </p:txBody>
      </p:sp>
      <p:sp>
        <p:nvSpPr>
          <p:cNvPr id="3" name="Text Placeholder 2">
            <a:extLst>
              <a:ext uri="{FF2B5EF4-FFF2-40B4-BE49-F238E27FC236}">
                <a16:creationId xmlns:a16="http://schemas.microsoft.com/office/drawing/2014/main" id="{AB49B2F4-202A-2BB1-535C-1A428E58FC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0EE603-A515-38A5-01CB-993F9D3E6C11}"/>
              </a:ext>
            </a:extLst>
          </p:cNvPr>
          <p:cNvSpPr>
            <a:spLocks noGrp="1"/>
          </p:cNvSpPr>
          <p:nvPr>
            <p:ph type="dt" sz="half" idx="10"/>
          </p:nvPr>
        </p:nvSpPr>
        <p:spPr/>
        <p:txBody>
          <a:bodyPr/>
          <a:lstStyle/>
          <a:p>
            <a:fld id="{2C457589-72F1-974D-B204-6AE212262628}" type="datetimeFigureOut">
              <a:rPr lang="en-CL" smtClean="0"/>
              <a:t>27-05-26</a:t>
            </a:fld>
            <a:endParaRPr lang="en-CL"/>
          </a:p>
        </p:txBody>
      </p:sp>
      <p:sp>
        <p:nvSpPr>
          <p:cNvPr id="5" name="Footer Placeholder 4">
            <a:extLst>
              <a:ext uri="{FF2B5EF4-FFF2-40B4-BE49-F238E27FC236}">
                <a16:creationId xmlns:a16="http://schemas.microsoft.com/office/drawing/2014/main" id="{EC6D1643-6231-F3E2-610F-D775A2BB96F3}"/>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FD27DCF5-082A-FB09-50BE-837F0ACE123D}"/>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2326779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C9F8F-3D31-5054-B98B-32951A347397}"/>
              </a:ext>
            </a:extLst>
          </p:cNvPr>
          <p:cNvSpPr>
            <a:spLocks noGrp="1"/>
          </p:cNvSpPr>
          <p:nvPr>
            <p:ph type="title"/>
          </p:nvPr>
        </p:nvSpPr>
        <p:spPr/>
        <p:txBody>
          <a:bodyPr/>
          <a:lstStyle/>
          <a:p>
            <a:r>
              <a:rPr lang="en-US"/>
              <a:t>Click to edit Master title style</a:t>
            </a:r>
            <a:endParaRPr lang="en-CL"/>
          </a:p>
        </p:txBody>
      </p:sp>
      <p:sp>
        <p:nvSpPr>
          <p:cNvPr id="3" name="Content Placeholder 2">
            <a:extLst>
              <a:ext uri="{FF2B5EF4-FFF2-40B4-BE49-F238E27FC236}">
                <a16:creationId xmlns:a16="http://schemas.microsoft.com/office/drawing/2014/main" id="{28C103B9-D8C0-4B32-EE45-9BD12EF747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Content Placeholder 3">
            <a:extLst>
              <a:ext uri="{FF2B5EF4-FFF2-40B4-BE49-F238E27FC236}">
                <a16:creationId xmlns:a16="http://schemas.microsoft.com/office/drawing/2014/main" id="{7652F047-75A3-523A-D879-40B2EDA8D1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5" name="Date Placeholder 4">
            <a:extLst>
              <a:ext uri="{FF2B5EF4-FFF2-40B4-BE49-F238E27FC236}">
                <a16:creationId xmlns:a16="http://schemas.microsoft.com/office/drawing/2014/main" id="{8E9FB8B8-5B4E-1775-617E-5E75D094A47B}"/>
              </a:ext>
            </a:extLst>
          </p:cNvPr>
          <p:cNvSpPr>
            <a:spLocks noGrp="1"/>
          </p:cNvSpPr>
          <p:nvPr>
            <p:ph type="dt" sz="half" idx="10"/>
          </p:nvPr>
        </p:nvSpPr>
        <p:spPr/>
        <p:txBody>
          <a:bodyPr/>
          <a:lstStyle/>
          <a:p>
            <a:fld id="{2C457589-72F1-974D-B204-6AE212262628}" type="datetimeFigureOut">
              <a:rPr lang="en-CL" smtClean="0"/>
              <a:t>27-05-26</a:t>
            </a:fld>
            <a:endParaRPr lang="en-CL"/>
          </a:p>
        </p:txBody>
      </p:sp>
      <p:sp>
        <p:nvSpPr>
          <p:cNvPr id="6" name="Footer Placeholder 5">
            <a:extLst>
              <a:ext uri="{FF2B5EF4-FFF2-40B4-BE49-F238E27FC236}">
                <a16:creationId xmlns:a16="http://schemas.microsoft.com/office/drawing/2014/main" id="{0CB9D2B7-35C0-0726-D40B-546E245F6FDA}"/>
              </a:ext>
            </a:extLst>
          </p:cNvPr>
          <p:cNvSpPr>
            <a:spLocks noGrp="1"/>
          </p:cNvSpPr>
          <p:nvPr>
            <p:ph type="ftr" sz="quarter" idx="11"/>
          </p:nvPr>
        </p:nvSpPr>
        <p:spPr/>
        <p:txBody>
          <a:bodyPr/>
          <a:lstStyle/>
          <a:p>
            <a:endParaRPr lang="en-CL"/>
          </a:p>
        </p:txBody>
      </p:sp>
      <p:sp>
        <p:nvSpPr>
          <p:cNvPr id="7" name="Slide Number Placeholder 6">
            <a:extLst>
              <a:ext uri="{FF2B5EF4-FFF2-40B4-BE49-F238E27FC236}">
                <a16:creationId xmlns:a16="http://schemas.microsoft.com/office/drawing/2014/main" id="{DC310F33-EF19-5FAC-1C0C-CC049E95FBBD}"/>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265026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2880C-73E3-54CD-F870-565E8A1B15FC}"/>
              </a:ext>
            </a:extLst>
          </p:cNvPr>
          <p:cNvSpPr>
            <a:spLocks noGrp="1"/>
          </p:cNvSpPr>
          <p:nvPr>
            <p:ph type="title"/>
          </p:nvPr>
        </p:nvSpPr>
        <p:spPr>
          <a:xfrm>
            <a:off x="839788" y="365125"/>
            <a:ext cx="10515600" cy="1325563"/>
          </a:xfrm>
        </p:spPr>
        <p:txBody>
          <a:bodyPr/>
          <a:lstStyle/>
          <a:p>
            <a:r>
              <a:rPr lang="en-US"/>
              <a:t>Click to edit Master title style</a:t>
            </a:r>
            <a:endParaRPr lang="en-CL"/>
          </a:p>
        </p:txBody>
      </p:sp>
      <p:sp>
        <p:nvSpPr>
          <p:cNvPr id="3" name="Text Placeholder 2">
            <a:extLst>
              <a:ext uri="{FF2B5EF4-FFF2-40B4-BE49-F238E27FC236}">
                <a16:creationId xmlns:a16="http://schemas.microsoft.com/office/drawing/2014/main" id="{FA35B4E4-4FDE-76FD-67FE-AC9066C11E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CE05A7-4548-3D67-22C7-AE2D1FA325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5" name="Text Placeholder 4">
            <a:extLst>
              <a:ext uri="{FF2B5EF4-FFF2-40B4-BE49-F238E27FC236}">
                <a16:creationId xmlns:a16="http://schemas.microsoft.com/office/drawing/2014/main" id="{B123D907-7359-B8EC-9C20-35EBC1A8C6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E90DD8-E513-9D1B-B62B-8CD564AF80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7" name="Date Placeholder 6">
            <a:extLst>
              <a:ext uri="{FF2B5EF4-FFF2-40B4-BE49-F238E27FC236}">
                <a16:creationId xmlns:a16="http://schemas.microsoft.com/office/drawing/2014/main" id="{7B7A1F58-D509-1FFB-BFE0-0B0A48435D6B}"/>
              </a:ext>
            </a:extLst>
          </p:cNvPr>
          <p:cNvSpPr>
            <a:spLocks noGrp="1"/>
          </p:cNvSpPr>
          <p:nvPr>
            <p:ph type="dt" sz="half" idx="10"/>
          </p:nvPr>
        </p:nvSpPr>
        <p:spPr/>
        <p:txBody>
          <a:bodyPr/>
          <a:lstStyle/>
          <a:p>
            <a:fld id="{2C457589-72F1-974D-B204-6AE212262628}" type="datetimeFigureOut">
              <a:rPr lang="en-CL" smtClean="0"/>
              <a:t>27-05-26</a:t>
            </a:fld>
            <a:endParaRPr lang="en-CL"/>
          </a:p>
        </p:txBody>
      </p:sp>
      <p:sp>
        <p:nvSpPr>
          <p:cNvPr id="8" name="Footer Placeholder 7">
            <a:extLst>
              <a:ext uri="{FF2B5EF4-FFF2-40B4-BE49-F238E27FC236}">
                <a16:creationId xmlns:a16="http://schemas.microsoft.com/office/drawing/2014/main" id="{F61A7296-B85D-0D25-EB6E-7FAF5D12D145}"/>
              </a:ext>
            </a:extLst>
          </p:cNvPr>
          <p:cNvSpPr>
            <a:spLocks noGrp="1"/>
          </p:cNvSpPr>
          <p:nvPr>
            <p:ph type="ftr" sz="quarter" idx="11"/>
          </p:nvPr>
        </p:nvSpPr>
        <p:spPr/>
        <p:txBody>
          <a:bodyPr/>
          <a:lstStyle/>
          <a:p>
            <a:endParaRPr lang="en-CL"/>
          </a:p>
        </p:txBody>
      </p:sp>
      <p:sp>
        <p:nvSpPr>
          <p:cNvPr id="9" name="Slide Number Placeholder 8">
            <a:extLst>
              <a:ext uri="{FF2B5EF4-FFF2-40B4-BE49-F238E27FC236}">
                <a16:creationId xmlns:a16="http://schemas.microsoft.com/office/drawing/2014/main" id="{7531504A-0C9E-5FD4-88B8-34EEA6574465}"/>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4040050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B930F-82FE-3339-6D9E-1DCC65EE1D2C}"/>
              </a:ext>
            </a:extLst>
          </p:cNvPr>
          <p:cNvSpPr>
            <a:spLocks noGrp="1"/>
          </p:cNvSpPr>
          <p:nvPr>
            <p:ph type="title"/>
          </p:nvPr>
        </p:nvSpPr>
        <p:spPr/>
        <p:txBody>
          <a:bodyPr/>
          <a:lstStyle/>
          <a:p>
            <a:r>
              <a:rPr lang="en-US"/>
              <a:t>Click to edit Master title style</a:t>
            </a:r>
            <a:endParaRPr lang="en-CL"/>
          </a:p>
        </p:txBody>
      </p:sp>
      <p:sp>
        <p:nvSpPr>
          <p:cNvPr id="3" name="Date Placeholder 2">
            <a:extLst>
              <a:ext uri="{FF2B5EF4-FFF2-40B4-BE49-F238E27FC236}">
                <a16:creationId xmlns:a16="http://schemas.microsoft.com/office/drawing/2014/main" id="{411259F5-F978-F338-03E4-3952DD8EFFD7}"/>
              </a:ext>
            </a:extLst>
          </p:cNvPr>
          <p:cNvSpPr>
            <a:spLocks noGrp="1"/>
          </p:cNvSpPr>
          <p:nvPr>
            <p:ph type="dt" sz="half" idx="10"/>
          </p:nvPr>
        </p:nvSpPr>
        <p:spPr/>
        <p:txBody>
          <a:bodyPr/>
          <a:lstStyle/>
          <a:p>
            <a:fld id="{2C457589-72F1-974D-B204-6AE212262628}" type="datetimeFigureOut">
              <a:rPr lang="en-CL" smtClean="0"/>
              <a:t>27-05-26</a:t>
            </a:fld>
            <a:endParaRPr lang="en-CL"/>
          </a:p>
        </p:txBody>
      </p:sp>
      <p:sp>
        <p:nvSpPr>
          <p:cNvPr id="4" name="Footer Placeholder 3">
            <a:extLst>
              <a:ext uri="{FF2B5EF4-FFF2-40B4-BE49-F238E27FC236}">
                <a16:creationId xmlns:a16="http://schemas.microsoft.com/office/drawing/2014/main" id="{0BFFF779-7E7D-359E-E5CD-14EA90664F4F}"/>
              </a:ext>
            </a:extLst>
          </p:cNvPr>
          <p:cNvSpPr>
            <a:spLocks noGrp="1"/>
          </p:cNvSpPr>
          <p:nvPr>
            <p:ph type="ftr" sz="quarter" idx="11"/>
          </p:nvPr>
        </p:nvSpPr>
        <p:spPr/>
        <p:txBody>
          <a:bodyPr/>
          <a:lstStyle/>
          <a:p>
            <a:endParaRPr lang="en-CL"/>
          </a:p>
        </p:txBody>
      </p:sp>
      <p:sp>
        <p:nvSpPr>
          <p:cNvPr id="5" name="Slide Number Placeholder 4">
            <a:extLst>
              <a:ext uri="{FF2B5EF4-FFF2-40B4-BE49-F238E27FC236}">
                <a16:creationId xmlns:a16="http://schemas.microsoft.com/office/drawing/2014/main" id="{C73397C7-7E22-651A-C048-37C544FF4C50}"/>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62750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637C7D-F2B3-C204-E8FB-4C5FB6A76753}"/>
              </a:ext>
            </a:extLst>
          </p:cNvPr>
          <p:cNvSpPr>
            <a:spLocks noGrp="1"/>
          </p:cNvSpPr>
          <p:nvPr>
            <p:ph type="dt" sz="half" idx="10"/>
          </p:nvPr>
        </p:nvSpPr>
        <p:spPr/>
        <p:txBody>
          <a:bodyPr/>
          <a:lstStyle/>
          <a:p>
            <a:fld id="{2C457589-72F1-974D-B204-6AE212262628}" type="datetimeFigureOut">
              <a:rPr lang="en-CL" smtClean="0"/>
              <a:t>27-05-26</a:t>
            </a:fld>
            <a:endParaRPr lang="en-CL"/>
          </a:p>
        </p:txBody>
      </p:sp>
      <p:sp>
        <p:nvSpPr>
          <p:cNvPr id="3" name="Footer Placeholder 2">
            <a:extLst>
              <a:ext uri="{FF2B5EF4-FFF2-40B4-BE49-F238E27FC236}">
                <a16:creationId xmlns:a16="http://schemas.microsoft.com/office/drawing/2014/main" id="{6EEFEE0D-AE5F-8253-4CF5-C157DB29DA07}"/>
              </a:ext>
            </a:extLst>
          </p:cNvPr>
          <p:cNvSpPr>
            <a:spLocks noGrp="1"/>
          </p:cNvSpPr>
          <p:nvPr>
            <p:ph type="ftr" sz="quarter" idx="11"/>
          </p:nvPr>
        </p:nvSpPr>
        <p:spPr/>
        <p:txBody>
          <a:bodyPr/>
          <a:lstStyle/>
          <a:p>
            <a:endParaRPr lang="en-CL"/>
          </a:p>
        </p:txBody>
      </p:sp>
      <p:sp>
        <p:nvSpPr>
          <p:cNvPr id="4" name="Slide Number Placeholder 3">
            <a:extLst>
              <a:ext uri="{FF2B5EF4-FFF2-40B4-BE49-F238E27FC236}">
                <a16:creationId xmlns:a16="http://schemas.microsoft.com/office/drawing/2014/main" id="{11587494-01E2-375D-3A6E-278594CEBEA7}"/>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217660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2A152-0160-E38E-9640-CE00E472C8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L"/>
          </a:p>
        </p:txBody>
      </p:sp>
      <p:sp>
        <p:nvSpPr>
          <p:cNvPr id="3" name="Content Placeholder 2">
            <a:extLst>
              <a:ext uri="{FF2B5EF4-FFF2-40B4-BE49-F238E27FC236}">
                <a16:creationId xmlns:a16="http://schemas.microsoft.com/office/drawing/2014/main" id="{B6EEA249-D00C-C8BF-F952-C8F00CAC92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Text Placeholder 3">
            <a:extLst>
              <a:ext uri="{FF2B5EF4-FFF2-40B4-BE49-F238E27FC236}">
                <a16:creationId xmlns:a16="http://schemas.microsoft.com/office/drawing/2014/main" id="{C548AD5D-DACB-DF63-8FE5-FD4EB5F134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DFD239-CEB5-6239-AE07-3B04DD523BF6}"/>
              </a:ext>
            </a:extLst>
          </p:cNvPr>
          <p:cNvSpPr>
            <a:spLocks noGrp="1"/>
          </p:cNvSpPr>
          <p:nvPr>
            <p:ph type="dt" sz="half" idx="10"/>
          </p:nvPr>
        </p:nvSpPr>
        <p:spPr/>
        <p:txBody>
          <a:bodyPr/>
          <a:lstStyle/>
          <a:p>
            <a:fld id="{2C457589-72F1-974D-B204-6AE212262628}" type="datetimeFigureOut">
              <a:rPr lang="en-CL" smtClean="0"/>
              <a:t>27-05-26</a:t>
            </a:fld>
            <a:endParaRPr lang="en-CL"/>
          </a:p>
        </p:txBody>
      </p:sp>
      <p:sp>
        <p:nvSpPr>
          <p:cNvPr id="6" name="Footer Placeholder 5">
            <a:extLst>
              <a:ext uri="{FF2B5EF4-FFF2-40B4-BE49-F238E27FC236}">
                <a16:creationId xmlns:a16="http://schemas.microsoft.com/office/drawing/2014/main" id="{3D6E91D8-CA73-7BEA-3043-ED8929AA7CF7}"/>
              </a:ext>
            </a:extLst>
          </p:cNvPr>
          <p:cNvSpPr>
            <a:spLocks noGrp="1"/>
          </p:cNvSpPr>
          <p:nvPr>
            <p:ph type="ftr" sz="quarter" idx="11"/>
          </p:nvPr>
        </p:nvSpPr>
        <p:spPr/>
        <p:txBody>
          <a:bodyPr/>
          <a:lstStyle/>
          <a:p>
            <a:endParaRPr lang="en-CL"/>
          </a:p>
        </p:txBody>
      </p:sp>
      <p:sp>
        <p:nvSpPr>
          <p:cNvPr id="7" name="Slide Number Placeholder 6">
            <a:extLst>
              <a:ext uri="{FF2B5EF4-FFF2-40B4-BE49-F238E27FC236}">
                <a16:creationId xmlns:a16="http://schemas.microsoft.com/office/drawing/2014/main" id="{FFBF3F48-2CE1-5E7C-C6F3-86C5FE51C9E3}"/>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1704266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182A3-0F8B-CC16-20BE-CAA209EB5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L"/>
          </a:p>
        </p:txBody>
      </p:sp>
      <p:sp>
        <p:nvSpPr>
          <p:cNvPr id="3" name="Picture Placeholder 2">
            <a:extLst>
              <a:ext uri="{FF2B5EF4-FFF2-40B4-BE49-F238E27FC236}">
                <a16:creationId xmlns:a16="http://schemas.microsoft.com/office/drawing/2014/main" id="{F553BF4D-06F1-F555-7BCE-8DDE12ECAC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L"/>
          </a:p>
        </p:txBody>
      </p:sp>
      <p:sp>
        <p:nvSpPr>
          <p:cNvPr id="4" name="Text Placeholder 3">
            <a:extLst>
              <a:ext uri="{FF2B5EF4-FFF2-40B4-BE49-F238E27FC236}">
                <a16:creationId xmlns:a16="http://schemas.microsoft.com/office/drawing/2014/main" id="{1578D79A-13B1-0A13-045B-552423534D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0F8041-19BA-61C7-2614-452EAEA62249}"/>
              </a:ext>
            </a:extLst>
          </p:cNvPr>
          <p:cNvSpPr>
            <a:spLocks noGrp="1"/>
          </p:cNvSpPr>
          <p:nvPr>
            <p:ph type="dt" sz="half" idx="10"/>
          </p:nvPr>
        </p:nvSpPr>
        <p:spPr/>
        <p:txBody>
          <a:bodyPr/>
          <a:lstStyle/>
          <a:p>
            <a:fld id="{2C457589-72F1-974D-B204-6AE212262628}" type="datetimeFigureOut">
              <a:rPr lang="en-CL" smtClean="0"/>
              <a:t>27-05-26</a:t>
            </a:fld>
            <a:endParaRPr lang="en-CL"/>
          </a:p>
        </p:txBody>
      </p:sp>
      <p:sp>
        <p:nvSpPr>
          <p:cNvPr id="6" name="Footer Placeholder 5">
            <a:extLst>
              <a:ext uri="{FF2B5EF4-FFF2-40B4-BE49-F238E27FC236}">
                <a16:creationId xmlns:a16="http://schemas.microsoft.com/office/drawing/2014/main" id="{892DDC1A-06C5-55BB-AD73-4558907A0BE0}"/>
              </a:ext>
            </a:extLst>
          </p:cNvPr>
          <p:cNvSpPr>
            <a:spLocks noGrp="1"/>
          </p:cNvSpPr>
          <p:nvPr>
            <p:ph type="ftr" sz="quarter" idx="11"/>
          </p:nvPr>
        </p:nvSpPr>
        <p:spPr/>
        <p:txBody>
          <a:bodyPr/>
          <a:lstStyle/>
          <a:p>
            <a:endParaRPr lang="en-CL"/>
          </a:p>
        </p:txBody>
      </p:sp>
      <p:sp>
        <p:nvSpPr>
          <p:cNvPr id="7" name="Slide Number Placeholder 6">
            <a:extLst>
              <a:ext uri="{FF2B5EF4-FFF2-40B4-BE49-F238E27FC236}">
                <a16:creationId xmlns:a16="http://schemas.microsoft.com/office/drawing/2014/main" id="{04EA2152-78EF-2AC4-BAFC-1632F3AC7D35}"/>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4033367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E0AD8-C101-EB20-BB37-5C26D22B6B1B}"/>
              </a:ext>
            </a:extLst>
          </p:cNvPr>
          <p:cNvSpPr>
            <a:spLocks noGrp="1"/>
          </p:cNvSpPr>
          <p:nvPr>
            <p:ph type="title"/>
          </p:nvPr>
        </p:nvSpPr>
        <p:spPr/>
        <p:txBody>
          <a:bodyPr/>
          <a:lstStyle/>
          <a:p>
            <a:r>
              <a:rPr lang="en-US"/>
              <a:t>Click to edit Master title style</a:t>
            </a:r>
            <a:endParaRPr lang="en-CL"/>
          </a:p>
        </p:txBody>
      </p:sp>
      <p:sp>
        <p:nvSpPr>
          <p:cNvPr id="3" name="Vertical Text Placeholder 2">
            <a:extLst>
              <a:ext uri="{FF2B5EF4-FFF2-40B4-BE49-F238E27FC236}">
                <a16:creationId xmlns:a16="http://schemas.microsoft.com/office/drawing/2014/main" id="{4F2D8A52-99B4-C6B9-B1AB-C4AEFAF4B4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Date Placeholder 3">
            <a:extLst>
              <a:ext uri="{FF2B5EF4-FFF2-40B4-BE49-F238E27FC236}">
                <a16:creationId xmlns:a16="http://schemas.microsoft.com/office/drawing/2014/main" id="{41B50266-8A1C-5C52-C130-674316BD038B}"/>
              </a:ext>
            </a:extLst>
          </p:cNvPr>
          <p:cNvSpPr>
            <a:spLocks noGrp="1"/>
          </p:cNvSpPr>
          <p:nvPr>
            <p:ph type="dt" sz="half" idx="10"/>
          </p:nvPr>
        </p:nvSpPr>
        <p:spPr/>
        <p:txBody>
          <a:bodyPr/>
          <a:lstStyle/>
          <a:p>
            <a:fld id="{2C457589-72F1-974D-B204-6AE212262628}" type="datetimeFigureOut">
              <a:rPr lang="en-CL" smtClean="0"/>
              <a:t>27-05-26</a:t>
            </a:fld>
            <a:endParaRPr lang="en-CL"/>
          </a:p>
        </p:txBody>
      </p:sp>
      <p:sp>
        <p:nvSpPr>
          <p:cNvPr id="5" name="Footer Placeholder 4">
            <a:extLst>
              <a:ext uri="{FF2B5EF4-FFF2-40B4-BE49-F238E27FC236}">
                <a16:creationId xmlns:a16="http://schemas.microsoft.com/office/drawing/2014/main" id="{8B48F916-6B33-A387-4535-E912E9B6DC70}"/>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40D0DE79-9DC5-1075-5BCE-A06034D3D1EA}"/>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11173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487A33-D0CF-C093-B49B-3DC54A000A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L"/>
          </a:p>
        </p:txBody>
      </p:sp>
      <p:sp>
        <p:nvSpPr>
          <p:cNvPr id="3" name="Vertical Text Placeholder 2">
            <a:extLst>
              <a:ext uri="{FF2B5EF4-FFF2-40B4-BE49-F238E27FC236}">
                <a16:creationId xmlns:a16="http://schemas.microsoft.com/office/drawing/2014/main" id="{A71C567E-C21C-371B-9E0F-758B9066F6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Date Placeholder 3">
            <a:extLst>
              <a:ext uri="{FF2B5EF4-FFF2-40B4-BE49-F238E27FC236}">
                <a16:creationId xmlns:a16="http://schemas.microsoft.com/office/drawing/2014/main" id="{DB7ED834-5694-C52C-4AFB-CC7182B18318}"/>
              </a:ext>
            </a:extLst>
          </p:cNvPr>
          <p:cNvSpPr>
            <a:spLocks noGrp="1"/>
          </p:cNvSpPr>
          <p:nvPr>
            <p:ph type="dt" sz="half" idx="10"/>
          </p:nvPr>
        </p:nvSpPr>
        <p:spPr/>
        <p:txBody>
          <a:bodyPr/>
          <a:lstStyle/>
          <a:p>
            <a:fld id="{2C457589-72F1-974D-B204-6AE212262628}" type="datetimeFigureOut">
              <a:rPr lang="en-CL" smtClean="0"/>
              <a:t>27-05-26</a:t>
            </a:fld>
            <a:endParaRPr lang="en-CL"/>
          </a:p>
        </p:txBody>
      </p:sp>
      <p:sp>
        <p:nvSpPr>
          <p:cNvPr id="5" name="Footer Placeholder 4">
            <a:extLst>
              <a:ext uri="{FF2B5EF4-FFF2-40B4-BE49-F238E27FC236}">
                <a16:creationId xmlns:a16="http://schemas.microsoft.com/office/drawing/2014/main" id="{20784DEE-BCC0-3112-ED29-8778C02F028B}"/>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7EB55837-C56A-6554-DF4C-C991A899FF06}"/>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20505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788CC3-6112-0648-6A8C-40A7C66249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CL" dirty="0"/>
          </a:p>
        </p:txBody>
      </p:sp>
      <p:sp>
        <p:nvSpPr>
          <p:cNvPr id="3" name="Text Placeholder 2">
            <a:extLst>
              <a:ext uri="{FF2B5EF4-FFF2-40B4-BE49-F238E27FC236}">
                <a16:creationId xmlns:a16="http://schemas.microsoft.com/office/drawing/2014/main" id="{F5BAA52D-33E4-8E14-0BD4-6371720A8D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L" dirty="0"/>
          </a:p>
        </p:txBody>
      </p:sp>
      <p:sp>
        <p:nvSpPr>
          <p:cNvPr id="4" name="Date Placeholder 3">
            <a:extLst>
              <a:ext uri="{FF2B5EF4-FFF2-40B4-BE49-F238E27FC236}">
                <a16:creationId xmlns:a16="http://schemas.microsoft.com/office/drawing/2014/main" id="{B80AAD87-BD69-6E51-34E6-999EF8327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Gill Sans MT" panose="020B0502020104020203" pitchFamily="34" charset="77"/>
              </a:defRPr>
            </a:lvl1pPr>
          </a:lstStyle>
          <a:p>
            <a:fld id="{2C457589-72F1-974D-B204-6AE212262628}" type="datetimeFigureOut">
              <a:rPr lang="en-CL" smtClean="0"/>
              <a:pPr/>
              <a:t>27-05-26</a:t>
            </a:fld>
            <a:endParaRPr lang="en-CL" dirty="0"/>
          </a:p>
        </p:txBody>
      </p:sp>
      <p:sp>
        <p:nvSpPr>
          <p:cNvPr id="5" name="Footer Placeholder 4">
            <a:extLst>
              <a:ext uri="{FF2B5EF4-FFF2-40B4-BE49-F238E27FC236}">
                <a16:creationId xmlns:a16="http://schemas.microsoft.com/office/drawing/2014/main" id="{BE1F1805-E127-5436-F4BD-B493F4465B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Gill Sans MT" panose="020B0502020104020203" pitchFamily="34" charset="77"/>
              </a:defRPr>
            </a:lvl1pPr>
          </a:lstStyle>
          <a:p>
            <a:endParaRPr lang="en-CL" dirty="0"/>
          </a:p>
        </p:txBody>
      </p:sp>
      <p:sp>
        <p:nvSpPr>
          <p:cNvPr id="6" name="Slide Number Placeholder 5">
            <a:extLst>
              <a:ext uri="{FF2B5EF4-FFF2-40B4-BE49-F238E27FC236}">
                <a16:creationId xmlns:a16="http://schemas.microsoft.com/office/drawing/2014/main" id="{FF0709C2-DDB7-3E94-C59E-462FCDB337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Gill Sans MT" panose="020B0502020104020203" pitchFamily="34" charset="77"/>
              </a:defRPr>
            </a:lvl1pPr>
          </a:lstStyle>
          <a:p>
            <a:fld id="{006AE8E3-C79C-E14F-9140-34B0C7F543F1}" type="slidenum">
              <a:rPr lang="en-CL" smtClean="0"/>
              <a:pPr/>
              <a:t>‹#›</a:t>
            </a:fld>
            <a:endParaRPr lang="en-CL" dirty="0"/>
          </a:p>
        </p:txBody>
      </p:sp>
    </p:spTree>
    <p:extLst>
      <p:ext uri="{BB962C8B-B14F-4D97-AF65-F5344CB8AC3E}">
        <p14:creationId xmlns:p14="http://schemas.microsoft.com/office/powerpoint/2010/main" val="4248052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0" i="0" kern="1200">
          <a:solidFill>
            <a:schemeClr val="tx1"/>
          </a:solidFill>
          <a:latin typeface="Gill Sans MT" panose="020B05020201040202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Gill Sans MT" panose="020B05020201040202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Gill Sans MT" panose="020B0502020104020203"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Gill Sans MT" panose="020B0502020104020203"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Gill Sans MT" panose="020B0502020104020203"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Gill Sans MT" panose="020B050202010402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domingomery.ing.uc.cl/" TargetMode="Externa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medium.com/@nickdarby/data-chef-episode-8-svms-7fb495e96d90" TargetMode="External"/><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hyperlink" Target="https://en.wikipedia.org/wiki/Support_vector_machine#History"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emf"/><Relationship Id="rId7" Type="http://schemas.openxmlformats.org/officeDocument/2006/relationships/image" Target="../media/image13.emf"/><Relationship Id="rId2" Type="http://schemas.openxmlformats.org/officeDocument/2006/relationships/image" Target="../media/image8.emf"/><Relationship Id="rId1" Type="http://schemas.openxmlformats.org/officeDocument/2006/relationships/slideLayout" Target="../slideLayouts/slideLayout2.xml"/><Relationship Id="rId6" Type="http://schemas.openxmlformats.org/officeDocument/2006/relationships/image" Target="../media/image12.emf"/><Relationship Id="rId5" Type="http://schemas.openxmlformats.org/officeDocument/2006/relationships/image" Target="../media/image11.emf"/><Relationship Id="rId10" Type="http://schemas.openxmlformats.org/officeDocument/2006/relationships/image" Target="../media/image16.emf"/><Relationship Id="rId4" Type="http://schemas.openxmlformats.org/officeDocument/2006/relationships/image" Target="../media/image10.emf"/><Relationship Id="rId9" Type="http://schemas.openxmlformats.org/officeDocument/2006/relationships/image" Target="../media/image15.emf"/></Relationships>
</file>

<file path=ppt/slides/_rels/slide15.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image" Target="../media/image8.emf"/><Relationship Id="rId7" Type="http://schemas.openxmlformats.org/officeDocument/2006/relationships/image" Target="../media/image12.emf"/><Relationship Id="rId2" Type="http://schemas.openxmlformats.org/officeDocument/2006/relationships/image" Target="../media/image17.emf"/><Relationship Id="rId1" Type="http://schemas.openxmlformats.org/officeDocument/2006/relationships/slideLayout" Target="../slideLayouts/slideLayout2.xml"/><Relationship Id="rId6" Type="http://schemas.openxmlformats.org/officeDocument/2006/relationships/image" Target="../media/image11.emf"/><Relationship Id="rId11" Type="http://schemas.openxmlformats.org/officeDocument/2006/relationships/image" Target="../media/image14.png"/><Relationship Id="rId5" Type="http://schemas.openxmlformats.org/officeDocument/2006/relationships/image" Target="../media/image10.emf"/><Relationship Id="rId10" Type="http://schemas.openxmlformats.org/officeDocument/2006/relationships/image" Target="../media/image16.emf"/><Relationship Id="rId4" Type="http://schemas.openxmlformats.org/officeDocument/2006/relationships/image" Target="../media/image9.emf"/><Relationship Id="rId9" Type="http://schemas.openxmlformats.org/officeDocument/2006/relationships/image" Target="../media/image15.emf"/></Relationships>
</file>

<file path=ppt/slides/_rels/slide1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image" Target="../media/image8.emf"/><Relationship Id="rId7" Type="http://schemas.openxmlformats.org/officeDocument/2006/relationships/image" Target="../media/image12.emf"/><Relationship Id="rId2" Type="http://schemas.openxmlformats.org/officeDocument/2006/relationships/image" Target="../media/image17.emf"/><Relationship Id="rId1" Type="http://schemas.openxmlformats.org/officeDocument/2006/relationships/slideLayout" Target="../slideLayouts/slideLayout2.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emf"/></Relationships>
</file>

<file path=ppt/slides/_rels/slide34.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image" Target="../media/image10.emf"/><Relationship Id="rId7" Type="http://schemas.openxmlformats.org/officeDocument/2006/relationships/image" Target="../media/image21.emf"/><Relationship Id="rId2" Type="http://schemas.openxmlformats.org/officeDocument/2006/relationships/image" Target="../media/image9.emf"/><Relationship Id="rId1" Type="http://schemas.openxmlformats.org/officeDocument/2006/relationships/slideLayout" Target="../slideLayouts/slideLayout2.xml"/><Relationship Id="rId6" Type="http://schemas.openxmlformats.org/officeDocument/2006/relationships/image" Target="../media/image13.emf"/><Relationship Id="rId11" Type="http://schemas.openxmlformats.org/officeDocument/2006/relationships/image" Target="../media/image25.emf"/><Relationship Id="rId5" Type="http://schemas.openxmlformats.org/officeDocument/2006/relationships/image" Target="../media/image12.emf"/><Relationship Id="rId10" Type="http://schemas.openxmlformats.org/officeDocument/2006/relationships/image" Target="../media/image24.emf"/><Relationship Id="rId4" Type="http://schemas.openxmlformats.org/officeDocument/2006/relationships/image" Target="../media/image11.emf"/><Relationship Id="rId9" Type="http://schemas.openxmlformats.org/officeDocument/2006/relationships/image" Target="../media/image23.emf"/></Relationships>
</file>

<file path=ppt/slides/_rels/slide3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2.xml"/><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8.emf"/></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emf"/><Relationship Id="rId5" Type="http://schemas.openxmlformats.org/officeDocument/2006/relationships/image" Target="../media/image34.emf"/><Relationship Id="rId4" Type="http://schemas.openxmlformats.org/officeDocument/2006/relationships/image" Target="../media/image33.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scikit-learn.org/stable/auto_examples/svm/plot_rbf_parameters.htm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2C7284-77CC-FC88-ACE0-20E53773C64D}"/>
              </a:ext>
            </a:extLst>
          </p:cNvPr>
          <p:cNvSpPr/>
          <p:nvPr/>
        </p:nvSpPr>
        <p:spPr>
          <a:xfrm>
            <a:off x="925897" y="683627"/>
            <a:ext cx="10340205" cy="84741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dirty="0">
              <a:latin typeface="Gill Sans MT" panose="020B0502020104020203" pitchFamily="34" charset="77"/>
            </a:endParaRPr>
          </a:p>
        </p:txBody>
      </p:sp>
      <p:sp>
        <p:nvSpPr>
          <p:cNvPr id="9" name="TextBox 8">
            <a:extLst>
              <a:ext uri="{FF2B5EF4-FFF2-40B4-BE49-F238E27FC236}">
                <a16:creationId xmlns:a16="http://schemas.microsoft.com/office/drawing/2014/main" id="{B876E2BE-1E76-0F44-8020-A654157CDF76}"/>
              </a:ext>
            </a:extLst>
          </p:cNvPr>
          <p:cNvSpPr txBox="1"/>
          <p:nvPr/>
        </p:nvSpPr>
        <p:spPr>
          <a:xfrm>
            <a:off x="925898" y="3991689"/>
            <a:ext cx="3783921" cy="2123658"/>
          </a:xfrm>
          <a:prstGeom prst="rect">
            <a:avLst/>
          </a:prstGeom>
          <a:noFill/>
        </p:spPr>
        <p:txBody>
          <a:bodyPr wrap="none" rtlCol="0">
            <a:spAutoFit/>
          </a:bodyPr>
          <a:lstStyle/>
          <a:p>
            <a:r>
              <a:rPr lang="es-ES_tradnl" sz="3600" noProof="1">
                <a:solidFill>
                  <a:srgbClr val="0041A1"/>
                </a:solidFill>
                <a:latin typeface="Gill Sans MT" panose="020B0502020104020203" pitchFamily="34" charset="77"/>
              </a:rPr>
              <a:t>Domingo Mery</a:t>
            </a:r>
          </a:p>
          <a:p>
            <a:endParaRPr lang="es-ES_tradnl" sz="2400" noProof="1">
              <a:solidFill>
                <a:schemeClr val="bg1">
                  <a:lumMod val="50000"/>
                </a:schemeClr>
              </a:solidFill>
              <a:latin typeface="Gill Sans MT" panose="020B0502020104020203" pitchFamily="34" charset="77"/>
            </a:endParaRPr>
          </a:p>
          <a:p>
            <a:r>
              <a:rPr lang="es-ES_tradnl" sz="2400" noProof="1">
                <a:solidFill>
                  <a:schemeClr val="bg1">
                    <a:lumMod val="50000"/>
                  </a:schemeClr>
                </a:solidFill>
                <a:latin typeface="Gill Sans MT" panose="020B0502020104020203" pitchFamily="34" charset="77"/>
              </a:rPr>
              <a:t>Ciencia de la Computación</a:t>
            </a:r>
          </a:p>
          <a:p>
            <a:r>
              <a:rPr lang="es-ES_tradnl" sz="2400" noProof="1">
                <a:solidFill>
                  <a:schemeClr val="bg1">
                    <a:lumMod val="50000"/>
                  </a:schemeClr>
                </a:solidFill>
                <a:latin typeface="Gill Sans MT" panose="020B0502020104020203" pitchFamily="34" charset="77"/>
              </a:rPr>
              <a:t>Universidad Católica – Chile</a:t>
            </a:r>
          </a:p>
          <a:p>
            <a:r>
              <a:rPr lang="es-ES_tradnl" sz="2400" noProof="1">
                <a:solidFill>
                  <a:schemeClr val="bg1">
                    <a:lumMod val="50000"/>
                  </a:schemeClr>
                </a:solidFill>
                <a:latin typeface="Gill Sans MT" panose="020B0502020104020203" pitchFamily="34" charset="77"/>
                <a:hlinkClick r:id="rId2"/>
              </a:rPr>
              <a:t>http://domingomery.ing.uc.cl</a:t>
            </a:r>
            <a:r>
              <a:rPr lang="es-ES_tradnl" sz="2400" noProof="1">
                <a:solidFill>
                  <a:schemeClr val="bg1">
                    <a:lumMod val="50000"/>
                  </a:schemeClr>
                </a:solidFill>
                <a:latin typeface="Gill Sans MT" panose="020B0502020104020203" pitchFamily="34" charset="77"/>
              </a:rPr>
              <a:t> </a:t>
            </a:r>
          </a:p>
        </p:txBody>
      </p:sp>
      <p:sp>
        <p:nvSpPr>
          <p:cNvPr id="8" name="TextBox 7">
            <a:extLst>
              <a:ext uri="{FF2B5EF4-FFF2-40B4-BE49-F238E27FC236}">
                <a16:creationId xmlns:a16="http://schemas.microsoft.com/office/drawing/2014/main" id="{DA0B8274-BF81-6D48-B1EC-87E4CF24BC51}"/>
              </a:ext>
            </a:extLst>
          </p:cNvPr>
          <p:cNvSpPr txBox="1"/>
          <p:nvPr/>
        </p:nvSpPr>
        <p:spPr>
          <a:xfrm>
            <a:off x="925898" y="546159"/>
            <a:ext cx="6803850" cy="984885"/>
          </a:xfrm>
          <a:prstGeom prst="rect">
            <a:avLst/>
          </a:prstGeom>
          <a:noFill/>
        </p:spPr>
        <p:txBody>
          <a:bodyPr wrap="none" rtlCol="0">
            <a:spAutoFit/>
          </a:bodyPr>
          <a:lstStyle/>
          <a:p>
            <a:r>
              <a:rPr lang="es-ES_tradnl" sz="4400" noProof="1">
                <a:solidFill>
                  <a:schemeClr val="accent2"/>
                </a:solidFill>
                <a:latin typeface="Gill Sans MT" panose="020B0502020104020203" pitchFamily="34" charset="77"/>
              </a:rPr>
              <a:t>Reconocimiento de Patrones</a:t>
            </a:r>
          </a:p>
          <a:p>
            <a:r>
              <a:rPr lang="es-ES_tradnl" sz="1400" noProof="1">
                <a:solidFill>
                  <a:schemeClr val="accent1">
                    <a:lumMod val="60000"/>
                    <a:lumOff val="40000"/>
                  </a:schemeClr>
                </a:solidFill>
                <a:latin typeface="Gill Sans MT" panose="020B0502020104020203" pitchFamily="34" charset="77"/>
              </a:rPr>
              <a:t>Versión 2026</a:t>
            </a:r>
          </a:p>
        </p:txBody>
      </p:sp>
      <p:pic>
        <p:nvPicPr>
          <p:cNvPr id="32" name="Picture 31">
            <a:extLst>
              <a:ext uri="{FF2B5EF4-FFF2-40B4-BE49-F238E27FC236}">
                <a16:creationId xmlns:a16="http://schemas.microsoft.com/office/drawing/2014/main" id="{1F84582F-25ED-D64F-A141-4702851F27A5}"/>
              </a:ext>
            </a:extLst>
          </p:cNvPr>
          <p:cNvPicPr>
            <a:picLocks noChangeAspect="1"/>
          </p:cNvPicPr>
          <p:nvPr/>
        </p:nvPicPr>
        <p:blipFill>
          <a:blip r:embed="rId3"/>
          <a:stretch>
            <a:fillRect/>
          </a:stretch>
        </p:blipFill>
        <p:spPr>
          <a:xfrm>
            <a:off x="3982889" y="4153426"/>
            <a:ext cx="671000" cy="396000"/>
          </a:xfrm>
          <a:prstGeom prst="rect">
            <a:avLst/>
          </a:prstGeom>
        </p:spPr>
      </p:pic>
      <p:sp>
        <p:nvSpPr>
          <p:cNvPr id="2" name="TextBox 1">
            <a:extLst>
              <a:ext uri="{FF2B5EF4-FFF2-40B4-BE49-F238E27FC236}">
                <a16:creationId xmlns:a16="http://schemas.microsoft.com/office/drawing/2014/main" id="{F09BC001-F490-B55D-4087-04CD68E211CA}"/>
              </a:ext>
            </a:extLst>
          </p:cNvPr>
          <p:cNvSpPr txBox="1"/>
          <p:nvPr/>
        </p:nvSpPr>
        <p:spPr>
          <a:xfrm>
            <a:off x="925898" y="2363235"/>
            <a:ext cx="7142981" cy="984885"/>
          </a:xfrm>
          <a:prstGeom prst="rect">
            <a:avLst/>
          </a:prstGeom>
          <a:noFill/>
        </p:spPr>
        <p:txBody>
          <a:bodyPr wrap="none" rtlCol="0">
            <a:spAutoFit/>
          </a:bodyPr>
          <a:lstStyle/>
          <a:p>
            <a:r>
              <a:rPr lang="es-ES_tradnl" sz="4400" noProof="1">
                <a:latin typeface="Gill Sans MT" panose="020B0502020104020203" pitchFamily="34" charset="77"/>
              </a:rPr>
              <a:t>SVM: Support Vector Machines</a:t>
            </a:r>
            <a:endParaRPr lang="es-ES_tradnl" sz="1400" noProof="1">
              <a:latin typeface="Gill Sans MT" panose="020B0502020104020203" pitchFamily="34" charset="77"/>
            </a:endParaRPr>
          </a:p>
          <a:p>
            <a:r>
              <a:rPr lang="es-ES_tradnl" sz="1400" noProof="1">
                <a:solidFill>
                  <a:schemeClr val="bg1">
                    <a:lumMod val="50000"/>
                  </a:schemeClr>
                </a:solidFill>
                <a:latin typeface="Gill Sans MT" panose="020B0502020104020203" pitchFamily="34" charset="77"/>
              </a:rPr>
              <a:t>(CAPÍTULO 1V )</a:t>
            </a:r>
            <a:endParaRPr lang="es-ES_tradnl" sz="4400" noProof="1">
              <a:solidFill>
                <a:schemeClr val="bg1">
                  <a:lumMod val="50000"/>
                </a:schemeClr>
              </a:solidFill>
              <a:latin typeface="Gill Sans MT" panose="020B0502020104020203" pitchFamily="34" charset="77"/>
            </a:endParaRPr>
          </a:p>
        </p:txBody>
      </p:sp>
      <p:pic>
        <p:nvPicPr>
          <p:cNvPr id="4" name="Picture 3" descr="Screen Shot 2014-07-28 at 3.30.32 PM.png">
            <a:extLst>
              <a:ext uri="{FF2B5EF4-FFF2-40B4-BE49-F238E27FC236}">
                <a16:creationId xmlns:a16="http://schemas.microsoft.com/office/drawing/2014/main" id="{F713277D-8D19-F8E9-D0C7-160CDCD11B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77883" y="683626"/>
            <a:ext cx="2688219" cy="847417"/>
          </a:xfrm>
          <a:prstGeom prst="rect">
            <a:avLst/>
          </a:prstGeom>
        </p:spPr>
      </p:pic>
      <p:sp>
        <p:nvSpPr>
          <p:cNvPr id="10" name="Rectangle 9">
            <a:extLst>
              <a:ext uri="{FF2B5EF4-FFF2-40B4-BE49-F238E27FC236}">
                <a16:creationId xmlns:a16="http://schemas.microsoft.com/office/drawing/2014/main" id="{EF7C2C46-FB77-25C3-BA3D-A0231C48A0BC}"/>
              </a:ext>
            </a:extLst>
          </p:cNvPr>
          <p:cNvSpPr/>
          <p:nvPr/>
        </p:nvSpPr>
        <p:spPr>
          <a:xfrm>
            <a:off x="8532327" y="889536"/>
            <a:ext cx="94889" cy="94882"/>
          </a:xfrm>
          <a:prstGeom prst="rect">
            <a:avLst/>
          </a:prstGeom>
          <a:solidFill>
            <a:srgbClr val="FF0000">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Rectangle 10">
            <a:extLst>
              <a:ext uri="{FF2B5EF4-FFF2-40B4-BE49-F238E27FC236}">
                <a16:creationId xmlns:a16="http://schemas.microsoft.com/office/drawing/2014/main" id="{21821CF4-4421-1287-4A0F-68915CE9BDF0}"/>
              </a:ext>
            </a:extLst>
          </p:cNvPr>
          <p:cNvSpPr/>
          <p:nvPr/>
        </p:nvSpPr>
        <p:spPr>
          <a:xfrm>
            <a:off x="9457147" y="1041936"/>
            <a:ext cx="94889" cy="94882"/>
          </a:xfrm>
          <a:prstGeom prst="rect">
            <a:avLst/>
          </a:prstGeom>
          <a:solidFill>
            <a:srgbClr val="FFD300">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 name="Rectangle 11">
            <a:extLst>
              <a:ext uri="{FF2B5EF4-FFF2-40B4-BE49-F238E27FC236}">
                <a16:creationId xmlns:a16="http://schemas.microsoft.com/office/drawing/2014/main" id="{3B697AF8-DB10-A907-E9A0-11DBFF2F41AD}"/>
              </a:ext>
            </a:extLst>
          </p:cNvPr>
          <p:cNvSpPr/>
          <p:nvPr/>
        </p:nvSpPr>
        <p:spPr>
          <a:xfrm>
            <a:off x="8450280" y="1194336"/>
            <a:ext cx="94889" cy="94882"/>
          </a:xfrm>
          <a:prstGeom prst="rect">
            <a:avLst/>
          </a:prstGeom>
          <a:solidFill>
            <a:srgbClr val="3366FF">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3" name="Rectangle 12">
            <a:extLst>
              <a:ext uri="{FF2B5EF4-FFF2-40B4-BE49-F238E27FC236}">
                <a16:creationId xmlns:a16="http://schemas.microsoft.com/office/drawing/2014/main" id="{2433E66E-94EA-0AAE-A7DB-7F462B910E03}"/>
              </a:ext>
            </a:extLst>
          </p:cNvPr>
          <p:cNvSpPr/>
          <p:nvPr/>
        </p:nvSpPr>
        <p:spPr>
          <a:xfrm>
            <a:off x="9200620" y="814788"/>
            <a:ext cx="94889" cy="94882"/>
          </a:xfrm>
          <a:prstGeom prst="rect">
            <a:avLst/>
          </a:prstGeom>
          <a:solidFill>
            <a:schemeClr val="bg1">
              <a:alpha val="7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4" name="Rectangle 13">
            <a:extLst>
              <a:ext uri="{FF2B5EF4-FFF2-40B4-BE49-F238E27FC236}">
                <a16:creationId xmlns:a16="http://schemas.microsoft.com/office/drawing/2014/main" id="{57468F98-E38C-0CEE-B1A7-0C8769B40381}"/>
              </a:ext>
            </a:extLst>
          </p:cNvPr>
          <p:cNvSpPr/>
          <p:nvPr/>
        </p:nvSpPr>
        <p:spPr>
          <a:xfrm>
            <a:off x="9043304" y="1325718"/>
            <a:ext cx="94889" cy="94882"/>
          </a:xfrm>
          <a:prstGeom prst="rect">
            <a:avLst/>
          </a:prstGeom>
          <a:solidFill>
            <a:srgbClr val="00FF00">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pic>
        <p:nvPicPr>
          <p:cNvPr id="3" name="Picture 2">
            <a:extLst>
              <a:ext uri="{FF2B5EF4-FFF2-40B4-BE49-F238E27FC236}">
                <a16:creationId xmlns:a16="http://schemas.microsoft.com/office/drawing/2014/main" id="{41456434-E943-D133-1E8A-048C89EA1EB2}"/>
              </a:ext>
            </a:extLst>
          </p:cNvPr>
          <p:cNvPicPr>
            <a:picLocks noChangeAspect="1"/>
          </p:cNvPicPr>
          <p:nvPr/>
        </p:nvPicPr>
        <p:blipFill>
          <a:blip r:embed="rId5"/>
          <a:stretch>
            <a:fillRect/>
          </a:stretch>
        </p:blipFill>
        <p:spPr>
          <a:xfrm>
            <a:off x="8170360" y="2602964"/>
            <a:ext cx="3224832" cy="3683536"/>
          </a:xfrm>
          <a:prstGeom prst="rect">
            <a:avLst/>
          </a:prstGeom>
        </p:spPr>
      </p:pic>
    </p:spTree>
    <p:extLst>
      <p:ext uri="{BB962C8B-B14F-4D97-AF65-F5344CB8AC3E}">
        <p14:creationId xmlns:p14="http://schemas.microsoft.com/office/powerpoint/2010/main" val="242494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0-#ppt_w/2"/>
                                          </p:val>
                                        </p:tav>
                                        <p:tav tm="100000">
                                          <p:val>
                                            <p:strVal val="#ppt_x"/>
                                          </p:val>
                                        </p:tav>
                                      </p:tavLst>
                                    </p:anim>
                                    <p:anim calcmode="lin" valueType="num">
                                      <p:cBhvr additive="base">
                                        <p:cTn id="13" dur="500" fill="hold"/>
                                        <p:tgtEl>
                                          <p:spTgt spid="1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0-#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0-#ppt_w/2"/>
                                          </p:val>
                                        </p:tav>
                                        <p:tav tm="100000">
                                          <p:val>
                                            <p:strVal val="#ppt_x"/>
                                          </p:val>
                                        </p:tav>
                                      </p:tavLst>
                                    </p:anim>
                                    <p:anim calcmode="lin" valueType="num">
                                      <p:cBhvr additive="base">
                                        <p:cTn id="23" dur="500" fill="hold"/>
                                        <p:tgtEl>
                                          <p:spTgt spid="13"/>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45CBF-9ED5-FF42-8789-4CE8EEB3B59F}"/>
              </a:ext>
            </a:extLst>
          </p:cNvPr>
          <p:cNvSpPr>
            <a:spLocks noGrp="1"/>
          </p:cNvSpPr>
          <p:nvPr>
            <p:ph type="title"/>
          </p:nvPr>
        </p:nvSpPr>
        <p:spPr>
          <a:xfrm>
            <a:off x="2071850" y="472307"/>
            <a:ext cx="2667000" cy="1143000"/>
          </a:xfrm>
        </p:spPr>
        <p:txBody>
          <a:bodyPr/>
          <a:lstStyle/>
          <a:p>
            <a:r>
              <a:rPr lang="en-US" dirty="0">
                <a:latin typeface="Gill Sans MT" panose="020B0502020104020203" pitchFamily="34" charset="77"/>
              </a:rPr>
              <a:t>Historia</a:t>
            </a:r>
          </a:p>
        </p:txBody>
      </p:sp>
      <p:sp>
        <p:nvSpPr>
          <p:cNvPr id="6" name="TextBox 5">
            <a:extLst>
              <a:ext uri="{FF2B5EF4-FFF2-40B4-BE49-F238E27FC236}">
                <a16:creationId xmlns:a16="http://schemas.microsoft.com/office/drawing/2014/main" id="{F3E258ED-9CB2-FC48-8B70-63DF47BBF41E}"/>
              </a:ext>
            </a:extLst>
          </p:cNvPr>
          <p:cNvSpPr txBox="1"/>
          <p:nvPr/>
        </p:nvSpPr>
        <p:spPr>
          <a:xfrm>
            <a:off x="6870797" y="1807417"/>
            <a:ext cx="3495257" cy="3046988"/>
          </a:xfrm>
          <a:prstGeom prst="rect">
            <a:avLst/>
          </a:prstGeom>
          <a:noFill/>
        </p:spPr>
        <p:txBody>
          <a:bodyPr wrap="square" rtlCol="0">
            <a:spAutoFit/>
          </a:bodyPr>
          <a:lstStyle/>
          <a:p>
            <a:pPr algn="just"/>
            <a:r>
              <a:rPr lang="es-ES_tradnl" sz="1600" dirty="0">
                <a:latin typeface="Gill Sans MT" panose="020B0502020104020203" pitchFamily="34" charset="77"/>
              </a:rPr>
              <a:t>El algoritmo </a:t>
            </a:r>
            <a:r>
              <a:rPr lang="es-ES_tradnl" sz="1600" dirty="0" err="1">
                <a:latin typeface="Gill Sans MT" panose="020B0502020104020203" pitchFamily="34" charset="77"/>
              </a:rPr>
              <a:t>Support</a:t>
            </a:r>
            <a:r>
              <a:rPr lang="es-ES_tradnl" sz="1600" dirty="0">
                <a:latin typeface="Gill Sans MT" panose="020B0502020104020203" pitchFamily="34" charset="77"/>
              </a:rPr>
              <a:t> Vector Machine fue desarrollado por dos matemáticos rusos, Vladimir </a:t>
            </a:r>
            <a:r>
              <a:rPr lang="es-ES_tradnl" sz="1600" dirty="0" err="1">
                <a:latin typeface="Gill Sans MT" panose="020B0502020104020203" pitchFamily="34" charset="77"/>
              </a:rPr>
              <a:t>Vapnik</a:t>
            </a:r>
            <a:r>
              <a:rPr lang="es-ES_tradnl" sz="1600" dirty="0">
                <a:latin typeface="Gill Sans MT" panose="020B0502020104020203" pitchFamily="34" charset="77"/>
              </a:rPr>
              <a:t> y </a:t>
            </a:r>
            <a:r>
              <a:rPr lang="es-ES_tradnl" sz="1600" dirty="0" err="1">
                <a:latin typeface="Gill Sans MT" panose="020B0502020104020203" pitchFamily="34" charset="77"/>
              </a:rPr>
              <a:t>Alexey</a:t>
            </a:r>
            <a:r>
              <a:rPr lang="es-ES_tradnl" sz="1600" dirty="0">
                <a:latin typeface="Gill Sans MT" panose="020B0502020104020203" pitchFamily="34" charset="77"/>
              </a:rPr>
              <a:t> </a:t>
            </a:r>
            <a:r>
              <a:rPr lang="es-ES_tradnl" sz="1600" dirty="0" err="1">
                <a:latin typeface="Gill Sans MT" panose="020B0502020104020203" pitchFamily="34" charset="77"/>
              </a:rPr>
              <a:t>Chervonenkis</a:t>
            </a:r>
            <a:r>
              <a:rPr lang="es-ES_tradnl" sz="1600" dirty="0">
                <a:latin typeface="Gill Sans MT" panose="020B0502020104020203" pitchFamily="34" charset="77"/>
              </a:rPr>
              <a:t>, en 1963. </a:t>
            </a:r>
            <a:r>
              <a:rPr lang="es-ES_tradnl" sz="1600" dirty="0" err="1">
                <a:latin typeface="Gill Sans MT" panose="020B0502020104020203" pitchFamily="34" charset="77"/>
              </a:rPr>
              <a:t>Vapnik</a:t>
            </a:r>
            <a:r>
              <a:rPr lang="es-ES_tradnl" sz="1600" dirty="0">
                <a:latin typeface="Gill Sans MT" panose="020B0502020104020203" pitchFamily="34" charset="77"/>
              </a:rPr>
              <a:t> siguió desarrollando el algoritmo a lo largo de su carrera y, en 1992, creó una versión no lineal del clasificador utilizando el ”</a:t>
            </a:r>
            <a:r>
              <a:rPr lang="es-ES_tradnl" sz="1600" dirty="0" err="1">
                <a:latin typeface="Gill Sans MT" panose="020B0502020104020203" pitchFamily="34" charset="77"/>
              </a:rPr>
              <a:t>kernel-trick</a:t>
            </a:r>
            <a:r>
              <a:rPr lang="es-ES_tradnl" sz="1600" dirty="0">
                <a:latin typeface="Gill Sans MT" panose="020B0502020104020203" pitchFamily="34" charset="77"/>
              </a:rPr>
              <a:t>" mientras trabajaba con Bernhard </a:t>
            </a:r>
            <a:r>
              <a:rPr lang="es-ES_tradnl" sz="1600" dirty="0" err="1">
                <a:latin typeface="Gill Sans MT" panose="020B0502020104020203" pitchFamily="34" charset="77"/>
              </a:rPr>
              <a:t>Boser</a:t>
            </a:r>
            <a:r>
              <a:rPr lang="es-ES_tradnl" sz="1600" dirty="0">
                <a:latin typeface="Gill Sans MT" panose="020B0502020104020203" pitchFamily="34" charset="77"/>
              </a:rPr>
              <a:t> e Isabelle Guyon. En 1993 propuso con </a:t>
            </a:r>
            <a:r>
              <a:rPr lang="es-ES_tradnl" sz="1600" dirty="0" err="1">
                <a:latin typeface="Gill Sans MT" panose="020B0502020104020203" pitchFamily="34" charset="77"/>
              </a:rPr>
              <a:t>Corinna</a:t>
            </a:r>
            <a:r>
              <a:rPr lang="es-ES_tradnl" sz="1600" dirty="0">
                <a:latin typeface="Gill Sans MT" panose="020B0502020104020203" pitchFamily="34" charset="77"/>
              </a:rPr>
              <a:t> Cortes la versión no lineal de margen suave, que se lanzó en 1995.</a:t>
            </a:r>
          </a:p>
        </p:txBody>
      </p:sp>
      <p:pic>
        <p:nvPicPr>
          <p:cNvPr id="8" name="Picture 7">
            <a:extLst>
              <a:ext uri="{FF2B5EF4-FFF2-40B4-BE49-F238E27FC236}">
                <a16:creationId xmlns:a16="http://schemas.microsoft.com/office/drawing/2014/main" id="{C3106CE9-4FC9-9046-A8FB-4EDA6FD26331}"/>
              </a:ext>
            </a:extLst>
          </p:cNvPr>
          <p:cNvPicPr>
            <a:picLocks noChangeAspect="1"/>
          </p:cNvPicPr>
          <p:nvPr/>
        </p:nvPicPr>
        <p:blipFill>
          <a:blip r:embed="rId2"/>
          <a:stretch>
            <a:fillRect/>
          </a:stretch>
        </p:blipFill>
        <p:spPr>
          <a:xfrm>
            <a:off x="2454166" y="1896249"/>
            <a:ext cx="3825765" cy="2869324"/>
          </a:xfrm>
          <a:prstGeom prst="rect">
            <a:avLst/>
          </a:prstGeom>
        </p:spPr>
      </p:pic>
      <p:sp>
        <p:nvSpPr>
          <p:cNvPr id="9" name="TextBox 8">
            <a:extLst>
              <a:ext uri="{FF2B5EF4-FFF2-40B4-BE49-F238E27FC236}">
                <a16:creationId xmlns:a16="http://schemas.microsoft.com/office/drawing/2014/main" id="{F1049C71-3443-D448-A863-88F78F297750}"/>
              </a:ext>
            </a:extLst>
          </p:cNvPr>
          <p:cNvSpPr txBox="1"/>
          <p:nvPr/>
        </p:nvSpPr>
        <p:spPr>
          <a:xfrm>
            <a:off x="2312276" y="5327459"/>
            <a:ext cx="6306150" cy="830997"/>
          </a:xfrm>
          <a:prstGeom prst="rect">
            <a:avLst/>
          </a:prstGeom>
          <a:noFill/>
        </p:spPr>
        <p:txBody>
          <a:bodyPr wrap="none" rtlCol="0">
            <a:spAutoFit/>
          </a:bodyPr>
          <a:lstStyle/>
          <a:p>
            <a:r>
              <a:rPr lang="en-US" sz="1600" dirty="0">
                <a:latin typeface="Gill Sans MT" panose="020B0502020104020203" pitchFamily="34" charset="77"/>
                <a:hlinkClick r:id="rId3"/>
              </a:rPr>
              <a:t>https://medium.com/@nickdarby/data-chef-episode-8-svms-7fb495e96d90</a:t>
            </a:r>
            <a:endParaRPr lang="en-US" sz="1600" dirty="0">
              <a:latin typeface="Gill Sans MT" panose="020B0502020104020203" pitchFamily="34" charset="77"/>
            </a:endParaRPr>
          </a:p>
          <a:p>
            <a:r>
              <a:rPr lang="en-US" sz="1600" dirty="0">
                <a:latin typeface="Gill Sans MT" panose="020B0502020104020203" pitchFamily="34" charset="77"/>
                <a:hlinkClick r:id="rId4"/>
              </a:rPr>
              <a:t>https://en.wikipedia.org/wiki/Support_vector_machine#History</a:t>
            </a:r>
            <a:r>
              <a:rPr lang="en-US" sz="1600" dirty="0">
                <a:latin typeface="Gill Sans MT" panose="020B0502020104020203" pitchFamily="34" charset="77"/>
              </a:rPr>
              <a:t> </a:t>
            </a:r>
          </a:p>
          <a:p>
            <a:endParaRPr lang="en-US" sz="1600" dirty="0">
              <a:latin typeface="Gill Sans MT" panose="020B0502020104020203" pitchFamily="34" charset="77"/>
            </a:endParaRPr>
          </a:p>
        </p:txBody>
      </p:sp>
      <p:sp>
        <p:nvSpPr>
          <p:cNvPr id="10" name="TextBox 9">
            <a:extLst>
              <a:ext uri="{FF2B5EF4-FFF2-40B4-BE49-F238E27FC236}">
                <a16:creationId xmlns:a16="http://schemas.microsoft.com/office/drawing/2014/main" id="{9597384D-3D5D-1C4E-A66E-31E79363434D}"/>
              </a:ext>
            </a:extLst>
          </p:cNvPr>
          <p:cNvSpPr txBox="1"/>
          <p:nvPr/>
        </p:nvSpPr>
        <p:spPr>
          <a:xfrm>
            <a:off x="3137812" y="4765574"/>
            <a:ext cx="1935658" cy="307777"/>
          </a:xfrm>
          <a:prstGeom prst="rect">
            <a:avLst/>
          </a:prstGeom>
          <a:noFill/>
        </p:spPr>
        <p:txBody>
          <a:bodyPr wrap="none" rtlCol="0">
            <a:spAutoFit/>
          </a:bodyPr>
          <a:lstStyle/>
          <a:p>
            <a:r>
              <a:rPr lang="en-AU" sz="1400" dirty="0" err="1">
                <a:solidFill>
                  <a:schemeClr val="tx1">
                    <a:lumMod val="65000"/>
                    <a:lumOff val="35000"/>
                  </a:schemeClr>
                </a:solidFill>
                <a:latin typeface="Gill Sans MT" panose="020B0502020104020203" pitchFamily="34" charset="77"/>
              </a:rPr>
              <a:t>Chervonenkis</a:t>
            </a:r>
            <a:r>
              <a:rPr lang="en-AU" sz="1400" dirty="0">
                <a:solidFill>
                  <a:schemeClr val="tx1">
                    <a:lumMod val="65000"/>
                    <a:lumOff val="35000"/>
                  </a:schemeClr>
                </a:solidFill>
                <a:latin typeface="Gill Sans MT" panose="020B0502020104020203" pitchFamily="34" charset="77"/>
              </a:rPr>
              <a:t> &amp; </a:t>
            </a:r>
            <a:r>
              <a:rPr lang="en-AU" sz="1400" dirty="0" err="1">
                <a:solidFill>
                  <a:schemeClr val="tx1">
                    <a:lumMod val="65000"/>
                    <a:lumOff val="35000"/>
                  </a:schemeClr>
                </a:solidFill>
                <a:latin typeface="Gill Sans MT" panose="020B0502020104020203" pitchFamily="34" charset="77"/>
              </a:rPr>
              <a:t>Vapnik</a:t>
            </a:r>
            <a:endParaRPr lang="en-US" sz="1400" dirty="0">
              <a:solidFill>
                <a:schemeClr val="tx1">
                  <a:lumMod val="65000"/>
                  <a:lumOff val="35000"/>
                </a:schemeClr>
              </a:solidFill>
              <a:latin typeface="Gill Sans MT" panose="020B0502020104020203" pitchFamily="34" charset="77"/>
            </a:endParaRPr>
          </a:p>
        </p:txBody>
      </p:sp>
      <p:sp>
        <p:nvSpPr>
          <p:cNvPr id="7" name="TextBox 6">
            <a:extLst>
              <a:ext uri="{FF2B5EF4-FFF2-40B4-BE49-F238E27FC236}">
                <a16:creationId xmlns:a16="http://schemas.microsoft.com/office/drawing/2014/main" id="{D2D89901-1CF6-FE3D-F896-2B24017EE914}"/>
              </a:ext>
            </a:extLst>
          </p:cNvPr>
          <p:cNvSpPr txBox="1"/>
          <p:nvPr/>
        </p:nvSpPr>
        <p:spPr>
          <a:xfrm>
            <a:off x="3048000" y="3244334"/>
            <a:ext cx="6096000" cy="369332"/>
          </a:xfrm>
          <a:prstGeom prst="rect">
            <a:avLst/>
          </a:prstGeom>
          <a:noFill/>
        </p:spPr>
        <p:txBody>
          <a:bodyPr wrap="square">
            <a:spAutoFit/>
          </a:bodyPr>
          <a:lstStyle/>
          <a:p>
            <a:r>
              <a:rPr lang="es-ES" dirty="0"/>
              <a:t>PAT04_SVM.pptx</a:t>
            </a:r>
          </a:p>
        </p:txBody>
      </p:sp>
    </p:spTree>
    <p:extLst>
      <p:ext uri="{BB962C8B-B14F-4D97-AF65-F5344CB8AC3E}">
        <p14:creationId xmlns:p14="http://schemas.microsoft.com/office/powerpoint/2010/main" val="1674500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5561" y="764705"/>
            <a:ext cx="4911601"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Máquinas vectoriales de soporte
</a:t>
            </a:r>
          </a:p>
        </p:txBody>
      </p:sp>
      <p:grpSp>
        <p:nvGrpSpPr>
          <p:cNvPr id="5" name="Group 4"/>
          <p:cNvGrpSpPr/>
          <p:nvPr/>
        </p:nvGrpSpPr>
        <p:grpSpPr>
          <a:xfrm>
            <a:off x="2655333" y="1385737"/>
            <a:ext cx="6156508" cy="1449296"/>
            <a:chOff x="1131333" y="1385737"/>
            <a:chExt cx="6156508" cy="1449296"/>
          </a:xfrm>
        </p:grpSpPr>
        <p:pic>
          <p:nvPicPr>
            <p:cNvPr id="2" name="Picture 1" descr="Screen Shot 2014-10-28 at 5.58.19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5756" y="1385737"/>
              <a:ext cx="1732085" cy="1449296"/>
            </a:xfrm>
            <a:prstGeom prst="rect">
              <a:avLst/>
            </a:prstGeom>
          </p:spPr>
        </p:pic>
        <p:sp>
          <p:nvSpPr>
            <p:cNvPr id="3" name="Rectangle 2"/>
            <p:cNvSpPr/>
            <p:nvPr/>
          </p:nvSpPr>
          <p:spPr>
            <a:xfrm>
              <a:off x="1131333" y="1886411"/>
              <a:ext cx="3398687" cy="646331"/>
            </a:xfrm>
            <a:prstGeom prst="rect">
              <a:avLst/>
            </a:prstGeom>
          </p:spPr>
          <p:txBody>
            <a:bodyPr wrap="none">
              <a:spAutoFit/>
            </a:bodyPr>
            <a:lstStyle/>
            <a:p>
              <a:r>
                <a:rPr lang="en-US" dirty="0">
                  <a:latin typeface="Gill Sans MT" panose="020B0502020104020203" pitchFamily="34" charset="77"/>
                  <a:cs typeface="Trebuchet MS"/>
                </a:rPr>
                <a:t>1) Lineal con </a:t>
              </a:r>
              <a:r>
                <a:rPr lang="en-US" dirty="0" err="1">
                  <a:latin typeface="Gill Sans MT" panose="020B0502020104020203" pitchFamily="34" charset="77"/>
                  <a:cs typeface="Trebuchet MS"/>
                </a:rPr>
                <a:t>separación</a:t>
              </a:r>
              <a:r>
                <a:rPr lang="en-US" dirty="0">
                  <a:latin typeface="Gill Sans MT" panose="020B0502020104020203" pitchFamily="34" charset="77"/>
                  <a:cs typeface="Trebuchet MS"/>
                </a:rPr>
                <a:t> perfecta
</a:t>
              </a:r>
            </a:p>
          </p:txBody>
        </p:sp>
      </p:grpSp>
      <p:grpSp>
        <p:nvGrpSpPr>
          <p:cNvPr id="6" name="Group 5"/>
          <p:cNvGrpSpPr/>
          <p:nvPr/>
        </p:nvGrpSpPr>
        <p:grpSpPr>
          <a:xfrm>
            <a:off x="2651429" y="3374709"/>
            <a:ext cx="6155606" cy="1449296"/>
            <a:chOff x="1131333" y="1385737"/>
            <a:chExt cx="6155606" cy="1449296"/>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6658" y="1385737"/>
              <a:ext cx="1730281" cy="1449296"/>
            </a:xfrm>
            <a:prstGeom prst="rect">
              <a:avLst/>
            </a:prstGeom>
          </p:spPr>
        </p:pic>
        <p:sp>
          <p:nvSpPr>
            <p:cNvPr id="8" name="Rectangle 7"/>
            <p:cNvSpPr/>
            <p:nvPr/>
          </p:nvSpPr>
          <p:spPr>
            <a:xfrm>
              <a:off x="1131333" y="1886411"/>
              <a:ext cx="3181640" cy="646331"/>
            </a:xfrm>
            <a:prstGeom prst="rect">
              <a:avLst/>
            </a:prstGeom>
          </p:spPr>
          <p:txBody>
            <a:bodyPr wrap="none">
              <a:spAutoFit/>
            </a:bodyPr>
            <a:lstStyle/>
            <a:p>
              <a:r>
                <a:rPr lang="en-US" dirty="0">
                  <a:latin typeface="Gill Sans MT" panose="020B0502020104020203" pitchFamily="34" charset="77"/>
                  <a:cs typeface="Trebuchet MS"/>
                </a:rPr>
                <a:t>2) Lineal sin </a:t>
              </a:r>
              <a:r>
                <a:rPr lang="en-US" dirty="0" err="1">
                  <a:latin typeface="Gill Sans MT" panose="020B0502020104020203" pitchFamily="34" charset="77"/>
                  <a:cs typeface="Trebuchet MS"/>
                </a:rPr>
                <a:t>separación</a:t>
              </a:r>
              <a:r>
                <a:rPr lang="en-US" dirty="0">
                  <a:latin typeface="Gill Sans MT" panose="020B0502020104020203" pitchFamily="34" charset="77"/>
                  <a:cs typeface="Trebuchet MS"/>
                </a:rPr>
                <a:t> perfecta
</a:t>
              </a:r>
            </a:p>
          </p:txBody>
        </p:sp>
      </p:grpSp>
      <p:grpSp>
        <p:nvGrpSpPr>
          <p:cNvPr id="9" name="Group 8"/>
          <p:cNvGrpSpPr/>
          <p:nvPr/>
        </p:nvGrpSpPr>
        <p:grpSpPr>
          <a:xfrm>
            <a:off x="2657295" y="5197608"/>
            <a:ext cx="6016655" cy="1449296"/>
            <a:chOff x="1131333" y="1385737"/>
            <a:chExt cx="6016655" cy="1449296"/>
          </a:xfrm>
        </p:grpSpPr>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5609" y="1385737"/>
              <a:ext cx="1452379" cy="1449296"/>
            </a:xfrm>
            <a:prstGeom prst="rect">
              <a:avLst/>
            </a:prstGeom>
          </p:spPr>
        </p:pic>
        <p:sp>
          <p:nvSpPr>
            <p:cNvPr id="11" name="Rectangle 10"/>
            <p:cNvSpPr/>
            <p:nvPr/>
          </p:nvSpPr>
          <p:spPr>
            <a:xfrm>
              <a:off x="1131333" y="1886411"/>
              <a:ext cx="1287532" cy="646331"/>
            </a:xfrm>
            <a:prstGeom prst="rect">
              <a:avLst/>
            </a:prstGeom>
          </p:spPr>
          <p:txBody>
            <a:bodyPr wrap="none">
              <a:spAutoFit/>
            </a:bodyPr>
            <a:lstStyle/>
            <a:p>
              <a:r>
                <a:rPr lang="en-US" dirty="0">
                  <a:latin typeface="Gill Sans MT" panose="020B0502020104020203" pitchFamily="34" charset="77"/>
                  <a:cs typeface="Trebuchet MS"/>
                </a:rPr>
                <a:t>3) No lineal
</a:t>
              </a:r>
            </a:p>
          </p:txBody>
        </p:sp>
      </p:grpSp>
    </p:spTree>
    <p:extLst>
      <p:ext uri="{BB962C8B-B14F-4D97-AF65-F5344CB8AC3E}">
        <p14:creationId xmlns:p14="http://schemas.microsoft.com/office/powerpoint/2010/main" val="4268554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2655333" y="1385737"/>
            <a:ext cx="6156508" cy="1449296"/>
            <a:chOff x="1131333" y="1385737"/>
            <a:chExt cx="6156508" cy="1449296"/>
          </a:xfrm>
        </p:grpSpPr>
        <p:pic>
          <p:nvPicPr>
            <p:cNvPr id="2" name="Picture 1" descr="Screen Shot 2014-10-28 at 5.58.19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5756" y="1385737"/>
              <a:ext cx="1732085" cy="1449296"/>
            </a:xfrm>
            <a:prstGeom prst="rect">
              <a:avLst/>
            </a:prstGeom>
          </p:spPr>
        </p:pic>
        <p:sp>
          <p:nvSpPr>
            <p:cNvPr id="3" name="Rectangle 2"/>
            <p:cNvSpPr/>
            <p:nvPr/>
          </p:nvSpPr>
          <p:spPr>
            <a:xfrm>
              <a:off x="1131333" y="1886411"/>
              <a:ext cx="3269806" cy="646331"/>
            </a:xfrm>
            <a:prstGeom prst="rect">
              <a:avLst/>
            </a:prstGeom>
          </p:spPr>
          <p:txBody>
            <a:bodyPr wrap="none">
              <a:spAutoFit/>
            </a:bodyPr>
            <a:lstStyle/>
            <a:p>
              <a:r>
                <a:rPr lang="es-ES_tradnl" dirty="0">
                  <a:latin typeface="Gill Sans MT" panose="020B0502020104020203" pitchFamily="34" charset="77"/>
                  <a:cs typeface="Trebuchet MS"/>
                </a:rPr>
                <a:t>1) Lineal con separación perfecta
</a:t>
              </a:r>
            </a:p>
          </p:txBody>
        </p:sp>
      </p:grpSp>
      <p:grpSp>
        <p:nvGrpSpPr>
          <p:cNvPr id="6" name="Group 5"/>
          <p:cNvGrpSpPr/>
          <p:nvPr/>
        </p:nvGrpSpPr>
        <p:grpSpPr>
          <a:xfrm>
            <a:off x="2651429" y="3374709"/>
            <a:ext cx="6155606" cy="1449296"/>
            <a:chOff x="1131333" y="1385737"/>
            <a:chExt cx="6155606" cy="1449296"/>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6658" y="1385737"/>
              <a:ext cx="1730281" cy="1449296"/>
            </a:xfrm>
            <a:prstGeom prst="rect">
              <a:avLst/>
            </a:prstGeom>
          </p:spPr>
        </p:pic>
        <p:sp>
          <p:nvSpPr>
            <p:cNvPr id="8" name="Rectangle 7"/>
            <p:cNvSpPr/>
            <p:nvPr/>
          </p:nvSpPr>
          <p:spPr>
            <a:xfrm>
              <a:off x="1131333" y="1886411"/>
              <a:ext cx="3181640" cy="646331"/>
            </a:xfrm>
            <a:prstGeom prst="rect">
              <a:avLst/>
            </a:prstGeom>
          </p:spPr>
          <p:txBody>
            <a:bodyPr wrap="none">
              <a:spAutoFit/>
            </a:bodyPr>
            <a:lstStyle/>
            <a:p>
              <a:r>
                <a:rPr lang="es-ES_tradnl" dirty="0">
                  <a:solidFill>
                    <a:schemeClr val="bg1">
                      <a:lumMod val="50000"/>
                    </a:schemeClr>
                  </a:solidFill>
                  <a:latin typeface="Gill Sans MT" panose="020B0502020104020203" pitchFamily="34" charset="77"/>
                  <a:cs typeface="Trebuchet MS"/>
                </a:rPr>
                <a:t>2) Lineal sin separación perfecta
</a:t>
              </a:r>
            </a:p>
          </p:txBody>
        </p:sp>
      </p:grpSp>
      <p:grpSp>
        <p:nvGrpSpPr>
          <p:cNvPr id="9" name="Group 8"/>
          <p:cNvGrpSpPr/>
          <p:nvPr/>
        </p:nvGrpSpPr>
        <p:grpSpPr>
          <a:xfrm>
            <a:off x="2657295" y="5197608"/>
            <a:ext cx="6016655" cy="1449296"/>
            <a:chOff x="1131333" y="1385737"/>
            <a:chExt cx="6016655" cy="1449296"/>
          </a:xfrm>
        </p:grpSpPr>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5609" y="1385737"/>
              <a:ext cx="1452379" cy="1449296"/>
            </a:xfrm>
            <a:prstGeom prst="rect">
              <a:avLst/>
            </a:prstGeom>
          </p:spPr>
        </p:pic>
        <p:sp>
          <p:nvSpPr>
            <p:cNvPr id="11" name="Rectangle 10"/>
            <p:cNvSpPr/>
            <p:nvPr/>
          </p:nvSpPr>
          <p:spPr>
            <a:xfrm>
              <a:off x="1131333" y="1886411"/>
              <a:ext cx="1287532" cy="646331"/>
            </a:xfrm>
            <a:prstGeom prst="rect">
              <a:avLst/>
            </a:prstGeom>
          </p:spPr>
          <p:txBody>
            <a:bodyPr wrap="none">
              <a:spAutoFit/>
            </a:bodyPr>
            <a:lstStyle/>
            <a:p>
              <a:r>
                <a:rPr lang="es-ES_tradnl" dirty="0">
                  <a:solidFill>
                    <a:schemeClr val="bg1">
                      <a:lumMod val="50000"/>
                    </a:schemeClr>
                  </a:solidFill>
                  <a:latin typeface="Gill Sans MT" panose="020B0502020104020203" pitchFamily="34" charset="77"/>
                  <a:cs typeface="Trebuchet MS"/>
                </a:rPr>
                <a:t>3) No lineal
</a:t>
              </a:r>
            </a:p>
          </p:txBody>
        </p:sp>
      </p:grpSp>
      <p:sp>
        <p:nvSpPr>
          <p:cNvPr id="14" name="Rectangle 13">
            <a:extLst>
              <a:ext uri="{FF2B5EF4-FFF2-40B4-BE49-F238E27FC236}">
                <a16:creationId xmlns:a16="http://schemas.microsoft.com/office/drawing/2014/main" id="{262A0D7B-9FF4-044E-BEC5-50C5E5D609A2}"/>
              </a:ext>
            </a:extLst>
          </p:cNvPr>
          <p:cNvSpPr/>
          <p:nvPr/>
        </p:nvSpPr>
        <p:spPr>
          <a:xfrm>
            <a:off x="6994770" y="3370386"/>
            <a:ext cx="1924539" cy="3233615"/>
          </a:xfrm>
          <a:prstGeom prst="rect">
            <a:avLst/>
          </a:prstGeom>
          <a:solidFill>
            <a:schemeClr val="bg1">
              <a:alpha val="8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5" name="TextBox 14">
            <a:extLst>
              <a:ext uri="{FF2B5EF4-FFF2-40B4-BE49-F238E27FC236}">
                <a16:creationId xmlns:a16="http://schemas.microsoft.com/office/drawing/2014/main" id="{11BB7898-459B-9C45-9840-E1F3CF22D7D4}"/>
              </a:ext>
            </a:extLst>
          </p:cNvPr>
          <p:cNvSpPr txBox="1"/>
          <p:nvPr/>
        </p:nvSpPr>
        <p:spPr>
          <a:xfrm>
            <a:off x="2135561" y="764705"/>
            <a:ext cx="4911601"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Máquinas vectoriales de soporte
</a:t>
            </a:r>
          </a:p>
        </p:txBody>
      </p:sp>
    </p:spTree>
    <p:extLst>
      <p:ext uri="{BB962C8B-B14F-4D97-AF65-F5344CB8AC3E}">
        <p14:creationId xmlns:p14="http://schemas.microsoft.com/office/powerpoint/2010/main" val="4238376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539654" y="3634153"/>
            <a:ext cx="1440160" cy="1800200"/>
            <a:chOff x="2888654" y="3429000"/>
            <a:chExt cx="1440160" cy="1800200"/>
          </a:xfrm>
        </p:grpSpPr>
        <p:sp>
          <p:nvSpPr>
            <p:cNvPr id="6" name="Oval 5"/>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 name="Oval 6"/>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 name="Oval 7"/>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 name="Oval 8"/>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 name="Oval 9"/>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Oval 10"/>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 name="Oval 11"/>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3" name="Oval 12"/>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4" name="Oval 13"/>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5" name="Oval 14"/>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6" name="Oval 15"/>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7" name="Oval 16"/>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8" name="Oval 17"/>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9" name="Oval 18"/>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0" name="Oval 19"/>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1" name="Oval 20"/>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2" name="Oval 21"/>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3" name="Oval 22"/>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2" name="Group 41"/>
          <p:cNvGrpSpPr/>
          <p:nvPr/>
        </p:nvGrpSpPr>
        <p:grpSpPr>
          <a:xfrm rot="2553764">
            <a:off x="5409494" y="2625234"/>
            <a:ext cx="1922676" cy="1440160"/>
            <a:chOff x="4299707" y="3005336"/>
            <a:chExt cx="1922676" cy="1440160"/>
          </a:xfrm>
          <a:solidFill>
            <a:srgbClr val="0000FF"/>
          </a:solidFill>
        </p:grpSpPr>
        <p:sp>
          <p:nvSpPr>
            <p:cNvPr id="24" name="Oval 23"/>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5" name="Oval 24"/>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6" name="Oval 25"/>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7" name="Oval 26"/>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8" name="Oval 27"/>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9" name="Oval 28"/>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0" name="Oval 29"/>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1" name="Oval 30"/>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2" name="Oval 31"/>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3" name="Oval 32"/>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4" name="Oval 33"/>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5" name="Oval 34"/>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6" name="Oval 35"/>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7" name="Oval 36"/>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8" name="Oval 37"/>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9" name="Oval 38"/>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0" name="Oval 39"/>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1" name="Oval 40"/>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2" name="Right Brace 1"/>
          <p:cNvSpPr/>
          <p:nvPr/>
        </p:nvSpPr>
        <p:spPr>
          <a:xfrm>
            <a:off x="8040216" y="2420888"/>
            <a:ext cx="360040" cy="3024336"/>
          </a:xfrm>
          <a:prstGeom prst="rightBrac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44" name="TextBox 43"/>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45" name="TextBox 44"/>
          <p:cNvSpPr txBox="1"/>
          <p:nvPr/>
        </p:nvSpPr>
        <p:spPr>
          <a:xfrm>
            <a:off x="6286195" y="1837124"/>
            <a:ext cx="1106393" cy="830997"/>
          </a:xfrm>
          <a:prstGeom prst="rect">
            <a:avLst/>
          </a:prstGeom>
          <a:noFill/>
        </p:spPr>
        <p:txBody>
          <a:bodyPr wrap="none" rtlCol="0">
            <a:spAutoFit/>
          </a:bodyPr>
          <a:lstStyle/>
          <a:p>
            <a:r>
              <a:rPr lang="en-US" sz="2400" dirty="0">
                <a:latin typeface="Gill Sans MT" panose="020B0502020104020203" pitchFamily="34" charset="77"/>
                <a:cs typeface="Trebuchet MS"/>
              </a:rPr>
              <a:t>Clase 1
</a:t>
            </a:r>
          </a:p>
        </p:txBody>
      </p:sp>
      <p:sp>
        <p:nvSpPr>
          <p:cNvPr id="46" name="TextBox 45"/>
          <p:cNvSpPr txBox="1"/>
          <p:nvPr/>
        </p:nvSpPr>
        <p:spPr>
          <a:xfrm>
            <a:off x="3371057" y="4930063"/>
            <a:ext cx="1106393" cy="830997"/>
          </a:xfrm>
          <a:prstGeom prst="rect">
            <a:avLst/>
          </a:prstGeom>
          <a:noFill/>
        </p:spPr>
        <p:txBody>
          <a:bodyPr wrap="none" rtlCol="0">
            <a:spAutoFit/>
          </a:bodyPr>
          <a:lstStyle/>
          <a:p>
            <a:r>
              <a:rPr lang="en-US" sz="2400" dirty="0">
                <a:latin typeface="Gill Sans MT" panose="020B0502020104020203" pitchFamily="34" charset="77"/>
                <a:cs typeface="Trebuchet MS"/>
              </a:rPr>
              <a:t>Clase 2
</a:t>
            </a:r>
          </a:p>
        </p:txBody>
      </p:sp>
      <p:sp>
        <p:nvSpPr>
          <p:cNvPr id="47" name="TextBox 46">
            <a:extLst>
              <a:ext uri="{FF2B5EF4-FFF2-40B4-BE49-F238E27FC236}">
                <a16:creationId xmlns:a16="http://schemas.microsoft.com/office/drawing/2014/main" id="{23D24638-2121-B144-AFC6-69E6F971CA1E}"/>
              </a:ext>
            </a:extLst>
          </p:cNvPr>
          <p:cNvSpPr txBox="1"/>
          <p:nvPr/>
        </p:nvSpPr>
        <p:spPr>
          <a:xfrm>
            <a:off x="8400256" y="3592825"/>
            <a:ext cx="2187402" cy="707886"/>
          </a:xfrm>
          <a:prstGeom prst="rect">
            <a:avLst/>
          </a:prstGeom>
          <a:noFill/>
        </p:spPr>
        <p:txBody>
          <a:bodyPr wrap="square" rtlCol="0">
            <a:spAutoFit/>
          </a:bodyPr>
          <a:lstStyle/>
          <a:p>
            <a:r>
              <a:rPr lang="es-ES_tradnl" sz="2000" dirty="0">
                <a:latin typeface="Gill Sans MT" panose="020B0502020104020203" pitchFamily="34" charset="77"/>
                <a:cs typeface="Trebuchet MS"/>
              </a:rPr>
              <a:t>Datos de entrenamiento</a:t>
            </a:r>
          </a:p>
        </p:txBody>
      </p:sp>
      <p:sp>
        <p:nvSpPr>
          <p:cNvPr id="48" name="TextBox 47">
            <a:extLst>
              <a:ext uri="{FF2B5EF4-FFF2-40B4-BE49-F238E27FC236}">
                <a16:creationId xmlns:a16="http://schemas.microsoft.com/office/drawing/2014/main" id="{B2B873B5-2174-DB43-94A7-EA83C64D618C}"/>
              </a:ext>
            </a:extLst>
          </p:cNvPr>
          <p:cNvSpPr txBox="1"/>
          <p:nvPr/>
        </p:nvSpPr>
        <p:spPr>
          <a:xfrm>
            <a:off x="8681544" y="4267383"/>
            <a:ext cx="1032655" cy="369332"/>
          </a:xfrm>
          <a:prstGeom prst="rect">
            <a:avLst/>
          </a:prstGeom>
          <a:noFill/>
        </p:spPr>
        <p:txBody>
          <a:bodyPr wrap="none" rtlCol="0">
            <a:spAutoFit/>
          </a:bodyPr>
          <a:lstStyle/>
          <a:p>
            <a:r>
              <a:rPr lang="en-US" dirty="0">
                <a:solidFill>
                  <a:schemeClr val="tx1">
                    <a:lumMod val="50000"/>
                    <a:lumOff val="50000"/>
                  </a:schemeClr>
                </a:solidFill>
                <a:latin typeface="Gill Sans MT" panose="020B0502020104020203" pitchFamily="34" charset="77"/>
              </a:rPr>
              <a:t>(training)</a:t>
            </a:r>
          </a:p>
        </p:txBody>
      </p:sp>
    </p:spTree>
    <p:extLst>
      <p:ext uri="{BB962C8B-B14F-4D97-AF65-F5344CB8AC3E}">
        <p14:creationId xmlns:p14="http://schemas.microsoft.com/office/powerpoint/2010/main" val="2879140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oup 51"/>
          <p:cNvGrpSpPr/>
          <p:nvPr/>
        </p:nvGrpSpPr>
        <p:grpSpPr>
          <a:xfrm>
            <a:off x="2547837" y="1513037"/>
            <a:ext cx="7641177" cy="4338733"/>
            <a:chOff x="1023836" y="1513036"/>
            <a:chExt cx="7641177" cy="4338733"/>
          </a:xfrm>
        </p:grpSpPr>
        <p:sp>
          <p:nvSpPr>
            <p:cNvPr id="45" name="TextBox 44"/>
            <p:cNvSpPr txBox="1"/>
            <p:nvPr/>
          </p:nvSpPr>
          <p:spPr>
            <a:xfrm>
              <a:off x="5035878" y="1513036"/>
              <a:ext cx="3629135"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La línea 1 separa perfectamente las clases
</a:t>
              </a:r>
            </a:p>
          </p:txBody>
        </p:sp>
        <p:cxnSp>
          <p:nvCxnSpPr>
            <p:cNvPr id="48" name="Straight Connector 47"/>
            <p:cNvCxnSpPr/>
            <p:nvPr/>
          </p:nvCxnSpPr>
          <p:spPr>
            <a:xfrm>
              <a:off x="2637692" y="222738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23836" y="1938966"/>
              <a:ext cx="17732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1
</a:t>
              </a:r>
            </a:p>
          </p:txBody>
        </p:sp>
      </p:grpSp>
      <p:grpSp>
        <p:nvGrpSpPr>
          <p:cNvPr id="53" name="Group 52"/>
          <p:cNvGrpSpPr/>
          <p:nvPr/>
        </p:nvGrpSpPr>
        <p:grpSpPr>
          <a:xfrm>
            <a:off x="2123387" y="1782664"/>
            <a:ext cx="8138112" cy="3727182"/>
            <a:chOff x="593521" y="1513036"/>
            <a:chExt cx="8138112" cy="3727182"/>
          </a:xfrm>
        </p:grpSpPr>
        <p:sp>
          <p:nvSpPr>
            <p:cNvPr id="54" name="TextBox 53"/>
            <p:cNvSpPr txBox="1"/>
            <p:nvPr/>
          </p:nvSpPr>
          <p:spPr>
            <a:xfrm>
              <a:off x="5046393" y="1513036"/>
              <a:ext cx="3685240" cy="584775"/>
            </a:xfrm>
            <a:prstGeom prst="rect">
              <a:avLst/>
            </a:prstGeom>
            <a:noFill/>
          </p:spPr>
          <p:txBody>
            <a:bodyPr wrap="none" rtlCol="0">
              <a:spAutoFit/>
            </a:bodyPr>
            <a:lstStyle/>
            <a:p>
              <a:r>
                <a:rPr lang="es-ES_tradnl" sz="1600" dirty="0">
                  <a:solidFill>
                    <a:srgbClr val="00FF00"/>
                  </a:solidFill>
                  <a:latin typeface="Gill Sans MT" panose="020B0502020104020203" pitchFamily="34" charset="77"/>
                  <a:cs typeface="Trebuchet MS"/>
                </a:rPr>
                <a:t>La Línea 2 separa las clases perfectamente
</a:t>
              </a:r>
            </a:p>
          </p:txBody>
        </p:sp>
        <p:cxnSp>
          <p:nvCxnSpPr>
            <p:cNvPr id="55" name="Straight Connector 54"/>
            <p:cNvCxnSpPr/>
            <p:nvPr/>
          </p:nvCxnSpPr>
          <p:spPr>
            <a:xfrm>
              <a:off x="2485289" y="2387603"/>
              <a:ext cx="3946769" cy="2852615"/>
            </a:xfrm>
            <a:prstGeom prst="line">
              <a:avLst/>
            </a:prstGeom>
            <a:ln>
              <a:solidFill>
                <a:srgbClr val="00FF00"/>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93521" y="2201250"/>
              <a:ext cx="1773242" cy="584775"/>
            </a:xfrm>
            <a:prstGeom prst="rect">
              <a:avLst/>
            </a:prstGeom>
            <a:noFill/>
          </p:spPr>
          <p:txBody>
            <a:bodyPr wrap="none" rtlCol="0">
              <a:spAutoFit/>
            </a:bodyPr>
            <a:lstStyle/>
            <a:p>
              <a:r>
                <a:rPr lang="es-ES_tradnl" sz="1600" dirty="0">
                  <a:solidFill>
                    <a:srgbClr val="00FF00"/>
                  </a:solidFill>
                  <a:latin typeface="Gill Sans MT" panose="020B0502020104020203" pitchFamily="34" charset="77"/>
                  <a:cs typeface="Trebuchet MS"/>
                </a:rPr>
                <a:t>Línea de decisión 2
</a:t>
              </a:r>
            </a:p>
          </p:txBody>
        </p:sp>
      </p:grpSp>
      <p:grpSp>
        <p:nvGrpSpPr>
          <p:cNvPr id="60" name="Group 59"/>
          <p:cNvGrpSpPr/>
          <p:nvPr/>
        </p:nvGrpSpPr>
        <p:grpSpPr>
          <a:xfrm>
            <a:off x="1874646" y="2052293"/>
            <a:ext cx="8392712" cy="2812785"/>
            <a:chOff x="338915" y="1513036"/>
            <a:chExt cx="8392712" cy="2812785"/>
          </a:xfrm>
        </p:grpSpPr>
        <p:sp>
          <p:nvSpPr>
            <p:cNvPr id="61" name="TextBox 60"/>
            <p:cNvSpPr txBox="1"/>
            <p:nvPr/>
          </p:nvSpPr>
          <p:spPr>
            <a:xfrm>
              <a:off x="5046387" y="1513036"/>
              <a:ext cx="3685240" cy="584775"/>
            </a:xfrm>
            <a:prstGeom prst="rect">
              <a:avLst/>
            </a:prstGeom>
            <a:noFill/>
          </p:spPr>
          <p:txBody>
            <a:bodyPr wrap="none" rtlCol="0">
              <a:spAutoFit/>
            </a:bodyPr>
            <a:lstStyle/>
            <a:p>
              <a:r>
                <a:rPr lang="es-ES_tradnl" sz="1600" dirty="0">
                  <a:solidFill>
                    <a:srgbClr val="FF6600"/>
                  </a:solidFill>
                  <a:latin typeface="Gill Sans MT" panose="020B0502020104020203" pitchFamily="34" charset="77"/>
                  <a:cs typeface="Trebuchet MS"/>
                </a:rPr>
                <a:t>La Línea 3 separa las clases perfectamente
</a:t>
              </a:r>
            </a:p>
          </p:txBody>
        </p:sp>
        <p:cxnSp>
          <p:nvCxnSpPr>
            <p:cNvPr id="62" name="Straight Connector 61"/>
            <p:cNvCxnSpPr/>
            <p:nvPr/>
          </p:nvCxnSpPr>
          <p:spPr>
            <a:xfrm>
              <a:off x="2293808" y="2704129"/>
              <a:ext cx="4269154" cy="1621692"/>
            </a:xfrm>
            <a:prstGeom prst="line">
              <a:avLst/>
            </a:prstGeom>
            <a:ln>
              <a:solidFill>
                <a:srgbClr val="FF6600"/>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338915" y="2471828"/>
              <a:ext cx="1773242" cy="584775"/>
            </a:xfrm>
            <a:prstGeom prst="rect">
              <a:avLst/>
            </a:prstGeom>
            <a:noFill/>
          </p:spPr>
          <p:txBody>
            <a:bodyPr wrap="none" rtlCol="0">
              <a:spAutoFit/>
            </a:bodyPr>
            <a:lstStyle/>
            <a:p>
              <a:r>
                <a:rPr lang="es-ES_tradnl" sz="1600" dirty="0">
                  <a:solidFill>
                    <a:srgbClr val="FF6600"/>
                  </a:solidFill>
                  <a:latin typeface="Gill Sans MT" panose="020B0502020104020203" pitchFamily="34" charset="77"/>
                  <a:cs typeface="Trebuchet MS"/>
                </a:rPr>
                <a:t>Línea de decisión 3
</a:t>
              </a:r>
            </a:p>
          </p:txBody>
        </p:sp>
      </p:grpSp>
      <p:sp>
        <p:nvSpPr>
          <p:cNvPr id="69" name="TextBox 68"/>
          <p:cNvSpPr txBox="1"/>
          <p:nvPr/>
        </p:nvSpPr>
        <p:spPr>
          <a:xfrm>
            <a:off x="7756769" y="2569309"/>
            <a:ext cx="1651414" cy="646331"/>
          </a:xfrm>
          <a:prstGeom prst="rect">
            <a:avLst/>
          </a:prstGeom>
          <a:noFill/>
        </p:spPr>
        <p:txBody>
          <a:bodyPr wrap="none" rtlCol="0">
            <a:spAutoFit/>
          </a:bodyPr>
          <a:lstStyle/>
          <a:p>
            <a:r>
              <a:rPr lang="es-ES_tradnl" dirty="0">
                <a:latin typeface="Gill Sans MT" panose="020B0502020104020203" pitchFamily="34" charset="77"/>
                <a:cs typeface="Trebuchet MS"/>
              </a:rPr>
              <a:t>¿Cuál es mejor?
</a:t>
            </a:r>
            <a:endParaRPr lang="es-ES_tradnl" dirty="0">
              <a:latin typeface="Gill Sans MT" panose="020B0502020104020203" pitchFamily="34" charset="77"/>
            </a:endParaRPr>
          </a:p>
        </p:txBody>
      </p:sp>
      <p:grpSp>
        <p:nvGrpSpPr>
          <p:cNvPr id="70" name="Group 69"/>
          <p:cNvGrpSpPr/>
          <p:nvPr/>
        </p:nvGrpSpPr>
        <p:grpSpPr>
          <a:xfrm>
            <a:off x="4539654" y="3634153"/>
            <a:ext cx="1440160" cy="1800200"/>
            <a:chOff x="2888654" y="3429000"/>
            <a:chExt cx="1440160" cy="1800200"/>
          </a:xfrm>
        </p:grpSpPr>
        <p:sp>
          <p:nvSpPr>
            <p:cNvPr id="71" name="Oval 70"/>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2" name="Oval 71"/>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3" name="Oval 72"/>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4" name="Oval 73"/>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5" name="Oval 74"/>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6" name="Oval 75"/>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7" name="Oval 76"/>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8" name="Oval 77"/>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9" name="Oval 78"/>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0" name="Oval 79"/>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1" name="Oval 80"/>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2" name="Oval 81"/>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3" name="Oval 82"/>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4" name="Oval 83"/>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5" name="Oval 84"/>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6" name="Oval 85"/>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7" name="Oval 86"/>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8" name="Oval 87"/>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grpSp>
      <p:grpSp>
        <p:nvGrpSpPr>
          <p:cNvPr id="89" name="Group 88"/>
          <p:cNvGrpSpPr/>
          <p:nvPr/>
        </p:nvGrpSpPr>
        <p:grpSpPr>
          <a:xfrm rot="2553764">
            <a:off x="5409494" y="2625234"/>
            <a:ext cx="1922676" cy="1440160"/>
            <a:chOff x="4299707" y="3005336"/>
            <a:chExt cx="1922676" cy="1440160"/>
          </a:xfrm>
          <a:solidFill>
            <a:srgbClr val="0000FF"/>
          </a:solidFill>
        </p:grpSpPr>
        <p:sp>
          <p:nvSpPr>
            <p:cNvPr id="90" name="Oval 89"/>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1" name="Oval 90"/>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2" name="Oval 91"/>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3" name="Oval 92"/>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4" name="Oval 93"/>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5" name="Oval 94"/>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6" name="Oval 95"/>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7" name="Oval 96"/>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8" name="Oval 97"/>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9" name="Oval 98"/>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0" name="Oval 99"/>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1" name="Oval 100"/>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2" name="Oval 101"/>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3" name="Oval 102"/>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4" name="Oval 103"/>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5" name="Oval 104"/>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6" name="Oval 105"/>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7" name="Oval 106"/>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grpSp>
      <p:sp>
        <p:nvSpPr>
          <p:cNvPr id="57" name="TextBox 56">
            <a:extLst>
              <a:ext uri="{FF2B5EF4-FFF2-40B4-BE49-F238E27FC236}">
                <a16:creationId xmlns:a16="http://schemas.microsoft.com/office/drawing/2014/main" id="{39FAC4C9-B1C7-8144-8973-F64180FE88C1}"/>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Tree>
    <p:extLst>
      <p:ext uri="{BB962C8B-B14F-4D97-AF65-F5344CB8AC3E}">
        <p14:creationId xmlns:p14="http://schemas.microsoft.com/office/powerpoint/2010/main" val="3751712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Connector 47"/>
          <p:cNvCxnSpPr/>
          <p:nvPr/>
        </p:nvCxnSpPr>
        <p:spPr>
          <a:xfrm>
            <a:off x="4161692" y="222738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grpSp>
        <p:nvGrpSpPr>
          <p:cNvPr id="57" name="Group 56"/>
          <p:cNvGrpSpPr/>
          <p:nvPr/>
        </p:nvGrpSpPr>
        <p:grpSpPr>
          <a:xfrm>
            <a:off x="4539654" y="3634153"/>
            <a:ext cx="1440160" cy="1800200"/>
            <a:chOff x="2888654" y="3429000"/>
            <a:chExt cx="1440160" cy="1800200"/>
          </a:xfrm>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59" name="Oval 5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64" name="Oval 63"/>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65" name="Oval 64"/>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66" name="Oval 65"/>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67" name="Oval 66"/>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68" name="Oval 67"/>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0" name="Oval 69"/>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1" name="Oval 70"/>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3" name="Oval 72"/>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4" name="Oval 73"/>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5" name="Oval 74"/>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6" name="Oval 75"/>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7" name="Oval 76"/>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8" name="Oval 77"/>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79" name="Oval 78"/>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80" name="Oval 79"/>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grpSp>
      <p:grpSp>
        <p:nvGrpSpPr>
          <p:cNvPr id="50" name="Group 49"/>
          <p:cNvGrpSpPr/>
          <p:nvPr/>
        </p:nvGrpSpPr>
        <p:grpSpPr>
          <a:xfrm>
            <a:off x="4304323" y="2076946"/>
            <a:ext cx="6297536" cy="3970204"/>
            <a:chOff x="2780323" y="2076946"/>
            <a:chExt cx="6297536" cy="3970204"/>
          </a:xfrm>
        </p:grpSpPr>
        <p:grpSp>
          <p:nvGrpSpPr>
            <p:cNvPr id="46" name="Group 45"/>
            <p:cNvGrpSpPr/>
            <p:nvPr/>
          </p:nvGrpSpPr>
          <p:grpSpPr>
            <a:xfrm>
              <a:off x="2780323" y="2076946"/>
              <a:ext cx="6297536" cy="3970204"/>
              <a:chOff x="2780323" y="2076946"/>
              <a:chExt cx="6297536" cy="3970204"/>
            </a:xfrm>
          </p:grpSpPr>
          <p:sp>
            <p:nvSpPr>
              <p:cNvPr id="45" name="TextBox 44"/>
              <p:cNvSpPr txBox="1"/>
              <p:nvPr/>
            </p:nvSpPr>
            <p:spPr>
              <a:xfrm>
                <a:off x="5768051" y="2891369"/>
                <a:ext cx="3309808" cy="1323439"/>
              </a:xfrm>
              <a:prstGeom prst="rect">
                <a:avLst/>
              </a:prstGeom>
              <a:noFill/>
            </p:spPr>
            <p:txBody>
              <a:bodyPr wrap="square" rtlCol="0">
                <a:spAutoFit/>
              </a:bodyPr>
              <a:lstStyle/>
              <a:p>
                <a:r>
                  <a:rPr lang="es-ES_tradnl" sz="1600" dirty="0">
                    <a:solidFill>
                      <a:schemeClr val="tx1">
                        <a:lumMod val="65000"/>
                        <a:lumOff val="35000"/>
                      </a:schemeClr>
                    </a:solidFill>
                    <a:latin typeface="Gill Sans MT" panose="020B0502020104020203" pitchFamily="34" charset="77"/>
                    <a:cs typeface="Trebuchet MS"/>
                  </a:rPr>
                  <a:t>Para una línea de decisión, definimos el margen '</a:t>
                </a:r>
                <a:r>
                  <a:rPr lang="es-ES_tradnl" sz="1600" dirty="0">
                    <a:solidFill>
                      <a:srgbClr val="0000FF"/>
                    </a:solidFill>
                    <a:latin typeface="Gill Sans MT" panose="020B0502020104020203" pitchFamily="34" charset="77"/>
                    <a:cs typeface="Trebuchet MS"/>
                  </a:rPr>
                  <a:t>b1</a:t>
                </a:r>
                <a:r>
                  <a:rPr lang="es-ES_tradnl" sz="1600" dirty="0">
                    <a:solidFill>
                      <a:schemeClr val="tx1">
                        <a:lumMod val="65000"/>
                        <a:lumOff val="35000"/>
                      </a:schemeClr>
                    </a:solidFill>
                    <a:latin typeface="Gill Sans MT" panose="020B0502020104020203" pitchFamily="34" charset="77"/>
                    <a:cs typeface="Trebuchet MS"/>
                  </a:rPr>
                  <a:t>' como la distancia perpendicular de la línea a la muestra más cercana de la clase 1.
</a:t>
                </a:r>
              </a:p>
            </p:txBody>
          </p:sp>
          <p:cxnSp>
            <p:nvCxnSpPr>
              <p:cNvPr id="81" name="Straight Connector 80"/>
              <p:cNvCxnSpPr/>
              <p:nvPr/>
            </p:nvCxnSpPr>
            <p:spPr>
              <a:xfrm>
                <a:off x="2780323" y="2076946"/>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4" name="Straight Arrow Connector 3"/>
              <p:cNvCxnSpPr/>
              <p:nvPr/>
            </p:nvCxnSpPr>
            <p:spPr>
              <a:xfrm flipH="1">
                <a:off x="5949462" y="5148385"/>
                <a:ext cx="341923" cy="361461"/>
              </a:xfrm>
              <a:prstGeom prst="straightConnector1">
                <a:avLst/>
              </a:prstGeom>
              <a:ln>
                <a:solidFill>
                  <a:srgbClr val="0000FF"/>
                </a:solidFill>
                <a:tailEnd type="arrow"/>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p:nvPr/>
            </p:nvCxnSpPr>
            <p:spPr>
              <a:xfrm flipV="1">
                <a:off x="5490308" y="5681780"/>
                <a:ext cx="328247" cy="365370"/>
              </a:xfrm>
              <a:prstGeom prst="straightConnector1">
                <a:avLst/>
              </a:prstGeom>
              <a:ln>
                <a:solidFill>
                  <a:srgbClr val="0000FF"/>
                </a:solidFill>
                <a:tailEnd type="arrow"/>
              </a:ln>
            </p:spPr>
            <p:style>
              <a:lnRef idx="2">
                <a:schemeClr val="accent1"/>
              </a:lnRef>
              <a:fillRef idx="0">
                <a:schemeClr val="accent1"/>
              </a:fillRef>
              <a:effectRef idx="1">
                <a:schemeClr val="accent1"/>
              </a:effectRef>
              <a:fontRef idx="minor">
                <a:schemeClr val="tx1"/>
              </a:fontRef>
            </p:style>
          </p:cxnSp>
        </p:grpSp>
        <p:sp>
          <p:nvSpPr>
            <p:cNvPr id="47" name="Rectangle 46"/>
            <p:cNvSpPr/>
            <p:nvPr/>
          </p:nvSpPr>
          <p:spPr>
            <a:xfrm>
              <a:off x="6260476" y="4807411"/>
              <a:ext cx="377026" cy="369332"/>
            </a:xfrm>
            <a:prstGeom prst="rect">
              <a:avLst/>
            </a:prstGeom>
          </p:spPr>
          <p:txBody>
            <a:bodyPr wrap="none">
              <a:spAutoFit/>
            </a:bodyPr>
            <a:lstStyle/>
            <a:p>
              <a:r>
                <a:rPr lang="es-ES_tradnl" dirty="0">
                  <a:solidFill>
                    <a:srgbClr val="0000FF"/>
                  </a:solidFill>
                  <a:latin typeface="Gill Sans MT" panose="020B0502020104020203" pitchFamily="34" charset="77"/>
                  <a:cs typeface="Trebuchet MS"/>
                </a:rPr>
                <a:t>b</a:t>
              </a:r>
              <a:r>
                <a:rPr lang="es-ES_tradnl" baseline="-25000" dirty="0">
                  <a:solidFill>
                    <a:srgbClr val="0000FF"/>
                  </a:solidFill>
                  <a:latin typeface="Gill Sans MT" panose="020B0502020104020203" pitchFamily="34" charset="77"/>
                  <a:cs typeface="Trebuchet MS"/>
                </a:rPr>
                <a:t>1</a:t>
              </a:r>
              <a:endParaRPr lang="es-ES_tradnl" dirty="0">
                <a:latin typeface="Gill Sans MT" panose="020B0502020104020203" pitchFamily="34" charset="77"/>
              </a:endParaRPr>
            </a:p>
          </p:txBody>
        </p:sp>
      </p:grpSp>
      <p:grpSp>
        <p:nvGrpSpPr>
          <p:cNvPr id="89" name="Group 88"/>
          <p:cNvGrpSpPr/>
          <p:nvPr/>
        </p:nvGrpSpPr>
        <p:grpSpPr>
          <a:xfrm>
            <a:off x="1672706" y="2301611"/>
            <a:ext cx="5656182" cy="3815882"/>
            <a:chOff x="148706" y="2301611"/>
            <a:chExt cx="5656182" cy="3815882"/>
          </a:xfrm>
        </p:grpSpPr>
        <p:grpSp>
          <p:nvGrpSpPr>
            <p:cNvPr id="84" name="Group 83"/>
            <p:cNvGrpSpPr/>
            <p:nvPr/>
          </p:nvGrpSpPr>
          <p:grpSpPr>
            <a:xfrm>
              <a:off x="148706" y="2301611"/>
              <a:ext cx="5656182" cy="3815882"/>
              <a:chOff x="152610" y="1289539"/>
              <a:chExt cx="5656182" cy="3815882"/>
            </a:xfrm>
          </p:grpSpPr>
          <p:sp>
            <p:nvSpPr>
              <p:cNvPr id="85" name="TextBox 84"/>
              <p:cNvSpPr txBox="1"/>
              <p:nvPr/>
            </p:nvSpPr>
            <p:spPr>
              <a:xfrm>
                <a:off x="152610" y="2754800"/>
                <a:ext cx="2515153" cy="1569660"/>
              </a:xfrm>
              <a:prstGeom prst="rect">
                <a:avLst/>
              </a:prstGeom>
              <a:noFill/>
            </p:spPr>
            <p:txBody>
              <a:bodyPr wrap="square" rtlCol="0">
                <a:spAutoFit/>
              </a:bodyPr>
              <a:lstStyle/>
              <a:p>
                <a:r>
                  <a:rPr lang="es-ES_tradnl" sz="1600" dirty="0">
                    <a:solidFill>
                      <a:schemeClr val="tx1">
                        <a:lumMod val="65000"/>
                        <a:lumOff val="35000"/>
                      </a:schemeClr>
                    </a:solidFill>
                    <a:latin typeface="Gill Sans MT" panose="020B0502020104020203" pitchFamily="34" charset="77"/>
                    <a:cs typeface="Trebuchet MS"/>
                  </a:rPr>
                  <a:t>Y definimos el margen '</a:t>
                </a:r>
                <a:r>
                  <a:rPr lang="es-ES_tradnl" sz="1600" dirty="0">
                    <a:solidFill>
                      <a:srgbClr val="FF0000"/>
                    </a:solidFill>
                    <a:latin typeface="Gill Sans MT" panose="020B0502020104020203" pitchFamily="34" charset="77"/>
                    <a:cs typeface="Trebuchet MS"/>
                  </a:rPr>
                  <a:t>b2</a:t>
                </a:r>
                <a:r>
                  <a:rPr lang="es-ES_tradnl" sz="1600" dirty="0">
                    <a:solidFill>
                      <a:schemeClr val="tx1">
                        <a:lumMod val="65000"/>
                        <a:lumOff val="35000"/>
                      </a:schemeClr>
                    </a:solidFill>
                    <a:latin typeface="Gill Sans MT" panose="020B0502020104020203" pitchFamily="34" charset="77"/>
                    <a:cs typeface="Trebuchet MS"/>
                  </a:rPr>
                  <a:t>' como la distancia perpendicular de la línea a la muestra más cercana de la clase 2.
</a:t>
                </a:r>
              </a:p>
            </p:txBody>
          </p:sp>
          <p:cxnSp>
            <p:nvCxnSpPr>
              <p:cNvPr id="86" name="Straight Connector 85"/>
              <p:cNvCxnSpPr/>
              <p:nvPr/>
            </p:nvCxnSpPr>
            <p:spPr>
              <a:xfrm>
                <a:off x="2477484" y="1481037"/>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87" name="Straight Arrow Connector 86"/>
              <p:cNvCxnSpPr/>
              <p:nvPr/>
            </p:nvCxnSpPr>
            <p:spPr>
              <a:xfrm flipH="1">
                <a:off x="3038231" y="1289539"/>
                <a:ext cx="341923" cy="361461"/>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p:nvPr/>
            </p:nvCxnSpPr>
            <p:spPr>
              <a:xfrm flipV="1">
                <a:off x="2491156" y="1871779"/>
                <a:ext cx="328247" cy="36537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grpSp>
        <p:sp>
          <p:nvSpPr>
            <p:cNvPr id="49" name="Rectangle 48"/>
            <p:cNvSpPr/>
            <p:nvPr/>
          </p:nvSpPr>
          <p:spPr>
            <a:xfrm>
              <a:off x="2186705" y="3127104"/>
              <a:ext cx="377026" cy="369332"/>
            </a:xfrm>
            <a:prstGeom prst="rect">
              <a:avLst/>
            </a:prstGeom>
          </p:spPr>
          <p:txBody>
            <a:bodyPr wrap="none">
              <a:spAutoFit/>
            </a:bodyPr>
            <a:lstStyle/>
            <a:p>
              <a:r>
                <a:rPr lang="es-ES_tradnl" dirty="0">
                  <a:solidFill>
                    <a:srgbClr val="FF0000"/>
                  </a:solidFill>
                  <a:latin typeface="Gill Sans MT" panose="020B0502020104020203" pitchFamily="34" charset="77"/>
                  <a:cs typeface="Trebuchet MS"/>
                </a:rPr>
                <a:t>b</a:t>
              </a:r>
              <a:r>
                <a:rPr lang="es-ES_tradnl" baseline="-25000" dirty="0">
                  <a:solidFill>
                    <a:srgbClr val="FF0000"/>
                  </a:solidFill>
                  <a:latin typeface="Gill Sans MT" panose="020B0502020104020203" pitchFamily="34" charset="77"/>
                  <a:cs typeface="Trebuchet MS"/>
                </a:rPr>
                <a:t>2</a:t>
              </a:r>
              <a:endParaRPr lang="es-ES_tradnl" dirty="0">
                <a:latin typeface="Gill Sans MT" panose="020B0502020104020203" pitchFamily="34" charset="77"/>
              </a:endParaRPr>
            </a:p>
          </p:txBody>
        </p:sp>
      </p:grpSp>
      <p:grpSp>
        <p:nvGrpSpPr>
          <p:cNvPr id="90" name="Group 89"/>
          <p:cNvGrpSpPr/>
          <p:nvPr/>
        </p:nvGrpSpPr>
        <p:grpSpPr>
          <a:xfrm rot="2553764">
            <a:off x="5409494" y="2625234"/>
            <a:ext cx="1922676" cy="1440160"/>
            <a:chOff x="4299707" y="3005336"/>
            <a:chExt cx="1922676" cy="1440160"/>
          </a:xfrm>
          <a:solidFill>
            <a:srgbClr val="0000FF"/>
          </a:solidFill>
        </p:grpSpPr>
        <p:sp>
          <p:nvSpPr>
            <p:cNvPr id="91" name="Oval 90"/>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2" name="Oval 91"/>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3" name="Oval 92"/>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4" name="Oval 93"/>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5" name="Oval 94"/>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6" name="Oval 95"/>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7" name="Oval 96"/>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8" name="Oval 97"/>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9" name="Oval 98"/>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0" name="Oval 99"/>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1" name="Oval 100"/>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2" name="Oval 101"/>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3" name="Oval 102"/>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4" name="Oval 103"/>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5" name="Oval 104"/>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6" name="Oval 105"/>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7" name="Oval 106"/>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8" name="Oval 107"/>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grpSp>
      <p:sp>
        <p:nvSpPr>
          <p:cNvPr id="109" name="TextBox 108"/>
          <p:cNvSpPr txBox="1"/>
          <p:nvPr/>
        </p:nvSpPr>
        <p:spPr>
          <a:xfrm>
            <a:off x="5409287" y="2932878"/>
            <a:ext cx="296876" cy="707886"/>
          </a:xfrm>
          <a:prstGeom prst="rect">
            <a:avLst/>
          </a:prstGeom>
          <a:noFill/>
        </p:spPr>
        <p:txBody>
          <a:bodyPr wrap="none" rtlCol="0">
            <a:spAutoFit/>
          </a:bodyPr>
          <a:lstStyle/>
          <a:p>
            <a:r>
              <a:rPr lang="es-ES_tradnl" sz="4000" dirty="0">
                <a:latin typeface="Gill Sans MT" panose="020B0502020104020203" pitchFamily="34" charset="77"/>
                <a:cs typeface="Trebuchet MS"/>
              </a:rPr>
              <a:t>.</a:t>
            </a:r>
          </a:p>
        </p:txBody>
      </p:sp>
      <p:sp>
        <p:nvSpPr>
          <p:cNvPr id="110" name="TextBox 109"/>
          <p:cNvSpPr txBox="1"/>
          <p:nvPr/>
        </p:nvSpPr>
        <p:spPr>
          <a:xfrm>
            <a:off x="5670309" y="3987702"/>
            <a:ext cx="296876" cy="707886"/>
          </a:xfrm>
          <a:prstGeom prst="rect">
            <a:avLst/>
          </a:prstGeom>
          <a:noFill/>
        </p:spPr>
        <p:txBody>
          <a:bodyPr wrap="none" rtlCol="0">
            <a:spAutoFit/>
          </a:bodyPr>
          <a:lstStyle/>
          <a:p>
            <a:r>
              <a:rPr lang="es-ES_tradnl" sz="4000" dirty="0">
                <a:latin typeface="Gill Sans MT" panose="020B0502020104020203" pitchFamily="34" charset="77"/>
                <a:cs typeface="Trebuchet MS"/>
              </a:rPr>
              <a:t>.</a:t>
            </a:r>
          </a:p>
        </p:txBody>
      </p:sp>
      <p:sp>
        <p:nvSpPr>
          <p:cNvPr id="61" name="TextBox 60">
            <a:extLst>
              <a:ext uri="{FF2B5EF4-FFF2-40B4-BE49-F238E27FC236}">
                <a16:creationId xmlns:a16="http://schemas.microsoft.com/office/drawing/2014/main" id="{6DCA9614-98E4-1A4F-8A0B-4D92332F4CBE}"/>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Tree>
    <p:extLst>
      <p:ext uri="{BB962C8B-B14F-4D97-AF65-F5344CB8AC3E}">
        <p14:creationId xmlns:p14="http://schemas.microsoft.com/office/powerpoint/2010/main" val="163667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9"/>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P spid="1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Connector 47"/>
          <p:cNvCxnSpPr/>
          <p:nvPr/>
        </p:nvCxnSpPr>
        <p:spPr>
          <a:xfrm>
            <a:off x="4161692" y="222738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grpSp>
        <p:nvGrpSpPr>
          <p:cNvPr id="57" name="Group 56"/>
          <p:cNvGrpSpPr/>
          <p:nvPr/>
        </p:nvGrpSpPr>
        <p:grpSpPr>
          <a:xfrm>
            <a:off x="4539654" y="3634153"/>
            <a:ext cx="1440160" cy="1800200"/>
            <a:chOff x="2888654" y="3429000"/>
            <a:chExt cx="1440160" cy="1800200"/>
          </a:xfrm>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6" name="Oval 65"/>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45" name="TextBox 44"/>
          <p:cNvSpPr txBox="1"/>
          <p:nvPr/>
        </p:nvSpPr>
        <p:spPr>
          <a:xfrm>
            <a:off x="7827098" y="1513036"/>
            <a:ext cx="3309808" cy="1077218"/>
          </a:xfrm>
          <a:prstGeom prst="rect">
            <a:avLst/>
          </a:prstGeom>
          <a:noFill/>
        </p:spPr>
        <p:txBody>
          <a:bodyPr wrap="square" rtlCol="0">
            <a:spAutoFit/>
          </a:bodyPr>
          <a:lstStyle/>
          <a:p>
            <a:r>
              <a:rPr lang="en-US" sz="1600" dirty="0">
                <a:solidFill>
                  <a:srgbClr val="404040"/>
                </a:solidFill>
                <a:latin typeface="Gill Sans MT" panose="020B0502020104020203" pitchFamily="34" charset="77"/>
                <a:cs typeface="Trebuchet MS"/>
              </a:rPr>
              <a:t>Ideas clave de SVM:</a:t>
            </a:r>
          </a:p>
          <a:p>
            <a:endParaRPr lang="en-US" sz="1600" dirty="0">
              <a:solidFill>
                <a:srgbClr val="404040"/>
              </a:solidFill>
              <a:latin typeface="Gill Sans MT" panose="020B0502020104020203" pitchFamily="34" charset="77"/>
              <a:cs typeface="Trebuchet MS"/>
            </a:endParaRPr>
          </a:p>
          <a:p>
            <a:pPr marL="342900" indent="-342900">
              <a:buAutoNum type="arabicParenR"/>
            </a:pPr>
            <a:r>
              <a:rPr lang="en-US" sz="1600" dirty="0">
                <a:solidFill>
                  <a:srgbClr val="0000FF"/>
                </a:solidFill>
                <a:latin typeface="Gill Sans MT" panose="020B0502020104020203" pitchFamily="34" charset="77"/>
                <a:cs typeface="Trebuchet MS"/>
              </a:rPr>
              <a:t>b</a:t>
            </a:r>
            <a:r>
              <a:rPr lang="en-US" sz="1600" baseline="-25000" dirty="0">
                <a:solidFill>
                  <a:srgbClr val="0000FF"/>
                </a:solidFill>
                <a:latin typeface="Gill Sans MT" panose="020B0502020104020203" pitchFamily="34" charset="77"/>
                <a:cs typeface="Trebuchet MS"/>
              </a:rPr>
              <a:t>1</a:t>
            </a:r>
            <a:r>
              <a:rPr lang="en-US" sz="1600" dirty="0">
                <a:solidFill>
                  <a:schemeClr val="tx1">
                    <a:lumMod val="65000"/>
                    <a:lumOff val="35000"/>
                  </a:schemeClr>
                </a:solidFill>
                <a:latin typeface="Gill Sans MT" panose="020B0502020104020203" pitchFamily="34" charset="77"/>
                <a:cs typeface="Trebuchet MS"/>
              </a:rPr>
              <a:t> = </a:t>
            </a:r>
            <a:r>
              <a:rPr lang="en-US" sz="1600" dirty="0">
                <a:solidFill>
                  <a:srgbClr val="FF0000"/>
                </a:solidFill>
                <a:latin typeface="Gill Sans MT" panose="020B0502020104020203" pitchFamily="34" charset="77"/>
                <a:cs typeface="Trebuchet MS"/>
              </a:rPr>
              <a:t>b</a:t>
            </a:r>
            <a:r>
              <a:rPr lang="en-US" sz="1600" baseline="-25000" dirty="0">
                <a:solidFill>
                  <a:srgbClr val="FF0000"/>
                </a:solidFill>
                <a:latin typeface="Gill Sans MT" panose="020B0502020104020203" pitchFamily="34" charset="77"/>
                <a:cs typeface="Trebuchet MS"/>
              </a:rPr>
              <a:t>2 </a:t>
            </a:r>
            <a:r>
              <a:rPr lang="en-US" sz="1600" dirty="0">
                <a:solidFill>
                  <a:schemeClr val="tx1">
                    <a:lumMod val="65000"/>
                    <a:lumOff val="35000"/>
                  </a:schemeClr>
                </a:solidFill>
                <a:latin typeface="Gill Sans MT" panose="020B0502020104020203" pitchFamily="34" charset="77"/>
                <a:cs typeface="Trebuchet MS"/>
              </a:rPr>
              <a:t>= b.</a:t>
            </a:r>
          </a:p>
          <a:p>
            <a:pPr marL="342900" indent="-342900">
              <a:buAutoNum type="arabicParenR"/>
            </a:pPr>
            <a:endParaRPr lang="en-US" sz="1600" dirty="0">
              <a:solidFill>
                <a:schemeClr val="tx1">
                  <a:lumMod val="65000"/>
                  <a:lumOff val="35000"/>
                </a:schemeClr>
              </a:solidFill>
              <a:latin typeface="Gill Sans MT" panose="020B0502020104020203" pitchFamily="34" charset="77"/>
              <a:cs typeface="Trebuchet MS"/>
            </a:endParaRPr>
          </a:p>
        </p:txBody>
      </p:sp>
      <p:cxnSp>
        <p:nvCxnSpPr>
          <p:cNvPr id="81" name="Straight Connector 80"/>
          <p:cNvCxnSpPr/>
          <p:nvPr/>
        </p:nvCxnSpPr>
        <p:spPr>
          <a:xfrm>
            <a:off x="4304323" y="2076946"/>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4" name="Straight Arrow Connector 3"/>
          <p:cNvCxnSpPr/>
          <p:nvPr/>
        </p:nvCxnSpPr>
        <p:spPr>
          <a:xfrm flipH="1">
            <a:off x="7473463" y="5148386"/>
            <a:ext cx="341923" cy="361461"/>
          </a:xfrm>
          <a:prstGeom prst="straightConnector1">
            <a:avLst/>
          </a:prstGeom>
          <a:ln>
            <a:solidFill>
              <a:srgbClr val="0000FF"/>
            </a:solidFill>
            <a:tailEnd type="arrow"/>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p:nvPr/>
        </p:nvCxnSpPr>
        <p:spPr>
          <a:xfrm flipV="1">
            <a:off x="7014309" y="5681780"/>
            <a:ext cx="328247" cy="365370"/>
          </a:xfrm>
          <a:prstGeom prst="straightConnector1">
            <a:avLst/>
          </a:prstGeom>
          <a:ln>
            <a:solidFill>
              <a:srgbClr val="0000FF"/>
            </a:solidFill>
            <a:tailEnd type="arrow"/>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7784477" y="4807411"/>
            <a:ext cx="377026" cy="369332"/>
          </a:xfrm>
          <a:prstGeom prst="rect">
            <a:avLst/>
          </a:prstGeom>
        </p:spPr>
        <p:txBody>
          <a:bodyPr wrap="none">
            <a:spAutoFit/>
          </a:bodyPr>
          <a:lstStyle/>
          <a:p>
            <a:r>
              <a:rPr lang="en-US" dirty="0">
                <a:solidFill>
                  <a:srgbClr val="0000FF"/>
                </a:solidFill>
                <a:latin typeface="Gill Sans MT" panose="020B0502020104020203" pitchFamily="34" charset="77"/>
                <a:cs typeface="Trebuchet MS"/>
              </a:rPr>
              <a:t>b</a:t>
            </a:r>
            <a:r>
              <a:rPr lang="en-US" baseline="-25000" dirty="0">
                <a:solidFill>
                  <a:srgbClr val="0000FF"/>
                </a:solidFill>
                <a:latin typeface="Gill Sans MT" panose="020B0502020104020203" pitchFamily="34" charset="77"/>
                <a:cs typeface="Trebuchet MS"/>
              </a:rPr>
              <a:t>1</a:t>
            </a:r>
            <a:endParaRPr lang="en-US" dirty="0">
              <a:latin typeface="Gill Sans MT" panose="020B0502020104020203" pitchFamily="34" charset="77"/>
            </a:endParaRPr>
          </a:p>
        </p:txBody>
      </p:sp>
      <p:grpSp>
        <p:nvGrpSpPr>
          <p:cNvPr id="89" name="Group 88"/>
          <p:cNvGrpSpPr/>
          <p:nvPr/>
        </p:nvGrpSpPr>
        <p:grpSpPr>
          <a:xfrm>
            <a:off x="3710706" y="2301611"/>
            <a:ext cx="3618183" cy="3815882"/>
            <a:chOff x="2186705" y="2301611"/>
            <a:chExt cx="3618183" cy="3815882"/>
          </a:xfrm>
        </p:grpSpPr>
        <p:grpSp>
          <p:nvGrpSpPr>
            <p:cNvPr id="84" name="Group 83"/>
            <p:cNvGrpSpPr/>
            <p:nvPr/>
          </p:nvGrpSpPr>
          <p:grpSpPr>
            <a:xfrm>
              <a:off x="2473580" y="2301611"/>
              <a:ext cx="3331308" cy="3815882"/>
              <a:chOff x="2477484" y="1289539"/>
              <a:chExt cx="3331308" cy="3815882"/>
            </a:xfrm>
          </p:grpSpPr>
          <p:cxnSp>
            <p:nvCxnSpPr>
              <p:cNvPr id="86" name="Straight Connector 85"/>
              <p:cNvCxnSpPr/>
              <p:nvPr/>
            </p:nvCxnSpPr>
            <p:spPr>
              <a:xfrm>
                <a:off x="2477484" y="1481037"/>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87" name="Straight Arrow Connector 86"/>
              <p:cNvCxnSpPr/>
              <p:nvPr/>
            </p:nvCxnSpPr>
            <p:spPr>
              <a:xfrm flipH="1">
                <a:off x="3038231" y="1289539"/>
                <a:ext cx="341923" cy="361461"/>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p:nvPr/>
            </p:nvCxnSpPr>
            <p:spPr>
              <a:xfrm flipV="1">
                <a:off x="2491156" y="1871779"/>
                <a:ext cx="328247" cy="36537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grpSp>
        <p:sp>
          <p:nvSpPr>
            <p:cNvPr id="49" name="Rectangle 48"/>
            <p:cNvSpPr/>
            <p:nvPr/>
          </p:nvSpPr>
          <p:spPr>
            <a:xfrm>
              <a:off x="2186705" y="3127104"/>
              <a:ext cx="377026" cy="369332"/>
            </a:xfrm>
            <a:prstGeom prst="rect">
              <a:avLst/>
            </a:prstGeom>
          </p:spPr>
          <p:txBody>
            <a:bodyPr wrap="none">
              <a:spAutoFit/>
            </a:bodyPr>
            <a:lstStyle/>
            <a:p>
              <a:r>
                <a:rPr lang="en-US" dirty="0">
                  <a:solidFill>
                    <a:srgbClr val="FF0000"/>
                  </a:solidFill>
                  <a:latin typeface="Gill Sans MT" panose="020B0502020104020203" pitchFamily="34" charset="77"/>
                  <a:cs typeface="Trebuchet MS"/>
                </a:rPr>
                <a:t>b</a:t>
              </a:r>
              <a:r>
                <a:rPr lang="en-US" baseline="-25000" dirty="0">
                  <a:solidFill>
                    <a:srgbClr val="FF0000"/>
                  </a:solidFill>
                  <a:latin typeface="Gill Sans MT" panose="020B0502020104020203" pitchFamily="34" charset="77"/>
                  <a:cs typeface="Trebuchet MS"/>
                </a:rPr>
                <a:t>2</a:t>
              </a:r>
              <a:endParaRPr lang="en-US" dirty="0">
                <a:latin typeface="Gill Sans MT" panose="020B0502020104020203" pitchFamily="34" charset="77"/>
              </a:endParaRPr>
            </a:p>
          </p:txBody>
        </p:sp>
      </p:grpSp>
      <p:grpSp>
        <p:nvGrpSpPr>
          <p:cNvPr id="60" name="Group 59"/>
          <p:cNvGrpSpPr/>
          <p:nvPr/>
        </p:nvGrpSpPr>
        <p:grpSpPr>
          <a:xfrm rot="2553764">
            <a:off x="5409494" y="2625234"/>
            <a:ext cx="1922676" cy="1440160"/>
            <a:chOff x="4299707" y="3005336"/>
            <a:chExt cx="1922676" cy="1440160"/>
          </a:xfrm>
          <a:solidFill>
            <a:srgbClr val="0000FF"/>
          </a:solidFill>
        </p:grpSpPr>
        <p:sp>
          <p:nvSpPr>
            <p:cNvPr id="61" name="Oval 60"/>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0" name="Oval 89"/>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1" name="Oval 90"/>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2" name="Oval 91"/>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3" name="Oval 92"/>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4" name="Oval 93"/>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5" name="Oval 94"/>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6" name="Oval 95"/>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7" name="Oval 96"/>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8" name="Oval 97"/>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9" name="Oval 98"/>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0" name="Oval 99"/>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1" name="Oval 100"/>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2" name="Oval 101"/>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103" name="TextBox 102"/>
          <p:cNvSpPr txBox="1"/>
          <p:nvPr/>
        </p:nvSpPr>
        <p:spPr>
          <a:xfrm>
            <a:off x="5409287" y="2932878"/>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104" name="TextBox 103"/>
          <p:cNvSpPr txBox="1"/>
          <p:nvPr/>
        </p:nvSpPr>
        <p:spPr>
          <a:xfrm>
            <a:off x="5670309" y="3987702"/>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85" name="TextBox 84">
            <a:extLst>
              <a:ext uri="{FF2B5EF4-FFF2-40B4-BE49-F238E27FC236}">
                <a16:creationId xmlns:a16="http://schemas.microsoft.com/office/drawing/2014/main" id="{09029166-E5C4-B74F-88F0-D8CAAB1938E3}"/>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105" name="TextBox 104">
            <a:extLst>
              <a:ext uri="{FF2B5EF4-FFF2-40B4-BE49-F238E27FC236}">
                <a16:creationId xmlns:a16="http://schemas.microsoft.com/office/drawing/2014/main" id="{AA2DED3B-0650-444F-ABFD-6A5C2E62CBF2}"/>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Tree>
    <p:extLst>
      <p:ext uri="{BB962C8B-B14F-4D97-AF65-F5344CB8AC3E}">
        <p14:creationId xmlns:p14="http://schemas.microsoft.com/office/powerpoint/2010/main" val="1830978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Connector 47"/>
          <p:cNvCxnSpPr/>
          <p:nvPr/>
        </p:nvCxnSpPr>
        <p:spPr>
          <a:xfrm>
            <a:off x="4122616" y="2266461"/>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grpSp>
        <p:nvGrpSpPr>
          <p:cNvPr id="57" name="Group 56"/>
          <p:cNvGrpSpPr/>
          <p:nvPr/>
        </p:nvGrpSpPr>
        <p:grpSpPr>
          <a:xfrm>
            <a:off x="4539654" y="3634153"/>
            <a:ext cx="1440160" cy="1800200"/>
            <a:chOff x="2888654" y="3429000"/>
            <a:chExt cx="1440160" cy="1800200"/>
          </a:xfrm>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6" name="Oval 65"/>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45" name="TextBox 44"/>
          <p:cNvSpPr txBox="1"/>
          <p:nvPr/>
        </p:nvSpPr>
        <p:spPr>
          <a:xfrm>
            <a:off x="7827098" y="1513036"/>
            <a:ext cx="3309808" cy="1077218"/>
          </a:xfrm>
          <a:prstGeom prst="rect">
            <a:avLst/>
          </a:prstGeom>
          <a:noFill/>
        </p:spPr>
        <p:txBody>
          <a:bodyPr wrap="square" rtlCol="0">
            <a:spAutoFit/>
          </a:bodyPr>
          <a:lstStyle/>
          <a:p>
            <a:r>
              <a:rPr lang="en-US" sz="1600" dirty="0">
                <a:solidFill>
                  <a:srgbClr val="404040"/>
                </a:solidFill>
                <a:latin typeface="Gill Sans MT" panose="020B0502020104020203" pitchFamily="34" charset="77"/>
                <a:cs typeface="Trebuchet MS"/>
              </a:rPr>
              <a:t>Ideas clave de SVM:</a:t>
            </a:r>
            <a:endParaRPr lang="en-US" sz="1600" dirty="0">
              <a:solidFill>
                <a:schemeClr val="tx1">
                  <a:lumMod val="65000"/>
                  <a:lumOff val="35000"/>
                </a:schemeClr>
              </a:solidFill>
              <a:latin typeface="Gill Sans MT" panose="020B0502020104020203" pitchFamily="34" charset="77"/>
              <a:cs typeface="Trebuchet MS"/>
            </a:endParaRPr>
          </a:p>
          <a:p>
            <a:endParaRPr lang="en-US"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n-US" sz="1600" dirty="0">
                <a:solidFill>
                  <a:srgbClr val="0000FF"/>
                </a:solidFill>
                <a:latin typeface="Gill Sans MT" panose="020B0502020104020203" pitchFamily="34" charset="77"/>
                <a:cs typeface="Trebuchet MS"/>
              </a:rPr>
              <a:t>b</a:t>
            </a:r>
            <a:r>
              <a:rPr lang="en-US" sz="1600" baseline="-25000" dirty="0">
                <a:solidFill>
                  <a:srgbClr val="0000FF"/>
                </a:solidFill>
                <a:latin typeface="Gill Sans MT" panose="020B0502020104020203" pitchFamily="34" charset="77"/>
                <a:cs typeface="Trebuchet MS"/>
              </a:rPr>
              <a:t>1</a:t>
            </a:r>
            <a:r>
              <a:rPr lang="en-US" sz="1600" dirty="0">
                <a:solidFill>
                  <a:schemeClr val="tx1">
                    <a:lumMod val="65000"/>
                    <a:lumOff val="35000"/>
                  </a:schemeClr>
                </a:solidFill>
                <a:latin typeface="Gill Sans MT" panose="020B0502020104020203" pitchFamily="34" charset="77"/>
                <a:cs typeface="Trebuchet MS"/>
              </a:rPr>
              <a:t> = </a:t>
            </a:r>
            <a:r>
              <a:rPr lang="en-US" sz="1600" dirty="0">
                <a:solidFill>
                  <a:srgbClr val="FF0000"/>
                </a:solidFill>
                <a:latin typeface="Gill Sans MT" panose="020B0502020104020203" pitchFamily="34" charset="77"/>
                <a:cs typeface="Trebuchet MS"/>
              </a:rPr>
              <a:t>b</a:t>
            </a:r>
            <a:r>
              <a:rPr lang="en-US" sz="1600" baseline="-25000" dirty="0">
                <a:solidFill>
                  <a:srgbClr val="FF0000"/>
                </a:solidFill>
                <a:latin typeface="Gill Sans MT" panose="020B0502020104020203" pitchFamily="34" charset="77"/>
                <a:cs typeface="Trebuchet MS"/>
              </a:rPr>
              <a:t>2 </a:t>
            </a:r>
            <a:r>
              <a:rPr lang="en-US" sz="1600" dirty="0">
                <a:solidFill>
                  <a:schemeClr val="tx1">
                    <a:lumMod val="65000"/>
                    <a:lumOff val="35000"/>
                  </a:schemeClr>
                </a:solidFill>
                <a:latin typeface="Gill Sans MT" panose="020B0502020104020203" pitchFamily="34" charset="77"/>
                <a:cs typeface="Trebuchet MS"/>
              </a:rPr>
              <a:t>= b.</a:t>
            </a:r>
          </a:p>
          <a:p>
            <a:pPr marL="342900" indent="-342900">
              <a:buAutoNum type="arabicParenR"/>
            </a:pPr>
            <a:endParaRPr lang="en-US" sz="1600" dirty="0">
              <a:solidFill>
                <a:schemeClr val="tx1">
                  <a:lumMod val="65000"/>
                  <a:lumOff val="35000"/>
                </a:schemeClr>
              </a:solidFill>
              <a:latin typeface="Gill Sans MT" panose="020B0502020104020203" pitchFamily="34" charset="77"/>
              <a:cs typeface="Trebuchet MS"/>
            </a:endParaRPr>
          </a:p>
        </p:txBody>
      </p:sp>
      <p:cxnSp>
        <p:nvCxnSpPr>
          <p:cNvPr id="81" name="Straight Connector 80"/>
          <p:cNvCxnSpPr/>
          <p:nvPr/>
        </p:nvCxnSpPr>
        <p:spPr>
          <a:xfrm>
            <a:off x="4304323" y="2076946"/>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4" name="Straight Arrow Connector 3"/>
          <p:cNvCxnSpPr/>
          <p:nvPr/>
        </p:nvCxnSpPr>
        <p:spPr>
          <a:xfrm flipH="1">
            <a:off x="7473463" y="5148386"/>
            <a:ext cx="341923" cy="361461"/>
          </a:xfrm>
          <a:prstGeom prst="straightConnector1">
            <a:avLst/>
          </a:prstGeom>
          <a:ln>
            <a:solidFill>
              <a:srgbClr val="0000FF"/>
            </a:solidFill>
            <a:tailEnd type="arrow"/>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p:nvPr/>
        </p:nvCxnSpPr>
        <p:spPr>
          <a:xfrm flipV="1">
            <a:off x="6965464" y="5720856"/>
            <a:ext cx="328247" cy="365370"/>
          </a:xfrm>
          <a:prstGeom prst="straightConnector1">
            <a:avLst/>
          </a:prstGeom>
          <a:ln>
            <a:solidFill>
              <a:srgbClr val="0000FF"/>
            </a:solidFill>
            <a:tailEnd type="arrow"/>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7784476" y="4807411"/>
            <a:ext cx="759530" cy="369332"/>
          </a:xfrm>
          <a:prstGeom prst="rect">
            <a:avLst/>
          </a:prstGeom>
        </p:spPr>
        <p:txBody>
          <a:bodyPr wrap="none">
            <a:spAutoFit/>
          </a:bodyPr>
          <a:lstStyle/>
          <a:p>
            <a:r>
              <a:rPr lang="en-US" dirty="0">
                <a:solidFill>
                  <a:srgbClr val="0000FF"/>
                </a:solidFill>
                <a:latin typeface="Gill Sans MT" panose="020B0502020104020203" pitchFamily="34" charset="77"/>
                <a:cs typeface="Trebuchet MS"/>
              </a:rPr>
              <a:t>b</a:t>
            </a:r>
            <a:r>
              <a:rPr lang="en-US" baseline="-25000" dirty="0">
                <a:solidFill>
                  <a:srgbClr val="0000FF"/>
                </a:solidFill>
                <a:latin typeface="Gill Sans MT" panose="020B0502020104020203" pitchFamily="34" charset="77"/>
                <a:cs typeface="Trebuchet MS"/>
              </a:rPr>
              <a:t>1 </a:t>
            </a:r>
            <a:r>
              <a:rPr lang="en-US" dirty="0">
                <a:solidFill>
                  <a:schemeClr val="tx1">
                    <a:lumMod val="75000"/>
                    <a:lumOff val="25000"/>
                  </a:schemeClr>
                </a:solidFill>
                <a:latin typeface="Gill Sans MT" panose="020B0502020104020203" pitchFamily="34" charset="77"/>
                <a:cs typeface="Trebuchet MS"/>
              </a:rPr>
              <a:t>= b</a:t>
            </a:r>
            <a:endParaRPr lang="en-US" dirty="0">
              <a:solidFill>
                <a:schemeClr val="tx1">
                  <a:lumMod val="75000"/>
                  <a:lumOff val="25000"/>
                </a:schemeClr>
              </a:solidFill>
              <a:latin typeface="Gill Sans MT" panose="020B0502020104020203" pitchFamily="34" charset="77"/>
            </a:endParaRPr>
          </a:p>
        </p:txBody>
      </p:sp>
      <p:grpSp>
        <p:nvGrpSpPr>
          <p:cNvPr id="89" name="Group 88"/>
          <p:cNvGrpSpPr/>
          <p:nvPr/>
        </p:nvGrpSpPr>
        <p:grpSpPr>
          <a:xfrm>
            <a:off x="3710706" y="2340687"/>
            <a:ext cx="3618183" cy="3776806"/>
            <a:chOff x="2186705" y="2340687"/>
            <a:chExt cx="3618183" cy="3776806"/>
          </a:xfrm>
        </p:grpSpPr>
        <p:grpSp>
          <p:nvGrpSpPr>
            <p:cNvPr id="84" name="Group 83"/>
            <p:cNvGrpSpPr/>
            <p:nvPr/>
          </p:nvGrpSpPr>
          <p:grpSpPr>
            <a:xfrm>
              <a:off x="2473580" y="2340687"/>
              <a:ext cx="3331308" cy="3776806"/>
              <a:chOff x="2477484" y="1328615"/>
              <a:chExt cx="3331308" cy="3776806"/>
            </a:xfrm>
          </p:grpSpPr>
          <p:cxnSp>
            <p:nvCxnSpPr>
              <p:cNvPr id="86" name="Straight Connector 85"/>
              <p:cNvCxnSpPr/>
              <p:nvPr/>
            </p:nvCxnSpPr>
            <p:spPr>
              <a:xfrm>
                <a:off x="2477484" y="1481037"/>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87" name="Straight Arrow Connector 86"/>
              <p:cNvCxnSpPr/>
              <p:nvPr/>
            </p:nvCxnSpPr>
            <p:spPr>
              <a:xfrm flipH="1">
                <a:off x="2999155" y="1328615"/>
                <a:ext cx="341923" cy="361461"/>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p:nvPr/>
            </p:nvCxnSpPr>
            <p:spPr>
              <a:xfrm flipV="1">
                <a:off x="2491156" y="1871779"/>
                <a:ext cx="328247" cy="36537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grpSp>
        <p:sp>
          <p:nvSpPr>
            <p:cNvPr id="49" name="Rectangle 48"/>
            <p:cNvSpPr/>
            <p:nvPr/>
          </p:nvSpPr>
          <p:spPr>
            <a:xfrm>
              <a:off x="2186705" y="3127104"/>
              <a:ext cx="713168" cy="369332"/>
            </a:xfrm>
            <a:prstGeom prst="rect">
              <a:avLst/>
            </a:prstGeom>
          </p:spPr>
          <p:txBody>
            <a:bodyPr wrap="none">
              <a:spAutoFit/>
            </a:bodyPr>
            <a:lstStyle/>
            <a:p>
              <a:r>
                <a:rPr lang="en-US" dirty="0">
                  <a:solidFill>
                    <a:srgbClr val="FF0000"/>
                  </a:solidFill>
                  <a:latin typeface="Gill Sans MT" panose="020B0502020104020203" pitchFamily="34" charset="77"/>
                  <a:cs typeface="Trebuchet MS"/>
                </a:rPr>
                <a:t>b</a:t>
              </a:r>
              <a:r>
                <a:rPr lang="en-US" baseline="-25000" dirty="0">
                  <a:solidFill>
                    <a:srgbClr val="FF0000"/>
                  </a:solidFill>
                  <a:latin typeface="Gill Sans MT" panose="020B0502020104020203" pitchFamily="34" charset="77"/>
                  <a:cs typeface="Trebuchet MS"/>
                </a:rPr>
                <a:t>2</a:t>
              </a:r>
              <a:r>
                <a:rPr lang="en-US" dirty="0">
                  <a:solidFill>
                    <a:schemeClr val="tx1">
                      <a:lumMod val="75000"/>
                      <a:lumOff val="25000"/>
                    </a:schemeClr>
                  </a:solidFill>
                  <a:latin typeface="Gill Sans MT" panose="020B0502020104020203" pitchFamily="34" charset="77"/>
                  <a:cs typeface="Trebuchet MS"/>
                </a:rPr>
                <a:t>= b</a:t>
              </a:r>
              <a:endParaRPr lang="en-US" dirty="0">
                <a:latin typeface="Gill Sans MT" panose="020B0502020104020203" pitchFamily="34" charset="77"/>
              </a:endParaRPr>
            </a:p>
          </p:txBody>
        </p:sp>
      </p:grpSp>
      <p:grpSp>
        <p:nvGrpSpPr>
          <p:cNvPr id="54" name="Group 53"/>
          <p:cNvGrpSpPr/>
          <p:nvPr/>
        </p:nvGrpSpPr>
        <p:grpSpPr>
          <a:xfrm rot="2553764">
            <a:off x="5409494" y="2625234"/>
            <a:ext cx="1922676" cy="1440160"/>
            <a:chOff x="4299707" y="3005336"/>
            <a:chExt cx="1922676" cy="1440160"/>
          </a:xfrm>
          <a:solidFill>
            <a:srgbClr val="0000FF"/>
          </a:solidFill>
        </p:grpSpPr>
        <p:sp>
          <p:nvSpPr>
            <p:cNvPr id="55" name="Oval 54"/>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0" name="Oval 59"/>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1" name="Oval 60"/>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5" name="Oval 84"/>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0" name="Oval 89"/>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1" name="Oval 90"/>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2" name="Oval 91"/>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3" name="Oval 92"/>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4" name="Oval 93"/>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5" name="Oval 94"/>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6" name="Oval 95"/>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7" name="Oval 96"/>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8" name="Oval 97"/>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99" name="TextBox 98"/>
          <p:cNvSpPr txBox="1"/>
          <p:nvPr/>
        </p:nvSpPr>
        <p:spPr>
          <a:xfrm>
            <a:off x="5409287" y="2932878"/>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100" name="TextBox 99"/>
          <p:cNvSpPr txBox="1"/>
          <p:nvPr/>
        </p:nvSpPr>
        <p:spPr>
          <a:xfrm>
            <a:off x="5670309" y="3987702"/>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101" name="TextBox 100">
            <a:extLst>
              <a:ext uri="{FF2B5EF4-FFF2-40B4-BE49-F238E27FC236}">
                <a16:creationId xmlns:a16="http://schemas.microsoft.com/office/drawing/2014/main" id="{00D4D2C0-9029-2C44-88B5-76020E87AF82}"/>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102" name="TextBox 101">
            <a:extLst>
              <a:ext uri="{FF2B5EF4-FFF2-40B4-BE49-F238E27FC236}">
                <a16:creationId xmlns:a16="http://schemas.microsoft.com/office/drawing/2014/main" id="{1820B504-6F51-5E41-A26E-1B8EC2A00938}"/>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Tree>
    <p:extLst>
      <p:ext uri="{BB962C8B-B14F-4D97-AF65-F5344CB8AC3E}">
        <p14:creationId xmlns:p14="http://schemas.microsoft.com/office/powerpoint/2010/main" val="14318939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Connector 47"/>
          <p:cNvCxnSpPr/>
          <p:nvPr/>
        </p:nvCxnSpPr>
        <p:spPr>
          <a:xfrm>
            <a:off x="4122616" y="2266461"/>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grpSp>
        <p:nvGrpSpPr>
          <p:cNvPr id="57" name="Group 56"/>
          <p:cNvGrpSpPr/>
          <p:nvPr/>
        </p:nvGrpSpPr>
        <p:grpSpPr>
          <a:xfrm>
            <a:off x="4539654" y="3634153"/>
            <a:ext cx="1440160" cy="1800200"/>
            <a:chOff x="2888654" y="3429000"/>
            <a:chExt cx="1440160" cy="1800200"/>
          </a:xfrm>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6" name="Oval 65"/>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45" name="TextBox 44"/>
          <p:cNvSpPr txBox="1"/>
          <p:nvPr/>
        </p:nvSpPr>
        <p:spPr>
          <a:xfrm>
            <a:off x="7827098" y="1513036"/>
            <a:ext cx="3309808" cy="1077218"/>
          </a:xfrm>
          <a:prstGeom prst="rect">
            <a:avLst/>
          </a:prstGeom>
          <a:noFill/>
        </p:spPr>
        <p:txBody>
          <a:bodyPr wrap="square" rtlCol="0">
            <a:spAutoFit/>
          </a:bodyPr>
          <a:lstStyle/>
          <a:p>
            <a:r>
              <a:rPr lang="en-US" sz="1600" dirty="0">
                <a:solidFill>
                  <a:srgbClr val="404040"/>
                </a:solidFill>
                <a:latin typeface="Gill Sans MT" panose="020B0502020104020203" pitchFamily="34" charset="77"/>
                <a:cs typeface="Trebuchet MS"/>
              </a:rPr>
              <a:t>Ideas clave de SVM:</a:t>
            </a:r>
            <a:endParaRPr lang="en-US" sz="1600" dirty="0">
              <a:solidFill>
                <a:schemeClr val="tx1">
                  <a:lumMod val="65000"/>
                  <a:lumOff val="35000"/>
                </a:schemeClr>
              </a:solidFill>
              <a:latin typeface="Gill Sans MT" panose="020B0502020104020203" pitchFamily="34" charset="77"/>
              <a:cs typeface="Trebuchet MS"/>
            </a:endParaRPr>
          </a:p>
          <a:p>
            <a:endParaRPr lang="en-US"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n-US" sz="1600" dirty="0">
                <a:solidFill>
                  <a:srgbClr val="0000FF"/>
                </a:solidFill>
                <a:latin typeface="Gill Sans MT" panose="020B0502020104020203" pitchFamily="34" charset="77"/>
                <a:cs typeface="Trebuchet MS"/>
              </a:rPr>
              <a:t>b</a:t>
            </a:r>
            <a:r>
              <a:rPr lang="en-US" sz="1600" baseline="-25000" dirty="0">
                <a:solidFill>
                  <a:srgbClr val="0000FF"/>
                </a:solidFill>
                <a:latin typeface="Gill Sans MT" panose="020B0502020104020203" pitchFamily="34" charset="77"/>
                <a:cs typeface="Trebuchet MS"/>
              </a:rPr>
              <a:t>1</a:t>
            </a:r>
            <a:r>
              <a:rPr lang="en-US" sz="1600" dirty="0">
                <a:solidFill>
                  <a:schemeClr val="tx1">
                    <a:lumMod val="65000"/>
                    <a:lumOff val="35000"/>
                  </a:schemeClr>
                </a:solidFill>
                <a:latin typeface="Gill Sans MT" panose="020B0502020104020203" pitchFamily="34" charset="77"/>
                <a:cs typeface="Trebuchet MS"/>
              </a:rPr>
              <a:t> = </a:t>
            </a:r>
            <a:r>
              <a:rPr lang="en-US" sz="1600" dirty="0">
                <a:solidFill>
                  <a:srgbClr val="FF0000"/>
                </a:solidFill>
                <a:latin typeface="Gill Sans MT" panose="020B0502020104020203" pitchFamily="34" charset="77"/>
                <a:cs typeface="Trebuchet MS"/>
              </a:rPr>
              <a:t>b</a:t>
            </a:r>
            <a:r>
              <a:rPr lang="en-US" sz="1600" baseline="-25000" dirty="0">
                <a:solidFill>
                  <a:srgbClr val="FF0000"/>
                </a:solidFill>
                <a:latin typeface="Gill Sans MT" panose="020B0502020104020203" pitchFamily="34" charset="77"/>
                <a:cs typeface="Trebuchet MS"/>
              </a:rPr>
              <a:t>2 </a:t>
            </a:r>
            <a:r>
              <a:rPr lang="en-US" sz="1600" dirty="0">
                <a:solidFill>
                  <a:schemeClr val="tx1">
                    <a:lumMod val="65000"/>
                    <a:lumOff val="35000"/>
                  </a:schemeClr>
                </a:solidFill>
                <a:latin typeface="Gill Sans MT" panose="020B0502020104020203" pitchFamily="34" charset="77"/>
                <a:cs typeface="Trebuchet MS"/>
              </a:rPr>
              <a:t>= b.</a:t>
            </a:r>
          </a:p>
          <a:p>
            <a:pPr marL="342900" indent="-342900">
              <a:buAutoNum type="arabicParenR"/>
            </a:pPr>
            <a:endParaRPr lang="en-US" sz="1600" dirty="0">
              <a:solidFill>
                <a:schemeClr val="tx1">
                  <a:lumMod val="65000"/>
                  <a:lumOff val="35000"/>
                </a:schemeClr>
              </a:solidFill>
              <a:latin typeface="Gill Sans MT" panose="020B0502020104020203" pitchFamily="34" charset="77"/>
              <a:cs typeface="Trebuchet MS"/>
            </a:endParaRPr>
          </a:p>
        </p:txBody>
      </p:sp>
      <p:cxnSp>
        <p:nvCxnSpPr>
          <p:cNvPr id="81" name="Straight Connector 80"/>
          <p:cNvCxnSpPr/>
          <p:nvPr/>
        </p:nvCxnSpPr>
        <p:spPr>
          <a:xfrm>
            <a:off x="4304323" y="2076946"/>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a:off x="3997580" y="2493109"/>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3" name="Straight Arrow Connector 2"/>
          <p:cNvCxnSpPr/>
          <p:nvPr/>
        </p:nvCxnSpPr>
        <p:spPr>
          <a:xfrm flipV="1">
            <a:off x="7286369" y="5517252"/>
            <a:ext cx="187905" cy="195679"/>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flipV="1">
            <a:off x="7111957" y="5698611"/>
            <a:ext cx="187905" cy="195679"/>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7343234" y="5580286"/>
            <a:ext cx="270402" cy="276999"/>
          </a:xfrm>
          <a:prstGeom prst="rect">
            <a:avLst/>
          </a:prstGeom>
        </p:spPr>
        <p:txBody>
          <a:bodyPr wrap="none">
            <a:spAutoFit/>
          </a:bodyPr>
          <a:lstStyle/>
          <a:p>
            <a:r>
              <a:rPr lang="en-US" sz="1200" dirty="0">
                <a:solidFill>
                  <a:schemeClr val="tx1">
                    <a:lumMod val="75000"/>
                    <a:lumOff val="25000"/>
                  </a:schemeClr>
                </a:solidFill>
                <a:latin typeface="Gill Sans MT" panose="020B0502020104020203" pitchFamily="34" charset="77"/>
                <a:cs typeface="Trebuchet MS"/>
              </a:rPr>
              <a:t>b</a:t>
            </a:r>
            <a:endParaRPr lang="en-US" sz="1200" dirty="0">
              <a:latin typeface="Gill Sans MT" panose="020B0502020104020203" pitchFamily="34" charset="77"/>
            </a:endParaRPr>
          </a:p>
        </p:txBody>
      </p:sp>
      <p:sp>
        <p:nvSpPr>
          <p:cNvPr id="61" name="Rectangle 60"/>
          <p:cNvSpPr/>
          <p:nvPr/>
        </p:nvSpPr>
        <p:spPr>
          <a:xfrm>
            <a:off x="7172360" y="5755777"/>
            <a:ext cx="270402" cy="276999"/>
          </a:xfrm>
          <a:prstGeom prst="rect">
            <a:avLst/>
          </a:prstGeom>
        </p:spPr>
        <p:txBody>
          <a:bodyPr wrap="none">
            <a:spAutoFit/>
          </a:bodyPr>
          <a:lstStyle/>
          <a:p>
            <a:r>
              <a:rPr lang="en-US" sz="1200" dirty="0">
                <a:solidFill>
                  <a:schemeClr val="tx1">
                    <a:lumMod val="75000"/>
                    <a:lumOff val="25000"/>
                  </a:schemeClr>
                </a:solidFill>
                <a:latin typeface="Gill Sans MT" panose="020B0502020104020203" pitchFamily="34" charset="77"/>
                <a:cs typeface="Trebuchet MS"/>
              </a:rPr>
              <a:t>b</a:t>
            </a:r>
            <a:endParaRPr lang="en-US" sz="1200" dirty="0">
              <a:latin typeface="Gill Sans MT" panose="020B0502020104020203" pitchFamily="34" charset="77"/>
            </a:endParaRPr>
          </a:p>
        </p:txBody>
      </p:sp>
      <p:grpSp>
        <p:nvGrpSpPr>
          <p:cNvPr id="63" name="Group 62"/>
          <p:cNvGrpSpPr/>
          <p:nvPr/>
        </p:nvGrpSpPr>
        <p:grpSpPr>
          <a:xfrm rot="2553764">
            <a:off x="5409494" y="2625234"/>
            <a:ext cx="1922676" cy="1440160"/>
            <a:chOff x="4299707" y="3005336"/>
            <a:chExt cx="1922676" cy="1440160"/>
          </a:xfrm>
          <a:solidFill>
            <a:srgbClr val="0000FF"/>
          </a:solidFill>
        </p:grpSpPr>
        <p:sp>
          <p:nvSpPr>
            <p:cNvPr id="69" name="Oval 68"/>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5" name="Oval 84"/>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0" name="Oval 89"/>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1" name="Oval 90"/>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2" name="Oval 91"/>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3" name="Oval 92"/>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4" name="Oval 93"/>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5" name="Oval 94"/>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6" name="Oval 95"/>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7" name="Oval 96"/>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8" name="Oval 97"/>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9" name="Oval 98"/>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0" name="Oval 99"/>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1" name="Oval 100"/>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2" name="Oval 101"/>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3" name="Oval 102"/>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4" name="Oval 103"/>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105" name="TextBox 104"/>
          <p:cNvSpPr txBox="1"/>
          <p:nvPr/>
        </p:nvSpPr>
        <p:spPr>
          <a:xfrm>
            <a:off x="5409287" y="2932878"/>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106" name="TextBox 105"/>
          <p:cNvSpPr txBox="1"/>
          <p:nvPr/>
        </p:nvSpPr>
        <p:spPr>
          <a:xfrm>
            <a:off x="5670309" y="3987702"/>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54" name="TextBox 53">
            <a:extLst>
              <a:ext uri="{FF2B5EF4-FFF2-40B4-BE49-F238E27FC236}">
                <a16:creationId xmlns:a16="http://schemas.microsoft.com/office/drawing/2014/main" id="{1FFEBBEC-4CCB-794E-BC87-B43387360B03}"/>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55" name="TextBox 54">
            <a:extLst>
              <a:ext uri="{FF2B5EF4-FFF2-40B4-BE49-F238E27FC236}">
                <a16:creationId xmlns:a16="http://schemas.microsoft.com/office/drawing/2014/main" id="{BEC014C2-36FD-6645-80ED-CEA9736C8512}"/>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Tree>
    <p:extLst>
      <p:ext uri="{BB962C8B-B14F-4D97-AF65-F5344CB8AC3E}">
        <p14:creationId xmlns:p14="http://schemas.microsoft.com/office/powerpoint/2010/main" val="614449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4539654" y="3634153"/>
            <a:ext cx="1440160" cy="1800200"/>
            <a:chOff x="2888654" y="3429000"/>
            <a:chExt cx="1440160" cy="1800200"/>
          </a:xfrm>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6" name="Oval 65"/>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45" name="TextBox 44"/>
          <p:cNvSpPr txBox="1"/>
          <p:nvPr/>
        </p:nvSpPr>
        <p:spPr>
          <a:xfrm>
            <a:off x="7827098" y="1513037"/>
            <a:ext cx="3309808" cy="1323439"/>
          </a:xfrm>
          <a:prstGeom prst="rect">
            <a:avLst/>
          </a:prstGeom>
          <a:noFill/>
        </p:spPr>
        <p:txBody>
          <a:bodyPr wrap="square" rtlCol="0">
            <a:spAutoFit/>
          </a:bodyPr>
          <a:lstStyle/>
          <a:p>
            <a:r>
              <a:rPr lang="es-ES_tradnl" sz="1600" dirty="0">
                <a:solidFill>
                  <a:srgbClr val="404040"/>
                </a:solidFill>
                <a:latin typeface="Gill Sans MT" panose="020B0502020104020203" pitchFamily="34" charset="77"/>
                <a:cs typeface="Trebuchet MS"/>
              </a:rPr>
              <a:t>Ideas clave de SVM:</a:t>
            </a:r>
            <a:endParaRPr lang="es-ES_tradnl" sz="1600" dirty="0">
              <a:solidFill>
                <a:schemeClr val="tx1">
                  <a:lumMod val="65000"/>
                  <a:lumOff val="35000"/>
                </a:schemeClr>
              </a:solidFill>
              <a:latin typeface="Gill Sans MT" panose="020B0502020104020203" pitchFamily="34" charset="77"/>
              <a:cs typeface="Trebuchet MS"/>
            </a:endParaRPr>
          </a:p>
          <a:p>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rgbClr val="0000FF"/>
                </a:solidFill>
                <a:latin typeface="Gill Sans MT" panose="020B0502020104020203" pitchFamily="34" charset="77"/>
                <a:cs typeface="Trebuchet MS"/>
              </a:rPr>
              <a:t>b</a:t>
            </a:r>
            <a:r>
              <a:rPr lang="es-ES_tradnl" sz="1600" baseline="-25000" dirty="0">
                <a:solidFill>
                  <a:srgbClr val="0000FF"/>
                </a:solidFill>
                <a:latin typeface="Gill Sans MT" panose="020B0502020104020203" pitchFamily="34" charset="77"/>
                <a:cs typeface="Trebuchet MS"/>
              </a:rPr>
              <a:t>1</a:t>
            </a:r>
            <a:r>
              <a:rPr lang="es-ES_tradnl" sz="1600" dirty="0">
                <a:solidFill>
                  <a:schemeClr val="tx1">
                    <a:lumMod val="65000"/>
                    <a:lumOff val="35000"/>
                  </a:schemeClr>
                </a:solidFill>
                <a:latin typeface="Gill Sans MT" panose="020B0502020104020203" pitchFamily="34" charset="77"/>
                <a:cs typeface="Trebuchet MS"/>
              </a:rPr>
              <a:t> = </a:t>
            </a:r>
            <a:r>
              <a:rPr lang="es-ES_tradnl" sz="1600" dirty="0">
                <a:solidFill>
                  <a:srgbClr val="FF0000"/>
                </a:solidFill>
                <a:latin typeface="Gill Sans MT" panose="020B0502020104020203" pitchFamily="34" charset="77"/>
                <a:cs typeface="Trebuchet MS"/>
              </a:rPr>
              <a:t>b</a:t>
            </a:r>
            <a:r>
              <a:rPr lang="es-ES_tradnl" sz="1600" baseline="-25000" dirty="0">
                <a:solidFill>
                  <a:srgbClr val="FF0000"/>
                </a:solidFill>
                <a:latin typeface="Gill Sans MT" panose="020B0502020104020203" pitchFamily="34" charset="77"/>
                <a:cs typeface="Trebuchet MS"/>
              </a:rPr>
              <a:t>2 </a:t>
            </a:r>
            <a:r>
              <a:rPr lang="es-ES_tradnl" sz="1600" dirty="0">
                <a:solidFill>
                  <a:schemeClr val="tx1">
                    <a:lumMod val="65000"/>
                    <a:lumOff val="35000"/>
                  </a:schemeClr>
                </a:solidFill>
                <a:latin typeface="Gill Sans MT" panose="020B0502020104020203" pitchFamily="34" charset="77"/>
                <a:cs typeface="Trebuchet MS"/>
              </a:rPr>
              <a:t>= b.</a:t>
            </a:r>
          </a:p>
          <a:p>
            <a:pPr marL="342900" indent="-342900">
              <a:buAutoNum type="arabicParenR"/>
            </a:pPr>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chemeClr val="tx1">
                    <a:lumMod val="65000"/>
                    <a:lumOff val="35000"/>
                  </a:schemeClr>
                </a:solidFill>
                <a:latin typeface="Gill Sans MT" panose="020B0502020104020203" pitchFamily="34" charset="77"/>
                <a:cs typeface="Trebuchet MS"/>
              </a:rPr>
              <a:t>b debe maximizarse.</a:t>
            </a:r>
          </a:p>
        </p:txBody>
      </p:sp>
      <p:grpSp>
        <p:nvGrpSpPr>
          <p:cNvPr id="2" name="Group 1"/>
          <p:cNvGrpSpPr/>
          <p:nvPr/>
        </p:nvGrpSpPr>
        <p:grpSpPr>
          <a:xfrm>
            <a:off x="3997581" y="2076947"/>
            <a:ext cx="3638051" cy="4040547"/>
            <a:chOff x="2473580" y="2076946"/>
            <a:chExt cx="3638051" cy="4040547"/>
          </a:xfrm>
        </p:grpSpPr>
        <p:cxnSp>
          <p:nvCxnSpPr>
            <p:cNvPr id="48" name="Straight Connector 47"/>
            <p:cNvCxnSpPr/>
            <p:nvPr/>
          </p:nvCxnSpPr>
          <p:spPr>
            <a:xfrm>
              <a:off x="2598616" y="2266461"/>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a:off x="2780323" y="2076946"/>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a:off x="2473580" y="2493109"/>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3" name="Straight Arrow Connector 2"/>
            <p:cNvCxnSpPr/>
            <p:nvPr/>
          </p:nvCxnSpPr>
          <p:spPr>
            <a:xfrm flipV="1">
              <a:off x="5762368" y="5517251"/>
              <a:ext cx="187905" cy="195679"/>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flipV="1">
              <a:off x="5587956" y="5698610"/>
              <a:ext cx="187905" cy="195679"/>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819234" y="5580285"/>
              <a:ext cx="270402" cy="276999"/>
            </a:xfrm>
            <a:prstGeom prst="rect">
              <a:avLst/>
            </a:prstGeom>
          </p:spPr>
          <p:txBody>
            <a:bodyPr wrap="none">
              <a:spAutoFit/>
            </a:bodyPr>
            <a:lstStyle/>
            <a:p>
              <a:r>
                <a:rPr lang="en-US" sz="1200" dirty="0">
                  <a:solidFill>
                    <a:schemeClr val="tx1">
                      <a:lumMod val="75000"/>
                      <a:lumOff val="25000"/>
                    </a:schemeClr>
                  </a:solidFill>
                  <a:latin typeface="Gill Sans MT" panose="020B0502020104020203" pitchFamily="34" charset="77"/>
                  <a:cs typeface="Trebuchet MS"/>
                </a:rPr>
                <a:t>b</a:t>
              </a:r>
              <a:endParaRPr lang="en-US" sz="1200" dirty="0">
                <a:latin typeface="Gill Sans MT" panose="020B0502020104020203" pitchFamily="34" charset="77"/>
              </a:endParaRPr>
            </a:p>
          </p:txBody>
        </p:sp>
        <p:sp>
          <p:nvSpPr>
            <p:cNvPr id="61" name="Rectangle 60"/>
            <p:cNvSpPr/>
            <p:nvPr/>
          </p:nvSpPr>
          <p:spPr>
            <a:xfrm>
              <a:off x="5648360" y="5755776"/>
              <a:ext cx="270402" cy="276999"/>
            </a:xfrm>
            <a:prstGeom prst="rect">
              <a:avLst/>
            </a:prstGeom>
          </p:spPr>
          <p:txBody>
            <a:bodyPr wrap="none">
              <a:spAutoFit/>
            </a:bodyPr>
            <a:lstStyle/>
            <a:p>
              <a:r>
                <a:rPr lang="en-US" sz="1200" dirty="0">
                  <a:solidFill>
                    <a:schemeClr val="tx1">
                      <a:lumMod val="75000"/>
                      <a:lumOff val="25000"/>
                    </a:schemeClr>
                  </a:solidFill>
                  <a:latin typeface="Gill Sans MT" panose="020B0502020104020203" pitchFamily="34" charset="77"/>
                  <a:cs typeface="Trebuchet MS"/>
                </a:rPr>
                <a:t>b</a:t>
              </a:r>
              <a:endParaRPr lang="en-US" sz="1200" dirty="0">
                <a:latin typeface="Gill Sans MT" panose="020B0502020104020203" pitchFamily="34" charset="77"/>
              </a:endParaRPr>
            </a:p>
          </p:txBody>
        </p:sp>
      </p:grpSp>
      <p:grpSp>
        <p:nvGrpSpPr>
          <p:cNvPr id="50" name="Group 49"/>
          <p:cNvGrpSpPr/>
          <p:nvPr/>
        </p:nvGrpSpPr>
        <p:grpSpPr>
          <a:xfrm rot="2553764">
            <a:off x="5409494" y="2625234"/>
            <a:ext cx="1922676" cy="1440160"/>
            <a:chOff x="4299707" y="3005336"/>
            <a:chExt cx="1922676" cy="1440160"/>
          </a:xfrm>
          <a:solidFill>
            <a:srgbClr val="0000FF"/>
          </a:solidFill>
        </p:grpSpPr>
        <p:sp>
          <p:nvSpPr>
            <p:cNvPr id="52" name="Oval 51"/>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5" name="Oval 84"/>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7" name="Oval 86"/>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8" name="Oval 87"/>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9" name="Oval 88"/>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0" name="Oval 89"/>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1" name="Oval 90"/>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2" name="Oval 91"/>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93" name="TextBox 92"/>
          <p:cNvSpPr txBox="1"/>
          <p:nvPr/>
        </p:nvSpPr>
        <p:spPr>
          <a:xfrm>
            <a:off x="5409287" y="2932878"/>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94" name="TextBox 93"/>
          <p:cNvSpPr txBox="1"/>
          <p:nvPr/>
        </p:nvSpPr>
        <p:spPr>
          <a:xfrm>
            <a:off x="5670309" y="3987702"/>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95" name="TextBox 94">
            <a:extLst>
              <a:ext uri="{FF2B5EF4-FFF2-40B4-BE49-F238E27FC236}">
                <a16:creationId xmlns:a16="http://schemas.microsoft.com/office/drawing/2014/main" id="{9440CCD0-DD92-264E-B3C9-664B4DFDF3F1}"/>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96" name="TextBox 95">
            <a:extLst>
              <a:ext uri="{FF2B5EF4-FFF2-40B4-BE49-F238E27FC236}">
                <a16:creationId xmlns:a16="http://schemas.microsoft.com/office/drawing/2014/main" id="{B9A185E3-3679-B548-97C1-758A1671BCD3}"/>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Tree>
    <p:extLst>
      <p:ext uri="{BB962C8B-B14F-4D97-AF65-F5344CB8AC3E}">
        <p14:creationId xmlns:p14="http://schemas.microsoft.com/office/powerpoint/2010/main" val="129146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2"/>
                                        </p:tgtEl>
                                        <p:attrNameLst>
                                          <p:attrName>r</p:attrName>
                                        </p:attrNameLst>
                                      </p:cBhvr>
                                    </p:animRot>
                                    <p:animRot by="-240000">
                                      <p:cBhvr>
                                        <p:cTn id="7" dur="200" fill="hold">
                                          <p:stCondLst>
                                            <p:cond delay="200"/>
                                          </p:stCondLst>
                                        </p:cTn>
                                        <p:tgtEl>
                                          <p:spTgt spid="2"/>
                                        </p:tgtEl>
                                        <p:attrNameLst>
                                          <p:attrName>r</p:attrName>
                                        </p:attrNameLst>
                                      </p:cBhvr>
                                    </p:animRot>
                                    <p:animRot by="240000">
                                      <p:cBhvr>
                                        <p:cTn id="8" dur="200" fill="hold">
                                          <p:stCondLst>
                                            <p:cond delay="400"/>
                                          </p:stCondLst>
                                        </p:cTn>
                                        <p:tgtEl>
                                          <p:spTgt spid="2"/>
                                        </p:tgtEl>
                                        <p:attrNameLst>
                                          <p:attrName>r</p:attrName>
                                        </p:attrNameLst>
                                      </p:cBhvr>
                                    </p:animRot>
                                    <p:animRot by="-240000">
                                      <p:cBhvr>
                                        <p:cTn id="9" dur="200" fill="hold">
                                          <p:stCondLst>
                                            <p:cond delay="600"/>
                                          </p:stCondLst>
                                        </p:cTn>
                                        <p:tgtEl>
                                          <p:spTgt spid="2"/>
                                        </p:tgtEl>
                                        <p:attrNameLst>
                                          <p:attrName>r</p:attrName>
                                        </p:attrNameLst>
                                      </p:cBhvr>
                                    </p:animRot>
                                    <p:animRot by="120000">
                                      <p:cBhvr>
                                        <p:cTn id="10" dur="200" fill="hold">
                                          <p:stCondLst>
                                            <p:cond delay="8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4539654" y="3634153"/>
            <a:ext cx="1440160" cy="1800200"/>
            <a:chOff x="2888654" y="3429000"/>
            <a:chExt cx="1440160" cy="1800200"/>
          </a:xfrm>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6" name="Oval 65"/>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2" name="Group 1"/>
          <p:cNvGrpSpPr/>
          <p:nvPr/>
        </p:nvGrpSpPr>
        <p:grpSpPr>
          <a:xfrm rot="20987970">
            <a:off x="3973547" y="2026613"/>
            <a:ext cx="3858011" cy="4139740"/>
            <a:chOff x="2448318" y="2041843"/>
            <a:chExt cx="3858011" cy="4139740"/>
          </a:xfrm>
        </p:grpSpPr>
        <p:cxnSp>
          <p:nvCxnSpPr>
            <p:cNvPr id="48" name="Straight Connector 47"/>
            <p:cNvCxnSpPr/>
            <p:nvPr/>
          </p:nvCxnSpPr>
          <p:spPr>
            <a:xfrm>
              <a:off x="2598616" y="2266461"/>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a:off x="2814098" y="2041843"/>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a:off x="2448318" y="2557199"/>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3" name="Straight Arrow Connector 2"/>
            <p:cNvCxnSpPr>
              <a:cxnSpLocks noChangeAspect="1"/>
            </p:cNvCxnSpPr>
            <p:nvPr/>
          </p:nvCxnSpPr>
          <p:spPr>
            <a:xfrm flipV="1">
              <a:off x="5763022" y="5466426"/>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a:cxnSpLocks noChangeAspect="1"/>
            </p:cNvCxnSpPr>
            <p:nvPr/>
          </p:nvCxnSpPr>
          <p:spPr>
            <a:xfrm flipV="1">
              <a:off x="5546841" y="5691212"/>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871595" y="5587510"/>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sp>
          <p:nvSpPr>
            <p:cNvPr id="61" name="Rectangle 60"/>
            <p:cNvSpPr/>
            <p:nvPr/>
          </p:nvSpPr>
          <p:spPr>
            <a:xfrm>
              <a:off x="5660431" y="5798203"/>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grpSp>
      <p:grpSp>
        <p:nvGrpSpPr>
          <p:cNvPr id="50" name="Group 49"/>
          <p:cNvGrpSpPr/>
          <p:nvPr/>
        </p:nvGrpSpPr>
        <p:grpSpPr>
          <a:xfrm rot="2553764">
            <a:off x="5409494" y="2625234"/>
            <a:ext cx="1922676" cy="1440160"/>
            <a:chOff x="4299707" y="3005336"/>
            <a:chExt cx="1922676" cy="1440160"/>
          </a:xfrm>
          <a:solidFill>
            <a:srgbClr val="0000FF"/>
          </a:solidFill>
        </p:grpSpPr>
        <p:sp>
          <p:nvSpPr>
            <p:cNvPr id="52" name="Oval 51"/>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5" name="Oval 84"/>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7" name="Oval 86"/>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8" name="Oval 87"/>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9" name="Oval 88"/>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0" name="Oval 89"/>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1" name="Oval 90"/>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2" name="Oval 91"/>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93" name="TextBox 92"/>
          <p:cNvSpPr txBox="1"/>
          <p:nvPr/>
        </p:nvSpPr>
        <p:spPr>
          <a:xfrm>
            <a:off x="5935680" y="3417514"/>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94" name="TextBox 93"/>
          <p:cNvSpPr txBox="1"/>
          <p:nvPr/>
        </p:nvSpPr>
        <p:spPr>
          <a:xfrm>
            <a:off x="5670309" y="3987702"/>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95" name="TextBox 94"/>
          <p:cNvSpPr txBox="1"/>
          <p:nvPr/>
        </p:nvSpPr>
        <p:spPr>
          <a:xfrm>
            <a:off x="4609165" y="3218973"/>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96" name="TextBox 95">
            <a:extLst>
              <a:ext uri="{FF2B5EF4-FFF2-40B4-BE49-F238E27FC236}">
                <a16:creationId xmlns:a16="http://schemas.microsoft.com/office/drawing/2014/main" id="{1B6BCF56-2ADE-8B42-959A-44193C9A5AFA}"/>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97" name="TextBox 96">
            <a:extLst>
              <a:ext uri="{FF2B5EF4-FFF2-40B4-BE49-F238E27FC236}">
                <a16:creationId xmlns:a16="http://schemas.microsoft.com/office/drawing/2014/main" id="{510C9EA0-7AB5-7C4D-BBCE-1D022BE72D34}"/>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
        <p:nvSpPr>
          <p:cNvPr id="98" name="TextBox 97">
            <a:extLst>
              <a:ext uri="{FF2B5EF4-FFF2-40B4-BE49-F238E27FC236}">
                <a16:creationId xmlns:a16="http://schemas.microsoft.com/office/drawing/2014/main" id="{C8671142-C2A9-AA4F-BE93-2225C1BA9CB9}"/>
              </a:ext>
            </a:extLst>
          </p:cNvPr>
          <p:cNvSpPr txBox="1"/>
          <p:nvPr/>
        </p:nvSpPr>
        <p:spPr>
          <a:xfrm>
            <a:off x="7827098" y="1513037"/>
            <a:ext cx="3309808" cy="1323439"/>
          </a:xfrm>
          <a:prstGeom prst="rect">
            <a:avLst/>
          </a:prstGeom>
          <a:noFill/>
        </p:spPr>
        <p:txBody>
          <a:bodyPr wrap="square" rtlCol="0">
            <a:spAutoFit/>
          </a:bodyPr>
          <a:lstStyle/>
          <a:p>
            <a:r>
              <a:rPr lang="es-ES_tradnl" sz="1600" dirty="0">
                <a:solidFill>
                  <a:srgbClr val="404040"/>
                </a:solidFill>
                <a:latin typeface="Gill Sans MT" panose="020B0502020104020203" pitchFamily="34" charset="77"/>
                <a:cs typeface="Trebuchet MS"/>
              </a:rPr>
              <a:t>Ideas clave de SVM:</a:t>
            </a:r>
            <a:endParaRPr lang="es-ES_tradnl" sz="1600" dirty="0">
              <a:solidFill>
                <a:schemeClr val="tx1">
                  <a:lumMod val="65000"/>
                  <a:lumOff val="35000"/>
                </a:schemeClr>
              </a:solidFill>
              <a:latin typeface="Gill Sans MT" panose="020B0502020104020203" pitchFamily="34" charset="77"/>
              <a:cs typeface="Trebuchet MS"/>
            </a:endParaRPr>
          </a:p>
          <a:p>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rgbClr val="0000FF"/>
                </a:solidFill>
                <a:latin typeface="Gill Sans MT" panose="020B0502020104020203" pitchFamily="34" charset="77"/>
                <a:cs typeface="Trebuchet MS"/>
              </a:rPr>
              <a:t>b</a:t>
            </a:r>
            <a:r>
              <a:rPr lang="es-ES_tradnl" sz="1600" baseline="-25000" dirty="0">
                <a:solidFill>
                  <a:srgbClr val="0000FF"/>
                </a:solidFill>
                <a:latin typeface="Gill Sans MT" panose="020B0502020104020203" pitchFamily="34" charset="77"/>
                <a:cs typeface="Trebuchet MS"/>
              </a:rPr>
              <a:t>1</a:t>
            </a:r>
            <a:r>
              <a:rPr lang="es-ES_tradnl" sz="1600" dirty="0">
                <a:solidFill>
                  <a:schemeClr val="tx1">
                    <a:lumMod val="65000"/>
                    <a:lumOff val="35000"/>
                  </a:schemeClr>
                </a:solidFill>
                <a:latin typeface="Gill Sans MT" panose="020B0502020104020203" pitchFamily="34" charset="77"/>
                <a:cs typeface="Trebuchet MS"/>
              </a:rPr>
              <a:t> = </a:t>
            </a:r>
            <a:r>
              <a:rPr lang="es-ES_tradnl" sz="1600" dirty="0">
                <a:solidFill>
                  <a:srgbClr val="FF0000"/>
                </a:solidFill>
                <a:latin typeface="Gill Sans MT" panose="020B0502020104020203" pitchFamily="34" charset="77"/>
                <a:cs typeface="Trebuchet MS"/>
              </a:rPr>
              <a:t>b</a:t>
            </a:r>
            <a:r>
              <a:rPr lang="es-ES_tradnl" sz="1600" baseline="-25000" dirty="0">
                <a:solidFill>
                  <a:srgbClr val="FF0000"/>
                </a:solidFill>
                <a:latin typeface="Gill Sans MT" panose="020B0502020104020203" pitchFamily="34" charset="77"/>
                <a:cs typeface="Trebuchet MS"/>
              </a:rPr>
              <a:t>2 </a:t>
            </a:r>
            <a:r>
              <a:rPr lang="es-ES_tradnl" sz="1600" dirty="0">
                <a:solidFill>
                  <a:schemeClr val="tx1">
                    <a:lumMod val="65000"/>
                    <a:lumOff val="35000"/>
                  </a:schemeClr>
                </a:solidFill>
                <a:latin typeface="Gill Sans MT" panose="020B0502020104020203" pitchFamily="34" charset="77"/>
                <a:cs typeface="Trebuchet MS"/>
              </a:rPr>
              <a:t>= b.</a:t>
            </a:r>
          </a:p>
          <a:p>
            <a:pPr marL="342900" indent="-342900">
              <a:buAutoNum type="arabicParenR"/>
            </a:pPr>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chemeClr val="tx1">
                    <a:lumMod val="65000"/>
                    <a:lumOff val="35000"/>
                  </a:schemeClr>
                </a:solidFill>
                <a:latin typeface="Gill Sans MT" panose="020B0502020104020203" pitchFamily="34" charset="77"/>
                <a:cs typeface="Trebuchet MS"/>
              </a:rPr>
              <a:t>b debe maximizarse.</a:t>
            </a:r>
          </a:p>
        </p:txBody>
      </p:sp>
    </p:spTree>
    <p:extLst>
      <p:ext uri="{BB962C8B-B14F-4D97-AF65-F5344CB8AC3E}">
        <p14:creationId xmlns:p14="http://schemas.microsoft.com/office/powerpoint/2010/main" val="3701529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4539654" y="3634153"/>
            <a:ext cx="1440160" cy="1800200"/>
            <a:chOff x="2888654" y="3429000"/>
            <a:chExt cx="1440160" cy="1800200"/>
          </a:xfrm>
          <a:solidFill>
            <a:srgbClr val="FFC7FF"/>
          </a:solidFill>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2960662" y="400506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2888654" y="371703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220487" y="4067623"/>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6" name="Oval 65"/>
            <p:cNvSpPr/>
            <p:nvPr/>
          </p:nvSpPr>
          <p:spPr>
            <a:xfrm>
              <a:off x="3248694" y="43651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a:off x="3392710" y="386104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3752750" y="40770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680742" y="46531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608734" y="43651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968774" y="501317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4112790" y="450912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176686" y="371703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2960662" y="46531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2888654" y="43651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3464718" y="414908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248694" y="501317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3392710" y="47251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2" name="Group 1"/>
          <p:cNvGrpSpPr/>
          <p:nvPr/>
        </p:nvGrpSpPr>
        <p:grpSpPr>
          <a:xfrm rot="20987970">
            <a:off x="3973547" y="2026613"/>
            <a:ext cx="3858011" cy="4139740"/>
            <a:chOff x="2448318" y="2041843"/>
            <a:chExt cx="3858011" cy="4139740"/>
          </a:xfrm>
        </p:grpSpPr>
        <p:cxnSp>
          <p:nvCxnSpPr>
            <p:cNvPr id="48" name="Straight Connector 47"/>
            <p:cNvCxnSpPr/>
            <p:nvPr/>
          </p:nvCxnSpPr>
          <p:spPr>
            <a:xfrm>
              <a:off x="2598616" y="2266461"/>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a:off x="2814098" y="2041843"/>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a:off x="2448318" y="2557199"/>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3" name="Straight Arrow Connector 2"/>
            <p:cNvCxnSpPr>
              <a:cxnSpLocks noChangeAspect="1"/>
            </p:cNvCxnSpPr>
            <p:nvPr/>
          </p:nvCxnSpPr>
          <p:spPr>
            <a:xfrm flipV="1">
              <a:off x="5763022" y="5466426"/>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a:cxnSpLocks noChangeAspect="1"/>
            </p:cNvCxnSpPr>
            <p:nvPr/>
          </p:nvCxnSpPr>
          <p:spPr>
            <a:xfrm flipV="1">
              <a:off x="5546841" y="5691212"/>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871595" y="5587510"/>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sp>
          <p:nvSpPr>
            <p:cNvPr id="61" name="Rectangle 60"/>
            <p:cNvSpPr/>
            <p:nvPr/>
          </p:nvSpPr>
          <p:spPr>
            <a:xfrm>
              <a:off x="5660431" y="5798203"/>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grpSp>
      <p:grpSp>
        <p:nvGrpSpPr>
          <p:cNvPr id="50" name="Group 49"/>
          <p:cNvGrpSpPr/>
          <p:nvPr/>
        </p:nvGrpSpPr>
        <p:grpSpPr>
          <a:xfrm rot="2553764">
            <a:off x="5409494" y="2625234"/>
            <a:ext cx="1922676" cy="1440160"/>
            <a:chOff x="4299707" y="3005336"/>
            <a:chExt cx="1922676" cy="1440160"/>
          </a:xfrm>
          <a:solidFill>
            <a:srgbClr val="C5F5FF"/>
          </a:solidFill>
        </p:grpSpPr>
        <p:sp>
          <p:nvSpPr>
            <p:cNvPr id="52" name="Oval 51"/>
            <p:cNvSpPr/>
            <p:nvPr/>
          </p:nvSpPr>
          <p:spPr>
            <a:xfrm>
              <a:off x="4716016" y="3005336"/>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a:off x="4644008" y="3581400"/>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a:off x="4572000" y="3293368"/>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a:off x="5148064" y="3077344"/>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4932040" y="3941440"/>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5076056" y="3437384"/>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5436096" y="3653408"/>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5364088" y="4229472"/>
              <a:ext cx="216024" cy="216024"/>
            </a:xfrm>
            <a:prstGeom prst="ellipse">
              <a:avLst/>
            </a:prstGeom>
            <a:solidFill>
              <a:srgbClr val="0000FF"/>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5292080" y="3941440"/>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a:off x="5868144" y="3725416"/>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a:off x="5501045" y="3282504"/>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5" name="Oval 84"/>
            <p:cNvSpPr/>
            <p:nvPr/>
          </p:nvSpPr>
          <p:spPr>
            <a:xfrm>
              <a:off x="5796136" y="4085456"/>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7" name="Oval 86"/>
            <p:cNvSpPr/>
            <p:nvPr/>
          </p:nvSpPr>
          <p:spPr>
            <a:xfrm>
              <a:off x="4860032" y="3293368"/>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8" name="Oval 87"/>
            <p:cNvSpPr/>
            <p:nvPr/>
          </p:nvSpPr>
          <p:spPr>
            <a:xfrm>
              <a:off x="4644008" y="4229472"/>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9" name="Oval 88"/>
            <p:cNvSpPr/>
            <p:nvPr/>
          </p:nvSpPr>
          <p:spPr>
            <a:xfrm>
              <a:off x="4572000" y="3941440"/>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0" name="Oval 89"/>
            <p:cNvSpPr/>
            <p:nvPr/>
          </p:nvSpPr>
          <p:spPr>
            <a:xfrm>
              <a:off x="5148064" y="3725416"/>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1" name="Oval 90"/>
            <p:cNvSpPr/>
            <p:nvPr/>
          </p:nvSpPr>
          <p:spPr>
            <a:xfrm>
              <a:off x="6006359" y="3390694"/>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2" name="Oval 91"/>
            <p:cNvSpPr/>
            <p:nvPr/>
          </p:nvSpPr>
          <p:spPr>
            <a:xfrm>
              <a:off x="4299707" y="3210572"/>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96" name="TextBox 95"/>
          <p:cNvSpPr txBox="1"/>
          <p:nvPr/>
        </p:nvSpPr>
        <p:spPr>
          <a:xfrm>
            <a:off x="5935680" y="3417514"/>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97" name="TextBox 96"/>
          <p:cNvSpPr txBox="1"/>
          <p:nvPr/>
        </p:nvSpPr>
        <p:spPr>
          <a:xfrm>
            <a:off x="5670309" y="3987702"/>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98" name="TextBox 97"/>
          <p:cNvSpPr txBox="1"/>
          <p:nvPr/>
        </p:nvSpPr>
        <p:spPr>
          <a:xfrm>
            <a:off x="4609165" y="3218973"/>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grpSp>
        <p:nvGrpSpPr>
          <p:cNvPr id="11" name="Group 10"/>
          <p:cNvGrpSpPr/>
          <p:nvPr/>
        </p:nvGrpSpPr>
        <p:grpSpPr>
          <a:xfrm>
            <a:off x="2013961" y="3706733"/>
            <a:ext cx="3804786" cy="797028"/>
            <a:chOff x="489961" y="3706733"/>
            <a:chExt cx="3804786" cy="797028"/>
          </a:xfrm>
        </p:grpSpPr>
        <p:sp>
          <p:nvSpPr>
            <p:cNvPr id="99" name="TextBox 98"/>
            <p:cNvSpPr txBox="1"/>
            <p:nvPr/>
          </p:nvSpPr>
          <p:spPr>
            <a:xfrm>
              <a:off x="489961" y="3706733"/>
              <a:ext cx="1229246" cy="584775"/>
            </a:xfrm>
            <a:prstGeom prst="rect">
              <a:avLst/>
            </a:prstGeom>
            <a:noFill/>
          </p:spPr>
          <p:txBody>
            <a:bodyPr wrap="none" rtlCol="0">
              <a:spAutoFit/>
            </a:bodyPr>
            <a:lstStyle/>
            <a:p>
              <a:pPr algn="r"/>
              <a:r>
                <a:rPr lang="es-ES_tradnl" sz="1600" dirty="0">
                  <a:solidFill>
                    <a:schemeClr val="tx1">
                      <a:lumMod val="65000"/>
                      <a:lumOff val="35000"/>
                    </a:schemeClr>
                  </a:solidFill>
                  <a:latin typeface="Gill Sans MT" panose="020B0502020104020203" pitchFamily="34" charset="77"/>
                  <a:cs typeface="Trebuchet MS"/>
                </a:rPr>
                <a:t>Vectores de </a:t>
              </a:r>
            </a:p>
            <a:p>
              <a:pPr algn="r"/>
              <a:r>
                <a:rPr lang="es-ES_tradnl" sz="1600" dirty="0">
                  <a:solidFill>
                    <a:schemeClr val="tx1">
                      <a:lumMod val="65000"/>
                      <a:lumOff val="35000"/>
                    </a:schemeClr>
                  </a:solidFill>
                  <a:latin typeface="Gill Sans MT" panose="020B0502020104020203" pitchFamily="34" charset="77"/>
                  <a:cs typeface="Trebuchet MS"/>
                </a:rPr>
                <a:t>Soporte</a:t>
              </a:r>
            </a:p>
          </p:txBody>
        </p:sp>
        <p:cxnSp>
          <p:nvCxnSpPr>
            <p:cNvPr id="5" name="Straight Connector 4"/>
            <p:cNvCxnSpPr>
              <a:stCxn id="99" idx="3"/>
            </p:cNvCxnSpPr>
            <p:nvPr/>
          </p:nvCxnSpPr>
          <p:spPr>
            <a:xfrm flipV="1">
              <a:off x="1719207" y="3735030"/>
              <a:ext cx="1330534" cy="264091"/>
            </a:xfrm>
            <a:prstGeom prst="line">
              <a:avLst/>
            </a:prstGeom>
            <a:ln>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01" name="Straight Connector 100"/>
            <p:cNvCxnSpPr>
              <a:stCxn id="99" idx="3"/>
            </p:cNvCxnSpPr>
            <p:nvPr/>
          </p:nvCxnSpPr>
          <p:spPr>
            <a:xfrm>
              <a:off x="1719207" y="3999121"/>
              <a:ext cx="2416743" cy="504640"/>
            </a:xfrm>
            <a:prstGeom prst="line">
              <a:avLst/>
            </a:prstGeom>
            <a:ln>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02" name="Straight Connector 101"/>
            <p:cNvCxnSpPr>
              <a:stCxn id="99" idx="3"/>
              <a:endCxn id="97" idx="0"/>
            </p:cNvCxnSpPr>
            <p:nvPr/>
          </p:nvCxnSpPr>
          <p:spPr>
            <a:xfrm flipV="1">
              <a:off x="1719207" y="3987702"/>
              <a:ext cx="2575540" cy="11419"/>
            </a:xfrm>
            <a:prstGeom prst="line">
              <a:avLst/>
            </a:prstGeom>
            <a:ln>
              <a:solidFill>
                <a:srgbClr val="262626"/>
              </a:solidFill>
            </a:ln>
          </p:spPr>
          <p:style>
            <a:lnRef idx="2">
              <a:schemeClr val="accent1"/>
            </a:lnRef>
            <a:fillRef idx="0">
              <a:schemeClr val="accent1"/>
            </a:fillRef>
            <a:effectRef idx="1">
              <a:schemeClr val="accent1"/>
            </a:effectRef>
            <a:fontRef idx="minor">
              <a:schemeClr val="tx1"/>
            </a:fontRef>
          </p:style>
        </p:cxnSp>
      </p:grpSp>
      <p:sp>
        <p:nvSpPr>
          <p:cNvPr id="93" name="TextBox 92">
            <a:extLst>
              <a:ext uri="{FF2B5EF4-FFF2-40B4-BE49-F238E27FC236}">
                <a16:creationId xmlns:a16="http://schemas.microsoft.com/office/drawing/2014/main" id="{D1887BBA-E7B2-8441-B5F0-1A8208735B1E}"/>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94" name="TextBox 93">
            <a:extLst>
              <a:ext uri="{FF2B5EF4-FFF2-40B4-BE49-F238E27FC236}">
                <a16:creationId xmlns:a16="http://schemas.microsoft.com/office/drawing/2014/main" id="{2FD9BE24-3107-B448-8CEA-33AEAE903311}"/>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
        <p:nvSpPr>
          <p:cNvPr id="95" name="TextBox 94">
            <a:extLst>
              <a:ext uri="{FF2B5EF4-FFF2-40B4-BE49-F238E27FC236}">
                <a16:creationId xmlns:a16="http://schemas.microsoft.com/office/drawing/2014/main" id="{E62C357D-249B-414F-BE3C-0C8010BFD16A}"/>
              </a:ext>
            </a:extLst>
          </p:cNvPr>
          <p:cNvSpPr txBox="1"/>
          <p:nvPr/>
        </p:nvSpPr>
        <p:spPr>
          <a:xfrm>
            <a:off x="7827098" y="1513037"/>
            <a:ext cx="3309808" cy="1323439"/>
          </a:xfrm>
          <a:prstGeom prst="rect">
            <a:avLst/>
          </a:prstGeom>
          <a:noFill/>
        </p:spPr>
        <p:txBody>
          <a:bodyPr wrap="square" rtlCol="0">
            <a:spAutoFit/>
          </a:bodyPr>
          <a:lstStyle/>
          <a:p>
            <a:r>
              <a:rPr lang="es-ES_tradnl" sz="1600" dirty="0">
                <a:solidFill>
                  <a:srgbClr val="404040"/>
                </a:solidFill>
                <a:latin typeface="Gill Sans MT" panose="020B0502020104020203" pitchFamily="34" charset="77"/>
                <a:cs typeface="Trebuchet MS"/>
              </a:rPr>
              <a:t>Ideas clave de SVM:</a:t>
            </a:r>
            <a:endParaRPr lang="es-ES_tradnl" sz="1600" dirty="0">
              <a:solidFill>
                <a:schemeClr val="tx1">
                  <a:lumMod val="65000"/>
                  <a:lumOff val="35000"/>
                </a:schemeClr>
              </a:solidFill>
              <a:latin typeface="Gill Sans MT" panose="020B0502020104020203" pitchFamily="34" charset="77"/>
              <a:cs typeface="Trebuchet MS"/>
            </a:endParaRPr>
          </a:p>
          <a:p>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rgbClr val="0000FF"/>
                </a:solidFill>
                <a:latin typeface="Gill Sans MT" panose="020B0502020104020203" pitchFamily="34" charset="77"/>
                <a:cs typeface="Trebuchet MS"/>
              </a:rPr>
              <a:t>b</a:t>
            </a:r>
            <a:r>
              <a:rPr lang="es-ES_tradnl" sz="1600" baseline="-25000" dirty="0">
                <a:solidFill>
                  <a:srgbClr val="0000FF"/>
                </a:solidFill>
                <a:latin typeface="Gill Sans MT" panose="020B0502020104020203" pitchFamily="34" charset="77"/>
                <a:cs typeface="Trebuchet MS"/>
              </a:rPr>
              <a:t>1</a:t>
            </a:r>
            <a:r>
              <a:rPr lang="es-ES_tradnl" sz="1600" dirty="0">
                <a:solidFill>
                  <a:schemeClr val="tx1">
                    <a:lumMod val="65000"/>
                    <a:lumOff val="35000"/>
                  </a:schemeClr>
                </a:solidFill>
                <a:latin typeface="Gill Sans MT" panose="020B0502020104020203" pitchFamily="34" charset="77"/>
                <a:cs typeface="Trebuchet MS"/>
              </a:rPr>
              <a:t> = </a:t>
            </a:r>
            <a:r>
              <a:rPr lang="es-ES_tradnl" sz="1600" dirty="0">
                <a:solidFill>
                  <a:srgbClr val="FF0000"/>
                </a:solidFill>
                <a:latin typeface="Gill Sans MT" panose="020B0502020104020203" pitchFamily="34" charset="77"/>
                <a:cs typeface="Trebuchet MS"/>
              </a:rPr>
              <a:t>b</a:t>
            </a:r>
            <a:r>
              <a:rPr lang="es-ES_tradnl" sz="1600" baseline="-25000" dirty="0">
                <a:solidFill>
                  <a:srgbClr val="FF0000"/>
                </a:solidFill>
                <a:latin typeface="Gill Sans MT" panose="020B0502020104020203" pitchFamily="34" charset="77"/>
                <a:cs typeface="Trebuchet MS"/>
              </a:rPr>
              <a:t>2 </a:t>
            </a:r>
            <a:r>
              <a:rPr lang="es-ES_tradnl" sz="1600" dirty="0">
                <a:solidFill>
                  <a:schemeClr val="tx1">
                    <a:lumMod val="65000"/>
                    <a:lumOff val="35000"/>
                  </a:schemeClr>
                </a:solidFill>
                <a:latin typeface="Gill Sans MT" panose="020B0502020104020203" pitchFamily="34" charset="77"/>
                <a:cs typeface="Trebuchet MS"/>
              </a:rPr>
              <a:t>= b.</a:t>
            </a:r>
          </a:p>
          <a:p>
            <a:pPr marL="342900" indent="-342900">
              <a:buAutoNum type="arabicParenR"/>
            </a:pPr>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chemeClr val="tx1">
                    <a:lumMod val="65000"/>
                    <a:lumOff val="35000"/>
                  </a:schemeClr>
                </a:solidFill>
                <a:latin typeface="Gill Sans MT" panose="020B0502020104020203" pitchFamily="34" charset="77"/>
                <a:cs typeface="Trebuchet MS"/>
              </a:rPr>
              <a:t>b debe maximizarse.</a:t>
            </a:r>
          </a:p>
        </p:txBody>
      </p:sp>
    </p:spTree>
    <p:extLst>
      <p:ext uri="{BB962C8B-B14F-4D97-AF65-F5344CB8AC3E}">
        <p14:creationId xmlns:p14="http://schemas.microsoft.com/office/powerpoint/2010/main" val="2531972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4683670" y="3634154"/>
            <a:ext cx="1270462" cy="984949"/>
            <a:chOff x="3032670" y="3429000"/>
            <a:chExt cx="1270462" cy="984949"/>
          </a:xfrm>
          <a:solidFill>
            <a:srgbClr val="FFC7FF"/>
          </a:solidFill>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2" name="Group 1"/>
          <p:cNvGrpSpPr/>
          <p:nvPr/>
        </p:nvGrpSpPr>
        <p:grpSpPr>
          <a:xfrm rot="20987970">
            <a:off x="3973547" y="2026613"/>
            <a:ext cx="3858011" cy="4139740"/>
            <a:chOff x="2448318" y="2041843"/>
            <a:chExt cx="3858011" cy="4139740"/>
          </a:xfrm>
        </p:grpSpPr>
        <p:cxnSp>
          <p:nvCxnSpPr>
            <p:cNvPr id="48" name="Straight Connector 47"/>
            <p:cNvCxnSpPr/>
            <p:nvPr/>
          </p:nvCxnSpPr>
          <p:spPr>
            <a:xfrm>
              <a:off x="2598616" y="2266461"/>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a:off x="2814098" y="2041843"/>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a:off x="2448318" y="2557199"/>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3" name="Straight Arrow Connector 2"/>
            <p:cNvCxnSpPr>
              <a:cxnSpLocks noChangeAspect="1"/>
            </p:cNvCxnSpPr>
            <p:nvPr/>
          </p:nvCxnSpPr>
          <p:spPr>
            <a:xfrm flipV="1">
              <a:off x="5763022" y="5466426"/>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a:cxnSpLocks noChangeAspect="1"/>
            </p:cNvCxnSpPr>
            <p:nvPr/>
          </p:nvCxnSpPr>
          <p:spPr>
            <a:xfrm flipV="1">
              <a:off x="5546841" y="5691212"/>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871595" y="5587510"/>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sp>
          <p:nvSpPr>
            <p:cNvPr id="61" name="Rectangle 60"/>
            <p:cNvSpPr/>
            <p:nvPr/>
          </p:nvSpPr>
          <p:spPr>
            <a:xfrm>
              <a:off x="5660431" y="5798203"/>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grpSp>
      <p:sp>
        <p:nvSpPr>
          <p:cNvPr id="94" name="Oval 93"/>
          <p:cNvSpPr/>
          <p:nvPr/>
        </p:nvSpPr>
        <p:spPr>
          <a:xfrm rot="2553764">
            <a:off x="6004269" y="383087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pic>
        <p:nvPicPr>
          <p:cNvPr id="6" name="Picture 5"/>
          <p:cNvPicPr>
            <a:picLocks noChangeAspect="1"/>
          </p:cNvPicPr>
          <p:nvPr/>
        </p:nvPicPr>
        <p:blipFill>
          <a:blip r:embed="rId2"/>
          <a:stretch>
            <a:fillRect/>
          </a:stretch>
        </p:blipFill>
        <p:spPr>
          <a:xfrm>
            <a:off x="3327514" y="2343474"/>
            <a:ext cx="484761" cy="275941"/>
          </a:xfrm>
          <a:prstGeom prst="rect">
            <a:avLst/>
          </a:prstGeom>
        </p:spPr>
      </p:pic>
      <p:pic>
        <p:nvPicPr>
          <p:cNvPr id="9" name="Picture 8"/>
          <p:cNvPicPr>
            <a:picLocks noChangeAspect="1"/>
          </p:cNvPicPr>
          <p:nvPr/>
        </p:nvPicPr>
        <p:blipFill>
          <a:blip r:embed="rId3"/>
          <a:stretch>
            <a:fillRect/>
          </a:stretch>
        </p:blipFill>
        <p:spPr>
          <a:xfrm>
            <a:off x="4326399" y="3716591"/>
            <a:ext cx="215900" cy="152400"/>
          </a:xfrm>
          <a:prstGeom prst="rect">
            <a:avLst/>
          </a:prstGeom>
        </p:spPr>
      </p:pic>
      <p:pic>
        <p:nvPicPr>
          <p:cNvPr id="10" name="Picture 9"/>
          <p:cNvPicPr>
            <a:picLocks noChangeAspect="1"/>
          </p:cNvPicPr>
          <p:nvPr/>
        </p:nvPicPr>
        <p:blipFill>
          <a:blip r:embed="rId4"/>
          <a:stretch>
            <a:fillRect/>
          </a:stretch>
        </p:blipFill>
        <p:spPr>
          <a:xfrm>
            <a:off x="6027378" y="3588776"/>
            <a:ext cx="215900" cy="152400"/>
          </a:xfrm>
          <a:prstGeom prst="rect">
            <a:avLst/>
          </a:prstGeom>
        </p:spPr>
      </p:pic>
      <p:pic>
        <p:nvPicPr>
          <p:cNvPr id="12" name="Picture 11"/>
          <p:cNvPicPr>
            <a:picLocks noChangeAspect="1"/>
          </p:cNvPicPr>
          <p:nvPr/>
        </p:nvPicPr>
        <p:blipFill>
          <a:blip r:embed="rId5"/>
          <a:stretch>
            <a:fillRect/>
          </a:stretch>
        </p:blipFill>
        <p:spPr>
          <a:xfrm>
            <a:off x="5678125" y="4729318"/>
            <a:ext cx="304800" cy="152400"/>
          </a:xfrm>
          <a:prstGeom prst="rect">
            <a:avLst/>
          </a:prstGeom>
        </p:spPr>
      </p:pic>
      <p:pic>
        <p:nvPicPr>
          <p:cNvPr id="13" name="Picture 12"/>
          <p:cNvPicPr>
            <a:picLocks noChangeAspect="1"/>
          </p:cNvPicPr>
          <p:nvPr/>
        </p:nvPicPr>
        <p:blipFill>
          <a:blip r:embed="rId6"/>
          <a:stretch>
            <a:fillRect/>
          </a:stretch>
        </p:blipFill>
        <p:spPr>
          <a:xfrm>
            <a:off x="6506578" y="2907048"/>
            <a:ext cx="774700" cy="203200"/>
          </a:xfrm>
          <a:prstGeom prst="rect">
            <a:avLst/>
          </a:prstGeom>
        </p:spPr>
      </p:pic>
      <p:pic>
        <p:nvPicPr>
          <p:cNvPr id="14" name="Picture 13"/>
          <p:cNvPicPr>
            <a:picLocks noChangeAspect="1"/>
          </p:cNvPicPr>
          <p:nvPr/>
        </p:nvPicPr>
        <p:blipFill>
          <a:blip r:embed="rId7"/>
          <a:stretch>
            <a:fillRect/>
          </a:stretch>
        </p:blipFill>
        <p:spPr>
          <a:xfrm>
            <a:off x="6181770" y="5590320"/>
            <a:ext cx="774700" cy="203200"/>
          </a:xfrm>
          <a:prstGeom prst="rect">
            <a:avLst/>
          </a:prstGeom>
        </p:spPr>
      </p:pic>
      <p:pic>
        <p:nvPicPr>
          <p:cNvPr id="15" name="Picture 14">
            <a:extLst>
              <a:ext uri="{FF2B5EF4-FFF2-40B4-BE49-F238E27FC236}">
                <a16:creationId xmlns:a16="http://schemas.microsoft.com/office/drawing/2014/main" id="{4A1465AE-1E7F-F94B-A234-B97926040E6F}"/>
              </a:ext>
            </a:extLst>
          </p:cNvPr>
          <p:cNvPicPr>
            <a:picLocks noChangeAspect="1"/>
          </p:cNvPicPr>
          <p:nvPr/>
        </p:nvPicPr>
        <p:blipFill>
          <a:blip r:embed="rId8"/>
          <a:stretch>
            <a:fillRect/>
          </a:stretch>
        </p:blipFill>
        <p:spPr>
          <a:xfrm>
            <a:off x="9254301" y="2846210"/>
            <a:ext cx="546286" cy="528076"/>
          </a:xfrm>
          <a:prstGeom prst="rect">
            <a:avLst/>
          </a:prstGeom>
        </p:spPr>
      </p:pic>
      <p:grpSp>
        <p:nvGrpSpPr>
          <p:cNvPr id="21" name="Group 20">
            <a:extLst>
              <a:ext uri="{FF2B5EF4-FFF2-40B4-BE49-F238E27FC236}">
                <a16:creationId xmlns:a16="http://schemas.microsoft.com/office/drawing/2014/main" id="{B6DA9F58-94C5-7D49-9B21-0D19014802F8}"/>
              </a:ext>
            </a:extLst>
          </p:cNvPr>
          <p:cNvGrpSpPr/>
          <p:nvPr/>
        </p:nvGrpSpPr>
        <p:grpSpPr>
          <a:xfrm>
            <a:off x="2587230" y="1895123"/>
            <a:ext cx="3090140" cy="1821469"/>
            <a:chOff x="1063230" y="1895122"/>
            <a:chExt cx="3090140" cy="1821469"/>
          </a:xfrm>
        </p:grpSpPr>
        <p:pic>
          <p:nvPicPr>
            <p:cNvPr id="28" name="Picture 27">
              <a:extLst>
                <a:ext uri="{FF2B5EF4-FFF2-40B4-BE49-F238E27FC236}">
                  <a16:creationId xmlns:a16="http://schemas.microsoft.com/office/drawing/2014/main" id="{387335A0-6713-354F-B89D-8B33A5F0BAD0}"/>
                </a:ext>
              </a:extLst>
            </p:cNvPr>
            <p:cNvPicPr>
              <a:picLocks noChangeAspect="1"/>
            </p:cNvPicPr>
            <p:nvPr/>
          </p:nvPicPr>
          <p:blipFill>
            <a:blip r:embed="rId9"/>
            <a:stretch>
              <a:fillRect/>
            </a:stretch>
          </p:blipFill>
          <p:spPr>
            <a:xfrm>
              <a:off x="3213570" y="1895122"/>
              <a:ext cx="939800" cy="266700"/>
            </a:xfrm>
            <a:prstGeom prst="rect">
              <a:avLst/>
            </a:prstGeom>
          </p:spPr>
        </p:pic>
        <p:pic>
          <p:nvPicPr>
            <p:cNvPr id="16" name="Picture 15">
              <a:extLst>
                <a:ext uri="{FF2B5EF4-FFF2-40B4-BE49-F238E27FC236}">
                  <a16:creationId xmlns:a16="http://schemas.microsoft.com/office/drawing/2014/main" id="{DBFFC212-62AA-9348-95C6-0BD2B105FCC3}"/>
                </a:ext>
              </a:extLst>
            </p:cNvPr>
            <p:cNvPicPr>
              <a:picLocks noChangeAspect="1"/>
            </p:cNvPicPr>
            <p:nvPr/>
          </p:nvPicPr>
          <p:blipFill>
            <a:blip r:embed="rId10"/>
            <a:stretch>
              <a:fillRect/>
            </a:stretch>
          </p:blipFill>
          <p:spPr>
            <a:xfrm>
              <a:off x="1063230" y="3449891"/>
              <a:ext cx="939800" cy="266700"/>
            </a:xfrm>
            <a:prstGeom prst="rect">
              <a:avLst/>
            </a:prstGeom>
          </p:spPr>
        </p:pic>
        <p:cxnSp>
          <p:nvCxnSpPr>
            <p:cNvPr id="19" name="Straight Arrow Connector 18">
              <a:extLst>
                <a:ext uri="{FF2B5EF4-FFF2-40B4-BE49-F238E27FC236}">
                  <a16:creationId xmlns:a16="http://schemas.microsoft.com/office/drawing/2014/main" id="{6735AE65-012C-DB44-8187-81C6E4B03836}"/>
                </a:ext>
              </a:extLst>
            </p:cNvPr>
            <p:cNvCxnSpPr/>
            <p:nvPr/>
          </p:nvCxnSpPr>
          <p:spPr>
            <a:xfrm flipV="1">
              <a:off x="2062214" y="2172150"/>
              <a:ext cx="1089533" cy="1348119"/>
            </a:xfrm>
            <a:prstGeom prst="straightConnector1">
              <a:avLst/>
            </a:prstGeom>
            <a:ln>
              <a:solidFill>
                <a:srgbClr val="FF9300"/>
              </a:solidFill>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20" name="Oval 19">
            <a:extLst>
              <a:ext uri="{FF2B5EF4-FFF2-40B4-BE49-F238E27FC236}">
                <a16:creationId xmlns:a16="http://schemas.microsoft.com/office/drawing/2014/main" id="{D2D0B414-1331-0448-8769-417F383707CA}"/>
              </a:ext>
            </a:extLst>
          </p:cNvPr>
          <p:cNvSpPr/>
          <p:nvPr/>
        </p:nvSpPr>
        <p:spPr>
          <a:xfrm>
            <a:off x="4092599" y="2788567"/>
            <a:ext cx="108000" cy="108000"/>
          </a:xfrm>
          <a:prstGeom prst="ellipse">
            <a:avLst/>
          </a:prstGeom>
          <a:solidFill>
            <a:srgbClr val="FF9300"/>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1" name="TextBox 30">
            <a:extLst>
              <a:ext uri="{FF2B5EF4-FFF2-40B4-BE49-F238E27FC236}">
                <a16:creationId xmlns:a16="http://schemas.microsoft.com/office/drawing/2014/main" id="{ADE796B4-AE88-444D-B56A-BE767B81C796}"/>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32" name="TextBox 31">
            <a:extLst>
              <a:ext uri="{FF2B5EF4-FFF2-40B4-BE49-F238E27FC236}">
                <a16:creationId xmlns:a16="http://schemas.microsoft.com/office/drawing/2014/main" id="{D93033EC-CB80-6F41-BEB6-77F1F8A5B240}"/>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
        <p:nvSpPr>
          <p:cNvPr id="33" name="TextBox 32">
            <a:extLst>
              <a:ext uri="{FF2B5EF4-FFF2-40B4-BE49-F238E27FC236}">
                <a16:creationId xmlns:a16="http://schemas.microsoft.com/office/drawing/2014/main" id="{1BCB3B79-20B4-0A40-AA30-E95735AC0459}"/>
              </a:ext>
            </a:extLst>
          </p:cNvPr>
          <p:cNvSpPr txBox="1"/>
          <p:nvPr/>
        </p:nvSpPr>
        <p:spPr>
          <a:xfrm>
            <a:off x="7827098" y="1513036"/>
            <a:ext cx="3309808" cy="1815882"/>
          </a:xfrm>
          <a:prstGeom prst="rect">
            <a:avLst/>
          </a:prstGeom>
          <a:noFill/>
        </p:spPr>
        <p:txBody>
          <a:bodyPr wrap="square" rtlCol="0">
            <a:spAutoFit/>
          </a:bodyPr>
          <a:lstStyle/>
          <a:p>
            <a:r>
              <a:rPr lang="es-ES_tradnl" sz="1600" dirty="0">
                <a:solidFill>
                  <a:srgbClr val="404040"/>
                </a:solidFill>
                <a:latin typeface="Gill Sans MT" panose="020B0502020104020203" pitchFamily="34" charset="77"/>
                <a:cs typeface="Trebuchet MS"/>
              </a:rPr>
              <a:t>Ideas clave de SVM:</a:t>
            </a:r>
            <a:endParaRPr lang="es-ES_tradnl" sz="1600" dirty="0">
              <a:solidFill>
                <a:schemeClr val="tx1">
                  <a:lumMod val="65000"/>
                  <a:lumOff val="35000"/>
                </a:schemeClr>
              </a:solidFill>
              <a:latin typeface="Gill Sans MT" panose="020B0502020104020203" pitchFamily="34" charset="77"/>
              <a:cs typeface="Trebuchet MS"/>
            </a:endParaRPr>
          </a:p>
          <a:p>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rgbClr val="0000FF"/>
                </a:solidFill>
                <a:latin typeface="Gill Sans MT" panose="020B0502020104020203" pitchFamily="34" charset="77"/>
                <a:cs typeface="Trebuchet MS"/>
              </a:rPr>
              <a:t>b</a:t>
            </a:r>
            <a:r>
              <a:rPr lang="es-ES_tradnl" sz="1600" baseline="-25000" dirty="0">
                <a:solidFill>
                  <a:srgbClr val="0000FF"/>
                </a:solidFill>
                <a:latin typeface="Gill Sans MT" panose="020B0502020104020203" pitchFamily="34" charset="77"/>
                <a:cs typeface="Trebuchet MS"/>
              </a:rPr>
              <a:t>1</a:t>
            </a:r>
            <a:r>
              <a:rPr lang="es-ES_tradnl" sz="1600" dirty="0">
                <a:solidFill>
                  <a:schemeClr val="tx1">
                    <a:lumMod val="65000"/>
                    <a:lumOff val="35000"/>
                  </a:schemeClr>
                </a:solidFill>
                <a:latin typeface="Gill Sans MT" panose="020B0502020104020203" pitchFamily="34" charset="77"/>
                <a:cs typeface="Trebuchet MS"/>
              </a:rPr>
              <a:t> = </a:t>
            </a:r>
            <a:r>
              <a:rPr lang="es-ES_tradnl" sz="1600" dirty="0">
                <a:solidFill>
                  <a:srgbClr val="FF0000"/>
                </a:solidFill>
                <a:latin typeface="Gill Sans MT" panose="020B0502020104020203" pitchFamily="34" charset="77"/>
                <a:cs typeface="Trebuchet MS"/>
              </a:rPr>
              <a:t>b</a:t>
            </a:r>
            <a:r>
              <a:rPr lang="es-ES_tradnl" sz="1600" baseline="-25000" dirty="0">
                <a:solidFill>
                  <a:srgbClr val="FF0000"/>
                </a:solidFill>
                <a:latin typeface="Gill Sans MT" panose="020B0502020104020203" pitchFamily="34" charset="77"/>
                <a:cs typeface="Trebuchet MS"/>
              </a:rPr>
              <a:t>2 </a:t>
            </a:r>
            <a:r>
              <a:rPr lang="es-ES_tradnl" sz="1600" dirty="0">
                <a:solidFill>
                  <a:schemeClr val="tx1">
                    <a:lumMod val="65000"/>
                    <a:lumOff val="35000"/>
                  </a:schemeClr>
                </a:solidFill>
                <a:latin typeface="Gill Sans MT" panose="020B0502020104020203" pitchFamily="34" charset="77"/>
                <a:cs typeface="Trebuchet MS"/>
              </a:rPr>
              <a:t>= b.</a:t>
            </a:r>
          </a:p>
          <a:p>
            <a:pPr marL="342900" indent="-342900">
              <a:buAutoNum type="arabicParenR"/>
            </a:pPr>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chemeClr val="tx1">
                    <a:lumMod val="65000"/>
                    <a:lumOff val="35000"/>
                  </a:schemeClr>
                </a:solidFill>
                <a:latin typeface="Gill Sans MT" panose="020B0502020104020203" pitchFamily="34" charset="77"/>
                <a:cs typeface="Trebuchet MS"/>
              </a:rPr>
              <a:t>b debe maximizarse.</a:t>
            </a:r>
          </a:p>
          <a:p>
            <a:pPr marL="342900" indent="-342900">
              <a:buAutoNum type="arabicParenR"/>
            </a:pPr>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chemeClr val="tx1">
                    <a:lumMod val="65000"/>
                    <a:lumOff val="35000"/>
                  </a:schemeClr>
                </a:solidFill>
                <a:latin typeface="Gill Sans MT" panose="020B0502020104020203" pitchFamily="34" charset="77"/>
                <a:cs typeface="Trebuchet MS"/>
              </a:rPr>
              <a:t>Solución:</a:t>
            </a:r>
          </a:p>
        </p:txBody>
      </p:sp>
    </p:spTree>
    <p:extLst>
      <p:ext uri="{BB962C8B-B14F-4D97-AF65-F5344CB8AC3E}">
        <p14:creationId xmlns:p14="http://schemas.microsoft.com/office/powerpoint/2010/main" val="1498224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4683670" y="3634154"/>
            <a:ext cx="1270462" cy="984949"/>
            <a:chOff x="3032670" y="3429000"/>
            <a:chExt cx="1270462" cy="984949"/>
          </a:xfrm>
          <a:solidFill>
            <a:srgbClr val="FFC7FF"/>
          </a:solidFill>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2" name="Group 1"/>
          <p:cNvGrpSpPr/>
          <p:nvPr/>
        </p:nvGrpSpPr>
        <p:grpSpPr>
          <a:xfrm rot="20987970">
            <a:off x="3973547" y="2026613"/>
            <a:ext cx="3858011" cy="4139740"/>
            <a:chOff x="2448318" y="2041843"/>
            <a:chExt cx="3858011" cy="4139740"/>
          </a:xfrm>
        </p:grpSpPr>
        <p:cxnSp>
          <p:nvCxnSpPr>
            <p:cNvPr id="48" name="Straight Connector 47"/>
            <p:cNvCxnSpPr/>
            <p:nvPr/>
          </p:nvCxnSpPr>
          <p:spPr>
            <a:xfrm>
              <a:off x="2598616" y="2266461"/>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a:off x="2814098" y="2041843"/>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a:off x="2448318" y="2557199"/>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3" name="Straight Arrow Connector 2"/>
            <p:cNvCxnSpPr>
              <a:cxnSpLocks noChangeAspect="1"/>
            </p:cNvCxnSpPr>
            <p:nvPr/>
          </p:nvCxnSpPr>
          <p:spPr>
            <a:xfrm flipV="1">
              <a:off x="5763022" y="5466426"/>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a:cxnSpLocks noChangeAspect="1"/>
            </p:cNvCxnSpPr>
            <p:nvPr/>
          </p:nvCxnSpPr>
          <p:spPr>
            <a:xfrm flipV="1">
              <a:off x="5546841" y="5691212"/>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871595" y="5587510"/>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sp>
          <p:nvSpPr>
            <p:cNvPr id="61" name="Rectangle 60"/>
            <p:cNvSpPr/>
            <p:nvPr/>
          </p:nvSpPr>
          <p:spPr>
            <a:xfrm>
              <a:off x="5660431" y="5798203"/>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grpSp>
      <p:sp>
        <p:nvSpPr>
          <p:cNvPr id="94" name="Oval 93"/>
          <p:cNvSpPr/>
          <p:nvPr/>
        </p:nvSpPr>
        <p:spPr>
          <a:xfrm rot="2553764">
            <a:off x="6004269" y="383087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pic>
        <p:nvPicPr>
          <p:cNvPr id="4" name="Picture 3"/>
          <p:cNvPicPr>
            <a:picLocks noChangeAspect="1"/>
          </p:cNvPicPr>
          <p:nvPr/>
        </p:nvPicPr>
        <p:blipFill>
          <a:blip r:embed="rId2"/>
          <a:stretch>
            <a:fillRect/>
          </a:stretch>
        </p:blipFill>
        <p:spPr>
          <a:xfrm>
            <a:off x="2025947" y="4814071"/>
            <a:ext cx="2987046" cy="812538"/>
          </a:xfrm>
          <a:prstGeom prst="rect">
            <a:avLst/>
          </a:prstGeom>
        </p:spPr>
      </p:pic>
      <p:pic>
        <p:nvPicPr>
          <p:cNvPr id="6" name="Picture 5"/>
          <p:cNvPicPr>
            <a:picLocks noChangeAspect="1"/>
          </p:cNvPicPr>
          <p:nvPr/>
        </p:nvPicPr>
        <p:blipFill>
          <a:blip r:embed="rId3"/>
          <a:stretch>
            <a:fillRect/>
          </a:stretch>
        </p:blipFill>
        <p:spPr>
          <a:xfrm>
            <a:off x="3327514" y="2343474"/>
            <a:ext cx="484761" cy="275941"/>
          </a:xfrm>
          <a:prstGeom prst="rect">
            <a:avLst/>
          </a:prstGeom>
        </p:spPr>
      </p:pic>
      <p:pic>
        <p:nvPicPr>
          <p:cNvPr id="9" name="Picture 8"/>
          <p:cNvPicPr>
            <a:picLocks noChangeAspect="1"/>
          </p:cNvPicPr>
          <p:nvPr/>
        </p:nvPicPr>
        <p:blipFill>
          <a:blip r:embed="rId4"/>
          <a:stretch>
            <a:fillRect/>
          </a:stretch>
        </p:blipFill>
        <p:spPr>
          <a:xfrm>
            <a:off x="4326399" y="3716591"/>
            <a:ext cx="215900" cy="152400"/>
          </a:xfrm>
          <a:prstGeom prst="rect">
            <a:avLst/>
          </a:prstGeom>
        </p:spPr>
      </p:pic>
      <p:pic>
        <p:nvPicPr>
          <p:cNvPr id="10" name="Picture 9"/>
          <p:cNvPicPr>
            <a:picLocks noChangeAspect="1"/>
          </p:cNvPicPr>
          <p:nvPr/>
        </p:nvPicPr>
        <p:blipFill>
          <a:blip r:embed="rId5"/>
          <a:stretch>
            <a:fillRect/>
          </a:stretch>
        </p:blipFill>
        <p:spPr>
          <a:xfrm>
            <a:off x="6027378" y="3588776"/>
            <a:ext cx="215900" cy="152400"/>
          </a:xfrm>
          <a:prstGeom prst="rect">
            <a:avLst/>
          </a:prstGeom>
        </p:spPr>
      </p:pic>
      <p:pic>
        <p:nvPicPr>
          <p:cNvPr id="12" name="Picture 11"/>
          <p:cNvPicPr>
            <a:picLocks noChangeAspect="1"/>
          </p:cNvPicPr>
          <p:nvPr/>
        </p:nvPicPr>
        <p:blipFill>
          <a:blip r:embed="rId6"/>
          <a:stretch>
            <a:fillRect/>
          </a:stretch>
        </p:blipFill>
        <p:spPr>
          <a:xfrm>
            <a:off x="5678125" y="4729318"/>
            <a:ext cx="304800" cy="152400"/>
          </a:xfrm>
          <a:prstGeom prst="rect">
            <a:avLst/>
          </a:prstGeom>
        </p:spPr>
      </p:pic>
      <p:pic>
        <p:nvPicPr>
          <p:cNvPr id="13" name="Picture 12"/>
          <p:cNvPicPr>
            <a:picLocks noChangeAspect="1"/>
          </p:cNvPicPr>
          <p:nvPr/>
        </p:nvPicPr>
        <p:blipFill>
          <a:blip r:embed="rId7"/>
          <a:stretch>
            <a:fillRect/>
          </a:stretch>
        </p:blipFill>
        <p:spPr>
          <a:xfrm>
            <a:off x="6506578" y="2907048"/>
            <a:ext cx="774700" cy="203200"/>
          </a:xfrm>
          <a:prstGeom prst="rect">
            <a:avLst/>
          </a:prstGeom>
        </p:spPr>
      </p:pic>
      <p:pic>
        <p:nvPicPr>
          <p:cNvPr id="14" name="Picture 13"/>
          <p:cNvPicPr>
            <a:picLocks noChangeAspect="1"/>
          </p:cNvPicPr>
          <p:nvPr/>
        </p:nvPicPr>
        <p:blipFill>
          <a:blip r:embed="rId8"/>
          <a:stretch>
            <a:fillRect/>
          </a:stretch>
        </p:blipFill>
        <p:spPr>
          <a:xfrm>
            <a:off x="6181770" y="5590320"/>
            <a:ext cx="774700" cy="203200"/>
          </a:xfrm>
          <a:prstGeom prst="rect">
            <a:avLst/>
          </a:prstGeom>
        </p:spPr>
      </p:pic>
      <p:pic>
        <p:nvPicPr>
          <p:cNvPr id="32" name="Picture 31">
            <a:extLst>
              <a:ext uri="{FF2B5EF4-FFF2-40B4-BE49-F238E27FC236}">
                <a16:creationId xmlns:a16="http://schemas.microsoft.com/office/drawing/2014/main" id="{89F16F1D-9753-4D47-A1E0-D231A23961D5}"/>
              </a:ext>
            </a:extLst>
          </p:cNvPr>
          <p:cNvPicPr>
            <a:picLocks noChangeAspect="1"/>
          </p:cNvPicPr>
          <p:nvPr/>
        </p:nvPicPr>
        <p:blipFill>
          <a:blip r:embed="rId9"/>
          <a:stretch>
            <a:fillRect/>
          </a:stretch>
        </p:blipFill>
        <p:spPr>
          <a:xfrm>
            <a:off x="4737570" y="1895122"/>
            <a:ext cx="939800" cy="266700"/>
          </a:xfrm>
          <a:prstGeom prst="rect">
            <a:avLst/>
          </a:prstGeom>
        </p:spPr>
      </p:pic>
      <p:pic>
        <p:nvPicPr>
          <p:cNvPr id="33" name="Picture 32">
            <a:extLst>
              <a:ext uri="{FF2B5EF4-FFF2-40B4-BE49-F238E27FC236}">
                <a16:creationId xmlns:a16="http://schemas.microsoft.com/office/drawing/2014/main" id="{81A9B747-70BF-6F43-AB28-70A8309EE3FA}"/>
              </a:ext>
            </a:extLst>
          </p:cNvPr>
          <p:cNvPicPr>
            <a:picLocks noChangeAspect="1"/>
          </p:cNvPicPr>
          <p:nvPr/>
        </p:nvPicPr>
        <p:blipFill>
          <a:blip r:embed="rId10"/>
          <a:stretch>
            <a:fillRect/>
          </a:stretch>
        </p:blipFill>
        <p:spPr>
          <a:xfrm>
            <a:off x="2587230" y="3449891"/>
            <a:ext cx="939800" cy="266700"/>
          </a:xfrm>
          <a:prstGeom prst="rect">
            <a:avLst/>
          </a:prstGeom>
        </p:spPr>
      </p:pic>
      <p:cxnSp>
        <p:nvCxnSpPr>
          <p:cNvPr id="34" name="Straight Arrow Connector 33">
            <a:extLst>
              <a:ext uri="{FF2B5EF4-FFF2-40B4-BE49-F238E27FC236}">
                <a16:creationId xmlns:a16="http://schemas.microsoft.com/office/drawing/2014/main" id="{B83840F6-5840-E648-B954-5948F16E0235}"/>
              </a:ext>
            </a:extLst>
          </p:cNvPr>
          <p:cNvCxnSpPr/>
          <p:nvPr/>
        </p:nvCxnSpPr>
        <p:spPr>
          <a:xfrm flipV="1">
            <a:off x="3586215" y="2172151"/>
            <a:ext cx="1089533" cy="1348119"/>
          </a:xfrm>
          <a:prstGeom prst="straightConnector1">
            <a:avLst/>
          </a:prstGeom>
          <a:ln>
            <a:solidFill>
              <a:srgbClr val="FF93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94B6B8AF-9E91-524E-83E2-187FF97F8BE9}"/>
              </a:ext>
            </a:extLst>
          </p:cNvPr>
          <p:cNvSpPr/>
          <p:nvPr/>
        </p:nvSpPr>
        <p:spPr>
          <a:xfrm>
            <a:off x="4092599" y="2788567"/>
            <a:ext cx="108000" cy="108000"/>
          </a:xfrm>
          <a:prstGeom prst="ellipse">
            <a:avLst/>
          </a:prstGeom>
          <a:solidFill>
            <a:srgbClr val="FF9300"/>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Rounded Rectangle 10">
            <a:extLst>
              <a:ext uri="{FF2B5EF4-FFF2-40B4-BE49-F238E27FC236}">
                <a16:creationId xmlns:a16="http://schemas.microsoft.com/office/drawing/2014/main" id="{E38CA836-27CA-2B49-A8BC-27201F18C04B}"/>
              </a:ext>
            </a:extLst>
          </p:cNvPr>
          <p:cNvSpPr/>
          <p:nvPr/>
        </p:nvSpPr>
        <p:spPr>
          <a:xfrm>
            <a:off x="1853609" y="4729318"/>
            <a:ext cx="3306726" cy="1064202"/>
          </a:xfrm>
          <a:prstGeom prst="roundRect">
            <a:avLst>
              <a:gd name="adj" fmla="val 4678"/>
            </a:avLst>
          </a:prstGeom>
          <a:no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7" name="TextBox 36">
            <a:extLst>
              <a:ext uri="{FF2B5EF4-FFF2-40B4-BE49-F238E27FC236}">
                <a16:creationId xmlns:a16="http://schemas.microsoft.com/office/drawing/2014/main" id="{0B903406-3252-EA4E-B273-5725A8053120}"/>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38" name="TextBox 37">
            <a:extLst>
              <a:ext uri="{FF2B5EF4-FFF2-40B4-BE49-F238E27FC236}">
                <a16:creationId xmlns:a16="http://schemas.microsoft.com/office/drawing/2014/main" id="{2A2A6EB5-BAE9-A847-A046-78569603D228}"/>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pic>
        <p:nvPicPr>
          <p:cNvPr id="39" name="Picture 38">
            <a:extLst>
              <a:ext uri="{FF2B5EF4-FFF2-40B4-BE49-F238E27FC236}">
                <a16:creationId xmlns:a16="http://schemas.microsoft.com/office/drawing/2014/main" id="{F75B5223-2A2D-444A-87DD-4C4C6CD2478C}"/>
              </a:ext>
            </a:extLst>
          </p:cNvPr>
          <p:cNvPicPr>
            <a:picLocks noChangeAspect="1"/>
          </p:cNvPicPr>
          <p:nvPr/>
        </p:nvPicPr>
        <p:blipFill>
          <a:blip r:embed="rId11"/>
          <a:stretch>
            <a:fillRect/>
          </a:stretch>
        </p:blipFill>
        <p:spPr>
          <a:xfrm>
            <a:off x="9254301" y="2846210"/>
            <a:ext cx="546286" cy="528076"/>
          </a:xfrm>
          <a:prstGeom prst="rect">
            <a:avLst/>
          </a:prstGeom>
        </p:spPr>
      </p:pic>
      <p:sp>
        <p:nvSpPr>
          <p:cNvPr id="40" name="TextBox 39">
            <a:extLst>
              <a:ext uri="{FF2B5EF4-FFF2-40B4-BE49-F238E27FC236}">
                <a16:creationId xmlns:a16="http://schemas.microsoft.com/office/drawing/2014/main" id="{55EB578A-994C-C144-A0C3-C107827AE59B}"/>
              </a:ext>
            </a:extLst>
          </p:cNvPr>
          <p:cNvSpPr txBox="1"/>
          <p:nvPr/>
        </p:nvSpPr>
        <p:spPr>
          <a:xfrm>
            <a:off x="7827098" y="1513036"/>
            <a:ext cx="3309808" cy="1815882"/>
          </a:xfrm>
          <a:prstGeom prst="rect">
            <a:avLst/>
          </a:prstGeom>
          <a:noFill/>
        </p:spPr>
        <p:txBody>
          <a:bodyPr wrap="square" rtlCol="0">
            <a:spAutoFit/>
          </a:bodyPr>
          <a:lstStyle/>
          <a:p>
            <a:r>
              <a:rPr lang="es-ES_tradnl" sz="1600" dirty="0">
                <a:solidFill>
                  <a:srgbClr val="404040"/>
                </a:solidFill>
                <a:latin typeface="Gill Sans MT" panose="020B0502020104020203" pitchFamily="34" charset="77"/>
                <a:cs typeface="Trebuchet MS"/>
              </a:rPr>
              <a:t>Ideas clave de SVM:</a:t>
            </a:r>
            <a:endParaRPr lang="es-ES_tradnl" sz="1600" dirty="0">
              <a:solidFill>
                <a:schemeClr val="tx1">
                  <a:lumMod val="65000"/>
                  <a:lumOff val="35000"/>
                </a:schemeClr>
              </a:solidFill>
              <a:latin typeface="Gill Sans MT" panose="020B0502020104020203" pitchFamily="34" charset="77"/>
              <a:cs typeface="Trebuchet MS"/>
            </a:endParaRPr>
          </a:p>
          <a:p>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rgbClr val="0000FF"/>
                </a:solidFill>
                <a:latin typeface="Gill Sans MT" panose="020B0502020104020203" pitchFamily="34" charset="77"/>
                <a:cs typeface="Trebuchet MS"/>
              </a:rPr>
              <a:t>b</a:t>
            </a:r>
            <a:r>
              <a:rPr lang="es-ES_tradnl" sz="1600" baseline="-25000" dirty="0">
                <a:solidFill>
                  <a:srgbClr val="0000FF"/>
                </a:solidFill>
                <a:latin typeface="Gill Sans MT" panose="020B0502020104020203" pitchFamily="34" charset="77"/>
                <a:cs typeface="Trebuchet MS"/>
              </a:rPr>
              <a:t>1</a:t>
            </a:r>
            <a:r>
              <a:rPr lang="es-ES_tradnl" sz="1600" dirty="0">
                <a:solidFill>
                  <a:schemeClr val="tx1">
                    <a:lumMod val="65000"/>
                    <a:lumOff val="35000"/>
                  </a:schemeClr>
                </a:solidFill>
                <a:latin typeface="Gill Sans MT" panose="020B0502020104020203" pitchFamily="34" charset="77"/>
                <a:cs typeface="Trebuchet MS"/>
              </a:rPr>
              <a:t> = </a:t>
            </a:r>
            <a:r>
              <a:rPr lang="es-ES_tradnl" sz="1600" dirty="0">
                <a:solidFill>
                  <a:srgbClr val="FF0000"/>
                </a:solidFill>
                <a:latin typeface="Gill Sans MT" panose="020B0502020104020203" pitchFamily="34" charset="77"/>
                <a:cs typeface="Trebuchet MS"/>
              </a:rPr>
              <a:t>b</a:t>
            </a:r>
            <a:r>
              <a:rPr lang="es-ES_tradnl" sz="1600" baseline="-25000" dirty="0">
                <a:solidFill>
                  <a:srgbClr val="FF0000"/>
                </a:solidFill>
                <a:latin typeface="Gill Sans MT" panose="020B0502020104020203" pitchFamily="34" charset="77"/>
                <a:cs typeface="Trebuchet MS"/>
              </a:rPr>
              <a:t>2 </a:t>
            </a:r>
            <a:r>
              <a:rPr lang="es-ES_tradnl" sz="1600" dirty="0">
                <a:solidFill>
                  <a:schemeClr val="tx1">
                    <a:lumMod val="65000"/>
                    <a:lumOff val="35000"/>
                  </a:schemeClr>
                </a:solidFill>
                <a:latin typeface="Gill Sans MT" panose="020B0502020104020203" pitchFamily="34" charset="77"/>
                <a:cs typeface="Trebuchet MS"/>
              </a:rPr>
              <a:t>= b.</a:t>
            </a:r>
          </a:p>
          <a:p>
            <a:pPr marL="342900" indent="-342900">
              <a:buAutoNum type="arabicParenR"/>
            </a:pPr>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chemeClr val="tx1">
                    <a:lumMod val="65000"/>
                    <a:lumOff val="35000"/>
                  </a:schemeClr>
                </a:solidFill>
                <a:latin typeface="Gill Sans MT" panose="020B0502020104020203" pitchFamily="34" charset="77"/>
                <a:cs typeface="Trebuchet MS"/>
              </a:rPr>
              <a:t>b debe maximizarse.</a:t>
            </a:r>
          </a:p>
          <a:p>
            <a:pPr marL="342900" indent="-342900">
              <a:buAutoNum type="arabicParenR"/>
            </a:pPr>
            <a:endParaRPr lang="es-ES_tradnl" sz="1600" dirty="0">
              <a:solidFill>
                <a:schemeClr val="tx1">
                  <a:lumMod val="65000"/>
                  <a:lumOff val="35000"/>
                </a:schemeClr>
              </a:solidFill>
              <a:latin typeface="Gill Sans MT" panose="020B0502020104020203" pitchFamily="34" charset="77"/>
              <a:cs typeface="Trebuchet MS"/>
            </a:endParaRPr>
          </a:p>
          <a:p>
            <a:pPr marL="342900" indent="-342900">
              <a:buAutoNum type="arabicParenR"/>
            </a:pPr>
            <a:r>
              <a:rPr lang="es-ES_tradnl" sz="1600" dirty="0">
                <a:solidFill>
                  <a:schemeClr val="tx1">
                    <a:lumMod val="65000"/>
                    <a:lumOff val="35000"/>
                  </a:schemeClr>
                </a:solidFill>
                <a:latin typeface="Gill Sans MT" panose="020B0502020104020203" pitchFamily="34" charset="77"/>
                <a:cs typeface="Trebuchet MS"/>
              </a:rPr>
              <a:t>Solución:</a:t>
            </a:r>
          </a:p>
        </p:txBody>
      </p:sp>
      <p:sp>
        <p:nvSpPr>
          <p:cNvPr id="41" name="TextBox 40">
            <a:extLst>
              <a:ext uri="{FF2B5EF4-FFF2-40B4-BE49-F238E27FC236}">
                <a16:creationId xmlns:a16="http://schemas.microsoft.com/office/drawing/2014/main" id="{F2CDCD36-2B4F-BF46-9490-E02561EE82C8}"/>
              </a:ext>
            </a:extLst>
          </p:cNvPr>
          <p:cNvSpPr txBox="1"/>
          <p:nvPr/>
        </p:nvSpPr>
        <p:spPr>
          <a:xfrm>
            <a:off x="1849446" y="4354773"/>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Tree>
    <p:extLst>
      <p:ext uri="{BB962C8B-B14F-4D97-AF65-F5344CB8AC3E}">
        <p14:creationId xmlns:p14="http://schemas.microsoft.com/office/powerpoint/2010/main" val="2178056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2135561" y="764705"/>
            <a:ext cx="2629246" cy="830997"/>
          </a:xfrm>
          <a:prstGeom prst="rect">
            <a:avLst/>
          </a:prstGeom>
          <a:noFill/>
        </p:spPr>
        <p:txBody>
          <a:bodyPr wrap="none" rtlCol="0">
            <a:spAutoFit/>
          </a:bodyPr>
          <a:lstStyle/>
          <a:p>
            <a:r>
              <a:rPr lang="es-ES_tradnl" sz="2400" dirty="0">
                <a:latin typeface="Gill Sans MT" panose="020B0502020104020203" pitchFamily="34" charset="77"/>
                <a:cs typeface="Trebuchet MS"/>
              </a:rPr>
              <a:t>La solución de SVM
</a:t>
            </a:r>
          </a:p>
        </p:txBody>
      </p:sp>
      <p:grpSp>
        <p:nvGrpSpPr>
          <p:cNvPr id="3" name="Group 2">
            <a:extLst>
              <a:ext uri="{FF2B5EF4-FFF2-40B4-BE49-F238E27FC236}">
                <a16:creationId xmlns:a16="http://schemas.microsoft.com/office/drawing/2014/main" id="{8F3D31D7-4AB9-5B48-AEBE-737ED69406D7}"/>
              </a:ext>
            </a:extLst>
          </p:cNvPr>
          <p:cNvGrpSpPr/>
          <p:nvPr/>
        </p:nvGrpSpPr>
        <p:grpSpPr>
          <a:xfrm>
            <a:off x="1784668" y="3568804"/>
            <a:ext cx="1215397" cy="920561"/>
            <a:chOff x="260668" y="3568803"/>
            <a:chExt cx="1215397" cy="920561"/>
          </a:xfrm>
        </p:grpSpPr>
        <p:cxnSp>
          <p:nvCxnSpPr>
            <p:cNvPr id="19" name="Straight Arrow Connector 18">
              <a:extLst>
                <a:ext uri="{FF2B5EF4-FFF2-40B4-BE49-F238E27FC236}">
                  <a16:creationId xmlns:a16="http://schemas.microsoft.com/office/drawing/2014/main" id="{FD97771E-8637-104D-99D9-975745BFE1A5}"/>
                </a:ext>
              </a:extLst>
            </p:cNvPr>
            <p:cNvCxnSpPr/>
            <p:nvPr/>
          </p:nvCxnSpPr>
          <p:spPr>
            <a:xfrm flipH="1">
              <a:off x="933949" y="3568803"/>
              <a:ext cx="478641" cy="612784"/>
            </a:xfrm>
            <a:prstGeom prst="straightConnector1">
              <a:avLst/>
            </a:prstGeom>
            <a:ln>
              <a:solidFill>
                <a:srgbClr val="FF93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7FBE5ED3-84B4-2D47-B737-D0D274F8351E}"/>
                </a:ext>
              </a:extLst>
            </p:cNvPr>
            <p:cNvSpPr txBox="1"/>
            <p:nvPr/>
          </p:nvSpPr>
          <p:spPr>
            <a:xfrm>
              <a:off x="260668" y="4181587"/>
              <a:ext cx="1215397" cy="307777"/>
            </a:xfrm>
            <a:prstGeom prst="rect">
              <a:avLst/>
            </a:prstGeom>
            <a:noFill/>
          </p:spPr>
          <p:txBody>
            <a:bodyPr wrap="none" rtlCol="0">
              <a:spAutoFit/>
            </a:bodyPr>
            <a:lstStyle/>
            <a:p>
              <a:r>
                <a:rPr lang="es-ES_tradnl" sz="1400" dirty="0">
                  <a:latin typeface="Gill Sans MT" panose="020B0502020104020203" pitchFamily="34" charset="77"/>
                </a:rPr>
                <a:t>características</a:t>
              </a:r>
            </a:p>
          </p:txBody>
        </p:sp>
      </p:grpSp>
      <p:grpSp>
        <p:nvGrpSpPr>
          <p:cNvPr id="4" name="Group 3">
            <a:extLst>
              <a:ext uri="{FF2B5EF4-FFF2-40B4-BE49-F238E27FC236}">
                <a16:creationId xmlns:a16="http://schemas.microsoft.com/office/drawing/2014/main" id="{8FD5C7DB-F3C5-954B-8692-3E443203C9AD}"/>
              </a:ext>
            </a:extLst>
          </p:cNvPr>
          <p:cNvGrpSpPr/>
          <p:nvPr/>
        </p:nvGrpSpPr>
        <p:grpSpPr>
          <a:xfrm>
            <a:off x="3254917" y="3563445"/>
            <a:ext cx="923867" cy="1141362"/>
            <a:chOff x="1730916" y="3563445"/>
            <a:chExt cx="923867" cy="1141362"/>
          </a:xfrm>
        </p:grpSpPr>
        <p:sp>
          <p:nvSpPr>
            <p:cNvPr id="38" name="TextBox 37">
              <a:extLst>
                <a:ext uri="{FF2B5EF4-FFF2-40B4-BE49-F238E27FC236}">
                  <a16:creationId xmlns:a16="http://schemas.microsoft.com/office/drawing/2014/main" id="{A86C2FAE-A14B-F741-B4BA-B2CF348A24B8}"/>
                </a:ext>
              </a:extLst>
            </p:cNvPr>
            <p:cNvSpPr txBox="1"/>
            <p:nvPr/>
          </p:nvSpPr>
          <p:spPr>
            <a:xfrm>
              <a:off x="1795252" y="4181587"/>
              <a:ext cx="859531" cy="523220"/>
            </a:xfrm>
            <a:prstGeom prst="rect">
              <a:avLst/>
            </a:prstGeom>
            <a:noFill/>
          </p:spPr>
          <p:txBody>
            <a:bodyPr wrap="none" rtlCol="0">
              <a:spAutoFit/>
            </a:bodyPr>
            <a:lstStyle/>
            <a:p>
              <a:pPr algn="ctr"/>
              <a:r>
                <a:rPr lang="es-ES_tradnl" sz="1400" dirty="0">
                  <a:latin typeface="Gill Sans MT" panose="020B0502020104020203" pitchFamily="34" charset="77"/>
                </a:rPr>
                <a:t>+1 </a:t>
              </a:r>
              <a:r>
                <a:rPr lang="es-ES_tradnl" sz="1400" dirty="0" err="1">
                  <a:latin typeface="Gill Sans MT" panose="020B0502020104020203" pitchFamily="34" charset="77"/>
                </a:rPr>
                <a:t>or</a:t>
              </a:r>
              <a:r>
                <a:rPr lang="es-ES_tradnl" sz="1400" dirty="0">
                  <a:latin typeface="Gill Sans MT" panose="020B0502020104020203" pitchFamily="34" charset="77"/>
                </a:rPr>
                <a:t> -1</a:t>
              </a:r>
            </a:p>
            <a:p>
              <a:pPr algn="ctr"/>
              <a:r>
                <a:rPr lang="es-ES_tradnl" sz="1400" dirty="0">
                  <a:latin typeface="Gill Sans MT" panose="020B0502020104020203" pitchFamily="34" charset="77"/>
                </a:rPr>
                <a:t>(2 clases)</a:t>
              </a:r>
            </a:p>
          </p:txBody>
        </p:sp>
        <p:cxnSp>
          <p:nvCxnSpPr>
            <p:cNvPr id="39" name="Straight Arrow Connector 38">
              <a:extLst>
                <a:ext uri="{FF2B5EF4-FFF2-40B4-BE49-F238E27FC236}">
                  <a16:creationId xmlns:a16="http://schemas.microsoft.com/office/drawing/2014/main" id="{E27B695D-CFAA-4843-A783-53F78AEF1E1D}"/>
                </a:ext>
              </a:extLst>
            </p:cNvPr>
            <p:cNvCxnSpPr>
              <a:cxnSpLocks/>
            </p:cNvCxnSpPr>
            <p:nvPr/>
          </p:nvCxnSpPr>
          <p:spPr>
            <a:xfrm>
              <a:off x="1730916" y="3563445"/>
              <a:ext cx="478641" cy="612784"/>
            </a:xfrm>
            <a:prstGeom prst="straightConnector1">
              <a:avLst/>
            </a:prstGeom>
            <a:ln>
              <a:solidFill>
                <a:srgbClr val="FF9300"/>
              </a:solidFil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9F108821-A22F-8540-BE8A-FDADD60AE441}"/>
              </a:ext>
            </a:extLst>
          </p:cNvPr>
          <p:cNvGrpSpPr/>
          <p:nvPr/>
        </p:nvGrpSpPr>
        <p:grpSpPr>
          <a:xfrm>
            <a:off x="3688730" y="3088514"/>
            <a:ext cx="2722703" cy="706821"/>
            <a:chOff x="2164729" y="3088513"/>
            <a:chExt cx="2722703" cy="706821"/>
          </a:xfrm>
        </p:grpSpPr>
        <p:cxnSp>
          <p:nvCxnSpPr>
            <p:cNvPr id="40" name="Straight Arrow Connector 39">
              <a:extLst>
                <a:ext uri="{FF2B5EF4-FFF2-40B4-BE49-F238E27FC236}">
                  <a16:creationId xmlns:a16="http://schemas.microsoft.com/office/drawing/2014/main" id="{2937D1DB-6E32-A640-97EF-53EF217F8399}"/>
                </a:ext>
              </a:extLst>
            </p:cNvPr>
            <p:cNvCxnSpPr>
              <a:cxnSpLocks/>
            </p:cNvCxnSpPr>
            <p:nvPr/>
          </p:nvCxnSpPr>
          <p:spPr>
            <a:xfrm>
              <a:off x="2164729" y="3435453"/>
              <a:ext cx="562827" cy="0"/>
            </a:xfrm>
            <a:prstGeom prst="straightConnector1">
              <a:avLst/>
            </a:prstGeom>
            <a:ln>
              <a:solidFill>
                <a:schemeClr val="tx1">
                  <a:lumMod val="85000"/>
                  <a:lumOff val="15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Rounded Rectangle 25">
              <a:extLst>
                <a:ext uri="{FF2B5EF4-FFF2-40B4-BE49-F238E27FC236}">
                  <a16:creationId xmlns:a16="http://schemas.microsoft.com/office/drawing/2014/main" id="{7FE1D547-BEC3-DF49-8A9C-2C99EEF3DE5D}"/>
                </a:ext>
              </a:extLst>
            </p:cNvPr>
            <p:cNvSpPr/>
            <p:nvPr/>
          </p:nvSpPr>
          <p:spPr>
            <a:xfrm>
              <a:off x="2727556" y="3088513"/>
              <a:ext cx="1606786" cy="706821"/>
            </a:xfrm>
            <a:prstGeom prst="roundRect">
              <a:avLst/>
            </a:prstGeom>
            <a:solidFill>
              <a:schemeClr val="accent2">
                <a:lumMod val="20000"/>
                <a:lumOff val="8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24" name="TextBox 23">
              <a:extLst>
                <a:ext uri="{FF2B5EF4-FFF2-40B4-BE49-F238E27FC236}">
                  <a16:creationId xmlns:a16="http://schemas.microsoft.com/office/drawing/2014/main" id="{552D5A14-5EF7-1D49-8345-FCED66CA9983}"/>
                </a:ext>
              </a:extLst>
            </p:cNvPr>
            <p:cNvSpPr txBox="1"/>
            <p:nvPr/>
          </p:nvSpPr>
          <p:spPr>
            <a:xfrm>
              <a:off x="2786905" y="3266078"/>
              <a:ext cx="1436612" cy="369332"/>
            </a:xfrm>
            <a:prstGeom prst="rect">
              <a:avLst/>
            </a:prstGeom>
            <a:noFill/>
          </p:spPr>
          <p:txBody>
            <a:bodyPr wrap="none" rtlCol="0">
              <a:spAutoFit/>
            </a:bodyPr>
            <a:lstStyle/>
            <a:p>
              <a:r>
                <a:rPr lang="es-ES_tradnl" dirty="0">
                  <a:latin typeface="Gill Sans MT" panose="020B0502020104020203" pitchFamily="34" charset="77"/>
                </a:rPr>
                <a:t>Optimización</a:t>
              </a:r>
            </a:p>
          </p:txBody>
        </p:sp>
        <p:cxnSp>
          <p:nvCxnSpPr>
            <p:cNvPr id="45" name="Straight Arrow Connector 44">
              <a:extLst>
                <a:ext uri="{FF2B5EF4-FFF2-40B4-BE49-F238E27FC236}">
                  <a16:creationId xmlns:a16="http://schemas.microsoft.com/office/drawing/2014/main" id="{0126C05F-665C-7B4D-B321-3517EDC60B9B}"/>
                </a:ext>
              </a:extLst>
            </p:cNvPr>
            <p:cNvCxnSpPr>
              <a:cxnSpLocks/>
            </p:cNvCxnSpPr>
            <p:nvPr/>
          </p:nvCxnSpPr>
          <p:spPr>
            <a:xfrm>
              <a:off x="4324605" y="3435453"/>
              <a:ext cx="562827" cy="0"/>
            </a:xfrm>
            <a:prstGeom prst="straightConnector1">
              <a:avLst/>
            </a:prstGeom>
            <a:ln>
              <a:solidFill>
                <a:schemeClr val="tx1">
                  <a:lumMod val="85000"/>
                  <a:lumOff val="15000"/>
                </a:schemeClr>
              </a:solidFill>
              <a:tailEnd type="triangle"/>
            </a:ln>
            <a:effectLst/>
          </p:spPr>
          <p:style>
            <a:lnRef idx="2">
              <a:schemeClr val="accent1"/>
            </a:lnRef>
            <a:fillRef idx="0">
              <a:schemeClr val="accent1"/>
            </a:fillRef>
            <a:effectRef idx="1">
              <a:schemeClr val="accent1"/>
            </a:effectRef>
            <a:fontRef idx="minor">
              <a:schemeClr val="tx1"/>
            </a:fontRef>
          </p:style>
        </p:cxnSp>
      </p:grpSp>
      <p:pic>
        <p:nvPicPr>
          <p:cNvPr id="46" name="Picture 45">
            <a:extLst>
              <a:ext uri="{FF2B5EF4-FFF2-40B4-BE49-F238E27FC236}">
                <a16:creationId xmlns:a16="http://schemas.microsoft.com/office/drawing/2014/main" id="{C420D5B1-0A1E-854A-A2AB-3E292F615DEA}"/>
              </a:ext>
            </a:extLst>
          </p:cNvPr>
          <p:cNvPicPr>
            <a:picLocks noChangeAspect="1"/>
          </p:cNvPicPr>
          <p:nvPr/>
        </p:nvPicPr>
        <p:blipFill>
          <a:blip r:embed="rId2"/>
          <a:stretch>
            <a:fillRect/>
          </a:stretch>
        </p:blipFill>
        <p:spPr>
          <a:xfrm>
            <a:off x="6471554" y="3029184"/>
            <a:ext cx="2987046" cy="812538"/>
          </a:xfrm>
          <a:prstGeom prst="rect">
            <a:avLst/>
          </a:prstGeom>
        </p:spPr>
      </p:pic>
      <p:grpSp>
        <p:nvGrpSpPr>
          <p:cNvPr id="8" name="Group 7">
            <a:extLst>
              <a:ext uri="{FF2B5EF4-FFF2-40B4-BE49-F238E27FC236}">
                <a16:creationId xmlns:a16="http://schemas.microsoft.com/office/drawing/2014/main" id="{508757B8-7611-144D-A06F-86F5405B80B7}"/>
              </a:ext>
            </a:extLst>
          </p:cNvPr>
          <p:cNvGrpSpPr/>
          <p:nvPr/>
        </p:nvGrpSpPr>
        <p:grpSpPr>
          <a:xfrm>
            <a:off x="6004019" y="2350238"/>
            <a:ext cx="1390124" cy="909071"/>
            <a:chOff x="4480019" y="2350237"/>
            <a:chExt cx="1390124" cy="909071"/>
          </a:xfrm>
        </p:grpSpPr>
        <p:cxnSp>
          <p:nvCxnSpPr>
            <p:cNvPr id="47" name="Straight Arrow Connector 46">
              <a:extLst>
                <a:ext uri="{FF2B5EF4-FFF2-40B4-BE49-F238E27FC236}">
                  <a16:creationId xmlns:a16="http://schemas.microsoft.com/office/drawing/2014/main" id="{61ABEEE1-C045-C94C-BDC7-553F76015C4B}"/>
                </a:ext>
              </a:extLst>
            </p:cNvPr>
            <p:cNvCxnSpPr>
              <a:cxnSpLocks/>
            </p:cNvCxnSpPr>
            <p:nvPr/>
          </p:nvCxnSpPr>
          <p:spPr>
            <a:xfrm flipV="1">
              <a:off x="5265683" y="2732691"/>
              <a:ext cx="0" cy="526617"/>
            </a:xfrm>
            <a:prstGeom prst="straightConnector1">
              <a:avLst/>
            </a:prstGeom>
            <a:ln>
              <a:solidFill>
                <a:srgbClr val="FF9300"/>
              </a:solidFill>
              <a:tailEnd type="triangle"/>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69131A9A-88DC-9E48-96AD-A55F44E76510}"/>
                </a:ext>
              </a:extLst>
            </p:cNvPr>
            <p:cNvSpPr txBox="1"/>
            <p:nvPr/>
          </p:nvSpPr>
          <p:spPr>
            <a:xfrm>
              <a:off x="4480019" y="2350237"/>
              <a:ext cx="1390124" cy="307777"/>
            </a:xfrm>
            <a:prstGeom prst="rect">
              <a:avLst/>
            </a:prstGeom>
            <a:noFill/>
          </p:spPr>
          <p:txBody>
            <a:bodyPr wrap="none" rtlCol="0">
              <a:spAutoFit/>
            </a:bodyPr>
            <a:lstStyle/>
            <a:p>
              <a:r>
                <a:rPr lang="es-ES_tradnl" sz="1400" dirty="0">
                  <a:latin typeface="Gill Sans MT" panose="020B0502020104020203" pitchFamily="34" charset="77"/>
                </a:rPr>
                <a:t>línea de decisión</a:t>
              </a:r>
            </a:p>
          </p:txBody>
        </p:sp>
      </p:grpSp>
      <p:grpSp>
        <p:nvGrpSpPr>
          <p:cNvPr id="10" name="Group 9">
            <a:extLst>
              <a:ext uri="{FF2B5EF4-FFF2-40B4-BE49-F238E27FC236}">
                <a16:creationId xmlns:a16="http://schemas.microsoft.com/office/drawing/2014/main" id="{7855E829-96CB-444A-BA4F-3F2471B4D478}"/>
              </a:ext>
            </a:extLst>
          </p:cNvPr>
          <p:cNvGrpSpPr/>
          <p:nvPr/>
        </p:nvGrpSpPr>
        <p:grpSpPr>
          <a:xfrm>
            <a:off x="7133578" y="3635411"/>
            <a:ext cx="2333909" cy="1428218"/>
            <a:chOff x="5609578" y="3635411"/>
            <a:chExt cx="2333909" cy="1428218"/>
          </a:xfrm>
        </p:grpSpPr>
        <p:cxnSp>
          <p:nvCxnSpPr>
            <p:cNvPr id="50" name="Straight Arrow Connector 49">
              <a:extLst>
                <a:ext uri="{FF2B5EF4-FFF2-40B4-BE49-F238E27FC236}">
                  <a16:creationId xmlns:a16="http://schemas.microsoft.com/office/drawing/2014/main" id="{1EBE0E6B-8342-B34A-95A9-19591F88B7EC}"/>
                </a:ext>
              </a:extLst>
            </p:cNvPr>
            <p:cNvCxnSpPr>
              <a:cxnSpLocks/>
            </p:cNvCxnSpPr>
            <p:nvPr/>
          </p:nvCxnSpPr>
          <p:spPr>
            <a:xfrm>
              <a:off x="6755704" y="3704736"/>
              <a:ext cx="0" cy="630739"/>
            </a:xfrm>
            <a:prstGeom prst="straightConnector1">
              <a:avLst/>
            </a:prstGeom>
            <a:ln>
              <a:solidFill>
                <a:srgbClr val="FF9300"/>
              </a:solidFill>
              <a:tailEnd type="triangle"/>
            </a:ln>
            <a:effectLst/>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B820CFAE-A1CB-894A-8CB9-2E668E0B7896}"/>
                </a:ext>
              </a:extLst>
            </p:cNvPr>
            <p:cNvSpPr txBox="1"/>
            <p:nvPr/>
          </p:nvSpPr>
          <p:spPr>
            <a:xfrm>
              <a:off x="5609578" y="4324965"/>
              <a:ext cx="2333909" cy="738664"/>
            </a:xfrm>
            <a:prstGeom prst="rect">
              <a:avLst/>
            </a:prstGeom>
            <a:noFill/>
          </p:spPr>
          <p:txBody>
            <a:bodyPr wrap="none" rtlCol="0">
              <a:spAutoFit/>
            </a:bodyPr>
            <a:lstStyle/>
            <a:p>
              <a:pPr algn="ctr"/>
              <a:r>
                <a:rPr lang="es-ES_tradnl" sz="1400" dirty="0">
                  <a:latin typeface="Gill Sans MT" panose="020B0502020104020203" pitchFamily="34" charset="77"/>
                </a:rPr>
                <a:t>Datos de entrenamiento para
los vectores de soporte
</a:t>
              </a:r>
            </a:p>
          </p:txBody>
        </p:sp>
        <p:sp>
          <p:nvSpPr>
            <p:cNvPr id="32" name="Right Brace 31">
              <a:extLst>
                <a:ext uri="{FF2B5EF4-FFF2-40B4-BE49-F238E27FC236}">
                  <a16:creationId xmlns:a16="http://schemas.microsoft.com/office/drawing/2014/main" id="{899B3478-8463-7B45-BA5E-03CF8F9D1085}"/>
                </a:ext>
              </a:extLst>
            </p:cNvPr>
            <p:cNvSpPr/>
            <p:nvPr/>
          </p:nvSpPr>
          <p:spPr>
            <a:xfrm rot="5400000">
              <a:off x="6736540" y="3415195"/>
              <a:ext cx="45719" cy="486152"/>
            </a:xfrm>
            <a:prstGeom prst="rightBrace">
              <a:avLst/>
            </a:prstGeom>
            <a:ln w="15875">
              <a:solidFill>
                <a:srgbClr val="0070C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dirty="0">
                <a:latin typeface="Gill Sans MT" panose="020B0502020104020203" pitchFamily="34" charset="77"/>
              </a:endParaRPr>
            </a:p>
          </p:txBody>
        </p:sp>
      </p:grpSp>
      <p:grpSp>
        <p:nvGrpSpPr>
          <p:cNvPr id="11" name="Group 10">
            <a:extLst>
              <a:ext uri="{FF2B5EF4-FFF2-40B4-BE49-F238E27FC236}">
                <a16:creationId xmlns:a16="http://schemas.microsoft.com/office/drawing/2014/main" id="{B4342A34-E319-A644-8906-9E419DA54D2D}"/>
              </a:ext>
            </a:extLst>
          </p:cNvPr>
          <p:cNvGrpSpPr/>
          <p:nvPr/>
        </p:nvGrpSpPr>
        <p:grpSpPr>
          <a:xfrm>
            <a:off x="8410817" y="2316719"/>
            <a:ext cx="915635" cy="1035103"/>
            <a:chOff x="6886816" y="2316718"/>
            <a:chExt cx="915635" cy="1035103"/>
          </a:xfrm>
        </p:grpSpPr>
        <p:cxnSp>
          <p:nvCxnSpPr>
            <p:cNvPr id="54" name="Straight Arrow Connector 53">
              <a:extLst>
                <a:ext uri="{FF2B5EF4-FFF2-40B4-BE49-F238E27FC236}">
                  <a16:creationId xmlns:a16="http://schemas.microsoft.com/office/drawing/2014/main" id="{35DAB127-B921-304A-8313-1B0A7137375C}"/>
                </a:ext>
              </a:extLst>
            </p:cNvPr>
            <p:cNvCxnSpPr>
              <a:cxnSpLocks/>
            </p:cNvCxnSpPr>
            <p:nvPr/>
          </p:nvCxnSpPr>
          <p:spPr>
            <a:xfrm flipV="1">
              <a:off x="7246883" y="2825204"/>
              <a:ext cx="0" cy="526617"/>
            </a:xfrm>
            <a:prstGeom prst="straightConnector1">
              <a:avLst/>
            </a:prstGeom>
            <a:ln>
              <a:solidFill>
                <a:srgbClr val="FF9300"/>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EE4DE395-19B9-AC43-A4A8-ECF923ACD077}"/>
                </a:ext>
              </a:extLst>
            </p:cNvPr>
            <p:cNvSpPr txBox="1"/>
            <p:nvPr/>
          </p:nvSpPr>
          <p:spPr>
            <a:xfrm>
              <a:off x="6886816" y="2316718"/>
              <a:ext cx="915635" cy="523220"/>
            </a:xfrm>
            <a:prstGeom prst="rect">
              <a:avLst/>
            </a:prstGeom>
            <a:noFill/>
          </p:spPr>
          <p:txBody>
            <a:bodyPr wrap="none" rtlCol="0">
              <a:spAutoFit/>
            </a:bodyPr>
            <a:lstStyle/>
            <a:p>
              <a:pPr algn="ctr"/>
              <a:r>
                <a:rPr lang="es-ES_tradnl" sz="1400" dirty="0">
                  <a:latin typeface="Gill Sans MT" panose="020B0502020104020203" pitchFamily="34" charset="77"/>
                </a:rPr>
                <a:t>Muestra</a:t>
              </a:r>
            </a:p>
            <a:p>
              <a:pPr algn="ctr"/>
              <a:r>
                <a:rPr lang="es-ES_tradnl" sz="1400" dirty="0">
                  <a:latin typeface="Gill Sans MT" panose="020B0502020104020203" pitchFamily="34" charset="77"/>
                </a:rPr>
                <a:t>de prueba</a:t>
              </a:r>
            </a:p>
          </p:txBody>
        </p:sp>
      </p:grpSp>
      <p:grpSp>
        <p:nvGrpSpPr>
          <p:cNvPr id="12" name="Group 11">
            <a:extLst>
              <a:ext uri="{FF2B5EF4-FFF2-40B4-BE49-F238E27FC236}">
                <a16:creationId xmlns:a16="http://schemas.microsoft.com/office/drawing/2014/main" id="{28C93F4E-1EBC-B742-99CB-03006ACF1CBB}"/>
              </a:ext>
            </a:extLst>
          </p:cNvPr>
          <p:cNvGrpSpPr/>
          <p:nvPr/>
        </p:nvGrpSpPr>
        <p:grpSpPr>
          <a:xfrm>
            <a:off x="7574008" y="1904715"/>
            <a:ext cx="962123" cy="1391605"/>
            <a:chOff x="6050007" y="1904714"/>
            <a:chExt cx="962123" cy="1391605"/>
          </a:xfrm>
        </p:grpSpPr>
        <p:cxnSp>
          <p:nvCxnSpPr>
            <p:cNvPr id="56" name="Straight Arrow Connector 55">
              <a:extLst>
                <a:ext uri="{FF2B5EF4-FFF2-40B4-BE49-F238E27FC236}">
                  <a16:creationId xmlns:a16="http://schemas.microsoft.com/office/drawing/2014/main" id="{11E07CE8-3DF0-FB4E-B64D-9C7BE57CE852}"/>
                </a:ext>
              </a:extLst>
            </p:cNvPr>
            <p:cNvCxnSpPr>
              <a:cxnSpLocks/>
            </p:cNvCxnSpPr>
            <p:nvPr/>
          </p:nvCxnSpPr>
          <p:spPr>
            <a:xfrm flipV="1">
              <a:off x="6405931" y="2216319"/>
              <a:ext cx="0" cy="1080000"/>
            </a:xfrm>
            <a:prstGeom prst="straightConnector1">
              <a:avLst/>
            </a:prstGeom>
            <a:ln w="15875">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52E1615B-6321-294B-823D-5E886CCD11EA}"/>
                </a:ext>
              </a:extLst>
            </p:cNvPr>
            <p:cNvSpPr txBox="1"/>
            <p:nvPr/>
          </p:nvSpPr>
          <p:spPr>
            <a:xfrm>
              <a:off x="6050007" y="1904714"/>
              <a:ext cx="962123" cy="307777"/>
            </a:xfrm>
            <a:prstGeom prst="rect">
              <a:avLst/>
            </a:prstGeom>
            <a:noFill/>
          </p:spPr>
          <p:txBody>
            <a:bodyPr wrap="none" rtlCol="0">
              <a:spAutoFit/>
            </a:bodyPr>
            <a:lstStyle/>
            <a:p>
              <a:r>
                <a:rPr lang="es-ES_tradnl" sz="1400" dirty="0">
                  <a:latin typeface="Gill Sans MT" panose="020B0502020104020203" pitchFamily="34" charset="77"/>
                </a:rPr>
                <a:t>constantes</a:t>
              </a:r>
            </a:p>
          </p:txBody>
        </p:sp>
      </p:grpSp>
      <p:grpSp>
        <p:nvGrpSpPr>
          <p:cNvPr id="13" name="Group 12">
            <a:extLst>
              <a:ext uri="{FF2B5EF4-FFF2-40B4-BE49-F238E27FC236}">
                <a16:creationId xmlns:a16="http://schemas.microsoft.com/office/drawing/2014/main" id="{A3AF3D56-572C-0B4E-A20B-177BEC7C7AFA}"/>
              </a:ext>
            </a:extLst>
          </p:cNvPr>
          <p:cNvGrpSpPr/>
          <p:nvPr/>
        </p:nvGrpSpPr>
        <p:grpSpPr>
          <a:xfrm>
            <a:off x="8846646" y="1900887"/>
            <a:ext cx="893193" cy="1456191"/>
            <a:chOff x="7322645" y="1900886"/>
            <a:chExt cx="893193" cy="1456191"/>
          </a:xfrm>
        </p:grpSpPr>
        <p:cxnSp>
          <p:nvCxnSpPr>
            <p:cNvPr id="62" name="Straight Arrow Connector 61">
              <a:extLst>
                <a:ext uri="{FF2B5EF4-FFF2-40B4-BE49-F238E27FC236}">
                  <a16:creationId xmlns:a16="http://schemas.microsoft.com/office/drawing/2014/main" id="{108153BE-E820-DE41-8B93-B50383F835FE}"/>
                </a:ext>
              </a:extLst>
            </p:cNvPr>
            <p:cNvCxnSpPr>
              <a:cxnSpLocks/>
            </p:cNvCxnSpPr>
            <p:nvPr/>
          </p:nvCxnSpPr>
          <p:spPr>
            <a:xfrm flipH="1" flipV="1">
              <a:off x="7753035" y="2205077"/>
              <a:ext cx="0" cy="1152000"/>
            </a:xfrm>
            <a:prstGeom prst="straightConnector1">
              <a:avLst/>
            </a:prstGeom>
            <a:ln w="15875">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448B558B-4281-6743-9DF6-5A84F08602DB}"/>
                </a:ext>
              </a:extLst>
            </p:cNvPr>
            <p:cNvSpPr txBox="1"/>
            <p:nvPr/>
          </p:nvSpPr>
          <p:spPr>
            <a:xfrm>
              <a:off x="7322645" y="1900886"/>
              <a:ext cx="893193" cy="307777"/>
            </a:xfrm>
            <a:prstGeom prst="rect">
              <a:avLst/>
            </a:prstGeom>
            <a:noFill/>
          </p:spPr>
          <p:txBody>
            <a:bodyPr wrap="none" rtlCol="0">
              <a:spAutoFit/>
            </a:bodyPr>
            <a:lstStyle/>
            <a:p>
              <a:r>
                <a:rPr lang="es-ES_tradnl" sz="1400" dirty="0">
                  <a:latin typeface="Gill Sans MT" panose="020B0502020104020203" pitchFamily="34" charset="77"/>
                </a:rPr>
                <a:t>constante</a:t>
              </a:r>
            </a:p>
          </p:txBody>
        </p:sp>
      </p:grpSp>
      <p:grpSp>
        <p:nvGrpSpPr>
          <p:cNvPr id="9" name="Group 8">
            <a:extLst>
              <a:ext uri="{FF2B5EF4-FFF2-40B4-BE49-F238E27FC236}">
                <a16:creationId xmlns:a16="http://schemas.microsoft.com/office/drawing/2014/main" id="{A359AF1D-B46C-0246-9D5A-53ABA8F50CB1}"/>
              </a:ext>
            </a:extLst>
          </p:cNvPr>
          <p:cNvGrpSpPr/>
          <p:nvPr/>
        </p:nvGrpSpPr>
        <p:grpSpPr>
          <a:xfrm>
            <a:off x="6738779" y="1330132"/>
            <a:ext cx="1660646" cy="1595714"/>
            <a:chOff x="5214779" y="1330132"/>
            <a:chExt cx="1660646" cy="1595714"/>
          </a:xfrm>
        </p:grpSpPr>
        <p:cxnSp>
          <p:nvCxnSpPr>
            <p:cNvPr id="68" name="Straight Arrow Connector 67">
              <a:extLst>
                <a:ext uri="{FF2B5EF4-FFF2-40B4-BE49-F238E27FC236}">
                  <a16:creationId xmlns:a16="http://schemas.microsoft.com/office/drawing/2014/main" id="{34085792-6D60-8044-81CF-52DF206AD9C8}"/>
                </a:ext>
              </a:extLst>
            </p:cNvPr>
            <p:cNvCxnSpPr>
              <a:cxnSpLocks/>
            </p:cNvCxnSpPr>
            <p:nvPr/>
          </p:nvCxnSpPr>
          <p:spPr>
            <a:xfrm flipV="1">
              <a:off x="6065094" y="1840061"/>
              <a:ext cx="0" cy="1085785"/>
            </a:xfrm>
            <a:prstGeom prst="straightConnector1">
              <a:avLst/>
            </a:prstGeom>
            <a:ln w="15875">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0CA99202-6302-8A46-83E6-CB74973CECE2}"/>
                </a:ext>
              </a:extLst>
            </p:cNvPr>
            <p:cNvSpPr txBox="1"/>
            <p:nvPr/>
          </p:nvSpPr>
          <p:spPr>
            <a:xfrm>
              <a:off x="5214779" y="1330132"/>
              <a:ext cx="1660646" cy="738664"/>
            </a:xfrm>
            <a:prstGeom prst="rect">
              <a:avLst/>
            </a:prstGeom>
            <a:noFill/>
          </p:spPr>
          <p:txBody>
            <a:bodyPr wrap="none" rtlCol="0">
              <a:spAutoFit/>
            </a:bodyPr>
            <a:lstStyle/>
            <a:p>
              <a:pPr algn="ctr"/>
              <a:r>
                <a:rPr lang="es-ES_tradnl" sz="1400" dirty="0">
                  <a:latin typeface="Gill Sans MT" panose="020B0502020104020203" pitchFamily="34" charset="77"/>
                </a:rPr>
                <a:t>Número de 
vectores de soporte
</a:t>
              </a:r>
            </a:p>
          </p:txBody>
        </p:sp>
      </p:grpSp>
      <p:grpSp>
        <p:nvGrpSpPr>
          <p:cNvPr id="2" name="Group 1">
            <a:extLst>
              <a:ext uri="{FF2B5EF4-FFF2-40B4-BE49-F238E27FC236}">
                <a16:creationId xmlns:a16="http://schemas.microsoft.com/office/drawing/2014/main" id="{4FFCC83A-1E0F-9544-8655-219B9C19C6C1}"/>
              </a:ext>
            </a:extLst>
          </p:cNvPr>
          <p:cNvGrpSpPr/>
          <p:nvPr/>
        </p:nvGrpSpPr>
        <p:grpSpPr>
          <a:xfrm>
            <a:off x="2132126" y="2130647"/>
            <a:ext cx="1971528" cy="1400719"/>
            <a:chOff x="608126" y="2130646"/>
            <a:chExt cx="1971528" cy="1400719"/>
          </a:xfrm>
        </p:grpSpPr>
        <p:sp>
          <p:nvSpPr>
            <p:cNvPr id="29" name="TextBox 28">
              <a:extLst>
                <a:ext uri="{FF2B5EF4-FFF2-40B4-BE49-F238E27FC236}">
                  <a16:creationId xmlns:a16="http://schemas.microsoft.com/office/drawing/2014/main" id="{F2008FA6-8EE4-EB45-A428-E90092EAB930}"/>
                </a:ext>
              </a:extLst>
            </p:cNvPr>
            <p:cNvSpPr txBox="1"/>
            <p:nvPr/>
          </p:nvSpPr>
          <p:spPr>
            <a:xfrm>
              <a:off x="608126" y="2690284"/>
              <a:ext cx="1971528" cy="646331"/>
            </a:xfrm>
            <a:prstGeom prst="rect">
              <a:avLst/>
            </a:prstGeom>
            <a:noFill/>
          </p:spPr>
          <p:txBody>
            <a:bodyPr wrap="square" rtlCol="0">
              <a:spAutoFit/>
            </a:bodyPr>
            <a:lstStyle/>
            <a:p>
              <a:pPr algn="ctr"/>
              <a:r>
                <a:rPr lang="es-ES_tradnl" dirty="0">
                  <a:latin typeface="Gill Sans MT" panose="020B0502020104020203" pitchFamily="34" charset="77"/>
                </a:rPr>
                <a:t>Datos de Entrenamiento</a:t>
              </a:r>
            </a:p>
          </p:txBody>
        </p:sp>
        <p:pic>
          <p:nvPicPr>
            <p:cNvPr id="53" name="Picture 52">
              <a:extLst>
                <a:ext uri="{FF2B5EF4-FFF2-40B4-BE49-F238E27FC236}">
                  <a16:creationId xmlns:a16="http://schemas.microsoft.com/office/drawing/2014/main" id="{0B6B0F80-4DE2-304F-BC1A-9882D95474A9}"/>
                </a:ext>
              </a:extLst>
            </p:cNvPr>
            <p:cNvPicPr>
              <a:picLocks noChangeAspect="1"/>
            </p:cNvPicPr>
            <p:nvPr/>
          </p:nvPicPr>
          <p:blipFill>
            <a:blip r:embed="rId3"/>
            <a:stretch>
              <a:fillRect/>
            </a:stretch>
          </p:blipFill>
          <p:spPr>
            <a:xfrm>
              <a:off x="1192444" y="3264665"/>
              <a:ext cx="800100" cy="266700"/>
            </a:xfrm>
            <a:prstGeom prst="rect">
              <a:avLst/>
            </a:prstGeom>
          </p:spPr>
        </p:pic>
        <p:sp>
          <p:nvSpPr>
            <p:cNvPr id="63" name="TextBox 62">
              <a:extLst>
                <a:ext uri="{FF2B5EF4-FFF2-40B4-BE49-F238E27FC236}">
                  <a16:creationId xmlns:a16="http://schemas.microsoft.com/office/drawing/2014/main" id="{EFFEBF9B-0FCB-584A-BCEE-5A195F9A6AD6}"/>
                </a:ext>
              </a:extLst>
            </p:cNvPr>
            <p:cNvSpPr txBox="1"/>
            <p:nvPr/>
          </p:nvSpPr>
          <p:spPr>
            <a:xfrm>
              <a:off x="839356" y="2130646"/>
              <a:ext cx="1314784" cy="369332"/>
            </a:xfrm>
            <a:prstGeom prst="rect">
              <a:avLst/>
            </a:prstGeom>
            <a:noFill/>
          </p:spPr>
          <p:txBody>
            <a:bodyPr wrap="none" rtlCol="0">
              <a:spAutoFit/>
            </a:bodyPr>
            <a:lstStyle/>
            <a:p>
              <a:r>
                <a:rPr lang="es-ES_tradnl" dirty="0">
                  <a:latin typeface="Gill Sans MT" panose="020B0502020104020203" pitchFamily="34" charset="77"/>
                </a:rPr>
                <a:t>TRAINING:</a:t>
              </a:r>
            </a:p>
          </p:txBody>
        </p:sp>
      </p:grpSp>
      <p:grpSp>
        <p:nvGrpSpPr>
          <p:cNvPr id="42" name="Group 41">
            <a:extLst>
              <a:ext uri="{FF2B5EF4-FFF2-40B4-BE49-F238E27FC236}">
                <a16:creationId xmlns:a16="http://schemas.microsoft.com/office/drawing/2014/main" id="{5A0F0257-91CB-6242-8083-E76918F86294}"/>
              </a:ext>
            </a:extLst>
          </p:cNvPr>
          <p:cNvGrpSpPr/>
          <p:nvPr/>
        </p:nvGrpSpPr>
        <p:grpSpPr>
          <a:xfrm>
            <a:off x="2397366" y="5235498"/>
            <a:ext cx="5763116" cy="646331"/>
            <a:chOff x="873366" y="5235497"/>
            <a:chExt cx="5763116" cy="646331"/>
          </a:xfrm>
        </p:grpSpPr>
        <p:sp>
          <p:nvSpPr>
            <p:cNvPr id="43" name="TextBox 42">
              <a:extLst>
                <a:ext uri="{FF2B5EF4-FFF2-40B4-BE49-F238E27FC236}">
                  <a16:creationId xmlns:a16="http://schemas.microsoft.com/office/drawing/2014/main" id="{524EC5BF-8865-D74E-A63A-ECC995CAB768}"/>
                </a:ext>
              </a:extLst>
            </p:cNvPr>
            <p:cNvSpPr txBox="1"/>
            <p:nvPr/>
          </p:nvSpPr>
          <p:spPr>
            <a:xfrm>
              <a:off x="873366" y="5235497"/>
              <a:ext cx="5763116" cy="646331"/>
            </a:xfrm>
            <a:prstGeom prst="rect">
              <a:avLst/>
            </a:prstGeom>
            <a:noFill/>
          </p:spPr>
          <p:txBody>
            <a:bodyPr wrap="none" rtlCol="0">
              <a:spAutoFit/>
            </a:bodyPr>
            <a:lstStyle/>
            <a:p>
              <a:r>
                <a:rPr lang="es-ES_tradnl" dirty="0">
                  <a:latin typeface="Gill Sans MT" panose="020B0502020104020203" pitchFamily="34" charset="77"/>
                </a:rPr>
                <a:t>TESTING:  si                    	entonces 		clase = +1</a:t>
              </a:r>
            </a:p>
            <a:p>
              <a:r>
                <a:rPr lang="es-ES_tradnl" dirty="0">
                  <a:latin typeface="Gill Sans MT" panose="020B0502020104020203" pitchFamily="34" charset="77"/>
                </a:rPr>
                <a:t>			en caso contrario 	clase = -1</a:t>
              </a:r>
            </a:p>
          </p:txBody>
        </p:sp>
        <p:pic>
          <p:nvPicPr>
            <p:cNvPr id="48" name="Picture 47">
              <a:extLst>
                <a:ext uri="{FF2B5EF4-FFF2-40B4-BE49-F238E27FC236}">
                  <a16:creationId xmlns:a16="http://schemas.microsoft.com/office/drawing/2014/main" id="{863C4846-9CEC-2A47-B647-C1CC576E82E4}"/>
                </a:ext>
              </a:extLst>
            </p:cNvPr>
            <p:cNvPicPr>
              <a:picLocks noChangeAspect="1"/>
            </p:cNvPicPr>
            <p:nvPr/>
          </p:nvPicPr>
          <p:blipFill>
            <a:blip r:embed="rId4"/>
            <a:stretch>
              <a:fillRect/>
            </a:stretch>
          </p:blipFill>
          <p:spPr>
            <a:xfrm>
              <a:off x="2446142" y="5280005"/>
              <a:ext cx="939800" cy="266700"/>
            </a:xfrm>
            <a:prstGeom prst="rect">
              <a:avLst/>
            </a:prstGeom>
          </p:spPr>
        </p:pic>
      </p:grpSp>
    </p:spTree>
    <p:extLst>
      <p:ext uri="{BB962C8B-B14F-4D97-AF65-F5344CB8AC3E}">
        <p14:creationId xmlns:p14="http://schemas.microsoft.com/office/powerpoint/2010/main" val="1785352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4539654" y="3634153"/>
            <a:ext cx="1440160" cy="1800200"/>
            <a:chOff x="2888654" y="3429000"/>
            <a:chExt cx="1440160" cy="1800200"/>
          </a:xfrm>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6" name="Oval 65"/>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50" name="Group 49"/>
          <p:cNvGrpSpPr/>
          <p:nvPr/>
        </p:nvGrpSpPr>
        <p:grpSpPr>
          <a:xfrm rot="2553764">
            <a:off x="5409494" y="2625234"/>
            <a:ext cx="1922676" cy="1440160"/>
            <a:chOff x="4299707" y="3005336"/>
            <a:chExt cx="1922676" cy="1440160"/>
          </a:xfrm>
          <a:solidFill>
            <a:srgbClr val="0000FF"/>
          </a:solidFill>
        </p:grpSpPr>
        <p:sp>
          <p:nvSpPr>
            <p:cNvPr id="52" name="Oval 51"/>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5" name="Oval 84"/>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7" name="Oval 86"/>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8" name="Oval 87"/>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9" name="Oval 88"/>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0" name="Oval 89"/>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1" name="Oval 90"/>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2" name="Oval 91"/>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43" name="Oval 42"/>
          <p:cNvSpPr/>
          <p:nvPr/>
        </p:nvSpPr>
        <p:spPr>
          <a:xfrm>
            <a:off x="4415505" y="3578663"/>
            <a:ext cx="216024" cy="216024"/>
          </a:xfrm>
          <a:prstGeom prst="ellipse">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nvGrpSpPr>
          <p:cNvPr id="6" name="Group 5">
            <a:extLst>
              <a:ext uri="{FF2B5EF4-FFF2-40B4-BE49-F238E27FC236}">
                <a16:creationId xmlns:a16="http://schemas.microsoft.com/office/drawing/2014/main" id="{3B00AF6B-8293-D045-8F7C-F2D1EF83B49A}"/>
              </a:ext>
            </a:extLst>
          </p:cNvPr>
          <p:cNvGrpSpPr/>
          <p:nvPr/>
        </p:nvGrpSpPr>
        <p:grpSpPr>
          <a:xfrm>
            <a:off x="2309938" y="1899891"/>
            <a:ext cx="5141146" cy="3996269"/>
            <a:chOff x="785938" y="1899890"/>
            <a:chExt cx="5141146" cy="3996269"/>
          </a:xfrm>
        </p:grpSpPr>
        <p:cxnSp>
          <p:nvCxnSpPr>
            <p:cNvPr id="48" name="Straight Connector 47"/>
            <p:cNvCxnSpPr/>
            <p:nvPr/>
          </p:nvCxnSpPr>
          <p:spPr>
            <a:xfrm rot="20987970">
              <a:off x="2595776" y="227177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97C82E04-32F1-9242-B29C-0F12FC3AD0FC}"/>
                </a:ext>
              </a:extLst>
            </p:cNvPr>
            <p:cNvSpPr txBox="1"/>
            <p:nvPr/>
          </p:nvSpPr>
          <p:spPr>
            <a:xfrm>
              <a:off x="785938" y="1899890"/>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grpSp>
      <p:grpSp>
        <p:nvGrpSpPr>
          <p:cNvPr id="61" name="Group 60">
            <a:extLst>
              <a:ext uri="{FF2B5EF4-FFF2-40B4-BE49-F238E27FC236}">
                <a16:creationId xmlns:a16="http://schemas.microsoft.com/office/drawing/2014/main" id="{0EE57861-D688-2A46-840B-E1ABF5391ED3}"/>
              </a:ext>
            </a:extLst>
          </p:cNvPr>
          <p:cNvGrpSpPr/>
          <p:nvPr/>
        </p:nvGrpSpPr>
        <p:grpSpPr>
          <a:xfrm>
            <a:off x="1976954" y="2887785"/>
            <a:ext cx="2375640" cy="1223006"/>
            <a:chOff x="651647" y="1701938"/>
            <a:chExt cx="2375640" cy="1223006"/>
          </a:xfrm>
        </p:grpSpPr>
        <p:sp>
          <p:nvSpPr>
            <p:cNvPr id="81" name="TextBox 80">
              <a:extLst>
                <a:ext uri="{FF2B5EF4-FFF2-40B4-BE49-F238E27FC236}">
                  <a16:creationId xmlns:a16="http://schemas.microsoft.com/office/drawing/2014/main" id="{00EF31EF-41C4-5642-8748-685307DDCE58}"/>
                </a:ext>
              </a:extLst>
            </p:cNvPr>
            <p:cNvSpPr txBox="1"/>
            <p:nvPr/>
          </p:nvSpPr>
          <p:spPr>
            <a:xfrm>
              <a:off x="651647" y="1701938"/>
              <a:ext cx="1300792" cy="830997"/>
            </a:xfrm>
            <a:prstGeom prst="rect">
              <a:avLst/>
            </a:prstGeom>
            <a:noFill/>
          </p:spPr>
          <p:txBody>
            <a:bodyPr wrap="square" rtlCol="0">
              <a:spAutoFit/>
            </a:bodyPr>
            <a:lstStyle/>
            <a:p>
              <a:r>
                <a:rPr lang="es-ES_tradnl" sz="2400" dirty="0">
                  <a:latin typeface="Gill Sans MT" panose="020B0502020104020203" pitchFamily="34" charset="77"/>
                  <a:cs typeface="Trebuchet MS"/>
                </a:rPr>
                <a:t>Dato de prueba</a:t>
              </a:r>
            </a:p>
          </p:txBody>
        </p:sp>
        <p:cxnSp>
          <p:nvCxnSpPr>
            <p:cNvPr id="86" name="Straight Arrow Connector 85">
              <a:extLst>
                <a:ext uri="{FF2B5EF4-FFF2-40B4-BE49-F238E27FC236}">
                  <a16:creationId xmlns:a16="http://schemas.microsoft.com/office/drawing/2014/main" id="{8008B4A9-08B2-6E48-8B7C-EA74CD9DBD0A}"/>
                </a:ext>
              </a:extLst>
            </p:cNvPr>
            <p:cNvCxnSpPr>
              <a:cxnSpLocks/>
              <a:stCxn id="81" idx="3"/>
            </p:cNvCxnSpPr>
            <p:nvPr/>
          </p:nvCxnSpPr>
          <p:spPr>
            <a:xfrm>
              <a:off x="1952439" y="2117437"/>
              <a:ext cx="1074848" cy="36257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3" name="TextBox 92">
              <a:extLst>
                <a:ext uri="{FF2B5EF4-FFF2-40B4-BE49-F238E27FC236}">
                  <a16:creationId xmlns:a16="http://schemas.microsoft.com/office/drawing/2014/main" id="{EC861AF2-8FB8-8F40-9A31-A5C1EAFA00A9}"/>
                </a:ext>
              </a:extLst>
            </p:cNvPr>
            <p:cNvSpPr txBox="1"/>
            <p:nvPr/>
          </p:nvSpPr>
          <p:spPr>
            <a:xfrm>
              <a:off x="1177978" y="2463279"/>
              <a:ext cx="297678" cy="461665"/>
            </a:xfrm>
            <a:prstGeom prst="rect">
              <a:avLst/>
            </a:prstGeom>
            <a:noFill/>
          </p:spPr>
          <p:txBody>
            <a:bodyPr wrap="none" rtlCol="0">
              <a:spAutoFit/>
            </a:bodyPr>
            <a:lstStyle/>
            <a:p>
              <a:r>
                <a:rPr lang="en-US" sz="2400" dirty="0">
                  <a:latin typeface="Gill Sans MT" panose="020B0502020104020203" pitchFamily="34" charset="77"/>
                  <a:cs typeface="Trebuchet MS"/>
                </a:rPr>
                <a:t>?</a:t>
              </a:r>
            </a:p>
          </p:txBody>
        </p:sp>
      </p:grpSp>
      <p:sp>
        <p:nvSpPr>
          <p:cNvPr id="94" name="TextBox 93">
            <a:extLst>
              <a:ext uri="{FF2B5EF4-FFF2-40B4-BE49-F238E27FC236}">
                <a16:creationId xmlns:a16="http://schemas.microsoft.com/office/drawing/2014/main" id="{8A772928-059A-3245-A8C9-94774EA4536E}"/>
              </a:ext>
            </a:extLst>
          </p:cNvPr>
          <p:cNvSpPr txBox="1"/>
          <p:nvPr/>
        </p:nvSpPr>
        <p:spPr>
          <a:xfrm>
            <a:off x="2029505" y="2592040"/>
            <a:ext cx="952505" cy="369332"/>
          </a:xfrm>
          <a:prstGeom prst="rect">
            <a:avLst/>
          </a:prstGeom>
          <a:noFill/>
        </p:spPr>
        <p:txBody>
          <a:bodyPr wrap="none" rtlCol="0">
            <a:spAutoFit/>
          </a:bodyPr>
          <a:lstStyle/>
          <a:p>
            <a:r>
              <a:rPr lang="en-US" dirty="0">
                <a:solidFill>
                  <a:schemeClr val="tx1">
                    <a:lumMod val="50000"/>
                    <a:lumOff val="50000"/>
                  </a:schemeClr>
                </a:solidFill>
                <a:latin typeface="Gill Sans MT" panose="020B0502020104020203" pitchFamily="34" charset="77"/>
              </a:rPr>
              <a:t>(testing)</a:t>
            </a:r>
          </a:p>
        </p:txBody>
      </p:sp>
      <p:sp>
        <p:nvSpPr>
          <p:cNvPr id="95" name="TextBox 94">
            <a:extLst>
              <a:ext uri="{FF2B5EF4-FFF2-40B4-BE49-F238E27FC236}">
                <a16:creationId xmlns:a16="http://schemas.microsoft.com/office/drawing/2014/main" id="{65A689A1-22EA-3D42-83B3-B4F60AFA6393}"/>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Tree>
    <p:extLst>
      <p:ext uri="{BB962C8B-B14F-4D97-AF65-F5344CB8AC3E}">
        <p14:creationId xmlns:p14="http://schemas.microsoft.com/office/powerpoint/2010/main" val="2818429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4539654" y="3634153"/>
            <a:ext cx="1440160" cy="1800200"/>
            <a:chOff x="2888654" y="3429000"/>
            <a:chExt cx="1440160" cy="1800200"/>
          </a:xfrm>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6" name="Oval 65"/>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cxnSp>
        <p:nvCxnSpPr>
          <p:cNvPr id="48" name="Straight Connector 47"/>
          <p:cNvCxnSpPr/>
          <p:nvPr/>
        </p:nvCxnSpPr>
        <p:spPr>
          <a:xfrm rot="20987970">
            <a:off x="4119776" y="227177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grpSp>
        <p:nvGrpSpPr>
          <p:cNvPr id="50" name="Group 49"/>
          <p:cNvGrpSpPr/>
          <p:nvPr/>
        </p:nvGrpSpPr>
        <p:grpSpPr>
          <a:xfrm rot="2553764">
            <a:off x="5409494" y="2625234"/>
            <a:ext cx="1922676" cy="1440160"/>
            <a:chOff x="4299707" y="3005336"/>
            <a:chExt cx="1922676" cy="1440160"/>
          </a:xfrm>
          <a:solidFill>
            <a:srgbClr val="0000FF"/>
          </a:solidFill>
        </p:grpSpPr>
        <p:sp>
          <p:nvSpPr>
            <p:cNvPr id="52" name="Oval 51"/>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5" name="Oval 84"/>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7" name="Oval 86"/>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8" name="Oval 87"/>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9" name="Oval 88"/>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0" name="Oval 89"/>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1" name="Oval 90"/>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2" name="Oval 91"/>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49" name="TextBox 48">
            <a:extLst>
              <a:ext uri="{FF2B5EF4-FFF2-40B4-BE49-F238E27FC236}">
                <a16:creationId xmlns:a16="http://schemas.microsoft.com/office/drawing/2014/main" id="{DAB3A17C-AB56-9049-AAAF-BC18BC928C54}"/>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grpSp>
        <p:nvGrpSpPr>
          <p:cNvPr id="60" name="Group 59">
            <a:extLst>
              <a:ext uri="{FF2B5EF4-FFF2-40B4-BE49-F238E27FC236}">
                <a16:creationId xmlns:a16="http://schemas.microsoft.com/office/drawing/2014/main" id="{7BFDADDC-30D4-D849-896F-CC1691B9D5D3}"/>
              </a:ext>
            </a:extLst>
          </p:cNvPr>
          <p:cNvGrpSpPr/>
          <p:nvPr/>
        </p:nvGrpSpPr>
        <p:grpSpPr>
          <a:xfrm>
            <a:off x="1976954" y="2887785"/>
            <a:ext cx="2375640" cy="1223006"/>
            <a:chOff x="651647" y="1701938"/>
            <a:chExt cx="2375640" cy="1223006"/>
          </a:xfrm>
        </p:grpSpPr>
        <p:sp>
          <p:nvSpPr>
            <p:cNvPr id="61" name="TextBox 60">
              <a:extLst>
                <a:ext uri="{FF2B5EF4-FFF2-40B4-BE49-F238E27FC236}">
                  <a16:creationId xmlns:a16="http://schemas.microsoft.com/office/drawing/2014/main" id="{B9833BA3-EB68-0D40-8050-F6EEC615D4F3}"/>
                </a:ext>
              </a:extLst>
            </p:cNvPr>
            <p:cNvSpPr txBox="1"/>
            <p:nvPr/>
          </p:nvSpPr>
          <p:spPr>
            <a:xfrm>
              <a:off x="651647" y="1701938"/>
              <a:ext cx="1300792" cy="830997"/>
            </a:xfrm>
            <a:prstGeom prst="rect">
              <a:avLst/>
            </a:prstGeom>
            <a:noFill/>
          </p:spPr>
          <p:txBody>
            <a:bodyPr wrap="square" rtlCol="0">
              <a:spAutoFit/>
            </a:bodyPr>
            <a:lstStyle/>
            <a:p>
              <a:r>
                <a:rPr lang="es-ES_tradnl" sz="2400" dirty="0">
                  <a:latin typeface="Gill Sans MT" panose="020B0502020104020203" pitchFamily="34" charset="77"/>
                  <a:cs typeface="Trebuchet MS"/>
                </a:rPr>
                <a:t>Dato de prueba</a:t>
              </a:r>
            </a:p>
          </p:txBody>
        </p:sp>
        <p:cxnSp>
          <p:nvCxnSpPr>
            <p:cNvPr id="81" name="Straight Arrow Connector 80">
              <a:extLst>
                <a:ext uri="{FF2B5EF4-FFF2-40B4-BE49-F238E27FC236}">
                  <a16:creationId xmlns:a16="http://schemas.microsoft.com/office/drawing/2014/main" id="{12B64135-06E3-0D4A-B2E1-23CDC6283A72}"/>
                </a:ext>
              </a:extLst>
            </p:cNvPr>
            <p:cNvCxnSpPr>
              <a:cxnSpLocks/>
              <a:stCxn id="61" idx="3"/>
            </p:cNvCxnSpPr>
            <p:nvPr/>
          </p:nvCxnSpPr>
          <p:spPr>
            <a:xfrm>
              <a:off x="1952439" y="2117437"/>
              <a:ext cx="1074848" cy="36257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6" name="TextBox 85">
              <a:extLst>
                <a:ext uri="{FF2B5EF4-FFF2-40B4-BE49-F238E27FC236}">
                  <a16:creationId xmlns:a16="http://schemas.microsoft.com/office/drawing/2014/main" id="{30B38368-DA71-7146-AF99-E98EF5EB0F29}"/>
                </a:ext>
              </a:extLst>
            </p:cNvPr>
            <p:cNvSpPr txBox="1"/>
            <p:nvPr/>
          </p:nvSpPr>
          <p:spPr>
            <a:xfrm>
              <a:off x="1177978" y="2463279"/>
              <a:ext cx="297678" cy="461665"/>
            </a:xfrm>
            <a:prstGeom prst="rect">
              <a:avLst/>
            </a:prstGeom>
            <a:noFill/>
          </p:spPr>
          <p:txBody>
            <a:bodyPr wrap="none" rtlCol="0">
              <a:spAutoFit/>
            </a:bodyPr>
            <a:lstStyle/>
            <a:p>
              <a:r>
                <a:rPr lang="en-US" sz="2400" dirty="0">
                  <a:latin typeface="Gill Sans MT" panose="020B0502020104020203" pitchFamily="34" charset="77"/>
                  <a:cs typeface="Trebuchet MS"/>
                </a:rPr>
                <a:t>?</a:t>
              </a:r>
            </a:p>
          </p:txBody>
        </p:sp>
      </p:grpSp>
      <p:sp>
        <p:nvSpPr>
          <p:cNvPr id="93" name="TextBox 92">
            <a:extLst>
              <a:ext uri="{FF2B5EF4-FFF2-40B4-BE49-F238E27FC236}">
                <a16:creationId xmlns:a16="http://schemas.microsoft.com/office/drawing/2014/main" id="{EBE29E15-D9C1-5F44-BAE7-E4270E8E4579}"/>
              </a:ext>
            </a:extLst>
          </p:cNvPr>
          <p:cNvSpPr txBox="1"/>
          <p:nvPr/>
        </p:nvSpPr>
        <p:spPr>
          <a:xfrm>
            <a:off x="2029505" y="2592040"/>
            <a:ext cx="952505" cy="369332"/>
          </a:xfrm>
          <a:prstGeom prst="rect">
            <a:avLst/>
          </a:prstGeom>
          <a:noFill/>
        </p:spPr>
        <p:txBody>
          <a:bodyPr wrap="none" rtlCol="0">
            <a:spAutoFit/>
          </a:bodyPr>
          <a:lstStyle/>
          <a:p>
            <a:r>
              <a:rPr lang="en-US" dirty="0">
                <a:solidFill>
                  <a:schemeClr val="tx1">
                    <a:lumMod val="50000"/>
                    <a:lumOff val="50000"/>
                  </a:schemeClr>
                </a:solidFill>
                <a:latin typeface="Gill Sans MT" panose="020B0502020104020203" pitchFamily="34" charset="77"/>
              </a:rPr>
              <a:t>(testing)</a:t>
            </a:r>
          </a:p>
        </p:txBody>
      </p:sp>
      <p:sp>
        <p:nvSpPr>
          <p:cNvPr id="94" name="TextBox 93">
            <a:extLst>
              <a:ext uri="{FF2B5EF4-FFF2-40B4-BE49-F238E27FC236}">
                <a16:creationId xmlns:a16="http://schemas.microsoft.com/office/drawing/2014/main" id="{8F0FC1F4-4EBE-D242-9FE7-C24DEED003C7}"/>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95" name="Oval 94">
            <a:extLst>
              <a:ext uri="{FF2B5EF4-FFF2-40B4-BE49-F238E27FC236}">
                <a16:creationId xmlns:a16="http://schemas.microsoft.com/office/drawing/2014/main" id="{3808E361-F9DB-CC4A-9B5C-122DA61B928A}"/>
              </a:ext>
            </a:extLst>
          </p:cNvPr>
          <p:cNvSpPr/>
          <p:nvPr/>
        </p:nvSpPr>
        <p:spPr>
          <a:xfrm>
            <a:off x="4415505" y="357866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Tree>
    <p:extLst>
      <p:ext uri="{BB962C8B-B14F-4D97-AF65-F5344CB8AC3E}">
        <p14:creationId xmlns:p14="http://schemas.microsoft.com/office/powerpoint/2010/main" val="16866524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2655333" y="1385737"/>
            <a:ext cx="6156508" cy="1449296"/>
            <a:chOff x="1131333" y="1385737"/>
            <a:chExt cx="6156508" cy="1449296"/>
          </a:xfrm>
        </p:grpSpPr>
        <p:pic>
          <p:nvPicPr>
            <p:cNvPr id="2" name="Picture 1" descr="Screen Shot 2014-10-28 at 5.58.19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5756" y="1385737"/>
              <a:ext cx="1732085" cy="1449296"/>
            </a:xfrm>
            <a:prstGeom prst="rect">
              <a:avLst/>
            </a:prstGeom>
          </p:spPr>
        </p:pic>
        <p:sp>
          <p:nvSpPr>
            <p:cNvPr id="3" name="Rectangle 2"/>
            <p:cNvSpPr/>
            <p:nvPr/>
          </p:nvSpPr>
          <p:spPr>
            <a:xfrm>
              <a:off x="1131333" y="1886411"/>
              <a:ext cx="3269806" cy="646331"/>
            </a:xfrm>
            <a:prstGeom prst="rect">
              <a:avLst/>
            </a:prstGeom>
          </p:spPr>
          <p:txBody>
            <a:bodyPr wrap="none">
              <a:spAutoFit/>
            </a:bodyPr>
            <a:lstStyle/>
            <a:p>
              <a:r>
                <a:rPr lang="es-ES_tradnl" dirty="0">
                  <a:solidFill>
                    <a:schemeClr val="bg1">
                      <a:lumMod val="50000"/>
                    </a:schemeClr>
                  </a:solidFill>
                  <a:latin typeface="Gill Sans MT" panose="020B0502020104020203" pitchFamily="34" charset="77"/>
                  <a:cs typeface="Trebuchet MS"/>
                </a:rPr>
                <a:t>1) Lineal con separación perfecta
</a:t>
              </a:r>
            </a:p>
          </p:txBody>
        </p:sp>
      </p:grpSp>
      <p:grpSp>
        <p:nvGrpSpPr>
          <p:cNvPr id="6" name="Group 5"/>
          <p:cNvGrpSpPr/>
          <p:nvPr/>
        </p:nvGrpSpPr>
        <p:grpSpPr>
          <a:xfrm>
            <a:off x="2651429" y="3374709"/>
            <a:ext cx="6155606" cy="1449296"/>
            <a:chOff x="1131333" y="1385737"/>
            <a:chExt cx="6155606" cy="1449296"/>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6658" y="1385737"/>
              <a:ext cx="1730281" cy="1449296"/>
            </a:xfrm>
            <a:prstGeom prst="rect">
              <a:avLst/>
            </a:prstGeom>
          </p:spPr>
        </p:pic>
        <p:sp>
          <p:nvSpPr>
            <p:cNvPr id="8" name="Rectangle 7"/>
            <p:cNvSpPr/>
            <p:nvPr/>
          </p:nvSpPr>
          <p:spPr>
            <a:xfrm>
              <a:off x="1131333" y="1886411"/>
              <a:ext cx="3181640" cy="646331"/>
            </a:xfrm>
            <a:prstGeom prst="rect">
              <a:avLst/>
            </a:prstGeom>
          </p:spPr>
          <p:txBody>
            <a:bodyPr wrap="none">
              <a:spAutoFit/>
            </a:bodyPr>
            <a:lstStyle/>
            <a:p>
              <a:r>
                <a:rPr lang="es-ES_tradnl" dirty="0">
                  <a:latin typeface="Gill Sans MT" panose="020B0502020104020203" pitchFamily="34" charset="77"/>
                  <a:cs typeface="Trebuchet MS"/>
                </a:rPr>
                <a:t>2) Lineal sin separación perfecta</a:t>
              </a:r>
              <a:r>
                <a:rPr lang="es-ES_tradnl" dirty="0">
                  <a:solidFill>
                    <a:schemeClr val="bg1">
                      <a:lumMod val="50000"/>
                    </a:schemeClr>
                  </a:solidFill>
                  <a:latin typeface="Gill Sans MT" panose="020B0502020104020203" pitchFamily="34" charset="77"/>
                  <a:cs typeface="Trebuchet MS"/>
                </a:rPr>
                <a:t>
</a:t>
              </a:r>
            </a:p>
          </p:txBody>
        </p:sp>
      </p:grpSp>
      <p:grpSp>
        <p:nvGrpSpPr>
          <p:cNvPr id="9" name="Group 8"/>
          <p:cNvGrpSpPr/>
          <p:nvPr/>
        </p:nvGrpSpPr>
        <p:grpSpPr>
          <a:xfrm>
            <a:off x="2657295" y="5197608"/>
            <a:ext cx="6016655" cy="1449296"/>
            <a:chOff x="1131333" y="1385737"/>
            <a:chExt cx="6016655" cy="1449296"/>
          </a:xfrm>
        </p:grpSpPr>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5609" y="1385737"/>
              <a:ext cx="1452379" cy="1449296"/>
            </a:xfrm>
            <a:prstGeom prst="rect">
              <a:avLst/>
            </a:prstGeom>
          </p:spPr>
        </p:pic>
        <p:sp>
          <p:nvSpPr>
            <p:cNvPr id="11" name="Rectangle 10"/>
            <p:cNvSpPr/>
            <p:nvPr/>
          </p:nvSpPr>
          <p:spPr>
            <a:xfrm>
              <a:off x="1131333" y="1886411"/>
              <a:ext cx="1287532" cy="646331"/>
            </a:xfrm>
            <a:prstGeom prst="rect">
              <a:avLst/>
            </a:prstGeom>
          </p:spPr>
          <p:txBody>
            <a:bodyPr wrap="none">
              <a:spAutoFit/>
            </a:bodyPr>
            <a:lstStyle/>
            <a:p>
              <a:r>
                <a:rPr lang="es-ES_tradnl" dirty="0">
                  <a:solidFill>
                    <a:schemeClr val="bg1">
                      <a:lumMod val="50000"/>
                    </a:schemeClr>
                  </a:solidFill>
                  <a:latin typeface="Gill Sans MT" panose="020B0502020104020203" pitchFamily="34" charset="77"/>
                  <a:cs typeface="Trebuchet MS"/>
                </a:rPr>
                <a:t>3) No lineal
</a:t>
              </a:r>
            </a:p>
          </p:txBody>
        </p:sp>
      </p:grpSp>
      <p:sp>
        <p:nvSpPr>
          <p:cNvPr id="15" name="TextBox 14">
            <a:extLst>
              <a:ext uri="{FF2B5EF4-FFF2-40B4-BE49-F238E27FC236}">
                <a16:creationId xmlns:a16="http://schemas.microsoft.com/office/drawing/2014/main" id="{11BB7898-459B-9C45-9840-E1F3CF22D7D4}"/>
              </a:ext>
            </a:extLst>
          </p:cNvPr>
          <p:cNvSpPr txBox="1"/>
          <p:nvPr/>
        </p:nvSpPr>
        <p:spPr>
          <a:xfrm>
            <a:off x="2135561" y="764705"/>
            <a:ext cx="4911601"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Máquinas vectoriales de soporte
</a:t>
            </a:r>
          </a:p>
        </p:txBody>
      </p:sp>
      <p:sp>
        <p:nvSpPr>
          <p:cNvPr id="14" name="Rectangle 13">
            <a:extLst>
              <a:ext uri="{FF2B5EF4-FFF2-40B4-BE49-F238E27FC236}">
                <a16:creationId xmlns:a16="http://schemas.microsoft.com/office/drawing/2014/main" id="{3089CA90-90A3-1E4D-B8FE-2509553A1FB2}"/>
              </a:ext>
            </a:extLst>
          </p:cNvPr>
          <p:cNvSpPr/>
          <p:nvPr/>
        </p:nvSpPr>
        <p:spPr>
          <a:xfrm>
            <a:off x="6955693" y="1377464"/>
            <a:ext cx="1924539" cy="1533769"/>
          </a:xfrm>
          <a:prstGeom prst="rect">
            <a:avLst/>
          </a:prstGeom>
          <a:solidFill>
            <a:schemeClr val="bg1">
              <a:alpha val="8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6" name="Rectangle 15">
            <a:extLst>
              <a:ext uri="{FF2B5EF4-FFF2-40B4-BE49-F238E27FC236}">
                <a16:creationId xmlns:a16="http://schemas.microsoft.com/office/drawing/2014/main" id="{786DFA4A-DD85-1A49-B0C8-BC4232475427}"/>
              </a:ext>
            </a:extLst>
          </p:cNvPr>
          <p:cNvSpPr/>
          <p:nvPr/>
        </p:nvSpPr>
        <p:spPr>
          <a:xfrm>
            <a:off x="7014308" y="5128847"/>
            <a:ext cx="1924539" cy="1533769"/>
          </a:xfrm>
          <a:prstGeom prst="rect">
            <a:avLst/>
          </a:prstGeom>
          <a:solidFill>
            <a:schemeClr val="bg1">
              <a:alpha val="8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Tree>
    <p:extLst>
      <p:ext uri="{BB962C8B-B14F-4D97-AF65-F5344CB8AC3E}">
        <p14:creationId xmlns:p14="http://schemas.microsoft.com/office/powerpoint/2010/main" val="537800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73E34-0973-A6AB-F9D3-C538803CDCAC}"/>
            </a:ext>
          </a:extLst>
        </p:cNvPr>
        <p:cNvGrpSpPr/>
        <p:nvPr/>
      </p:nvGrpSpPr>
      <p:grpSpPr>
        <a:xfrm>
          <a:off x="0" y="0"/>
          <a:ext cx="0" cy="0"/>
          <a:chOff x="0" y="0"/>
          <a:chExt cx="0" cy="0"/>
        </a:xfrm>
      </p:grpSpPr>
      <p:cxnSp>
        <p:nvCxnSpPr>
          <p:cNvPr id="48" name="Straight Connector 47">
            <a:extLst>
              <a:ext uri="{FF2B5EF4-FFF2-40B4-BE49-F238E27FC236}">
                <a16:creationId xmlns:a16="http://schemas.microsoft.com/office/drawing/2014/main" id="{22F90FCE-7D84-DD8E-22C3-127D3395D97E}"/>
              </a:ext>
            </a:extLst>
          </p:cNvPr>
          <p:cNvCxnSpPr/>
          <p:nvPr/>
        </p:nvCxnSpPr>
        <p:spPr>
          <a:xfrm rot="20987970">
            <a:off x="4119776" y="227177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grpSp>
        <p:nvGrpSpPr>
          <p:cNvPr id="61" name="Group 60">
            <a:extLst>
              <a:ext uri="{FF2B5EF4-FFF2-40B4-BE49-F238E27FC236}">
                <a16:creationId xmlns:a16="http://schemas.microsoft.com/office/drawing/2014/main" id="{A4CBBE76-4A5A-338F-FCB2-FD904D49C658}"/>
              </a:ext>
            </a:extLst>
          </p:cNvPr>
          <p:cNvGrpSpPr/>
          <p:nvPr/>
        </p:nvGrpSpPr>
        <p:grpSpPr>
          <a:xfrm>
            <a:off x="4539654" y="3634153"/>
            <a:ext cx="1440160" cy="1800200"/>
            <a:chOff x="2888654" y="3429000"/>
            <a:chExt cx="1440160" cy="1800200"/>
          </a:xfrm>
        </p:grpSpPr>
        <p:sp>
          <p:nvSpPr>
            <p:cNvPr id="81" name="Oval 80">
              <a:extLst>
                <a:ext uri="{FF2B5EF4-FFF2-40B4-BE49-F238E27FC236}">
                  <a16:creationId xmlns:a16="http://schemas.microsoft.com/office/drawing/2014/main" id="{897266C9-DB1A-EB40-B309-678576A298B6}"/>
                </a:ext>
              </a:extLst>
            </p:cNvPr>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6" name="Oval 85">
              <a:extLst>
                <a:ext uri="{FF2B5EF4-FFF2-40B4-BE49-F238E27FC236}">
                  <a16:creationId xmlns:a16="http://schemas.microsoft.com/office/drawing/2014/main" id="{B0629558-28C3-7465-5891-5FE38F0E0F49}"/>
                </a:ext>
              </a:extLst>
            </p:cNvPr>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3" name="Oval 92">
              <a:extLst>
                <a:ext uri="{FF2B5EF4-FFF2-40B4-BE49-F238E27FC236}">
                  <a16:creationId xmlns:a16="http://schemas.microsoft.com/office/drawing/2014/main" id="{799E1B5F-6AA5-FB97-B569-8AFDDB2A0B29}"/>
                </a:ext>
              </a:extLst>
            </p:cNvPr>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4" name="Oval 93">
              <a:extLst>
                <a:ext uri="{FF2B5EF4-FFF2-40B4-BE49-F238E27FC236}">
                  <a16:creationId xmlns:a16="http://schemas.microsoft.com/office/drawing/2014/main" id="{82C34F28-20CE-0192-B819-AE661591CCE7}"/>
                </a:ext>
              </a:extLst>
            </p:cNvPr>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5" name="Oval 94">
              <a:extLst>
                <a:ext uri="{FF2B5EF4-FFF2-40B4-BE49-F238E27FC236}">
                  <a16:creationId xmlns:a16="http://schemas.microsoft.com/office/drawing/2014/main" id="{93DAA72C-4127-3DFE-03C6-A22B8DF189A3}"/>
                </a:ext>
              </a:extLst>
            </p:cNvPr>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6" name="Oval 95">
              <a:extLst>
                <a:ext uri="{FF2B5EF4-FFF2-40B4-BE49-F238E27FC236}">
                  <a16:creationId xmlns:a16="http://schemas.microsoft.com/office/drawing/2014/main" id="{83E6AA51-D891-56D7-93CA-331BC9CB4F57}"/>
                </a:ext>
              </a:extLst>
            </p:cNvPr>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7" name="Oval 96">
              <a:extLst>
                <a:ext uri="{FF2B5EF4-FFF2-40B4-BE49-F238E27FC236}">
                  <a16:creationId xmlns:a16="http://schemas.microsoft.com/office/drawing/2014/main" id="{25A2C6AF-FA77-2884-8618-BB2359E5B821}"/>
                </a:ext>
              </a:extLst>
            </p:cNvPr>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8" name="Oval 97">
              <a:extLst>
                <a:ext uri="{FF2B5EF4-FFF2-40B4-BE49-F238E27FC236}">
                  <a16:creationId xmlns:a16="http://schemas.microsoft.com/office/drawing/2014/main" id="{C633B9EF-BF81-597D-533B-3592634C782E}"/>
                </a:ext>
              </a:extLst>
            </p:cNvPr>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9" name="Oval 98">
              <a:extLst>
                <a:ext uri="{FF2B5EF4-FFF2-40B4-BE49-F238E27FC236}">
                  <a16:creationId xmlns:a16="http://schemas.microsoft.com/office/drawing/2014/main" id="{85BA830B-0FC2-FC68-878B-A4E76606AE42}"/>
                </a:ext>
              </a:extLst>
            </p:cNvPr>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0" name="Oval 99">
              <a:extLst>
                <a:ext uri="{FF2B5EF4-FFF2-40B4-BE49-F238E27FC236}">
                  <a16:creationId xmlns:a16="http://schemas.microsoft.com/office/drawing/2014/main" id="{4915BAD5-701C-F897-3F53-36B1D5A7FBE3}"/>
                </a:ext>
              </a:extLst>
            </p:cNvPr>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1" name="Oval 100">
              <a:extLst>
                <a:ext uri="{FF2B5EF4-FFF2-40B4-BE49-F238E27FC236}">
                  <a16:creationId xmlns:a16="http://schemas.microsoft.com/office/drawing/2014/main" id="{AB13FE0C-7C23-95C8-ED7D-6C472128BD2B}"/>
                </a:ext>
              </a:extLst>
            </p:cNvPr>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2" name="Oval 101">
              <a:extLst>
                <a:ext uri="{FF2B5EF4-FFF2-40B4-BE49-F238E27FC236}">
                  <a16:creationId xmlns:a16="http://schemas.microsoft.com/office/drawing/2014/main" id="{EC7AC4CF-CE79-E902-14C4-C9C72C33F379}"/>
                </a:ext>
              </a:extLst>
            </p:cNvPr>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3" name="Oval 102">
              <a:extLst>
                <a:ext uri="{FF2B5EF4-FFF2-40B4-BE49-F238E27FC236}">
                  <a16:creationId xmlns:a16="http://schemas.microsoft.com/office/drawing/2014/main" id="{BF8612CC-CF9A-9920-335F-9BCA02D44840}"/>
                </a:ext>
              </a:extLst>
            </p:cNvPr>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4" name="Oval 103">
              <a:extLst>
                <a:ext uri="{FF2B5EF4-FFF2-40B4-BE49-F238E27FC236}">
                  <a16:creationId xmlns:a16="http://schemas.microsoft.com/office/drawing/2014/main" id="{3A99C393-9693-5B25-7AA6-0A3296D46297}"/>
                </a:ext>
              </a:extLst>
            </p:cNvPr>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5" name="Oval 104">
              <a:extLst>
                <a:ext uri="{FF2B5EF4-FFF2-40B4-BE49-F238E27FC236}">
                  <a16:creationId xmlns:a16="http://schemas.microsoft.com/office/drawing/2014/main" id="{D18E7E1F-FD76-4B88-E150-C3806872B4F9}"/>
                </a:ext>
              </a:extLst>
            </p:cNvPr>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6" name="Oval 105">
              <a:extLst>
                <a:ext uri="{FF2B5EF4-FFF2-40B4-BE49-F238E27FC236}">
                  <a16:creationId xmlns:a16="http://schemas.microsoft.com/office/drawing/2014/main" id="{4ECA1D66-FAEC-4699-D8AC-DB515A9ABB21}"/>
                </a:ext>
              </a:extLst>
            </p:cNvPr>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7" name="Oval 106">
              <a:extLst>
                <a:ext uri="{FF2B5EF4-FFF2-40B4-BE49-F238E27FC236}">
                  <a16:creationId xmlns:a16="http://schemas.microsoft.com/office/drawing/2014/main" id="{03C1BF61-0D55-9DF0-9C03-903D463311BB}"/>
                </a:ext>
              </a:extLst>
            </p:cNvPr>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8" name="Oval 107">
              <a:extLst>
                <a:ext uri="{FF2B5EF4-FFF2-40B4-BE49-F238E27FC236}">
                  <a16:creationId xmlns:a16="http://schemas.microsoft.com/office/drawing/2014/main" id="{4DA91A82-60DF-88BA-22DF-3C6B1F0619E3}"/>
                </a:ext>
              </a:extLst>
            </p:cNvPr>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109" name="Group 108">
            <a:extLst>
              <a:ext uri="{FF2B5EF4-FFF2-40B4-BE49-F238E27FC236}">
                <a16:creationId xmlns:a16="http://schemas.microsoft.com/office/drawing/2014/main" id="{EE956EC2-3E0B-31F9-0241-6F760D4CCBAE}"/>
              </a:ext>
            </a:extLst>
          </p:cNvPr>
          <p:cNvGrpSpPr/>
          <p:nvPr/>
        </p:nvGrpSpPr>
        <p:grpSpPr>
          <a:xfrm rot="2553764">
            <a:off x="5409494" y="2625234"/>
            <a:ext cx="1922676" cy="1440160"/>
            <a:chOff x="4299707" y="3005336"/>
            <a:chExt cx="1922676" cy="1440160"/>
          </a:xfrm>
          <a:solidFill>
            <a:srgbClr val="0000FF"/>
          </a:solidFill>
        </p:grpSpPr>
        <p:sp>
          <p:nvSpPr>
            <p:cNvPr id="110" name="Oval 109">
              <a:extLst>
                <a:ext uri="{FF2B5EF4-FFF2-40B4-BE49-F238E27FC236}">
                  <a16:creationId xmlns:a16="http://schemas.microsoft.com/office/drawing/2014/main" id="{3FFC1914-9E3A-E72F-4916-73AA83F0254B}"/>
                </a:ext>
              </a:extLst>
            </p:cNvPr>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1" name="Oval 110">
              <a:extLst>
                <a:ext uri="{FF2B5EF4-FFF2-40B4-BE49-F238E27FC236}">
                  <a16:creationId xmlns:a16="http://schemas.microsoft.com/office/drawing/2014/main" id="{EE204D95-9D80-712D-F6D5-2DC7EF0938FE}"/>
                </a:ext>
              </a:extLst>
            </p:cNvPr>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2" name="Oval 111">
              <a:extLst>
                <a:ext uri="{FF2B5EF4-FFF2-40B4-BE49-F238E27FC236}">
                  <a16:creationId xmlns:a16="http://schemas.microsoft.com/office/drawing/2014/main" id="{D8A63260-A56A-EB11-78EC-515060DC4E2A}"/>
                </a:ext>
              </a:extLst>
            </p:cNvPr>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3" name="Oval 112">
              <a:extLst>
                <a:ext uri="{FF2B5EF4-FFF2-40B4-BE49-F238E27FC236}">
                  <a16:creationId xmlns:a16="http://schemas.microsoft.com/office/drawing/2014/main" id="{084F5C62-1942-BC69-41F7-E2D375DEAF83}"/>
                </a:ext>
              </a:extLst>
            </p:cNvPr>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4" name="Oval 113">
              <a:extLst>
                <a:ext uri="{FF2B5EF4-FFF2-40B4-BE49-F238E27FC236}">
                  <a16:creationId xmlns:a16="http://schemas.microsoft.com/office/drawing/2014/main" id="{43EC261B-5407-678A-D32B-8DFF3B9DD959}"/>
                </a:ext>
              </a:extLst>
            </p:cNvPr>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5" name="Oval 114">
              <a:extLst>
                <a:ext uri="{FF2B5EF4-FFF2-40B4-BE49-F238E27FC236}">
                  <a16:creationId xmlns:a16="http://schemas.microsoft.com/office/drawing/2014/main" id="{C184C326-2969-53CF-B787-86DEB03A2168}"/>
                </a:ext>
              </a:extLst>
            </p:cNvPr>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6" name="Oval 115">
              <a:extLst>
                <a:ext uri="{FF2B5EF4-FFF2-40B4-BE49-F238E27FC236}">
                  <a16:creationId xmlns:a16="http://schemas.microsoft.com/office/drawing/2014/main" id="{F9133719-6EA6-46B3-98FE-7BF564D4C543}"/>
                </a:ext>
              </a:extLst>
            </p:cNvPr>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7" name="Oval 116">
              <a:extLst>
                <a:ext uri="{FF2B5EF4-FFF2-40B4-BE49-F238E27FC236}">
                  <a16:creationId xmlns:a16="http://schemas.microsoft.com/office/drawing/2014/main" id="{A5CF0AE4-0DEB-76C6-B317-19517FAA283C}"/>
                </a:ext>
              </a:extLst>
            </p:cNvPr>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8" name="Oval 117">
              <a:extLst>
                <a:ext uri="{FF2B5EF4-FFF2-40B4-BE49-F238E27FC236}">
                  <a16:creationId xmlns:a16="http://schemas.microsoft.com/office/drawing/2014/main" id="{D546E99B-1092-139F-2C11-E596163AF47B}"/>
                </a:ext>
              </a:extLst>
            </p:cNvPr>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9" name="Oval 118">
              <a:extLst>
                <a:ext uri="{FF2B5EF4-FFF2-40B4-BE49-F238E27FC236}">
                  <a16:creationId xmlns:a16="http://schemas.microsoft.com/office/drawing/2014/main" id="{2805E4D8-B49C-1615-A7EE-074FEFC9CD15}"/>
                </a:ext>
              </a:extLst>
            </p:cNvPr>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0" name="Oval 119">
              <a:extLst>
                <a:ext uri="{FF2B5EF4-FFF2-40B4-BE49-F238E27FC236}">
                  <a16:creationId xmlns:a16="http://schemas.microsoft.com/office/drawing/2014/main" id="{C8AE9331-CE33-4D31-0C23-CF5A68669E03}"/>
                </a:ext>
              </a:extLst>
            </p:cNvPr>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1" name="Oval 120">
              <a:extLst>
                <a:ext uri="{FF2B5EF4-FFF2-40B4-BE49-F238E27FC236}">
                  <a16:creationId xmlns:a16="http://schemas.microsoft.com/office/drawing/2014/main" id="{EDED1DAD-EDD0-9AED-F3DD-3771ABD4E4EB}"/>
                </a:ext>
              </a:extLst>
            </p:cNvPr>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2" name="Oval 121">
              <a:extLst>
                <a:ext uri="{FF2B5EF4-FFF2-40B4-BE49-F238E27FC236}">
                  <a16:creationId xmlns:a16="http://schemas.microsoft.com/office/drawing/2014/main" id="{F0AC783A-E369-181A-5602-D0CB83820245}"/>
                </a:ext>
              </a:extLst>
            </p:cNvPr>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3" name="Oval 122">
              <a:extLst>
                <a:ext uri="{FF2B5EF4-FFF2-40B4-BE49-F238E27FC236}">
                  <a16:creationId xmlns:a16="http://schemas.microsoft.com/office/drawing/2014/main" id="{200540A4-229F-9A4B-C8EA-4B3D1D0EDDA5}"/>
                </a:ext>
              </a:extLst>
            </p:cNvPr>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4" name="Oval 123">
              <a:extLst>
                <a:ext uri="{FF2B5EF4-FFF2-40B4-BE49-F238E27FC236}">
                  <a16:creationId xmlns:a16="http://schemas.microsoft.com/office/drawing/2014/main" id="{439614DF-3ECA-8434-4637-C0AA872B13B2}"/>
                </a:ext>
              </a:extLst>
            </p:cNvPr>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5" name="Oval 124">
              <a:extLst>
                <a:ext uri="{FF2B5EF4-FFF2-40B4-BE49-F238E27FC236}">
                  <a16:creationId xmlns:a16="http://schemas.microsoft.com/office/drawing/2014/main" id="{ED13AA1C-16AE-13D2-CF9E-6BDF4E7750C3}"/>
                </a:ext>
              </a:extLst>
            </p:cNvPr>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6" name="Oval 125">
              <a:extLst>
                <a:ext uri="{FF2B5EF4-FFF2-40B4-BE49-F238E27FC236}">
                  <a16:creationId xmlns:a16="http://schemas.microsoft.com/office/drawing/2014/main" id="{FD373803-6606-3B00-0B25-5ABE87281E43}"/>
                </a:ext>
              </a:extLst>
            </p:cNvPr>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7" name="Oval 126">
              <a:extLst>
                <a:ext uri="{FF2B5EF4-FFF2-40B4-BE49-F238E27FC236}">
                  <a16:creationId xmlns:a16="http://schemas.microsoft.com/office/drawing/2014/main" id="{4E4153EC-AC62-2FA9-5297-BB2C96A24345}"/>
                </a:ext>
              </a:extLst>
            </p:cNvPr>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45" name="TextBox 44">
            <a:extLst>
              <a:ext uri="{FF2B5EF4-FFF2-40B4-BE49-F238E27FC236}">
                <a16:creationId xmlns:a16="http://schemas.microsoft.com/office/drawing/2014/main" id="{E1C25363-177A-E321-C789-F3E5A54B117E}"/>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46" name="TextBox 45">
            <a:extLst>
              <a:ext uri="{FF2B5EF4-FFF2-40B4-BE49-F238E27FC236}">
                <a16:creationId xmlns:a16="http://schemas.microsoft.com/office/drawing/2014/main" id="{953B336E-028F-D3BE-4377-256C1BF3D3AA}"/>
              </a:ext>
            </a:extLst>
          </p:cNvPr>
          <p:cNvSpPr txBox="1"/>
          <p:nvPr/>
        </p:nvSpPr>
        <p:spPr>
          <a:xfrm>
            <a:off x="2075943" y="1532236"/>
            <a:ext cx="3166235" cy="1077218"/>
          </a:xfrm>
          <a:prstGeom prst="rect">
            <a:avLst/>
          </a:prstGeom>
          <a:noFill/>
        </p:spPr>
        <p:txBody>
          <a:bodyPr wrap="square" rtlCol="0">
            <a:spAutoFit/>
          </a:bodyPr>
          <a:lstStyle/>
          <a:p>
            <a:r>
              <a:rPr lang="es-ES_tradnl" sz="1600" dirty="0">
                <a:solidFill>
                  <a:schemeClr val="tx1">
                    <a:lumMod val="65000"/>
                    <a:lumOff val="35000"/>
                  </a:schemeClr>
                </a:solidFill>
                <a:latin typeface="Gill Sans MT" panose="020B0502020104020203" pitchFamily="34" charset="77"/>
                <a:cs typeface="Trebuchet MS"/>
              </a:rPr>
              <a:t>¿Cómo definir la línea de decisión cuando no hay una separación perfecta?
</a:t>
            </a:r>
          </a:p>
        </p:txBody>
      </p:sp>
    </p:spTree>
    <p:extLst>
      <p:ext uri="{BB962C8B-B14F-4D97-AF65-F5344CB8AC3E}">
        <p14:creationId xmlns:p14="http://schemas.microsoft.com/office/powerpoint/2010/main" val="3609249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Group 60"/>
          <p:cNvGrpSpPr/>
          <p:nvPr/>
        </p:nvGrpSpPr>
        <p:grpSpPr>
          <a:xfrm>
            <a:off x="4848803" y="3308275"/>
            <a:ext cx="1440160" cy="1800200"/>
            <a:chOff x="2888654" y="3429000"/>
            <a:chExt cx="1440160" cy="1800200"/>
          </a:xfrm>
          <a:solidFill>
            <a:srgbClr val="FF0000"/>
          </a:solidFill>
        </p:grpSpPr>
        <p:sp>
          <p:nvSpPr>
            <p:cNvPr id="81" name="Oval 80"/>
            <p:cNvSpPr/>
            <p:nvPr/>
          </p:nvSpPr>
          <p:spPr>
            <a:xfrm>
              <a:off x="3032670" y="34290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6" name="Oval 85"/>
            <p:cNvSpPr/>
            <p:nvPr/>
          </p:nvSpPr>
          <p:spPr>
            <a:xfrm>
              <a:off x="2960662" y="400506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3" name="Oval 92"/>
            <p:cNvSpPr/>
            <p:nvPr/>
          </p:nvSpPr>
          <p:spPr>
            <a:xfrm>
              <a:off x="2888654" y="371703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4" name="Oval 93"/>
            <p:cNvSpPr/>
            <p:nvPr/>
          </p:nvSpPr>
          <p:spPr>
            <a:xfrm>
              <a:off x="3220487" y="4067623"/>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5" name="Oval 94"/>
            <p:cNvSpPr/>
            <p:nvPr/>
          </p:nvSpPr>
          <p:spPr>
            <a:xfrm>
              <a:off x="3248694" y="43651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6" name="Oval 95"/>
            <p:cNvSpPr/>
            <p:nvPr/>
          </p:nvSpPr>
          <p:spPr>
            <a:xfrm>
              <a:off x="3392710" y="386104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7" name="Oval 96"/>
            <p:cNvSpPr/>
            <p:nvPr/>
          </p:nvSpPr>
          <p:spPr>
            <a:xfrm>
              <a:off x="3752750" y="40770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8" name="Oval 97"/>
            <p:cNvSpPr/>
            <p:nvPr/>
          </p:nvSpPr>
          <p:spPr>
            <a:xfrm>
              <a:off x="3680742" y="46531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9" name="Oval 98"/>
            <p:cNvSpPr/>
            <p:nvPr/>
          </p:nvSpPr>
          <p:spPr>
            <a:xfrm>
              <a:off x="3608734" y="43651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0" name="Oval 99"/>
            <p:cNvSpPr/>
            <p:nvPr/>
          </p:nvSpPr>
          <p:spPr>
            <a:xfrm>
              <a:off x="4087108" y="4197925"/>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1" name="Oval 100"/>
            <p:cNvSpPr/>
            <p:nvPr/>
          </p:nvSpPr>
          <p:spPr>
            <a:xfrm>
              <a:off x="3968774" y="501317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2" name="Oval 101"/>
            <p:cNvSpPr/>
            <p:nvPr/>
          </p:nvSpPr>
          <p:spPr>
            <a:xfrm>
              <a:off x="4112790" y="450912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3" name="Oval 102"/>
            <p:cNvSpPr/>
            <p:nvPr/>
          </p:nvSpPr>
          <p:spPr>
            <a:xfrm>
              <a:off x="3176686" y="371703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4" name="Oval 103"/>
            <p:cNvSpPr/>
            <p:nvPr/>
          </p:nvSpPr>
          <p:spPr>
            <a:xfrm>
              <a:off x="2960662" y="46531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5" name="Oval 104"/>
            <p:cNvSpPr/>
            <p:nvPr/>
          </p:nvSpPr>
          <p:spPr>
            <a:xfrm>
              <a:off x="2888654" y="43651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6" name="Oval 105"/>
            <p:cNvSpPr/>
            <p:nvPr/>
          </p:nvSpPr>
          <p:spPr>
            <a:xfrm>
              <a:off x="3464718" y="414908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7" name="Oval 106"/>
            <p:cNvSpPr/>
            <p:nvPr/>
          </p:nvSpPr>
          <p:spPr>
            <a:xfrm>
              <a:off x="3248694" y="501317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8" name="Oval 107"/>
            <p:cNvSpPr/>
            <p:nvPr/>
          </p:nvSpPr>
          <p:spPr>
            <a:xfrm>
              <a:off x="3392710" y="47251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109" name="Group 108"/>
          <p:cNvGrpSpPr/>
          <p:nvPr/>
        </p:nvGrpSpPr>
        <p:grpSpPr>
          <a:xfrm rot="2553764">
            <a:off x="5041858" y="3043029"/>
            <a:ext cx="1922676" cy="1440160"/>
            <a:chOff x="4299707" y="3005336"/>
            <a:chExt cx="1922676" cy="1440160"/>
          </a:xfrm>
          <a:solidFill>
            <a:srgbClr val="0000FF"/>
          </a:solidFill>
        </p:grpSpPr>
        <p:sp>
          <p:nvSpPr>
            <p:cNvPr id="118" name="Oval 117"/>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0" name="Oval 109"/>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1" name="Oval 110"/>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2" name="Oval 111"/>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3" name="Oval 112"/>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4" name="Oval 113"/>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5" name="Oval 114"/>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6" name="Oval 115"/>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7" name="Oval 116"/>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9" name="Oval 118"/>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0" name="Oval 119"/>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1" name="Oval 120"/>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2" name="Oval 121"/>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3" name="Oval 122"/>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4" name="Oval 123"/>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5" name="Oval 124"/>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6" name="Oval 125"/>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7" name="Oval 126"/>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43" name="TextBox 42"/>
          <p:cNvSpPr txBox="1"/>
          <p:nvPr/>
        </p:nvSpPr>
        <p:spPr>
          <a:xfrm>
            <a:off x="7417195" y="1513037"/>
            <a:ext cx="3309808" cy="830997"/>
          </a:xfrm>
          <a:prstGeom prst="rect">
            <a:avLst/>
          </a:prstGeom>
          <a:noFill/>
        </p:spPr>
        <p:txBody>
          <a:bodyPr wrap="square" rtlCol="0">
            <a:spAutoFit/>
          </a:bodyPr>
          <a:lstStyle/>
          <a:p>
            <a:r>
              <a:rPr lang="es-ES_tradnl" sz="1600" dirty="0">
                <a:solidFill>
                  <a:schemeClr val="tx1">
                    <a:lumMod val="65000"/>
                    <a:lumOff val="35000"/>
                  </a:schemeClr>
                </a:solidFill>
                <a:latin typeface="Gill Sans MT" panose="020B0502020104020203" pitchFamily="34" charset="77"/>
                <a:cs typeface="Trebuchet MS"/>
              </a:rPr>
              <a:t>Consideramos sólo las muestras clasificadas erróneamente
</a:t>
            </a:r>
          </a:p>
        </p:txBody>
      </p:sp>
      <p:sp>
        <p:nvSpPr>
          <p:cNvPr id="46" name="TextBox 45">
            <a:extLst>
              <a:ext uri="{FF2B5EF4-FFF2-40B4-BE49-F238E27FC236}">
                <a16:creationId xmlns:a16="http://schemas.microsoft.com/office/drawing/2014/main" id="{FF8DD366-54A2-D341-A033-F8F450B83A98}"/>
              </a:ext>
            </a:extLst>
          </p:cNvPr>
          <p:cNvSpPr txBox="1"/>
          <p:nvPr/>
        </p:nvSpPr>
        <p:spPr>
          <a:xfrm>
            <a:off x="2135560" y="764705"/>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47" name="TextBox 46">
            <a:extLst>
              <a:ext uri="{FF2B5EF4-FFF2-40B4-BE49-F238E27FC236}">
                <a16:creationId xmlns:a16="http://schemas.microsoft.com/office/drawing/2014/main" id="{F8AC4726-B93E-B546-B2DB-B76B65D6453A}"/>
              </a:ext>
            </a:extLst>
          </p:cNvPr>
          <p:cNvSpPr txBox="1"/>
          <p:nvPr/>
        </p:nvSpPr>
        <p:spPr>
          <a:xfrm>
            <a:off x="2075943" y="1532236"/>
            <a:ext cx="3166235" cy="1077218"/>
          </a:xfrm>
          <a:prstGeom prst="rect">
            <a:avLst/>
          </a:prstGeom>
          <a:noFill/>
        </p:spPr>
        <p:txBody>
          <a:bodyPr wrap="square" rtlCol="0">
            <a:spAutoFit/>
          </a:bodyPr>
          <a:lstStyle/>
          <a:p>
            <a:r>
              <a:rPr lang="es-ES_tradnl" sz="1600" dirty="0">
                <a:solidFill>
                  <a:schemeClr val="tx1">
                    <a:lumMod val="65000"/>
                    <a:lumOff val="35000"/>
                  </a:schemeClr>
                </a:solidFill>
                <a:latin typeface="Gill Sans MT" panose="020B0502020104020203" pitchFamily="34" charset="77"/>
                <a:cs typeface="Trebuchet MS"/>
              </a:rPr>
              <a:t>¿Cómo definir la línea de decisión cuando no hay una separación perfecta?
</a:t>
            </a:r>
          </a:p>
        </p:txBody>
      </p:sp>
      <p:cxnSp>
        <p:nvCxnSpPr>
          <p:cNvPr id="2" name="Straight Connector 1">
            <a:extLst>
              <a:ext uri="{FF2B5EF4-FFF2-40B4-BE49-F238E27FC236}">
                <a16:creationId xmlns:a16="http://schemas.microsoft.com/office/drawing/2014/main" id="{BF0E3C13-AA56-F9E8-7518-EC656000A538}"/>
              </a:ext>
            </a:extLst>
          </p:cNvPr>
          <p:cNvCxnSpPr/>
          <p:nvPr/>
        </p:nvCxnSpPr>
        <p:spPr>
          <a:xfrm rot="20987970">
            <a:off x="4119776" y="227177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92070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nodeType="afterEffect">
                                  <p:stCondLst>
                                    <p:cond delay="0"/>
                                  </p:stCondLst>
                                  <p:childTnLst>
                                    <p:animRot by="120000">
                                      <p:cBhvr>
                                        <p:cTn id="6" dur="100" fill="hold">
                                          <p:stCondLst>
                                            <p:cond delay="0"/>
                                          </p:stCondLst>
                                        </p:cTn>
                                        <p:tgtEl>
                                          <p:spTgt spid="2"/>
                                        </p:tgtEl>
                                        <p:attrNameLst>
                                          <p:attrName>r</p:attrName>
                                        </p:attrNameLst>
                                      </p:cBhvr>
                                    </p:animRot>
                                    <p:animRot by="-240000">
                                      <p:cBhvr>
                                        <p:cTn id="7" dur="200" fill="hold">
                                          <p:stCondLst>
                                            <p:cond delay="200"/>
                                          </p:stCondLst>
                                        </p:cTn>
                                        <p:tgtEl>
                                          <p:spTgt spid="2"/>
                                        </p:tgtEl>
                                        <p:attrNameLst>
                                          <p:attrName>r</p:attrName>
                                        </p:attrNameLst>
                                      </p:cBhvr>
                                    </p:animRot>
                                    <p:animRot by="240000">
                                      <p:cBhvr>
                                        <p:cTn id="8" dur="200" fill="hold">
                                          <p:stCondLst>
                                            <p:cond delay="400"/>
                                          </p:stCondLst>
                                        </p:cTn>
                                        <p:tgtEl>
                                          <p:spTgt spid="2"/>
                                        </p:tgtEl>
                                        <p:attrNameLst>
                                          <p:attrName>r</p:attrName>
                                        </p:attrNameLst>
                                      </p:cBhvr>
                                    </p:animRot>
                                    <p:animRot by="-240000">
                                      <p:cBhvr>
                                        <p:cTn id="9" dur="200" fill="hold">
                                          <p:stCondLst>
                                            <p:cond delay="600"/>
                                          </p:stCondLst>
                                        </p:cTn>
                                        <p:tgtEl>
                                          <p:spTgt spid="2"/>
                                        </p:tgtEl>
                                        <p:attrNameLst>
                                          <p:attrName>r</p:attrName>
                                        </p:attrNameLst>
                                      </p:cBhvr>
                                    </p:animRot>
                                    <p:animRot by="120000">
                                      <p:cBhvr>
                                        <p:cTn id="10" dur="200" fill="hold">
                                          <p:stCondLst>
                                            <p:cond delay="8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Connector 47"/>
          <p:cNvCxnSpPr/>
          <p:nvPr/>
        </p:nvCxnSpPr>
        <p:spPr>
          <a:xfrm rot="20987970">
            <a:off x="4119776" y="227177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grpSp>
        <p:nvGrpSpPr>
          <p:cNvPr id="61" name="Group 60"/>
          <p:cNvGrpSpPr/>
          <p:nvPr/>
        </p:nvGrpSpPr>
        <p:grpSpPr>
          <a:xfrm>
            <a:off x="4848803" y="3308275"/>
            <a:ext cx="1440160" cy="1800200"/>
            <a:chOff x="2888654" y="3429000"/>
            <a:chExt cx="1440160" cy="1800200"/>
          </a:xfrm>
          <a:solidFill>
            <a:srgbClr val="FFC7FF"/>
          </a:solidFill>
        </p:grpSpPr>
        <p:sp>
          <p:nvSpPr>
            <p:cNvPr id="81" name="Oval 80"/>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6" name="Oval 85"/>
            <p:cNvSpPr/>
            <p:nvPr/>
          </p:nvSpPr>
          <p:spPr>
            <a:xfrm>
              <a:off x="2960662" y="400506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3" name="Oval 92"/>
            <p:cNvSpPr/>
            <p:nvPr/>
          </p:nvSpPr>
          <p:spPr>
            <a:xfrm>
              <a:off x="2888654" y="371703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4" name="Oval 93"/>
            <p:cNvSpPr/>
            <p:nvPr/>
          </p:nvSpPr>
          <p:spPr>
            <a:xfrm>
              <a:off x="3220487" y="4067623"/>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5" name="Oval 94"/>
            <p:cNvSpPr/>
            <p:nvPr/>
          </p:nvSpPr>
          <p:spPr>
            <a:xfrm>
              <a:off x="3248694" y="43651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6" name="Oval 95"/>
            <p:cNvSpPr/>
            <p:nvPr/>
          </p:nvSpPr>
          <p:spPr>
            <a:xfrm>
              <a:off x="3392710" y="386104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7" name="Oval 96"/>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8" name="Oval 97"/>
            <p:cNvSpPr/>
            <p:nvPr/>
          </p:nvSpPr>
          <p:spPr>
            <a:xfrm>
              <a:off x="3680742" y="46531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9" name="Oval 98"/>
            <p:cNvSpPr/>
            <p:nvPr/>
          </p:nvSpPr>
          <p:spPr>
            <a:xfrm>
              <a:off x="3608734" y="43651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0" name="Oval 99"/>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1" name="Oval 100"/>
            <p:cNvSpPr/>
            <p:nvPr/>
          </p:nvSpPr>
          <p:spPr>
            <a:xfrm>
              <a:off x="3968774" y="501317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2" name="Oval 101"/>
            <p:cNvSpPr/>
            <p:nvPr/>
          </p:nvSpPr>
          <p:spPr>
            <a:xfrm>
              <a:off x="4112790" y="450912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3" name="Oval 102"/>
            <p:cNvSpPr/>
            <p:nvPr/>
          </p:nvSpPr>
          <p:spPr>
            <a:xfrm>
              <a:off x="3176686" y="371703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4" name="Oval 103"/>
            <p:cNvSpPr/>
            <p:nvPr/>
          </p:nvSpPr>
          <p:spPr>
            <a:xfrm>
              <a:off x="2960662" y="46531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5" name="Oval 104"/>
            <p:cNvSpPr/>
            <p:nvPr/>
          </p:nvSpPr>
          <p:spPr>
            <a:xfrm>
              <a:off x="2888654" y="43651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6" name="Oval 105"/>
            <p:cNvSpPr/>
            <p:nvPr/>
          </p:nvSpPr>
          <p:spPr>
            <a:xfrm>
              <a:off x="3464718" y="414908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7" name="Oval 106"/>
            <p:cNvSpPr/>
            <p:nvPr/>
          </p:nvSpPr>
          <p:spPr>
            <a:xfrm>
              <a:off x="3248694" y="501317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8" name="Oval 107"/>
            <p:cNvSpPr/>
            <p:nvPr/>
          </p:nvSpPr>
          <p:spPr>
            <a:xfrm>
              <a:off x="3392710" y="47251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109" name="Group 108"/>
          <p:cNvGrpSpPr/>
          <p:nvPr/>
        </p:nvGrpSpPr>
        <p:grpSpPr>
          <a:xfrm rot="2553764">
            <a:off x="5041858" y="3043029"/>
            <a:ext cx="1922676" cy="1440160"/>
            <a:chOff x="4299707" y="3005336"/>
            <a:chExt cx="1922676" cy="1440160"/>
          </a:xfrm>
          <a:solidFill>
            <a:srgbClr val="C5F5FF"/>
          </a:solidFill>
        </p:grpSpPr>
        <p:sp>
          <p:nvSpPr>
            <p:cNvPr id="118" name="Oval 117"/>
            <p:cNvSpPr/>
            <p:nvPr/>
          </p:nvSpPr>
          <p:spPr>
            <a:xfrm>
              <a:off x="5292080" y="3941440"/>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0" name="Oval 109"/>
            <p:cNvSpPr/>
            <p:nvPr/>
          </p:nvSpPr>
          <p:spPr>
            <a:xfrm>
              <a:off x="4716016" y="3005336"/>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1" name="Oval 110"/>
            <p:cNvSpPr/>
            <p:nvPr/>
          </p:nvSpPr>
          <p:spPr>
            <a:xfrm>
              <a:off x="4644008" y="3581400"/>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2" name="Oval 111"/>
            <p:cNvSpPr/>
            <p:nvPr/>
          </p:nvSpPr>
          <p:spPr>
            <a:xfrm>
              <a:off x="4572000" y="3293368"/>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3" name="Oval 112"/>
            <p:cNvSpPr/>
            <p:nvPr/>
          </p:nvSpPr>
          <p:spPr>
            <a:xfrm>
              <a:off x="5148064" y="3077344"/>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4" name="Oval 113"/>
            <p:cNvSpPr/>
            <p:nvPr/>
          </p:nvSpPr>
          <p:spPr>
            <a:xfrm>
              <a:off x="4932040" y="3941440"/>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5" name="Oval 114"/>
            <p:cNvSpPr/>
            <p:nvPr/>
          </p:nvSpPr>
          <p:spPr>
            <a:xfrm>
              <a:off x="5076056" y="3437384"/>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6" name="Oval 115"/>
            <p:cNvSpPr/>
            <p:nvPr/>
          </p:nvSpPr>
          <p:spPr>
            <a:xfrm>
              <a:off x="5436096" y="3653408"/>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7" name="Oval 116"/>
            <p:cNvSpPr/>
            <p:nvPr/>
          </p:nvSpPr>
          <p:spPr>
            <a:xfrm>
              <a:off x="5364088" y="4229472"/>
              <a:ext cx="216024" cy="216024"/>
            </a:xfrm>
            <a:prstGeom prst="ellipse">
              <a:avLst/>
            </a:prstGeom>
            <a:solidFill>
              <a:srgbClr val="0000FF"/>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9" name="Oval 118"/>
            <p:cNvSpPr/>
            <p:nvPr/>
          </p:nvSpPr>
          <p:spPr>
            <a:xfrm>
              <a:off x="5868144" y="3725416"/>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0" name="Oval 119"/>
            <p:cNvSpPr/>
            <p:nvPr/>
          </p:nvSpPr>
          <p:spPr>
            <a:xfrm>
              <a:off x="5501045" y="3282504"/>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1" name="Oval 120"/>
            <p:cNvSpPr/>
            <p:nvPr/>
          </p:nvSpPr>
          <p:spPr>
            <a:xfrm>
              <a:off x="5796136" y="4085456"/>
              <a:ext cx="216024" cy="216024"/>
            </a:xfrm>
            <a:prstGeom prst="ellipse">
              <a:avLst/>
            </a:prstGeom>
            <a:solidFill>
              <a:srgbClr val="0000FF"/>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2" name="Oval 121"/>
            <p:cNvSpPr/>
            <p:nvPr/>
          </p:nvSpPr>
          <p:spPr>
            <a:xfrm>
              <a:off x="4860032" y="3293368"/>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3" name="Oval 122"/>
            <p:cNvSpPr/>
            <p:nvPr/>
          </p:nvSpPr>
          <p:spPr>
            <a:xfrm>
              <a:off x="4644008" y="4229472"/>
              <a:ext cx="216024" cy="216024"/>
            </a:xfrm>
            <a:prstGeom prst="ellipse">
              <a:avLst/>
            </a:prstGeom>
            <a:solidFill>
              <a:srgbClr val="0000FF"/>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4" name="Oval 123"/>
            <p:cNvSpPr/>
            <p:nvPr/>
          </p:nvSpPr>
          <p:spPr>
            <a:xfrm>
              <a:off x="4572000" y="3941440"/>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5" name="Oval 124"/>
            <p:cNvSpPr/>
            <p:nvPr/>
          </p:nvSpPr>
          <p:spPr>
            <a:xfrm>
              <a:off x="5148064" y="3725416"/>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6" name="Oval 125"/>
            <p:cNvSpPr/>
            <p:nvPr/>
          </p:nvSpPr>
          <p:spPr>
            <a:xfrm>
              <a:off x="6006359" y="3390694"/>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7" name="Oval 126"/>
            <p:cNvSpPr/>
            <p:nvPr/>
          </p:nvSpPr>
          <p:spPr>
            <a:xfrm>
              <a:off x="4299707" y="3210572"/>
              <a:ext cx="216024" cy="216024"/>
            </a:xfrm>
            <a:prstGeom prst="ellipse">
              <a:avLst/>
            </a:prstGeom>
            <a:grp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 name="Group 3">
            <a:extLst>
              <a:ext uri="{FF2B5EF4-FFF2-40B4-BE49-F238E27FC236}">
                <a16:creationId xmlns:a16="http://schemas.microsoft.com/office/drawing/2014/main" id="{3B0ADD19-C815-DE4C-A392-4489F3EFE2AE}"/>
              </a:ext>
            </a:extLst>
          </p:cNvPr>
          <p:cNvGrpSpPr/>
          <p:nvPr/>
        </p:nvGrpSpPr>
        <p:grpSpPr>
          <a:xfrm>
            <a:off x="2075943" y="764704"/>
            <a:ext cx="8651061" cy="1844750"/>
            <a:chOff x="551942" y="764704"/>
            <a:chExt cx="8651061" cy="1844750"/>
          </a:xfrm>
        </p:grpSpPr>
        <p:sp>
          <p:nvSpPr>
            <p:cNvPr id="46" name="TextBox 45">
              <a:extLst>
                <a:ext uri="{FF2B5EF4-FFF2-40B4-BE49-F238E27FC236}">
                  <a16:creationId xmlns:a16="http://schemas.microsoft.com/office/drawing/2014/main" id="{88ABED98-C632-7543-BB91-D5AC9B1D1EC9}"/>
                </a:ext>
              </a:extLst>
            </p:cNvPr>
            <p:cNvSpPr txBox="1"/>
            <p:nvPr/>
          </p:nvSpPr>
          <p:spPr>
            <a:xfrm>
              <a:off x="611560" y="764704"/>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47" name="TextBox 46">
              <a:extLst>
                <a:ext uri="{FF2B5EF4-FFF2-40B4-BE49-F238E27FC236}">
                  <a16:creationId xmlns:a16="http://schemas.microsoft.com/office/drawing/2014/main" id="{2AF27C03-BCAD-4A40-BC28-899392A9EAA4}"/>
                </a:ext>
              </a:extLst>
            </p:cNvPr>
            <p:cNvSpPr txBox="1"/>
            <p:nvPr/>
          </p:nvSpPr>
          <p:spPr>
            <a:xfrm>
              <a:off x="551942" y="1532236"/>
              <a:ext cx="3166235" cy="1077218"/>
            </a:xfrm>
            <a:prstGeom prst="rect">
              <a:avLst/>
            </a:prstGeom>
            <a:noFill/>
          </p:spPr>
          <p:txBody>
            <a:bodyPr wrap="square" rtlCol="0">
              <a:spAutoFit/>
            </a:bodyPr>
            <a:lstStyle/>
            <a:p>
              <a:r>
                <a:rPr lang="es-ES_tradnl" sz="1600" dirty="0">
                  <a:solidFill>
                    <a:schemeClr val="tx1">
                      <a:lumMod val="65000"/>
                      <a:lumOff val="35000"/>
                    </a:schemeClr>
                  </a:solidFill>
                  <a:latin typeface="Gill Sans MT" panose="020B0502020104020203" pitchFamily="34" charset="77"/>
                  <a:cs typeface="Trebuchet MS"/>
                </a:rPr>
                <a:t>¿Cómo definir la línea de decisión cuando no hay una separación perfecta?
</a:t>
              </a:r>
            </a:p>
          </p:txBody>
        </p:sp>
        <p:sp>
          <p:nvSpPr>
            <p:cNvPr id="49" name="TextBox 48">
              <a:extLst>
                <a:ext uri="{FF2B5EF4-FFF2-40B4-BE49-F238E27FC236}">
                  <a16:creationId xmlns:a16="http://schemas.microsoft.com/office/drawing/2014/main" id="{6A7D4EA8-D7DE-D847-B9B5-48670BA98D34}"/>
                </a:ext>
              </a:extLst>
            </p:cNvPr>
            <p:cNvSpPr txBox="1"/>
            <p:nvPr/>
          </p:nvSpPr>
          <p:spPr>
            <a:xfrm>
              <a:off x="5893195" y="1513036"/>
              <a:ext cx="3309808" cy="830997"/>
            </a:xfrm>
            <a:prstGeom prst="rect">
              <a:avLst/>
            </a:prstGeom>
            <a:noFill/>
          </p:spPr>
          <p:txBody>
            <a:bodyPr wrap="square" rtlCol="0">
              <a:spAutoFit/>
            </a:bodyPr>
            <a:lstStyle/>
            <a:p>
              <a:r>
                <a:rPr lang="es-ES_tradnl" sz="1600" dirty="0">
                  <a:solidFill>
                    <a:schemeClr val="tx1">
                      <a:lumMod val="65000"/>
                      <a:lumOff val="35000"/>
                    </a:schemeClr>
                  </a:solidFill>
                  <a:latin typeface="Gill Sans MT" panose="020B0502020104020203" pitchFamily="34" charset="77"/>
                  <a:cs typeface="Trebuchet MS"/>
                </a:rPr>
                <a:t>Consideramos sólo las muestras clasificadas erróneamente
</a:t>
              </a:r>
            </a:p>
          </p:txBody>
        </p:sp>
      </p:grpSp>
    </p:spTree>
    <p:extLst>
      <p:ext uri="{BB962C8B-B14F-4D97-AF65-F5344CB8AC3E}">
        <p14:creationId xmlns:p14="http://schemas.microsoft.com/office/powerpoint/2010/main" val="1546617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8FD8AB7B-301C-9B42-98A7-88651479DB29}"/>
              </a:ext>
            </a:extLst>
          </p:cNvPr>
          <p:cNvGrpSpPr/>
          <p:nvPr/>
        </p:nvGrpSpPr>
        <p:grpSpPr>
          <a:xfrm>
            <a:off x="2075943" y="764704"/>
            <a:ext cx="8651061" cy="1844750"/>
            <a:chOff x="551942" y="764704"/>
            <a:chExt cx="8651061" cy="1844750"/>
          </a:xfrm>
        </p:grpSpPr>
        <p:sp>
          <p:nvSpPr>
            <p:cNvPr id="34" name="TextBox 33">
              <a:extLst>
                <a:ext uri="{FF2B5EF4-FFF2-40B4-BE49-F238E27FC236}">
                  <a16:creationId xmlns:a16="http://schemas.microsoft.com/office/drawing/2014/main" id="{B011DA0F-F0F3-BA4D-A7C8-0D195C73EF26}"/>
                </a:ext>
              </a:extLst>
            </p:cNvPr>
            <p:cNvSpPr txBox="1"/>
            <p:nvPr/>
          </p:nvSpPr>
          <p:spPr>
            <a:xfrm>
              <a:off x="611560" y="764704"/>
              <a:ext cx="2122376"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dos clases
</a:t>
              </a:r>
            </a:p>
          </p:txBody>
        </p:sp>
        <p:sp>
          <p:nvSpPr>
            <p:cNvPr id="35" name="TextBox 34">
              <a:extLst>
                <a:ext uri="{FF2B5EF4-FFF2-40B4-BE49-F238E27FC236}">
                  <a16:creationId xmlns:a16="http://schemas.microsoft.com/office/drawing/2014/main" id="{1B5D38B0-55CD-644F-ADB1-82355E5A9AA0}"/>
                </a:ext>
              </a:extLst>
            </p:cNvPr>
            <p:cNvSpPr txBox="1"/>
            <p:nvPr/>
          </p:nvSpPr>
          <p:spPr>
            <a:xfrm>
              <a:off x="551942" y="1532236"/>
              <a:ext cx="3166235" cy="1077218"/>
            </a:xfrm>
            <a:prstGeom prst="rect">
              <a:avLst/>
            </a:prstGeom>
            <a:noFill/>
          </p:spPr>
          <p:txBody>
            <a:bodyPr wrap="square" rtlCol="0">
              <a:spAutoFit/>
            </a:bodyPr>
            <a:lstStyle/>
            <a:p>
              <a:r>
                <a:rPr lang="es-ES_tradnl" sz="1600" dirty="0">
                  <a:solidFill>
                    <a:schemeClr val="tx1">
                      <a:lumMod val="65000"/>
                      <a:lumOff val="35000"/>
                    </a:schemeClr>
                  </a:solidFill>
                  <a:latin typeface="Gill Sans MT" panose="020B0502020104020203" pitchFamily="34" charset="77"/>
                  <a:cs typeface="Trebuchet MS"/>
                </a:rPr>
                <a:t>¿Cómo definir la línea de decisión cuando no hay una separación perfecta?
</a:t>
              </a:r>
            </a:p>
          </p:txBody>
        </p:sp>
        <p:sp>
          <p:nvSpPr>
            <p:cNvPr id="36" name="TextBox 35">
              <a:extLst>
                <a:ext uri="{FF2B5EF4-FFF2-40B4-BE49-F238E27FC236}">
                  <a16:creationId xmlns:a16="http://schemas.microsoft.com/office/drawing/2014/main" id="{B380FC43-8B81-FC48-93BF-EE60D80326CE}"/>
                </a:ext>
              </a:extLst>
            </p:cNvPr>
            <p:cNvSpPr txBox="1"/>
            <p:nvPr/>
          </p:nvSpPr>
          <p:spPr>
            <a:xfrm>
              <a:off x="5893195" y="1513036"/>
              <a:ext cx="3309808" cy="830997"/>
            </a:xfrm>
            <a:prstGeom prst="rect">
              <a:avLst/>
            </a:prstGeom>
            <a:noFill/>
          </p:spPr>
          <p:txBody>
            <a:bodyPr wrap="square" rtlCol="0">
              <a:spAutoFit/>
            </a:bodyPr>
            <a:lstStyle/>
            <a:p>
              <a:r>
                <a:rPr lang="es-ES_tradnl" sz="1600" dirty="0">
                  <a:solidFill>
                    <a:schemeClr val="tx1">
                      <a:lumMod val="65000"/>
                      <a:lumOff val="35000"/>
                    </a:schemeClr>
                  </a:solidFill>
                  <a:latin typeface="Gill Sans MT" panose="020B0502020104020203" pitchFamily="34" charset="77"/>
                  <a:cs typeface="Trebuchet MS"/>
                </a:rPr>
                <a:t>Consideramos sólo las muestras clasificadas erróneamente
</a:t>
              </a:r>
            </a:p>
          </p:txBody>
        </p:sp>
      </p:grpSp>
      <p:cxnSp>
        <p:nvCxnSpPr>
          <p:cNvPr id="48" name="Straight Connector 47"/>
          <p:cNvCxnSpPr/>
          <p:nvPr/>
        </p:nvCxnSpPr>
        <p:spPr>
          <a:xfrm rot="20987970">
            <a:off x="4119776" y="227177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grpSp>
        <p:nvGrpSpPr>
          <p:cNvPr id="61" name="Group 60"/>
          <p:cNvGrpSpPr/>
          <p:nvPr/>
        </p:nvGrpSpPr>
        <p:grpSpPr>
          <a:xfrm>
            <a:off x="4992819" y="3308276"/>
            <a:ext cx="1270462" cy="984949"/>
            <a:chOff x="3032670" y="3429000"/>
            <a:chExt cx="1270462" cy="984949"/>
          </a:xfrm>
          <a:solidFill>
            <a:srgbClr val="FFC7FF"/>
          </a:solidFill>
        </p:grpSpPr>
        <p:sp>
          <p:nvSpPr>
            <p:cNvPr id="81" name="Oval 80"/>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7" name="Oval 96"/>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0" name="Oval 99"/>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109" name="Group 108"/>
          <p:cNvGrpSpPr/>
          <p:nvPr/>
        </p:nvGrpSpPr>
        <p:grpSpPr>
          <a:xfrm rot="2553764">
            <a:off x="5003201" y="4026208"/>
            <a:ext cx="1368152" cy="360040"/>
            <a:chOff x="4644008" y="4085456"/>
            <a:chExt cx="1368152" cy="360040"/>
          </a:xfrm>
          <a:solidFill>
            <a:srgbClr val="C5F5FF"/>
          </a:solidFill>
        </p:grpSpPr>
        <p:sp>
          <p:nvSpPr>
            <p:cNvPr id="117" name="Oval 116"/>
            <p:cNvSpPr/>
            <p:nvPr/>
          </p:nvSpPr>
          <p:spPr>
            <a:xfrm>
              <a:off x="5364088" y="422947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1" name="Oval 120"/>
            <p:cNvSpPr/>
            <p:nvPr/>
          </p:nvSpPr>
          <p:spPr>
            <a:xfrm>
              <a:off x="5796136" y="408545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3" name="Oval 122"/>
            <p:cNvSpPr/>
            <p:nvPr/>
          </p:nvSpPr>
          <p:spPr>
            <a:xfrm>
              <a:off x="4644008" y="422947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pic>
        <p:nvPicPr>
          <p:cNvPr id="2" name="Picture 1" descr="Screen Shot 2014-10-28 at 10.45.03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859672"/>
            <a:ext cx="6858000" cy="6858000"/>
          </a:xfrm>
          <a:prstGeom prst="rect">
            <a:avLst/>
          </a:prstGeom>
        </p:spPr>
      </p:pic>
      <p:grpSp>
        <p:nvGrpSpPr>
          <p:cNvPr id="7" name="Group 6"/>
          <p:cNvGrpSpPr/>
          <p:nvPr/>
        </p:nvGrpSpPr>
        <p:grpSpPr>
          <a:xfrm>
            <a:off x="4337538" y="2163897"/>
            <a:ext cx="3461044" cy="3916096"/>
            <a:chOff x="2813538" y="2163897"/>
            <a:chExt cx="3461044" cy="3916096"/>
          </a:xfrm>
        </p:grpSpPr>
        <p:cxnSp>
          <p:nvCxnSpPr>
            <p:cNvPr id="4" name="Straight Connector 3"/>
            <p:cNvCxnSpPr/>
            <p:nvPr/>
          </p:nvCxnSpPr>
          <p:spPr>
            <a:xfrm flipH="1">
              <a:off x="2813538" y="2686538"/>
              <a:ext cx="195385" cy="244231"/>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831165" y="2163897"/>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cxnSp>
          <p:nvCxnSpPr>
            <p:cNvPr id="49" name="Straight Connector 48"/>
            <p:cNvCxnSpPr>
              <a:cxnSpLocks noChangeAspect="1"/>
            </p:cNvCxnSpPr>
            <p:nvPr/>
          </p:nvCxnSpPr>
          <p:spPr>
            <a:xfrm flipH="1">
              <a:off x="5750168" y="4841630"/>
              <a:ext cx="288000" cy="360000"/>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50" name="Straight Connector 49"/>
            <p:cNvCxnSpPr>
              <a:cxnSpLocks noChangeAspect="1"/>
            </p:cNvCxnSpPr>
            <p:nvPr/>
          </p:nvCxnSpPr>
          <p:spPr>
            <a:xfrm flipH="1">
              <a:off x="5046782" y="4509473"/>
              <a:ext cx="55824" cy="72000"/>
            </a:xfrm>
            <a:prstGeom prst="line">
              <a:avLst/>
            </a:prstGeom>
            <a:ln>
              <a:solidFill>
                <a:srgbClr val="262626"/>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a:cxnSpLocks noChangeAspect="1"/>
            </p:cNvCxnSpPr>
            <p:nvPr/>
          </p:nvCxnSpPr>
          <p:spPr>
            <a:xfrm flipH="1">
              <a:off x="3323490" y="3577493"/>
              <a:ext cx="316800" cy="396000"/>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53" name="Straight Connector 52"/>
            <p:cNvCxnSpPr>
              <a:cxnSpLocks noChangeAspect="1"/>
            </p:cNvCxnSpPr>
            <p:nvPr/>
          </p:nvCxnSpPr>
          <p:spPr>
            <a:xfrm flipH="1">
              <a:off x="4824045" y="4804513"/>
              <a:ext cx="460799" cy="575999"/>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54" name="Straight Connector 53"/>
            <p:cNvCxnSpPr>
              <a:cxnSpLocks noChangeAspect="1"/>
            </p:cNvCxnSpPr>
            <p:nvPr/>
          </p:nvCxnSpPr>
          <p:spPr>
            <a:xfrm flipH="1">
              <a:off x="5986582" y="5546969"/>
              <a:ext cx="288000" cy="360000"/>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917873" y="3996603"/>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56" name="TextBox 55"/>
            <p:cNvSpPr txBox="1"/>
            <p:nvPr/>
          </p:nvSpPr>
          <p:spPr>
            <a:xfrm>
              <a:off x="5836183" y="4348295"/>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57" name="TextBox 56"/>
            <p:cNvSpPr txBox="1"/>
            <p:nvPr/>
          </p:nvSpPr>
          <p:spPr>
            <a:xfrm>
              <a:off x="3165276" y="3445617"/>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58" name="TextBox 57"/>
            <p:cNvSpPr txBox="1"/>
            <p:nvPr/>
          </p:nvSpPr>
          <p:spPr>
            <a:xfrm>
              <a:off x="4665831" y="4848479"/>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sp>
          <p:nvSpPr>
            <p:cNvPr id="59" name="TextBox 58"/>
            <p:cNvSpPr txBox="1"/>
            <p:nvPr/>
          </p:nvSpPr>
          <p:spPr>
            <a:xfrm>
              <a:off x="5853768" y="5372107"/>
              <a:ext cx="296876" cy="707886"/>
            </a:xfrm>
            <a:prstGeom prst="rect">
              <a:avLst/>
            </a:prstGeom>
            <a:noFill/>
          </p:spPr>
          <p:txBody>
            <a:bodyPr wrap="none" rtlCol="0">
              <a:spAutoFit/>
            </a:bodyPr>
            <a:lstStyle/>
            <a:p>
              <a:r>
                <a:rPr lang="en-US" sz="4000" dirty="0">
                  <a:latin typeface="Gill Sans MT" panose="020B0502020104020203" pitchFamily="34" charset="77"/>
                  <a:cs typeface="Trebuchet MS"/>
                </a:rPr>
                <a:t>.</a:t>
              </a:r>
            </a:p>
          </p:txBody>
        </p:sp>
      </p:grpSp>
      <p:sp>
        <p:nvSpPr>
          <p:cNvPr id="63" name="TextBox 62"/>
          <p:cNvSpPr txBox="1"/>
          <p:nvPr/>
        </p:nvSpPr>
        <p:spPr>
          <a:xfrm>
            <a:off x="1919190" y="3706733"/>
            <a:ext cx="1890582" cy="338554"/>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Vectores de soporte</a:t>
            </a:r>
          </a:p>
        </p:txBody>
      </p:sp>
    </p:spTree>
    <p:extLst>
      <p:ext uri="{BB962C8B-B14F-4D97-AF65-F5344CB8AC3E}">
        <p14:creationId xmlns:p14="http://schemas.microsoft.com/office/powerpoint/2010/main" val="411691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Effect transition="in" filter="fade">
                                      <p:cBhvr>
                                        <p:cTn id="9" dur="2000"/>
                                        <p:tgtEl>
                                          <p:spTgt spid="2"/>
                                        </p:tgtEl>
                                      </p:cBhvr>
                                    </p:animEffect>
                                  </p:childTnLst>
                                </p:cTn>
                              </p:par>
                            </p:childTnLst>
                          </p:cTn>
                        </p:par>
                        <p:par>
                          <p:cTn id="10" fill="hold">
                            <p:stCondLst>
                              <p:cond delay="2000"/>
                            </p:stCondLst>
                            <p:childTnLst>
                              <p:par>
                                <p:cTn id="11" presetID="1" presetClass="entr" presetSubtype="0" fill="hold" grpId="0" nodeType="afterEffect">
                                  <p:stCondLst>
                                    <p:cond delay="0"/>
                                  </p:stCondLst>
                                  <p:childTnLst>
                                    <p:set>
                                      <p:cBhvr>
                                        <p:cTn id="12" dur="1" fill="hold">
                                          <p:stCondLst>
                                            <p:cond delay="0"/>
                                          </p:stCondLst>
                                        </p:cTn>
                                        <p:tgtEl>
                                          <p:spTgt spid="6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Connector 47"/>
          <p:cNvCxnSpPr/>
          <p:nvPr/>
        </p:nvCxnSpPr>
        <p:spPr>
          <a:xfrm rot="20987970">
            <a:off x="4119776" y="2271775"/>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grpSp>
        <p:nvGrpSpPr>
          <p:cNvPr id="61" name="Group 60"/>
          <p:cNvGrpSpPr/>
          <p:nvPr/>
        </p:nvGrpSpPr>
        <p:grpSpPr>
          <a:xfrm>
            <a:off x="4992819" y="3308276"/>
            <a:ext cx="1270462" cy="984949"/>
            <a:chOff x="3032670" y="3429000"/>
            <a:chExt cx="1270462" cy="984949"/>
          </a:xfrm>
          <a:solidFill>
            <a:srgbClr val="FFC7FF"/>
          </a:solidFill>
        </p:grpSpPr>
        <p:sp>
          <p:nvSpPr>
            <p:cNvPr id="81" name="Oval 80"/>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97" name="Oval 96"/>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00" name="Oval 99"/>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grpSp>
      <p:grpSp>
        <p:nvGrpSpPr>
          <p:cNvPr id="109" name="Group 108"/>
          <p:cNvGrpSpPr/>
          <p:nvPr/>
        </p:nvGrpSpPr>
        <p:grpSpPr>
          <a:xfrm rot="2553764">
            <a:off x="5003201" y="4026208"/>
            <a:ext cx="1368152" cy="360040"/>
            <a:chOff x="4644008" y="4085456"/>
            <a:chExt cx="1368152" cy="360040"/>
          </a:xfrm>
          <a:solidFill>
            <a:srgbClr val="C5F5FF"/>
          </a:solidFill>
        </p:grpSpPr>
        <p:sp>
          <p:nvSpPr>
            <p:cNvPr id="117" name="Oval 116"/>
            <p:cNvSpPr/>
            <p:nvPr/>
          </p:nvSpPr>
          <p:spPr>
            <a:xfrm>
              <a:off x="5364088" y="422947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21" name="Oval 120"/>
            <p:cNvSpPr/>
            <p:nvPr/>
          </p:nvSpPr>
          <p:spPr>
            <a:xfrm>
              <a:off x="5796136" y="408545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sp>
          <p:nvSpPr>
            <p:cNvPr id="123" name="Oval 122"/>
            <p:cNvSpPr/>
            <p:nvPr/>
          </p:nvSpPr>
          <p:spPr>
            <a:xfrm>
              <a:off x="4644008" y="422947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latin typeface="Gill Sans MT" panose="020B0502020104020203" pitchFamily="34" charset="77"/>
              </a:endParaRPr>
            </a:p>
          </p:txBody>
        </p:sp>
      </p:grpSp>
      <p:pic>
        <p:nvPicPr>
          <p:cNvPr id="2" name="Picture 1" descr="Screen Shot 2014-10-28 at 10.45.03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859672"/>
            <a:ext cx="6858000" cy="6858000"/>
          </a:xfrm>
          <a:prstGeom prst="rect">
            <a:avLst/>
          </a:prstGeom>
        </p:spPr>
      </p:pic>
      <p:grpSp>
        <p:nvGrpSpPr>
          <p:cNvPr id="7" name="Group 6"/>
          <p:cNvGrpSpPr/>
          <p:nvPr/>
        </p:nvGrpSpPr>
        <p:grpSpPr>
          <a:xfrm>
            <a:off x="4337538" y="2163897"/>
            <a:ext cx="3461044" cy="3916096"/>
            <a:chOff x="2813538" y="2163897"/>
            <a:chExt cx="3461044" cy="3916096"/>
          </a:xfrm>
        </p:grpSpPr>
        <p:cxnSp>
          <p:nvCxnSpPr>
            <p:cNvPr id="4" name="Straight Connector 3"/>
            <p:cNvCxnSpPr/>
            <p:nvPr/>
          </p:nvCxnSpPr>
          <p:spPr>
            <a:xfrm flipH="1">
              <a:off x="2813538" y="2686538"/>
              <a:ext cx="195385" cy="244231"/>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831165" y="2163897"/>
              <a:ext cx="296876" cy="707886"/>
            </a:xfrm>
            <a:prstGeom prst="rect">
              <a:avLst/>
            </a:prstGeom>
            <a:noFill/>
          </p:spPr>
          <p:txBody>
            <a:bodyPr wrap="none" rtlCol="0">
              <a:spAutoFit/>
            </a:bodyPr>
            <a:lstStyle/>
            <a:p>
              <a:r>
                <a:rPr lang="es-ES_tradnl" sz="4000" dirty="0">
                  <a:latin typeface="Gill Sans MT" panose="020B0502020104020203" pitchFamily="34" charset="77"/>
                  <a:cs typeface="Trebuchet MS"/>
                </a:rPr>
                <a:t>.</a:t>
              </a:r>
            </a:p>
          </p:txBody>
        </p:sp>
        <p:cxnSp>
          <p:nvCxnSpPr>
            <p:cNvPr id="49" name="Straight Connector 48"/>
            <p:cNvCxnSpPr>
              <a:cxnSpLocks noChangeAspect="1"/>
            </p:cNvCxnSpPr>
            <p:nvPr/>
          </p:nvCxnSpPr>
          <p:spPr>
            <a:xfrm flipH="1">
              <a:off x="5750168" y="4841630"/>
              <a:ext cx="288000" cy="360000"/>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50" name="Straight Connector 49"/>
            <p:cNvCxnSpPr>
              <a:cxnSpLocks noChangeAspect="1"/>
            </p:cNvCxnSpPr>
            <p:nvPr/>
          </p:nvCxnSpPr>
          <p:spPr>
            <a:xfrm flipH="1">
              <a:off x="5046782" y="4509473"/>
              <a:ext cx="55824" cy="72000"/>
            </a:xfrm>
            <a:prstGeom prst="line">
              <a:avLst/>
            </a:prstGeom>
            <a:ln>
              <a:solidFill>
                <a:srgbClr val="262626"/>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a:cxnSpLocks noChangeAspect="1"/>
            </p:cNvCxnSpPr>
            <p:nvPr/>
          </p:nvCxnSpPr>
          <p:spPr>
            <a:xfrm flipH="1">
              <a:off x="3323490" y="3577493"/>
              <a:ext cx="316800" cy="396000"/>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53" name="Straight Connector 52"/>
            <p:cNvCxnSpPr>
              <a:cxnSpLocks noChangeAspect="1"/>
            </p:cNvCxnSpPr>
            <p:nvPr/>
          </p:nvCxnSpPr>
          <p:spPr>
            <a:xfrm flipH="1">
              <a:off x="4824045" y="4804513"/>
              <a:ext cx="460799" cy="575999"/>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54" name="Straight Connector 53"/>
            <p:cNvCxnSpPr>
              <a:cxnSpLocks noChangeAspect="1"/>
            </p:cNvCxnSpPr>
            <p:nvPr/>
          </p:nvCxnSpPr>
          <p:spPr>
            <a:xfrm flipH="1">
              <a:off x="5986582" y="5546969"/>
              <a:ext cx="288000" cy="360000"/>
            </a:xfrm>
            <a:prstGeom prst="line">
              <a:avLst/>
            </a:prstGeom>
            <a:ln>
              <a:solidFill>
                <a:srgbClr val="262626"/>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917873" y="3996603"/>
              <a:ext cx="296876" cy="707886"/>
            </a:xfrm>
            <a:prstGeom prst="rect">
              <a:avLst/>
            </a:prstGeom>
            <a:noFill/>
          </p:spPr>
          <p:txBody>
            <a:bodyPr wrap="none" rtlCol="0">
              <a:spAutoFit/>
            </a:bodyPr>
            <a:lstStyle/>
            <a:p>
              <a:r>
                <a:rPr lang="es-ES_tradnl" sz="4000" dirty="0">
                  <a:latin typeface="Gill Sans MT" panose="020B0502020104020203" pitchFamily="34" charset="77"/>
                  <a:cs typeface="Trebuchet MS"/>
                </a:rPr>
                <a:t>.</a:t>
              </a:r>
            </a:p>
          </p:txBody>
        </p:sp>
        <p:sp>
          <p:nvSpPr>
            <p:cNvPr id="56" name="TextBox 55"/>
            <p:cNvSpPr txBox="1"/>
            <p:nvPr/>
          </p:nvSpPr>
          <p:spPr>
            <a:xfrm>
              <a:off x="5836183" y="4348295"/>
              <a:ext cx="296876" cy="707886"/>
            </a:xfrm>
            <a:prstGeom prst="rect">
              <a:avLst/>
            </a:prstGeom>
            <a:noFill/>
          </p:spPr>
          <p:txBody>
            <a:bodyPr wrap="none" rtlCol="0">
              <a:spAutoFit/>
            </a:bodyPr>
            <a:lstStyle/>
            <a:p>
              <a:r>
                <a:rPr lang="es-ES_tradnl" sz="4000" dirty="0">
                  <a:latin typeface="Gill Sans MT" panose="020B0502020104020203" pitchFamily="34" charset="77"/>
                  <a:cs typeface="Trebuchet MS"/>
                </a:rPr>
                <a:t>.</a:t>
              </a:r>
            </a:p>
          </p:txBody>
        </p:sp>
        <p:sp>
          <p:nvSpPr>
            <p:cNvPr id="57" name="TextBox 56"/>
            <p:cNvSpPr txBox="1"/>
            <p:nvPr/>
          </p:nvSpPr>
          <p:spPr>
            <a:xfrm>
              <a:off x="3165276" y="3445617"/>
              <a:ext cx="296876" cy="707886"/>
            </a:xfrm>
            <a:prstGeom prst="rect">
              <a:avLst/>
            </a:prstGeom>
            <a:noFill/>
          </p:spPr>
          <p:txBody>
            <a:bodyPr wrap="none" rtlCol="0">
              <a:spAutoFit/>
            </a:bodyPr>
            <a:lstStyle/>
            <a:p>
              <a:r>
                <a:rPr lang="es-ES_tradnl" sz="4000" dirty="0">
                  <a:latin typeface="Gill Sans MT" panose="020B0502020104020203" pitchFamily="34" charset="77"/>
                  <a:cs typeface="Trebuchet MS"/>
                </a:rPr>
                <a:t>.</a:t>
              </a:r>
            </a:p>
          </p:txBody>
        </p:sp>
        <p:sp>
          <p:nvSpPr>
            <p:cNvPr id="58" name="TextBox 57"/>
            <p:cNvSpPr txBox="1"/>
            <p:nvPr/>
          </p:nvSpPr>
          <p:spPr>
            <a:xfrm>
              <a:off x="4665831" y="4848479"/>
              <a:ext cx="296876" cy="707886"/>
            </a:xfrm>
            <a:prstGeom prst="rect">
              <a:avLst/>
            </a:prstGeom>
            <a:noFill/>
          </p:spPr>
          <p:txBody>
            <a:bodyPr wrap="none" rtlCol="0">
              <a:spAutoFit/>
            </a:bodyPr>
            <a:lstStyle/>
            <a:p>
              <a:r>
                <a:rPr lang="es-ES_tradnl" sz="4000" dirty="0">
                  <a:latin typeface="Gill Sans MT" panose="020B0502020104020203" pitchFamily="34" charset="77"/>
                  <a:cs typeface="Trebuchet MS"/>
                </a:rPr>
                <a:t>.</a:t>
              </a:r>
            </a:p>
          </p:txBody>
        </p:sp>
        <p:sp>
          <p:nvSpPr>
            <p:cNvPr id="59" name="TextBox 58"/>
            <p:cNvSpPr txBox="1"/>
            <p:nvPr/>
          </p:nvSpPr>
          <p:spPr>
            <a:xfrm>
              <a:off x="5853768" y="5372107"/>
              <a:ext cx="296876" cy="707886"/>
            </a:xfrm>
            <a:prstGeom prst="rect">
              <a:avLst/>
            </a:prstGeom>
            <a:noFill/>
          </p:spPr>
          <p:txBody>
            <a:bodyPr wrap="none" rtlCol="0">
              <a:spAutoFit/>
            </a:bodyPr>
            <a:lstStyle/>
            <a:p>
              <a:r>
                <a:rPr lang="es-ES_tradnl" sz="4000" dirty="0">
                  <a:latin typeface="Gill Sans MT" panose="020B0502020104020203" pitchFamily="34" charset="77"/>
                  <a:cs typeface="Trebuchet MS"/>
                </a:rPr>
                <a:t>.</a:t>
              </a:r>
            </a:p>
          </p:txBody>
        </p:sp>
      </p:grpSp>
      <p:sp>
        <p:nvSpPr>
          <p:cNvPr id="29" name="Rectangle 28"/>
          <p:cNvSpPr/>
          <p:nvPr/>
        </p:nvSpPr>
        <p:spPr>
          <a:xfrm>
            <a:off x="4394560" y="2648415"/>
            <a:ext cx="375424" cy="369332"/>
          </a:xfrm>
          <a:prstGeom prst="rect">
            <a:avLst/>
          </a:prstGeom>
        </p:spPr>
        <p:txBody>
          <a:bodyPr wrap="none">
            <a:spAutoFit/>
          </a:bodyPr>
          <a:lstStyle/>
          <a:p>
            <a:r>
              <a:rPr lang="es-ES_tradnl" dirty="0">
                <a:solidFill>
                  <a:schemeClr val="bg1"/>
                </a:solidFill>
                <a:latin typeface="Gill Sans MT" panose="020B0502020104020203" pitchFamily="34" charset="77"/>
                <a:cs typeface="Trebuchet MS"/>
              </a:rPr>
              <a:t>e</a:t>
            </a:r>
            <a:r>
              <a:rPr lang="es-ES_tradnl" baseline="-25000" dirty="0">
                <a:solidFill>
                  <a:schemeClr val="bg1"/>
                </a:solidFill>
                <a:latin typeface="Gill Sans MT" panose="020B0502020104020203" pitchFamily="34" charset="77"/>
                <a:cs typeface="Trebuchet MS"/>
              </a:rPr>
              <a:t>1</a:t>
            </a:r>
            <a:endParaRPr lang="es-ES_tradnl" dirty="0">
              <a:solidFill>
                <a:schemeClr val="bg1"/>
              </a:solidFill>
              <a:latin typeface="Gill Sans MT" panose="020B0502020104020203" pitchFamily="34" charset="77"/>
            </a:endParaRPr>
          </a:p>
        </p:txBody>
      </p:sp>
      <p:sp>
        <p:nvSpPr>
          <p:cNvPr id="31" name="Rectangle 30"/>
          <p:cNvSpPr/>
          <p:nvPr/>
        </p:nvSpPr>
        <p:spPr>
          <a:xfrm>
            <a:off x="6539883" y="4412738"/>
            <a:ext cx="375424" cy="369332"/>
          </a:xfrm>
          <a:prstGeom prst="rect">
            <a:avLst/>
          </a:prstGeom>
        </p:spPr>
        <p:txBody>
          <a:bodyPr wrap="none">
            <a:spAutoFit/>
          </a:bodyPr>
          <a:lstStyle/>
          <a:p>
            <a:r>
              <a:rPr lang="es-ES_tradnl" dirty="0">
                <a:solidFill>
                  <a:schemeClr val="bg1"/>
                </a:solidFill>
                <a:latin typeface="Gill Sans MT" panose="020B0502020104020203" pitchFamily="34" charset="77"/>
                <a:cs typeface="Trebuchet MS"/>
              </a:rPr>
              <a:t>e</a:t>
            </a:r>
            <a:r>
              <a:rPr lang="es-ES_tradnl" baseline="-25000" dirty="0">
                <a:solidFill>
                  <a:schemeClr val="bg1"/>
                </a:solidFill>
                <a:latin typeface="Gill Sans MT" panose="020B0502020104020203" pitchFamily="34" charset="77"/>
                <a:cs typeface="Trebuchet MS"/>
              </a:rPr>
              <a:t>2</a:t>
            </a:r>
            <a:endParaRPr lang="es-ES_tradnl" dirty="0">
              <a:solidFill>
                <a:schemeClr val="bg1"/>
              </a:solidFill>
              <a:latin typeface="Gill Sans MT" panose="020B0502020104020203" pitchFamily="34" charset="77"/>
            </a:endParaRPr>
          </a:p>
        </p:txBody>
      </p:sp>
      <p:sp>
        <p:nvSpPr>
          <p:cNvPr id="32" name="Rectangle 31"/>
          <p:cNvSpPr/>
          <p:nvPr/>
        </p:nvSpPr>
        <p:spPr>
          <a:xfrm>
            <a:off x="7405436" y="4828906"/>
            <a:ext cx="375424" cy="369332"/>
          </a:xfrm>
          <a:prstGeom prst="rect">
            <a:avLst/>
          </a:prstGeom>
        </p:spPr>
        <p:txBody>
          <a:bodyPr wrap="none">
            <a:spAutoFit/>
          </a:bodyPr>
          <a:lstStyle/>
          <a:p>
            <a:r>
              <a:rPr lang="es-ES_tradnl" dirty="0">
                <a:solidFill>
                  <a:schemeClr val="bg1"/>
                </a:solidFill>
                <a:latin typeface="Gill Sans MT" panose="020B0502020104020203" pitchFamily="34" charset="77"/>
                <a:cs typeface="Trebuchet MS"/>
              </a:rPr>
              <a:t>e</a:t>
            </a:r>
            <a:r>
              <a:rPr lang="es-ES_tradnl" baseline="-25000" dirty="0">
                <a:solidFill>
                  <a:schemeClr val="bg1"/>
                </a:solidFill>
                <a:latin typeface="Gill Sans MT" panose="020B0502020104020203" pitchFamily="34" charset="77"/>
                <a:cs typeface="Trebuchet MS"/>
              </a:rPr>
              <a:t>3</a:t>
            </a:r>
            <a:endParaRPr lang="es-ES_tradnl" dirty="0">
              <a:solidFill>
                <a:schemeClr val="bg1"/>
              </a:solidFill>
              <a:latin typeface="Gill Sans MT" panose="020B0502020104020203" pitchFamily="34" charset="77"/>
            </a:endParaRPr>
          </a:p>
        </p:txBody>
      </p:sp>
      <p:sp>
        <p:nvSpPr>
          <p:cNvPr id="33" name="Rectangle 32"/>
          <p:cNvSpPr/>
          <p:nvPr/>
        </p:nvSpPr>
        <p:spPr>
          <a:xfrm>
            <a:off x="4646602" y="3584306"/>
            <a:ext cx="375424" cy="369332"/>
          </a:xfrm>
          <a:prstGeom prst="rect">
            <a:avLst/>
          </a:prstGeom>
        </p:spPr>
        <p:txBody>
          <a:bodyPr wrap="none">
            <a:spAutoFit/>
          </a:bodyPr>
          <a:lstStyle/>
          <a:p>
            <a:r>
              <a:rPr lang="es-ES_tradnl" dirty="0">
                <a:solidFill>
                  <a:schemeClr val="bg1"/>
                </a:solidFill>
                <a:latin typeface="Gill Sans MT" panose="020B0502020104020203" pitchFamily="34" charset="77"/>
                <a:cs typeface="Trebuchet MS"/>
              </a:rPr>
              <a:t>e</a:t>
            </a:r>
            <a:r>
              <a:rPr lang="es-ES_tradnl" baseline="-25000" dirty="0">
                <a:solidFill>
                  <a:schemeClr val="bg1"/>
                </a:solidFill>
                <a:latin typeface="Gill Sans MT" panose="020B0502020104020203" pitchFamily="34" charset="77"/>
                <a:cs typeface="Trebuchet MS"/>
              </a:rPr>
              <a:t>4</a:t>
            </a:r>
            <a:endParaRPr lang="es-ES_tradnl" dirty="0">
              <a:solidFill>
                <a:schemeClr val="bg1"/>
              </a:solidFill>
              <a:latin typeface="Gill Sans MT" panose="020B0502020104020203" pitchFamily="34" charset="77"/>
            </a:endParaRPr>
          </a:p>
        </p:txBody>
      </p:sp>
      <p:sp>
        <p:nvSpPr>
          <p:cNvPr id="34" name="Rectangle 33"/>
          <p:cNvSpPr/>
          <p:nvPr/>
        </p:nvSpPr>
        <p:spPr>
          <a:xfrm>
            <a:off x="6547694" y="4938322"/>
            <a:ext cx="375424" cy="369332"/>
          </a:xfrm>
          <a:prstGeom prst="rect">
            <a:avLst/>
          </a:prstGeom>
        </p:spPr>
        <p:txBody>
          <a:bodyPr wrap="none">
            <a:spAutoFit/>
          </a:bodyPr>
          <a:lstStyle/>
          <a:p>
            <a:r>
              <a:rPr lang="es-ES_tradnl" dirty="0">
                <a:latin typeface="Gill Sans MT" panose="020B0502020104020203" pitchFamily="34" charset="77"/>
                <a:cs typeface="Trebuchet MS"/>
              </a:rPr>
              <a:t>e</a:t>
            </a:r>
            <a:r>
              <a:rPr lang="es-ES_tradnl" baseline="-25000" dirty="0">
                <a:latin typeface="Gill Sans MT" panose="020B0502020104020203" pitchFamily="34" charset="77"/>
                <a:cs typeface="Trebuchet MS"/>
              </a:rPr>
              <a:t>5</a:t>
            </a:r>
            <a:endParaRPr lang="es-ES_tradnl" dirty="0">
              <a:latin typeface="Gill Sans MT" panose="020B0502020104020203" pitchFamily="34" charset="77"/>
            </a:endParaRPr>
          </a:p>
        </p:txBody>
      </p:sp>
      <p:sp>
        <p:nvSpPr>
          <p:cNvPr id="35" name="Rectangle 34"/>
          <p:cNvSpPr/>
          <p:nvPr/>
        </p:nvSpPr>
        <p:spPr>
          <a:xfrm>
            <a:off x="7368305" y="5485402"/>
            <a:ext cx="375424" cy="369332"/>
          </a:xfrm>
          <a:prstGeom prst="rect">
            <a:avLst/>
          </a:prstGeom>
        </p:spPr>
        <p:txBody>
          <a:bodyPr wrap="none">
            <a:spAutoFit/>
          </a:bodyPr>
          <a:lstStyle/>
          <a:p>
            <a:r>
              <a:rPr lang="es-ES_tradnl" dirty="0">
                <a:solidFill>
                  <a:schemeClr val="bg1"/>
                </a:solidFill>
                <a:latin typeface="Gill Sans MT" panose="020B0502020104020203" pitchFamily="34" charset="77"/>
                <a:cs typeface="Trebuchet MS"/>
              </a:rPr>
              <a:t>e</a:t>
            </a:r>
            <a:r>
              <a:rPr lang="es-ES_tradnl" baseline="-25000" dirty="0">
                <a:solidFill>
                  <a:schemeClr val="bg1"/>
                </a:solidFill>
                <a:latin typeface="Gill Sans MT" panose="020B0502020104020203" pitchFamily="34" charset="77"/>
                <a:cs typeface="Trebuchet MS"/>
              </a:rPr>
              <a:t>6</a:t>
            </a:r>
            <a:endParaRPr lang="es-ES_tradnl" baseline="-25000" dirty="0">
              <a:solidFill>
                <a:schemeClr val="bg1"/>
              </a:solidFill>
              <a:latin typeface="Gill Sans MT" panose="020B0502020104020203" pitchFamily="34" charset="77"/>
            </a:endParaRPr>
          </a:p>
        </p:txBody>
      </p:sp>
      <p:sp>
        <p:nvSpPr>
          <p:cNvPr id="37" name="Rectangle 36"/>
          <p:cNvSpPr/>
          <p:nvPr/>
        </p:nvSpPr>
        <p:spPr>
          <a:xfrm>
            <a:off x="7354632" y="2150185"/>
            <a:ext cx="3187245" cy="990079"/>
          </a:xfrm>
          <a:prstGeom prst="rect">
            <a:avLst/>
          </a:prstGeom>
        </p:spPr>
        <p:txBody>
          <a:bodyPr wrap="square">
            <a:spAutoFit/>
          </a:bodyPr>
          <a:lstStyle/>
          <a:p>
            <a:r>
              <a:rPr lang="es-ES_tradnl" dirty="0">
                <a:latin typeface="Gill Sans MT" panose="020B0502020104020203" pitchFamily="34" charset="77"/>
                <a:cs typeface="Trebuchet MS"/>
              </a:rPr>
              <a:t>Encontrar la línea de decisión para que</a:t>
            </a:r>
          </a:p>
          <a:p>
            <a:pPr>
              <a:lnSpc>
                <a:spcPct val="140000"/>
              </a:lnSpc>
            </a:pPr>
            <a:r>
              <a:rPr lang="es-ES_tradnl" dirty="0">
                <a:latin typeface="Gill Sans MT" panose="020B0502020104020203" pitchFamily="34" charset="77"/>
                <a:cs typeface="Trebuchet MS"/>
              </a:rPr>
              <a:t>e = </a:t>
            </a:r>
            <a:r>
              <a:rPr lang="es-ES_tradnl" dirty="0" err="1">
                <a:latin typeface="Gill Sans MT" panose="020B0502020104020203" pitchFamily="34" charset="77"/>
                <a:cs typeface="Trebuchet MS"/>
              </a:rPr>
              <a:t>Σ</a:t>
            </a:r>
            <a:r>
              <a:rPr lang="es-ES_tradnl" dirty="0">
                <a:latin typeface="Gill Sans MT" panose="020B0502020104020203" pitchFamily="34" charset="77"/>
                <a:cs typeface="Trebuchet MS"/>
              </a:rPr>
              <a:t> </a:t>
            </a:r>
            <a:r>
              <a:rPr lang="es-ES_tradnl" dirty="0" err="1">
                <a:latin typeface="Gill Sans MT" panose="020B0502020104020203" pitchFamily="34" charset="77"/>
                <a:cs typeface="Trebuchet MS"/>
              </a:rPr>
              <a:t>e</a:t>
            </a:r>
            <a:r>
              <a:rPr lang="es-ES_tradnl" baseline="-25000" dirty="0" err="1">
                <a:latin typeface="Gill Sans MT" panose="020B0502020104020203" pitchFamily="34" charset="77"/>
                <a:cs typeface="Trebuchet MS"/>
              </a:rPr>
              <a:t>i</a:t>
            </a:r>
            <a:r>
              <a:rPr lang="es-ES_tradnl" dirty="0">
                <a:latin typeface="Gill Sans MT" panose="020B0502020104020203" pitchFamily="34" charset="77"/>
                <a:cs typeface="Trebuchet MS"/>
              </a:rPr>
              <a:t> </a:t>
            </a:r>
            <a:r>
              <a:rPr lang="es-ES_tradnl" dirty="0">
                <a:latin typeface="Gill Sans MT" panose="020B0502020104020203" pitchFamily="34" charset="77"/>
                <a:ea typeface="Wingdings"/>
                <a:cs typeface="Wingdings"/>
                <a:sym typeface="Wingdings"/>
              </a:rPr>
              <a:t></a:t>
            </a:r>
            <a:r>
              <a:rPr lang="es-ES_tradnl" dirty="0">
                <a:latin typeface="Gill Sans MT" panose="020B0502020104020203" pitchFamily="34" charset="77"/>
                <a:sym typeface="Wingdings"/>
              </a:rPr>
              <a:t> min</a:t>
            </a:r>
            <a:endParaRPr lang="es-ES_tradnl" dirty="0">
              <a:latin typeface="Gill Sans MT" panose="020B0502020104020203" pitchFamily="34" charset="77"/>
            </a:endParaRPr>
          </a:p>
        </p:txBody>
      </p:sp>
      <p:sp>
        <p:nvSpPr>
          <p:cNvPr id="3" name="Rectangle 2"/>
          <p:cNvSpPr/>
          <p:nvPr/>
        </p:nvSpPr>
        <p:spPr>
          <a:xfrm>
            <a:off x="7379464" y="1710565"/>
            <a:ext cx="1890326" cy="369332"/>
          </a:xfrm>
          <a:prstGeom prst="rect">
            <a:avLst/>
          </a:prstGeom>
        </p:spPr>
        <p:txBody>
          <a:bodyPr wrap="none">
            <a:spAutoFit/>
          </a:bodyPr>
          <a:lstStyle/>
          <a:p>
            <a:r>
              <a:rPr lang="es-ES_tradnl" dirty="0">
                <a:solidFill>
                  <a:schemeClr val="tx1">
                    <a:lumMod val="65000"/>
                    <a:lumOff val="35000"/>
                  </a:schemeClr>
                </a:solidFill>
                <a:latin typeface="Gill Sans MT" panose="020B0502020104020203" pitchFamily="34" charset="77"/>
                <a:cs typeface="Trebuchet MS"/>
              </a:rPr>
              <a:t>Ideas clave d SVM:</a:t>
            </a:r>
            <a:endParaRPr lang="es-ES_tradnl" dirty="0">
              <a:latin typeface="Gill Sans MT" panose="020B0502020104020203" pitchFamily="34" charset="77"/>
            </a:endParaRPr>
          </a:p>
        </p:txBody>
      </p:sp>
      <p:sp>
        <p:nvSpPr>
          <p:cNvPr id="40" name="TextBox 39"/>
          <p:cNvSpPr txBox="1"/>
          <p:nvPr/>
        </p:nvSpPr>
        <p:spPr>
          <a:xfrm>
            <a:off x="1919190" y="3706733"/>
            <a:ext cx="1890582" cy="338554"/>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Vectores de soporte</a:t>
            </a:r>
          </a:p>
        </p:txBody>
      </p:sp>
      <p:sp>
        <p:nvSpPr>
          <p:cNvPr id="41" name="TextBox 40"/>
          <p:cNvSpPr txBox="1"/>
          <p:nvPr/>
        </p:nvSpPr>
        <p:spPr>
          <a:xfrm>
            <a:off x="1915285" y="4015444"/>
            <a:ext cx="1016945" cy="338554"/>
          </a:xfrm>
          <a:prstGeom prst="rect">
            <a:avLst/>
          </a:prstGeom>
          <a:noFill/>
        </p:spPr>
        <p:txBody>
          <a:bodyPr wrap="none" rtlCol="0">
            <a:spAutoFit/>
          </a:bodyPr>
          <a:lstStyle/>
          <a:p>
            <a:r>
              <a:rPr lang="es-ES_tradnl" sz="1600" dirty="0" err="1">
                <a:solidFill>
                  <a:schemeClr val="tx1">
                    <a:lumMod val="65000"/>
                    <a:lumOff val="35000"/>
                  </a:schemeClr>
                </a:solidFill>
                <a:latin typeface="Gill Sans MT" panose="020B0502020104020203" pitchFamily="34" charset="77"/>
                <a:cs typeface="Trebuchet MS"/>
              </a:rPr>
              <a:t>e</a:t>
            </a:r>
            <a:r>
              <a:rPr lang="es-ES_tradnl" sz="1600" baseline="-25000" dirty="0" err="1">
                <a:solidFill>
                  <a:schemeClr val="tx1">
                    <a:lumMod val="65000"/>
                    <a:lumOff val="35000"/>
                  </a:schemeClr>
                </a:solidFill>
                <a:latin typeface="Gill Sans MT" panose="020B0502020104020203" pitchFamily="34" charset="77"/>
                <a:cs typeface="Trebuchet MS"/>
              </a:rPr>
              <a:t>i</a:t>
            </a:r>
            <a:r>
              <a:rPr lang="es-ES_tradnl" sz="1600" dirty="0">
                <a:solidFill>
                  <a:schemeClr val="tx1">
                    <a:lumMod val="65000"/>
                    <a:lumOff val="35000"/>
                  </a:schemeClr>
                </a:solidFill>
                <a:latin typeface="Gill Sans MT" panose="020B0502020104020203" pitchFamily="34" charset="77"/>
                <a:cs typeface="Trebuchet MS"/>
              </a:rPr>
              <a:t>: errores</a:t>
            </a:r>
          </a:p>
        </p:txBody>
      </p:sp>
    </p:spTree>
    <p:extLst>
      <p:ext uri="{BB962C8B-B14F-4D97-AF65-F5344CB8AC3E}">
        <p14:creationId xmlns:p14="http://schemas.microsoft.com/office/powerpoint/2010/main" val="2405683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2655333" y="1385737"/>
            <a:ext cx="6156508" cy="1449296"/>
            <a:chOff x="1131333" y="1385737"/>
            <a:chExt cx="6156508" cy="1449296"/>
          </a:xfrm>
        </p:grpSpPr>
        <p:pic>
          <p:nvPicPr>
            <p:cNvPr id="2" name="Picture 1" descr="Screen Shot 2014-10-28 at 5.58.19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5756" y="1385737"/>
              <a:ext cx="1732085" cy="1449296"/>
            </a:xfrm>
            <a:prstGeom prst="rect">
              <a:avLst/>
            </a:prstGeom>
          </p:spPr>
        </p:pic>
        <p:sp>
          <p:nvSpPr>
            <p:cNvPr id="3" name="Rectangle 2"/>
            <p:cNvSpPr/>
            <p:nvPr/>
          </p:nvSpPr>
          <p:spPr>
            <a:xfrm>
              <a:off x="1131333" y="1886411"/>
              <a:ext cx="3269806" cy="646331"/>
            </a:xfrm>
            <a:prstGeom prst="rect">
              <a:avLst/>
            </a:prstGeom>
          </p:spPr>
          <p:txBody>
            <a:bodyPr wrap="none">
              <a:spAutoFit/>
            </a:bodyPr>
            <a:lstStyle/>
            <a:p>
              <a:r>
                <a:rPr lang="es-ES_tradnl" dirty="0">
                  <a:latin typeface="Gill Sans MT" panose="020B0502020104020203" pitchFamily="34" charset="77"/>
                  <a:cs typeface="Trebuchet MS"/>
                </a:rPr>
                <a:t>1) Lineal con separación perfecta
</a:t>
              </a:r>
            </a:p>
          </p:txBody>
        </p:sp>
      </p:grpSp>
      <p:grpSp>
        <p:nvGrpSpPr>
          <p:cNvPr id="6" name="Group 5"/>
          <p:cNvGrpSpPr/>
          <p:nvPr/>
        </p:nvGrpSpPr>
        <p:grpSpPr>
          <a:xfrm>
            <a:off x="2651429" y="3374709"/>
            <a:ext cx="6155606" cy="1449296"/>
            <a:chOff x="1131333" y="1385737"/>
            <a:chExt cx="6155606" cy="1449296"/>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6658" y="1385737"/>
              <a:ext cx="1730281" cy="1449296"/>
            </a:xfrm>
            <a:prstGeom prst="rect">
              <a:avLst/>
            </a:prstGeom>
          </p:spPr>
        </p:pic>
        <p:sp>
          <p:nvSpPr>
            <p:cNvPr id="8" name="Rectangle 7"/>
            <p:cNvSpPr/>
            <p:nvPr/>
          </p:nvSpPr>
          <p:spPr>
            <a:xfrm>
              <a:off x="1131333" y="1886411"/>
              <a:ext cx="3181640" cy="646331"/>
            </a:xfrm>
            <a:prstGeom prst="rect">
              <a:avLst/>
            </a:prstGeom>
          </p:spPr>
          <p:txBody>
            <a:bodyPr wrap="none">
              <a:spAutoFit/>
            </a:bodyPr>
            <a:lstStyle/>
            <a:p>
              <a:r>
                <a:rPr lang="es-ES_tradnl" dirty="0">
                  <a:latin typeface="Gill Sans MT" panose="020B0502020104020203" pitchFamily="34" charset="77"/>
                  <a:cs typeface="Trebuchet MS"/>
                </a:rPr>
                <a:t>2) Lineal sin separación perfecta</a:t>
              </a:r>
              <a:r>
                <a:rPr lang="es-ES_tradnl" dirty="0">
                  <a:solidFill>
                    <a:schemeClr val="bg1">
                      <a:lumMod val="50000"/>
                    </a:schemeClr>
                  </a:solidFill>
                  <a:latin typeface="Gill Sans MT" panose="020B0502020104020203" pitchFamily="34" charset="77"/>
                  <a:cs typeface="Trebuchet MS"/>
                </a:rPr>
                <a:t>
</a:t>
              </a:r>
            </a:p>
          </p:txBody>
        </p:sp>
      </p:grpSp>
      <p:grpSp>
        <p:nvGrpSpPr>
          <p:cNvPr id="9" name="Group 8"/>
          <p:cNvGrpSpPr/>
          <p:nvPr/>
        </p:nvGrpSpPr>
        <p:grpSpPr>
          <a:xfrm>
            <a:off x="2657295" y="5197608"/>
            <a:ext cx="6016655" cy="1449296"/>
            <a:chOff x="1131333" y="1385737"/>
            <a:chExt cx="6016655" cy="1449296"/>
          </a:xfrm>
        </p:grpSpPr>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5609" y="1385737"/>
              <a:ext cx="1452379" cy="1449296"/>
            </a:xfrm>
            <a:prstGeom prst="rect">
              <a:avLst/>
            </a:prstGeom>
          </p:spPr>
        </p:pic>
        <p:sp>
          <p:nvSpPr>
            <p:cNvPr id="11" name="Rectangle 10"/>
            <p:cNvSpPr/>
            <p:nvPr/>
          </p:nvSpPr>
          <p:spPr>
            <a:xfrm>
              <a:off x="1131333" y="1886411"/>
              <a:ext cx="1287532" cy="646331"/>
            </a:xfrm>
            <a:prstGeom prst="rect">
              <a:avLst/>
            </a:prstGeom>
          </p:spPr>
          <p:txBody>
            <a:bodyPr wrap="none">
              <a:spAutoFit/>
            </a:bodyPr>
            <a:lstStyle/>
            <a:p>
              <a:r>
                <a:rPr lang="es-ES_tradnl" dirty="0">
                  <a:solidFill>
                    <a:schemeClr val="bg1">
                      <a:lumMod val="50000"/>
                    </a:schemeClr>
                  </a:solidFill>
                  <a:latin typeface="Gill Sans MT" panose="020B0502020104020203" pitchFamily="34" charset="77"/>
                  <a:cs typeface="Trebuchet MS"/>
                </a:rPr>
                <a:t>3) No lineal
</a:t>
              </a:r>
            </a:p>
          </p:txBody>
        </p:sp>
      </p:grpSp>
      <p:sp>
        <p:nvSpPr>
          <p:cNvPr id="15" name="TextBox 14">
            <a:extLst>
              <a:ext uri="{FF2B5EF4-FFF2-40B4-BE49-F238E27FC236}">
                <a16:creationId xmlns:a16="http://schemas.microsoft.com/office/drawing/2014/main" id="{11BB7898-459B-9C45-9840-E1F3CF22D7D4}"/>
              </a:ext>
            </a:extLst>
          </p:cNvPr>
          <p:cNvSpPr txBox="1"/>
          <p:nvPr/>
        </p:nvSpPr>
        <p:spPr>
          <a:xfrm>
            <a:off x="2135561" y="764705"/>
            <a:ext cx="4911601"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Máquinas vectoriales de soporte
</a:t>
            </a:r>
          </a:p>
        </p:txBody>
      </p:sp>
      <p:sp>
        <p:nvSpPr>
          <p:cNvPr id="13" name="Rectangle 12">
            <a:extLst>
              <a:ext uri="{FF2B5EF4-FFF2-40B4-BE49-F238E27FC236}">
                <a16:creationId xmlns:a16="http://schemas.microsoft.com/office/drawing/2014/main" id="{FD7AE1B7-AD79-C044-B40A-F7C7AFAAF2C5}"/>
              </a:ext>
            </a:extLst>
          </p:cNvPr>
          <p:cNvSpPr/>
          <p:nvPr/>
        </p:nvSpPr>
        <p:spPr>
          <a:xfrm>
            <a:off x="7063155" y="1328615"/>
            <a:ext cx="1924539" cy="3585308"/>
          </a:xfrm>
          <a:prstGeom prst="rect">
            <a:avLst/>
          </a:prstGeom>
          <a:solidFill>
            <a:schemeClr val="bg1">
              <a:alpha val="8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Tree>
    <p:extLst>
      <p:ext uri="{BB962C8B-B14F-4D97-AF65-F5344CB8AC3E}">
        <p14:creationId xmlns:p14="http://schemas.microsoft.com/office/powerpoint/2010/main" val="22354773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539654" y="3634153"/>
            <a:ext cx="1440160" cy="1800200"/>
            <a:chOff x="2888654" y="3429000"/>
            <a:chExt cx="1440160" cy="1800200"/>
          </a:xfrm>
        </p:grpSpPr>
        <p:sp>
          <p:nvSpPr>
            <p:cNvPr id="6" name="Oval 5"/>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 name="Oval 6"/>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 name="Oval 7"/>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 name="Oval 8"/>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 name="Oval 9"/>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Oval 10"/>
            <p:cNvSpPr/>
            <p:nvPr/>
          </p:nvSpPr>
          <p:spPr>
            <a:xfrm>
              <a:off x="3949556" y="35777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 name="Oval 11"/>
            <p:cNvSpPr/>
            <p:nvPr/>
          </p:nvSpPr>
          <p:spPr>
            <a:xfrm>
              <a:off x="3840673" y="399891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3" name="Oval 12"/>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4" name="Oval 13"/>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5" name="Oval 14"/>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6" name="Oval 15"/>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7" name="Oval 16"/>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8" name="Oval 17"/>
            <p:cNvSpPr/>
            <p:nvPr/>
          </p:nvSpPr>
          <p:spPr>
            <a:xfrm>
              <a:off x="3538148" y="355095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9" name="Oval 18"/>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0" name="Oval 19"/>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1" name="Oval 20"/>
            <p:cNvSpPr/>
            <p:nvPr/>
          </p:nvSpPr>
          <p:spPr>
            <a:xfrm>
              <a:off x="3494026" y="387554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2" name="Oval 21"/>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3" name="Oval 22"/>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2" name="Group 41"/>
          <p:cNvGrpSpPr/>
          <p:nvPr/>
        </p:nvGrpSpPr>
        <p:grpSpPr>
          <a:xfrm rot="2553764">
            <a:off x="5409494" y="2625234"/>
            <a:ext cx="1922676" cy="1440160"/>
            <a:chOff x="4299707" y="3005336"/>
            <a:chExt cx="1922676" cy="1440160"/>
          </a:xfrm>
          <a:solidFill>
            <a:srgbClr val="0000FF"/>
          </a:solidFill>
        </p:grpSpPr>
        <p:sp>
          <p:nvSpPr>
            <p:cNvPr id="24" name="Oval 23"/>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5" name="Oval 24"/>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6" name="Oval 25"/>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7" name="Oval 26"/>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8" name="Oval 27"/>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9" name="Oval 28"/>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0" name="Oval 29"/>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1" name="Oval 30"/>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2" name="Oval 31"/>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3" name="Oval 32"/>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4" name="Oval 33"/>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5" name="Oval 34"/>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6" name="Oval 35"/>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7" name="Oval 36"/>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8" name="Oval 37"/>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9" name="Oval 38"/>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0" name="Oval 39"/>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1" name="Oval 40"/>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7" name="Group 46"/>
          <p:cNvGrpSpPr/>
          <p:nvPr/>
        </p:nvGrpSpPr>
        <p:grpSpPr>
          <a:xfrm rot="4807221">
            <a:off x="4467362" y="1989014"/>
            <a:ext cx="1440160" cy="1800200"/>
            <a:chOff x="2888654" y="3429000"/>
            <a:chExt cx="1440160" cy="1800200"/>
          </a:xfrm>
        </p:grpSpPr>
        <p:sp>
          <p:nvSpPr>
            <p:cNvPr id="48" name="Oval 4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9" name="Oval 4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0" name="Oval 49"/>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1" name="Oval 50"/>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2" name="Oval 51"/>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7" name="Oval 56"/>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8" name="Oval 57"/>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0" name="Oval 59"/>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1" name="Oval 60"/>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66" name="Group 65"/>
          <p:cNvGrpSpPr/>
          <p:nvPr/>
        </p:nvGrpSpPr>
        <p:grpSpPr>
          <a:xfrm rot="15100624">
            <a:off x="5825284" y="4157784"/>
            <a:ext cx="1440160" cy="1800200"/>
            <a:chOff x="2888654" y="3429000"/>
            <a:chExt cx="1440160" cy="1800200"/>
          </a:xfrm>
        </p:grpSpPr>
        <p:sp>
          <p:nvSpPr>
            <p:cNvPr id="67" name="Oval 66"/>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1" name="Oval 80"/>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Tree>
    <p:extLst>
      <p:ext uri="{BB962C8B-B14F-4D97-AF65-F5344CB8AC3E}">
        <p14:creationId xmlns:p14="http://schemas.microsoft.com/office/powerpoint/2010/main" val="42175219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539654" y="3634153"/>
            <a:ext cx="1440160" cy="1800200"/>
            <a:chOff x="2888654" y="3429000"/>
            <a:chExt cx="1440160" cy="1800200"/>
          </a:xfrm>
        </p:grpSpPr>
        <p:sp>
          <p:nvSpPr>
            <p:cNvPr id="6" name="Oval 5"/>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 name="Oval 6"/>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 name="Oval 7"/>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 name="Oval 8"/>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 name="Oval 9"/>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Oval 10"/>
            <p:cNvSpPr/>
            <p:nvPr/>
          </p:nvSpPr>
          <p:spPr>
            <a:xfrm>
              <a:off x="3949556" y="35777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 name="Oval 11"/>
            <p:cNvSpPr/>
            <p:nvPr/>
          </p:nvSpPr>
          <p:spPr>
            <a:xfrm>
              <a:off x="3840673" y="399891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3" name="Oval 12"/>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4" name="Oval 13"/>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5" name="Oval 14"/>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6" name="Oval 15"/>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7" name="Oval 16"/>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8" name="Oval 17"/>
            <p:cNvSpPr/>
            <p:nvPr/>
          </p:nvSpPr>
          <p:spPr>
            <a:xfrm>
              <a:off x="3538148" y="355095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9" name="Oval 18"/>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0" name="Oval 19"/>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1" name="Oval 20"/>
            <p:cNvSpPr/>
            <p:nvPr/>
          </p:nvSpPr>
          <p:spPr>
            <a:xfrm>
              <a:off x="3494026" y="387554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2" name="Oval 21"/>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3" name="Oval 22"/>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2" name="Group 41"/>
          <p:cNvGrpSpPr/>
          <p:nvPr/>
        </p:nvGrpSpPr>
        <p:grpSpPr>
          <a:xfrm rot="2553764">
            <a:off x="5409494" y="2625234"/>
            <a:ext cx="1922676" cy="1440160"/>
            <a:chOff x="4299707" y="3005336"/>
            <a:chExt cx="1922676" cy="1440160"/>
          </a:xfrm>
          <a:solidFill>
            <a:srgbClr val="0000FF"/>
          </a:solidFill>
        </p:grpSpPr>
        <p:sp>
          <p:nvSpPr>
            <p:cNvPr id="24" name="Oval 23"/>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5" name="Oval 24"/>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6" name="Oval 25"/>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7" name="Oval 26"/>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8" name="Oval 27"/>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9" name="Oval 28"/>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0" name="Oval 29"/>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1" name="Oval 30"/>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2" name="Oval 31"/>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3" name="Oval 32"/>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4" name="Oval 33"/>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5" name="Oval 34"/>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6" name="Oval 35"/>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7" name="Oval 36"/>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8" name="Oval 37"/>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9" name="Oval 38"/>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0" name="Oval 39"/>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1" name="Oval 40"/>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7" name="Group 46"/>
          <p:cNvGrpSpPr/>
          <p:nvPr/>
        </p:nvGrpSpPr>
        <p:grpSpPr>
          <a:xfrm rot="4807221">
            <a:off x="4467362" y="1989014"/>
            <a:ext cx="1440160" cy="1800200"/>
            <a:chOff x="2888654" y="3429000"/>
            <a:chExt cx="1440160" cy="1800200"/>
          </a:xfrm>
        </p:grpSpPr>
        <p:sp>
          <p:nvSpPr>
            <p:cNvPr id="48" name="Oval 4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9" name="Oval 4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0" name="Oval 49"/>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1" name="Oval 50"/>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2" name="Oval 51"/>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7" name="Oval 56"/>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8" name="Oval 57"/>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0" name="Oval 59"/>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1" name="Oval 60"/>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66" name="Group 65"/>
          <p:cNvGrpSpPr/>
          <p:nvPr/>
        </p:nvGrpSpPr>
        <p:grpSpPr>
          <a:xfrm rot="15100624">
            <a:off x="5825284" y="4157784"/>
            <a:ext cx="1440160" cy="1800200"/>
            <a:chOff x="2888654" y="3429000"/>
            <a:chExt cx="1440160" cy="1800200"/>
          </a:xfrm>
        </p:grpSpPr>
        <p:sp>
          <p:nvSpPr>
            <p:cNvPr id="67" name="Oval 66"/>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1" name="Oval 80"/>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85" name="Freeform 84"/>
          <p:cNvSpPr/>
          <p:nvPr/>
        </p:nvSpPr>
        <p:spPr>
          <a:xfrm>
            <a:off x="5578227" y="1484923"/>
            <a:ext cx="2530231" cy="2647196"/>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86" name="Freeform 85"/>
          <p:cNvSpPr/>
          <p:nvPr/>
        </p:nvSpPr>
        <p:spPr>
          <a:xfrm>
            <a:off x="4880707" y="1246555"/>
            <a:ext cx="3364524" cy="3413369"/>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87" name="Freeform 86"/>
          <p:cNvSpPr/>
          <p:nvPr/>
        </p:nvSpPr>
        <p:spPr>
          <a:xfrm>
            <a:off x="4157787" y="840153"/>
            <a:ext cx="4312139" cy="4347308"/>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88" name="Freeform 87"/>
          <p:cNvSpPr/>
          <p:nvPr/>
        </p:nvSpPr>
        <p:spPr>
          <a:xfrm>
            <a:off x="3561860" y="341924"/>
            <a:ext cx="5220678" cy="5480539"/>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cxnSp>
        <p:nvCxnSpPr>
          <p:cNvPr id="89" name="Straight Connector 88"/>
          <p:cNvCxnSpPr/>
          <p:nvPr/>
        </p:nvCxnSpPr>
        <p:spPr>
          <a:xfrm flipH="1">
            <a:off x="2872154" y="2803769"/>
            <a:ext cx="4210538" cy="29014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0" name="Straight Connector 89"/>
          <p:cNvCxnSpPr/>
          <p:nvPr/>
        </p:nvCxnSpPr>
        <p:spPr>
          <a:xfrm flipH="1">
            <a:off x="2305540" y="2530231"/>
            <a:ext cx="4650155" cy="124069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3" name="Straight Connector 92"/>
          <p:cNvCxnSpPr/>
          <p:nvPr/>
        </p:nvCxnSpPr>
        <p:spPr>
          <a:xfrm flipH="1">
            <a:off x="4357079" y="3067539"/>
            <a:ext cx="2969845" cy="359507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7" name="Straight Connector 96"/>
          <p:cNvCxnSpPr/>
          <p:nvPr/>
        </p:nvCxnSpPr>
        <p:spPr>
          <a:xfrm flipH="1">
            <a:off x="6688018" y="3214077"/>
            <a:ext cx="1039445" cy="327855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9" name="Straight Connector 98"/>
          <p:cNvCxnSpPr/>
          <p:nvPr/>
        </p:nvCxnSpPr>
        <p:spPr>
          <a:xfrm flipH="1">
            <a:off x="2881924" y="1910862"/>
            <a:ext cx="3747479" cy="7229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2403228" y="1817081"/>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1</a:t>
            </a:r>
          </a:p>
        </p:txBody>
      </p:sp>
      <p:sp>
        <p:nvSpPr>
          <p:cNvPr id="91" name="TextBox 90"/>
          <p:cNvSpPr txBox="1"/>
          <p:nvPr/>
        </p:nvSpPr>
        <p:spPr>
          <a:xfrm>
            <a:off x="2008551" y="3552097"/>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2</a:t>
            </a:r>
          </a:p>
        </p:txBody>
      </p:sp>
      <p:sp>
        <p:nvSpPr>
          <p:cNvPr id="92" name="TextBox 91"/>
          <p:cNvSpPr txBox="1"/>
          <p:nvPr/>
        </p:nvSpPr>
        <p:spPr>
          <a:xfrm>
            <a:off x="2555628" y="5535250"/>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3</a:t>
            </a:r>
          </a:p>
        </p:txBody>
      </p:sp>
      <p:sp>
        <p:nvSpPr>
          <p:cNvPr id="94" name="TextBox 93"/>
          <p:cNvSpPr txBox="1"/>
          <p:nvPr/>
        </p:nvSpPr>
        <p:spPr>
          <a:xfrm>
            <a:off x="4011243" y="6385173"/>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4</a:t>
            </a:r>
          </a:p>
        </p:txBody>
      </p:sp>
      <p:sp>
        <p:nvSpPr>
          <p:cNvPr id="95" name="TextBox 94"/>
          <p:cNvSpPr txBox="1"/>
          <p:nvPr/>
        </p:nvSpPr>
        <p:spPr>
          <a:xfrm>
            <a:off x="6488720" y="6488668"/>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5</a:t>
            </a:r>
          </a:p>
        </p:txBody>
      </p:sp>
      <p:sp>
        <p:nvSpPr>
          <p:cNvPr id="96" name="TextBox 95"/>
          <p:cNvSpPr txBox="1"/>
          <p:nvPr/>
        </p:nvSpPr>
        <p:spPr>
          <a:xfrm>
            <a:off x="8032259" y="3167188"/>
            <a:ext cx="282450" cy="369332"/>
          </a:xfrm>
          <a:prstGeom prst="rect">
            <a:avLst/>
          </a:prstGeom>
          <a:noFill/>
        </p:spPr>
        <p:txBody>
          <a:bodyPr wrap="none" rtlCol="0">
            <a:spAutoFit/>
          </a:bodyPr>
          <a:lstStyle/>
          <a:p>
            <a:r>
              <a:rPr lang="en-US" dirty="0">
                <a:latin typeface="Gill Sans MT" panose="020B0502020104020203" pitchFamily="34" charset="77"/>
                <a:cs typeface="Trebuchet MS"/>
              </a:rPr>
              <a:t>a</a:t>
            </a:r>
          </a:p>
        </p:txBody>
      </p:sp>
      <p:sp>
        <p:nvSpPr>
          <p:cNvPr id="98" name="TextBox 97"/>
          <p:cNvSpPr txBox="1"/>
          <p:nvPr/>
        </p:nvSpPr>
        <p:spPr>
          <a:xfrm>
            <a:off x="8086965" y="3661505"/>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b</a:t>
            </a:r>
          </a:p>
        </p:txBody>
      </p:sp>
      <p:sp>
        <p:nvSpPr>
          <p:cNvPr id="100" name="TextBox 99"/>
          <p:cNvSpPr txBox="1"/>
          <p:nvPr/>
        </p:nvSpPr>
        <p:spPr>
          <a:xfrm>
            <a:off x="8229597" y="4233972"/>
            <a:ext cx="285656" cy="369332"/>
          </a:xfrm>
          <a:prstGeom prst="rect">
            <a:avLst/>
          </a:prstGeom>
          <a:noFill/>
        </p:spPr>
        <p:txBody>
          <a:bodyPr wrap="none" rtlCol="0">
            <a:spAutoFit/>
          </a:bodyPr>
          <a:lstStyle/>
          <a:p>
            <a:r>
              <a:rPr lang="en-US" dirty="0">
                <a:latin typeface="Gill Sans MT" panose="020B0502020104020203" pitchFamily="34" charset="77"/>
                <a:cs typeface="Trebuchet MS"/>
              </a:rPr>
              <a:t>c</a:t>
            </a:r>
          </a:p>
        </p:txBody>
      </p:sp>
      <p:sp>
        <p:nvSpPr>
          <p:cNvPr id="101" name="TextBox 100"/>
          <p:cNvSpPr txBox="1"/>
          <p:nvPr/>
        </p:nvSpPr>
        <p:spPr>
          <a:xfrm>
            <a:off x="8444523" y="4693136"/>
            <a:ext cx="313044" cy="369332"/>
          </a:xfrm>
          <a:prstGeom prst="rect">
            <a:avLst/>
          </a:prstGeom>
          <a:noFill/>
        </p:spPr>
        <p:txBody>
          <a:bodyPr wrap="none" rtlCol="0">
            <a:spAutoFit/>
          </a:bodyPr>
          <a:lstStyle/>
          <a:p>
            <a:r>
              <a:rPr lang="en-US" dirty="0">
                <a:latin typeface="Gill Sans MT" panose="020B0502020104020203" pitchFamily="34" charset="77"/>
                <a:cs typeface="Trebuchet MS"/>
              </a:rPr>
              <a:t>d</a:t>
            </a:r>
          </a:p>
        </p:txBody>
      </p:sp>
      <p:sp>
        <p:nvSpPr>
          <p:cNvPr id="102" name="Freeform 101"/>
          <p:cNvSpPr/>
          <p:nvPr/>
        </p:nvSpPr>
        <p:spPr>
          <a:xfrm>
            <a:off x="6180015" y="1953847"/>
            <a:ext cx="1830754" cy="1514230"/>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103" name="TextBox 102"/>
          <p:cNvSpPr txBox="1"/>
          <p:nvPr/>
        </p:nvSpPr>
        <p:spPr>
          <a:xfrm>
            <a:off x="8753227" y="5265603"/>
            <a:ext cx="295274" cy="369332"/>
          </a:xfrm>
          <a:prstGeom prst="rect">
            <a:avLst/>
          </a:prstGeom>
          <a:noFill/>
        </p:spPr>
        <p:txBody>
          <a:bodyPr wrap="none" rtlCol="0">
            <a:spAutoFit/>
          </a:bodyPr>
          <a:lstStyle/>
          <a:p>
            <a:r>
              <a:rPr lang="en-US" dirty="0">
                <a:latin typeface="Gill Sans MT" panose="020B0502020104020203" pitchFamily="34" charset="77"/>
                <a:cs typeface="Trebuchet MS"/>
              </a:rPr>
              <a:t>e</a:t>
            </a:r>
          </a:p>
        </p:txBody>
      </p:sp>
    </p:spTree>
    <p:extLst>
      <p:ext uri="{BB962C8B-B14F-4D97-AF65-F5344CB8AC3E}">
        <p14:creationId xmlns:p14="http://schemas.microsoft.com/office/powerpoint/2010/main" val="40119534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539654" y="3634153"/>
            <a:ext cx="1440160" cy="1800200"/>
            <a:chOff x="2888654" y="3429000"/>
            <a:chExt cx="1440160" cy="1800200"/>
          </a:xfrm>
        </p:grpSpPr>
        <p:sp>
          <p:nvSpPr>
            <p:cNvPr id="6" name="Oval 5"/>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 name="Oval 6"/>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 name="Oval 7"/>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 name="Oval 8"/>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 name="Oval 9"/>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Oval 10"/>
            <p:cNvSpPr/>
            <p:nvPr/>
          </p:nvSpPr>
          <p:spPr>
            <a:xfrm>
              <a:off x="3949556" y="35777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 name="Oval 11"/>
            <p:cNvSpPr/>
            <p:nvPr/>
          </p:nvSpPr>
          <p:spPr>
            <a:xfrm>
              <a:off x="3840673" y="399891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3" name="Oval 12"/>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4" name="Oval 13"/>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5" name="Oval 14"/>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6" name="Oval 15"/>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7" name="Oval 16"/>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8" name="Oval 17"/>
            <p:cNvSpPr/>
            <p:nvPr/>
          </p:nvSpPr>
          <p:spPr>
            <a:xfrm>
              <a:off x="3538148" y="355095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9" name="Oval 18"/>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0" name="Oval 19"/>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1" name="Oval 20"/>
            <p:cNvSpPr/>
            <p:nvPr/>
          </p:nvSpPr>
          <p:spPr>
            <a:xfrm>
              <a:off x="3494026" y="387554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2" name="Oval 21"/>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3" name="Oval 22"/>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2" name="Group 41"/>
          <p:cNvGrpSpPr/>
          <p:nvPr/>
        </p:nvGrpSpPr>
        <p:grpSpPr>
          <a:xfrm rot="2553764">
            <a:off x="5409494" y="2625234"/>
            <a:ext cx="1922676" cy="1440160"/>
            <a:chOff x="4299707" y="3005336"/>
            <a:chExt cx="1922676" cy="1440160"/>
          </a:xfrm>
          <a:solidFill>
            <a:srgbClr val="0000FF"/>
          </a:solidFill>
        </p:grpSpPr>
        <p:sp>
          <p:nvSpPr>
            <p:cNvPr id="24" name="Oval 23"/>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5" name="Oval 24"/>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6" name="Oval 25"/>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7" name="Oval 26"/>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8" name="Oval 27"/>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9" name="Oval 28"/>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0" name="Oval 29"/>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1" name="Oval 30"/>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2" name="Oval 31"/>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3" name="Oval 32"/>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4" name="Oval 33"/>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5" name="Oval 34"/>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6" name="Oval 35"/>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7" name="Oval 36"/>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8" name="Oval 37"/>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9" name="Oval 38"/>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0" name="Oval 39"/>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1" name="Oval 40"/>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7" name="Group 46"/>
          <p:cNvGrpSpPr/>
          <p:nvPr/>
        </p:nvGrpSpPr>
        <p:grpSpPr>
          <a:xfrm rot="4807221">
            <a:off x="4467362" y="1989014"/>
            <a:ext cx="1440160" cy="1800200"/>
            <a:chOff x="2888654" y="3429000"/>
            <a:chExt cx="1440160" cy="1800200"/>
          </a:xfrm>
        </p:grpSpPr>
        <p:sp>
          <p:nvSpPr>
            <p:cNvPr id="48" name="Oval 4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9" name="Oval 4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0" name="Oval 49"/>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1" name="Oval 50"/>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2" name="Oval 51"/>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7" name="Oval 56"/>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8" name="Oval 57"/>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0" name="Oval 59"/>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1" name="Oval 60"/>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66" name="Group 65"/>
          <p:cNvGrpSpPr/>
          <p:nvPr/>
        </p:nvGrpSpPr>
        <p:grpSpPr>
          <a:xfrm rot="15100624">
            <a:off x="5825284" y="4157784"/>
            <a:ext cx="1440160" cy="1800200"/>
            <a:chOff x="2888654" y="3429000"/>
            <a:chExt cx="1440160" cy="1800200"/>
          </a:xfrm>
        </p:grpSpPr>
        <p:sp>
          <p:nvSpPr>
            <p:cNvPr id="67" name="Oval 66"/>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1" name="Oval 80"/>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85" name="Freeform 84"/>
          <p:cNvSpPr/>
          <p:nvPr/>
        </p:nvSpPr>
        <p:spPr>
          <a:xfrm>
            <a:off x="5578227" y="1484923"/>
            <a:ext cx="2530231" cy="2647196"/>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86" name="Freeform 85"/>
          <p:cNvSpPr/>
          <p:nvPr/>
        </p:nvSpPr>
        <p:spPr>
          <a:xfrm>
            <a:off x="4880707" y="1246555"/>
            <a:ext cx="3364524" cy="3413369"/>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87" name="Freeform 86"/>
          <p:cNvSpPr/>
          <p:nvPr/>
        </p:nvSpPr>
        <p:spPr>
          <a:xfrm>
            <a:off x="4157787" y="840153"/>
            <a:ext cx="4312139" cy="4347308"/>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88" name="Freeform 87"/>
          <p:cNvSpPr/>
          <p:nvPr/>
        </p:nvSpPr>
        <p:spPr>
          <a:xfrm>
            <a:off x="3561860" y="341924"/>
            <a:ext cx="5220678" cy="5480539"/>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w="57150" cmpd="sng">
            <a:solidFill>
              <a:srgbClr val="262626"/>
            </a:solidFill>
            <a:headEnd type="none"/>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cxnSp>
        <p:nvCxnSpPr>
          <p:cNvPr id="89" name="Straight Connector 88"/>
          <p:cNvCxnSpPr/>
          <p:nvPr/>
        </p:nvCxnSpPr>
        <p:spPr>
          <a:xfrm flipH="1">
            <a:off x="2872154" y="2803769"/>
            <a:ext cx="4210538" cy="29014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0" name="Straight Connector 89"/>
          <p:cNvCxnSpPr/>
          <p:nvPr/>
        </p:nvCxnSpPr>
        <p:spPr>
          <a:xfrm flipH="1">
            <a:off x="2305540" y="2530231"/>
            <a:ext cx="4650155" cy="124069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3" name="Straight Connector 92"/>
          <p:cNvCxnSpPr/>
          <p:nvPr/>
        </p:nvCxnSpPr>
        <p:spPr>
          <a:xfrm flipH="1">
            <a:off x="4357079" y="3067539"/>
            <a:ext cx="2969845" cy="359507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7" name="Straight Connector 96"/>
          <p:cNvCxnSpPr/>
          <p:nvPr/>
        </p:nvCxnSpPr>
        <p:spPr>
          <a:xfrm flipH="1">
            <a:off x="6688018" y="3214077"/>
            <a:ext cx="1039445" cy="327855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9" name="Straight Connector 98"/>
          <p:cNvCxnSpPr/>
          <p:nvPr/>
        </p:nvCxnSpPr>
        <p:spPr>
          <a:xfrm flipH="1">
            <a:off x="2881924" y="1910862"/>
            <a:ext cx="3747479" cy="72292"/>
          </a:xfrm>
          <a:prstGeom prst="line">
            <a:avLst/>
          </a:prstGeom>
          <a:ln w="57150" cmpd="sng">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2403228" y="1817081"/>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1</a:t>
            </a:r>
          </a:p>
        </p:txBody>
      </p:sp>
      <p:sp>
        <p:nvSpPr>
          <p:cNvPr id="91" name="TextBox 90"/>
          <p:cNvSpPr txBox="1"/>
          <p:nvPr/>
        </p:nvSpPr>
        <p:spPr>
          <a:xfrm>
            <a:off x="2008551" y="3552097"/>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2</a:t>
            </a:r>
          </a:p>
        </p:txBody>
      </p:sp>
      <p:sp>
        <p:nvSpPr>
          <p:cNvPr id="92" name="TextBox 91"/>
          <p:cNvSpPr txBox="1"/>
          <p:nvPr/>
        </p:nvSpPr>
        <p:spPr>
          <a:xfrm>
            <a:off x="2555628" y="5535250"/>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3</a:t>
            </a:r>
          </a:p>
        </p:txBody>
      </p:sp>
      <p:sp>
        <p:nvSpPr>
          <p:cNvPr id="94" name="TextBox 93"/>
          <p:cNvSpPr txBox="1"/>
          <p:nvPr/>
        </p:nvSpPr>
        <p:spPr>
          <a:xfrm>
            <a:off x="4011243" y="6385173"/>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4</a:t>
            </a:r>
          </a:p>
        </p:txBody>
      </p:sp>
      <p:sp>
        <p:nvSpPr>
          <p:cNvPr id="95" name="TextBox 94"/>
          <p:cNvSpPr txBox="1"/>
          <p:nvPr/>
        </p:nvSpPr>
        <p:spPr>
          <a:xfrm>
            <a:off x="6488720" y="6488668"/>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5</a:t>
            </a:r>
          </a:p>
        </p:txBody>
      </p:sp>
      <p:sp>
        <p:nvSpPr>
          <p:cNvPr id="96" name="TextBox 95"/>
          <p:cNvSpPr txBox="1"/>
          <p:nvPr/>
        </p:nvSpPr>
        <p:spPr>
          <a:xfrm>
            <a:off x="8032259" y="3167188"/>
            <a:ext cx="282450" cy="369332"/>
          </a:xfrm>
          <a:prstGeom prst="rect">
            <a:avLst/>
          </a:prstGeom>
          <a:noFill/>
        </p:spPr>
        <p:txBody>
          <a:bodyPr wrap="none" rtlCol="0">
            <a:spAutoFit/>
          </a:bodyPr>
          <a:lstStyle/>
          <a:p>
            <a:r>
              <a:rPr lang="en-US" dirty="0">
                <a:latin typeface="Gill Sans MT" panose="020B0502020104020203" pitchFamily="34" charset="77"/>
                <a:cs typeface="Trebuchet MS"/>
              </a:rPr>
              <a:t>a</a:t>
            </a:r>
          </a:p>
        </p:txBody>
      </p:sp>
      <p:sp>
        <p:nvSpPr>
          <p:cNvPr id="98" name="TextBox 97"/>
          <p:cNvSpPr txBox="1"/>
          <p:nvPr/>
        </p:nvSpPr>
        <p:spPr>
          <a:xfrm>
            <a:off x="8086965" y="3661505"/>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b</a:t>
            </a:r>
          </a:p>
        </p:txBody>
      </p:sp>
      <p:sp>
        <p:nvSpPr>
          <p:cNvPr id="100" name="TextBox 99"/>
          <p:cNvSpPr txBox="1"/>
          <p:nvPr/>
        </p:nvSpPr>
        <p:spPr>
          <a:xfrm>
            <a:off x="8229597" y="4233972"/>
            <a:ext cx="285656" cy="369332"/>
          </a:xfrm>
          <a:prstGeom prst="rect">
            <a:avLst/>
          </a:prstGeom>
          <a:noFill/>
        </p:spPr>
        <p:txBody>
          <a:bodyPr wrap="none" rtlCol="0">
            <a:spAutoFit/>
          </a:bodyPr>
          <a:lstStyle/>
          <a:p>
            <a:r>
              <a:rPr lang="en-US" dirty="0">
                <a:latin typeface="Gill Sans MT" panose="020B0502020104020203" pitchFamily="34" charset="77"/>
                <a:cs typeface="Trebuchet MS"/>
              </a:rPr>
              <a:t>c</a:t>
            </a:r>
          </a:p>
        </p:txBody>
      </p:sp>
      <p:sp>
        <p:nvSpPr>
          <p:cNvPr id="101" name="TextBox 100"/>
          <p:cNvSpPr txBox="1"/>
          <p:nvPr/>
        </p:nvSpPr>
        <p:spPr>
          <a:xfrm>
            <a:off x="8444523" y="4693136"/>
            <a:ext cx="313044" cy="369332"/>
          </a:xfrm>
          <a:prstGeom prst="rect">
            <a:avLst/>
          </a:prstGeom>
          <a:noFill/>
        </p:spPr>
        <p:txBody>
          <a:bodyPr wrap="none" rtlCol="0">
            <a:spAutoFit/>
          </a:bodyPr>
          <a:lstStyle/>
          <a:p>
            <a:r>
              <a:rPr lang="en-US" dirty="0">
                <a:latin typeface="Gill Sans MT" panose="020B0502020104020203" pitchFamily="34" charset="77"/>
                <a:cs typeface="Trebuchet MS"/>
              </a:rPr>
              <a:t>d</a:t>
            </a:r>
          </a:p>
        </p:txBody>
      </p:sp>
      <p:sp>
        <p:nvSpPr>
          <p:cNvPr id="102" name="Freeform 101"/>
          <p:cNvSpPr/>
          <p:nvPr/>
        </p:nvSpPr>
        <p:spPr>
          <a:xfrm>
            <a:off x="6180015" y="1953847"/>
            <a:ext cx="1830754" cy="1514230"/>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103" name="TextBox 102"/>
          <p:cNvSpPr txBox="1"/>
          <p:nvPr/>
        </p:nvSpPr>
        <p:spPr>
          <a:xfrm>
            <a:off x="8753227" y="5265603"/>
            <a:ext cx="295274" cy="369332"/>
          </a:xfrm>
          <a:prstGeom prst="rect">
            <a:avLst/>
          </a:prstGeom>
          <a:noFill/>
        </p:spPr>
        <p:txBody>
          <a:bodyPr wrap="none" rtlCol="0">
            <a:spAutoFit/>
          </a:bodyPr>
          <a:lstStyle/>
          <a:p>
            <a:r>
              <a:rPr lang="en-US" dirty="0">
                <a:latin typeface="Gill Sans MT" panose="020B0502020104020203" pitchFamily="34" charset="77"/>
                <a:cs typeface="Trebuchet MS"/>
              </a:rPr>
              <a:t>e</a:t>
            </a:r>
          </a:p>
        </p:txBody>
      </p:sp>
      <p:sp>
        <p:nvSpPr>
          <p:cNvPr id="104" name="Rectangle 103"/>
          <p:cNvSpPr/>
          <p:nvPr/>
        </p:nvSpPr>
        <p:spPr>
          <a:xfrm>
            <a:off x="7144530" y="1700794"/>
            <a:ext cx="3217484" cy="369332"/>
          </a:xfrm>
          <a:prstGeom prst="rect">
            <a:avLst/>
          </a:prstGeom>
          <a:ln>
            <a:noFill/>
          </a:ln>
        </p:spPr>
        <p:txBody>
          <a:bodyPr wrap="none">
            <a:spAutoFit/>
          </a:bodyPr>
          <a:lstStyle/>
          <a:p>
            <a:r>
              <a:rPr lang="en-US" dirty="0">
                <a:solidFill>
                  <a:schemeClr val="tx1">
                    <a:lumMod val="65000"/>
                    <a:lumOff val="35000"/>
                  </a:schemeClr>
                </a:solidFill>
                <a:latin typeface="Gill Sans MT" panose="020B0502020104020203" pitchFamily="34" charset="77"/>
                <a:cs typeface="Trebuchet MS"/>
              </a:rPr>
              <a:t>Nuevo </a:t>
            </a:r>
            <a:r>
              <a:rPr lang="en-US" dirty="0" err="1">
                <a:solidFill>
                  <a:schemeClr val="tx1">
                    <a:lumMod val="65000"/>
                    <a:lumOff val="35000"/>
                  </a:schemeClr>
                </a:solidFill>
                <a:latin typeface="Gill Sans MT" panose="020B0502020104020203" pitchFamily="34" charset="77"/>
                <a:cs typeface="Trebuchet MS"/>
              </a:rPr>
              <a:t>sistema</a:t>
            </a:r>
            <a:r>
              <a:rPr lang="en-US" dirty="0">
                <a:solidFill>
                  <a:schemeClr val="tx1">
                    <a:lumMod val="65000"/>
                    <a:lumOff val="35000"/>
                  </a:schemeClr>
                </a:solidFill>
                <a:latin typeface="Gill Sans MT" panose="020B0502020104020203" pitchFamily="34" charset="77"/>
                <a:cs typeface="Trebuchet MS"/>
              </a:rPr>
              <a:t> de </a:t>
            </a:r>
            <a:r>
              <a:rPr lang="en-US" dirty="0" err="1">
                <a:solidFill>
                  <a:schemeClr val="tx1">
                    <a:lumMod val="65000"/>
                    <a:lumOff val="35000"/>
                  </a:schemeClr>
                </a:solidFill>
                <a:latin typeface="Gill Sans MT" panose="020B0502020104020203" pitchFamily="34" charset="77"/>
                <a:cs typeface="Trebuchet MS"/>
              </a:rPr>
              <a:t>coordenadas</a:t>
            </a:r>
            <a:endParaRPr lang="en-US" dirty="0">
              <a:latin typeface="Gill Sans MT" panose="020B0502020104020203" pitchFamily="34" charset="77"/>
            </a:endParaRPr>
          </a:p>
        </p:txBody>
      </p:sp>
    </p:spTree>
    <p:extLst>
      <p:ext uri="{BB962C8B-B14F-4D97-AF65-F5344CB8AC3E}">
        <p14:creationId xmlns:p14="http://schemas.microsoft.com/office/powerpoint/2010/main" val="17099029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9" name="Group 118"/>
          <p:cNvGrpSpPr/>
          <p:nvPr/>
        </p:nvGrpSpPr>
        <p:grpSpPr>
          <a:xfrm>
            <a:off x="2659168" y="2370238"/>
            <a:ext cx="6303549" cy="3733637"/>
            <a:chOff x="1135167" y="2370237"/>
            <a:chExt cx="6303549" cy="3733637"/>
          </a:xfrm>
        </p:grpSpPr>
        <p:sp>
          <p:nvSpPr>
            <p:cNvPr id="6" name="Oval 5"/>
            <p:cNvSpPr/>
            <p:nvPr/>
          </p:nvSpPr>
          <p:spPr>
            <a:xfrm>
              <a:off x="3159670" y="363415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 name="Oval 6"/>
            <p:cNvSpPr/>
            <p:nvPr/>
          </p:nvSpPr>
          <p:spPr>
            <a:xfrm>
              <a:off x="3087662" y="421021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 name="Oval 7"/>
            <p:cNvSpPr/>
            <p:nvPr/>
          </p:nvSpPr>
          <p:spPr>
            <a:xfrm>
              <a:off x="3015654" y="392218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 name="Oval 8"/>
            <p:cNvSpPr/>
            <p:nvPr/>
          </p:nvSpPr>
          <p:spPr>
            <a:xfrm>
              <a:off x="3347487" y="42727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 name="Oval 9"/>
            <p:cNvSpPr/>
            <p:nvPr/>
          </p:nvSpPr>
          <p:spPr>
            <a:xfrm>
              <a:off x="3375694" y="457025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Oval 10"/>
            <p:cNvSpPr/>
            <p:nvPr/>
          </p:nvSpPr>
          <p:spPr>
            <a:xfrm>
              <a:off x="4301243" y="346051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 name="Oval 11"/>
            <p:cNvSpPr/>
            <p:nvPr/>
          </p:nvSpPr>
          <p:spPr>
            <a:xfrm>
              <a:off x="3967673" y="420407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3" name="Oval 12"/>
            <p:cNvSpPr/>
            <p:nvPr/>
          </p:nvSpPr>
          <p:spPr>
            <a:xfrm>
              <a:off x="3993357" y="384228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4" name="Oval 13"/>
            <p:cNvSpPr/>
            <p:nvPr/>
          </p:nvSpPr>
          <p:spPr>
            <a:xfrm>
              <a:off x="3735734" y="457025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5" name="Oval 14"/>
            <p:cNvSpPr/>
            <p:nvPr/>
          </p:nvSpPr>
          <p:spPr>
            <a:xfrm>
              <a:off x="4214108" y="440307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6" name="Oval 15"/>
            <p:cNvSpPr/>
            <p:nvPr/>
          </p:nvSpPr>
          <p:spPr>
            <a:xfrm>
              <a:off x="2728082" y="456379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7" name="Oval 16"/>
            <p:cNvSpPr/>
            <p:nvPr/>
          </p:nvSpPr>
          <p:spPr>
            <a:xfrm>
              <a:off x="4493790" y="424535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8" name="Oval 17"/>
            <p:cNvSpPr/>
            <p:nvPr/>
          </p:nvSpPr>
          <p:spPr>
            <a:xfrm>
              <a:off x="3665148" y="375610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9" name="Oval 18"/>
            <p:cNvSpPr/>
            <p:nvPr/>
          </p:nvSpPr>
          <p:spPr>
            <a:xfrm>
              <a:off x="3986431" y="456521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0" name="Oval 19"/>
            <p:cNvSpPr/>
            <p:nvPr/>
          </p:nvSpPr>
          <p:spPr>
            <a:xfrm>
              <a:off x="3015654" y="457025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1" name="Oval 20"/>
            <p:cNvSpPr/>
            <p:nvPr/>
          </p:nvSpPr>
          <p:spPr>
            <a:xfrm>
              <a:off x="3621026" y="408069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2" name="Oval 21"/>
            <p:cNvSpPr/>
            <p:nvPr/>
          </p:nvSpPr>
          <p:spPr>
            <a:xfrm>
              <a:off x="2232695" y="472009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3" name="Oval 22"/>
            <p:cNvSpPr/>
            <p:nvPr/>
          </p:nvSpPr>
          <p:spPr>
            <a:xfrm>
              <a:off x="3314556" y="398268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4" name="Oval 23"/>
            <p:cNvSpPr/>
            <p:nvPr/>
          </p:nvSpPr>
          <p:spPr>
            <a:xfrm rot="2553764">
              <a:off x="3922403" y="2500663"/>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5" name="Oval 24"/>
            <p:cNvSpPr/>
            <p:nvPr/>
          </p:nvSpPr>
          <p:spPr>
            <a:xfrm rot="2553764">
              <a:off x="3069414" y="269063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6" name="Oval 25"/>
            <p:cNvSpPr/>
            <p:nvPr/>
          </p:nvSpPr>
          <p:spPr>
            <a:xfrm rot="2553764">
              <a:off x="3621506" y="2615397"/>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7" name="Oval 26"/>
            <p:cNvSpPr/>
            <p:nvPr/>
          </p:nvSpPr>
          <p:spPr>
            <a:xfrm rot="2553764">
              <a:off x="3019610" y="305109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8" name="Oval 27"/>
            <p:cNvSpPr/>
            <p:nvPr/>
          </p:nvSpPr>
          <p:spPr>
            <a:xfrm rot="2553764">
              <a:off x="3848874" y="332648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9" name="Oval 28"/>
            <p:cNvSpPr/>
            <p:nvPr/>
          </p:nvSpPr>
          <p:spPr>
            <a:xfrm rot="2553764">
              <a:off x="4256812" y="2818197"/>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0" name="Oval 29"/>
            <p:cNvSpPr/>
            <p:nvPr/>
          </p:nvSpPr>
          <p:spPr>
            <a:xfrm rot="2553764">
              <a:off x="5001107" y="290822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1" name="Oval 30"/>
            <p:cNvSpPr/>
            <p:nvPr/>
          </p:nvSpPr>
          <p:spPr>
            <a:xfrm rot="2553764">
              <a:off x="4812424" y="3313115"/>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2" name="Oval 31"/>
            <p:cNvSpPr/>
            <p:nvPr/>
          </p:nvSpPr>
          <p:spPr>
            <a:xfrm rot="2553764">
              <a:off x="4778364" y="306203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3" name="Oval 32"/>
            <p:cNvSpPr/>
            <p:nvPr/>
          </p:nvSpPr>
          <p:spPr>
            <a:xfrm rot="2553764">
              <a:off x="5759081" y="3087421"/>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4" name="Oval 33"/>
            <p:cNvSpPr/>
            <p:nvPr/>
          </p:nvSpPr>
          <p:spPr>
            <a:xfrm rot="2553764">
              <a:off x="5114209" y="257149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5" name="Oval 34"/>
            <p:cNvSpPr/>
            <p:nvPr/>
          </p:nvSpPr>
          <p:spPr>
            <a:xfrm rot="2553764">
              <a:off x="5472283" y="338205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6" name="Oval 35"/>
            <p:cNvSpPr/>
            <p:nvPr/>
          </p:nvSpPr>
          <p:spPr>
            <a:xfrm rot="2553764">
              <a:off x="2553884" y="314237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7" name="Oval 36"/>
            <p:cNvSpPr/>
            <p:nvPr/>
          </p:nvSpPr>
          <p:spPr>
            <a:xfrm rot="2553764">
              <a:off x="3500518" y="3158194"/>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8" name="Oval 37"/>
            <p:cNvSpPr/>
            <p:nvPr/>
          </p:nvSpPr>
          <p:spPr>
            <a:xfrm rot="2553764">
              <a:off x="3261306" y="292665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9" name="Oval 38"/>
            <p:cNvSpPr/>
            <p:nvPr/>
          </p:nvSpPr>
          <p:spPr>
            <a:xfrm rot="2553764">
              <a:off x="3861024" y="2971574"/>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0" name="Oval 39"/>
            <p:cNvSpPr/>
            <p:nvPr/>
          </p:nvSpPr>
          <p:spPr>
            <a:xfrm rot="2553764">
              <a:off x="6087286" y="2934374"/>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1" name="Oval 40"/>
            <p:cNvSpPr/>
            <p:nvPr/>
          </p:nvSpPr>
          <p:spPr>
            <a:xfrm rot="2553764">
              <a:off x="3476955" y="2370237"/>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8" name="Oval 47"/>
            <p:cNvSpPr/>
            <p:nvPr/>
          </p:nvSpPr>
          <p:spPr>
            <a:xfrm rot="4807221">
              <a:off x="2467691" y="489991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9" name="Oval 48"/>
            <p:cNvSpPr/>
            <p:nvPr/>
          </p:nvSpPr>
          <p:spPr>
            <a:xfrm rot="4807221">
              <a:off x="5101895" y="454683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0" name="Oval 49"/>
            <p:cNvSpPr/>
            <p:nvPr/>
          </p:nvSpPr>
          <p:spPr>
            <a:xfrm rot="4807221">
              <a:off x="2256917" y="397708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1" name="Oval 50"/>
            <p:cNvSpPr/>
            <p:nvPr/>
          </p:nvSpPr>
          <p:spPr>
            <a:xfrm rot="4807221">
              <a:off x="2779305" y="393430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2" name="Oval 51"/>
            <p:cNvSpPr/>
            <p:nvPr/>
          </p:nvSpPr>
          <p:spPr>
            <a:xfrm rot="4807221">
              <a:off x="4777077" y="381775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rot="4807221">
              <a:off x="2826753" y="430299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rot="4807221">
              <a:off x="5928860" y="375691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rot="4807221">
              <a:off x="2633139" y="416581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rot="4807221">
              <a:off x="3901005" y="361560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7" name="Oval 56"/>
            <p:cNvSpPr/>
            <p:nvPr/>
          </p:nvSpPr>
          <p:spPr>
            <a:xfrm rot="4807221">
              <a:off x="6199305" y="374558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8" name="Oval 57"/>
            <p:cNvSpPr/>
            <p:nvPr/>
          </p:nvSpPr>
          <p:spPr>
            <a:xfrm rot="4807221">
              <a:off x="3636933" y="43355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rot="4807221">
              <a:off x="3376688" y="343351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0" name="Oval 59"/>
            <p:cNvSpPr/>
            <p:nvPr/>
          </p:nvSpPr>
          <p:spPr>
            <a:xfrm rot="4807221">
              <a:off x="4504412" y="4553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1" name="Oval 60"/>
            <p:cNvSpPr/>
            <p:nvPr/>
          </p:nvSpPr>
          <p:spPr>
            <a:xfrm rot="4807221">
              <a:off x="2509588" y="345641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rot="4807221">
              <a:off x="2370687" y="366820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rot="4807221">
              <a:off x="5544733" y="395442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rot="4807221">
              <a:off x="5183923" y="37726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rot="4807221">
              <a:off x="4408009" y="380648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rot="15100624">
              <a:off x="2354720" y="431458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rot="15100624">
              <a:off x="6050367" y="517877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rot="15100624">
              <a:off x="5799576" y="533767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rot="15100624">
              <a:off x="6028073" y="491245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rot="15100624">
              <a:off x="6203914" y="46065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rot="15100624">
              <a:off x="5777829" y="481390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rot="15100624">
              <a:off x="5772024" y="421859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rot="15100624">
              <a:off x="5198519" y="489714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rot="15100624">
              <a:off x="6090727" y="426475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rot="15100624">
              <a:off x="4707020" y="440049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rot="15100624">
              <a:off x="5518138" y="42565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rot="15100624">
              <a:off x="4994363" y="427828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rot="15100624">
              <a:off x="5709027" y="506424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rot="15100624">
              <a:off x="6577660" y="509226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1" name="Oval 80"/>
            <p:cNvSpPr/>
            <p:nvPr/>
          </p:nvSpPr>
          <p:spPr>
            <a:xfrm rot="15100624">
              <a:off x="6356176" y="530001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rot="15100624">
              <a:off x="5930930" y="446938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rot="15100624">
              <a:off x="6653052" y="475449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rot="15100624">
              <a:off x="5523498" y="490371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cxnSp>
          <p:nvCxnSpPr>
            <p:cNvPr id="99" name="Straight Connector 98"/>
            <p:cNvCxnSpPr/>
            <p:nvPr/>
          </p:nvCxnSpPr>
          <p:spPr>
            <a:xfrm flipH="1">
              <a:off x="2129679" y="2647457"/>
              <a:ext cx="0" cy="3145693"/>
            </a:xfrm>
            <a:prstGeom prst="line">
              <a:avLst/>
            </a:prstGeom>
            <a:ln w="38100" cmpd="sng">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1973382" y="5734542"/>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1</a:t>
              </a:r>
            </a:p>
          </p:txBody>
        </p:sp>
        <p:sp>
          <p:nvSpPr>
            <p:cNvPr id="91" name="TextBox 90"/>
            <p:cNvSpPr txBox="1"/>
            <p:nvPr/>
          </p:nvSpPr>
          <p:spPr>
            <a:xfrm>
              <a:off x="3034319" y="5720866"/>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2</a:t>
              </a:r>
            </a:p>
          </p:txBody>
        </p:sp>
        <p:sp>
          <p:nvSpPr>
            <p:cNvPr id="92" name="TextBox 91"/>
            <p:cNvSpPr txBox="1"/>
            <p:nvPr/>
          </p:nvSpPr>
          <p:spPr>
            <a:xfrm>
              <a:off x="4206628" y="5720866"/>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3</a:t>
              </a:r>
            </a:p>
          </p:txBody>
        </p:sp>
        <p:sp>
          <p:nvSpPr>
            <p:cNvPr id="94" name="TextBox 93"/>
            <p:cNvSpPr txBox="1"/>
            <p:nvPr/>
          </p:nvSpPr>
          <p:spPr>
            <a:xfrm>
              <a:off x="5349628" y="5730634"/>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4</a:t>
              </a:r>
            </a:p>
          </p:txBody>
        </p:sp>
        <p:sp>
          <p:nvSpPr>
            <p:cNvPr id="95" name="TextBox 94"/>
            <p:cNvSpPr txBox="1"/>
            <p:nvPr/>
          </p:nvSpPr>
          <p:spPr>
            <a:xfrm>
              <a:off x="6430104" y="5716898"/>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5</a:t>
              </a:r>
            </a:p>
          </p:txBody>
        </p:sp>
        <p:sp>
          <p:nvSpPr>
            <p:cNvPr id="96" name="TextBox 95"/>
            <p:cNvSpPr txBox="1"/>
            <p:nvPr/>
          </p:nvSpPr>
          <p:spPr>
            <a:xfrm>
              <a:off x="7113950" y="2708034"/>
              <a:ext cx="282450" cy="369332"/>
            </a:xfrm>
            <a:prstGeom prst="rect">
              <a:avLst/>
            </a:prstGeom>
            <a:noFill/>
          </p:spPr>
          <p:txBody>
            <a:bodyPr wrap="none" rtlCol="0">
              <a:spAutoFit/>
            </a:bodyPr>
            <a:lstStyle/>
            <a:p>
              <a:r>
                <a:rPr lang="en-US" dirty="0">
                  <a:latin typeface="Gill Sans MT" panose="020B0502020104020203" pitchFamily="34" charset="77"/>
                  <a:cs typeface="Trebuchet MS"/>
                </a:rPr>
                <a:t>a</a:t>
              </a:r>
            </a:p>
          </p:txBody>
        </p:sp>
        <p:sp>
          <p:nvSpPr>
            <p:cNvPr id="98" name="TextBox 97"/>
            <p:cNvSpPr txBox="1"/>
            <p:nvPr/>
          </p:nvSpPr>
          <p:spPr>
            <a:xfrm>
              <a:off x="7110040" y="3329352"/>
              <a:ext cx="300082" cy="369332"/>
            </a:xfrm>
            <a:prstGeom prst="rect">
              <a:avLst/>
            </a:prstGeom>
            <a:noFill/>
          </p:spPr>
          <p:txBody>
            <a:bodyPr wrap="none" rtlCol="0">
              <a:spAutoFit/>
            </a:bodyPr>
            <a:lstStyle/>
            <a:p>
              <a:r>
                <a:rPr lang="en-US" dirty="0">
                  <a:latin typeface="Gill Sans MT" panose="020B0502020104020203" pitchFamily="34" charset="77"/>
                  <a:cs typeface="Trebuchet MS"/>
                </a:rPr>
                <a:t>b</a:t>
              </a:r>
            </a:p>
          </p:txBody>
        </p:sp>
        <p:sp>
          <p:nvSpPr>
            <p:cNvPr id="100" name="TextBox 99"/>
            <p:cNvSpPr txBox="1"/>
            <p:nvPr/>
          </p:nvSpPr>
          <p:spPr>
            <a:xfrm>
              <a:off x="7115899" y="4028821"/>
              <a:ext cx="285656" cy="369332"/>
            </a:xfrm>
            <a:prstGeom prst="rect">
              <a:avLst/>
            </a:prstGeom>
            <a:noFill/>
          </p:spPr>
          <p:txBody>
            <a:bodyPr wrap="none" rtlCol="0">
              <a:spAutoFit/>
            </a:bodyPr>
            <a:lstStyle/>
            <a:p>
              <a:r>
                <a:rPr lang="en-US" dirty="0">
                  <a:latin typeface="Gill Sans MT" panose="020B0502020104020203" pitchFamily="34" charset="77"/>
                  <a:cs typeface="Trebuchet MS"/>
                </a:rPr>
                <a:t>c</a:t>
              </a:r>
            </a:p>
          </p:txBody>
        </p:sp>
        <p:sp>
          <p:nvSpPr>
            <p:cNvPr id="101" name="TextBox 100"/>
            <p:cNvSpPr txBox="1"/>
            <p:nvPr/>
          </p:nvSpPr>
          <p:spPr>
            <a:xfrm>
              <a:off x="7125672" y="4663828"/>
              <a:ext cx="313044" cy="369332"/>
            </a:xfrm>
            <a:prstGeom prst="rect">
              <a:avLst/>
            </a:prstGeom>
            <a:noFill/>
          </p:spPr>
          <p:txBody>
            <a:bodyPr wrap="none" rtlCol="0">
              <a:spAutoFit/>
            </a:bodyPr>
            <a:lstStyle/>
            <a:p>
              <a:r>
                <a:rPr lang="en-US" dirty="0">
                  <a:latin typeface="Gill Sans MT" panose="020B0502020104020203" pitchFamily="34" charset="77"/>
                  <a:cs typeface="Trebuchet MS"/>
                </a:rPr>
                <a:t>d</a:t>
              </a:r>
            </a:p>
          </p:txBody>
        </p:sp>
        <p:cxnSp>
          <p:nvCxnSpPr>
            <p:cNvPr id="102" name="Straight Connector 101"/>
            <p:cNvCxnSpPr/>
            <p:nvPr/>
          </p:nvCxnSpPr>
          <p:spPr>
            <a:xfrm flipH="1">
              <a:off x="3171072" y="2643557"/>
              <a:ext cx="0" cy="314569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3" name="Straight Connector 102"/>
            <p:cNvCxnSpPr/>
            <p:nvPr/>
          </p:nvCxnSpPr>
          <p:spPr>
            <a:xfrm flipH="1">
              <a:off x="4362876" y="2643553"/>
              <a:ext cx="0" cy="314569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4" name="Straight Connector 103"/>
            <p:cNvCxnSpPr/>
            <p:nvPr/>
          </p:nvCxnSpPr>
          <p:spPr>
            <a:xfrm flipH="1">
              <a:off x="5521514" y="2649421"/>
              <a:ext cx="0" cy="314569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5" name="Straight Connector 104"/>
            <p:cNvCxnSpPr/>
            <p:nvPr/>
          </p:nvCxnSpPr>
          <p:spPr>
            <a:xfrm flipH="1">
              <a:off x="6586367" y="2639646"/>
              <a:ext cx="0" cy="314569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p:nvPr/>
          </p:nvCxnSpPr>
          <p:spPr>
            <a:xfrm flipH="1">
              <a:off x="1141030" y="2852615"/>
              <a:ext cx="5892819" cy="1758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7" name="Straight Connector 106"/>
            <p:cNvCxnSpPr/>
            <p:nvPr/>
          </p:nvCxnSpPr>
          <p:spPr>
            <a:xfrm flipH="1">
              <a:off x="1146891" y="3503245"/>
              <a:ext cx="5892819" cy="1758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8" name="Straight Connector 107"/>
            <p:cNvCxnSpPr/>
            <p:nvPr/>
          </p:nvCxnSpPr>
          <p:spPr>
            <a:xfrm flipH="1">
              <a:off x="1142983" y="4212493"/>
              <a:ext cx="5892819" cy="1758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0" name="Straight Connector 109"/>
            <p:cNvCxnSpPr/>
            <p:nvPr/>
          </p:nvCxnSpPr>
          <p:spPr>
            <a:xfrm flipH="1">
              <a:off x="1135167" y="5445373"/>
              <a:ext cx="5892819" cy="17589"/>
            </a:xfrm>
            <a:prstGeom prst="line">
              <a:avLst/>
            </a:prstGeom>
            <a:ln w="38100" cmpd="sng">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12" name="Straight Connector 111"/>
            <p:cNvCxnSpPr/>
            <p:nvPr/>
          </p:nvCxnSpPr>
          <p:spPr>
            <a:xfrm flipH="1">
              <a:off x="1150801" y="4845560"/>
              <a:ext cx="5892819" cy="1758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7121759" y="5246067"/>
              <a:ext cx="295274" cy="369332"/>
            </a:xfrm>
            <a:prstGeom prst="rect">
              <a:avLst/>
            </a:prstGeom>
            <a:noFill/>
          </p:spPr>
          <p:txBody>
            <a:bodyPr wrap="none" rtlCol="0">
              <a:spAutoFit/>
            </a:bodyPr>
            <a:lstStyle/>
            <a:p>
              <a:r>
                <a:rPr lang="en-US" dirty="0">
                  <a:latin typeface="Gill Sans MT" panose="020B0502020104020203" pitchFamily="34" charset="77"/>
                  <a:cs typeface="Trebuchet MS"/>
                </a:rPr>
                <a:t>e</a:t>
              </a:r>
            </a:p>
          </p:txBody>
        </p:sp>
      </p:grpSp>
      <p:pic>
        <p:nvPicPr>
          <p:cNvPr id="45" name="Picture 4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5330" y="734662"/>
            <a:ext cx="1688495" cy="1489969"/>
          </a:xfrm>
          <a:prstGeom prst="rect">
            <a:avLst/>
          </a:prstGeom>
        </p:spPr>
      </p:pic>
      <p:grpSp>
        <p:nvGrpSpPr>
          <p:cNvPr id="118" name="Group 117"/>
          <p:cNvGrpSpPr/>
          <p:nvPr/>
        </p:nvGrpSpPr>
        <p:grpSpPr>
          <a:xfrm>
            <a:off x="3613825" y="1479647"/>
            <a:ext cx="4373713" cy="864969"/>
            <a:chOff x="2089824" y="1479646"/>
            <a:chExt cx="4373713" cy="864969"/>
          </a:xfrm>
        </p:grpSpPr>
        <p:sp>
          <p:nvSpPr>
            <p:cNvPr id="114" name="Rectangle 113"/>
            <p:cNvSpPr/>
            <p:nvPr/>
          </p:nvSpPr>
          <p:spPr>
            <a:xfrm>
              <a:off x="2762524" y="1671489"/>
              <a:ext cx="3701013" cy="369332"/>
            </a:xfrm>
            <a:prstGeom prst="rect">
              <a:avLst/>
            </a:prstGeom>
            <a:ln>
              <a:solidFill>
                <a:srgbClr val="000000"/>
              </a:solidFill>
            </a:ln>
          </p:spPr>
          <p:txBody>
            <a:bodyPr wrap="none">
              <a:spAutoFit/>
            </a:bodyPr>
            <a:lstStyle/>
            <a:p>
              <a:r>
                <a:rPr lang="en-US" dirty="0" err="1">
                  <a:solidFill>
                    <a:schemeClr val="tx1">
                      <a:lumMod val="65000"/>
                      <a:lumOff val="35000"/>
                    </a:schemeClr>
                  </a:solidFill>
                  <a:latin typeface="Gill Sans MT" panose="020B0502020104020203" pitchFamily="34" charset="77"/>
                  <a:cs typeface="Trebuchet MS"/>
                </a:rPr>
                <a:t>Transformación</a:t>
              </a:r>
              <a:r>
                <a:rPr lang="en-US" dirty="0">
                  <a:solidFill>
                    <a:schemeClr val="tx1">
                      <a:lumMod val="65000"/>
                      <a:lumOff val="35000"/>
                    </a:schemeClr>
                  </a:solidFill>
                  <a:latin typeface="Gill Sans MT" panose="020B0502020104020203" pitchFamily="34" charset="77"/>
                  <a:cs typeface="Trebuchet MS"/>
                </a:rPr>
                <a:t> </a:t>
              </a:r>
              <a:r>
                <a:rPr lang="en-US" dirty="0" err="1">
                  <a:solidFill>
                    <a:schemeClr val="tx1">
                      <a:lumMod val="65000"/>
                      <a:lumOff val="35000"/>
                    </a:schemeClr>
                  </a:solidFill>
                  <a:latin typeface="Gill Sans MT" panose="020B0502020104020203" pitchFamily="34" charset="77"/>
                  <a:cs typeface="Trebuchet MS"/>
                </a:rPr>
                <a:t>geométrica</a:t>
              </a:r>
              <a:r>
                <a:rPr lang="en-US" dirty="0">
                  <a:solidFill>
                    <a:schemeClr val="tx1">
                      <a:lumMod val="65000"/>
                      <a:lumOff val="35000"/>
                    </a:schemeClr>
                  </a:solidFill>
                  <a:latin typeface="Gill Sans MT" panose="020B0502020104020203" pitchFamily="34" charset="77"/>
                  <a:cs typeface="Trebuchet MS"/>
                </a:rPr>
                <a:t> no lineal</a:t>
              </a:r>
              <a:endParaRPr lang="en-US" dirty="0">
                <a:latin typeface="Gill Sans MT" panose="020B0502020104020203" pitchFamily="34" charset="77"/>
              </a:endParaRPr>
            </a:p>
          </p:txBody>
        </p:sp>
        <p:cxnSp>
          <p:nvCxnSpPr>
            <p:cNvPr id="115" name="Elbow Connector 114"/>
            <p:cNvCxnSpPr>
              <a:stCxn id="45" idx="3"/>
              <a:endCxn id="114" idx="0"/>
            </p:cNvCxnSpPr>
            <p:nvPr/>
          </p:nvCxnSpPr>
          <p:spPr>
            <a:xfrm>
              <a:off x="2089824" y="1479646"/>
              <a:ext cx="2523207" cy="191843"/>
            </a:xfrm>
            <a:prstGeom prst="bentConnector2">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17" name="Straight Arrow Connector 116"/>
            <p:cNvCxnSpPr>
              <a:stCxn id="114" idx="2"/>
            </p:cNvCxnSpPr>
            <p:nvPr/>
          </p:nvCxnSpPr>
          <p:spPr>
            <a:xfrm>
              <a:off x="4613031" y="2040821"/>
              <a:ext cx="0" cy="303794"/>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93797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4683670" y="363415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 name="Oval 6"/>
          <p:cNvSpPr/>
          <p:nvPr/>
        </p:nvSpPr>
        <p:spPr>
          <a:xfrm>
            <a:off x="4611662" y="421021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 name="Oval 7"/>
          <p:cNvSpPr/>
          <p:nvPr/>
        </p:nvSpPr>
        <p:spPr>
          <a:xfrm>
            <a:off x="4539654" y="392218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 name="Oval 8"/>
          <p:cNvSpPr/>
          <p:nvPr/>
        </p:nvSpPr>
        <p:spPr>
          <a:xfrm>
            <a:off x="4871487" y="42727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 name="Oval 9"/>
          <p:cNvSpPr/>
          <p:nvPr/>
        </p:nvSpPr>
        <p:spPr>
          <a:xfrm>
            <a:off x="4899694" y="457025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Oval 10"/>
          <p:cNvSpPr/>
          <p:nvPr/>
        </p:nvSpPr>
        <p:spPr>
          <a:xfrm>
            <a:off x="5825243" y="346051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 name="Oval 11"/>
          <p:cNvSpPr/>
          <p:nvPr/>
        </p:nvSpPr>
        <p:spPr>
          <a:xfrm>
            <a:off x="5491673" y="420407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3" name="Oval 12"/>
          <p:cNvSpPr/>
          <p:nvPr/>
        </p:nvSpPr>
        <p:spPr>
          <a:xfrm>
            <a:off x="5517357" y="384228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4" name="Oval 13"/>
          <p:cNvSpPr/>
          <p:nvPr/>
        </p:nvSpPr>
        <p:spPr>
          <a:xfrm>
            <a:off x="5259734" y="457025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5" name="Oval 14"/>
          <p:cNvSpPr/>
          <p:nvPr/>
        </p:nvSpPr>
        <p:spPr>
          <a:xfrm>
            <a:off x="5738108" y="440307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6" name="Oval 15"/>
          <p:cNvSpPr/>
          <p:nvPr/>
        </p:nvSpPr>
        <p:spPr>
          <a:xfrm>
            <a:off x="4252082" y="456379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7" name="Oval 16"/>
          <p:cNvSpPr/>
          <p:nvPr/>
        </p:nvSpPr>
        <p:spPr>
          <a:xfrm>
            <a:off x="6017790" y="424535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8" name="Oval 17"/>
          <p:cNvSpPr/>
          <p:nvPr/>
        </p:nvSpPr>
        <p:spPr>
          <a:xfrm>
            <a:off x="5189148" y="375610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9" name="Oval 18"/>
          <p:cNvSpPr/>
          <p:nvPr/>
        </p:nvSpPr>
        <p:spPr>
          <a:xfrm>
            <a:off x="5510431" y="456521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0" name="Oval 19"/>
          <p:cNvSpPr/>
          <p:nvPr/>
        </p:nvSpPr>
        <p:spPr>
          <a:xfrm>
            <a:off x="4539654" y="457025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1" name="Oval 20"/>
          <p:cNvSpPr/>
          <p:nvPr/>
        </p:nvSpPr>
        <p:spPr>
          <a:xfrm>
            <a:off x="5145026" y="408069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2" name="Oval 21"/>
          <p:cNvSpPr/>
          <p:nvPr/>
        </p:nvSpPr>
        <p:spPr>
          <a:xfrm>
            <a:off x="3756695" y="472009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3" name="Oval 22"/>
          <p:cNvSpPr/>
          <p:nvPr/>
        </p:nvSpPr>
        <p:spPr>
          <a:xfrm>
            <a:off x="4838556" y="398268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4" name="Oval 23"/>
          <p:cNvSpPr/>
          <p:nvPr/>
        </p:nvSpPr>
        <p:spPr>
          <a:xfrm rot="2553764">
            <a:off x="5446403" y="2500663"/>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5" name="Oval 24"/>
          <p:cNvSpPr/>
          <p:nvPr/>
        </p:nvSpPr>
        <p:spPr>
          <a:xfrm rot="2553764">
            <a:off x="4593414" y="269063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6" name="Oval 25"/>
          <p:cNvSpPr/>
          <p:nvPr/>
        </p:nvSpPr>
        <p:spPr>
          <a:xfrm rot="2553764">
            <a:off x="5145506" y="2615397"/>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7" name="Oval 26"/>
          <p:cNvSpPr/>
          <p:nvPr/>
        </p:nvSpPr>
        <p:spPr>
          <a:xfrm rot="2553764">
            <a:off x="4543610" y="305109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8" name="Oval 27"/>
          <p:cNvSpPr/>
          <p:nvPr/>
        </p:nvSpPr>
        <p:spPr>
          <a:xfrm rot="2553764">
            <a:off x="5372874" y="332648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9" name="Oval 28"/>
          <p:cNvSpPr/>
          <p:nvPr/>
        </p:nvSpPr>
        <p:spPr>
          <a:xfrm rot="2553764">
            <a:off x="5780812" y="2818197"/>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0" name="Oval 29"/>
          <p:cNvSpPr/>
          <p:nvPr/>
        </p:nvSpPr>
        <p:spPr>
          <a:xfrm rot="2553764">
            <a:off x="6525107" y="290822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1" name="Oval 30"/>
          <p:cNvSpPr/>
          <p:nvPr/>
        </p:nvSpPr>
        <p:spPr>
          <a:xfrm rot="2553764">
            <a:off x="6336424" y="3313115"/>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2" name="Oval 31"/>
          <p:cNvSpPr/>
          <p:nvPr/>
        </p:nvSpPr>
        <p:spPr>
          <a:xfrm rot="2553764">
            <a:off x="6302364" y="306203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3" name="Oval 32"/>
          <p:cNvSpPr/>
          <p:nvPr/>
        </p:nvSpPr>
        <p:spPr>
          <a:xfrm rot="2553764">
            <a:off x="7283081" y="3087421"/>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4" name="Oval 33"/>
          <p:cNvSpPr/>
          <p:nvPr/>
        </p:nvSpPr>
        <p:spPr>
          <a:xfrm rot="2553764">
            <a:off x="6638209" y="257149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5" name="Oval 34"/>
          <p:cNvSpPr/>
          <p:nvPr/>
        </p:nvSpPr>
        <p:spPr>
          <a:xfrm rot="2553764">
            <a:off x="6996283" y="338205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6" name="Oval 35"/>
          <p:cNvSpPr/>
          <p:nvPr/>
        </p:nvSpPr>
        <p:spPr>
          <a:xfrm rot="2553764">
            <a:off x="4077884" y="314237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7" name="Oval 36"/>
          <p:cNvSpPr/>
          <p:nvPr/>
        </p:nvSpPr>
        <p:spPr>
          <a:xfrm rot="2553764">
            <a:off x="5024518" y="3158194"/>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8" name="Oval 37"/>
          <p:cNvSpPr/>
          <p:nvPr/>
        </p:nvSpPr>
        <p:spPr>
          <a:xfrm rot="2553764">
            <a:off x="4785306" y="292665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9" name="Oval 38"/>
          <p:cNvSpPr/>
          <p:nvPr/>
        </p:nvSpPr>
        <p:spPr>
          <a:xfrm rot="2553764">
            <a:off x="5385024" y="2971574"/>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0" name="Oval 39"/>
          <p:cNvSpPr/>
          <p:nvPr/>
        </p:nvSpPr>
        <p:spPr>
          <a:xfrm rot="2553764">
            <a:off x="7611286" y="2934374"/>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1" name="Oval 40"/>
          <p:cNvSpPr/>
          <p:nvPr/>
        </p:nvSpPr>
        <p:spPr>
          <a:xfrm rot="2553764">
            <a:off x="5000955" y="2370237"/>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8" name="Oval 47"/>
          <p:cNvSpPr/>
          <p:nvPr/>
        </p:nvSpPr>
        <p:spPr>
          <a:xfrm rot="4807221">
            <a:off x="3991691" y="489991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9" name="Oval 48"/>
          <p:cNvSpPr/>
          <p:nvPr/>
        </p:nvSpPr>
        <p:spPr>
          <a:xfrm rot="4807221">
            <a:off x="6625895" y="454683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0" name="Oval 49"/>
          <p:cNvSpPr/>
          <p:nvPr/>
        </p:nvSpPr>
        <p:spPr>
          <a:xfrm rot="4807221">
            <a:off x="3780917" y="397708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1" name="Oval 50"/>
          <p:cNvSpPr/>
          <p:nvPr/>
        </p:nvSpPr>
        <p:spPr>
          <a:xfrm rot="4807221">
            <a:off x="4303305" y="393430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2" name="Oval 51"/>
          <p:cNvSpPr/>
          <p:nvPr/>
        </p:nvSpPr>
        <p:spPr>
          <a:xfrm rot="4807221">
            <a:off x="6301077" y="381775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rot="4807221">
            <a:off x="4350753" y="430299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rot="4807221">
            <a:off x="7452860" y="375691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rot="4807221">
            <a:off x="4157139" y="416581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rot="4807221">
            <a:off x="5425005" y="361560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7" name="Oval 56"/>
          <p:cNvSpPr/>
          <p:nvPr/>
        </p:nvSpPr>
        <p:spPr>
          <a:xfrm rot="4807221">
            <a:off x="7723305" y="374558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8" name="Oval 57"/>
          <p:cNvSpPr/>
          <p:nvPr/>
        </p:nvSpPr>
        <p:spPr>
          <a:xfrm rot="4807221">
            <a:off x="5160933" y="43355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rot="4807221">
            <a:off x="4900688" y="343351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0" name="Oval 59"/>
          <p:cNvSpPr/>
          <p:nvPr/>
        </p:nvSpPr>
        <p:spPr>
          <a:xfrm rot="4807221">
            <a:off x="6028412" y="4553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1" name="Oval 60"/>
          <p:cNvSpPr/>
          <p:nvPr/>
        </p:nvSpPr>
        <p:spPr>
          <a:xfrm rot="4807221">
            <a:off x="4033588" y="345641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rot="4807221">
            <a:off x="3894687" y="366820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rot="4807221">
            <a:off x="7068733" y="395442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rot="4807221">
            <a:off x="6707923" y="37726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rot="4807221">
            <a:off x="5932009" y="380648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rot="15100624">
            <a:off x="3878720" y="431458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rot="15100624">
            <a:off x="7574367" y="517877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rot="15100624">
            <a:off x="7323576" y="533767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rot="15100624">
            <a:off x="7552073" y="491245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rot="15100624">
            <a:off x="7727914" y="46065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rot="15100624">
            <a:off x="7301829" y="481390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rot="15100624">
            <a:off x="7296024" y="421859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rot="15100624">
            <a:off x="6722519" y="489714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rot="15100624">
            <a:off x="7614727" y="426475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rot="15100624">
            <a:off x="6231020" y="440049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rot="15100624">
            <a:off x="7042138" y="42565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rot="15100624">
            <a:off x="6518363" y="427828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rot="15100624">
            <a:off x="7233027" y="506424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rot="15100624">
            <a:off x="8101660" y="509226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1" name="Oval 80"/>
          <p:cNvSpPr/>
          <p:nvPr/>
        </p:nvSpPr>
        <p:spPr>
          <a:xfrm rot="15100624">
            <a:off x="7880176" y="530001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rot="15100624">
            <a:off x="7454930" y="446938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rot="15100624">
            <a:off x="8177052" y="475449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rot="15100624">
            <a:off x="7047498" y="490371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Tree>
    <p:extLst>
      <p:ext uri="{BB962C8B-B14F-4D97-AF65-F5344CB8AC3E}">
        <p14:creationId xmlns:p14="http://schemas.microsoft.com/office/powerpoint/2010/main" val="11539611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4683670" y="363415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 name="Oval 6"/>
          <p:cNvSpPr/>
          <p:nvPr/>
        </p:nvSpPr>
        <p:spPr>
          <a:xfrm>
            <a:off x="4611662" y="421021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 name="Oval 7"/>
          <p:cNvSpPr/>
          <p:nvPr/>
        </p:nvSpPr>
        <p:spPr>
          <a:xfrm>
            <a:off x="4539654" y="392218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 name="Oval 8"/>
          <p:cNvSpPr/>
          <p:nvPr/>
        </p:nvSpPr>
        <p:spPr>
          <a:xfrm>
            <a:off x="4871487" y="42727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 name="Oval 9"/>
          <p:cNvSpPr/>
          <p:nvPr/>
        </p:nvSpPr>
        <p:spPr>
          <a:xfrm>
            <a:off x="4899694" y="457025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Oval 10"/>
          <p:cNvSpPr/>
          <p:nvPr/>
        </p:nvSpPr>
        <p:spPr>
          <a:xfrm>
            <a:off x="5825243" y="346051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 name="Oval 11"/>
          <p:cNvSpPr/>
          <p:nvPr/>
        </p:nvSpPr>
        <p:spPr>
          <a:xfrm>
            <a:off x="5491673" y="420407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3" name="Oval 12"/>
          <p:cNvSpPr/>
          <p:nvPr/>
        </p:nvSpPr>
        <p:spPr>
          <a:xfrm>
            <a:off x="5517357" y="384228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4" name="Oval 13"/>
          <p:cNvSpPr/>
          <p:nvPr/>
        </p:nvSpPr>
        <p:spPr>
          <a:xfrm>
            <a:off x="5259734" y="457025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5" name="Oval 14"/>
          <p:cNvSpPr/>
          <p:nvPr/>
        </p:nvSpPr>
        <p:spPr>
          <a:xfrm>
            <a:off x="5738108" y="440307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6" name="Oval 15"/>
          <p:cNvSpPr/>
          <p:nvPr/>
        </p:nvSpPr>
        <p:spPr>
          <a:xfrm>
            <a:off x="4252082" y="456379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7" name="Oval 16"/>
          <p:cNvSpPr/>
          <p:nvPr/>
        </p:nvSpPr>
        <p:spPr>
          <a:xfrm>
            <a:off x="6017790" y="424535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8" name="Oval 17"/>
          <p:cNvSpPr/>
          <p:nvPr/>
        </p:nvSpPr>
        <p:spPr>
          <a:xfrm>
            <a:off x="5189148" y="375610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9" name="Oval 18"/>
          <p:cNvSpPr/>
          <p:nvPr/>
        </p:nvSpPr>
        <p:spPr>
          <a:xfrm>
            <a:off x="5510431" y="456521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0" name="Oval 19"/>
          <p:cNvSpPr/>
          <p:nvPr/>
        </p:nvSpPr>
        <p:spPr>
          <a:xfrm>
            <a:off x="4539654" y="457025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1" name="Oval 20"/>
          <p:cNvSpPr/>
          <p:nvPr/>
        </p:nvSpPr>
        <p:spPr>
          <a:xfrm>
            <a:off x="5145026" y="408069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2" name="Oval 21"/>
          <p:cNvSpPr/>
          <p:nvPr/>
        </p:nvSpPr>
        <p:spPr>
          <a:xfrm>
            <a:off x="3756695" y="472009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3" name="Oval 22"/>
          <p:cNvSpPr/>
          <p:nvPr/>
        </p:nvSpPr>
        <p:spPr>
          <a:xfrm>
            <a:off x="4838556" y="398268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4" name="Oval 23"/>
          <p:cNvSpPr/>
          <p:nvPr/>
        </p:nvSpPr>
        <p:spPr>
          <a:xfrm rot="2553764">
            <a:off x="5446403" y="2500663"/>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5" name="Oval 24"/>
          <p:cNvSpPr/>
          <p:nvPr/>
        </p:nvSpPr>
        <p:spPr>
          <a:xfrm rot="2553764">
            <a:off x="4593414" y="269063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6" name="Oval 25"/>
          <p:cNvSpPr/>
          <p:nvPr/>
        </p:nvSpPr>
        <p:spPr>
          <a:xfrm rot="2553764">
            <a:off x="5145506" y="2615397"/>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7" name="Oval 26"/>
          <p:cNvSpPr/>
          <p:nvPr/>
        </p:nvSpPr>
        <p:spPr>
          <a:xfrm rot="2553764">
            <a:off x="4543610" y="305109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8" name="Oval 27"/>
          <p:cNvSpPr/>
          <p:nvPr/>
        </p:nvSpPr>
        <p:spPr>
          <a:xfrm rot="2553764">
            <a:off x="5372874" y="332648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9" name="Oval 28"/>
          <p:cNvSpPr/>
          <p:nvPr/>
        </p:nvSpPr>
        <p:spPr>
          <a:xfrm rot="2553764">
            <a:off x="5780812" y="2818197"/>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0" name="Oval 29"/>
          <p:cNvSpPr/>
          <p:nvPr/>
        </p:nvSpPr>
        <p:spPr>
          <a:xfrm rot="2553764">
            <a:off x="6525107" y="290822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1" name="Oval 30"/>
          <p:cNvSpPr/>
          <p:nvPr/>
        </p:nvSpPr>
        <p:spPr>
          <a:xfrm rot="2553764">
            <a:off x="6336424" y="3313115"/>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2" name="Oval 31"/>
          <p:cNvSpPr/>
          <p:nvPr/>
        </p:nvSpPr>
        <p:spPr>
          <a:xfrm rot="2553764">
            <a:off x="6302364" y="306203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3" name="Oval 32"/>
          <p:cNvSpPr/>
          <p:nvPr/>
        </p:nvSpPr>
        <p:spPr>
          <a:xfrm rot="2553764">
            <a:off x="7283081" y="3087421"/>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4" name="Oval 33"/>
          <p:cNvSpPr/>
          <p:nvPr/>
        </p:nvSpPr>
        <p:spPr>
          <a:xfrm rot="2553764">
            <a:off x="6638209" y="257149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5" name="Oval 34"/>
          <p:cNvSpPr/>
          <p:nvPr/>
        </p:nvSpPr>
        <p:spPr>
          <a:xfrm rot="2553764">
            <a:off x="6996283" y="3382052"/>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6" name="Oval 35"/>
          <p:cNvSpPr/>
          <p:nvPr/>
        </p:nvSpPr>
        <p:spPr>
          <a:xfrm rot="2553764">
            <a:off x="4077884" y="314237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7" name="Oval 36"/>
          <p:cNvSpPr/>
          <p:nvPr/>
        </p:nvSpPr>
        <p:spPr>
          <a:xfrm rot="2553764">
            <a:off x="5024518" y="3158194"/>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8" name="Oval 37"/>
          <p:cNvSpPr/>
          <p:nvPr/>
        </p:nvSpPr>
        <p:spPr>
          <a:xfrm rot="2553764">
            <a:off x="4785306" y="292665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9" name="Oval 38"/>
          <p:cNvSpPr/>
          <p:nvPr/>
        </p:nvSpPr>
        <p:spPr>
          <a:xfrm rot="2553764">
            <a:off x="5385024" y="2971574"/>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0" name="Oval 39"/>
          <p:cNvSpPr/>
          <p:nvPr/>
        </p:nvSpPr>
        <p:spPr>
          <a:xfrm rot="2553764">
            <a:off x="7611286" y="2934374"/>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1" name="Oval 40"/>
          <p:cNvSpPr/>
          <p:nvPr/>
        </p:nvSpPr>
        <p:spPr>
          <a:xfrm rot="2553764">
            <a:off x="5000955" y="2370237"/>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8" name="Oval 47"/>
          <p:cNvSpPr/>
          <p:nvPr/>
        </p:nvSpPr>
        <p:spPr>
          <a:xfrm rot="4807221">
            <a:off x="3991691" y="489991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9" name="Oval 48"/>
          <p:cNvSpPr/>
          <p:nvPr/>
        </p:nvSpPr>
        <p:spPr>
          <a:xfrm rot="4807221">
            <a:off x="6625895" y="454683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0" name="Oval 49"/>
          <p:cNvSpPr/>
          <p:nvPr/>
        </p:nvSpPr>
        <p:spPr>
          <a:xfrm rot="4807221">
            <a:off x="3780917" y="397708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1" name="Oval 50"/>
          <p:cNvSpPr/>
          <p:nvPr/>
        </p:nvSpPr>
        <p:spPr>
          <a:xfrm rot="4807221">
            <a:off x="4303305" y="393430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2" name="Oval 51"/>
          <p:cNvSpPr/>
          <p:nvPr/>
        </p:nvSpPr>
        <p:spPr>
          <a:xfrm rot="4807221">
            <a:off x="6301077" y="381775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rot="4807221">
            <a:off x="4350753" y="430299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rot="4807221">
            <a:off x="7452860" y="375691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rot="4807221">
            <a:off x="4157139" y="416581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rot="4807221">
            <a:off x="5425005" y="361560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7" name="Oval 56"/>
          <p:cNvSpPr/>
          <p:nvPr/>
        </p:nvSpPr>
        <p:spPr>
          <a:xfrm rot="4807221">
            <a:off x="7723305" y="374558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8" name="Oval 57"/>
          <p:cNvSpPr/>
          <p:nvPr/>
        </p:nvSpPr>
        <p:spPr>
          <a:xfrm rot="4807221">
            <a:off x="5160933" y="43355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rot="4807221">
            <a:off x="4900688" y="343351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0" name="Oval 59"/>
          <p:cNvSpPr/>
          <p:nvPr/>
        </p:nvSpPr>
        <p:spPr>
          <a:xfrm rot="4807221">
            <a:off x="6028412" y="4553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1" name="Oval 60"/>
          <p:cNvSpPr/>
          <p:nvPr/>
        </p:nvSpPr>
        <p:spPr>
          <a:xfrm rot="4807221">
            <a:off x="4033588" y="345641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rot="4807221">
            <a:off x="3894687" y="366820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rot="4807221">
            <a:off x="7068733" y="395442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rot="4807221">
            <a:off x="6707923" y="37726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rot="4807221">
            <a:off x="5932009" y="380648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7" name="Oval 66"/>
          <p:cNvSpPr/>
          <p:nvPr/>
        </p:nvSpPr>
        <p:spPr>
          <a:xfrm rot="15100624">
            <a:off x="3878720" y="431458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rot="15100624">
            <a:off x="7574367" y="517877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rot="15100624">
            <a:off x="7323576" y="533767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rot="15100624">
            <a:off x="7552073" y="491245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rot="15100624">
            <a:off x="7727914" y="46065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rot="15100624">
            <a:off x="7301829" y="481390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rot="15100624">
            <a:off x="7296024" y="421859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rot="15100624">
            <a:off x="6722519" y="489714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rot="15100624">
            <a:off x="7614727" y="426475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rot="15100624">
            <a:off x="6231020" y="440049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rot="15100624">
            <a:off x="7042138" y="42565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rot="15100624">
            <a:off x="6518363" y="4278287"/>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rot="15100624">
            <a:off x="7233027" y="5064249"/>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rot="15100624">
            <a:off x="8101660" y="509226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1" name="Oval 80"/>
          <p:cNvSpPr/>
          <p:nvPr/>
        </p:nvSpPr>
        <p:spPr>
          <a:xfrm rot="15100624">
            <a:off x="7880176" y="530001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rot="15100624">
            <a:off x="7454930" y="446938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rot="15100624">
            <a:off x="8177052" y="475449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rot="15100624">
            <a:off x="7047498" y="490371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cxnSp>
        <p:nvCxnSpPr>
          <p:cNvPr id="85" name="Straight Connector 84"/>
          <p:cNvCxnSpPr/>
          <p:nvPr/>
        </p:nvCxnSpPr>
        <p:spPr>
          <a:xfrm>
            <a:off x="3184769" y="3223846"/>
            <a:ext cx="5793154" cy="63500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
        <p:nvSpPr>
          <p:cNvPr id="86" name="Rectangle 85"/>
          <p:cNvSpPr/>
          <p:nvPr/>
        </p:nvSpPr>
        <p:spPr>
          <a:xfrm>
            <a:off x="4175155" y="1437028"/>
            <a:ext cx="4361130" cy="646331"/>
          </a:xfrm>
          <a:prstGeom prst="rect">
            <a:avLst/>
          </a:prstGeom>
          <a:ln>
            <a:noFill/>
          </a:ln>
        </p:spPr>
        <p:txBody>
          <a:bodyPr wrap="none">
            <a:spAutoFit/>
          </a:bodyPr>
          <a:lstStyle/>
          <a:p>
            <a:r>
              <a:rPr lang="en-US" dirty="0">
                <a:solidFill>
                  <a:schemeClr val="tx1">
                    <a:lumMod val="65000"/>
                    <a:lumOff val="35000"/>
                  </a:schemeClr>
                </a:solidFill>
                <a:latin typeface="Gill Sans MT" panose="020B0502020104020203" pitchFamily="34" charset="77"/>
                <a:cs typeface="Trebuchet MS"/>
              </a:rPr>
              <a:t>SVM lineal </a:t>
            </a:r>
            <a:r>
              <a:rPr lang="en-US" dirty="0" err="1">
                <a:solidFill>
                  <a:schemeClr val="tx1">
                    <a:lumMod val="65000"/>
                    <a:lumOff val="35000"/>
                  </a:schemeClr>
                </a:solidFill>
                <a:latin typeface="Gill Sans MT" panose="020B0502020104020203" pitchFamily="34" charset="77"/>
                <a:cs typeface="Trebuchet MS"/>
              </a:rPr>
              <a:t>en</a:t>
            </a:r>
            <a:r>
              <a:rPr lang="en-US" dirty="0">
                <a:solidFill>
                  <a:schemeClr val="tx1">
                    <a:lumMod val="65000"/>
                    <a:lumOff val="35000"/>
                  </a:schemeClr>
                </a:solidFill>
                <a:latin typeface="Gill Sans MT" panose="020B0502020104020203" pitchFamily="34" charset="77"/>
                <a:cs typeface="Trebuchet MS"/>
              </a:rPr>
              <a:t> nuevo </a:t>
            </a:r>
            <a:r>
              <a:rPr lang="en-US" dirty="0" err="1">
                <a:solidFill>
                  <a:schemeClr val="tx1">
                    <a:lumMod val="65000"/>
                    <a:lumOff val="35000"/>
                  </a:schemeClr>
                </a:solidFill>
                <a:latin typeface="Gill Sans MT" panose="020B0502020104020203" pitchFamily="34" charset="77"/>
                <a:cs typeface="Trebuchet MS"/>
              </a:rPr>
              <a:t>sistema</a:t>
            </a:r>
            <a:r>
              <a:rPr lang="en-US" dirty="0">
                <a:solidFill>
                  <a:schemeClr val="tx1">
                    <a:lumMod val="65000"/>
                    <a:lumOff val="35000"/>
                  </a:schemeClr>
                </a:solidFill>
                <a:latin typeface="Gill Sans MT" panose="020B0502020104020203" pitchFamily="34" charset="77"/>
                <a:cs typeface="Trebuchet MS"/>
              </a:rPr>
              <a:t> de </a:t>
            </a:r>
            <a:r>
              <a:rPr lang="en-US" dirty="0" err="1">
                <a:solidFill>
                  <a:schemeClr val="tx1">
                    <a:lumMod val="65000"/>
                    <a:lumOff val="35000"/>
                  </a:schemeClr>
                </a:solidFill>
                <a:latin typeface="Gill Sans MT" panose="020B0502020104020203" pitchFamily="34" charset="77"/>
                <a:cs typeface="Trebuchet MS"/>
              </a:rPr>
              <a:t>coordenadas</a:t>
            </a:r>
            <a:r>
              <a:rPr lang="en-US" dirty="0">
                <a:solidFill>
                  <a:schemeClr val="tx1">
                    <a:lumMod val="65000"/>
                    <a:lumOff val="35000"/>
                  </a:schemeClr>
                </a:solidFill>
                <a:latin typeface="Gill Sans MT" panose="020B0502020104020203" pitchFamily="34" charset="77"/>
                <a:cs typeface="Trebuchet MS"/>
              </a:rPr>
              <a:t>
</a:t>
            </a:r>
            <a:endParaRPr lang="en-US" dirty="0">
              <a:latin typeface="Gill Sans MT" panose="020B0502020104020203" pitchFamily="34" charset="77"/>
            </a:endParaRPr>
          </a:p>
        </p:txBody>
      </p:sp>
      <p:grpSp>
        <p:nvGrpSpPr>
          <p:cNvPr id="87" name="Group 86"/>
          <p:cNvGrpSpPr/>
          <p:nvPr/>
        </p:nvGrpSpPr>
        <p:grpSpPr>
          <a:xfrm>
            <a:off x="4272848" y="5294924"/>
            <a:ext cx="3701013" cy="1024821"/>
            <a:chOff x="2748847" y="5294923"/>
            <a:chExt cx="3701013" cy="1024821"/>
          </a:xfrm>
        </p:grpSpPr>
        <p:sp>
          <p:nvSpPr>
            <p:cNvPr id="88" name="Rectangle 87"/>
            <p:cNvSpPr/>
            <p:nvPr/>
          </p:nvSpPr>
          <p:spPr>
            <a:xfrm>
              <a:off x="2748847" y="5950412"/>
              <a:ext cx="3701013" cy="369332"/>
            </a:xfrm>
            <a:prstGeom prst="rect">
              <a:avLst/>
            </a:prstGeom>
            <a:ln>
              <a:solidFill>
                <a:srgbClr val="000000"/>
              </a:solidFill>
            </a:ln>
          </p:spPr>
          <p:txBody>
            <a:bodyPr wrap="none">
              <a:spAutoFit/>
            </a:bodyPr>
            <a:lstStyle/>
            <a:p>
              <a:r>
                <a:rPr lang="en-US" dirty="0" err="1">
                  <a:solidFill>
                    <a:schemeClr val="tx1">
                      <a:lumMod val="65000"/>
                      <a:lumOff val="35000"/>
                    </a:schemeClr>
                  </a:solidFill>
                  <a:latin typeface="Gill Sans MT" panose="020B0502020104020203" pitchFamily="34" charset="77"/>
                  <a:cs typeface="Trebuchet MS"/>
                </a:rPr>
                <a:t>Transformación</a:t>
              </a:r>
              <a:r>
                <a:rPr lang="en-US" dirty="0">
                  <a:solidFill>
                    <a:schemeClr val="tx1">
                      <a:lumMod val="65000"/>
                      <a:lumOff val="35000"/>
                    </a:schemeClr>
                  </a:solidFill>
                  <a:latin typeface="Gill Sans MT" panose="020B0502020104020203" pitchFamily="34" charset="77"/>
                  <a:cs typeface="Trebuchet MS"/>
                </a:rPr>
                <a:t> </a:t>
              </a:r>
              <a:r>
                <a:rPr lang="en-US" dirty="0" err="1">
                  <a:solidFill>
                    <a:schemeClr val="tx1">
                      <a:lumMod val="65000"/>
                      <a:lumOff val="35000"/>
                    </a:schemeClr>
                  </a:solidFill>
                  <a:latin typeface="Gill Sans MT" panose="020B0502020104020203" pitchFamily="34" charset="77"/>
                  <a:cs typeface="Trebuchet MS"/>
                </a:rPr>
                <a:t>geométrica</a:t>
              </a:r>
              <a:r>
                <a:rPr lang="en-US" dirty="0">
                  <a:solidFill>
                    <a:schemeClr val="tx1">
                      <a:lumMod val="65000"/>
                      <a:lumOff val="35000"/>
                    </a:schemeClr>
                  </a:solidFill>
                  <a:latin typeface="Gill Sans MT" panose="020B0502020104020203" pitchFamily="34" charset="77"/>
                  <a:cs typeface="Trebuchet MS"/>
                </a:rPr>
                <a:t> no lineal</a:t>
              </a:r>
              <a:endParaRPr lang="en-US" dirty="0">
                <a:latin typeface="Gill Sans MT" panose="020B0502020104020203" pitchFamily="34" charset="77"/>
              </a:endParaRPr>
            </a:p>
          </p:txBody>
        </p:sp>
        <p:cxnSp>
          <p:nvCxnSpPr>
            <p:cNvPr id="89" name="Straight Arrow Connector 88"/>
            <p:cNvCxnSpPr>
              <a:endCxn id="88" idx="0"/>
            </p:cNvCxnSpPr>
            <p:nvPr/>
          </p:nvCxnSpPr>
          <p:spPr>
            <a:xfrm flipH="1">
              <a:off x="4599354" y="5294923"/>
              <a:ext cx="0" cy="655489"/>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245569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539654" y="3634153"/>
            <a:ext cx="1440160" cy="1800200"/>
            <a:chOff x="2888654" y="3429000"/>
            <a:chExt cx="1440160" cy="1800200"/>
          </a:xfrm>
        </p:grpSpPr>
        <p:sp>
          <p:nvSpPr>
            <p:cNvPr id="6" name="Oval 5"/>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 name="Oval 6"/>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 name="Oval 7"/>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9" name="Oval 8"/>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0" name="Oval 9"/>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1" name="Oval 10"/>
            <p:cNvSpPr/>
            <p:nvPr/>
          </p:nvSpPr>
          <p:spPr>
            <a:xfrm>
              <a:off x="3949556" y="357774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2" name="Oval 11"/>
            <p:cNvSpPr/>
            <p:nvPr/>
          </p:nvSpPr>
          <p:spPr>
            <a:xfrm>
              <a:off x="3840673" y="399891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3" name="Oval 12"/>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4" name="Oval 13"/>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5" name="Oval 14"/>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6" name="Oval 15"/>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7" name="Oval 16"/>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8" name="Oval 17"/>
            <p:cNvSpPr/>
            <p:nvPr/>
          </p:nvSpPr>
          <p:spPr>
            <a:xfrm>
              <a:off x="3538148" y="355095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9" name="Oval 18"/>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0" name="Oval 19"/>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1" name="Oval 20"/>
            <p:cNvSpPr/>
            <p:nvPr/>
          </p:nvSpPr>
          <p:spPr>
            <a:xfrm>
              <a:off x="3494026" y="3875541"/>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2" name="Oval 21"/>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3" name="Oval 22"/>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2" name="Group 41"/>
          <p:cNvGrpSpPr/>
          <p:nvPr/>
        </p:nvGrpSpPr>
        <p:grpSpPr>
          <a:xfrm rot="2553764">
            <a:off x="5409494" y="2625234"/>
            <a:ext cx="1922676" cy="1440160"/>
            <a:chOff x="4299707" y="3005336"/>
            <a:chExt cx="1922676" cy="1440160"/>
          </a:xfrm>
          <a:solidFill>
            <a:srgbClr val="0000FF"/>
          </a:solidFill>
        </p:grpSpPr>
        <p:sp>
          <p:nvSpPr>
            <p:cNvPr id="24" name="Oval 23"/>
            <p:cNvSpPr/>
            <p:nvPr/>
          </p:nvSpPr>
          <p:spPr>
            <a:xfrm>
              <a:off x="4716016" y="300533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5" name="Oval 24"/>
            <p:cNvSpPr/>
            <p:nvPr/>
          </p:nvSpPr>
          <p:spPr>
            <a:xfrm>
              <a:off x="4644008" y="358140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6" name="Oval 25"/>
            <p:cNvSpPr/>
            <p:nvPr/>
          </p:nvSpPr>
          <p:spPr>
            <a:xfrm>
              <a:off x="4572000"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7" name="Oval 26"/>
            <p:cNvSpPr/>
            <p:nvPr/>
          </p:nvSpPr>
          <p:spPr>
            <a:xfrm>
              <a:off x="5148064" y="307734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8" name="Oval 27"/>
            <p:cNvSpPr/>
            <p:nvPr/>
          </p:nvSpPr>
          <p:spPr>
            <a:xfrm>
              <a:off x="493204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9" name="Oval 28"/>
            <p:cNvSpPr/>
            <p:nvPr/>
          </p:nvSpPr>
          <p:spPr>
            <a:xfrm>
              <a:off x="5076056" y="343738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0" name="Oval 29"/>
            <p:cNvSpPr/>
            <p:nvPr/>
          </p:nvSpPr>
          <p:spPr>
            <a:xfrm>
              <a:off x="5436096" y="365340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1" name="Oval 30"/>
            <p:cNvSpPr/>
            <p:nvPr/>
          </p:nvSpPr>
          <p:spPr>
            <a:xfrm>
              <a:off x="536408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2" name="Oval 31"/>
            <p:cNvSpPr/>
            <p:nvPr/>
          </p:nvSpPr>
          <p:spPr>
            <a:xfrm>
              <a:off x="529208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3" name="Oval 32"/>
            <p:cNvSpPr/>
            <p:nvPr/>
          </p:nvSpPr>
          <p:spPr>
            <a:xfrm>
              <a:off x="586814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4" name="Oval 33"/>
            <p:cNvSpPr/>
            <p:nvPr/>
          </p:nvSpPr>
          <p:spPr>
            <a:xfrm>
              <a:off x="5501045" y="328250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5" name="Oval 34"/>
            <p:cNvSpPr/>
            <p:nvPr/>
          </p:nvSpPr>
          <p:spPr>
            <a:xfrm>
              <a:off x="5796136" y="408545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6" name="Oval 35"/>
            <p:cNvSpPr/>
            <p:nvPr/>
          </p:nvSpPr>
          <p:spPr>
            <a:xfrm>
              <a:off x="4860032" y="3293368"/>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7" name="Oval 36"/>
            <p:cNvSpPr/>
            <p:nvPr/>
          </p:nvSpPr>
          <p:spPr>
            <a:xfrm>
              <a:off x="4644008" y="42294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8" name="Oval 37"/>
            <p:cNvSpPr/>
            <p:nvPr/>
          </p:nvSpPr>
          <p:spPr>
            <a:xfrm>
              <a:off x="4572000" y="3941440"/>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39" name="Oval 38"/>
            <p:cNvSpPr/>
            <p:nvPr/>
          </p:nvSpPr>
          <p:spPr>
            <a:xfrm>
              <a:off x="5148064" y="3725416"/>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0" name="Oval 39"/>
            <p:cNvSpPr/>
            <p:nvPr/>
          </p:nvSpPr>
          <p:spPr>
            <a:xfrm>
              <a:off x="6006359" y="3390694"/>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1" name="Oval 40"/>
            <p:cNvSpPr/>
            <p:nvPr/>
          </p:nvSpPr>
          <p:spPr>
            <a:xfrm>
              <a:off x="4299707" y="3210572"/>
              <a:ext cx="216024" cy="216024"/>
            </a:xfrm>
            <a:prstGeom prst="ellipse">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47" name="Group 46"/>
          <p:cNvGrpSpPr/>
          <p:nvPr/>
        </p:nvGrpSpPr>
        <p:grpSpPr>
          <a:xfrm rot="4807221">
            <a:off x="4467362" y="1989014"/>
            <a:ext cx="1440160" cy="1800200"/>
            <a:chOff x="2888654" y="3429000"/>
            <a:chExt cx="1440160" cy="1800200"/>
          </a:xfrm>
        </p:grpSpPr>
        <p:sp>
          <p:nvSpPr>
            <p:cNvPr id="48" name="Oval 4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49" name="Oval 48"/>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0" name="Oval 49"/>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1" name="Oval 50"/>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2" name="Oval 51"/>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3" name="Oval 52"/>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4" name="Oval 53"/>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5" name="Oval 54"/>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6" name="Oval 55"/>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7" name="Oval 56"/>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8" name="Oval 57"/>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59" name="Oval 58"/>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0" name="Oval 59"/>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1" name="Oval 60"/>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2" name="Oval 61"/>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3" name="Oval 62"/>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4" name="Oval 63"/>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5" name="Oval 64"/>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66" name="Group 65"/>
          <p:cNvGrpSpPr/>
          <p:nvPr/>
        </p:nvGrpSpPr>
        <p:grpSpPr>
          <a:xfrm rot="15100624">
            <a:off x="5825284" y="4157784"/>
            <a:ext cx="1440160" cy="1800200"/>
            <a:chOff x="2888654" y="3429000"/>
            <a:chExt cx="1440160" cy="1800200"/>
          </a:xfrm>
        </p:grpSpPr>
        <p:sp>
          <p:nvSpPr>
            <p:cNvPr id="67" name="Oval 66"/>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8" name="Oval 67"/>
            <p:cNvSpPr/>
            <p:nvPr/>
          </p:nvSpPr>
          <p:spPr>
            <a:xfrm>
              <a:off x="2960662" y="400506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69" name="Oval 68"/>
            <p:cNvSpPr/>
            <p:nvPr/>
          </p:nvSpPr>
          <p:spPr>
            <a:xfrm>
              <a:off x="2888654"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0" name="Oval 69"/>
            <p:cNvSpPr/>
            <p:nvPr/>
          </p:nvSpPr>
          <p:spPr>
            <a:xfrm>
              <a:off x="3220487" y="4067623"/>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1" name="Oval 70"/>
            <p:cNvSpPr/>
            <p:nvPr/>
          </p:nvSpPr>
          <p:spPr>
            <a:xfrm>
              <a:off x="324869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3392710" y="3861048"/>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3" name="Oval 72"/>
            <p:cNvSpPr/>
            <p:nvPr/>
          </p:nvSpPr>
          <p:spPr>
            <a:xfrm>
              <a:off x="3752750" y="407707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4" name="Oval 73"/>
            <p:cNvSpPr/>
            <p:nvPr/>
          </p:nvSpPr>
          <p:spPr>
            <a:xfrm>
              <a:off x="368074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5" name="Oval 74"/>
            <p:cNvSpPr/>
            <p:nvPr/>
          </p:nvSpPr>
          <p:spPr>
            <a:xfrm>
              <a:off x="360873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6" name="Oval 75"/>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7" name="Oval 76"/>
            <p:cNvSpPr/>
            <p:nvPr/>
          </p:nvSpPr>
          <p:spPr>
            <a:xfrm>
              <a:off x="396877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8" name="Oval 77"/>
            <p:cNvSpPr/>
            <p:nvPr/>
          </p:nvSpPr>
          <p:spPr>
            <a:xfrm>
              <a:off x="4112790" y="450912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9" name="Oval 78"/>
            <p:cNvSpPr/>
            <p:nvPr/>
          </p:nvSpPr>
          <p:spPr>
            <a:xfrm>
              <a:off x="3176686" y="3717032"/>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0" name="Oval 79"/>
            <p:cNvSpPr/>
            <p:nvPr/>
          </p:nvSpPr>
          <p:spPr>
            <a:xfrm>
              <a:off x="2960662" y="465313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1" name="Oval 80"/>
            <p:cNvSpPr/>
            <p:nvPr/>
          </p:nvSpPr>
          <p:spPr>
            <a:xfrm>
              <a:off x="2888654" y="436510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2" name="Oval 81"/>
            <p:cNvSpPr/>
            <p:nvPr/>
          </p:nvSpPr>
          <p:spPr>
            <a:xfrm>
              <a:off x="3464718" y="414908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3" name="Oval 82"/>
            <p:cNvSpPr/>
            <p:nvPr/>
          </p:nvSpPr>
          <p:spPr>
            <a:xfrm>
              <a:off x="3248694" y="5013176"/>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84" name="Oval 83"/>
            <p:cNvSpPr/>
            <p:nvPr/>
          </p:nvSpPr>
          <p:spPr>
            <a:xfrm>
              <a:off x="3392710" y="4725144"/>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85" name="Freeform 84"/>
          <p:cNvSpPr/>
          <p:nvPr/>
        </p:nvSpPr>
        <p:spPr>
          <a:xfrm>
            <a:off x="5597765" y="1484923"/>
            <a:ext cx="2530231" cy="2715846"/>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86" name="Rectangle 85"/>
          <p:cNvSpPr/>
          <p:nvPr/>
        </p:nvSpPr>
        <p:spPr>
          <a:xfrm>
            <a:off x="8215888" y="3752336"/>
            <a:ext cx="1790875" cy="646331"/>
          </a:xfrm>
          <a:prstGeom prst="rect">
            <a:avLst/>
          </a:prstGeom>
          <a:ln>
            <a:noFill/>
          </a:ln>
        </p:spPr>
        <p:txBody>
          <a:bodyPr wrap="none">
            <a:spAutoFit/>
          </a:bodyPr>
          <a:lstStyle/>
          <a:p>
            <a:r>
              <a:rPr lang="en-US" dirty="0">
                <a:solidFill>
                  <a:schemeClr val="tx1">
                    <a:lumMod val="65000"/>
                    <a:lumOff val="35000"/>
                  </a:schemeClr>
                </a:solidFill>
                <a:latin typeface="Gill Sans MT" panose="020B0502020104020203" pitchFamily="34" charset="77"/>
                <a:cs typeface="Trebuchet MS"/>
              </a:rPr>
              <a:t>Línea de </a:t>
            </a:r>
            <a:r>
              <a:rPr lang="en-US" dirty="0" err="1">
                <a:solidFill>
                  <a:schemeClr val="tx1">
                    <a:lumMod val="65000"/>
                    <a:lumOff val="35000"/>
                  </a:schemeClr>
                </a:solidFill>
                <a:latin typeface="Gill Sans MT" panose="020B0502020104020203" pitchFamily="34" charset="77"/>
                <a:cs typeface="Trebuchet MS"/>
              </a:rPr>
              <a:t>decisión</a:t>
            </a:r>
            <a:r>
              <a:rPr lang="en-US" dirty="0">
                <a:solidFill>
                  <a:schemeClr val="tx1">
                    <a:lumMod val="65000"/>
                    <a:lumOff val="35000"/>
                  </a:schemeClr>
                </a:solidFill>
                <a:latin typeface="Gill Sans MT" panose="020B0502020104020203" pitchFamily="34" charset="77"/>
                <a:cs typeface="Trebuchet MS"/>
              </a:rPr>
              <a:t>
</a:t>
            </a:r>
            <a:endParaRPr lang="en-US" dirty="0">
              <a:latin typeface="Gill Sans MT" panose="020B0502020104020203" pitchFamily="34" charset="77"/>
            </a:endParaRPr>
          </a:p>
        </p:txBody>
      </p:sp>
    </p:spTree>
    <p:extLst>
      <p:ext uri="{BB962C8B-B14F-4D97-AF65-F5344CB8AC3E}">
        <p14:creationId xmlns:p14="http://schemas.microsoft.com/office/powerpoint/2010/main" val="7088785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4683670" y="3634154"/>
            <a:ext cx="1270462" cy="984949"/>
            <a:chOff x="3032670" y="3429000"/>
            <a:chExt cx="1270462" cy="984949"/>
          </a:xfrm>
          <a:solidFill>
            <a:srgbClr val="FFC7FF"/>
          </a:solidFill>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grpSp>
        <p:nvGrpSpPr>
          <p:cNvPr id="2" name="Group 1"/>
          <p:cNvGrpSpPr/>
          <p:nvPr/>
        </p:nvGrpSpPr>
        <p:grpSpPr>
          <a:xfrm rot="20987970">
            <a:off x="3973547" y="2026613"/>
            <a:ext cx="3858011" cy="4139740"/>
            <a:chOff x="2448318" y="2041843"/>
            <a:chExt cx="3858011" cy="4139740"/>
          </a:xfrm>
        </p:grpSpPr>
        <p:cxnSp>
          <p:nvCxnSpPr>
            <p:cNvPr id="48" name="Straight Connector 47"/>
            <p:cNvCxnSpPr/>
            <p:nvPr/>
          </p:nvCxnSpPr>
          <p:spPr>
            <a:xfrm>
              <a:off x="2598616" y="2266461"/>
              <a:ext cx="3331308" cy="3624384"/>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a:off x="2814098" y="2041843"/>
              <a:ext cx="3331308" cy="3624384"/>
            </a:xfrm>
            <a:prstGeom prst="line">
              <a:avLst/>
            </a:prstGeom>
            <a:ln w="12700" cmpd="sng">
              <a:solidFill>
                <a:srgbClr val="0000FF"/>
              </a:solidFill>
              <a:prstDash val="dash"/>
            </a:ln>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a:off x="2448318" y="2557199"/>
              <a:ext cx="3331308" cy="3624384"/>
            </a:xfrm>
            <a:prstGeom prst="line">
              <a:avLst/>
            </a:prstGeom>
            <a:ln w="127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3" name="Straight Arrow Connector 2"/>
            <p:cNvCxnSpPr>
              <a:cxnSpLocks noChangeAspect="1"/>
            </p:cNvCxnSpPr>
            <p:nvPr/>
          </p:nvCxnSpPr>
          <p:spPr>
            <a:xfrm flipV="1">
              <a:off x="5763022" y="5466426"/>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a:cxnSpLocks noChangeAspect="1"/>
            </p:cNvCxnSpPr>
            <p:nvPr/>
          </p:nvCxnSpPr>
          <p:spPr>
            <a:xfrm flipV="1">
              <a:off x="5546841" y="5691212"/>
              <a:ext cx="241989" cy="252000"/>
            </a:xfrm>
            <a:prstGeom prst="straightConnector1">
              <a:avLst/>
            </a:prstGeom>
            <a:ln>
              <a:solidFill>
                <a:schemeClr val="tx1">
                  <a:lumMod val="85000"/>
                  <a:lumOff val="15000"/>
                </a:schemeClr>
              </a:solidFill>
              <a:headEnd type="arrow" w="sm" len="sm"/>
              <a:tailEnd type="arrow" w="sm" len="sm"/>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871595" y="5587510"/>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sp>
          <p:nvSpPr>
            <p:cNvPr id="61" name="Rectangle 60"/>
            <p:cNvSpPr/>
            <p:nvPr/>
          </p:nvSpPr>
          <p:spPr>
            <a:xfrm>
              <a:off x="5660431" y="5798203"/>
              <a:ext cx="434734" cy="276999"/>
            </a:xfrm>
            <a:prstGeom prst="rect">
              <a:avLst/>
            </a:prstGeom>
          </p:spPr>
          <p:txBody>
            <a:bodyPr wrap="none">
              <a:spAutoFit/>
            </a:bodyPr>
            <a:lstStyle/>
            <a:p>
              <a:r>
                <a:rPr lang="en-US" sz="1200" dirty="0" err="1">
                  <a:solidFill>
                    <a:schemeClr val="tx1">
                      <a:lumMod val="75000"/>
                      <a:lumOff val="25000"/>
                    </a:schemeClr>
                  </a:solidFill>
                  <a:latin typeface="Gill Sans MT" panose="020B0502020104020203" pitchFamily="34" charset="77"/>
                  <a:cs typeface="Trebuchet MS"/>
                </a:rPr>
                <a:t>b</a:t>
              </a:r>
              <a:r>
                <a:rPr lang="en-US" sz="1200" baseline="-25000" dirty="0" err="1">
                  <a:solidFill>
                    <a:schemeClr val="tx1">
                      <a:lumMod val="75000"/>
                      <a:lumOff val="25000"/>
                    </a:schemeClr>
                  </a:solidFill>
                  <a:latin typeface="Gill Sans MT" panose="020B0502020104020203" pitchFamily="34" charset="77"/>
                  <a:cs typeface="Trebuchet MS"/>
                </a:rPr>
                <a:t>max</a:t>
              </a:r>
              <a:endParaRPr lang="en-US" sz="1200" baseline="-25000" dirty="0">
                <a:latin typeface="Gill Sans MT" panose="020B0502020104020203" pitchFamily="34" charset="77"/>
              </a:endParaRPr>
            </a:p>
          </p:txBody>
        </p:sp>
      </p:grpSp>
      <p:sp>
        <p:nvSpPr>
          <p:cNvPr id="94" name="Oval 93"/>
          <p:cNvSpPr/>
          <p:nvPr/>
        </p:nvSpPr>
        <p:spPr>
          <a:xfrm rot="2553764">
            <a:off x="6004269" y="3830870"/>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pic>
        <p:nvPicPr>
          <p:cNvPr id="4" name="Picture 3"/>
          <p:cNvPicPr>
            <a:picLocks noChangeAspect="1"/>
          </p:cNvPicPr>
          <p:nvPr/>
        </p:nvPicPr>
        <p:blipFill>
          <a:blip r:embed="rId2"/>
          <a:stretch>
            <a:fillRect/>
          </a:stretch>
        </p:blipFill>
        <p:spPr>
          <a:xfrm>
            <a:off x="2025947" y="4814071"/>
            <a:ext cx="2987046" cy="812538"/>
          </a:xfrm>
          <a:prstGeom prst="rect">
            <a:avLst/>
          </a:prstGeom>
        </p:spPr>
      </p:pic>
      <p:pic>
        <p:nvPicPr>
          <p:cNvPr id="6" name="Picture 5"/>
          <p:cNvPicPr>
            <a:picLocks noChangeAspect="1"/>
          </p:cNvPicPr>
          <p:nvPr/>
        </p:nvPicPr>
        <p:blipFill>
          <a:blip r:embed="rId3"/>
          <a:stretch>
            <a:fillRect/>
          </a:stretch>
        </p:blipFill>
        <p:spPr>
          <a:xfrm>
            <a:off x="3327514" y="2343474"/>
            <a:ext cx="484761" cy="275941"/>
          </a:xfrm>
          <a:prstGeom prst="rect">
            <a:avLst/>
          </a:prstGeom>
        </p:spPr>
      </p:pic>
      <p:pic>
        <p:nvPicPr>
          <p:cNvPr id="9" name="Picture 8"/>
          <p:cNvPicPr>
            <a:picLocks noChangeAspect="1"/>
          </p:cNvPicPr>
          <p:nvPr/>
        </p:nvPicPr>
        <p:blipFill>
          <a:blip r:embed="rId4"/>
          <a:stretch>
            <a:fillRect/>
          </a:stretch>
        </p:blipFill>
        <p:spPr>
          <a:xfrm>
            <a:off x="4326399" y="3716591"/>
            <a:ext cx="215900" cy="152400"/>
          </a:xfrm>
          <a:prstGeom prst="rect">
            <a:avLst/>
          </a:prstGeom>
        </p:spPr>
      </p:pic>
      <p:pic>
        <p:nvPicPr>
          <p:cNvPr id="10" name="Picture 9"/>
          <p:cNvPicPr>
            <a:picLocks noChangeAspect="1"/>
          </p:cNvPicPr>
          <p:nvPr/>
        </p:nvPicPr>
        <p:blipFill>
          <a:blip r:embed="rId5"/>
          <a:stretch>
            <a:fillRect/>
          </a:stretch>
        </p:blipFill>
        <p:spPr>
          <a:xfrm>
            <a:off x="6027378" y="3588776"/>
            <a:ext cx="215900" cy="152400"/>
          </a:xfrm>
          <a:prstGeom prst="rect">
            <a:avLst/>
          </a:prstGeom>
        </p:spPr>
      </p:pic>
      <p:pic>
        <p:nvPicPr>
          <p:cNvPr id="12" name="Picture 11"/>
          <p:cNvPicPr>
            <a:picLocks noChangeAspect="1"/>
          </p:cNvPicPr>
          <p:nvPr/>
        </p:nvPicPr>
        <p:blipFill>
          <a:blip r:embed="rId6"/>
          <a:stretch>
            <a:fillRect/>
          </a:stretch>
        </p:blipFill>
        <p:spPr>
          <a:xfrm>
            <a:off x="5678125" y="4729318"/>
            <a:ext cx="304800" cy="152400"/>
          </a:xfrm>
          <a:prstGeom prst="rect">
            <a:avLst/>
          </a:prstGeom>
        </p:spPr>
      </p:pic>
      <p:pic>
        <p:nvPicPr>
          <p:cNvPr id="13" name="Picture 12"/>
          <p:cNvPicPr>
            <a:picLocks noChangeAspect="1"/>
          </p:cNvPicPr>
          <p:nvPr/>
        </p:nvPicPr>
        <p:blipFill>
          <a:blip r:embed="rId7"/>
          <a:stretch>
            <a:fillRect/>
          </a:stretch>
        </p:blipFill>
        <p:spPr>
          <a:xfrm>
            <a:off x="6506578" y="2907048"/>
            <a:ext cx="774700" cy="203200"/>
          </a:xfrm>
          <a:prstGeom prst="rect">
            <a:avLst/>
          </a:prstGeom>
        </p:spPr>
      </p:pic>
      <p:pic>
        <p:nvPicPr>
          <p:cNvPr id="14" name="Picture 13"/>
          <p:cNvPicPr>
            <a:picLocks noChangeAspect="1"/>
          </p:cNvPicPr>
          <p:nvPr/>
        </p:nvPicPr>
        <p:blipFill>
          <a:blip r:embed="rId8"/>
          <a:stretch>
            <a:fillRect/>
          </a:stretch>
        </p:blipFill>
        <p:spPr>
          <a:xfrm>
            <a:off x="6181770" y="5590320"/>
            <a:ext cx="774700" cy="203200"/>
          </a:xfrm>
          <a:prstGeom prst="rect">
            <a:avLst/>
          </a:prstGeom>
        </p:spPr>
      </p:pic>
      <p:sp>
        <p:nvSpPr>
          <p:cNvPr id="25" name="TextBox 24">
            <a:extLst>
              <a:ext uri="{FF2B5EF4-FFF2-40B4-BE49-F238E27FC236}">
                <a16:creationId xmlns:a16="http://schemas.microsoft.com/office/drawing/2014/main" id="{3D5C08D4-A301-6A49-B58D-CB1EB21D752A}"/>
              </a:ext>
            </a:extLst>
          </p:cNvPr>
          <p:cNvSpPr txBox="1"/>
          <p:nvPr/>
        </p:nvSpPr>
        <p:spPr>
          <a:xfrm>
            <a:off x="2135561" y="764705"/>
            <a:ext cx="4911601"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Máquinas vectoriales de soporte
</a:t>
            </a:r>
          </a:p>
        </p:txBody>
      </p:sp>
      <p:sp>
        <p:nvSpPr>
          <p:cNvPr id="26" name="TextBox 25">
            <a:extLst>
              <a:ext uri="{FF2B5EF4-FFF2-40B4-BE49-F238E27FC236}">
                <a16:creationId xmlns:a16="http://schemas.microsoft.com/office/drawing/2014/main" id="{FDA69D04-A7F1-6847-A3A3-FBA6E7ACD994}"/>
              </a:ext>
            </a:extLst>
          </p:cNvPr>
          <p:cNvSpPr txBox="1"/>
          <p:nvPr/>
        </p:nvSpPr>
        <p:spPr>
          <a:xfrm>
            <a:off x="2309938" y="189989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Tree>
    <p:extLst>
      <p:ext uri="{BB962C8B-B14F-4D97-AF65-F5344CB8AC3E}">
        <p14:creationId xmlns:p14="http://schemas.microsoft.com/office/powerpoint/2010/main" val="37044662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4791822" y="3535834"/>
            <a:ext cx="1270462" cy="984949"/>
            <a:chOff x="3032670" y="3429000"/>
            <a:chExt cx="1270462" cy="984949"/>
          </a:xfrm>
          <a:solidFill>
            <a:srgbClr val="FFC7FF"/>
          </a:solidFill>
        </p:grpSpPr>
        <p:sp>
          <p:nvSpPr>
            <p:cNvPr id="58" name="Oval 57"/>
            <p:cNvSpPr/>
            <p:nvPr/>
          </p:nvSpPr>
          <p:spPr>
            <a:xfrm>
              <a:off x="3032670" y="3429000"/>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72" name="Oval 71"/>
            <p:cNvSpPr/>
            <p:nvPr/>
          </p:nvSpPr>
          <p:spPr>
            <a:xfrm>
              <a:off x="4087108" y="4197925"/>
              <a:ext cx="216024" cy="216024"/>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94" name="Oval 93"/>
          <p:cNvSpPr/>
          <p:nvPr/>
        </p:nvSpPr>
        <p:spPr>
          <a:xfrm rot="2553764">
            <a:off x="6004269" y="3909526"/>
            <a:ext cx="216024" cy="216024"/>
          </a:xfrm>
          <a:prstGeom prst="ellipse">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pic>
        <p:nvPicPr>
          <p:cNvPr id="9" name="Picture 8"/>
          <p:cNvPicPr>
            <a:picLocks noChangeAspect="1"/>
          </p:cNvPicPr>
          <p:nvPr/>
        </p:nvPicPr>
        <p:blipFill>
          <a:blip r:embed="rId2"/>
          <a:stretch>
            <a:fillRect/>
          </a:stretch>
        </p:blipFill>
        <p:spPr>
          <a:xfrm>
            <a:off x="4326399" y="3716591"/>
            <a:ext cx="215900" cy="152400"/>
          </a:xfrm>
          <a:prstGeom prst="rect">
            <a:avLst/>
          </a:prstGeom>
        </p:spPr>
      </p:pic>
      <p:pic>
        <p:nvPicPr>
          <p:cNvPr id="10" name="Picture 9"/>
          <p:cNvPicPr>
            <a:picLocks noChangeAspect="1"/>
          </p:cNvPicPr>
          <p:nvPr/>
        </p:nvPicPr>
        <p:blipFill>
          <a:blip r:embed="rId3"/>
          <a:stretch>
            <a:fillRect/>
          </a:stretch>
        </p:blipFill>
        <p:spPr>
          <a:xfrm>
            <a:off x="6027378" y="3588776"/>
            <a:ext cx="215900" cy="152400"/>
          </a:xfrm>
          <a:prstGeom prst="rect">
            <a:avLst/>
          </a:prstGeom>
        </p:spPr>
      </p:pic>
      <p:pic>
        <p:nvPicPr>
          <p:cNvPr id="12" name="Picture 11"/>
          <p:cNvPicPr>
            <a:picLocks noChangeAspect="1"/>
          </p:cNvPicPr>
          <p:nvPr/>
        </p:nvPicPr>
        <p:blipFill>
          <a:blip r:embed="rId4"/>
          <a:stretch>
            <a:fillRect/>
          </a:stretch>
        </p:blipFill>
        <p:spPr>
          <a:xfrm>
            <a:off x="5678125" y="4729318"/>
            <a:ext cx="304800" cy="152400"/>
          </a:xfrm>
          <a:prstGeom prst="rect">
            <a:avLst/>
          </a:prstGeom>
        </p:spPr>
      </p:pic>
      <p:pic>
        <p:nvPicPr>
          <p:cNvPr id="13" name="Picture 12"/>
          <p:cNvPicPr>
            <a:picLocks noChangeAspect="1"/>
          </p:cNvPicPr>
          <p:nvPr/>
        </p:nvPicPr>
        <p:blipFill>
          <a:blip r:embed="rId5"/>
          <a:stretch>
            <a:fillRect/>
          </a:stretch>
        </p:blipFill>
        <p:spPr>
          <a:xfrm>
            <a:off x="6506578" y="2907048"/>
            <a:ext cx="774700" cy="203200"/>
          </a:xfrm>
          <a:prstGeom prst="rect">
            <a:avLst/>
          </a:prstGeom>
        </p:spPr>
      </p:pic>
      <p:pic>
        <p:nvPicPr>
          <p:cNvPr id="14" name="Picture 13"/>
          <p:cNvPicPr>
            <a:picLocks noChangeAspect="1"/>
          </p:cNvPicPr>
          <p:nvPr/>
        </p:nvPicPr>
        <p:blipFill>
          <a:blip r:embed="rId6"/>
          <a:stretch>
            <a:fillRect/>
          </a:stretch>
        </p:blipFill>
        <p:spPr>
          <a:xfrm>
            <a:off x="6731558" y="4520782"/>
            <a:ext cx="774700" cy="203200"/>
          </a:xfrm>
          <a:prstGeom prst="rect">
            <a:avLst/>
          </a:prstGeom>
        </p:spPr>
      </p:pic>
      <p:sp>
        <p:nvSpPr>
          <p:cNvPr id="23" name="Freeform 22"/>
          <p:cNvSpPr/>
          <p:nvPr/>
        </p:nvSpPr>
        <p:spPr>
          <a:xfrm>
            <a:off x="5235628" y="1504280"/>
            <a:ext cx="2530231" cy="2715846"/>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a:solidFill>
              <a:srgbClr val="26262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24" name="Freeform 23"/>
          <p:cNvSpPr/>
          <p:nvPr/>
        </p:nvSpPr>
        <p:spPr>
          <a:xfrm>
            <a:off x="5476516" y="1705841"/>
            <a:ext cx="2228068" cy="2335217"/>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w="12700">
            <a:solidFill>
              <a:srgbClr val="26262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sp>
        <p:nvSpPr>
          <p:cNvPr id="25" name="Freeform 24"/>
          <p:cNvSpPr/>
          <p:nvPr/>
        </p:nvSpPr>
        <p:spPr>
          <a:xfrm>
            <a:off x="4908954" y="1307090"/>
            <a:ext cx="2952942" cy="3112292"/>
          </a:xfrm>
          <a:custGeom>
            <a:avLst/>
            <a:gdLst>
              <a:gd name="connsiteX0" fmla="*/ 1082797 w 2479797"/>
              <a:gd name="connsiteY0" fmla="*/ 0 h 2285734"/>
              <a:gd name="connsiteX1" fmla="*/ 271951 w 2479797"/>
              <a:gd name="connsiteY1" fmla="*/ 908538 h 2285734"/>
              <a:gd name="connsiteX2" fmla="*/ 8182 w 2479797"/>
              <a:gd name="connsiteY2" fmla="*/ 1836615 h 2285734"/>
              <a:gd name="connsiteX3" fmla="*/ 525951 w 2479797"/>
              <a:gd name="connsiteY3" fmla="*/ 2276230 h 2285734"/>
              <a:gd name="connsiteX4" fmla="*/ 2479797 w 2479797"/>
              <a:gd name="connsiteY4" fmla="*/ 2149230 h 228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9797" h="2285734">
                <a:moveTo>
                  <a:pt x="1082797" y="0"/>
                </a:moveTo>
                <a:cubicBezTo>
                  <a:pt x="766925" y="301218"/>
                  <a:pt x="451053" y="602436"/>
                  <a:pt x="271951" y="908538"/>
                </a:cubicBezTo>
                <a:cubicBezTo>
                  <a:pt x="92849" y="1214640"/>
                  <a:pt x="-34151" y="1608666"/>
                  <a:pt x="8182" y="1836615"/>
                </a:cubicBezTo>
                <a:cubicBezTo>
                  <a:pt x="50515" y="2064564"/>
                  <a:pt x="114015" y="2224128"/>
                  <a:pt x="525951" y="2276230"/>
                </a:cubicBezTo>
                <a:cubicBezTo>
                  <a:pt x="937887" y="2328332"/>
                  <a:pt x="2479797" y="2149230"/>
                  <a:pt x="2479797" y="2149230"/>
                </a:cubicBezTo>
              </a:path>
            </a:pathLst>
          </a:custGeom>
          <a:ln w="12700">
            <a:solidFill>
              <a:srgbClr val="26262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Gill Sans MT" panose="020B0502020104020203" pitchFamily="34" charset="77"/>
            </a:endParaRPr>
          </a:p>
        </p:txBody>
      </p:sp>
      <p:pic>
        <p:nvPicPr>
          <p:cNvPr id="5" name="Picture 4"/>
          <p:cNvPicPr>
            <a:picLocks noChangeAspect="1"/>
          </p:cNvPicPr>
          <p:nvPr/>
        </p:nvPicPr>
        <p:blipFill>
          <a:blip r:embed="rId7"/>
          <a:stretch>
            <a:fillRect/>
          </a:stretch>
        </p:blipFill>
        <p:spPr>
          <a:xfrm>
            <a:off x="6632270" y="1892506"/>
            <a:ext cx="736600" cy="241300"/>
          </a:xfrm>
          <a:prstGeom prst="rect">
            <a:avLst/>
          </a:prstGeom>
        </p:spPr>
      </p:pic>
      <p:pic>
        <p:nvPicPr>
          <p:cNvPr id="7" name="Picture 6"/>
          <p:cNvPicPr>
            <a:picLocks noChangeAspect="1"/>
          </p:cNvPicPr>
          <p:nvPr/>
        </p:nvPicPr>
        <p:blipFill>
          <a:blip r:embed="rId8"/>
          <a:stretch>
            <a:fillRect/>
          </a:stretch>
        </p:blipFill>
        <p:spPr>
          <a:xfrm>
            <a:off x="2107301" y="4712519"/>
            <a:ext cx="3789725" cy="749381"/>
          </a:xfrm>
          <a:prstGeom prst="rect">
            <a:avLst/>
          </a:prstGeom>
        </p:spPr>
      </p:pic>
      <p:pic>
        <p:nvPicPr>
          <p:cNvPr id="11" name="Picture 10"/>
          <p:cNvPicPr>
            <a:picLocks noChangeAspect="1"/>
          </p:cNvPicPr>
          <p:nvPr/>
        </p:nvPicPr>
        <p:blipFill>
          <a:blip r:embed="rId9"/>
          <a:stretch>
            <a:fillRect/>
          </a:stretch>
        </p:blipFill>
        <p:spPr>
          <a:xfrm>
            <a:off x="2107300" y="5619956"/>
            <a:ext cx="3954984" cy="684140"/>
          </a:xfrm>
          <a:prstGeom prst="rect">
            <a:avLst/>
          </a:prstGeom>
        </p:spPr>
      </p:pic>
      <p:grpSp>
        <p:nvGrpSpPr>
          <p:cNvPr id="20" name="Group 19"/>
          <p:cNvGrpSpPr/>
          <p:nvPr/>
        </p:nvGrpSpPr>
        <p:grpSpPr>
          <a:xfrm>
            <a:off x="6823588" y="5388077"/>
            <a:ext cx="3750144" cy="646331"/>
            <a:chOff x="5299588" y="5801032"/>
            <a:chExt cx="3750144" cy="646331"/>
          </a:xfrm>
        </p:grpSpPr>
        <p:sp>
          <p:nvSpPr>
            <p:cNvPr id="15" name="TextBox 14"/>
            <p:cNvSpPr txBox="1"/>
            <p:nvPr/>
          </p:nvSpPr>
          <p:spPr>
            <a:xfrm>
              <a:off x="5299588" y="5801032"/>
              <a:ext cx="3126658" cy="646331"/>
            </a:xfrm>
            <a:prstGeom prst="rect">
              <a:avLst/>
            </a:prstGeom>
            <a:noFill/>
          </p:spPr>
          <p:txBody>
            <a:bodyPr wrap="square" rtlCol="0">
              <a:spAutoFit/>
            </a:bodyPr>
            <a:lstStyle/>
            <a:p>
              <a:r>
                <a:rPr lang="en-US" dirty="0">
                  <a:latin typeface="Gill Sans MT" panose="020B0502020104020203" pitchFamily="34" charset="77"/>
                </a:rPr>
                <a:t>No se </a:t>
              </a:r>
              <a:r>
                <a:rPr lang="en-US" dirty="0" err="1">
                  <a:latin typeface="Gill Sans MT" panose="020B0502020104020203" pitchFamily="34" charset="77"/>
                </a:rPr>
                <a:t>necesita</a:t>
              </a:r>
              <a:r>
                <a:rPr lang="en-US" dirty="0">
                  <a:latin typeface="Gill Sans MT" panose="020B0502020104020203" pitchFamily="34" charset="77"/>
                </a:rPr>
                <a:t>            , solo es </a:t>
              </a:r>
              <a:r>
                <a:rPr lang="en-US" dirty="0" err="1">
                  <a:latin typeface="Gill Sans MT" panose="020B0502020104020203" pitchFamily="34" charset="77"/>
                </a:rPr>
                <a:t>necesario</a:t>
              </a:r>
              <a:r>
                <a:rPr lang="en-US" dirty="0">
                  <a:latin typeface="Gill Sans MT" panose="020B0502020104020203" pitchFamily="34" charset="77"/>
                </a:rPr>
                <a:t> el kernel</a:t>
              </a:r>
            </a:p>
          </p:txBody>
        </p:sp>
        <p:pic>
          <p:nvPicPr>
            <p:cNvPr id="17" name="Picture 16"/>
            <p:cNvPicPr>
              <a:picLocks noChangeAspect="1"/>
            </p:cNvPicPr>
            <p:nvPr/>
          </p:nvPicPr>
          <p:blipFill>
            <a:blip r:embed="rId10"/>
            <a:stretch>
              <a:fillRect/>
            </a:stretch>
          </p:blipFill>
          <p:spPr>
            <a:xfrm>
              <a:off x="7360632" y="6139216"/>
              <a:ext cx="1689100" cy="266700"/>
            </a:xfrm>
            <a:prstGeom prst="rect">
              <a:avLst/>
            </a:prstGeom>
          </p:spPr>
        </p:pic>
        <p:pic>
          <p:nvPicPr>
            <p:cNvPr id="19" name="Picture 18"/>
            <p:cNvPicPr>
              <a:picLocks noChangeAspect="1"/>
            </p:cNvPicPr>
            <p:nvPr/>
          </p:nvPicPr>
          <p:blipFill>
            <a:blip r:embed="rId11"/>
            <a:stretch>
              <a:fillRect/>
            </a:stretch>
          </p:blipFill>
          <p:spPr>
            <a:xfrm>
              <a:off x="6985453" y="5872703"/>
              <a:ext cx="469900" cy="266700"/>
            </a:xfrm>
            <a:prstGeom prst="rect">
              <a:avLst/>
            </a:prstGeom>
          </p:spPr>
        </p:pic>
      </p:grpSp>
      <p:sp>
        <p:nvSpPr>
          <p:cNvPr id="26" name="TextBox 25">
            <a:extLst>
              <a:ext uri="{FF2B5EF4-FFF2-40B4-BE49-F238E27FC236}">
                <a16:creationId xmlns:a16="http://schemas.microsoft.com/office/drawing/2014/main" id="{72CED45B-FFDB-5F46-9DE4-8FD1CA3AD434}"/>
              </a:ext>
            </a:extLst>
          </p:cNvPr>
          <p:cNvSpPr txBox="1"/>
          <p:nvPr/>
        </p:nvSpPr>
        <p:spPr>
          <a:xfrm>
            <a:off x="2135561" y="764705"/>
            <a:ext cx="4911601" cy="830997"/>
          </a:xfrm>
          <a:prstGeom prst="rect">
            <a:avLst/>
          </a:prstGeom>
          <a:noFill/>
        </p:spPr>
        <p:txBody>
          <a:bodyPr wrap="none" rtlCol="0">
            <a:spAutoFit/>
          </a:bodyPr>
          <a:lstStyle/>
          <a:p>
            <a:r>
              <a:rPr lang="es-ES_tradnl" sz="2400" dirty="0">
                <a:solidFill>
                  <a:srgbClr val="FF9300"/>
                </a:solidFill>
                <a:latin typeface="Gill Sans MT" panose="020B0502020104020203" pitchFamily="34" charset="77"/>
                <a:cs typeface="Trebuchet MS"/>
              </a:rPr>
              <a:t>SVM: Máquinas vectoriales de soporte
</a:t>
            </a:r>
          </a:p>
        </p:txBody>
      </p:sp>
      <p:sp>
        <p:nvSpPr>
          <p:cNvPr id="27" name="TextBox 26">
            <a:extLst>
              <a:ext uri="{FF2B5EF4-FFF2-40B4-BE49-F238E27FC236}">
                <a16:creationId xmlns:a16="http://schemas.microsoft.com/office/drawing/2014/main" id="{B9F3F833-8E0A-2F4F-9510-4026E7BC36B7}"/>
              </a:ext>
            </a:extLst>
          </p:cNvPr>
          <p:cNvSpPr txBox="1"/>
          <p:nvPr/>
        </p:nvSpPr>
        <p:spPr>
          <a:xfrm>
            <a:off x="6445691" y="1298961"/>
            <a:ext cx="1612942" cy="584775"/>
          </a:xfrm>
          <a:prstGeom prst="rect">
            <a:avLst/>
          </a:prstGeom>
          <a:noFill/>
        </p:spPr>
        <p:txBody>
          <a:bodyPr wrap="none" rtlCol="0">
            <a:spAutoFit/>
          </a:bodyPr>
          <a:lstStyle/>
          <a:p>
            <a:r>
              <a:rPr lang="es-ES_tradnl" sz="1600" dirty="0">
                <a:solidFill>
                  <a:schemeClr val="tx1">
                    <a:lumMod val="65000"/>
                    <a:lumOff val="35000"/>
                  </a:schemeClr>
                </a:solidFill>
                <a:latin typeface="Gill Sans MT" panose="020B0502020104020203" pitchFamily="34" charset="77"/>
                <a:cs typeface="Trebuchet MS"/>
              </a:rPr>
              <a:t>Línea de decisión
</a:t>
            </a:r>
          </a:p>
        </p:txBody>
      </p:sp>
    </p:spTree>
    <p:extLst>
      <p:ext uri="{BB962C8B-B14F-4D97-AF65-F5344CB8AC3E}">
        <p14:creationId xmlns:p14="http://schemas.microsoft.com/office/powerpoint/2010/main" val="231070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2135561" y="764705"/>
            <a:ext cx="1813766" cy="461665"/>
          </a:xfrm>
          <a:prstGeom prst="rect">
            <a:avLst/>
          </a:prstGeom>
          <a:noFill/>
        </p:spPr>
        <p:txBody>
          <a:bodyPr wrap="none" rtlCol="0">
            <a:spAutoFit/>
          </a:bodyPr>
          <a:lstStyle/>
          <a:p>
            <a:r>
              <a:rPr lang="en-US" sz="2400" dirty="0">
                <a:solidFill>
                  <a:srgbClr val="FF9300"/>
                </a:solidFill>
                <a:latin typeface="Gill Sans MT" panose="020B0502020104020203" pitchFamily="34" charset="77"/>
                <a:cs typeface="Trebuchet MS"/>
              </a:rPr>
              <a:t>SVM: Kernels</a:t>
            </a:r>
          </a:p>
        </p:txBody>
      </p:sp>
      <p:pic>
        <p:nvPicPr>
          <p:cNvPr id="16" name="Picture 15"/>
          <p:cNvPicPr>
            <a:picLocks noChangeAspect="1"/>
          </p:cNvPicPr>
          <p:nvPr/>
        </p:nvPicPr>
        <p:blipFill>
          <a:blip r:embed="rId2"/>
          <a:stretch>
            <a:fillRect/>
          </a:stretch>
        </p:blipFill>
        <p:spPr>
          <a:xfrm>
            <a:off x="5241643" y="3795848"/>
            <a:ext cx="2133600" cy="406400"/>
          </a:xfrm>
          <a:prstGeom prst="rect">
            <a:avLst/>
          </a:prstGeom>
        </p:spPr>
      </p:pic>
      <p:pic>
        <p:nvPicPr>
          <p:cNvPr id="18" name="Picture 17"/>
          <p:cNvPicPr>
            <a:picLocks noChangeAspect="1"/>
          </p:cNvPicPr>
          <p:nvPr/>
        </p:nvPicPr>
        <p:blipFill>
          <a:blip r:embed="rId3"/>
          <a:stretch>
            <a:fillRect/>
          </a:stretch>
        </p:blipFill>
        <p:spPr>
          <a:xfrm>
            <a:off x="5241643" y="2920517"/>
            <a:ext cx="965200" cy="406400"/>
          </a:xfrm>
          <a:prstGeom prst="rect">
            <a:avLst/>
          </a:prstGeom>
        </p:spPr>
      </p:pic>
      <p:pic>
        <p:nvPicPr>
          <p:cNvPr id="21" name="Picture 20"/>
          <p:cNvPicPr>
            <a:picLocks noChangeAspect="1"/>
          </p:cNvPicPr>
          <p:nvPr/>
        </p:nvPicPr>
        <p:blipFill>
          <a:blip r:embed="rId4"/>
          <a:stretch>
            <a:fillRect/>
          </a:stretch>
        </p:blipFill>
        <p:spPr>
          <a:xfrm>
            <a:off x="5241643" y="5605213"/>
            <a:ext cx="3505200" cy="406400"/>
          </a:xfrm>
          <a:prstGeom prst="rect">
            <a:avLst/>
          </a:prstGeom>
        </p:spPr>
      </p:pic>
      <p:pic>
        <p:nvPicPr>
          <p:cNvPr id="22" name="Picture 21"/>
          <p:cNvPicPr>
            <a:picLocks noChangeAspect="1"/>
          </p:cNvPicPr>
          <p:nvPr/>
        </p:nvPicPr>
        <p:blipFill>
          <a:blip r:embed="rId5"/>
          <a:stretch>
            <a:fillRect/>
          </a:stretch>
        </p:blipFill>
        <p:spPr>
          <a:xfrm>
            <a:off x="5241643" y="4665714"/>
            <a:ext cx="3111500" cy="444500"/>
          </a:xfrm>
          <a:prstGeom prst="rect">
            <a:avLst/>
          </a:prstGeom>
        </p:spPr>
      </p:pic>
      <p:pic>
        <p:nvPicPr>
          <p:cNvPr id="26" name="Picture 25"/>
          <p:cNvPicPr>
            <a:picLocks noChangeAspect="1"/>
          </p:cNvPicPr>
          <p:nvPr/>
        </p:nvPicPr>
        <p:blipFill>
          <a:blip r:embed="rId6"/>
          <a:stretch>
            <a:fillRect/>
          </a:stretch>
        </p:blipFill>
        <p:spPr>
          <a:xfrm>
            <a:off x="2163519" y="1931737"/>
            <a:ext cx="4330700" cy="406400"/>
          </a:xfrm>
          <a:prstGeom prst="rect">
            <a:avLst/>
          </a:prstGeom>
        </p:spPr>
      </p:pic>
      <p:sp>
        <p:nvSpPr>
          <p:cNvPr id="33" name="TextBox 32"/>
          <p:cNvSpPr txBox="1"/>
          <p:nvPr/>
        </p:nvSpPr>
        <p:spPr>
          <a:xfrm>
            <a:off x="2580710" y="2903353"/>
            <a:ext cx="1535998" cy="3139321"/>
          </a:xfrm>
          <a:prstGeom prst="rect">
            <a:avLst/>
          </a:prstGeom>
          <a:noFill/>
        </p:spPr>
        <p:txBody>
          <a:bodyPr wrap="none" rtlCol="0">
            <a:spAutoFit/>
          </a:bodyPr>
          <a:lstStyle/>
          <a:p>
            <a:pPr>
              <a:spcAft>
                <a:spcPts val="600"/>
              </a:spcAft>
            </a:pPr>
            <a:r>
              <a:rPr lang="en-US" sz="2400" dirty="0">
                <a:latin typeface="Gill Sans MT" panose="020B0502020104020203" pitchFamily="34" charset="77"/>
                <a:cs typeface="Trebuchet MS"/>
              </a:rPr>
              <a:t>linear</a:t>
            </a:r>
          </a:p>
          <a:p>
            <a:pPr>
              <a:spcAft>
                <a:spcPts val="600"/>
              </a:spcAft>
            </a:pPr>
            <a:endParaRPr lang="en-US" sz="2400" dirty="0">
              <a:latin typeface="Gill Sans MT" panose="020B0502020104020203" pitchFamily="34" charset="77"/>
              <a:cs typeface="Trebuchet MS"/>
            </a:endParaRPr>
          </a:p>
          <a:p>
            <a:pPr>
              <a:spcAft>
                <a:spcPts val="600"/>
              </a:spcAft>
            </a:pPr>
            <a:r>
              <a:rPr lang="en-US" sz="2400" dirty="0">
                <a:latin typeface="Gill Sans MT" panose="020B0502020104020203" pitchFamily="34" charset="77"/>
                <a:cs typeface="Trebuchet MS"/>
              </a:rPr>
              <a:t>polynomial</a:t>
            </a:r>
          </a:p>
          <a:p>
            <a:pPr>
              <a:spcAft>
                <a:spcPts val="600"/>
              </a:spcAft>
            </a:pPr>
            <a:endParaRPr lang="en-US" sz="2400" dirty="0">
              <a:latin typeface="Gill Sans MT" panose="020B0502020104020203" pitchFamily="34" charset="77"/>
              <a:cs typeface="Trebuchet MS"/>
            </a:endParaRPr>
          </a:p>
          <a:p>
            <a:pPr>
              <a:spcAft>
                <a:spcPts val="600"/>
              </a:spcAft>
            </a:pPr>
            <a:r>
              <a:rPr lang="en-US" sz="2400" dirty="0">
                <a:latin typeface="Gill Sans MT" panose="020B0502020104020203" pitchFamily="34" charset="77"/>
                <a:cs typeface="Trebuchet MS"/>
              </a:rPr>
              <a:t>radial basis</a:t>
            </a:r>
          </a:p>
          <a:p>
            <a:pPr>
              <a:spcAft>
                <a:spcPts val="600"/>
              </a:spcAft>
            </a:pPr>
            <a:endParaRPr lang="en-US" sz="2400" dirty="0">
              <a:latin typeface="Gill Sans MT" panose="020B0502020104020203" pitchFamily="34" charset="77"/>
              <a:cs typeface="Trebuchet MS"/>
            </a:endParaRPr>
          </a:p>
          <a:p>
            <a:pPr>
              <a:spcAft>
                <a:spcPts val="600"/>
              </a:spcAft>
            </a:pPr>
            <a:r>
              <a:rPr lang="en-US" sz="2400" dirty="0">
                <a:latin typeface="Gill Sans MT" panose="020B0502020104020203" pitchFamily="34" charset="77"/>
                <a:cs typeface="Trebuchet MS"/>
              </a:rPr>
              <a:t>sigmoid</a:t>
            </a:r>
          </a:p>
        </p:txBody>
      </p:sp>
    </p:spTree>
    <p:extLst>
      <p:ext uri="{BB962C8B-B14F-4D97-AF65-F5344CB8AC3E}">
        <p14:creationId xmlns:p14="http://schemas.microsoft.com/office/powerpoint/2010/main" val="24259821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4BF60F2B-658A-5C43-A34A-9B3FE6BB0D63}"/>
              </a:ext>
            </a:extLst>
          </p:cNvPr>
          <p:cNvGrpSpPr/>
          <p:nvPr/>
        </p:nvGrpSpPr>
        <p:grpSpPr>
          <a:xfrm>
            <a:off x="5947144" y="1189518"/>
            <a:ext cx="4450908" cy="3706775"/>
            <a:chOff x="4423144" y="1189517"/>
            <a:chExt cx="4450908" cy="3706775"/>
          </a:xfrm>
        </p:grpSpPr>
        <p:pic>
          <p:nvPicPr>
            <p:cNvPr id="11" name="Picture 10">
              <a:extLst>
                <a:ext uri="{FF2B5EF4-FFF2-40B4-BE49-F238E27FC236}">
                  <a16:creationId xmlns:a16="http://schemas.microsoft.com/office/drawing/2014/main" id="{A28E9645-7BFE-0748-8A3E-24BE3B569722}"/>
                </a:ext>
              </a:extLst>
            </p:cNvPr>
            <p:cNvPicPr>
              <a:picLocks noChangeAspect="1"/>
            </p:cNvPicPr>
            <p:nvPr/>
          </p:nvPicPr>
          <p:blipFill rotWithShape="1">
            <a:blip r:embed="rId2"/>
            <a:srcRect r="17474"/>
            <a:stretch/>
          </p:blipFill>
          <p:spPr>
            <a:xfrm>
              <a:off x="5059579" y="1189517"/>
              <a:ext cx="3814473" cy="3706775"/>
            </a:xfrm>
            <a:prstGeom prst="rect">
              <a:avLst/>
            </a:prstGeom>
          </p:spPr>
        </p:pic>
        <p:sp>
          <p:nvSpPr>
            <p:cNvPr id="19" name="Right Arrow 18">
              <a:extLst>
                <a:ext uri="{FF2B5EF4-FFF2-40B4-BE49-F238E27FC236}">
                  <a16:creationId xmlns:a16="http://schemas.microsoft.com/office/drawing/2014/main" id="{2E84943A-4E96-A848-AB70-7EA885086534}"/>
                </a:ext>
              </a:extLst>
            </p:cNvPr>
            <p:cNvSpPr/>
            <p:nvPr/>
          </p:nvSpPr>
          <p:spPr>
            <a:xfrm>
              <a:off x="4423144" y="2721933"/>
              <a:ext cx="329609" cy="276446"/>
            </a:xfrm>
            <a:prstGeom prst="rightArrow">
              <a:avLst/>
            </a:prstGeom>
            <a:solidFill>
              <a:srgbClr val="FF9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pic>
        <p:nvPicPr>
          <p:cNvPr id="13" name="Picture 12">
            <a:extLst>
              <a:ext uri="{FF2B5EF4-FFF2-40B4-BE49-F238E27FC236}">
                <a16:creationId xmlns:a16="http://schemas.microsoft.com/office/drawing/2014/main" id="{B9F0E275-7981-6E46-809A-78837C9E1DE8}"/>
              </a:ext>
            </a:extLst>
          </p:cNvPr>
          <p:cNvPicPr>
            <a:picLocks noChangeAspect="1"/>
          </p:cNvPicPr>
          <p:nvPr/>
        </p:nvPicPr>
        <p:blipFill rotWithShape="1">
          <a:blip r:embed="rId3"/>
          <a:srcRect t="1338"/>
          <a:stretch/>
        </p:blipFill>
        <p:spPr>
          <a:xfrm>
            <a:off x="1995967" y="1490865"/>
            <a:ext cx="3711764" cy="3405427"/>
          </a:xfrm>
          <a:prstGeom prst="rect">
            <a:avLst/>
          </a:prstGeom>
        </p:spPr>
      </p:pic>
      <p:sp>
        <p:nvSpPr>
          <p:cNvPr id="14" name="TextBox 13">
            <a:extLst>
              <a:ext uri="{FF2B5EF4-FFF2-40B4-BE49-F238E27FC236}">
                <a16:creationId xmlns:a16="http://schemas.microsoft.com/office/drawing/2014/main" id="{C0CCFA9E-5580-5348-A146-BB455166F6DB}"/>
              </a:ext>
            </a:extLst>
          </p:cNvPr>
          <p:cNvSpPr txBox="1"/>
          <p:nvPr/>
        </p:nvSpPr>
        <p:spPr>
          <a:xfrm>
            <a:off x="2317059" y="5386093"/>
            <a:ext cx="3212739" cy="646331"/>
          </a:xfrm>
          <a:prstGeom prst="rect">
            <a:avLst/>
          </a:prstGeom>
          <a:noFill/>
        </p:spPr>
        <p:txBody>
          <a:bodyPr wrap="none" rtlCol="0">
            <a:spAutoFit/>
          </a:bodyPr>
          <a:lstStyle/>
          <a:p>
            <a:r>
              <a:rPr lang="en-US" dirty="0">
                <a:latin typeface="Gill Sans MT" panose="020B0502020104020203" pitchFamily="34" charset="77"/>
              </a:rPr>
              <a:t>La </a:t>
            </a:r>
            <a:r>
              <a:rPr lang="en-US" dirty="0" err="1">
                <a:latin typeface="Gill Sans MT" panose="020B0502020104020203" pitchFamily="34" charset="77"/>
              </a:rPr>
              <a:t>separación</a:t>
            </a:r>
            <a:r>
              <a:rPr lang="en-US" dirty="0">
                <a:latin typeface="Gill Sans MT" panose="020B0502020104020203" pitchFamily="34" charset="77"/>
              </a:rPr>
              <a:t> lineal es </a:t>
            </a:r>
            <a:r>
              <a:rPr lang="en-US" dirty="0" err="1">
                <a:latin typeface="Gill Sans MT" panose="020B0502020104020203" pitchFamily="34" charset="77"/>
              </a:rPr>
              <a:t>imposible</a:t>
            </a:r>
            <a:r>
              <a:rPr lang="en-US" dirty="0">
                <a:latin typeface="Gill Sans MT" panose="020B0502020104020203" pitchFamily="34" charset="77"/>
              </a:rPr>
              <a:t>
</a:t>
            </a:r>
          </a:p>
        </p:txBody>
      </p:sp>
      <p:grpSp>
        <p:nvGrpSpPr>
          <p:cNvPr id="22" name="Group 21">
            <a:extLst>
              <a:ext uri="{FF2B5EF4-FFF2-40B4-BE49-F238E27FC236}">
                <a16:creationId xmlns:a16="http://schemas.microsoft.com/office/drawing/2014/main" id="{69EDE7DC-61B7-AE43-ADDE-4FA189B22BC8}"/>
              </a:ext>
            </a:extLst>
          </p:cNvPr>
          <p:cNvGrpSpPr/>
          <p:nvPr/>
        </p:nvGrpSpPr>
        <p:grpSpPr>
          <a:xfrm>
            <a:off x="6795480" y="3838345"/>
            <a:ext cx="3457851" cy="2194078"/>
            <a:chOff x="5271479" y="3838345"/>
            <a:chExt cx="3457851" cy="2194078"/>
          </a:xfrm>
        </p:grpSpPr>
        <p:sp>
          <p:nvSpPr>
            <p:cNvPr id="15" name="TextBox 14">
              <a:extLst>
                <a:ext uri="{FF2B5EF4-FFF2-40B4-BE49-F238E27FC236}">
                  <a16:creationId xmlns:a16="http://schemas.microsoft.com/office/drawing/2014/main" id="{5BCA5FED-B5B3-584E-9218-2FEF96EA50B2}"/>
                </a:ext>
              </a:extLst>
            </p:cNvPr>
            <p:cNvSpPr txBox="1"/>
            <p:nvPr/>
          </p:nvSpPr>
          <p:spPr>
            <a:xfrm>
              <a:off x="5271479" y="5386092"/>
              <a:ext cx="3083858" cy="646331"/>
            </a:xfrm>
            <a:prstGeom prst="rect">
              <a:avLst/>
            </a:prstGeom>
            <a:noFill/>
          </p:spPr>
          <p:txBody>
            <a:bodyPr wrap="none" rtlCol="0">
              <a:spAutoFit/>
            </a:bodyPr>
            <a:lstStyle/>
            <a:p>
              <a:r>
                <a:rPr lang="en-US" dirty="0">
                  <a:latin typeface="Gill Sans MT" panose="020B0502020104020203" pitchFamily="34" charset="77"/>
                </a:rPr>
                <a:t>La </a:t>
              </a:r>
              <a:r>
                <a:rPr lang="en-US" dirty="0" err="1">
                  <a:latin typeface="Gill Sans MT" panose="020B0502020104020203" pitchFamily="34" charset="77"/>
                </a:rPr>
                <a:t>separación</a:t>
              </a:r>
              <a:r>
                <a:rPr lang="en-US" dirty="0">
                  <a:latin typeface="Gill Sans MT" panose="020B0502020104020203" pitchFamily="34" charset="77"/>
                </a:rPr>
                <a:t> lineal es perfecta
</a:t>
              </a:r>
            </a:p>
          </p:txBody>
        </p:sp>
        <p:sp>
          <p:nvSpPr>
            <p:cNvPr id="17" name="Freeform 16">
              <a:extLst>
                <a:ext uri="{FF2B5EF4-FFF2-40B4-BE49-F238E27FC236}">
                  <a16:creationId xmlns:a16="http://schemas.microsoft.com/office/drawing/2014/main" id="{95799FE0-12D5-5146-88D6-94783CAD0909}"/>
                </a:ext>
              </a:extLst>
            </p:cNvPr>
            <p:cNvSpPr/>
            <p:nvPr/>
          </p:nvSpPr>
          <p:spPr>
            <a:xfrm>
              <a:off x="5486400" y="3838345"/>
              <a:ext cx="3242930" cy="350875"/>
            </a:xfrm>
            <a:custGeom>
              <a:avLst/>
              <a:gdLst>
                <a:gd name="connsiteX0" fmla="*/ 0 w 3242930"/>
                <a:gd name="connsiteY0" fmla="*/ 212652 h 350875"/>
                <a:gd name="connsiteX1" fmla="*/ 1169581 w 3242930"/>
                <a:gd name="connsiteY1" fmla="*/ 0 h 350875"/>
                <a:gd name="connsiteX2" fmla="*/ 3242930 w 3242930"/>
                <a:gd name="connsiteY2" fmla="*/ 148856 h 350875"/>
                <a:gd name="connsiteX3" fmla="*/ 2073349 w 3242930"/>
                <a:gd name="connsiteY3" fmla="*/ 350875 h 350875"/>
                <a:gd name="connsiteX4" fmla="*/ 0 w 3242930"/>
                <a:gd name="connsiteY4" fmla="*/ 212652 h 3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2930" h="350875">
                  <a:moveTo>
                    <a:pt x="0" y="212652"/>
                  </a:moveTo>
                  <a:lnTo>
                    <a:pt x="1169581" y="0"/>
                  </a:lnTo>
                  <a:lnTo>
                    <a:pt x="3242930" y="148856"/>
                  </a:lnTo>
                  <a:lnTo>
                    <a:pt x="2073349" y="350875"/>
                  </a:lnTo>
                  <a:lnTo>
                    <a:pt x="0" y="212652"/>
                  </a:lnTo>
                  <a:close/>
                </a:path>
              </a:pathLst>
            </a:custGeom>
            <a:gradFill flip="none" rotWithShape="1">
              <a:gsLst>
                <a:gs pos="0">
                  <a:schemeClr val="accent4">
                    <a:lumMod val="5000"/>
                    <a:lumOff val="95000"/>
                    <a:alpha val="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20" name="TextBox 19">
            <a:extLst>
              <a:ext uri="{FF2B5EF4-FFF2-40B4-BE49-F238E27FC236}">
                <a16:creationId xmlns:a16="http://schemas.microsoft.com/office/drawing/2014/main" id="{3477CC82-E6D7-6A4A-89F4-29DD00D1E121}"/>
              </a:ext>
            </a:extLst>
          </p:cNvPr>
          <p:cNvSpPr txBox="1"/>
          <p:nvPr/>
        </p:nvSpPr>
        <p:spPr>
          <a:xfrm>
            <a:off x="2317059" y="539400"/>
            <a:ext cx="3226011" cy="461665"/>
          </a:xfrm>
          <a:prstGeom prst="rect">
            <a:avLst/>
          </a:prstGeom>
          <a:noFill/>
        </p:spPr>
        <p:txBody>
          <a:bodyPr wrap="none" rtlCol="0">
            <a:spAutoFit/>
          </a:bodyPr>
          <a:lstStyle/>
          <a:p>
            <a:r>
              <a:rPr lang="en-US" sz="2400" dirty="0">
                <a:solidFill>
                  <a:srgbClr val="FF9300"/>
                </a:solidFill>
                <a:latin typeface="Gill Sans MT" panose="020B0502020104020203" pitchFamily="34" charset="77"/>
                <a:cs typeface="Trebuchet MS"/>
              </a:rPr>
              <a:t>SVM: El </a:t>
            </a:r>
            <a:r>
              <a:rPr lang="en-US" sz="2400" dirty="0" err="1">
                <a:solidFill>
                  <a:srgbClr val="FF9300"/>
                </a:solidFill>
                <a:latin typeface="Gill Sans MT" panose="020B0502020104020203" pitchFamily="34" charset="77"/>
                <a:cs typeface="Trebuchet MS"/>
              </a:rPr>
              <a:t>truco</a:t>
            </a:r>
            <a:r>
              <a:rPr lang="en-US" sz="2400" dirty="0">
                <a:solidFill>
                  <a:srgbClr val="FF9300"/>
                </a:solidFill>
                <a:latin typeface="Gill Sans MT" panose="020B0502020104020203" pitchFamily="34" charset="77"/>
                <a:cs typeface="Trebuchet MS"/>
              </a:rPr>
              <a:t> del Kernel</a:t>
            </a:r>
          </a:p>
        </p:txBody>
      </p:sp>
      <p:grpSp>
        <p:nvGrpSpPr>
          <p:cNvPr id="25" name="Group 24">
            <a:extLst>
              <a:ext uri="{FF2B5EF4-FFF2-40B4-BE49-F238E27FC236}">
                <a16:creationId xmlns:a16="http://schemas.microsoft.com/office/drawing/2014/main" id="{EC056AD0-9615-C049-B00A-3CD330F5D2F0}"/>
              </a:ext>
            </a:extLst>
          </p:cNvPr>
          <p:cNvGrpSpPr/>
          <p:nvPr/>
        </p:nvGrpSpPr>
        <p:grpSpPr>
          <a:xfrm>
            <a:off x="3442571" y="3022604"/>
            <a:ext cx="2834182" cy="837018"/>
            <a:chOff x="1918571" y="3022604"/>
            <a:chExt cx="2834182" cy="837018"/>
          </a:xfrm>
        </p:grpSpPr>
        <p:sp>
          <p:nvSpPr>
            <p:cNvPr id="23" name="Right Arrow 22">
              <a:extLst>
                <a:ext uri="{FF2B5EF4-FFF2-40B4-BE49-F238E27FC236}">
                  <a16:creationId xmlns:a16="http://schemas.microsoft.com/office/drawing/2014/main" id="{714ED70E-9676-AD48-A5CA-37F8F9CC429D}"/>
                </a:ext>
              </a:extLst>
            </p:cNvPr>
            <p:cNvSpPr/>
            <p:nvPr/>
          </p:nvSpPr>
          <p:spPr>
            <a:xfrm rot="10800000">
              <a:off x="4423144" y="3583176"/>
              <a:ext cx="329609" cy="276446"/>
            </a:xfrm>
            <a:prstGeom prst="rightArrow">
              <a:avLst/>
            </a:prstGeom>
            <a:solidFill>
              <a:srgbClr val="FF9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4" name="Oval 23">
              <a:extLst>
                <a:ext uri="{FF2B5EF4-FFF2-40B4-BE49-F238E27FC236}">
                  <a16:creationId xmlns:a16="http://schemas.microsoft.com/office/drawing/2014/main" id="{471DB411-194E-914A-BCDE-82A8C766AD32}"/>
                </a:ext>
              </a:extLst>
            </p:cNvPr>
            <p:cNvSpPr/>
            <p:nvPr/>
          </p:nvSpPr>
          <p:spPr>
            <a:xfrm>
              <a:off x="1918571" y="3022604"/>
              <a:ext cx="455237" cy="386718"/>
            </a:xfrm>
            <a:prstGeom prst="ellipse">
              <a:avLst/>
            </a:prstGeom>
            <a:noFill/>
            <a:ln>
              <a:solidFill>
                <a:srgbClr val="FF0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grpSp>
      <p:sp>
        <p:nvSpPr>
          <p:cNvPr id="3" name="Rectangle 2">
            <a:extLst>
              <a:ext uri="{FF2B5EF4-FFF2-40B4-BE49-F238E27FC236}">
                <a16:creationId xmlns:a16="http://schemas.microsoft.com/office/drawing/2014/main" id="{641CB8A5-8816-4A42-92D5-5BE962982266}"/>
              </a:ext>
            </a:extLst>
          </p:cNvPr>
          <p:cNvSpPr/>
          <p:nvPr/>
        </p:nvSpPr>
        <p:spPr>
          <a:xfrm>
            <a:off x="3594539" y="1408387"/>
            <a:ext cx="756745" cy="1996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18" name="Rectangle 17">
            <a:extLst>
              <a:ext uri="{FF2B5EF4-FFF2-40B4-BE49-F238E27FC236}">
                <a16:creationId xmlns:a16="http://schemas.microsoft.com/office/drawing/2014/main" id="{62460BEB-6519-D44B-8B28-D97B13DD0A41}"/>
              </a:ext>
            </a:extLst>
          </p:cNvPr>
          <p:cNvSpPr/>
          <p:nvPr/>
        </p:nvSpPr>
        <p:spPr>
          <a:xfrm>
            <a:off x="7479209" y="4711463"/>
            <a:ext cx="756745" cy="1996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6" name="Rectangle 25">
            <a:extLst>
              <a:ext uri="{FF2B5EF4-FFF2-40B4-BE49-F238E27FC236}">
                <a16:creationId xmlns:a16="http://schemas.microsoft.com/office/drawing/2014/main" id="{3495E13E-97E9-7B4E-B171-529B736D1229}"/>
              </a:ext>
            </a:extLst>
          </p:cNvPr>
          <p:cNvSpPr/>
          <p:nvPr/>
        </p:nvSpPr>
        <p:spPr>
          <a:xfrm>
            <a:off x="9629058" y="4665588"/>
            <a:ext cx="756745" cy="1996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7" name="Rectangle 26">
            <a:extLst>
              <a:ext uri="{FF2B5EF4-FFF2-40B4-BE49-F238E27FC236}">
                <a16:creationId xmlns:a16="http://schemas.microsoft.com/office/drawing/2014/main" id="{776018D0-ED70-8A46-A825-2FD0FD725263}"/>
              </a:ext>
            </a:extLst>
          </p:cNvPr>
          <p:cNvSpPr/>
          <p:nvPr/>
        </p:nvSpPr>
        <p:spPr>
          <a:xfrm rot="16200000">
            <a:off x="1748355" y="3116115"/>
            <a:ext cx="756745" cy="1996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sp>
        <p:nvSpPr>
          <p:cNvPr id="29" name="Rectangle 28">
            <a:extLst>
              <a:ext uri="{FF2B5EF4-FFF2-40B4-BE49-F238E27FC236}">
                <a16:creationId xmlns:a16="http://schemas.microsoft.com/office/drawing/2014/main" id="{49C8E22B-0EE1-C544-B7C5-0F87C11E163C}"/>
              </a:ext>
            </a:extLst>
          </p:cNvPr>
          <p:cNvSpPr/>
          <p:nvPr/>
        </p:nvSpPr>
        <p:spPr>
          <a:xfrm rot="16200000">
            <a:off x="6251901" y="2950780"/>
            <a:ext cx="756745" cy="1996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Gill Sans MT" panose="020B0502020104020203" pitchFamily="34" charset="77"/>
            </a:endParaRPr>
          </a:p>
        </p:txBody>
      </p:sp>
      <p:pic>
        <p:nvPicPr>
          <p:cNvPr id="7" name="Picture 6">
            <a:extLst>
              <a:ext uri="{FF2B5EF4-FFF2-40B4-BE49-F238E27FC236}">
                <a16:creationId xmlns:a16="http://schemas.microsoft.com/office/drawing/2014/main" id="{EF0EB743-C49F-864E-9AE0-EDA84CC44A57}"/>
              </a:ext>
            </a:extLst>
          </p:cNvPr>
          <p:cNvPicPr>
            <a:picLocks noChangeAspect="1"/>
          </p:cNvPicPr>
          <p:nvPr/>
        </p:nvPicPr>
        <p:blipFill>
          <a:blip r:embed="rId4"/>
          <a:stretch>
            <a:fillRect/>
          </a:stretch>
        </p:blipFill>
        <p:spPr>
          <a:xfrm>
            <a:off x="3845910" y="1363434"/>
            <a:ext cx="190188" cy="133132"/>
          </a:xfrm>
          <a:prstGeom prst="rect">
            <a:avLst/>
          </a:prstGeom>
        </p:spPr>
      </p:pic>
      <p:pic>
        <p:nvPicPr>
          <p:cNvPr id="9" name="Picture 8">
            <a:extLst>
              <a:ext uri="{FF2B5EF4-FFF2-40B4-BE49-F238E27FC236}">
                <a16:creationId xmlns:a16="http://schemas.microsoft.com/office/drawing/2014/main" id="{D9163D62-D4C6-3E4B-8D9E-B204BC2E3D49}"/>
              </a:ext>
            </a:extLst>
          </p:cNvPr>
          <p:cNvPicPr>
            <a:picLocks noChangeAspect="1"/>
          </p:cNvPicPr>
          <p:nvPr/>
        </p:nvPicPr>
        <p:blipFill>
          <a:blip r:embed="rId5"/>
          <a:stretch>
            <a:fillRect/>
          </a:stretch>
        </p:blipFill>
        <p:spPr>
          <a:xfrm>
            <a:off x="1979777" y="3127063"/>
            <a:ext cx="199697" cy="133131"/>
          </a:xfrm>
          <a:prstGeom prst="rect">
            <a:avLst/>
          </a:prstGeom>
        </p:spPr>
      </p:pic>
      <p:grpSp>
        <p:nvGrpSpPr>
          <p:cNvPr id="2" name="Group 1">
            <a:extLst>
              <a:ext uri="{FF2B5EF4-FFF2-40B4-BE49-F238E27FC236}">
                <a16:creationId xmlns:a16="http://schemas.microsoft.com/office/drawing/2014/main" id="{E0A076E7-1E79-0D45-9B1E-BE369272489F}"/>
              </a:ext>
            </a:extLst>
          </p:cNvPr>
          <p:cNvGrpSpPr/>
          <p:nvPr/>
        </p:nvGrpSpPr>
        <p:grpSpPr>
          <a:xfrm>
            <a:off x="6404087" y="1599549"/>
            <a:ext cx="3489338" cy="3355842"/>
            <a:chOff x="4880087" y="1599549"/>
            <a:chExt cx="3489338" cy="3355842"/>
          </a:xfrm>
        </p:grpSpPr>
        <p:pic>
          <p:nvPicPr>
            <p:cNvPr id="10" name="Picture 9">
              <a:extLst>
                <a:ext uri="{FF2B5EF4-FFF2-40B4-BE49-F238E27FC236}">
                  <a16:creationId xmlns:a16="http://schemas.microsoft.com/office/drawing/2014/main" id="{D252C9FE-7EB0-284E-BC1D-21A4A1D6740A}"/>
                </a:ext>
              </a:extLst>
            </p:cNvPr>
            <p:cNvPicPr>
              <a:picLocks noChangeAspect="1"/>
            </p:cNvPicPr>
            <p:nvPr/>
          </p:nvPicPr>
          <p:blipFill>
            <a:blip r:embed="rId6"/>
            <a:stretch>
              <a:fillRect/>
            </a:stretch>
          </p:blipFill>
          <p:spPr>
            <a:xfrm>
              <a:off x="4880087" y="1599549"/>
              <a:ext cx="199697" cy="142641"/>
            </a:xfrm>
            <a:prstGeom prst="rect">
              <a:avLst/>
            </a:prstGeom>
          </p:spPr>
        </p:pic>
        <p:pic>
          <p:nvPicPr>
            <p:cNvPr id="30" name="Picture 29">
              <a:extLst>
                <a:ext uri="{FF2B5EF4-FFF2-40B4-BE49-F238E27FC236}">
                  <a16:creationId xmlns:a16="http://schemas.microsoft.com/office/drawing/2014/main" id="{80E91D09-F211-9A44-8D8B-89834F7117D0}"/>
                </a:ext>
              </a:extLst>
            </p:cNvPr>
            <p:cNvPicPr>
              <a:picLocks noChangeAspect="1"/>
            </p:cNvPicPr>
            <p:nvPr/>
          </p:nvPicPr>
          <p:blipFill>
            <a:blip r:embed="rId4"/>
            <a:stretch>
              <a:fillRect/>
            </a:stretch>
          </p:blipFill>
          <p:spPr>
            <a:xfrm>
              <a:off x="6326626" y="4822259"/>
              <a:ext cx="190188" cy="133132"/>
            </a:xfrm>
            <a:prstGeom prst="rect">
              <a:avLst/>
            </a:prstGeom>
          </p:spPr>
        </p:pic>
        <p:pic>
          <p:nvPicPr>
            <p:cNvPr id="31" name="Picture 30">
              <a:extLst>
                <a:ext uri="{FF2B5EF4-FFF2-40B4-BE49-F238E27FC236}">
                  <a16:creationId xmlns:a16="http://schemas.microsoft.com/office/drawing/2014/main" id="{95BFF84B-9ED9-454F-B52C-8578359DF6A6}"/>
                </a:ext>
              </a:extLst>
            </p:cNvPr>
            <p:cNvPicPr>
              <a:picLocks noChangeAspect="1"/>
            </p:cNvPicPr>
            <p:nvPr/>
          </p:nvPicPr>
          <p:blipFill>
            <a:blip r:embed="rId5"/>
            <a:stretch>
              <a:fillRect/>
            </a:stretch>
          </p:blipFill>
          <p:spPr>
            <a:xfrm>
              <a:off x="8169728" y="4760289"/>
              <a:ext cx="199697" cy="133131"/>
            </a:xfrm>
            <a:prstGeom prst="rect">
              <a:avLst/>
            </a:prstGeom>
          </p:spPr>
        </p:pic>
      </p:grpSp>
    </p:spTree>
    <p:extLst>
      <p:ext uri="{BB962C8B-B14F-4D97-AF65-F5344CB8AC3E}">
        <p14:creationId xmlns:p14="http://schemas.microsoft.com/office/powerpoint/2010/main" val="740474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8696A85-8E2F-5445-9BE2-292BC78E773F}"/>
              </a:ext>
            </a:extLst>
          </p:cNvPr>
          <p:cNvSpPr txBox="1"/>
          <p:nvPr/>
        </p:nvSpPr>
        <p:spPr>
          <a:xfrm>
            <a:off x="5063506" y="2782670"/>
            <a:ext cx="1858201" cy="646331"/>
          </a:xfrm>
          <a:prstGeom prst="rect">
            <a:avLst/>
          </a:prstGeom>
          <a:noFill/>
        </p:spPr>
        <p:txBody>
          <a:bodyPr wrap="none" rtlCol="0">
            <a:spAutoFit/>
          </a:bodyPr>
          <a:lstStyle/>
          <a:p>
            <a:r>
              <a:rPr lang="es-ES_tradnl" sz="3600" dirty="0">
                <a:latin typeface="Gill Sans MT" panose="020B0502020104020203" pitchFamily="34" charset="77"/>
              </a:rPr>
              <a:t>Ejemplos</a:t>
            </a:r>
          </a:p>
        </p:txBody>
      </p:sp>
    </p:spTree>
    <p:extLst>
      <p:ext uri="{BB962C8B-B14F-4D97-AF65-F5344CB8AC3E}">
        <p14:creationId xmlns:p14="http://schemas.microsoft.com/office/powerpoint/2010/main" val="2168107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24E1C10-73BD-FB44-B57E-7BF0017B39AE}"/>
              </a:ext>
            </a:extLst>
          </p:cNvPr>
          <p:cNvSpPr txBox="1"/>
          <p:nvPr/>
        </p:nvSpPr>
        <p:spPr>
          <a:xfrm>
            <a:off x="3111062" y="1575894"/>
            <a:ext cx="1263487" cy="369332"/>
          </a:xfrm>
          <a:prstGeom prst="rect">
            <a:avLst/>
          </a:prstGeom>
          <a:noFill/>
        </p:spPr>
        <p:txBody>
          <a:bodyPr wrap="none" rtlCol="0">
            <a:spAutoFit/>
          </a:bodyPr>
          <a:lstStyle/>
          <a:p>
            <a:r>
              <a:rPr lang="en-US" dirty="0">
                <a:latin typeface="Gill Sans MT" panose="020B0502020104020203" pitchFamily="34" charset="77"/>
              </a:rPr>
              <a:t>TRAINING</a:t>
            </a:r>
          </a:p>
        </p:txBody>
      </p:sp>
      <p:sp>
        <p:nvSpPr>
          <p:cNvPr id="8" name="TextBox 7">
            <a:extLst>
              <a:ext uri="{FF2B5EF4-FFF2-40B4-BE49-F238E27FC236}">
                <a16:creationId xmlns:a16="http://schemas.microsoft.com/office/drawing/2014/main" id="{53D37474-A788-3140-8F24-DFB62D279098}"/>
              </a:ext>
            </a:extLst>
          </p:cNvPr>
          <p:cNvSpPr txBox="1"/>
          <p:nvPr/>
        </p:nvSpPr>
        <p:spPr>
          <a:xfrm>
            <a:off x="7993119" y="1575894"/>
            <a:ext cx="1093569" cy="369332"/>
          </a:xfrm>
          <a:prstGeom prst="rect">
            <a:avLst/>
          </a:prstGeom>
          <a:noFill/>
        </p:spPr>
        <p:txBody>
          <a:bodyPr wrap="none" rtlCol="0">
            <a:spAutoFit/>
          </a:bodyPr>
          <a:lstStyle/>
          <a:p>
            <a:r>
              <a:rPr lang="en-US" dirty="0">
                <a:latin typeface="Gill Sans MT" panose="020B0502020104020203" pitchFamily="34" charset="77"/>
              </a:rPr>
              <a:t>TESTING</a:t>
            </a:r>
          </a:p>
        </p:txBody>
      </p:sp>
      <p:sp>
        <p:nvSpPr>
          <p:cNvPr id="9" name="TextBox 8">
            <a:extLst>
              <a:ext uri="{FF2B5EF4-FFF2-40B4-BE49-F238E27FC236}">
                <a16:creationId xmlns:a16="http://schemas.microsoft.com/office/drawing/2014/main" id="{A13B80FF-E6F6-AB4A-8355-39A01E2E1450}"/>
              </a:ext>
            </a:extLst>
          </p:cNvPr>
          <p:cNvSpPr txBox="1"/>
          <p:nvPr/>
        </p:nvSpPr>
        <p:spPr>
          <a:xfrm>
            <a:off x="1981200" y="544811"/>
            <a:ext cx="1348446" cy="523220"/>
          </a:xfrm>
          <a:prstGeom prst="rect">
            <a:avLst/>
          </a:prstGeom>
          <a:noFill/>
        </p:spPr>
        <p:txBody>
          <a:bodyPr wrap="none" rtlCol="0">
            <a:spAutoFit/>
          </a:bodyPr>
          <a:lstStyle/>
          <a:p>
            <a:r>
              <a:rPr lang="es-ES_tradnl" sz="2800" dirty="0">
                <a:latin typeface="Gill Sans MT" panose="020B0502020104020203" pitchFamily="34" charset="77"/>
              </a:rPr>
              <a:t>Ejemplo</a:t>
            </a:r>
          </a:p>
        </p:txBody>
      </p:sp>
      <p:pic>
        <p:nvPicPr>
          <p:cNvPr id="4" name="Picture 3">
            <a:extLst>
              <a:ext uri="{FF2B5EF4-FFF2-40B4-BE49-F238E27FC236}">
                <a16:creationId xmlns:a16="http://schemas.microsoft.com/office/drawing/2014/main" id="{B80F5D12-06CB-5C47-9CFA-1CE11691700F}"/>
              </a:ext>
            </a:extLst>
          </p:cNvPr>
          <p:cNvPicPr>
            <a:picLocks noChangeAspect="1"/>
          </p:cNvPicPr>
          <p:nvPr/>
        </p:nvPicPr>
        <p:blipFill>
          <a:blip r:embed="rId2"/>
          <a:stretch>
            <a:fillRect/>
          </a:stretch>
        </p:blipFill>
        <p:spPr>
          <a:xfrm>
            <a:off x="1524000" y="2047122"/>
            <a:ext cx="9144000" cy="3751729"/>
          </a:xfrm>
          <a:prstGeom prst="rect">
            <a:avLst/>
          </a:prstGeom>
        </p:spPr>
      </p:pic>
      <p:sp>
        <p:nvSpPr>
          <p:cNvPr id="11" name="Rectangle 10">
            <a:extLst>
              <a:ext uri="{FF2B5EF4-FFF2-40B4-BE49-F238E27FC236}">
                <a16:creationId xmlns:a16="http://schemas.microsoft.com/office/drawing/2014/main" id="{ABA6BABD-B4A5-8642-A54E-DEA9A83127CC}"/>
              </a:ext>
            </a:extLst>
          </p:cNvPr>
          <p:cNvSpPr/>
          <p:nvPr/>
        </p:nvSpPr>
        <p:spPr>
          <a:xfrm>
            <a:off x="3384238" y="1206562"/>
            <a:ext cx="667170" cy="369332"/>
          </a:xfrm>
          <a:prstGeom prst="rect">
            <a:avLst/>
          </a:prstGeom>
        </p:spPr>
        <p:txBody>
          <a:bodyPr wrap="none">
            <a:spAutoFit/>
          </a:bodyPr>
          <a:lstStyle/>
          <a:p>
            <a:r>
              <a:rPr lang="es-ES_tradnl" dirty="0">
                <a:latin typeface="Gill Sans MT" panose="020B0502020104020203" pitchFamily="34" charset="77"/>
              </a:rPr>
              <a:t>(</a:t>
            </a:r>
            <a:r>
              <a:rPr lang="es-ES_tradnl" dirty="0" err="1">
                <a:latin typeface="Gill Sans MT" panose="020B0502020104020203" pitchFamily="34" charset="77"/>
              </a:rPr>
              <a:t>X,d</a:t>
            </a:r>
            <a:r>
              <a:rPr lang="es-ES_tradnl" dirty="0">
                <a:latin typeface="Gill Sans MT" panose="020B0502020104020203" pitchFamily="34" charset="77"/>
              </a:rPr>
              <a:t>)</a:t>
            </a:r>
            <a:endParaRPr lang="en-US" dirty="0">
              <a:latin typeface="Gill Sans MT" panose="020B0502020104020203" pitchFamily="34" charset="77"/>
            </a:endParaRPr>
          </a:p>
        </p:txBody>
      </p:sp>
      <p:sp>
        <p:nvSpPr>
          <p:cNvPr id="12" name="Rectangle 11">
            <a:extLst>
              <a:ext uri="{FF2B5EF4-FFF2-40B4-BE49-F238E27FC236}">
                <a16:creationId xmlns:a16="http://schemas.microsoft.com/office/drawing/2014/main" id="{07074503-D2D2-1449-AB47-2471CBE58787}"/>
              </a:ext>
            </a:extLst>
          </p:cNvPr>
          <p:cNvSpPr/>
          <p:nvPr/>
        </p:nvSpPr>
        <p:spPr>
          <a:xfrm>
            <a:off x="8111740" y="1206562"/>
            <a:ext cx="788999" cy="369332"/>
          </a:xfrm>
          <a:prstGeom prst="rect">
            <a:avLst/>
          </a:prstGeom>
        </p:spPr>
        <p:txBody>
          <a:bodyPr wrap="none">
            <a:spAutoFit/>
          </a:bodyPr>
          <a:lstStyle/>
          <a:p>
            <a:r>
              <a:rPr lang="es-ES_tradnl" dirty="0">
                <a:latin typeface="Gill Sans MT" panose="020B0502020104020203" pitchFamily="34" charset="77"/>
              </a:rPr>
              <a:t>(</a:t>
            </a:r>
            <a:r>
              <a:rPr lang="es-ES_tradnl" dirty="0" err="1">
                <a:latin typeface="Gill Sans MT" panose="020B0502020104020203" pitchFamily="34" charset="77"/>
              </a:rPr>
              <a:t>X</a:t>
            </a:r>
            <a:r>
              <a:rPr lang="es-ES_tradnl" baseline="-25000" dirty="0" err="1">
                <a:latin typeface="Gill Sans MT" panose="020B0502020104020203" pitchFamily="34" charset="77"/>
              </a:rPr>
              <a:t>t</a:t>
            </a:r>
            <a:r>
              <a:rPr lang="es-ES_tradnl" dirty="0" err="1">
                <a:latin typeface="Gill Sans MT" panose="020B0502020104020203" pitchFamily="34" charset="77"/>
              </a:rPr>
              <a:t>,d</a:t>
            </a:r>
            <a:r>
              <a:rPr lang="es-ES_tradnl" baseline="-25000" dirty="0" err="1">
                <a:latin typeface="Gill Sans MT" panose="020B0502020104020203" pitchFamily="34" charset="77"/>
              </a:rPr>
              <a:t>t</a:t>
            </a:r>
            <a:r>
              <a:rPr lang="es-ES_tradnl" dirty="0">
                <a:latin typeface="Gill Sans MT" panose="020B0502020104020203" pitchFamily="34" charset="77"/>
              </a:rPr>
              <a:t>)</a:t>
            </a:r>
            <a:endParaRPr lang="en-US" dirty="0">
              <a:latin typeface="Gill Sans MT" panose="020B0502020104020203" pitchFamily="34" charset="77"/>
            </a:endParaRPr>
          </a:p>
        </p:txBody>
      </p:sp>
    </p:spTree>
    <p:extLst>
      <p:ext uri="{BB962C8B-B14F-4D97-AF65-F5344CB8AC3E}">
        <p14:creationId xmlns:p14="http://schemas.microsoft.com/office/powerpoint/2010/main" val="14462578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24E1C10-73BD-FB44-B57E-7BF0017B39AE}"/>
              </a:ext>
            </a:extLst>
          </p:cNvPr>
          <p:cNvSpPr txBox="1"/>
          <p:nvPr/>
        </p:nvSpPr>
        <p:spPr>
          <a:xfrm>
            <a:off x="3111062" y="1575894"/>
            <a:ext cx="1263487" cy="369332"/>
          </a:xfrm>
          <a:prstGeom prst="rect">
            <a:avLst/>
          </a:prstGeom>
          <a:noFill/>
        </p:spPr>
        <p:txBody>
          <a:bodyPr wrap="none" rtlCol="0">
            <a:spAutoFit/>
          </a:bodyPr>
          <a:lstStyle/>
          <a:p>
            <a:r>
              <a:rPr lang="en-US" dirty="0">
                <a:latin typeface="Gill Sans MT" panose="020B0502020104020203" pitchFamily="34" charset="77"/>
              </a:rPr>
              <a:t>TRAINING</a:t>
            </a:r>
          </a:p>
        </p:txBody>
      </p:sp>
      <p:sp>
        <p:nvSpPr>
          <p:cNvPr id="8" name="TextBox 7">
            <a:extLst>
              <a:ext uri="{FF2B5EF4-FFF2-40B4-BE49-F238E27FC236}">
                <a16:creationId xmlns:a16="http://schemas.microsoft.com/office/drawing/2014/main" id="{53D37474-A788-3140-8F24-DFB62D279098}"/>
              </a:ext>
            </a:extLst>
          </p:cNvPr>
          <p:cNvSpPr txBox="1"/>
          <p:nvPr/>
        </p:nvSpPr>
        <p:spPr>
          <a:xfrm>
            <a:off x="7993119" y="1575894"/>
            <a:ext cx="1093569" cy="369332"/>
          </a:xfrm>
          <a:prstGeom prst="rect">
            <a:avLst/>
          </a:prstGeom>
          <a:noFill/>
        </p:spPr>
        <p:txBody>
          <a:bodyPr wrap="none" rtlCol="0">
            <a:spAutoFit/>
          </a:bodyPr>
          <a:lstStyle/>
          <a:p>
            <a:r>
              <a:rPr lang="en-US" dirty="0">
                <a:latin typeface="Gill Sans MT" panose="020B0502020104020203" pitchFamily="34" charset="77"/>
              </a:rPr>
              <a:t>TESTING</a:t>
            </a:r>
          </a:p>
        </p:txBody>
      </p:sp>
      <p:sp>
        <p:nvSpPr>
          <p:cNvPr id="9" name="TextBox 8">
            <a:extLst>
              <a:ext uri="{FF2B5EF4-FFF2-40B4-BE49-F238E27FC236}">
                <a16:creationId xmlns:a16="http://schemas.microsoft.com/office/drawing/2014/main" id="{A13B80FF-E6F6-AB4A-8355-39A01E2E1450}"/>
              </a:ext>
            </a:extLst>
          </p:cNvPr>
          <p:cNvSpPr txBox="1"/>
          <p:nvPr/>
        </p:nvSpPr>
        <p:spPr>
          <a:xfrm>
            <a:off x="1981200" y="544811"/>
            <a:ext cx="1348446" cy="523220"/>
          </a:xfrm>
          <a:prstGeom prst="rect">
            <a:avLst/>
          </a:prstGeom>
          <a:noFill/>
        </p:spPr>
        <p:txBody>
          <a:bodyPr wrap="none" rtlCol="0">
            <a:spAutoFit/>
          </a:bodyPr>
          <a:lstStyle/>
          <a:p>
            <a:r>
              <a:rPr lang="es-ES_tradnl" sz="2800" dirty="0">
                <a:latin typeface="Gill Sans MT" panose="020B0502020104020203" pitchFamily="34" charset="77"/>
              </a:rPr>
              <a:t>Ejemplo</a:t>
            </a:r>
          </a:p>
        </p:txBody>
      </p:sp>
      <p:sp>
        <p:nvSpPr>
          <p:cNvPr id="11" name="Rectangle 10">
            <a:extLst>
              <a:ext uri="{FF2B5EF4-FFF2-40B4-BE49-F238E27FC236}">
                <a16:creationId xmlns:a16="http://schemas.microsoft.com/office/drawing/2014/main" id="{ABA6BABD-B4A5-8642-A54E-DEA9A83127CC}"/>
              </a:ext>
            </a:extLst>
          </p:cNvPr>
          <p:cNvSpPr/>
          <p:nvPr/>
        </p:nvSpPr>
        <p:spPr>
          <a:xfrm>
            <a:off x="3384238" y="1206562"/>
            <a:ext cx="667170" cy="369332"/>
          </a:xfrm>
          <a:prstGeom prst="rect">
            <a:avLst/>
          </a:prstGeom>
        </p:spPr>
        <p:txBody>
          <a:bodyPr wrap="none">
            <a:spAutoFit/>
          </a:bodyPr>
          <a:lstStyle/>
          <a:p>
            <a:r>
              <a:rPr lang="es-ES_tradnl" dirty="0">
                <a:latin typeface="Gill Sans MT" panose="020B0502020104020203" pitchFamily="34" charset="77"/>
              </a:rPr>
              <a:t>(</a:t>
            </a:r>
            <a:r>
              <a:rPr lang="es-ES_tradnl" dirty="0" err="1">
                <a:latin typeface="Gill Sans MT" panose="020B0502020104020203" pitchFamily="34" charset="77"/>
              </a:rPr>
              <a:t>X,d</a:t>
            </a:r>
            <a:r>
              <a:rPr lang="es-ES_tradnl" dirty="0">
                <a:latin typeface="Gill Sans MT" panose="020B0502020104020203" pitchFamily="34" charset="77"/>
              </a:rPr>
              <a:t>)</a:t>
            </a:r>
            <a:endParaRPr lang="en-US" dirty="0">
              <a:latin typeface="Gill Sans MT" panose="020B0502020104020203" pitchFamily="34" charset="77"/>
            </a:endParaRPr>
          </a:p>
        </p:txBody>
      </p:sp>
      <p:sp>
        <p:nvSpPr>
          <p:cNvPr id="12" name="Rectangle 11">
            <a:extLst>
              <a:ext uri="{FF2B5EF4-FFF2-40B4-BE49-F238E27FC236}">
                <a16:creationId xmlns:a16="http://schemas.microsoft.com/office/drawing/2014/main" id="{07074503-D2D2-1449-AB47-2471CBE58787}"/>
              </a:ext>
            </a:extLst>
          </p:cNvPr>
          <p:cNvSpPr/>
          <p:nvPr/>
        </p:nvSpPr>
        <p:spPr>
          <a:xfrm>
            <a:off x="8111740" y="1206562"/>
            <a:ext cx="788999" cy="369332"/>
          </a:xfrm>
          <a:prstGeom prst="rect">
            <a:avLst/>
          </a:prstGeom>
        </p:spPr>
        <p:txBody>
          <a:bodyPr wrap="none">
            <a:spAutoFit/>
          </a:bodyPr>
          <a:lstStyle/>
          <a:p>
            <a:r>
              <a:rPr lang="es-ES_tradnl" dirty="0">
                <a:latin typeface="Gill Sans MT" panose="020B0502020104020203" pitchFamily="34" charset="77"/>
              </a:rPr>
              <a:t>(</a:t>
            </a:r>
            <a:r>
              <a:rPr lang="es-ES_tradnl" dirty="0" err="1">
                <a:latin typeface="Gill Sans MT" panose="020B0502020104020203" pitchFamily="34" charset="77"/>
              </a:rPr>
              <a:t>X</a:t>
            </a:r>
            <a:r>
              <a:rPr lang="es-ES_tradnl" baseline="-25000" dirty="0" err="1">
                <a:latin typeface="Gill Sans MT" panose="020B0502020104020203" pitchFamily="34" charset="77"/>
              </a:rPr>
              <a:t>t</a:t>
            </a:r>
            <a:r>
              <a:rPr lang="es-ES_tradnl" dirty="0" err="1">
                <a:latin typeface="Gill Sans MT" panose="020B0502020104020203" pitchFamily="34" charset="77"/>
              </a:rPr>
              <a:t>,d</a:t>
            </a:r>
            <a:r>
              <a:rPr lang="es-ES_tradnl" baseline="-25000" dirty="0" err="1">
                <a:latin typeface="Gill Sans MT" panose="020B0502020104020203" pitchFamily="34" charset="77"/>
              </a:rPr>
              <a:t>t</a:t>
            </a:r>
            <a:r>
              <a:rPr lang="es-ES_tradnl" dirty="0">
                <a:latin typeface="Gill Sans MT" panose="020B0502020104020203" pitchFamily="34" charset="77"/>
              </a:rPr>
              <a:t>)</a:t>
            </a:r>
            <a:endParaRPr lang="en-US" dirty="0">
              <a:latin typeface="Gill Sans MT" panose="020B0502020104020203" pitchFamily="34" charset="77"/>
            </a:endParaRPr>
          </a:p>
        </p:txBody>
      </p:sp>
      <p:pic>
        <p:nvPicPr>
          <p:cNvPr id="14" name="Picture 13">
            <a:extLst>
              <a:ext uri="{FF2B5EF4-FFF2-40B4-BE49-F238E27FC236}">
                <a16:creationId xmlns:a16="http://schemas.microsoft.com/office/drawing/2014/main" id="{A1C6AB96-CA1F-8C43-8CB2-5AF59CB2D25D}"/>
              </a:ext>
            </a:extLst>
          </p:cNvPr>
          <p:cNvPicPr>
            <a:picLocks noChangeAspect="1"/>
          </p:cNvPicPr>
          <p:nvPr/>
        </p:nvPicPr>
        <p:blipFill>
          <a:blip r:embed="rId2">
            <a:alphaModFix/>
          </a:blip>
          <a:stretch>
            <a:fillRect/>
          </a:stretch>
        </p:blipFill>
        <p:spPr>
          <a:xfrm>
            <a:off x="1495016" y="2059334"/>
            <a:ext cx="9180000" cy="3735500"/>
          </a:xfrm>
          <a:prstGeom prst="rect">
            <a:avLst/>
          </a:prstGeom>
        </p:spPr>
      </p:pic>
      <p:sp>
        <p:nvSpPr>
          <p:cNvPr id="15" name="TextBox 14">
            <a:extLst>
              <a:ext uri="{FF2B5EF4-FFF2-40B4-BE49-F238E27FC236}">
                <a16:creationId xmlns:a16="http://schemas.microsoft.com/office/drawing/2014/main" id="{55C61B48-5988-004C-8F8D-CE929DEEE186}"/>
              </a:ext>
            </a:extLst>
          </p:cNvPr>
          <p:cNvSpPr txBox="1"/>
          <p:nvPr/>
        </p:nvSpPr>
        <p:spPr>
          <a:xfrm>
            <a:off x="5317582" y="683342"/>
            <a:ext cx="1508746" cy="523220"/>
          </a:xfrm>
          <a:prstGeom prst="rect">
            <a:avLst/>
          </a:prstGeom>
          <a:noFill/>
        </p:spPr>
        <p:txBody>
          <a:bodyPr wrap="none" rtlCol="0">
            <a:spAutoFit/>
          </a:bodyPr>
          <a:lstStyle/>
          <a:p>
            <a:r>
              <a:rPr lang="es-ES_tradnl" sz="2800" dirty="0">
                <a:latin typeface="Gill Sans MT" panose="020B0502020104020203" pitchFamily="34" charset="77"/>
              </a:rPr>
              <a:t>SVM-LIN</a:t>
            </a:r>
          </a:p>
        </p:txBody>
      </p:sp>
    </p:spTree>
    <p:extLst>
      <p:ext uri="{BB962C8B-B14F-4D97-AF65-F5344CB8AC3E}">
        <p14:creationId xmlns:p14="http://schemas.microsoft.com/office/powerpoint/2010/main" val="24050963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24E1C10-73BD-FB44-B57E-7BF0017B39AE}"/>
              </a:ext>
            </a:extLst>
          </p:cNvPr>
          <p:cNvSpPr txBox="1"/>
          <p:nvPr/>
        </p:nvSpPr>
        <p:spPr>
          <a:xfrm>
            <a:off x="3111062" y="1575894"/>
            <a:ext cx="1263487" cy="369332"/>
          </a:xfrm>
          <a:prstGeom prst="rect">
            <a:avLst/>
          </a:prstGeom>
          <a:noFill/>
        </p:spPr>
        <p:txBody>
          <a:bodyPr wrap="none" rtlCol="0">
            <a:spAutoFit/>
          </a:bodyPr>
          <a:lstStyle/>
          <a:p>
            <a:r>
              <a:rPr lang="en-US" dirty="0">
                <a:latin typeface="Gill Sans MT" panose="020B0502020104020203" pitchFamily="34" charset="77"/>
              </a:rPr>
              <a:t>TRAINING</a:t>
            </a:r>
          </a:p>
        </p:txBody>
      </p:sp>
      <p:sp>
        <p:nvSpPr>
          <p:cNvPr id="8" name="TextBox 7">
            <a:extLst>
              <a:ext uri="{FF2B5EF4-FFF2-40B4-BE49-F238E27FC236}">
                <a16:creationId xmlns:a16="http://schemas.microsoft.com/office/drawing/2014/main" id="{53D37474-A788-3140-8F24-DFB62D279098}"/>
              </a:ext>
            </a:extLst>
          </p:cNvPr>
          <p:cNvSpPr txBox="1"/>
          <p:nvPr/>
        </p:nvSpPr>
        <p:spPr>
          <a:xfrm>
            <a:off x="7993119" y="1575894"/>
            <a:ext cx="1093569" cy="369332"/>
          </a:xfrm>
          <a:prstGeom prst="rect">
            <a:avLst/>
          </a:prstGeom>
          <a:noFill/>
        </p:spPr>
        <p:txBody>
          <a:bodyPr wrap="none" rtlCol="0">
            <a:spAutoFit/>
          </a:bodyPr>
          <a:lstStyle/>
          <a:p>
            <a:r>
              <a:rPr lang="en-US" dirty="0">
                <a:latin typeface="Gill Sans MT" panose="020B0502020104020203" pitchFamily="34" charset="77"/>
              </a:rPr>
              <a:t>TESTING</a:t>
            </a:r>
          </a:p>
        </p:txBody>
      </p:sp>
      <p:sp>
        <p:nvSpPr>
          <p:cNvPr id="9" name="TextBox 8">
            <a:extLst>
              <a:ext uri="{FF2B5EF4-FFF2-40B4-BE49-F238E27FC236}">
                <a16:creationId xmlns:a16="http://schemas.microsoft.com/office/drawing/2014/main" id="{A13B80FF-E6F6-AB4A-8355-39A01E2E1450}"/>
              </a:ext>
            </a:extLst>
          </p:cNvPr>
          <p:cNvSpPr txBox="1"/>
          <p:nvPr/>
        </p:nvSpPr>
        <p:spPr>
          <a:xfrm>
            <a:off x="1981200" y="544811"/>
            <a:ext cx="1348446" cy="523220"/>
          </a:xfrm>
          <a:prstGeom prst="rect">
            <a:avLst/>
          </a:prstGeom>
          <a:noFill/>
        </p:spPr>
        <p:txBody>
          <a:bodyPr wrap="none" rtlCol="0">
            <a:spAutoFit/>
          </a:bodyPr>
          <a:lstStyle/>
          <a:p>
            <a:r>
              <a:rPr lang="es-ES_tradnl" sz="2800" dirty="0">
                <a:latin typeface="Gill Sans MT" panose="020B0502020104020203" pitchFamily="34" charset="77"/>
              </a:rPr>
              <a:t>Ejemplo</a:t>
            </a:r>
          </a:p>
        </p:txBody>
      </p:sp>
      <p:sp>
        <p:nvSpPr>
          <p:cNvPr id="11" name="Rectangle 10">
            <a:extLst>
              <a:ext uri="{FF2B5EF4-FFF2-40B4-BE49-F238E27FC236}">
                <a16:creationId xmlns:a16="http://schemas.microsoft.com/office/drawing/2014/main" id="{ABA6BABD-B4A5-8642-A54E-DEA9A83127CC}"/>
              </a:ext>
            </a:extLst>
          </p:cNvPr>
          <p:cNvSpPr/>
          <p:nvPr/>
        </p:nvSpPr>
        <p:spPr>
          <a:xfrm>
            <a:off x="3384238" y="1206562"/>
            <a:ext cx="667170" cy="369332"/>
          </a:xfrm>
          <a:prstGeom prst="rect">
            <a:avLst/>
          </a:prstGeom>
        </p:spPr>
        <p:txBody>
          <a:bodyPr wrap="none">
            <a:spAutoFit/>
          </a:bodyPr>
          <a:lstStyle/>
          <a:p>
            <a:r>
              <a:rPr lang="es-ES_tradnl" dirty="0">
                <a:latin typeface="Gill Sans MT" panose="020B0502020104020203" pitchFamily="34" charset="77"/>
              </a:rPr>
              <a:t>(</a:t>
            </a:r>
            <a:r>
              <a:rPr lang="es-ES_tradnl" dirty="0" err="1">
                <a:latin typeface="Gill Sans MT" panose="020B0502020104020203" pitchFamily="34" charset="77"/>
              </a:rPr>
              <a:t>X,d</a:t>
            </a:r>
            <a:r>
              <a:rPr lang="es-ES_tradnl" dirty="0">
                <a:latin typeface="Gill Sans MT" panose="020B0502020104020203" pitchFamily="34" charset="77"/>
              </a:rPr>
              <a:t>)</a:t>
            </a:r>
            <a:endParaRPr lang="en-US" dirty="0">
              <a:latin typeface="Gill Sans MT" panose="020B0502020104020203" pitchFamily="34" charset="77"/>
            </a:endParaRPr>
          </a:p>
        </p:txBody>
      </p:sp>
      <p:sp>
        <p:nvSpPr>
          <p:cNvPr id="12" name="Rectangle 11">
            <a:extLst>
              <a:ext uri="{FF2B5EF4-FFF2-40B4-BE49-F238E27FC236}">
                <a16:creationId xmlns:a16="http://schemas.microsoft.com/office/drawing/2014/main" id="{07074503-D2D2-1449-AB47-2471CBE58787}"/>
              </a:ext>
            </a:extLst>
          </p:cNvPr>
          <p:cNvSpPr/>
          <p:nvPr/>
        </p:nvSpPr>
        <p:spPr>
          <a:xfrm>
            <a:off x="8111740" y="1206562"/>
            <a:ext cx="788999" cy="369332"/>
          </a:xfrm>
          <a:prstGeom prst="rect">
            <a:avLst/>
          </a:prstGeom>
        </p:spPr>
        <p:txBody>
          <a:bodyPr wrap="none">
            <a:spAutoFit/>
          </a:bodyPr>
          <a:lstStyle/>
          <a:p>
            <a:r>
              <a:rPr lang="es-ES_tradnl" dirty="0">
                <a:latin typeface="Gill Sans MT" panose="020B0502020104020203" pitchFamily="34" charset="77"/>
              </a:rPr>
              <a:t>(</a:t>
            </a:r>
            <a:r>
              <a:rPr lang="es-ES_tradnl" dirty="0" err="1">
                <a:latin typeface="Gill Sans MT" panose="020B0502020104020203" pitchFamily="34" charset="77"/>
              </a:rPr>
              <a:t>X</a:t>
            </a:r>
            <a:r>
              <a:rPr lang="es-ES_tradnl" baseline="-25000" dirty="0" err="1">
                <a:latin typeface="Gill Sans MT" panose="020B0502020104020203" pitchFamily="34" charset="77"/>
              </a:rPr>
              <a:t>t</a:t>
            </a:r>
            <a:r>
              <a:rPr lang="es-ES_tradnl" dirty="0" err="1">
                <a:latin typeface="Gill Sans MT" panose="020B0502020104020203" pitchFamily="34" charset="77"/>
              </a:rPr>
              <a:t>,d</a:t>
            </a:r>
            <a:r>
              <a:rPr lang="es-ES_tradnl" baseline="-25000" dirty="0" err="1">
                <a:latin typeface="Gill Sans MT" panose="020B0502020104020203" pitchFamily="34" charset="77"/>
              </a:rPr>
              <a:t>t</a:t>
            </a:r>
            <a:r>
              <a:rPr lang="es-ES_tradnl" dirty="0">
                <a:latin typeface="Gill Sans MT" panose="020B0502020104020203" pitchFamily="34" charset="77"/>
              </a:rPr>
              <a:t>)</a:t>
            </a:r>
            <a:endParaRPr lang="en-US" dirty="0">
              <a:latin typeface="Gill Sans MT" panose="020B0502020104020203" pitchFamily="34" charset="77"/>
            </a:endParaRPr>
          </a:p>
        </p:txBody>
      </p:sp>
      <p:pic>
        <p:nvPicPr>
          <p:cNvPr id="13" name="Picture 12">
            <a:extLst>
              <a:ext uri="{FF2B5EF4-FFF2-40B4-BE49-F238E27FC236}">
                <a16:creationId xmlns:a16="http://schemas.microsoft.com/office/drawing/2014/main" id="{64F1FCA1-F264-9743-8031-F2E79897FCB3}"/>
              </a:ext>
            </a:extLst>
          </p:cNvPr>
          <p:cNvPicPr>
            <a:picLocks noChangeAspect="1"/>
          </p:cNvPicPr>
          <p:nvPr/>
        </p:nvPicPr>
        <p:blipFill>
          <a:blip r:embed="rId2">
            <a:alphaModFix/>
          </a:blip>
          <a:stretch>
            <a:fillRect/>
          </a:stretch>
        </p:blipFill>
        <p:spPr>
          <a:xfrm>
            <a:off x="1520127" y="2109434"/>
            <a:ext cx="9109515" cy="3672000"/>
          </a:xfrm>
          <a:prstGeom prst="rect">
            <a:avLst/>
          </a:prstGeom>
        </p:spPr>
      </p:pic>
      <p:sp>
        <p:nvSpPr>
          <p:cNvPr id="14" name="TextBox 13">
            <a:extLst>
              <a:ext uri="{FF2B5EF4-FFF2-40B4-BE49-F238E27FC236}">
                <a16:creationId xmlns:a16="http://schemas.microsoft.com/office/drawing/2014/main" id="{0F068B8E-48AD-1C44-A7FA-F166AE86132D}"/>
              </a:ext>
            </a:extLst>
          </p:cNvPr>
          <p:cNvSpPr txBox="1"/>
          <p:nvPr/>
        </p:nvSpPr>
        <p:spPr>
          <a:xfrm>
            <a:off x="5317582" y="683342"/>
            <a:ext cx="1556836" cy="523220"/>
          </a:xfrm>
          <a:prstGeom prst="rect">
            <a:avLst/>
          </a:prstGeom>
          <a:noFill/>
        </p:spPr>
        <p:txBody>
          <a:bodyPr wrap="none" rtlCol="0">
            <a:spAutoFit/>
          </a:bodyPr>
          <a:lstStyle/>
          <a:p>
            <a:r>
              <a:rPr lang="es-ES_tradnl" sz="2800" dirty="0">
                <a:latin typeface="Gill Sans MT" panose="020B0502020104020203" pitchFamily="34" charset="77"/>
              </a:rPr>
              <a:t>SVM-RBF</a:t>
            </a:r>
          </a:p>
        </p:txBody>
      </p:sp>
    </p:spTree>
    <p:extLst>
      <p:ext uri="{BB962C8B-B14F-4D97-AF65-F5344CB8AC3E}">
        <p14:creationId xmlns:p14="http://schemas.microsoft.com/office/powerpoint/2010/main" val="8942851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4B1FB86-918D-8245-8044-A2896387C6C5}"/>
              </a:ext>
            </a:extLst>
          </p:cNvPr>
          <p:cNvSpPr txBox="1"/>
          <p:nvPr/>
        </p:nvSpPr>
        <p:spPr>
          <a:xfrm>
            <a:off x="2317059" y="539400"/>
            <a:ext cx="3624710" cy="461665"/>
          </a:xfrm>
          <a:prstGeom prst="rect">
            <a:avLst/>
          </a:prstGeom>
          <a:noFill/>
        </p:spPr>
        <p:txBody>
          <a:bodyPr wrap="none" rtlCol="0">
            <a:spAutoFit/>
          </a:bodyPr>
          <a:lstStyle/>
          <a:p>
            <a:r>
              <a:rPr lang="en-US" sz="2400" dirty="0">
                <a:latin typeface="Gill Sans MT" panose="020B0502020104020203" pitchFamily="34" charset="77"/>
                <a:cs typeface="Trebuchet MS"/>
              </a:rPr>
              <a:t>SVM in SKLEARN - Python</a:t>
            </a:r>
          </a:p>
        </p:txBody>
      </p:sp>
      <p:pic>
        <p:nvPicPr>
          <p:cNvPr id="10" name="Picture 9">
            <a:extLst>
              <a:ext uri="{FF2B5EF4-FFF2-40B4-BE49-F238E27FC236}">
                <a16:creationId xmlns:a16="http://schemas.microsoft.com/office/drawing/2014/main" id="{6CBF80A7-8A4B-CD4C-885C-866FBB013805}"/>
              </a:ext>
            </a:extLst>
          </p:cNvPr>
          <p:cNvPicPr>
            <a:picLocks noChangeAspect="1"/>
          </p:cNvPicPr>
          <p:nvPr/>
        </p:nvPicPr>
        <p:blipFill>
          <a:blip r:embed="rId2"/>
          <a:stretch>
            <a:fillRect/>
          </a:stretch>
        </p:blipFill>
        <p:spPr>
          <a:xfrm>
            <a:off x="1524000" y="1527130"/>
            <a:ext cx="9144000" cy="3803740"/>
          </a:xfrm>
          <a:prstGeom prst="rect">
            <a:avLst/>
          </a:prstGeom>
        </p:spPr>
      </p:pic>
    </p:spTree>
    <p:extLst>
      <p:ext uri="{BB962C8B-B14F-4D97-AF65-F5344CB8AC3E}">
        <p14:creationId xmlns:p14="http://schemas.microsoft.com/office/powerpoint/2010/main" val="2201779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4B1FB86-918D-8245-8044-A2896387C6C5}"/>
              </a:ext>
            </a:extLst>
          </p:cNvPr>
          <p:cNvSpPr txBox="1"/>
          <p:nvPr/>
        </p:nvSpPr>
        <p:spPr>
          <a:xfrm>
            <a:off x="2317059" y="539400"/>
            <a:ext cx="3704860" cy="461665"/>
          </a:xfrm>
          <a:prstGeom prst="rect">
            <a:avLst/>
          </a:prstGeom>
          <a:noFill/>
        </p:spPr>
        <p:txBody>
          <a:bodyPr wrap="none" rtlCol="0">
            <a:spAutoFit/>
          </a:bodyPr>
          <a:lstStyle/>
          <a:p>
            <a:r>
              <a:rPr lang="en-US" sz="2400" dirty="0">
                <a:latin typeface="Gill Sans MT" panose="020B0502020104020203" pitchFamily="34" charset="77"/>
                <a:cs typeface="Trebuchet MS"/>
              </a:rPr>
              <a:t>SVM </a:t>
            </a:r>
            <a:r>
              <a:rPr lang="en-US" sz="2400" dirty="0" err="1">
                <a:latin typeface="Gill Sans MT" panose="020B0502020104020203" pitchFamily="34" charset="77"/>
                <a:cs typeface="Trebuchet MS"/>
              </a:rPr>
              <a:t>en</a:t>
            </a:r>
            <a:r>
              <a:rPr lang="en-US" sz="2400" dirty="0">
                <a:latin typeface="Gill Sans MT" panose="020B0502020104020203" pitchFamily="34" charset="77"/>
                <a:cs typeface="Trebuchet MS"/>
              </a:rPr>
              <a:t> SKLEARN - Python</a:t>
            </a:r>
          </a:p>
        </p:txBody>
      </p:sp>
      <p:sp>
        <p:nvSpPr>
          <p:cNvPr id="2" name="TextBox 1">
            <a:extLst>
              <a:ext uri="{FF2B5EF4-FFF2-40B4-BE49-F238E27FC236}">
                <a16:creationId xmlns:a16="http://schemas.microsoft.com/office/drawing/2014/main" id="{74A7EC4E-6048-EF4C-AF57-B29322F9EFC9}"/>
              </a:ext>
            </a:extLst>
          </p:cNvPr>
          <p:cNvSpPr txBox="1"/>
          <p:nvPr/>
        </p:nvSpPr>
        <p:spPr>
          <a:xfrm>
            <a:off x="2317060" y="1631256"/>
            <a:ext cx="7893741" cy="4524315"/>
          </a:xfrm>
          <a:prstGeom prst="rect">
            <a:avLst/>
          </a:prstGeom>
          <a:noFill/>
        </p:spPr>
        <p:txBody>
          <a:bodyPr wrap="square" rtlCol="0">
            <a:spAutoFit/>
          </a:bodyPr>
          <a:lstStyle/>
          <a:p>
            <a:r>
              <a:rPr lang="es-ES_tradnl" dirty="0">
                <a:latin typeface="Gill Sans MT" panose="020B0502020104020203" pitchFamily="34" charset="77"/>
              </a:rPr>
              <a:t>Intuitivamente, el parámetro gamma define hasta dónde llega la influencia de un único ejemplo de entrenamiento, con valores bajos que significan "lejos" y valores altos que significan "cerca". Los parámetros gamma pueden verse como la inversa del radio de influencia de las muestras seleccionadas por el modelo como vectores de soporte.</a:t>
            </a:r>
          </a:p>
          <a:p>
            <a:endParaRPr lang="es-ES_tradnl" dirty="0">
              <a:latin typeface="Gill Sans MT" panose="020B0502020104020203" pitchFamily="34" charset="77"/>
            </a:endParaRPr>
          </a:p>
          <a:p>
            <a:r>
              <a:rPr lang="es-ES_tradnl" dirty="0">
                <a:latin typeface="Gill Sans MT" panose="020B0502020104020203" pitchFamily="34" charset="77"/>
              </a:rPr>
              <a:t>El parámetro C compensa la clasificación correcta de los ejemplos de entrenamiento con la maximización del margen de la función de decisión. Para valores mayores de C, se aceptará un margen menor si la función de decisión clasifica correctamente todos los puntos de entrenamiento. Un valor menor de C fomentará un margen mayor y, por tanto, una función de decisión más simple, a costa de la precisión del entrenamiento. En otras palabras, ``C`` se comporta como un parámetro de regularización en la SVM.</a:t>
            </a:r>
          </a:p>
          <a:p>
            <a:endParaRPr lang="es-ES_tradnl" dirty="0">
              <a:latin typeface="Gill Sans MT" panose="020B0502020104020203" pitchFamily="34" charset="77"/>
            </a:endParaRPr>
          </a:p>
          <a:p>
            <a:r>
              <a:rPr lang="es-ES_tradnl" dirty="0">
                <a:latin typeface="Gill Sans MT" panose="020B0502020104020203" pitchFamily="34" charset="77"/>
                <a:hlinkClick r:id="rId2"/>
              </a:rPr>
              <a:t>https://scikit-learn.org/stable/auto_examples/svm/plot_rbf_parameters.html</a:t>
            </a:r>
            <a:endParaRPr lang="es-ES_tradnl" dirty="0">
              <a:latin typeface="Gill Sans MT" panose="020B0502020104020203" pitchFamily="34" charset="77"/>
            </a:endParaRPr>
          </a:p>
          <a:p>
            <a:endParaRPr lang="es-ES_tradnl" dirty="0">
              <a:latin typeface="Gill Sans MT" panose="020B0502020104020203" pitchFamily="34" charset="77"/>
            </a:endParaRPr>
          </a:p>
        </p:txBody>
      </p:sp>
    </p:spTree>
    <p:extLst>
      <p:ext uri="{BB962C8B-B14F-4D97-AF65-F5344CB8AC3E}">
        <p14:creationId xmlns:p14="http://schemas.microsoft.com/office/powerpoint/2010/main" val="15499354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4930" name="Text Box 2"/>
          <p:cNvSpPr txBox="1">
            <a:spLocks noChangeArrowheads="1"/>
          </p:cNvSpPr>
          <p:nvPr/>
        </p:nvSpPr>
        <p:spPr bwMode="auto">
          <a:xfrm>
            <a:off x="2119314" y="420688"/>
            <a:ext cx="8312381" cy="4524315"/>
          </a:xfrm>
          <a:prstGeom prst="rect">
            <a:avLst/>
          </a:prstGeom>
          <a:noFill/>
          <a:ln w="9525">
            <a:noFill/>
            <a:miter lim="800000"/>
            <a:headEnd/>
            <a:tailEnd/>
          </a:ln>
        </p:spPr>
        <p:txBody>
          <a:bodyPr wrap="square">
            <a:spAutoFit/>
          </a:bodyPr>
          <a:lstStyle/>
          <a:p>
            <a:pPr eaLnBrk="0" hangingPunct="0"/>
            <a:r>
              <a:rPr lang="es-ES_tradnl" sz="2400" u="sng" dirty="0">
                <a:solidFill>
                  <a:schemeClr val="tx1">
                    <a:lumMod val="75000"/>
                    <a:lumOff val="25000"/>
                  </a:schemeClr>
                </a:solidFill>
                <a:latin typeface="Gill Sans MT" panose="020B0502020104020203" pitchFamily="34" charset="77"/>
              </a:rPr>
              <a:t>Hemos aprendido</a:t>
            </a:r>
            <a:r>
              <a:rPr lang="es-ES_tradnl" sz="2400" dirty="0">
                <a:solidFill>
                  <a:schemeClr val="tx1">
                    <a:lumMod val="75000"/>
                    <a:lumOff val="25000"/>
                  </a:schemeClr>
                </a:solidFill>
                <a:latin typeface="Gill Sans MT" panose="020B0502020104020203" pitchFamily="34" charset="77"/>
              </a:rPr>
              <a:t>:  </a:t>
            </a:r>
          </a:p>
          <a:p>
            <a:pPr eaLnBrk="0" hangingPunct="0"/>
            <a:endParaRPr lang="es-ES_tradnl" sz="2400" dirty="0">
              <a:solidFill>
                <a:schemeClr val="tx1">
                  <a:lumMod val="75000"/>
                  <a:lumOff val="25000"/>
                </a:schemeClr>
              </a:solidFill>
              <a:latin typeface="Gill Sans MT" panose="020B0502020104020203" pitchFamily="34" charset="77"/>
            </a:endParaRPr>
          </a:p>
          <a:p>
            <a:pPr eaLnBrk="0" hangingPunct="0"/>
            <a:endParaRPr lang="es-ES_tradnl" sz="2400" dirty="0">
              <a:solidFill>
                <a:schemeClr val="tx1">
                  <a:lumMod val="75000"/>
                  <a:lumOff val="25000"/>
                </a:schemeClr>
              </a:solidFill>
              <a:latin typeface="Gill Sans MT" panose="020B0502020104020203" pitchFamily="34" charset="77"/>
            </a:endParaRPr>
          </a:p>
          <a:p>
            <a:pPr eaLnBrk="0" hangingPunct="0"/>
            <a:endParaRPr lang="es-ES_tradnl" sz="2400" dirty="0">
              <a:solidFill>
                <a:schemeClr val="tx1">
                  <a:lumMod val="75000"/>
                  <a:lumOff val="25000"/>
                </a:schemeClr>
              </a:solidFill>
              <a:latin typeface="Gill Sans MT" panose="020B0502020104020203" pitchFamily="34" charset="77"/>
            </a:endParaRPr>
          </a:p>
          <a:p>
            <a:pPr marL="342900" indent="-342900" eaLnBrk="0" hangingPunct="0">
              <a:buFont typeface="Arial" panose="020B0604020202020204" pitchFamily="34" charset="0"/>
              <a:buChar char="•"/>
            </a:pPr>
            <a:r>
              <a:rPr lang="es-ES_tradnl" sz="2400" dirty="0">
                <a:solidFill>
                  <a:srgbClr val="0000FF"/>
                </a:solidFill>
                <a:latin typeface="Gill Sans MT" panose="020B0502020104020203" pitchFamily="34" charset="77"/>
              </a:rPr>
              <a:t>Qué es el margen</a:t>
            </a:r>
          </a:p>
          <a:p>
            <a:pPr marL="342900" indent="-342900" eaLnBrk="0" hangingPunct="0">
              <a:buFont typeface="Arial" panose="020B0604020202020204" pitchFamily="34" charset="0"/>
              <a:buChar char="•"/>
            </a:pPr>
            <a:r>
              <a:rPr lang="es-ES_tradnl" sz="2400" dirty="0">
                <a:solidFill>
                  <a:srgbClr val="0000FF"/>
                </a:solidFill>
                <a:latin typeface="Gill Sans MT" panose="020B0502020104020203" pitchFamily="34" charset="77"/>
              </a:rPr>
              <a:t>Por qué una buena clasificación maximiza el margen</a:t>
            </a:r>
          </a:p>
          <a:p>
            <a:pPr marL="342900" indent="-342900" eaLnBrk="0" hangingPunct="0">
              <a:buFont typeface="Arial" panose="020B0604020202020204" pitchFamily="34" charset="0"/>
              <a:buChar char="•"/>
            </a:pPr>
            <a:r>
              <a:rPr lang="es-ES_tradnl" sz="2400" dirty="0">
                <a:solidFill>
                  <a:srgbClr val="0000FF"/>
                </a:solidFill>
                <a:latin typeface="Gill Sans MT" panose="020B0502020104020203" pitchFamily="34" charset="77"/>
              </a:rPr>
              <a:t>Cuáles son las ideas clave de un clasificador SVM</a:t>
            </a:r>
          </a:p>
          <a:p>
            <a:pPr marL="342900" indent="-342900" eaLnBrk="0" hangingPunct="0">
              <a:buFont typeface="Arial" panose="020B0604020202020204" pitchFamily="34" charset="0"/>
              <a:buChar char="•"/>
            </a:pPr>
            <a:r>
              <a:rPr lang="es-ES_tradnl" sz="2400" dirty="0">
                <a:solidFill>
                  <a:srgbClr val="0000FF"/>
                </a:solidFill>
                <a:latin typeface="Gill Sans MT" panose="020B0502020104020203" pitchFamily="34" charset="77"/>
              </a:rPr>
              <a:t>Cómo se realizar un clasificador SVM lineal</a:t>
            </a:r>
          </a:p>
          <a:p>
            <a:pPr marL="342900" indent="-342900" eaLnBrk="0" hangingPunct="0">
              <a:buFont typeface="Arial" panose="020B0604020202020204" pitchFamily="34" charset="0"/>
              <a:buChar char="•"/>
            </a:pPr>
            <a:r>
              <a:rPr lang="es-ES_tradnl" sz="2400" dirty="0">
                <a:solidFill>
                  <a:srgbClr val="0000FF"/>
                </a:solidFill>
                <a:latin typeface="Gill Sans MT" panose="020B0502020104020203" pitchFamily="34" charset="77"/>
              </a:rPr>
              <a:t>Qué es un </a:t>
            </a:r>
            <a:r>
              <a:rPr lang="es-ES_tradnl" sz="2400" dirty="0" err="1">
                <a:solidFill>
                  <a:srgbClr val="0000FF"/>
                </a:solidFill>
                <a:latin typeface="Gill Sans MT" panose="020B0502020104020203" pitchFamily="34" charset="77"/>
              </a:rPr>
              <a:t>Kernel</a:t>
            </a:r>
            <a:endParaRPr lang="es-ES_tradnl" sz="2400" dirty="0">
              <a:solidFill>
                <a:srgbClr val="0000FF"/>
              </a:solidFill>
              <a:latin typeface="Gill Sans MT" panose="020B0502020104020203" pitchFamily="34" charset="77"/>
            </a:endParaRPr>
          </a:p>
          <a:p>
            <a:pPr marL="342900" indent="-342900" eaLnBrk="0" hangingPunct="0">
              <a:buFont typeface="Arial" panose="020B0604020202020204" pitchFamily="34" charset="0"/>
              <a:buChar char="•"/>
            </a:pPr>
            <a:r>
              <a:rPr lang="es-ES_tradnl" sz="2400" dirty="0">
                <a:solidFill>
                  <a:srgbClr val="0000FF"/>
                </a:solidFill>
                <a:latin typeface="Gill Sans MT" panose="020B0502020104020203" pitchFamily="34" charset="77"/>
              </a:rPr>
              <a:t>Cómo se realiza un clasificador SVM no lineal</a:t>
            </a:r>
          </a:p>
          <a:p>
            <a:pPr marL="342900" indent="-342900" eaLnBrk="0" hangingPunct="0">
              <a:buFont typeface="Arial" panose="020B0604020202020204" pitchFamily="34" charset="0"/>
              <a:buChar char="•"/>
            </a:pPr>
            <a:endParaRPr lang="es-ES_tradnl" sz="2400" dirty="0">
              <a:solidFill>
                <a:srgbClr val="0000FF"/>
              </a:solidFill>
              <a:latin typeface="Gill Sans MT" panose="020B0502020104020203" pitchFamily="34" charset="77"/>
            </a:endParaRPr>
          </a:p>
          <a:p>
            <a:pPr eaLnBrk="0" hangingPunct="0"/>
            <a:endParaRPr lang="es-ES_tradnl" sz="2400" dirty="0">
              <a:solidFill>
                <a:schemeClr val="tx1">
                  <a:lumMod val="75000"/>
                  <a:lumOff val="25000"/>
                </a:schemeClr>
              </a:solidFill>
              <a:latin typeface="Gill Sans MT" panose="020B0502020104020203" pitchFamily="34" charset="77"/>
            </a:endParaRPr>
          </a:p>
        </p:txBody>
      </p:sp>
    </p:spTree>
    <p:extLst>
      <p:ext uri="{BB962C8B-B14F-4D97-AF65-F5344CB8AC3E}">
        <p14:creationId xmlns:p14="http://schemas.microsoft.com/office/powerpoint/2010/main" val="1611255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649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6493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64930">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6493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64930">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64930">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6493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4930"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991</TotalTime>
  <Words>1236</Words>
  <Application>Microsoft Macintosh PowerPoint</Application>
  <PresentationFormat>Widescreen</PresentationFormat>
  <Paragraphs>289</Paragraphs>
  <Slides>43</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Gill Sans MT</vt:lpstr>
      <vt:lpstr>Office Theme</vt:lpstr>
      <vt:lpstr>PowerPoint Presentation</vt:lpstr>
      <vt:lpstr>Historia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Domingo Mery</dc:creator>
  <cp:lastModifiedBy>Domingo Mery</cp:lastModifiedBy>
  <cp:revision>17</cp:revision>
  <dcterms:created xsi:type="dcterms:W3CDTF">2026-03-08T16:41:49Z</dcterms:created>
  <dcterms:modified xsi:type="dcterms:W3CDTF">2026-05-27T17:16:30Z</dcterms:modified>
</cp:coreProperties>
</file>