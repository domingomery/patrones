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7" r:id="rId2"/>
    <p:sldId id="823" r:id="rId3"/>
    <p:sldId id="447" r:id="rId4"/>
    <p:sldId id="460" r:id="rId5"/>
    <p:sldId id="461" r:id="rId6"/>
    <p:sldId id="462" r:id="rId7"/>
    <p:sldId id="463" r:id="rId8"/>
    <p:sldId id="464" r:id="rId9"/>
    <p:sldId id="465" r:id="rId10"/>
    <p:sldId id="466" r:id="rId11"/>
    <p:sldId id="467" r:id="rId12"/>
    <p:sldId id="468" r:id="rId13"/>
    <p:sldId id="469" r:id="rId14"/>
    <p:sldId id="470" r:id="rId15"/>
    <p:sldId id="479" r:id="rId16"/>
    <p:sldId id="483" r:id="rId17"/>
    <p:sldId id="482" r:id="rId18"/>
    <p:sldId id="475" r:id="rId19"/>
    <p:sldId id="477" r:id="rId20"/>
    <p:sldId id="476" r:id="rId21"/>
    <p:sldId id="474" r:id="rId22"/>
    <p:sldId id="473" r:id="rId23"/>
    <p:sldId id="472" r:id="rId24"/>
    <p:sldId id="484" r:id="rId25"/>
    <p:sldId id="478" r:id="rId26"/>
    <p:sldId id="480" r:id="rId27"/>
    <p:sldId id="783" r:id="rId28"/>
    <p:sldId id="434" r:id="rId29"/>
    <p:sldId id="436" r:id="rId30"/>
    <p:sldId id="437" r:id="rId31"/>
    <p:sldId id="438" r:id="rId32"/>
    <p:sldId id="432" r:id="rId33"/>
    <p:sldId id="784" r:id="rId34"/>
    <p:sldId id="795" r:id="rId35"/>
    <p:sldId id="796" r:id="rId36"/>
    <p:sldId id="797" r:id="rId37"/>
    <p:sldId id="798" r:id="rId38"/>
    <p:sldId id="799" r:id="rId39"/>
    <p:sldId id="824" r:id="rId40"/>
    <p:sldId id="801" r:id="rId41"/>
    <p:sldId id="802" r:id="rId42"/>
    <p:sldId id="803" r:id="rId43"/>
    <p:sldId id="804" r:id="rId44"/>
    <p:sldId id="805" r:id="rId45"/>
    <p:sldId id="806" r:id="rId46"/>
    <p:sldId id="807" r:id="rId47"/>
    <p:sldId id="808" r:id="rId48"/>
    <p:sldId id="809" r:id="rId49"/>
    <p:sldId id="810" r:id="rId50"/>
    <p:sldId id="471" r:id="rId51"/>
    <p:sldId id="811" r:id="rId52"/>
    <p:sldId id="812" r:id="rId53"/>
    <p:sldId id="813" r:id="rId54"/>
    <p:sldId id="814" r:id="rId55"/>
    <p:sldId id="815" r:id="rId56"/>
    <p:sldId id="816" r:id="rId57"/>
    <p:sldId id="817" r:id="rId58"/>
    <p:sldId id="818" r:id="rId59"/>
    <p:sldId id="819" r:id="rId60"/>
    <p:sldId id="820" r:id="rId61"/>
    <p:sldId id="821" r:id="rId62"/>
    <p:sldId id="822" r:id="rId63"/>
    <p:sldId id="485" r:id="rId64"/>
    <p:sldId id="486" r:id="rId65"/>
    <p:sldId id="487" r:id="rId66"/>
    <p:sldId id="488" r:id="rId67"/>
    <p:sldId id="489" r:id="rId68"/>
    <p:sldId id="490" r:id="rId69"/>
    <p:sldId id="492" r:id="rId70"/>
    <p:sldId id="491" r:id="rId71"/>
    <p:sldId id="497" r:id="rId72"/>
    <p:sldId id="493" r:id="rId73"/>
    <p:sldId id="494" r:id="rId74"/>
    <p:sldId id="495" r:id="rId75"/>
    <p:sldId id="496" r:id="rId76"/>
    <p:sldId id="498" r:id="rId77"/>
    <p:sldId id="501" r:id="rId78"/>
    <p:sldId id="504" r:id="rId79"/>
    <p:sldId id="502" r:id="rId80"/>
    <p:sldId id="507" r:id="rId81"/>
    <p:sldId id="500" r:id="rId82"/>
    <p:sldId id="505" r:id="rId83"/>
    <p:sldId id="503" r:id="rId84"/>
    <p:sldId id="506" r:id="rId85"/>
    <p:sldId id="499" r:id="rId86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8"/>
    <p:restoredTop sz="94658"/>
  </p:normalViewPr>
  <p:slideViewPr>
    <p:cSldViewPr snapToGrid="0">
      <p:cViewPr varScale="1">
        <p:scale>
          <a:sx n="120" d="100"/>
          <a:sy n="120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23-06-26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13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0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45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17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6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19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9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09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93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67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71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57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34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50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23-06-26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23-06-26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23-06-26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23-06-26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23-06-26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23-06-26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23-06-26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23-06-26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23-06-26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23-06-26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23-06-26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2C457589-72F1-974D-B204-6AE212262628}" type="datetimeFigureOut">
              <a:rPr lang="en-CL" smtClean="0"/>
              <a:pPr/>
              <a:t>23-06-26</a:t>
            </a:fld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0.png"/><Relationship Id="rId18" Type="http://schemas.openxmlformats.org/officeDocument/2006/relationships/image" Target="../media/image56.png"/><Relationship Id="rId3" Type="http://schemas.openxmlformats.org/officeDocument/2006/relationships/image" Target="../media/image57.emf"/><Relationship Id="rId21" Type="http://schemas.openxmlformats.org/officeDocument/2006/relationships/image" Target="../media/image60.png"/><Relationship Id="rId7" Type="http://schemas.openxmlformats.org/officeDocument/2006/relationships/image" Target="../media/image43.png"/><Relationship Id="rId12" Type="http://schemas.openxmlformats.org/officeDocument/2006/relationships/image" Target="../media/image49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4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8.png"/><Relationship Id="rId5" Type="http://schemas.openxmlformats.org/officeDocument/2006/relationships/image" Target="../media/image40.png"/><Relationship Id="rId15" Type="http://schemas.openxmlformats.org/officeDocument/2006/relationships/image" Target="../media/image53.png"/><Relationship Id="rId23" Type="http://schemas.openxmlformats.org/officeDocument/2006/relationships/image" Target="../media/image62.emf"/><Relationship Id="rId10" Type="http://schemas.openxmlformats.org/officeDocument/2006/relationships/image" Target="../media/image47.png"/><Relationship Id="rId19" Type="http://schemas.openxmlformats.org/officeDocument/2006/relationships/image" Target="../media/image58.png"/><Relationship Id="rId4" Type="http://schemas.openxmlformats.org/officeDocument/2006/relationships/image" Target="../media/image39.png"/><Relationship Id="rId9" Type="http://schemas.openxmlformats.org/officeDocument/2006/relationships/image" Target="../media/image46.png"/><Relationship Id="rId14" Type="http://schemas.openxmlformats.org/officeDocument/2006/relationships/image" Target="../media/image52.png"/><Relationship Id="rId22" Type="http://schemas.openxmlformats.org/officeDocument/2006/relationships/image" Target="../media/image61.emf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615431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Clustering y Bag of Words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IV 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154FCD-8743-B576-6A9C-A99BB44122B1}"/>
              </a:ext>
            </a:extLst>
          </p:cNvPr>
          <p:cNvSpPr txBox="1"/>
          <p:nvPr/>
        </p:nvSpPr>
        <p:spPr>
          <a:xfrm>
            <a:off x="3470922" y="3105834"/>
            <a:ext cx="5250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600" dirty="0">
                <a:latin typeface="Gill Sans MT" panose="020B0502020104020203" pitchFamily="34" charset="77"/>
              </a:rPr>
              <a:t>Clustering usando k-Means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95D97-8B40-D413-BFD3-C4AC22F8049F}"/>
              </a:ext>
            </a:extLst>
          </p:cNvPr>
          <p:cNvSpPr txBox="1"/>
          <p:nvPr/>
        </p:nvSpPr>
        <p:spPr>
          <a:xfrm>
            <a:off x="7987229" y="17516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L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54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748" y="14269"/>
            <a:ext cx="7484870" cy="6771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</a:rPr>
              <a:t>Algorithm: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Input Data X = {x</a:t>
            </a:r>
            <a:r>
              <a:rPr lang="en-US" sz="2400" baseline="-25000" dirty="0">
                <a:latin typeface="Gill Sans MT" panose="020B0502020104020203" pitchFamily="34" charset="77"/>
              </a:rPr>
              <a:t>1</a:t>
            </a:r>
            <a:r>
              <a:rPr lang="en-US" sz="2400" dirty="0">
                <a:latin typeface="Gill Sans MT" panose="020B0502020104020203" pitchFamily="34" charset="77"/>
              </a:rPr>
              <a:t>, x</a:t>
            </a:r>
            <a:r>
              <a:rPr lang="en-US" sz="2400" baseline="-25000" dirty="0">
                <a:latin typeface="Gill Sans MT" panose="020B0502020104020203" pitchFamily="34" charset="77"/>
              </a:rPr>
              <a:t>2</a:t>
            </a:r>
            <a:r>
              <a:rPr lang="en-US" sz="2400" dirty="0">
                <a:latin typeface="Gill Sans MT" panose="020B0502020104020203" pitchFamily="34" charset="77"/>
              </a:rPr>
              <a:t>, ... </a:t>
            </a:r>
            <a:r>
              <a:rPr lang="en-US" sz="2400" dirty="0" err="1">
                <a:latin typeface="Gill Sans MT" panose="020B0502020104020203" pitchFamily="34" charset="77"/>
              </a:rPr>
              <a:t>x</a:t>
            </a:r>
            <a:r>
              <a:rPr lang="en-US" sz="2400" baseline="-25000" dirty="0" err="1">
                <a:latin typeface="Gill Sans MT" panose="020B0502020104020203" pitchFamily="34" charset="77"/>
              </a:rPr>
              <a:t>N</a:t>
            </a:r>
            <a:r>
              <a:rPr lang="en-US" sz="2400" dirty="0">
                <a:latin typeface="Gill Sans MT" panose="020B0502020104020203" pitchFamily="34" charset="77"/>
              </a:rPr>
              <a:t>} and number of clusters K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Centroids {c</a:t>
            </a:r>
            <a:r>
              <a:rPr lang="en-US" sz="2400" baseline="-25000" dirty="0">
                <a:latin typeface="Gill Sans MT" panose="020B0502020104020203" pitchFamily="34" charset="77"/>
              </a:rPr>
              <a:t>1</a:t>
            </a:r>
            <a:r>
              <a:rPr lang="en-US" sz="2400" dirty="0">
                <a:latin typeface="Gill Sans MT" panose="020B0502020104020203" pitchFamily="34" charset="77"/>
              </a:rPr>
              <a:t>, c</a:t>
            </a:r>
            <a:r>
              <a:rPr lang="en-US" sz="2400" baseline="-25000" dirty="0">
                <a:latin typeface="Gill Sans MT" panose="020B0502020104020203" pitchFamily="34" charset="77"/>
              </a:rPr>
              <a:t>2</a:t>
            </a:r>
            <a:r>
              <a:rPr lang="en-US" sz="2400" dirty="0">
                <a:latin typeface="Gill Sans MT" panose="020B0502020104020203" pitchFamily="34" charset="77"/>
              </a:rPr>
              <a:t>, ... </a:t>
            </a:r>
            <a:r>
              <a:rPr lang="en-US" sz="2400" dirty="0" err="1">
                <a:latin typeface="Gill Sans MT" panose="020B0502020104020203" pitchFamily="34" charset="77"/>
              </a:rPr>
              <a:t>c</a:t>
            </a:r>
            <a:r>
              <a:rPr lang="en-US" sz="2400" baseline="-25000" dirty="0" err="1">
                <a:latin typeface="Gill Sans MT" panose="020B0502020104020203" pitchFamily="34" charset="77"/>
              </a:rPr>
              <a:t>K</a:t>
            </a:r>
            <a:r>
              <a:rPr lang="en-US" sz="2400" dirty="0">
                <a:latin typeface="Gill Sans MT" panose="020B0502020104020203" pitchFamily="34" charset="77"/>
              </a:rPr>
              <a:t>}  = random K points of X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For each data point x</a:t>
            </a:r>
            <a:r>
              <a:rPr lang="en-US" sz="2400" baseline="-25000" dirty="0">
                <a:latin typeface="Gill Sans MT" panose="020B0502020104020203" pitchFamily="34" charset="77"/>
              </a:rPr>
              <a:t>i 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       Compute distance </a:t>
            </a:r>
            <a:r>
              <a:rPr lang="en-US" sz="2400" dirty="0" err="1">
                <a:latin typeface="Gill Sans MT" panose="020B0502020104020203" pitchFamily="34" charset="77"/>
              </a:rPr>
              <a:t>d</a:t>
            </a:r>
            <a:r>
              <a:rPr lang="en-US" sz="2400" baseline="-25000" dirty="0" err="1">
                <a:latin typeface="Gill Sans MT" panose="020B0502020104020203" pitchFamily="34" charset="77"/>
              </a:rPr>
              <a:t>ij</a:t>
            </a:r>
            <a:r>
              <a:rPr lang="en-US" sz="2400" dirty="0">
                <a:latin typeface="Gill Sans MT" panose="020B0502020104020203" pitchFamily="34" charset="77"/>
              </a:rPr>
              <a:t> = d(</a:t>
            </a:r>
            <a:r>
              <a:rPr lang="en-US" sz="2400" dirty="0" err="1">
                <a:latin typeface="Gill Sans MT" panose="020B0502020104020203" pitchFamily="34" charset="77"/>
              </a:rPr>
              <a:t>x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 err="1">
                <a:latin typeface="Gill Sans MT" panose="020B0502020104020203" pitchFamily="34" charset="77"/>
              </a:rPr>
              <a:t>,c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)  </a:t>
            </a:r>
            <a:r>
              <a:rPr lang="en-US" sz="24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=1,...,N, j=1,...K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       Assign x</a:t>
            </a:r>
            <a:r>
              <a:rPr lang="en-US" sz="2400" baseline="-25000" dirty="0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to the nearest centroid: </a:t>
            </a:r>
            <a:r>
              <a:rPr lang="en-US" sz="2400" dirty="0" err="1">
                <a:latin typeface="Gill Sans MT" panose="020B0502020104020203" pitchFamily="34" charset="77"/>
              </a:rPr>
              <a:t>y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= </a:t>
            </a:r>
            <a:r>
              <a:rPr lang="en-US" sz="2400" dirty="0" err="1">
                <a:latin typeface="Gill Sans MT" panose="020B0502020104020203" pitchFamily="34" charset="77"/>
              </a:rPr>
              <a:t>argmin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{</a:t>
            </a:r>
            <a:r>
              <a:rPr lang="en-US" sz="2400" dirty="0" err="1">
                <a:latin typeface="Gill Sans MT" panose="020B0502020104020203" pitchFamily="34" charset="77"/>
              </a:rPr>
              <a:t>d</a:t>
            </a:r>
            <a:r>
              <a:rPr lang="en-US" sz="2400" baseline="-25000" dirty="0" err="1">
                <a:latin typeface="Gill Sans MT" panose="020B0502020104020203" pitchFamily="34" charset="77"/>
              </a:rPr>
              <a:t>ij</a:t>
            </a:r>
            <a:r>
              <a:rPr lang="en-US" sz="2400" dirty="0">
                <a:latin typeface="Gill Sans MT" panose="020B0502020104020203" pitchFamily="34" charset="77"/>
              </a:rPr>
              <a:t>}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Compute the new centroids of each cluster</a:t>
            </a:r>
          </a:p>
          <a:p>
            <a:r>
              <a:rPr lang="en-US" sz="2400" dirty="0">
                <a:latin typeface="Gill Sans MT" panose="020B0502020104020203" pitchFamily="34" charset="77"/>
              </a:rPr>
              <a:t>	      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= mean(x</a:t>
            </a:r>
            <a:r>
              <a:rPr lang="en-US" sz="2400" baseline="-25000" dirty="0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)  for </a:t>
            </a:r>
            <a:r>
              <a:rPr lang="en-US" sz="2400" dirty="0" err="1">
                <a:latin typeface="Gill Sans MT" panose="020B0502020104020203" pitchFamily="34" charset="77"/>
              </a:rPr>
              <a:t>y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= j</a:t>
            </a:r>
          </a:p>
          <a:p>
            <a:endParaRPr lang="en-US" sz="2400" dirty="0">
              <a:latin typeface="Gill Sans MT" panose="020B0502020104020203" pitchFamily="34" charset="77"/>
            </a:endParaRPr>
          </a:p>
          <a:p>
            <a:pPr marL="457200" indent="-457200">
              <a:buAutoNum type="arabicPeriod" startAt="7"/>
            </a:pPr>
            <a:r>
              <a:rPr lang="en-US" sz="2400" dirty="0">
                <a:latin typeface="Gill Sans MT" panose="020B0502020104020203" pitchFamily="34" charset="77"/>
              </a:rPr>
              <a:t>if 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      </a:t>
            </a:r>
            <a:r>
              <a:rPr lang="en-US" sz="2400" dirty="0" err="1">
                <a:latin typeface="Gill Sans MT" panose="020B0502020104020203" pitchFamily="34" charset="77"/>
              </a:rPr>
              <a:t>c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baseline="-25000" dirty="0">
                <a:latin typeface="Gill Sans MT" panose="020B0502020104020203" pitchFamily="34" charset="77"/>
              </a:rPr>
              <a:t> </a:t>
            </a:r>
            <a:r>
              <a:rPr lang="en-US" sz="2400" dirty="0">
                <a:latin typeface="Gill Sans MT" panose="020B0502020104020203" pitchFamily="34" charset="77"/>
              </a:rPr>
              <a:t>then </a:t>
            </a:r>
            <a:r>
              <a:rPr lang="en-US" sz="2400" dirty="0" err="1">
                <a:latin typeface="Gill Sans MT" panose="020B0502020104020203" pitchFamily="34" charset="77"/>
              </a:rPr>
              <a:t>c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= 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  go to step 3</a:t>
            </a:r>
          </a:p>
          <a:p>
            <a:pPr marL="457200" indent="-457200">
              <a:buAutoNum type="arabicPeriod" startAt="7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457200" indent="-457200">
              <a:buAutoNum type="arabicPeriod" startAt="7"/>
            </a:pPr>
            <a:r>
              <a:rPr lang="en-US" sz="2400" dirty="0">
                <a:latin typeface="Gill Sans MT" panose="020B0502020104020203" pitchFamily="34" charset="77"/>
              </a:rPr>
              <a:t>Output: {c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1</a:t>
            </a:r>
            <a:r>
              <a:rPr lang="en-US" sz="2400" dirty="0">
                <a:latin typeface="Gill Sans MT" panose="020B0502020104020203" pitchFamily="34" charset="77"/>
              </a:rPr>
              <a:t>, 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2</a:t>
            </a:r>
            <a:r>
              <a:rPr lang="en-US" sz="2400" dirty="0">
                <a:latin typeface="Gill Sans MT" panose="020B0502020104020203" pitchFamily="34" charset="77"/>
              </a:rPr>
              <a:t>, ... 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K</a:t>
            </a:r>
            <a:r>
              <a:rPr lang="en-US" sz="2400" dirty="0">
                <a:latin typeface="Gill Sans MT" panose="020B0502020104020203" pitchFamily="34" charset="77"/>
              </a:rPr>
              <a:t>} and </a:t>
            </a:r>
            <a:r>
              <a:rPr lang="en-US" sz="2400" dirty="0" err="1">
                <a:latin typeface="Gill Sans MT" panose="020B0502020104020203" pitchFamily="34" charset="77"/>
              </a:rPr>
              <a:t>y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for </a:t>
            </a:r>
            <a:r>
              <a:rPr lang="en-US" sz="24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=1,...,N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909" y="5619748"/>
            <a:ext cx="257184" cy="34291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2F2BF3-7633-D246-B2E7-C78328A54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9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69B705-88C0-C14F-BBEC-4C6CD83C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5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17468" y="1028700"/>
            <a:ext cx="3998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Choose random K=2 points (centroids)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E3C041-A957-824D-B974-E347D82F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46121" y="1028700"/>
            <a:ext cx="3013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Assign to the nearest centroid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7B6EF4-3B37-1A46-92D8-40213662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16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46121" y="1028700"/>
            <a:ext cx="3013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Assign to the nearest centroid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2667001" y="800100"/>
            <a:ext cx="5041105" cy="265270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4E0953-713F-0347-A52C-7EFCA13E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52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46121" y="1028700"/>
            <a:ext cx="3013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Assign to the nearest centroid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2667001" y="800100"/>
            <a:ext cx="5041105" cy="265270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7E8198-8FE6-0746-9C02-A0E31C28B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62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2C2327-DC67-1845-A6D7-D7AF0B0C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47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46122" y="1028700"/>
            <a:ext cx="2461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Compute new centroids</a:t>
            </a:r>
          </a:p>
        </p:txBody>
      </p:sp>
      <p:sp>
        <p:nvSpPr>
          <p:cNvPr id="29" name="Oval 28"/>
          <p:cNvSpPr/>
          <p:nvPr/>
        </p:nvSpPr>
        <p:spPr>
          <a:xfrm>
            <a:off x="7250918" y="3681437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586284" y="1847860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894260-B612-E44B-802B-28F28F8F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45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250918" y="3681437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586284" y="1847860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6121" y="1028700"/>
            <a:ext cx="3013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Assign to the nearest centroid</a:t>
            </a: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3921914" y="1119195"/>
            <a:ext cx="4223151" cy="386715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F13206-7E8F-3F44-8695-0233D709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86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6121" y="1028700"/>
            <a:ext cx="3013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Assign to the nearest centroid</a:t>
            </a: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3921914" y="1119195"/>
            <a:ext cx="4223151" cy="386715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25673E-E427-9C48-9AAC-4340F596C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04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6122" y="1028700"/>
            <a:ext cx="2547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Repeat until convergence</a:t>
            </a:r>
          </a:p>
        </p:txBody>
      </p:sp>
      <p:sp>
        <p:nvSpPr>
          <p:cNvPr id="28" name="Oval 27"/>
          <p:cNvSpPr/>
          <p:nvPr/>
        </p:nvSpPr>
        <p:spPr>
          <a:xfrm>
            <a:off x="7465232" y="3910040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800598" y="2076463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5667D-88BB-6C43-9017-099D7D6D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52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9812" y="14269"/>
            <a:ext cx="7484870" cy="6771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</a:rPr>
              <a:t>Algorithm: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Input Data X = {x</a:t>
            </a:r>
            <a:r>
              <a:rPr lang="en-US" sz="2400" baseline="-25000" dirty="0">
                <a:latin typeface="Gill Sans MT" panose="020B0502020104020203" pitchFamily="34" charset="77"/>
              </a:rPr>
              <a:t>1</a:t>
            </a:r>
            <a:r>
              <a:rPr lang="en-US" sz="2400" dirty="0">
                <a:latin typeface="Gill Sans MT" panose="020B0502020104020203" pitchFamily="34" charset="77"/>
              </a:rPr>
              <a:t>, x</a:t>
            </a:r>
            <a:r>
              <a:rPr lang="en-US" sz="2400" baseline="-25000" dirty="0">
                <a:latin typeface="Gill Sans MT" panose="020B0502020104020203" pitchFamily="34" charset="77"/>
              </a:rPr>
              <a:t>2</a:t>
            </a:r>
            <a:r>
              <a:rPr lang="en-US" sz="2400" dirty="0">
                <a:latin typeface="Gill Sans MT" panose="020B0502020104020203" pitchFamily="34" charset="77"/>
              </a:rPr>
              <a:t>, ... </a:t>
            </a:r>
            <a:r>
              <a:rPr lang="en-US" sz="2400" dirty="0" err="1">
                <a:latin typeface="Gill Sans MT" panose="020B0502020104020203" pitchFamily="34" charset="77"/>
              </a:rPr>
              <a:t>x</a:t>
            </a:r>
            <a:r>
              <a:rPr lang="en-US" sz="2400" baseline="-25000" dirty="0" err="1">
                <a:latin typeface="Gill Sans MT" panose="020B0502020104020203" pitchFamily="34" charset="77"/>
              </a:rPr>
              <a:t>N</a:t>
            </a:r>
            <a:r>
              <a:rPr lang="en-US" sz="2400" dirty="0">
                <a:latin typeface="Gill Sans MT" panose="020B0502020104020203" pitchFamily="34" charset="77"/>
              </a:rPr>
              <a:t>} and number of clusters K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Centroids {c</a:t>
            </a:r>
            <a:r>
              <a:rPr lang="en-US" sz="2400" baseline="-25000" dirty="0">
                <a:latin typeface="Gill Sans MT" panose="020B0502020104020203" pitchFamily="34" charset="77"/>
              </a:rPr>
              <a:t>1</a:t>
            </a:r>
            <a:r>
              <a:rPr lang="en-US" sz="2400" dirty="0">
                <a:latin typeface="Gill Sans MT" panose="020B0502020104020203" pitchFamily="34" charset="77"/>
              </a:rPr>
              <a:t>, c</a:t>
            </a:r>
            <a:r>
              <a:rPr lang="en-US" sz="2400" baseline="-25000" dirty="0">
                <a:latin typeface="Gill Sans MT" panose="020B0502020104020203" pitchFamily="34" charset="77"/>
              </a:rPr>
              <a:t>2</a:t>
            </a:r>
            <a:r>
              <a:rPr lang="en-US" sz="2400" dirty="0">
                <a:latin typeface="Gill Sans MT" panose="020B0502020104020203" pitchFamily="34" charset="77"/>
              </a:rPr>
              <a:t>, ... </a:t>
            </a:r>
            <a:r>
              <a:rPr lang="en-US" sz="2400" dirty="0" err="1">
                <a:latin typeface="Gill Sans MT" panose="020B0502020104020203" pitchFamily="34" charset="77"/>
              </a:rPr>
              <a:t>c</a:t>
            </a:r>
            <a:r>
              <a:rPr lang="en-US" sz="2400" baseline="-25000" dirty="0" err="1">
                <a:latin typeface="Gill Sans MT" panose="020B0502020104020203" pitchFamily="34" charset="77"/>
              </a:rPr>
              <a:t>K</a:t>
            </a:r>
            <a:r>
              <a:rPr lang="en-US" sz="2400" dirty="0">
                <a:latin typeface="Gill Sans MT" panose="020B0502020104020203" pitchFamily="34" charset="77"/>
              </a:rPr>
              <a:t>}  = random K points of X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For each data point x</a:t>
            </a:r>
            <a:r>
              <a:rPr lang="en-US" sz="2400" baseline="-25000" dirty="0">
                <a:latin typeface="Gill Sans MT" panose="020B0502020104020203" pitchFamily="34" charset="77"/>
              </a:rPr>
              <a:t>i 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       Compute distance </a:t>
            </a:r>
            <a:r>
              <a:rPr lang="en-US" sz="2400" dirty="0" err="1">
                <a:latin typeface="Gill Sans MT" panose="020B0502020104020203" pitchFamily="34" charset="77"/>
              </a:rPr>
              <a:t>d</a:t>
            </a:r>
            <a:r>
              <a:rPr lang="en-US" sz="2400" baseline="-25000" dirty="0" err="1">
                <a:latin typeface="Gill Sans MT" panose="020B0502020104020203" pitchFamily="34" charset="77"/>
              </a:rPr>
              <a:t>ij</a:t>
            </a:r>
            <a:r>
              <a:rPr lang="en-US" sz="2400" dirty="0">
                <a:latin typeface="Gill Sans MT" panose="020B0502020104020203" pitchFamily="34" charset="77"/>
              </a:rPr>
              <a:t> = d(</a:t>
            </a:r>
            <a:r>
              <a:rPr lang="en-US" sz="2400" dirty="0" err="1">
                <a:latin typeface="Gill Sans MT" panose="020B0502020104020203" pitchFamily="34" charset="77"/>
              </a:rPr>
              <a:t>x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 err="1">
                <a:latin typeface="Gill Sans MT" panose="020B0502020104020203" pitchFamily="34" charset="77"/>
              </a:rPr>
              <a:t>,c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)  </a:t>
            </a:r>
            <a:r>
              <a:rPr lang="en-US" sz="24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=1,...,N, j=1,...K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       Assign x</a:t>
            </a:r>
            <a:r>
              <a:rPr lang="en-US" sz="2400" baseline="-25000" dirty="0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to the nearest centroid: </a:t>
            </a:r>
            <a:r>
              <a:rPr lang="en-US" sz="2400" dirty="0" err="1">
                <a:latin typeface="Gill Sans MT" panose="020B0502020104020203" pitchFamily="34" charset="77"/>
              </a:rPr>
              <a:t>y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= </a:t>
            </a:r>
            <a:r>
              <a:rPr lang="en-US" sz="2400" dirty="0" err="1">
                <a:latin typeface="Gill Sans MT" panose="020B0502020104020203" pitchFamily="34" charset="77"/>
              </a:rPr>
              <a:t>argmin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{</a:t>
            </a:r>
            <a:r>
              <a:rPr lang="en-US" sz="2400" dirty="0" err="1">
                <a:latin typeface="Gill Sans MT" panose="020B0502020104020203" pitchFamily="34" charset="77"/>
              </a:rPr>
              <a:t>d</a:t>
            </a:r>
            <a:r>
              <a:rPr lang="en-US" sz="2400" baseline="-25000" dirty="0" err="1">
                <a:latin typeface="Gill Sans MT" panose="020B0502020104020203" pitchFamily="34" charset="77"/>
              </a:rPr>
              <a:t>ij</a:t>
            </a:r>
            <a:r>
              <a:rPr lang="en-US" sz="2400" dirty="0">
                <a:latin typeface="Gill Sans MT" panose="020B0502020104020203" pitchFamily="34" charset="77"/>
              </a:rPr>
              <a:t>}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Compute the new centroids of each cluster</a:t>
            </a:r>
          </a:p>
          <a:p>
            <a:r>
              <a:rPr lang="en-US" sz="2400" dirty="0">
                <a:latin typeface="Gill Sans MT" panose="020B0502020104020203" pitchFamily="34" charset="77"/>
              </a:rPr>
              <a:t>	      c</a:t>
            </a:r>
            <a:r>
              <a:rPr lang="en-US" sz="16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= mean(x</a:t>
            </a:r>
            <a:r>
              <a:rPr lang="en-US" sz="2400" baseline="-25000" dirty="0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)  for </a:t>
            </a:r>
            <a:r>
              <a:rPr lang="en-US" sz="2400" dirty="0" err="1">
                <a:latin typeface="Gill Sans MT" panose="020B0502020104020203" pitchFamily="34" charset="77"/>
              </a:rPr>
              <a:t>y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= j</a:t>
            </a:r>
          </a:p>
          <a:p>
            <a:endParaRPr lang="en-US" sz="2400" dirty="0">
              <a:latin typeface="Gill Sans MT" panose="020B0502020104020203" pitchFamily="34" charset="77"/>
            </a:endParaRPr>
          </a:p>
          <a:p>
            <a:pPr marL="457200" indent="-457200">
              <a:buAutoNum type="arabicPeriod" startAt="7"/>
            </a:pPr>
            <a:r>
              <a:rPr lang="en-US" sz="2400" dirty="0">
                <a:latin typeface="Gill Sans MT" panose="020B0502020104020203" pitchFamily="34" charset="77"/>
              </a:rPr>
              <a:t>if c</a:t>
            </a:r>
            <a:r>
              <a:rPr lang="en-US" sz="16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      </a:t>
            </a:r>
            <a:r>
              <a:rPr lang="en-US" sz="2400" dirty="0" err="1">
                <a:latin typeface="Gill Sans MT" panose="020B0502020104020203" pitchFamily="34" charset="77"/>
              </a:rPr>
              <a:t>c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baseline="-25000" dirty="0">
                <a:latin typeface="Gill Sans MT" panose="020B0502020104020203" pitchFamily="34" charset="77"/>
              </a:rPr>
              <a:t> </a:t>
            </a:r>
            <a:r>
              <a:rPr lang="en-US" sz="2400" dirty="0">
                <a:latin typeface="Gill Sans MT" panose="020B0502020104020203" pitchFamily="34" charset="77"/>
              </a:rPr>
              <a:t>then </a:t>
            </a:r>
            <a:r>
              <a:rPr lang="en-US" sz="2400" dirty="0" err="1">
                <a:latin typeface="Gill Sans MT" panose="020B0502020104020203" pitchFamily="34" charset="77"/>
              </a:rPr>
              <a:t>c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= c</a:t>
            </a:r>
            <a:r>
              <a:rPr lang="en-US" sz="16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  go to step 3</a:t>
            </a:r>
          </a:p>
          <a:p>
            <a:pPr marL="457200" indent="-457200">
              <a:buAutoNum type="arabicPeriod" startAt="7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457200" indent="-457200">
              <a:buAutoNum type="arabicPeriod" startAt="7"/>
            </a:pPr>
            <a:r>
              <a:rPr lang="en-US" sz="2400" dirty="0">
                <a:latin typeface="Gill Sans MT" panose="020B0502020104020203" pitchFamily="34" charset="77"/>
              </a:rPr>
              <a:t>Output: {c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1</a:t>
            </a:r>
            <a:r>
              <a:rPr lang="en-US" sz="2400" dirty="0">
                <a:latin typeface="Gill Sans MT" panose="020B0502020104020203" pitchFamily="34" charset="77"/>
              </a:rPr>
              <a:t>, 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2</a:t>
            </a:r>
            <a:r>
              <a:rPr lang="en-US" sz="2400" dirty="0">
                <a:latin typeface="Gill Sans MT" panose="020B0502020104020203" pitchFamily="34" charset="77"/>
              </a:rPr>
              <a:t>, ... 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K</a:t>
            </a:r>
            <a:r>
              <a:rPr lang="en-US" sz="2400" dirty="0">
                <a:latin typeface="Gill Sans MT" panose="020B0502020104020203" pitchFamily="34" charset="77"/>
              </a:rPr>
              <a:t>} and </a:t>
            </a:r>
            <a:r>
              <a:rPr lang="en-US" sz="2400" dirty="0" err="1">
                <a:latin typeface="Gill Sans MT" panose="020B0502020104020203" pitchFamily="34" charset="77"/>
              </a:rPr>
              <a:t>y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for </a:t>
            </a:r>
            <a:r>
              <a:rPr lang="en-US" sz="24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=1,...,N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44" y="5619748"/>
            <a:ext cx="257184" cy="34291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449C4A-2E27-E542-A6BE-39377636A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32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DEC7-F0B9-9845-9D94-99D414E6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/>
          <a:lstStyle/>
          <a:p>
            <a:r>
              <a:rPr lang="en-US" dirty="0"/>
              <a:t>Example: Two Clouds of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B7EB1-8464-A14B-A3ED-C732E1B1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31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AE23772-2C42-9B41-B235-997A2101D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095" y="0"/>
            <a:ext cx="7595810" cy="685800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D5C7BEC-DF29-4549-BF67-3DD89E4D636A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DF54328-FFC2-D940-A2A6-AFF5E4EEB82D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D451FE4-D7D0-B540-97AA-B3AE1D6FBD4F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02FD88D-AE71-8C4C-849C-68913C26B929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3D6EB0-264B-9A46-A688-75AA237FF1A4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419312A-2D2E-1540-94BA-344E59E4F4BD}"/>
              </a:ext>
            </a:extLst>
          </p:cNvPr>
          <p:cNvSpPr txBox="1"/>
          <p:nvPr/>
        </p:nvSpPr>
        <p:spPr>
          <a:xfrm>
            <a:off x="1683004" y="550559"/>
            <a:ext cx="1729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Input Data</a:t>
            </a:r>
          </a:p>
        </p:txBody>
      </p:sp>
    </p:spTree>
    <p:extLst>
      <p:ext uri="{BB962C8B-B14F-4D97-AF65-F5344CB8AC3E}">
        <p14:creationId xmlns:p14="http://schemas.microsoft.com/office/powerpoint/2010/main" val="2538292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AE23772-2C42-9B41-B235-997A2101D623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2298095" y="0"/>
            <a:ext cx="759581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7641343-4E15-1B41-92EC-B0783BFC737E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BC8F045-0894-B545-A572-5696BE43E90B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8F265A5-4287-F145-9AB3-5DCED9D452FD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42430C9-C2B8-4243-9663-748A68682456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6F22146-5D4C-3546-B90A-2BF2A330C0C2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523A47BF-D3C5-E84F-B18E-EF4DAA0B0D4E}"/>
              </a:ext>
            </a:extLst>
          </p:cNvPr>
          <p:cNvSpPr/>
          <p:nvPr/>
        </p:nvSpPr>
        <p:spPr>
          <a:xfrm>
            <a:off x="7620001" y="1729840"/>
            <a:ext cx="1184783" cy="3858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08C308-0F21-294A-9BBE-FDACD8DE2B55}"/>
              </a:ext>
            </a:extLst>
          </p:cNvPr>
          <p:cNvSpPr/>
          <p:nvPr/>
        </p:nvSpPr>
        <p:spPr>
          <a:xfrm>
            <a:off x="5011784" y="2808515"/>
            <a:ext cx="80417" cy="71431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63C4D2-116B-0548-8227-15945BE6C466}"/>
              </a:ext>
            </a:extLst>
          </p:cNvPr>
          <p:cNvSpPr/>
          <p:nvPr/>
        </p:nvSpPr>
        <p:spPr>
          <a:xfrm>
            <a:off x="5384764" y="2538661"/>
            <a:ext cx="80417" cy="71431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D5BCE1-67C0-6245-BDF9-C56E76190E85}"/>
              </a:ext>
            </a:extLst>
          </p:cNvPr>
          <p:cNvSpPr txBox="1"/>
          <p:nvPr/>
        </p:nvSpPr>
        <p:spPr>
          <a:xfrm>
            <a:off x="1683004" y="550559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Iteration 0:</a:t>
            </a:r>
          </a:p>
        </p:txBody>
      </p:sp>
    </p:spTree>
    <p:extLst>
      <p:ext uri="{BB962C8B-B14F-4D97-AF65-F5344CB8AC3E}">
        <p14:creationId xmlns:p14="http://schemas.microsoft.com/office/powerpoint/2010/main" val="230553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BF7C0F-3743-464C-95D7-B6106C331A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/>
        </p:blipFill>
        <p:spPr>
          <a:xfrm>
            <a:off x="2022953" y="-146006"/>
            <a:ext cx="8109471" cy="73733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783CC5-D016-6D45-959D-3FCEB1A0AF96}"/>
              </a:ext>
            </a:extLst>
          </p:cNvPr>
          <p:cNvCxnSpPr/>
          <p:nvPr/>
        </p:nvCxnSpPr>
        <p:spPr>
          <a:xfrm>
            <a:off x="4259924" y="1335389"/>
            <a:ext cx="3108960" cy="43368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256D292-66AA-FB4B-8196-89D03BFD4092}"/>
              </a:ext>
            </a:extLst>
          </p:cNvPr>
          <p:cNvSpPr/>
          <p:nvPr/>
        </p:nvSpPr>
        <p:spPr>
          <a:xfrm>
            <a:off x="5011784" y="2808515"/>
            <a:ext cx="80417" cy="71431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44A6E0-271A-FD40-B463-E1627BFE33E9}"/>
              </a:ext>
            </a:extLst>
          </p:cNvPr>
          <p:cNvSpPr/>
          <p:nvPr/>
        </p:nvSpPr>
        <p:spPr>
          <a:xfrm>
            <a:off x="5384764" y="2538661"/>
            <a:ext cx="80417" cy="71431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BA082E-FCC5-2642-8D3A-4BCEDE05E378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C17526-2551-A14C-8D54-57A11923E174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D86972-2EDD-EF44-87C0-07A40E5B7312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549313C-1803-9944-9D58-D76868D3C6EF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87ECA5-B730-624B-8AA6-D219309B4DC7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E39D64A-1C7F-384D-A91C-C934F339A9A0}"/>
              </a:ext>
            </a:extLst>
          </p:cNvPr>
          <p:cNvGrpSpPr/>
          <p:nvPr/>
        </p:nvGrpSpPr>
        <p:grpSpPr>
          <a:xfrm>
            <a:off x="5181601" y="2408832"/>
            <a:ext cx="5094193" cy="646331"/>
            <a:chOff x="3657600" y="2408831"/>
            <a:chExt cx="5094193" cy="64633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AB6768-49F3-2A46-A7A1-A91DF0EB2FCC}"/>
                </a:ext>
              </a:extLst>
            </p:cNvPr>
            <p:cNvSpPr txBox="1"/>
            <p:nvPr/>
          </p:nvSpPr>
          <p:spPr>
            <a:xfrm>
              <a:off x="7792876" y="2408831"/>
              <a:ext cx="9589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Random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points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700EB11-BCD2-4543-A46A-F727B4E116A6}"/>
                </a:ext>
              </a:extLst>
            </p:cNvPr>
            <p:cNvCxnSpPr>
              <a:cxnSpLocks/>
            </p:cNvCxnSpPr>
            <p:nvPr/>
          </p:nvCxnSpPr>
          <p:spPr>
            <a:xfrm>
              <a:off x="4060209" y="2610091"/>
              <a:ext cx="3543508" cy="75439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EF13542-128B-6548-95AC-905F810C1A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7600" y="2844229"/>
              <a:ext cx="3946117" cy="35717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741DBAB-4592-5747-9B49-70CD615DE4F3}"/>
              </a:ext>
            </a:extLst>
          </p:cNvPr>
          <p:cNvGrpSpPr/>
          <p:nvPr/>
        </p:nvGrpSpPr>
        <p:grpSpPr>
          <a:xfrm>
            <a:off x="7036632" y="4831042"/>
            <a:ext cx="3514310" cy="646331"/>
            <a:chOff x="3657600" y="2497543"/>
            <a:chExt cx="3514310" cy="64633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2E17AC-8C56-8F43-89E7-AC54EB4A2FFA}"/>
                </a:ext>
              </a:extLst>
            </p:cNvPr>
            <p:cNvSpPr txBox="1"/>
            <p:nvPr/>
          </p:nvSpPr>
          <p:spPr>
            <a:xfrm>
              <a:off x="5998191" y="2497543"/>
              <a:ext cx="11737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Separation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line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C6569D5-4487-6845-A0FE-0ED3ECC67D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7600" y="2808514"/>
              <a:ext cx="2306472" cy="71431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6A328DF-88ED-E64D-9CC9-BDB6BF70F79A}"/>
              </a:ext>
            </a:extLst>
          </p:cNvPr>
          <p:cNvSpPr txBox="1"/>
          <p:nvPr/>
        </p:nvSpPr>
        <p:spPr>
          <a:xfrm>
            <a:off x="1683004" y="550559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Iteration 1:</a:t>
            </a:r>
          </a:p>
        </p:txBody>
      </p:sp>
    </p:spTree>
    <p:extLst>
      <p:ext uri="{BB962C8B-B14F-4D97-AF65-F5344CB8AC3E}">
        <p14:creationId xmlns:p14="http://schemas.microsoft.com/office/powerpoint/2010/main" val="121405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BF7C0F-3743-464C-95D7-B6106C331A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/>
        </p:blipFill>
        <p:spPr>
          <a:xfrm>
            <a:off x="2022953" y="-146006"/>
            <a:ext cx="8109471" cy="737334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A6BBC70-C20D-CD43-8B72-75E9B3691C51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FA5C2E-9042-0243-9A0D-E29294103088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089F8DD-32C8-C440-B9D1-781121DEF10C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8AC8B-8395-1D45-BD82-41ECACD286C9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9E79061-0F2C-D245-8C96-A1AE6E3F404F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76B3FAA-B472-0149-A837-57E30175E9D3}"/>
              </a:ext>
            </a:extLst>
          </p:cNvPr>
          <p:cNvSpPr txBox="1"/>
          <p:nvPr/>
        </p:nvSpPr>
        <p:spPr>
          <a:xfrm>
            <a:off x="1683004" y="550559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Iteration 1:</a:t>
            </a:r>
          </a:p>
        </p:txBody>
      </p:sp>
    </p:spTree>
    <p:extLst>
      <p:ext uri="{BB962C8B-B14F-4D97-AF65-F5344CB8AC3E}">
        <p14:creationId xmlns:p14="http://schemas.microsoft.com/office/powerpoint/2010/main" val="2383957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BF7C0F-3743-464C-95D7-B6106C331A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/>
        </p:blipFill>
        <p:spPr>
          <a:xfrm>
            <a:off x="2022953" y="-146006"/>
            <a:ext cx="8109471" cy="737334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5256D292-66AA-FB4B-8196-89D03BFD4092}"/>
              </a:ext>
            </a:extLst>
          </p:cNvPr>
          <p:cNvSpPr/>
          <p:nvPr/>
        </p:nvSpPr>
        <p:spPr>
          <a:xfrm>
            <a:off x="5536746" y="3382879"/>
            <a:ext cx="80417" cy="71431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44A6E0-271A-FD40-B463-E1627BFE33E9}"/>
              </a:ext>
            </a:extLst>
          </p:cNvPr>
          <p:cNvSpPr/>
          <p:nvPr/>
        </p:nvSpPr>
        <p:spPr>
          <a:xfrm>
            <a:off x="6194162" y="3913689"/>
            <a:ext cx="80417" cy="71431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02FE42-E6F4-D645-BA5A-62C2FBA140AF}"/>
              </a:ext>
            </a:extLst>
          </p:cNvPr>
          <p:cNvCxnSpPr>
            <a:cxnSpLocks/>
          </p:cNvCxnSpPr>
          <p:nvPr/>
        </p:nvCxnSpPr>
        <p:spPr>
          <a:xfrm flipH="1">
            <a:off x="4800601" y="2533650"/>
            <a:ext cx="2152651" cy="23431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4E5A0D-6A48-144D-8386-8DC4858843E3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1AFF2F-EFDE-C54D-9BE2-E1AFCF84BCC8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80CF3B-18B7-F24B-A9E2-7DF9C29B2CF5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E23687-97CE-E44A-9F14-7642C359440B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FDAE2B5-FD7B-5443-950C-2B8BE9A724D3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6074318-90D0-3940-9399-67B6EA2D9EA4}"/>
              </a:ext>
            </a:extLst>
          </p:cNvPr>
          <p:cNvGrpSpPr/>
          <p:nvPr/>
        </p:nvGrpSpPr>
        <p:grpSpPr>
          <a:xfrm>
            <a:off x="5686568" y="2570714"/>
            <a:ext cx="4651605" cy="1342974"/>
            <a:chOff x="4162567" y="2570714"/>
            <a:chExt cx="4651605" cy="134297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295768-6F51-9F48-A77B-346FCC4BF6F9}"/>
                </a:ext>
              </a:extLst>
            </p:cNvPr>
            <p:cNvSpPr txBox="1"/>
            <p:nvPr/>
          </p:nvSpPr>
          <p:spPr>
            <a:xfrm>
              <a:off x="7694314" y="2570714"/>
              <a:ext cx="11198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Centroids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B750238-2D40-0241-B3B9-1B89A452D1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2567" y="2685530"/>
              <a:ext cx="3441150" cy="743470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199481F-61BE-594D-B803-64D163763E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7660" y="2844230"/>
              <a:ext cx="2786057" cy="1069458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B8B7CED-2D5F-4A40-A243-BF0C48730845}"/>
              </a:ext>
            </a:extLst>
          </p:cNvPr>
          <p:cNvGrpSpPr/>
          <p:nvPr/>
        </p:nvGrpSpPr>
        <p:grpSpPr>
          <a:xfrm>
            <a:off x="5236192" y="4544704"/>
            <a:ext cx="5314750" cy="932668"/>
            <a:chOff x="1857160" y="2211206"/>
            <a:chExt cx="5314750" cy="93266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289E21-BC1D-334F-8B72-05E0FE132588}"/>
                </a:ext>
              </a:extLst>
            </p:cNvPr>
            <p:cNvSpPr txBox="1"/>
            <p:nvPr/>
          </p:nvSpPr>
          <p:spPr>
            <a:xfrm>
              <a:off x="5998191" y="2497543"/>
              <a:ext cx="11737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Separation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line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71C7789-5F80-4241-85E0-4BEE5439407F}"/>
                </a:ext>
              </a:extLst>
            </p:cNvPr>
            <p:cNvCxnSpPr>
              <a:cxnSpLocks/>
            </p:cNvCxnSpPr>
            <p:nvPr/>
          </p:nvCxnSpPr>
          <p:spPr>
            <a:xfrm>
              <a:off x="1857160" y="2211206"/>
              <a:ext cx="4106912" cy="597309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96CB9E8-48C6-FB4C-B408-A0428C540D10}"/>
              </a:ext>
            </a:extLst>
          </p:cNvPr>
          <p:cNvSpPr txBox="1"/>
          <p:nvPr/>
        </p:nvSpPr>
        <p:spPr>
          <a:xfrm>
            <a:off x="1683004" y="550559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Iteration 2:</a:t>
            </a:r>
          </a:p>
        </p:txBody>
      </p:sp>
    </p:spTree>
    <p:extLst>
      <p:ext uri="{BB962C8B-B14F-4D97-AF65-F5344CB8AC3E}">
        <p14:creationId xmlns:p14="http://schemas.microsoft.com/office/powerpoint/2010/main" val="393272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AE23772-2C42-9B41-B235-997A2101D6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98095" y="1"/>
            <a:ext cx="7595808" cy="685799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8E48551-EE61-0A4C-A5BE-E671FEE348B5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C54F7A-B617-0A4E-98B1-2D45A3DE29FA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8844B6-9560-D549-AA74-6BB4076EAF15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DA4C00-547F-8E48-B6BC-2BAA5CA529B8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C275FF-A5F0-B54C-8559-B91D545E1AD5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2F895-4912-2E49-9090-E21A7A03A964}"/>
              </a:ext>
            </a:extLst>
          </p:cNvPr>
          <p:cNvCxnSpPr>
            <a:cxnSpLocks/>
          </p:cNvCxnSpPr>
          <p:nvPr/>
        </p:nvCxnSpPr>
        <p:spPr>
          <a:xfrm flipH="1">
            <a:off x="4778992" y="2504364"/>
            <a:ext cx="2224584" cy="23883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B0B7464-5381-3E4F-9E0D-9F44592DA5FE}"/>
              </a:ext>
            </a:extLst>
          </p:cNvPr>
          <p:cNvSpPr txBox="1"/>
          <p:nvPr/>
        </p:nvSpPr>
        <p:spPr>
          <a:xfrm>
            <a:off x="1683004" y="550559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Iteration 3:</a:t>
            </a:r>
          </a:p>
        </p:txBody>
      </p:sp>
    </p:spTree>
    <p:extLst>
      <p:ext uri="{BB962C8B-B14F-4D97-AF65-F5344CB8AC3E}">
        <p14:creationId xmlns:p14="http://schemas.microsoft.com/office/powerpoint/2010/main" val="3126233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AE23772-2C42-9B41-B235-997A2101D6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98096" y="1"/>
            <a:ext cx="7595809" cy="685799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52785C0-2FE2-5746-A7FE-7C1F409891A8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7B54475-BFDB-B94E-9153-3D4C571EED35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469D48-7866-6D46-9153-C124CBD01792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B7B3AA-93D8-ED4D-A539-9792633D6327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9BFF4D-A5C3-B54D-98E3-70A323D733E8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B91187-C15D-1041-82E0-03C656B009E7}"/>
              </a:ext>
            </a:extLst>
          </p:cNvPr>
          <p:cNvCxnSpPr>
            <a:cxnSpLocks/>
          </p:cNvCxnSpPr>
          <p:nvPr/>
        </p:nvCxnSpPr>
        <p:spPr>
          <a:xfrm flipH="1">
            <a:off x="4744873" y="2586252"/>
            <a:ext cx="2333767" cy="21904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A79CFC8-E4A2-954B-A0C7-BA8413ADEDB3}"/>
              </a:ext>
            </a:extLst>
          </p:cNvPr>
          <p:cNvSpPr txBox="1"/>
          <p:nvPr/>
        </p:nvSpPr>
        <p:spPr>
          <a:xfrm>
            <a:off x="1683004" y="550559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Iteration 4:</a:t>
            </a:r>
          </a:p>
        </p:txBody>
      </p:sp>
    </p:spTree>
    <p:extLst>
      <p:ext uri="{BB962C8B-B14F-4D97-AF65-F5344CB8AC3E}">
        <p14:creationId xmlns:p14="http://schemas.microsoft.com/office/powerpoint/2010/main" val="783376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AE23772-2C42-9B41-B235-997A2101D6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98096" y="0"/>
            <a:ext cx="7595809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8BA6794-6CEC-E44F-83A1-63C6C1B1ECF4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D6FB236-6E8F-214F-ACC9-48756B6FD033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C6961CC-5151-464D-BDD7-13541144CAE8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A9DF8F-7816-6642-B207-0E18FF111840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75FA32-F51E-1243-BDA7-B86C87449591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FA00B9-7BD3-A044-9B11-B2BF6649C27B}"/>
              </a:ext>
            </a:extLst>
          </p:cNvPr>
          <p:cNvCxnSpPr>
            <a:cxnSpLocks/>
          </p:cNvCxnSpPr>
          <p:nvPr/>
        </p:nvCxnSpPr>
        <p:spPr>
          <a:xfrm flipH="1">
            <a:off x="4772168" y="2586251"/>
            <a:ext cx="2306473" cy="21495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389451-BF23-8746-ABEE-4BE1121DCA0B}"/>
              </a:ext>
            </a:extLst>
          </p:cNvPr>
          <p:cNvSpPr txBox="1"/>
          <p:nvPr/>
        </p:nvSpPr>
        <p:spPr>
          <a:xfrm>
            <a:off x="1683004" y="550559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Iteration 5:</a:t>
            </a:r>
          </a:p>
        </p:txBody>
      </p:sp>
    </p:spTree>
    <p:extLst>
      <p:ext uri="{BB962C8B-B14F-4D97-AF65-F5344CB8AC3E}">
        <p14:creationId xmlns:p14="http://schemas.microsoft.com/office/powerpoint/2010/main" val="2916957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AE23772-2C42-9B41-B235-997A2101D6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98096" y="0"/>
            <a:ext cx="7595809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8BA6794-6CEC-E44F-83A1-63C6C1B1ECF4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D6FB236-6E8F-214F-ACC9-48756B6FD033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C6961CC-5151-464D-BDD7-13541144CAE8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A9DF8F-7816-6642-B207-0E18FF111840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75FA32-F51E-1243-BDA7-B86C87449591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E1F5B3C-B2B5-CA43-8C0A-CB64BC595C9D}"/>
              </a:ext>
            </a:extLst>
          </p:cNvPr>
          <p:cNvSpPr txBox="1"/>
          <p:nvPr/>
        </p:nvSpPr>
        <p:spPr>
          <a:xfrm>
            <a:off x="1683005" y="550559"/>
            <a:ext cx="2410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Found Clusters</a:t>
            </a:r>
          </a:p>
        </p:txBody>
      </p:sp>
    </p:spTree>
    <p:extLst>
      <p:ext uri="{BB962C8B-B14F-4D97-AF65-F5344CB8AC3E}">
        <p14:creationId xmlns:p14="http://schemas.microsoft.com/office/powerpoint/2010/main" val="3880312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AE23772-2C42-9B41-B235-997A2101D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095" y="0"/>
            <a:ext cx="7595810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B2314E3-EC58-DD42-98CF-5630015C9C27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D313A2-5278-F648-97BF-27E4A791CACC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AE3943-DC26-4145-BFDE-1BCC63952135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DC0FC2-D727-7342-B18D-D06B03204FA0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CEB7C6-DD6E-F44A-B0B7-D0B6530C58F3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8B2328E-D5AE-F743-AF84-1609FBF29118}"/>
              </a:ext>
            </a:extLst>
          </p:cNvPr>
          <p:cNvSpPr txBox="1"/>
          <p:nvPr/>
        </p:nvSpPr>
        <p:spPr>
          <a:xfrm>
            <a:off x="1683004" y="550559"/>
            <a:ext cx="1729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Input Data</a:t>
            </a:r>
          </a:p>
        </p:txBody>
      </p:sp>
    </p:spTree>
    <p:extLst>
      <p:ext uri="{BB962C8B-B14F-4D97-AF65-F5344CB8AC3E}">
        <p14:creationId xmlns:p14="http://schemas.microsoft.com/office/powerpoint/2010/main" val="2040880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C832-2736-7841-8F3C-8C0A2CDF5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/>
          <a:lstStyle/>
          <a:p>
            <a:r>
              <a:rPr lang="en-US" dirty="0"/>
              <a:t>Example: Color Segmentation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6DBF9-37EC-5849-B908-27DDF0260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15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32C010-6F94-7547-B4D6-7908C805D0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75460" y="1092082"/>
            <a:ext cx="7029450" cy="46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19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20699E-46EA-BF47-A2D8-9D3B520EB7A0}"/>
              </a:ext>
            </a:extLst>
          </p:cNvPr>
          <p:cNvSpPr txBox="1"/>
          <p:nvPr/>
        </p:nvSpPr>
        <p:spPr>
          <a:xfrm>
            <a:off x="2438819" y="1385395"/>
            <a:ext cx="26741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solidFill>
                  <a:srgbClr val="FF9300"/>
                </a:solidFill>
                <a:latin typeface="Gill Sans MT" panose="020B0502020104020203" pitchFamily="34" charset="77"/>
              </a:rPr>
              <a:t>Segmentación por </a:t>
            </a:r>
            <a:r>
              <a:rPr lang="es-ES_tradnl" sz="16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Clustering</a:t>
            </a:r>
            <a:endParaRPr lang="es-ES_tradnl" sz="16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3FCB5D-AB98-0147-B055-667623F14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818" y="2561240"/>
            <a:ext cx="3648075" cy="2476500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C908484B-FCE1-1843-9622-254F132BA861}"/>
              </a:ext>
            </a:extLst>
          </p:cNvPr>
          <p:cNvGrpSpPr/>
          <p:nvPr/>
        </p:nvGrpSpPr>
        <p:grpSpPr>
          <a:xfrm>
            <a:off x="6320044" y="1521374"/>
            <a:ext cx="2468803" cy="2583263"/>
            <a:chOff x="5741581" y="885495"/>
            <a:chExt cx="3291736" cy="344435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24D57B0-ED5D-BF4D-BE39-5696827DD9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69" y="1052623"/>
              <a:ext cx="0" cy="2929274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BFEB3F1-D85E-5748-AF8E-B4324554BD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4276" y="3657598"/>
              <a:ext cx="2066371" cy="35160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CC2C25D-3BE2-0E45-B11A-A90515B25C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41581" y="3327991"/>
              <a:ext cx="1153329" cy="670584"/>
            </a:xfrm>
            <a:prstGeom prst="straightConnector1">
              <a:avLst/>
            </a:prstGeom>
            <a:ln>
              <a:solidFill>
                <a:srgbClr val="00FF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507CF01-C7B1-2940-8E77-EF0E4117A9B8}"/>
                </a:ext>
              </a:extLst>
            </p:cNvPr>
            <p:cNvSpPr txBox="1"/>
            <p:nvPr/>
          </p:nvSpPr>
          <p:spPr>
            <a:xfrm>
              <a:off x="8622520" y="3878441"/>
              <a:ext cx="410797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Gill Sans MT" panose="020B0502020104020203" pitchFamily="34" charset="77"/>
                </a:rPr>
                <a:t>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E420EBC-91BE-7845-B52B-3273DFB5F917}"/>
                </a:ext>
              </a:extLst>
            </p:cNvPr>
            <p:cNvSpPr txBox="1"/>
            <p:nvPr/>
          </p:nvSpPr>
          <p:spPr>
            <a:xfrm>
              <a:off x="5850964" y="3628085"/>
              <a:ext cx="449269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FF00"/>
                  </a:solidFill>
                  <a:latin typeface="Gill Sans MT" panose="020B0502020104020203" pitchFamily="34" charset="77"/>
                </a:rPr>
                <a:t>G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279AF68-DDF1-A84F-ACBD-AB0AAB712256}"/>
                </a:ext>
              </a:extLst>
            </p:cNvPr>
            <p:cNvSpPr txBox="1"/>
            <p:nvPr/>
          </p:nvSpPr>
          <p:spPr>
            <a:xfrm>
              <a:off x="7026773" y="885495"/>
              <a:ext cx="400109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9BC25A9-1078-3F4D-8B0F-E7DBA5C3671C}"/>
              </a:ext>
            </a:extLst>
          </p:cNvPr>
          <p:cNvGrpSpPr/>
          <p:nvPr/>
        </p:nvGrpSpPr>
        <p:grpSpPr>
          <a:xfrm>
            <a:off x="4993538" y="2102728"/>
            <a:ext cx="2172108" cy="859221"/>
            <a:chOff x="3972910" y="1660634"/>
            <a:chExt cx="2896144" cy="1145628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FE5DEA9-ABD1-624F-B9DC-71CB6B42E7A1}"/>
                </a:ext>
              </a:extLst>
            </p:cNvPr>
            <p:cNvCxnSpPr/>
            <p:nvPr/>
          </p:nvCxnSpPr>
          <p:spPr>
            <a:xfrm flipV="1">
              <a:off x="4572000" y="2017986"/>
              <a:ext cx="0" cy="7041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7DD2320-651C-9E4E-9A42-48D36D18437B}"/>
                </a:ext>
              </a:extLst>
            </p:cNvPr>
            <p:cNvSpPr txBox="1"/>
            <p:nvPr/>
          </p:nvSpPr>
          <p:spPr>
            <a:xfrm>
              <a:off x="3972910" y="1660634"/>
              <a:ext cx="1498701" cy="451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(47,97,168)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7C5272E-9458-3046-B80A-716054531E2A}"/>
                </a:ext>
              </a:extLst>
            </p:cNvPr>
            <p:cNvSpPr/>
            <p:nvPr/>
          </p:nvSpPr>
          <p:spPr>
            <a:xfrm>
              <a:off x="6823335" y="2521877"/>
              <a:ext cx="45719" cy="73968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47324C9-07A0-DC44-A788-0BDCB4509BE5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5471611" y="1886337"/>
              <a:ext cx="1351724" cy="6355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E3D125A-482F-9746-92B0-561F889524A7}"/>
                </a:ext>
              </a:extLst>
            </p:cNvPr>
            <p:cNvSpPr/>
            <p:nvPr/>
          </p:nvSpPr>
          <p:spPr>
            <a:xfrm>
              <a:off x="4530438" y="2722179"/>
              <a:ext cx="89560" cy="8408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947FF91-2280-A143-A6EB-D3EF9461C502}"/>
              </a:ext>
            </a:extLst>
          </p:cNvPr>
          <p:cNvGrpSpPr/>
          <p:nvPr/>
        </p:nvGrpSpPr>
        <p:grpSpPr>
          <a:xfrm>
            <a:off x="3425810" y="2181553"/>
            <a:ext cx="4293308" cy="2573722"/>
            <a:chOff x="3972910" y="-625367"/>
            <a:chExt cx="5724411" cy="3431629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C7FD0BF-3A4D-BE49-9BEE-5C676D1CBEFC}"/>
                </a:ext>
              </a:extLst>
            </p:cNvPr>
            <p:cNvCxnSpPr/>
            <p:nvPr/>
          </p:nvCxnSpPr>
          <p:spPr>
            <a:xfrm flipV="1">
              <a:off x="4572000" y="2017986"/>
              <a:ext cx="0" cy="7041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498F642-ADB8-6D45-A8D3-B99F019D139F}"/>
                </a:ext>
              </a:extLst>
            </p:cNvPr>
            <p:cNvSpPr txBox="1"/>
            <p:nvPr/>
          </p:nvSpPr>
          <p:spPr>
            <a:xfrm>
              <a:off x="3972910" y="1660634"/>
              <a:ext cx="1772280" cy="451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(192,201,216)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0C33AFB-AA98-9C4F-ADA5-750B1A20E600}"/>
                </a:ext>
              </a:extLst>
            </p:cNvPr>
            <p:cNvSpPr/>
            <p:nvPr/>
          </p:nvSpPr>
          <p:spPr>
            <a:xfrm>
              <a:off x="9651602" y="-625367"/>
              <a:ext cx="45719" cy="73968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8FAB9B3-50FB-3643-AA7B-B37B6CC73F96}"/>
                </a:ext>
              </a:extLst>
            </p:cNvPr>
            <p:cNvCxnSpPr>
              <a:cxnSpLocks/>
              <a:stCxn id="49" idx="3"/>
            </p:cNvCxnSpPr>
            <p:nvPr/>
          </p:nvCxnSpPr>
          <p:spPr>
            <a:xfrm flipV="1">
              <a:off x="5745190" y="-545803"/>
              <a:ext cx="3895779" cy="2432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1F4AF5A-0B57-A747-B780-9AAA3614809B}"/>
                </a:ext>
              </a:extLst>
            </p:cNvPr>
            <p:cNvSpPr/>
            <p:nvPr/>
          </p:nvSpPr>
          <p:spPr>
            <a:xfrm>
              <a:off x="4530438" y="2722179"/>
              <a:ext cx="89560" cy="8408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Gill Sans MT" panose="020B0502020104020203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872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B635D461-5F58-2E49-9D2B-58ACE207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961" y="1708445"/>
            <a:ext cx="2533880" cy="23261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3FCB5D-AB98-0147-B055-667623F14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818" y="2561240"/>
            <a:ext cx="3648075" cy="2476500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C908484B-FCE1-1843-9622-254F132BA861}"/>
              </a:ext>
            </a:extLst>
          </p:cNvPr>
          <p:cNvGrpSpPr/>
          <p:nvPr/>
        </p:nvGrpSpPr>
        <p:grpSpPr>
          <a:xfrm>
            <a:off x="6320044" y="1521374"/>
            <a:ext cx="2468803" cy="2583263"/>
            <a:chOff x="5741581" y="885495"/>
            <a:chExt cx="3291736" cy="344435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24D57B0-ED5D-BF4D-BE39-5696827DD9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69" y="1052623"/>
              <a:ext cx="0" cy="2929274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BFEB3F1-D85E-5748-AF8E-B4324554BD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4276" y="3657598"/>
              <a:ext cx="2066371" cy="35160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CC2C25D-3BE2-0E45-B11A-A90515B25C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41581" y="3327991"/>
              <a:ext cx="1153329" cy="670584"/>
            </a:xfrm>
            <a:prstGeom prst="straightConnector1">
              <a:avLst/>
            </a:prstGeom>
            <a:ln>
              <a:solidFill>
                <a:srgbClr val="00FF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507CF01-C7B1-2940-8E77-EF0E4117A9B8}"/>
                </a:ext>
              </a:extLst>
            </p:cNvPr>
            <p:cNvSpPr txBox="1"/>
            <p:nvPr/>
          </p:nvSpPr>
          <p:spPr>
            <a:xfrm>
              <a:off x="8622520" y="3878441"/>
              <a:ext cx="410797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Gill Sans MT" panose="020B0502020104020203" pitchFamily="34" charset="77"/>
                </a:rPr>
                <a:t>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E420EBC-91BE-7845-B52B-3273DFB5F917}"/>
                </a:ext>
              </a:extLst>
            </p:cNvPr>
            <p:cNvSpPr txBox="1"/>
            <p:nvPr/>
          </p:nvSpPr>
          <p:spPr>
            <a:xfrm>
              <a:off x="5850964" y="3628085"/>
              <a:ext cx="449269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FF00"/>
                  </a:solidFill>
                  <a:latin typeface="Gill Sans MT" panose="020B0502020104020203" pitchFamily="34" charset="77"/>
                </a:rPr>
                <a:t>G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279AF68-DDF1-A84F-ACBD-AB0AAB712256}"/>
                </a:ext>
              </a:extLst>
            </p:cNvPr>
            <p:cNvSpPr txBox="1"/>
            <p:nvPr/>
          </p:nvSpPr>
          <p:spPr>
            <a:xfrm>
              <a:off x="7026773" y="885495"/>
              <a:ext cx="400109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B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C0AF5DA-185D-F541-AF1A-AC09105F5E67}"/>
              </a:ext>
            </a:extLst>
          </p:cNvPr>
          <p:cNvSpPr txBox="1"/>
          <p:nvPr/>
        </p:nvSpPr>
        <p:spPr>
          <a:xfrm>
            <a:off x="2438819" y="1385395"/>
            <a:ext cx="26741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solidFill>
                  <a:srgbClr val="FF9300"/>
                </a:solidFill>
                <a:latin typeface="Gill Sans MT" panose="020B0502020104020203" pitchFamily="34" charset="77"/>
              </a:rPr>
              <a:t>Segmentación por </a:t>
            </a:r>
            <a:r>
              <a:rPr lang="es-ES_tradnl" sz="16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Clustering</a:t>
            </a:r>
            <a:endParaRPr lang="es-ES_tradnl" sz="16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295574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B635D461-5F58-2E49-9D2B-58ACE207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961" y="1708445"/>
            <a:ext cx="2533880" cy="23261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3FCB5D-AB98-0147-B055-667623F14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818" y="2561240"/>
            <a:ext cx="3648075" cy="24765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25E3C52-5B80-5C41-B22C-A905C0194D3C}"/>
              </a:ext>
            </a:extLst>
          </p:cNvPr>
          <p:cNvSpPr/>
          <p:nvPr/>
        </p:nvSpPr>
        <p:spPr>
          <a:xfrm rot="19052352">
            <a:off x="6875866" y="1892355"/>
            <a:ext cx="1284352" cy="76023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8C5B812-0D76-004A-8C6D-086BB0952297}"/>
              </a:ext>
            </a:extLst>
          </p:cNvPr>
          <p:cNvSpPr/>
          <p:nvPr/>
        </p:nvSpPr>
        <p:spPr>
          <a:xfrm rot="19052352">
            <a:off x="6853954" y="2443063"/>
            <a:ext cx="1430641" cy="75214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E5899F7-A8A1-D244-941A-B076EEE004B6}"/>
              </a:ext>
            </a:extLst>
          </p:cNvPr>
          <p:cNvSpPr/>
          <p:nvPr/>
        </p:nvSpPr>
        <p:spPr>
          <a:xfrm rot="19052352">
            <a:off x="6860915" y="3197749"/>
            <a:ext cx="780374" cy="7521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E61AB5-8B5D-B246-8E2F-20558669D348}"/>
              </a:ext>
            </a:extLst>
          </p:cNvPr>
          <p:cNvSpPr txBox="1"/>
          <p:nvPr/>
        </p:nvSpPr>
        <p:spPr>
          <a:xfrm>
            <a:off x="2438819" y="1385395"/>
            <a:ext cx="26741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solidFill>
                  <a:srgbClr val="FF9300"/>
                </a:solidFill>
                <a:latin typeface="Gill Sans MT" panose="020B0502020104020203" pitchFamily="34" charset="77"/>
              </a:rPr>
              <a:t>Segmentación por </a:t>
            </a:r>
            <a:r>
              <a:rPr lang="es-ES_tradnl" sz="16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Clustering</a:t>
            </a:r>
            <a:endParaRPr lang="es-ES_tradnl" sz="16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85140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B635D461-5F58-2E49-9D2B-58ACE207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961" y="1708445"/>
            <a:ext cx="2533880" cy="23261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3FCB5D-AB98-0147-B055-667623F14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818" y="2561240"/>
            <a:ext cx="3648075" cy="24765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25E3C52-5B80-5C41-B22C-A905C0194D3C}"/>
              </a:ext>
            </a:extLst>
          </p:cNvPr>
          <p:cNvSpPr/>
          <p:nvPr/>
        </p:nvSpPr>
        <p:spPr>
          <a:xfrm rot="19052352">
            <a:off x="6875866" y="1892355"/>
            <a:ext cx="1284352" cy="76023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8C5B812-0D76-004A-8C6D-086BB0952297}"/>
              </a:ext>
            </a:extLst>
          </p:cNvPr>
          <p:cNvSpPr/>
          <p:nvPr/>
        </p:nvSpPr>
        <p:spPr>
          <a:xfrm rot="19052352">
            <a:off x="6853954" y="2443063"/>
            <a:ext cx="1430641" cy="75214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E5899F7-A8A1-D244-941A-B076EEE004B6}"/>
              </a:ext>
            </a:extLst>
          </p:cNvPr>
          <p:cNvSpPr/>
          <p:nvPr/>
        </p:nvSpPr>
        <p:spPr>
          <a:xfrm rot="19052352">
            <a:off x="6860915" y="3197749"/>
            <a:ext cx="780374" cy="7521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93C2D-83D7-3A43-97F8-79C14C256BA8}"/>
              </a:ext>
            </a:extLst>
          </p:cNvPr>
          <p:cNvSpPr txBox="1"/>
          <p:nvPr/>
        </p:nvSpPr>
        <p:spPr>
          <a:xfrm>
            <a:off x="7327016" y="1511972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cielo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738A6E-5954-8140-B3D3-EA1D5774ACF0}"/>
              </a:ext>
            </a:extLst>
          </p:cNvPr>
          <p:cNvSpPr txBox="1"/>
          <p:nvPr/>
        </p:nvSpPr>
        <p:spPr>
          <a:xfrm>
            <a:off x="7882908" y="2847921"/>
            <a:ext cx="666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nubes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6D73D8-BF54-D144-8592-2142C06234C6}"/>
              </a:ext>
            </a:extLst>
          </p:cNvPr>
          <p:cNvSpPr txBox="1"/>
          <p:nvPr/>
        </p:nvSpPr>
        <p:spPr>
          <a:xfrm>
            <a:off x="7589709" y="3391257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palmera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8603C9-7B66-6C4F-B507-75DA13C580A0}"/>
              </a:ext>
            </a:extLst>
          </p:cNvPr>
          <p:cNvSpPr txBox="1"/>
          <p:nvPr/>
        </p:nvSpPr>
        <p:spPr>
          <a:xfrm>
            <a:off x="2438819" y="1385395"/>
            <a:ext cx="26741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solidFill>
                  <a:srgbClr val="FF9300"/>
                </a:solidFill>
                <a:latin typeface="Gill Sans MT" panose="020B0502020104020203" pitchFamily="34" charset="77"/>
              </a:rPr>
              <a:t>Segmentación por </a:t>
            </a:r>
            <a:r>
              <a:rPr lang="es-ES_tradnl" sz="16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Clustering</a:t>
            </a:r>
            <a:endParaRPr lang="es-ES_tradnl" sz="16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77418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64922BCA-666A-1742-AF00-D1391E90B07D}"/>
              </a:ext>
            </a:extLst>
          </p:cNvPr>
          <p:cNvGrpSpPr/>
          <p:nvPr/>
        </p:nvGrpSpPr>
        <p:grpSpPr>
          <a:xfrm>
            <a:off x="6204016" y="2351340"/>
            <a:ext cx="1363389" cy="605366"/>
            <a:chOff x="3221002" y="4414897"/>
            <a:chExt cx="1817852" cy="363018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7588BCC-5324-BE4F-8018-ABCD39A8233D}"/>
                </a:ext>
              </a:extLst>
            </p:cNvPr>
            <p:cNvCxnSpPr>
              <a:cxnSpLocks/>
            </p:cNvCxnSpPr>
            <p:nvPr/>
          </p:nvCxnSpPr>
          <p:spPr>
            <a:xfrm>
              <a:off x="3221002" y="4414897"/>
              <a:ext cx="0" cy="3630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DFF2B5C-8E08-6A48-834A-C8C133E88685}"/>
                </a:ext>
              </a:extLst>
            </p:cNvPr>
            <p:cNvCxnSpPr>
              <a:cxnSpLocks/>
            </p:cNvCxnSpPr>
            <p:nvPr/>
          </p:nvCxnSpPr>
          <p:spPr>
            <a:xfrm>
              <a:off x="4109126" y="4414897"/>
              <a:ext cx="0" cy="3630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E9EDB02-2C66-BB43-BBB1-6EB777A8C694}"/>
                </a:ext>
              </a:extLst>
            </p:cNvPr>
            <p:cNvCxnSpPr>
              <a:cxnSpLocks/>
            </p:cNvCxnSpPr>
            <p:nvPr/>
          </p:nvCxnSpPr>
          <p:spPr>
            <a:xfrm>
              <a:off x="5038854" y="4414897"/>
              <a:ext cx="0" cy="3630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987AD19-0345-DC4B-A5C8-9117AE79ECCD}"/>
              </a:ext>
            </a:extLst>
          </p:cNvPr>
          <p:cNvSpPr/>
          <p:nvPr/>
        </p:nvSpPr>
        <p:spPr>
          <a:xfrm>
            <a:off x="5908399" y="2956706"/>
            <a:ext cx="1978897" cy="7927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 err="1">
                <a:solidFill>
                  <a:schemeClr val="tx1"/>
                </a:solidFill>
                <a:latin typeface="Gill Sans MT" panose="020B0502020104020203" pitchFamily="34" charset="77"/>
              </a:rPr>
              <a:t>Clustering</a:t>
            </a:r>
            <a:endParaRPr lang="es-ES_tradnl" sz="16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BC270B4-5B11-0846-9EFB-0C14CF6DBCA1}"/>
              </a:ext>
            </a:extLst>
          </p:cNvPr>
          <p:cNvSpPr/>
          <p:nvPr/>
        </p:nvSpPr>
        <p:spPr>
          <a:xfrm>
            <a:off x="5908399" y="1558582"/>
            <a:ext cx="1921425" cy="7927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>
                <a:solidFill>
                  <a:schemeClr val="tx1"/>
                </a:solidFill>
                <a:latin typeface="Gill Sans MT" panose="020B0502020104020203" pitchFamily="34" charset="77"/>
              </a:rPr>
              <a:t>Descomposición de Colores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8184FC-0594-074E-A547-75E3E05ABC3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674220" y="1954961"/>
            <a:ext cx="2341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A8FB765-5D1F-1446-8BA2-BAB209F7B99A}"/>
              </a:ext>
            </a:extLst>
          </p:cNvPr>
          <p:cNvSpPr txBox="1"/>
          <p:nvPr/>
        </p:nvSpPr>
        <p:spPr>
          <a:xfrm>
            <a:off x="5932456" y="2419963"/>
            <a:ext cx="1845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Gill Sans MT" panose="020B0502020104020203" pitchFamily="34" charset="77"/>
              </a:rPr>
              <a:t>R</a:t>
            </a:r>
            <a:r>
              <a:rPr lang="en-US" sz="1600" dirty="0">
                <a:latin typeface="Gill Sans MT" panose="020B0502020104020203" pitchFamily="34" charset="77"/>
              </a:rPr>
              <a:t>             </a:t>
            </a:r>
            <a:r>
              <a:rPr lang="en-US" sz="1600" dirty="0">
                <a:solidFill>
                  <a:srgbClr val="00FF00"/>
                </a:solidFill>
                <a:latin typeface="Gill Sans MT" panose="020B0502020104020203" pitchFamily="34" charset="77"/>
              </a:rPr>
              <a:t>G</a:t>
            </a:r>
            <a:r>
              <a:rPr lang="en-US" sz="1600" dirty="0">
                <a:latin typeface="Gill Sans MT" panose="020B0502020104020203" pitchFamily="34" charset="77"/>
              </a:rPr>
              <a:t>         </a:t>
            </a:r>
            <a:r>
              <a:rPr lang="en-US" sz="1600" dirty="0">
                <a:solidFill>
                  <a:srgbClr val="0070C0"/>
                </a:solidFill>
                <a:latin typeface="Gill Sans MT" panose="020B0502020104020203" pitchFamily="34" charset="77"/>
              </a:rPr>
              <a:t>B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AC36D25-B9B3-A047-A5D6-D15F9304EE39}"/>
              </a:ext>
            </a:extLst>
          </p:cNvPr>
          <p:cNvSpPr/>
          <p:nvPr/>
        </p:nvSpPr>
        <p:spPr>
          <a:xfrm>
            <a:off x="5943886" y="4404655"/>
            <a:ext cx="1978897" cy="7927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 err="1">
                <a:solidFill>
                  <a:schemeClr val="tx1"/>
                </a:solidFill>
                <a:latin typeface="Gill Sans MT" panose="020B0502020104020203" pitchFamily="34" charset="77"/>
              </a:rPr>
              <a:t>Clusters</a:t>
            </a:r>
            <a:endParaRPr lang="es-ES_tradnl" sz="1600" dirty="0">
              <a:solidFill>
                <a:schemeClr val="tx1"/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9AEB37B-2D7A-C24E-95F7-7AF19B384642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5713695" y="4801034"/>
            <a:ext cx="2301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B377DE-D754-5D4F-92F4-53653DEE2D15}"/>
              </a:ext>
            </a:extLst>
          </p:cNvPr>
          <p:cNvCxnSpPr>
            <a:cxnSpLocks/>
          </p:cNvCxnSpPr>
          <p:nvPr/>
        </p:nvCxnSpPr>
        <p:spPr>
          <a:xfrm>
            <a:off x="6873734" y="3715174"/>
            <a:ext cx="0" cy="68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5D4885C-07CA-6244-8633-108BFBE60729}"/>
              </a:ext>
            </a:extLst>
          </p:cNvPr>
          <p:cNvSpPr txBox="1"/>
          <p:nvPr/>
        </p:nvSpPr>
        <p:spPr>
          <a:xfrm>
            <a:off x="4700904" y="1851086"/>
            <a:ext cx="769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INPUT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44EACD-150D-8C44-9E88-435FD874358C}"/>
              </a:ext>
            </a:extLst>
          </p:cNvPr>
          <p:cNvSpPr txBox="1"/>
          <p:nvPr/>
        </p:nvSpPr>
        <p:spPr>
          <a:xfrm>
            <a:off x="4647763" y="4706296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OUTPUT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BC4673-93D1-F44F-92C2-79BAA91E3E42}"/>
              </a:ext>
            </a:extLst>
          </p:cNvPr>
          <p:cNvSpPr txBox="1"/>
          <p:nvPr/>
        </p:nvSpPr>
        <p:spPr>
          <a:xfrm>
            <a:off x="2335946" y="1724131"/>
            <a:ext cx="1454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Algoritmo</a:t>
            </a:r>
          </a:p>
        </p:txBody>
      </p:sp>
    </p:spTree>
    <p:extLst>
      <p:ext uri="{BB962C8B-B14F-4D97-AF65-F5344CB8AC3E}">
        <p14:creationId xmlns:p14="http://schemas.microsoft.com/office/powerpoint/2010/main" val="1937905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00A346-6DDD-0949-B2E9-8AD8126C13CD}"/>
              </a:ext>
            </a:extLst>
          </p:cNvPr>
          <p:cNvSpPr txBox="1"/>
          <p:nvPr/>
        </p:nvSpPr>
        <p:spPr>
          <a:xfrm>
            <a:off x="2723490" y="3072995"/>
            <a:ext cx="42242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Clustering</a:t>
            </a:r>
            <a:r>
              <a:rPr lang="es-ES_tradnl" sz="2800" dirty="0">
                <a:solidFill>
                  <a:srgbClr val="FF9300"/>
                </a:solidFill>
                <a:latin typeface="Gill Sans MT" panose="020B0502020104020203" pitchFamily="34" charset="77"/>
              </a:rPr>
              <a:t> usando k-</a:t>
            </a:r>
            <a:r>
              <a:rPr lang="es-ES_tradnl" sz="28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means</a:t>
            </a:r>
            <a:endParaRPr lang="es-ES_tradnl" sz="28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942727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FFE5DB-BB08-5E47-B1CE-FFBDF1153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355" y="1481140"/>
            <a:ext cx="49530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52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0BF38D-1184-2B4C-80FA-B410BE2156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/>
        </p:blipFill>
        <p:spPr>
          <a:xfrm>
            <a:off x="2926483" y="1469176"/>
            <a:ext cx="5889551" cy="382087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913D6D3-D721-5543-B9D9-0E995C1B1ABF}"/>
              </a:ext>
            </a:extLst>
          </p:cNvPr>
          <p:cNvGrpSpPr/>
          <p:nvPr/>
        </p:nvGrpSpPr>
        <p:grpSpPr>
          <a:xfrm>
            <a:off x="2243092" y="3928148"/>
            <a:ext cx="2482066" cy="1233288"/>
            <a:chOff x="305649" y="4094531"/>
            <a:chExt cx="3309421" cy="164438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70B0D78-9C89-0640-AE45-F9282EF8D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649" y="4094531"/>
              <a:ext cx="2489877" cy="1644384"/>
            </a:xfrm>
            <a:prstGeom prst="rect">
              <a:avLst/>
            </a:prstGeom>
          </p:spPr>
        </p:pic>
        <p:sp>
          <p:nvSpPr>
            <p:cNvPr id="10" name="Left Arrow 9">
              <a:extLst>
                <a:ext uri="{FF2B5EF4-FFF2-40B4-BE49-F238E27FC236}">
                  <a16:creationId xmlns:a16="http://schemas.microsoft.com/office/drawing/2014/main" id="{7A74051A-B28A-B344-A12A-06D875E828C7}"/>
                </a:ext>
              </a:extLst>
            </p:cNvPr>
            <p:cNvSpPr/>
            <p:nvPr/>
          </p:nvSpPr>
          <p:spPr>
            <a:xfrm>
              <a:off x="3211033" y="4727577"/>
              <a:ext cx="404037" cy="378291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F6C15E-535F-294B-9722-A783BE55183B}"/>
              </a:ext>
            </a:extLst>
          </p:cNvPr>
          <p:cNvGrpSpPr/>
          <p:nvPr/>
        </p:nvGrpSpPr>
        <p:grpSpPr>
          <a:xfrm>
            <a:off x="5996080" y="2482363"/>
            <a:ext cx="2339675" cy="1213316"/>
            <a:chOff x="5309630" y="2166816"/>
            <a:chExt cx="3119567" cy="161775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A4C97DC-5F32-B649-9AFE-2E77E8FEA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45977" y="2166816"/>
              <a:ext cx="2483220" cy="1617755"/>
            </a:xfrm>
            <a:prstGeom prst="rect">
              <a:avLst/>
            </a:prstGeom>
          </p:spPr>
        </p:pic>
        <p:sp>
          <p:nvSpPr>
            <p:cNvPr id="11" name="Left Arrow 10">
              <a:extLst>
                <a:ext uri="{FF2B5EF4-FFF2-40B4-BE49-F238E27FC236}">
                  <a16:creationId xmlns:a16="http://schemas.microsoft.com/office/drawing/2014/main" id="{83DCA690-11D7-DC49-B946-BDF1FC8F6D15}"/>
                </a:ext>
              </a:extLst>
            </p:cNvPr>
            <p:cNvSpPr/>
            <p:nvPr/>
          </p:nvSpPr>
          <p:spPr>
            <a:xfrm rot="9969828">
              <a:off x="5309630" y="3018518"/>
              <a:ext cx="404037" cy="378291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4AFEE08-55DA-8547-B4E5-23B53AF16709}"/>
              </a:ext>
            </a:extLst>
          </p:cNvPr>
          <p:cNvGrpSpPr/>
          <p:nvPr/>
        </p:nvGrpSpPr>
        <p:grpSpPr>
          <a:xfrm>
            <a:off x="2781266" y="1254069"/>
            <a:ext cx="2349032" cy="1228295"/>
            <a:chOff x="1023214" y="529089"/>
            <a:chExt cx="3132043" cy="16377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007DD6A-EF25-D940-819A-14A457E14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3214" y="529089"/>
              <a:ext cx="2496535" cy="1637727"/>
            </a:xfrm>
            <a:prstGeom prst="rect">
              <a:avLst/>
            </a:prstGeom>
          </p:spPr>
        </p:pic>
        <p:sp>
          <p:nvSpPr>
            <p:cNvPr id="12" name="Left Arrow 11">
              <a:extLst>
                <a:ext uri="{FF2B5EF4-FFF2-40B4-BE49-F238E27FC236}">
                  <a16:creationId xmlns:a16="http://schemas.microsoft.com/office/drawing/2014/main" id="{25DA2312-C01E-D444-AB2D-BB271050524A}"/>
                </a:ext>
              </a:extLst>
            </p:cNvPr>
            <p:cNvSpPr/>
            <p:nvPr/>
          </p:nvSpPr>
          <p:spPr>
            <a:xfrm rot="791890">
              <a:off x="3751220" y="1271633"/>
              <a:ext cx="404037" cy="378291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latin typeface="Gill Sans MT" panose="020B0502020104020203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003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1FC394-85EB-C74F-B351-7A7478829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004" y="3429002"/>
            <a:ext cx="3667125" cy="2466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28EE9A-8110-1F44-B83C-A0ADD2AD8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586" y="957263"/>
            <a:ext cx="3648075" cy="2476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B0A140-A1AF-E24D-A4E2-DAB2EB8312A5}"/>
              </a:ext>
            </a:extLst>
          </p:cNvPr>
          <p:cNvSpPr txBox="1"/>
          <p:nvPr/>
        </p:nvSpPr>
        <p:spPr>
          <a:xfrm>
            <a:off x="5937272" y="1056611"/>
            <a:ext cx="769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9EAC2-D099-2148-BC37-508DCC064D87}"/>
              </a:ext>
            </a:extLst>
          </p:cNvPr>
          <p:cNvSpPr txBox="1"/>
          <p:nvPr/>
        </p:nvSpPr>
        <p:spPr>
          <a:xfrm>
            <a:off x="4242107" y="5529153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Gill Sans MT" panose="020B0502020104020203" pitchFamily="34" charset="77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565724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32C010-6F94-7547-B4D6-7908C805D0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75460" y="1092082"/>
            <a:ext cx="7029450" cy="46738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0C9801-8315-714A-A7F2-7C3ED96E49FA}"/>
              </a:ext>
            </a:extLst>
          </p:cNvPr>
          <p:cNvSpPr txBox="1"/>
          <p:nvPr/>
        </p:nvSpPr>
        <p:spPr>
          <a:xfrm>
            <a:off x="1913912" y="1250921"/>
            <a:ext cx="769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288669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6B4FD5-9F76-6F4F-98EC-0D7D6C8564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03070" y="1000642"/>
            <a:ext cx="7211716" cy="48515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6ED807-72E0-A846-8620-D1D3C7186552}"/>
              </a:ext>
            </a:extLst>
          </p:cNvPr>
          <p:cNvSpPr txBox="1"/>
          <p:nvPr/>
        </p:nvSpPr>
        <p:spPr>
          <a:xfrm>
            <a:off x="1913912" y="1250921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497611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64F06-EB1E-8472-A4E8-504547CF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18" y="2766218"/>
            <a:ext cx="10515600" cy="1325563"/>
          </a:xfrm>
        </p:spPr>
        <p:txBody>
          <a:bodyPr/>
          <a:lstStyle/>
          <a:p>
            <a:pPr algn="ctr"/>
            <a:r>
              <a:rPr lang="en-CL" dirty="0"/>
              <a:t>Bag of  Visual Words</a:t>
            </a:r>
          </a:p>
        </p:txBody>
      </p:sp>
    </p:spTree>
    <p:extLst>
      <p:ext uri="{BB962C8B-B14F-4D97-AF65-F5344CB8AC3E}">
        <p14:creationId xmlns:p14="http://schemas.microsoft.com/office/powerpoint/2010/main" val="34391735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F732EE-0FFE-C04A-8BFC-2B188B12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591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B088A7-5C9D-CE47-835F-F980F7C4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41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81525" y="2701409"/>
            <a:ext cx="11544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descriptor</a:t>
            </a:r>
          </a:p>
        </p:txBody>
      </p:sp>
      <p:cxnSp>
        <p:nvCxnSpPr>
          <p:cNvPr id="6" name="Straight Arrow Connector 5"/>
          <p:cNvCxnSpPr>
            <a:endCxn id="3" idx="1"/>
          </p:cNvCxnSpPr>
          <p:nvPr/>
        </p:nvCxnSpPr>
        <p:spPr>
          <a:xfrm>
            <a:off x="3138489" y="2886075"/>
            <a:ext cx="144303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562724" y="3013589"/>
            <a:ext cx="17287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6670626" y="2361906"/>
            <a:ext cx="1635" cy="761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805609" y="2764339"/>
            <a:ext cx="0" cy="254176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7682920" y="2604183"/>
            <a:ext cx="953" cy="409566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6947417" y="2482982"/>
            <a:ext cx="0" cy="538155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7103675" y="2761867"/>
            <a:ext cx="0" cy="254176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7259606" y="2760795"/>
            <a:ext cx="0" cy="254176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7412006" y="2755706"/>
            <a:ext cx="0" cy="254176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7550282" y="2497105"/>
            <a:ext cx="0" cy="519094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7832143" y="2761379"/>
            <a:ext cx="0" cy="254176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7984543" y="2756290"/>
            <a:ext cx="0" cy="254176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8122819" y="2497689"/>
            <a:ext cx="0" cy="519094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5712212" y="2891427"/>
            <a:ext cx="85051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E3D60-6ABF-334E-8B2B-0DD7F9374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569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81525" y="2701409"/>
            <a:ext cx="11544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descriptor</a:t>
            </a:r>
          </a:p>
        </p:txBody>
      </p:sp>
      <p:cxnSp>
        <p:nvCxnSpPr>
          <p:cNvPr id="6" name="Straight Arrow Connector 5"/>
          <p:cNvCxnSpPr>
            <a:endCxn id="3" idx="1"/>
          </p:cNvCxnSpPr>
          <p:nvPr/>
        </p:nvCxnSpPr>
        <p:spPr>
          <a:xfrm>
            <a:off x="3138489" y="2886075"/>
            <a:ext cx="144303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6562724" y="2361906"/>
            <a:ext cx="1728788" cy="761220"/>
            <a:chOff x="5038724" y="2361906"/>
            <a:chExt cx="1728788" cy="761220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5038724" y="3013589"/>
              <a:ext cx="17287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5146625" y="2361906"/>
              <a:ext cx="1635" cy="7612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5281609" y="276433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158919" y="2604183"/>
              <a:ext cx="953" cy="40956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5423417" y="2482981"/>
              <a:ext cx="0" cy="538155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5579675" y="2761867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5735606" y="2760795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5888006" y="2755706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6026282" y="2497105"/>
              <a:ext cx="0" cy="519094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6308143" y="276137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6460543" y="2756290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6598819" y="2497689"/>
              <a:ext cx="0" cy="519094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Arrow Connector 26"/>
          <p:cNvCxnSpPr/>
          <p:nvPr/>
        </p:nvCxnSpPr>
        <p:spPr>
          <a:xfrm flipV="1">
            <a:off x="5712212" y="2891427"/>
            <a:ext cx="85051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8285215" y="1729048"/>
            <a:ext cx="821374" cy="5140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619994" y="1280622"/>
          <a:ext cx="2973190" cy="21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7DAF6-1A99-744D-915F-BDD4E986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950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19400" y="27813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71800" y="2933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24200" y="3086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07127" y="28629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59527" y="30153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11927" y="31677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64327" y="33201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01045" y="24710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053445" y="26234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5845" y="27758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58245" y="29282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76497" y="31895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28897" y="33419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781297" y="34943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33697" y="36467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54727" y="26942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07127" y="28466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94854" y="292825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688772" y="25363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41172" y="26887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86097" y="350519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96342" y="3537857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84071" y="2476498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789714" y="3086101"/>
            <a:ext cx="2065559" cy="56061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7619994" y="1280622"/>
          <a:ext cx="2973190" cy="46939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64975" y="2623455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description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29313D-7D2B-244D-9BEE-AB634807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471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19400" y="27813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71800" y="2933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24200" y="3086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07127" y="28629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59527" y="30153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11927" y="31677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64327" y="33201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01045" y="24710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053445" y="26234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5845" y="27758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58245" y="29282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76497" y="31895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28897" y="33419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781297" y="34943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33697" y="36467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54727" y="26942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07127" y="28466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94854" y="292825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688772" y="25363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41172" y="26887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86097" y="350519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96342" y="3537857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84071" y="2476498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789714" y="3086101"/>
            <a:ext cx="2065559" cy="56061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7619994" y="1280622"/>
          <a:ext cx="2973190" cy="46939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64975" y="2623455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description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5173730" y="4396099"/>
            <a:ext cx="648762" cy="566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3595688" y="6366389"/>
            <a:ext cx="1728788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3677333" y="4963078"/>
            <a:ext cx="0" cy="151284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619994" y="933601"/>
            <a:ext cx="297319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898775" y="733695"/>
            <a:ext cx="364202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imes" charset="0"/>
                <a:cs typeface="Times" charset="0"/>
              </a:rPr>
              <a:t>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585" y="5282295"/>
            <a:ext cx="711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95736" y="5061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48136" y="5229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48136" y="5122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0241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54816" y="53818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4816" y="52752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7696" y="51532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90096" y="53209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009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437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9677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9677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33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673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673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3101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83416" y="56257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3416" y="55190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04296" y="52904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5669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56696" y="53514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10976" y="5442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3376" y="5610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63376" y="5503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6FF270-31B9-E941-82CE-85911BC2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473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19400" y="27813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71800" y="2933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24200" y="3086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07127" y="28629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59527" y="30153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11927" y="31677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64327" y="33201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01045" y="24710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053445" y="26234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5845" y="27758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58245" y="29282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76497" y="31895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28897" y="33419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781297" y="34943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33697" y="36467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54727" y="26942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07127" y="28466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94854" y="292825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688772" y="25363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41172" y="26887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86097" y="350519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96342" y="3537857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84071" y="2476498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3595688" y="6366389"/>
            <a:ext cx="1728788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3677333" y="4963078"/>
            <a:ext cx="0" cy="151284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585" y="5282295"/>
            <a:ext cx="711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95736" y="5061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48136" y="5229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48136" y="5122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0241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54816" y="53818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4816" y="52752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7696" y="51532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90096" y="53209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009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437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9677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9677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33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673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673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3101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83416" y="56257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3416" y="55190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04296" y="52904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5669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56696" y="53514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10976" y="5442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3376" y="5610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63376" y="5503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2A8A3D-7C6A-3647-B7BD-CB1F217BA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095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19400" y="27813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71800" y="2933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24200" y="3086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07127" y="28629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59527" y="30153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11927" y="31677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64327" y="33201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01045" y="24710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053445" y="26234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5845" y="27758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58245" y="29282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76497" y="31895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28897" y="33419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781297" y="34943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33697" y="36467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54727" y="26942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07127" y="28466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94854" y="292825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688772" y="25363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41172" y="26887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86097" y="350519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96342" y="3537857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84071" y="2476498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3595688" y="6366389"/>
            <a:ext cx="1728788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3677333" y="4963078"/>
            <a:ext cx="0" cy="151284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585" y="5282295"/>
            <a:ext cx="711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95736" y="5061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48136" y="5229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48136" y="5122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0241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54816" y="53818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4816" y="52752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7696" y="51532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90096" y="53209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009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437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9677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9677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33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673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673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3101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83416" y="56257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3416" y="55190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04296" y="52904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5669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56696" y="53514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10976" y="5442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3376" y="5610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63376" y="5503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31" y="307658"/>
            <a:ext cx="1635124" cy="2034822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4754880" y="7086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907280" y="8610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059680" y="10134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212080" y="11658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695007" y="9427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847407" y="10951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4999807" y="12475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152207" y="13999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988925" y="5508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141325" y="7032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293725" y="8556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446125" y="10080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4564377" y="12692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4716777" y="14216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869177" y="15740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021577" y="17264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4542607" y="77396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695007" y="92636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482734" y="100801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776652" y="61612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4929052" y="76852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5173977" y="158495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5484222" y="1617617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271951" y="556258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3" name="Group 2"/>
          <p:cNvGrpSpPr/>
          <p:nvPr/>
        </p:nvGrpSpPr>
        <p:grpSpPr>
          <a:xfrm rot="2012316">
            <a:off x="4068718" y="5031374"/>
            <a:ext cx="1089357" cy="1119366"/>
            <a:chOff x="2300878" y="5107575"/>
            <a:chExt cx="1089357" cy="1119366"/>
          </a:xfrm>
        </p:grpSpPr>
        <p:sp>
          <p:nvSpPr>
            <p:cNvPr id="102" name="TextBox 101"/>
            <p:cNvSpPr txBox="1"/>
            <p:nvPr/>
          </p:nvSpPr>
          <p:spPr>
            <a:xfrm>
              <a:off x="2544719" y="51228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2498999" y="51075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651399" y="52752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651400" y="51685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986679" y="52142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986679" y="51075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940960" y="51990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093359" y="53666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093359" y="52599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2620919" y="51990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2773319" y="5366656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2773319" y="5259976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727599" y="53514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879999" y="55190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879998" y="54123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300878" y="51837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2453279" y="53514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453279" y="52447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2407559" y="53361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559959" y="55038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2559959" y="53971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9A177-DA51-0744-8EBE-B1DCF2A5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154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19400" y="27813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71800" y="2933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24200" y="3086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07127" y="28629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59527" y="30153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11927" y="31677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64327" y="33201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01045" y="24710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053445" y="26234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5845" y="27758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58245" y="29282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76497" y="31895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28897" y="33419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781297" y="34943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33697" y="36467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54727" y="26942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07127" y="28466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94854" y="292825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688772" y="25363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41172" y="26887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86097" y="350519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96342" y="3537857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84071" y="2476498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3595688" y="6366389"/>
            <a:ext cx="1728788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3677333" y="4963078"/>
            <a:ext cx="0" cy="151284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585" y="5282295"/>
            <a:ext cx="711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95736" y="5061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48136" y="5229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48136" y="5122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0241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54816" y="53818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4816" y="52752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7696" y="51532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90096" y="53209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009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437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9677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9677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33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673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673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3101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83416" y="56257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3416" y="55190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04296" y="52904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5669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56696" y="53514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10976" y="5442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3376" y="5610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63376" y="5503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31" y="307658"/>
            <a:ext cx="1635124" cy="2034822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4754880" y="7086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907280" y="8610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059680" y="10134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212080" y="11658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695007" y="9427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847407" y="10951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4999807" y="12475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152207" y="13999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988925" y="5508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141325" y="7032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293725" y="8556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446125" y="10080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4564377" y="12692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4716777" y="14216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869177" y="15740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021577" y="17264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4542607" y="77396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695007" y="92636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482734" y="100801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776652" y="61612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4929052" y="76852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5173977" y="158495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5484222" y="1617617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271951" y="556258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3" name="Group 2"/>
          <p:cNvGrpSpPr/>
          <p:nvPr/>
        </p:nvGrpSpPr>
        <p:grpSpPr>
          <a:xfrm rot="2012316">
            <a:off x="4068718" y="5031374"/>
            <a:ext cx="1089357" cy="1119366"/>
            <a:chOff x="2300878" y="5107575"/>
            <a:chExt cx="1089357" cy="1119366"/>
          </a:xfrm>
        </p:grpSpPr>
        <p:sp>
          <p:nvSpPr>
            <p:cNvPr id="102" name="TextBox 101"/>
            <p:cNvSpPr txBox="1"/>
            <p:nvPr/>
          </p:nvSpPr>
          <p:spPr>
            <a:xfrm>
              <a:off x="2544719" y="51228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2498999" y="51075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651399" y="52752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651400" y="51685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986679" y="52142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986679" y="51075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940960" y="51990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093359" y="53666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093359" y="52599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2620919" y="51990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2773319" y="5366656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2773319" y="5259976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727599" y="53514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879999" y="55190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879998" y="54123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300878" y="51837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2453279" y="53514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453279" y="52447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2407559" y="53361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559959" y="55038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2559959" y="53971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</p:grpSp>
      <p:pic>
        <p:nvPicPr>
          <p:cNvPr id="123" name="Picture 1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931" y="1154694"/>
            <a:ext cx="1635124" cy="2034820"/>
          </a:xfrm>
          <a:prstGeom prst="rect">
            <a:avLst/>
          </a:prstGeom>
        </p:spPr>
      </p:pic>
      <p:sp>
        <p:nvSpPr>
          <p:cNvPr id="124" name="Rectangle 123"/>
          <p:cNvSpPr/>
          <p:nvPr/>
        </p:nvSpPr>
        <p:spPr>
          <a:xfrm>
            <a:off x="7574280" y="15556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7726680" y="17080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879080" y="18604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8031480" y="20128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7514407" y="17897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7666807" y="19421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7819207" y="20945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7971607" y="22469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7808325" y="13978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7960725" y="15502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8113125" y="17026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8265525" y="18550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7383777" y="21163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7536177" y="22687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7688577" y="24211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7840977" y="25735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7362007" y="1621004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514407" y="1773404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7302134" y="1855049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7596052" y="1463159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7748452" y="1615559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7993377" y="2431994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8303622" y="2464652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8091351" y="1403293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48" name="Group 147"/>
          <p:cNvGrpSpPr/>
          <p:nvPr/>
        </p:nvGrpSpPr>
        <p:grpSpPr>
          <a:xfrm rot="2552380">
            <a:off x="4221119" y="4985656"/>
            <a:ext cx="1089357" cy="1119366"/>
            <a:chOff x="2300879" y="5107575"/>
            <a:chExt cx="1089357" cy="1119366"/>
          </a:xfrm>
        </p:grpSpPr>
        <p:sp>
          <p:nvSpPr>
            <p:cNvPr id="149" name="TextBox 148"/>
            <p:cNvSpPr txBox="1"/>
            <p:nvPr/>
          </p:nvSpPr>
          <p:spPr>
            <a:xfrm>
              <a:off x="2544719" y="51228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2498999" y="51075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2651399" y="5275214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2651399" y="51685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2986679" y="52142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2986678" y="51075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2940959" y="51990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3093359" y="53666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3093360" y="52599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2620920" y="51990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2773319" y="5366656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2773319" y="52599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2727599" y="53514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2879999" y="55190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2879999" y="54123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2300879" y="51837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2453279" y="53514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2453279" y="52447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2407559" y="53361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2559959" y="55038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2559958" y="53971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A0F16-5AF4-5D45-AC94-D2CBFEC3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52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Picture 16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979" y="5068454"/>
            <a:ext cx="2000024" cy="12909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19400" y="27813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71800" y="2933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24200" y="3086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07127" y="28629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59527" y="30153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11927" y="31677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64327" y="33201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01045" y="24710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053445" y="26234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5845" y="27758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58245" y="29282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76497" y="31895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28897" y="33419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781297" y="34943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33697" y="36467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54727" y="26942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07127" y="28466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94854" y="292825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688772" y="25363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41172" y="26887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86097" y="350519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96342" y="3537857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84071" y="2476498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3595688" y="6366389"/>
            <a:ext cx="1728788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3677333" y="4963078"/>
            <a:ext cx="0" cy="151284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585" y="5282295"/>
            <a:ext cx="711200" cy="457200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31" y="307658"/>
            <a:ext cx="1635124" cy="2034822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4754880" y="7086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907280" y="8610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059680" y="10134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212080" y="11658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695007" y="9427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847407" y="10951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4999807" y="12475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152207" y="13999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988925" y="5508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141325" y="7032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293725" y="8556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446125" y="10080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4564377" y="12692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4716777" y="14216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869177" y="15740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021577" y="17264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4542607" y="77396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695007" y="92636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482734" y="100801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776652" y="61612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4929052" y="76852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5173977" y="158495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5484222" y="1617617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271951" y="556258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23" name="Picture 1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931" y="1154694"/>
            <a:ext cx="1635124" cy="2034820"/>
          </a:xfrm>
          <a:prstGeom prst="rect">
            <a:avLst/>
          </a:prstGeom>
        </p:spPr>
      </p:pic>
      <p:sp>
        <p:nvSpPr>
          <p:cNvPr id="124" name="Rectangle 123"/>
          <p:cNvSpPr/>
          <p:nvPr/>
        </p:nvSpPr>
        <p:spPr>
          <a:xfrm>
            <a:off x="7574280" y="15556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7726680" y="17080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879080" y="18604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8031480" y="20128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7514407" y="17897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7666807" y="19421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7819207" y="20945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7971607" y="22469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7808325" y="13978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7960725" y="15502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8113125" y="17026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8265525" y="18550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7383777" y="21163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7536177" y="22687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7688577" y="24211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7840977" y="25735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7362007" y="1621004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514407" y="1773404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7302134" y="1855049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7596052" y="1463159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7748452" y="1615559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7993377" y="2431994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8303622" y="2464652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8091351" y="1403293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Arc 3"/>
          <p:cNvSpPr/>
          <p:nvPr/>
        </p:nvSpPr>
        <p:spPr>
          <a:xfrm>
            <a:off x="4667485" y="3213875"/>
            <a:ext cx="2716292" cy="1464732"/>
          </a:xfrm>
          <a:prstGeom prst="arc">
            <a:avLst>
              <a:gd name="adj1" fmla="val 9915521"/>
              <a:gd name="adj2" fmla="val 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18896" y="3778159"/>
            <a:ext cx="1410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for all images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A4D3A7-E899-1641-AEBC-D3F975FA7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378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7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666" y="1394002"/>
            <a:ext cx="7529594" cy="48599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668642" y="1292403"/>
            <a:ext cx="16321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Description of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all parts</a:t>
            </a:r>
            <a:endParaRPr lang="en-US" sz="2000" i="1" dirty="0">
              <a:latin typeface="LM Roman 10 Regular"/>
              <a:cs typeface="LM Roman 10 Regular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225" y="359775"/>
            <a:ext cx="711200" cy="4572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F3BE61-8DF4-3E45-9BF3-7F7FDB1C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43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7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666" y="1394002"/>
            <a:ext cx="7529594" cy="4859996"/>
          </a:xfrm>
          <a:prstGeom prst="rect">
            <a:avLst/>
          </a:prstGeom>
        </p:spPr>
      </p:pic>
      <p:cxnSp>
        <p:nvCxnSpPr>
          <p:cNvPr id="210" name="Straight Connector 209"/>
          <p:cNvCxnSpPr/>
          <p:nvPr/>
        </p:nvCxnSpPr>
        <p:spPr>
          <a:xfrm flipV="1">
            <a:off x="8811997" y="2941931"/>
            <a:ext cx="179059" cy="312872"/>
          </a:xfrm>
          <a:prstGeom prst="line">
            <a:avLst/>
          </a:prstGeom>
          <a:ln w="12700" cmpd="sng">
            <a:solidFill>
              <a:srgbClr val="A6A6A6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Oval 210"/>
          <p:cNvSpPr>
            <a:spLocks noChangeAspect="1"/>
          </p:cNvSpPr>
          <p:nvPr/>
        </p:nvSpPr>
        <p:spPr>
          <a:xfrm>
            <a:off x="8610846" y="3229404"/>
            <a:ext cx="226551" cy="2265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68642" y="1292403"/>
            <a:ext cx="16321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Description of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all parts</a:t>
            </a:r>
            <a:endParaRPr lang="en-US" sz="2000" i="1" dirty="0">
              <a:latin typeface="LM Roman 10 Regular"/>
              <a:cs typeface="LM Roman 10 Regula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36579" y="2287409"/>
            <a:ext cx="16321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Description of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one part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225" y="359775"/>
            <a:ext cx="711200" cy="4572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8401849" y="1448178"/>
            <a:ext cx="1728788" cy="761220"/>
            <a:chOff x="5038724" y="2361906"/>
            <a:chExt cx="1728788" cy="761220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5038724" y="3013589"/>
              <a:ext cx="17287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 flipV="1">
              <a:off x="5146625" y="2361906"/>
              <a:ext cx="1635" cy="7612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5281609" y="276433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6158919" y="2604183"/>
              <a:ext cx="953" cy="40956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5423417" y="2482981"/>
              <a:ext cx="0" cy="538155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5579675" y="2761867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5735606" y="2760795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5888006" y="2755706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6026282" y="2497105"/>
              <a:ext cx="0" cy="519094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6308143" y="276137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6460543" y="2756290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6598819" y="2497689"/>
              <a:ext cx="0" cy="519094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829BC3-6000-CF44-AE6A-98008422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544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666" y="1394002"/>
            <a:ext cx="7529594" cy="485999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757" y="1406702"/>
            <a:ext cx="7529594" cy="4859996"/>
          </a:xfrm>
          <a:prstGeom prst="rect">
            <a:avLst/>
          </a:prstGeom>
        </p:spPr>
      </p:pic>
      <p:grpSp>
        <p:nvGrpSpPr>
          <p:cNvPr id="183" name="Group 182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184" name="Straight Connector 183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3886080" y="5498285"/>
            <a:ext cx="47772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K-Means with K clusters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1834442" y="37917"/>
            <a:ext cx="5575300" cy="1149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Gill Sans MT" panose="020B0502020104020203" pitchFamily="34" charset="77"/>
                <a:cs typeface="Trebuchet MS"/>
              </a:rPr>
              <a:t>Visual Vocabulary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9A5F7F-8FDD-8D46-AC37-2253D19D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182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184" name="Straight Connector 183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3806731" y="5498285"/>
            <a:ext cx="49359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K-Means with K clusters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1834442" y="37917"/>
            <a:ext cx="5575300" cy="1149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Gill Sans MT" panose="020B0502020104020203" pitchFamily="34" charset="77"/>
                <a:cs typeface="Trebuchet MS"/>
              </a:rPr>
              <a:t>Visual Vocabulary</a:t>
            </a:r>
          </a:p>
        </p:txBody>
      </p:sp>
      <p:sp>
        <p:nvSpPr>
          <p:cNvPr id="2" name="Oval 1"/>
          <p:cNvSpPr/>
          <p:nvPr/>
        </p:nvSpPr>
        <p:spPr>
          <a:xfrm>
            <a:off x="6187440" y="24536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1960" y="335280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98080" y="46329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91200" y="47853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446520" y="36728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876800" y="355092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498B62-EADE-4747-AB8B-EBD5330EA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37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182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184" name="Straight Connector 183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3806731" y="5498285"/>
            <a:ext cx="49359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K-Means with K clusters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1834442" y="37917"/>
            <a:ext cx="5575300" cy="1149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Gill Sans MT" panose="020B0502020104020203" pitchFamily="34" charset="77"/>
                <a:cs typeface="Trebuchet MS"/>
              </a:rPr>
              <a:t>Visual Vocabulary</a:t>
            </a:r>
          </a:p>
        </p:txBody>
      </p:sp>
      <p:sp>
        <p:nvSpPr>
          <p:cNvPr id="2" name="Oval 1"/>
          <p:cNvSpPr/>
          <p:nvPr/>
        </p:nvSpPr>
        <p:spPr>
          <a:xfrm>
            <a:off x="6187440" y="24536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1960" y="335280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98080" y="46329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91200" y="47853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446520" y="36728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876800" y="355092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238994" y="655782"/>
          <a:ext cx="2973190" cy="1280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5" name="Straight Arrow Connector 24"/>
          <p:cNvCxnSpPr/>
          <p:nvPr/>
        </p:nvCxnSpPr>
        <p:spPr>
          <a:xfrm>
            <a:off x="7223754" y="430681"/>
            <a:ext cx="297319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02535" y="230775"/>
            <a:ext cx="364202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imes" charset="0"/>
                <a:cs typeface="Times" charset="0"/>
              </a:rPr>
              <a:t>N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6964502" y="750282"/>
            <a:ext cx="0" cy="105552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10723" y="1057256"/>
            <a:ext cx="338554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imes" charset="0"/>
                <a:cs typeface="Times" charset="0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49432" y="2005265"/>
            <a:ext cx="2987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(coordinates of the centroids)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30724E-860F-6F47-AB75-73BF3EC0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4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2841778" y="3444419"/>
            <a:ext cx="1044626" cy="12827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689378" y="3546017"/>
            <a:ext cx="1044626" cy="12827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333" y="1160710"/>
            <a:ext cx="3268154" cy="510631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373" y="3630683"/>
            <a:ext cx="1044627" cy="12999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04714" y="2846301"/>
            <a:ext cx="733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Arial"/>
              </a:rPr>
              <a:t>John</a:t>
            </a:r>
            <a:endParaRPr lang="en-US" sz="2400" i="1" dirty="0">
              <a:latin typeface="LM Roman 10 Regular"/>
              <a:cs typeface="LM Roman 10 Regular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9465757" y="1180599"/>
            <a:ext cx="491448" cy="5204961"/>
            <a:chOff x="7941757" y="1180598"/>
            <a:chExt cx="491448" cy="5204961"/>
          </a:xfrm>
        </p:grpSpPr>
        <p:cxnSp>
          <p:nvCxnSpPr>
            <p:cNvPr id="3" name="Straight Arrow Connector 2"/>
            <p:cNvCxnSpPr/>
            <p:nvPr/>
          </p:nvCxnSpPr>
          <p:spPr>
            <a:xfrm>
              <a:off x="7941757" y="1180598"/>
              <a:ext cx="0" cy="5204961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8043355" y="3376688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Gill Sans MT" panose="020B0502020104020203" pitchFamily="34" charset="77"/>
                  <a:cs typeface="Arial"/>
                </a:rPr>
                <a:t>K</a:t>
              </a:r>
              <a:endParaRPr lang="en-US" sz="2400" i="1" dirty="0">
                <a:latin typeface="LM Roman 10 Regular"/>
                <a:cs typeface="LM Roman 10 Regular"/>
              </a:endParaRPr>
            </a:p>
          </p:txBody>
        </p:sp>
      </p:grpSp>
      <p:pic>
        <p:nvPicPr>
          <p:cNvPr id="2" name="Picture 1" descr="Screen Shot 2014-03-20 at 7.33.41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541" y="1147990"/>
            <a:ext cx="2474152" cy="161392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3318027" y="1934954"/>
            <a:ext cx="5961460" cy="911347"/>
            <a:chOff x="1794027" y="1934953"/>
            <a:chExt cx="5961460" cy="911347"/>
          </a:xfrm>
        </p:grpSpPr>
        <p:sp>
          <p:nvSpPr>
            <p:cNvPr id="4" name="Oval 3"/>
            <p:cNvSpPr/>
            <p:nvPr/>
          </p:nvSpPr>
          <p:spPr>
            <a:xfrm>
              <a:off x="1794027" y="1955109"/>
              <a:ext cx="886935" cy="89119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4487333" y="1934953"/>
              <a:ext cx="3268154" cy="201558"/>
            </a:xfrm>
            <a:prstGeom prst="rect">
              <a:avLst/>
            </a:prstGeom>
            <a:noFill/>
            <a:ln w="28575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7" name="Elbow Connector 6"/>
            <p:cNvCxnSpPr>
              <a:stCxn id="4" idx="6"/>
              <a:endCxn id="5" idx="1"/>
            </p:cNvCxnSpPr>
            <p:nvPr/>
          </p:nvCxnSpPr>
          <p:spPr>
            <a:xfrm flipV="1">
              <a:off x="2680962" y="2035732"/>
              <a:ext cx="1806371" cy="364973"/>
            </a:xfrm>
            <a:prstGeom prst="bentConnector3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470427" y="1240802"/>
            <a:ext cx="5820354" cy="891191"/>
            <a:chOff x="1794027" y="1955109"/>
            <a:chExt cx="5820354" cy="891191"/>
          </a:xfrm>
        </p:grpSpPr>
        <p:sp>
          <p:nvSpPr>
            <p:cNvPr id="23" name="Oval 22"/>
            <p:cNvSpPr/>
            <p:nvPr/>
          </p:nvSpPr>
          <p:spPr>
            <a:xfrm>
              <a:off x="1794027" y="1955109"/>
              <a:ext cx="886935" cy="891191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346227" y="1995421"/>
              <a:ext cx="3268154" cy="201558"/>
            </a:xfrm>
            <a:prstGeom prst="rect">
              <a:avLst/>
            </a:prstGeom>
            <a:noFill/>
            <a:ln w="28575" cmpd="sng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27" name="Elbow Connector 26"/>
            <p:cNvCxnSpPr>
              <a:stCxn id="23" idx="6"/>
              <a:endCxn id="26" idx="1"/>
            </p:cNvCxnSpPr>
            <p:nvPr/>
          </p:nvCxnSpPr>
          <p:spPr>
            <a:xfrm flipV="1">
              <a:off x="2680962" y="2096200"/>
              <a:ext cx="1665265" cy="304505"/>
            </a:xfrm>
            <a:prstGeom prst="bentConnector3">
              <a:avLst/>
            </a:prstGeom>
            <a:ln>
              <a:solidFill>
                <a:srgbClr val="FFFF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itle 1"/>
          <p:cNvSpPr txBox="1">
            <a:spLocks/>
          </p:cNvSpPr>
          <p:nvPr/>
        </p:nvSpPr>
        <p:spPr>
          <a:xfrm>
            <a:off x="1834442" y="37917"/>
            <a:ext cx="5575300" cy="1149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Gill Sans MT" panose="020B0502020104020203" pitchFamily="34" charset="77"/>
                <a:cs typeface="Trebuchet MS"/>
              </a:rPr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0B414-57DC-9D41-AF09-9734707A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2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09244" y="1440367"/>
            <a:ext cx="2166777" cy="4871270"/>
            <a:chOff x="6656643" y="1440367"/>
            <a:chExt cx="2166777" cy="4871270"/>
          </a:xfrm>
        </p:grpSpPr>
        <p:sp>
          <p:nvSpPr>
            <p:cNvPr id="21" name="Rectangle 20"/>
            <p:cNvSpPr/>
            <p:nvPr/>
          </p:nvSpPr>
          <p:spPr>
            <a:xfrm>
              <a:off x="7719529" y="1440367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567129" y="1541965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35" name="Picture 34" descr="Screen Shot 2013-10-23 at 1.57.20 P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6643" y="3035666"/>
              <a:ext cx="2166777" cy="3275971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1368" y="1615341"/>
              <a:ext cx="1044627" cy="129998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982528" y="1649916"/>
              <a:ext cx="4299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Gill Sans MT" panose="020B0502020104020203" pitchFamily="34" charset="77"/>
                  <a:cs typeface="Arial"/>
                </a:rPr>
                <a:t>Ana</a:t>
              </a:r>
              <a:endParaRPr lang="en-US" sz="1400" i="1" dirty="0">
                <a:latin typeface="LM Roman 10 Regular"/>
                <a:cs typeface="LM Roman 10 Regular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127937" y="1429077"/>
            <a:ext cx="2166777" cy="4882560"/>
            <a:chOff x="3486336" y="1429077"/>
            <a:chExt cx="2166777" cy="4882560"/>
          </a:xfrm>
        </p:grpSpPr>
        <p:sp>
          <p:nvSpPr>
            <p:cNvPr id="24" name="Rectangle 23"/>
            <p:cNvSpPr/>
            <p:nvPr/>
          </p:nvSpPr>
          <p:spPr>
            <a:xfrm>
              <a:off x="4535111" y="1429077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382711" y="1530675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34" name="Picture 33" descr="Screen Shot 2013-10-23 at 1.56.53 P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6336" y="3035666"/>
              <a:ext cx="2166777" cy="3275971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4705" y="1615341"/>
              <a:ext cx="1044627" cy="1299980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3735821" y="1631240"/>
              <a:ext cx="4589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Gill Sans MT" panose="020B0502020104020203" pitchFamily="34" charset="77"/>
                  <a:cs typeface="Arial"/>
                </a:rPr>
                <a:t>John</a:t>
              </a:r>
              <a:endParaRPr lang="en-US" sz="1400" i="1" dirty="0">
                <a:latin typeface="LM Roman 10 Regular"/>
                <a:cs typeface="LM Roman 10 Regular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585504" y="1429077"/>
            <a:ext cx="2166777" cy="4882560"/>
            <a:chOff x="264703" y="1429077"/>
            <a:chExt cx="2166777" cy="4882560"/>
          </a:xfrm>
        </p:grpSpPr>
        <p:sp>
          <p:nvSpPr>
            <p:cNvPr id="26" name="Rectangle 25"/>
            <p:cNvSpPr/>
            <p:nvPr/>
          </p:nvSpPr>
          <p:spPr>
            <a:xfrm>
              <a:off x="1309333" y="1429077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156933" y="1530675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33" name="Picture 32" descr="Screen Shot 2013-10-23 at 1.56.19 PM.p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703" y="3035666"/>
              <a:ext cx="2166777" cy="3275971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8156" y="1615341"/>
              <a:ext cx="1044626" cy="1299980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478367" y="1662018"/>
              <a:ext cx="4492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Gill Sans MT" panose="020B0502020104020203" pitchFamily="34" charset="77"/>
                  <a:cs typeface="Arial"/>
                </a:rPr>
                <a:t>Julio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864964" y="1440367"/>
            <a:ext cx="2166777" cy="4871270"/>
            <a:chOff x="6656643" y="1440367"/>
            <a:chExt cx="2166777" cy="4871270"/>
          </a:xfrm>
        </p:grpSpPr>
        <p:sp>
          <p:nvSpPr>
            <p:cNvPr id="55" name="Rectangle 54"/>
            <p:cNvSpPr/>
            <p:nvPr/>
          </p:nvSpPr>
          <p:spPr>
            <a:xfrm>
              <a:off x="7719529" y="1440367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567129" y="1541965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57" name="Picture 56" descr="Screen Shot 2013-10-23 at 1.57.20 P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6656643" y="3035666"/>
              <a:ext cx="2166777" cy="3275971"/>
            </a:xfrm>
            <a:prstGeom prst="rect">
              <a:avLst/>
            </a:prstGeom>
          </p:spPr>
        </p:pic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1368" y="1615341"/>
              <a:ext cx="1044626" cy="1299980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6814888" y="1649916"/>
              <a:ext cx="5886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Gill Sans MT" panose="020B0502020104020203" pitchFamily="34" charset="77"/>
                  <a:cs typeface="Arial"/>
                </a:rPr>
                <a:t>Miguel</a:t>
              </a:r>
              <a:endParaRPr lang="en-US" sz="1400" dirty="0">
                <a:latin typeface="Gill Sans MT" panose="020B0502020104020203" pitchFamily="34" charset="77"/>
                <a:cs typeface="LM Roman 10 Regular"/>
              </a:endParaRPr>
            </a:p>
          </p:txBody>
        </p:sp>
      </p:grpSp>
      <p:sp>
        <p:nvSpPr>
          <p:cNvPr id="31" name="Title 1"/>
          <p:cNvSpPr txBox="1">
            <a:spLocks/>
          </p:cNvSpPr>
          <p:nvPr/>
        </p:nvSpPr>
        <p:spPr>
          <a:xfrm>
            <a:off x="1834442" y="37917"/>
            <a:ext cx="8071558" cy="1149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Gill Sans MT" panose="020B0502020104020203" pitchFamily="34" charset="77"/>
                <a:cs typeface="Trebuchet MS"/>
              </a:rPr>
              <a:t>Example: More Dictionaries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4946B5-474D-8540-885B-45378F77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182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184" name="Straight Connector 183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3672084" y="5498285"/>
            <a:ext cx="52052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Example with K=6 clusters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1834442" y="37917"/>
            <a:ext cx="5575300" cy="1149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Gill Sans MT" panose="020B0502020104020203" pitchFamily="34" charset="77"/>
                <a:cs typeface="Trebuchet MS"/>
              </a:rPr>
              <a:t>Visual Vocabulary</a:t>
            </a:r>
          </a:p>
        </p:txBody>
      </p:sp>
      <p:sp>
        <p:nvSpPr>
          <p:cNvPr id="2" name="Oval 1"/>
          <p:cNvSpPr/>
          <p:nvPr/>
        </p:nvSpPr>
        <p:spPr>
          <a:xfrm>
            <a:off x="6187440" y="24536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1960" y="335280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98080" y="46329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91200" y="47853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446520" y="36728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876800" y="355092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238994" y="655782"/>
          <a:ext cx="2973190" cy="1280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5" name="Straight Arrow Connector 24"/>
          <p:cNvCxnSpPr/>
          <p:nvPr/>
        </p:nvCxnSpPr>
        <p:spPr>
          <a:xfrm>
            <a:off x="7223754" y="430681"/>
            <a:ext cx="297319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02535" y="230775"/>
            <a:ext cx="364202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imes" charset="0"/>
                <a:cs typeface="Times" charset="0"/>
              </a:rPr>
              <a:t>N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6964502" y="750282"/>
            <a:ext cx="0" cy="105552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10723" y="1057256"/>
            <a:ext cx="338554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imes" charset="0"/>
                <a:cs typeface="Times" charset="0"/>
              </a:rPr>
              <a:t>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7720" y="33528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7400" y="2286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5980" y="30825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8934" y="34749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5262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358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302241" y="655320"/>
          <a:ext cx="297319" cy="12801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6F430-FD96-484F-AFE9-E4A9B8B60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472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89045" y="918329"/>
            <a:ext cx="11544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descriptor</a:t>
            </a:r>
          </a:p>
        </p:txBody>
      </p:sp>
      <p:cxnSp>
        <p:nvCxnSpPr>
          <p:cNvPr id="6" name="Straight Arrow Connector 5"/>
          <p:cNvCxnSpPr>
            <a:endCxn id="3" idx="1"/>
          </p:cNvCxnSpPr>
          <p:nvPr/>
        </p:nvCxnSpPr>
        <p:spPr>
          <a:xfrm>
            <a:off x="2346009" y="1102995"/>
            <a:ext cx="144303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5328284" y="624546"/>
            <a:ext cx="1728788" cy="761220"/>
            <a:chOff x="5038724" y="2361906"/>
            <a:chExt cx="1728788" cy="761220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5038724" y="3013589"/>
              <a:ext cx="17287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5146625" y="2361906"/>
              <a:ext cx="1635" cy="7612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5281609" y="276433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158919" y="2604183"/>
              <a:ext cx="953" cy="40956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5423417" y="2482981"/>
              <a:ext cx="0" cy="538155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5579675" y="2761867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5735606" y="2760795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5888006" y="2755706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6026282" y="2497105"/>
              <a:ext cx="0" cy="519094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6308143" y="276137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6460543" y="2756290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6598819" y="2497689"/>
              <a:ext cx="0" cy="519094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Arrow Connector 26"/>
          <p:cNvCxnSpPr/>
          <p:nvPr/>
        </p:nvCxnSpPr>
        <p:spPr>
          <a:xfrm>
            <a:off x="4919732" y="1108347"/>
            <a:ext cx="3990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638670" y="959309"/>
          <a:ext cx="2973190" cy="21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/>
          <p:cNvCxnSpPr/>
          <p:nvPr/>
        </p:nvCxnSpPr>
        <p:spPr>
          <a:xfrm>
            <a:off x="7053332" y="1123587"/>
            <a:ext cx="3990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653EA-E619-154A-A932-CF5BAE39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618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346009" y="1102995"/>
            <a:ext cx="14430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813430" y="989789"/>
          <a:ext cx="2973190" cy="21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32C4ED-F5F6-FF41-B01E-4B2CF0501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074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346009" y="1102995"/>
            <a:ext cx="14430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/>
          <p:cNvSpPr/>
          <p:nvPr/>
        </p:nvSpPr>
        <p:spPr>
          <a:xfrm>
            <a:off x="6187440" y="24536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1960" y="335280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98080" y="46329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91200" y="47853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446520" y="36728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876800" y="355092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17720" y="33528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7400" y="2286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5980" y="30825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8934" y="34749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5262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358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813430" y="989789"/>
          <a:ext cx="2973190" cy="21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E0A993-80D4-BD4E-A378-712520B3B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71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346009" y="1102995"/>
            <a:ext cx="14430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/>
          <p:cNvSpPr/>
          <p:nvPr/>
        </p:nvSpPr>
        <p:spPr>
          <a:xfrm>
            <a:off x="6187440" y="24536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1960" y="335280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98080" y="46329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91200" y="47853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446520" y="36728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876800" y="355092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17720" y="33528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7400" y="2286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5980" y="30825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8934" y="34749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5262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358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31" name="Oval 30"/>
          <p:cNvSpPr/>
          <p:nvPr/>
        </p:nvSpPr>
        <p:spPr>
          <a:xfrm>
            <a:off x="8122920" y="2621280"/>
            <a:ext cx="198120" cy="19812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" name="Elbow Connector 3"/>
          <p:cNvCxnSpPr>
            <a:endCxn id="31" idx="0"/>
          </p:cNvCxnSpPr>
          <p:nvPr/>
        </p:nvCxnSpPr>
        <p:spPr>
          <a:xfrm rot="16200000" flipH="1">
            <a:off x="6768019" y="1167317"/>
            <a:ext cx="1518285" cy="1389640"/>
          </a:xfrm>
          <a:prstGeom prst="bentConnector3">
            <a:avLst>
              <a:gd name="adj1" fmla="val -18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813430" y="989789"/>
          <a:ext cx="2973190" cy="21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5D4DB4-61FF-014C-A458-E1E3216B3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961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346009" y="1102995"/>
            <a:ext cx="14430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/>
          <p:cNvSpPr/>
          <p:nvPr/>
        </p:nvSpPr>
        <p:spPr>
          <a:xfrm>
            <a:off x="6187440" y="24536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1960" y="335280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98080" y="46329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91200" y="47853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446520" y="36728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876800" y="355092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17720" y="33528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7400" y="2286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5980" y="30825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8934" y="34749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5262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358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31" name="Oval 30"/>
          <p:cNvSpPr/>
          <p:nvPr/>
        </p:nvSpPr>
        <p:spPr>
          <a:xfrm>
            <a:off x="8122920" y="2621280"/>
            <a:ext cx="198120" cy="19812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" name="Elbow Connector 3"/>
          <p:cNvCxnSpPr>
            <a:endCxn id="31" idx="0"/>
          </p:cNvCxnSpPr>
          <p:nvPr/>
        </p:nvCxnSpPr>
        <p:spPr>
          <a:xfrm rot="16200000" flipH="1">
            <a:off x="6768019" y="1167317"/>
            <a:ext cx="1518285" cy="1389640"/>
          </a:xfrm>
          <a:prstGeom prst="bentConnector3">
            <a:avLst>
              <a:gd name="adj1" fmla="val -18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813430" y="989789"/>
          <a:ext cx="2973190" cy="21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707773" y="2332478"/>
            <a:ext cx="144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This part is represented by word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0347" y="5498285"/>
            <a:ext cx="2432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[ Encoding ]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38E7FC4-C4C5-7E41-9B1F-BCC2B4332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86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346009" y="1102995"/>
            <a:ext cx="14430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/>
          <p:cNvSpPr/>
          <p:nvPr/>
        </p:nvSpPr>
        <p:spPr>
          <a:xfrm>
            <a:off x="6187440" y="24536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1960" y="335280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98080" y="46329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91200" y="47853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446520" y="36728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876800" y="355092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17720" y="33528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7400" y="2286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5980" y="30825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8934" y="34749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5262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358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31" name="Oval 30"/>
          <p:cNvSpPr/>
          <p:nvPr/>
        </p:nvSpPr>
        <p:spPr>
          <a:xfrm>
            <a:off x="8122920" y="2621280"/>
            <a:ext cx="198120" cy="19812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813430" y="989789"/>
          <a:ext cx="2973190" cy="21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707773" y="2332478"/>
            <a:ext cx="144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This part is represented by word 3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238994" y="579582"/>
          <a:ext cx="2973190" cy="1280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10302241" y="579120"/>
          <a:ext cx="297319" cy="12801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7199521" y="989789"/>
            <a:ext cx="3400038" cy="21336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765608" y="1102995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30347" y="5498285"/>
            <a:ext cx="2432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[ Encoding ]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20AD1-A805-7946-86AB-B3689CC2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106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0347" y="5498285"/>
            <a:ext cx="2432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[ Encoding ]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C98A5E-AE1B-4744-9ABD-07CB1F7EA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431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95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67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0347" y="5498285"/>
            <a:ext cx="2432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[ Encoding ]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9FAB8A-287C-3E4B-A7BA-1714A1F8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68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95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67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09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0320" y="1127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0347" y="5498285"/>
            <a:ext cx="2432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[ Encoding ]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95CC91-999F-2247-ACA8-1E38D478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923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95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67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09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0320" y="1127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4080" y="7391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55520" y="45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1320" y="342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32760" y="609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8440" y="13030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49880" y="10210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5480" y="5257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26920" y="2438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25040" y="419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16480" y="1371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0720" y="14249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42160" y="1143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131826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1720" y="10363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0347" y="5498285"/>
            <a:ext cx="2432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[ Encoding ]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604E3-E6B4-D440-A00E-3A1F6E98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846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95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67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09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0320" y="1127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4080" y="7391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55520" y="45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1320" y="342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32760" y="609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8440" y="13030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49880" y="10210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5480" y="5257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26920" y="2438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25040" y="419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16480" y="1371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0720" y="14249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42160" y="1143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131826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1720" y="10363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03320" y="952500"/>
            <a:ext cx="914400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601" y="1051560"/>
            <a:ext cx="4166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How many words ‘1’ are in this image?   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883AC8-7D35-BA4B-BDB8-1F472EC3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276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95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67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0970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0320" y="1127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4080" y="7391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55520" y="45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1320" y="342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32760" y="609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8440" y="13030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49880" y="10210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5480" y="52578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26920" y="2438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25040" y="419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16480" y="1371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0720" y="14249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42160" y="1143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131826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1720" y="10363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03320" y="952500"/>
            <a:ext cx="914400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600" y="1051561"/>
            <a:ext cx="4211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How many words ‘1’ are in this image? </a:t>
            </a:r>
          </a:p>
          <a:p>
            <a:r>
              <a:rPr lang="en-US" dirty="0">
                <a:latin typeface="Gill Sans MT" panose="020B0502020104020203" pitchFamily="34" charset="77"/>
              </a:rPr>
              <a:t>			Answer: 2   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CBC44B-0C15-AB41-898C-F67B4F944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46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95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67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09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0320" y="1127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4080" y="7391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55520" y="45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1320" y="342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32760" y="609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8440" y="13030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49880" y="10210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5480" y="5257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26920" y="2438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25040" y="419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16480" y="1371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0720" y="14249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42160" y="1143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131826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1720" y="10363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89433" y="1039892"/>
            <a:ext cx="11608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Histogram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03320" y="952500"/>
            <a:ext cx="1399426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62801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344" y="2928768"/>
            <a:ext cx="7734300" cy="3416300"/>
          </a:xfrm>
          <a:prstGeom prst="rect">
            <a:avLst/>
          </a:prstGeom>
        </p:spPr>
      </p:pic>
      <p:sp>
        <p:nvSpPr>
          <p:cNvPr id="27" name="Down Arrow 26"/>
          <p:cNvSpPr/>
          <p:nvPr/>
        </p:nvSpPr>
        <p:spPr>
          <a:xfrm>
            <a:off x="5486402" y="1687592"/>
            <a:ext cx="657726" cy="87301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962101" y="4090738"/>
            <a:ext cx="802105" cy="2069431"/>
          </a:xfrm>
          <a:prstGeom prst="rect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C73C55EC-13F5-5546-B24E-EE803285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387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95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67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09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0320" y="1127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4080" y="7391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55520" y="45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1320" y="342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32760" y="609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8440" y="13030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49880" y="10210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5480" y="5257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26920" y="2438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25040" y="419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16480" y="1371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0720" y="14249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42160" y="1143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131826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1720" y="10363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89433" y="1039892"/>
            <a:ext cx="11608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Histogram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03320" y="952500"/>
            <a:ext cx="1399426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62801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344" y="2928768"/>
            <a:ext cx="7734300" cy="3416300"/>
          </a:xfrm>
          <a:prstGeom prst="rect">
            <a:avLst/>
          </a:prstGeom>
        </p:spPr>
      </p:pic>
      <p:sp>
        <p:nvSpPr>
          <p:cNvPr id="27" name="Down Arrow 26"/>
          <p:cNvSpPr/>
          <p:nvPr/>
        </p:nvSpPr>
        <p:spPr>
          <a:xfrm>
            <a:off x="5486402" y="1687592"/>
            <a:ext cx="657726" cy="87301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8A20D50-3BFE-F548-927D-0540A43A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873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3320" y="536972"/>
            <a:ext cx="116089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Histogram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03320" y="952500"/>
            <a:ext cx="1399426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62801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452" y="553099"/>
            <a:ext cx="2772077" cy="122444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2367449"/>
            <a:ext cx="1635124" cy="20348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703320" y="2749162"/>
            <a:ext cx="116089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Histogram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703320" y="3164690"/>
            <a:ext cx="1399426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62801" y="33551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913" y="2765289"/>
            <a:ext cx="2673153" cy="12244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02408" y="1834829"/>
            <a:ext cx="15881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different objects have different histograms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AD07CB-FFA3-DD49-B808-FC505CB68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329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3320" y="536972"/>
            <a:ext cx="116089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Histogram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03320" y="952500"/>
            <a:ext cx="1399426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62801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452" y="553099"/>
            <a:ext cx="2772077" cy="122444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2367449"/>
            <a:ext cx="1635124" cy="20348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703320" y="2749162"/>
            <a:ext cx="116089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Histogram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703320" y="3164690"/>
            <a:ext cx="1399426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62801" y="33551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913" y="2765289"/>
            <a:ext cx="2673153" cy="122444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472" y="4525113"/>
            <a:ext cx="1635123" cy="20348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95300" y="4906826"/>
            <a:ext cx="116089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Histogram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695300" y="5322354"/>
            <a:ext cx="1399426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154781" y="55128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803" y="4922953"/>
            <a:ext cx="2689333" cy="12244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02408" y="3945615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same objects have similar histograms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64A0E2-B516-6D49-AD94-2286907A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9316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2569" y="978569"/>
            <a:ext cx="53304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Summary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PART 1: VISUAL VOCABULARY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</a:rPr>
              <a:t>Collect representative images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</a:rPr>
              <a:t>Extract descriptors (example LBP, HOG, </a:t>
            </a:r>
            <a:r>
              <a:rPr lang="en-US" dirty="0" err="1">
                <a:latin typeface="Gill Sans MT" panose="020B0502020104020203" pitchFamily="34" charset="77"/>
              </a:rPr>
              <a:t>HoG</a:t>
            </a:r>
            <a:r>
              <a:rPr lang="en-US" dirty="0">
                <a:latin typeface="Gill Sans MT" panose="020B0502020104020203" pitchFamily="34" charset="77"/>
              </a:rPr>
              <a:t>, etc.)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</a:rPr>
              <a:t>K-means (Visual Vocabulary of K words)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FCFD53-9444-604C-863A-F6483D762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832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2568" y="978569"/>
            <a:ext cx="426469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Summary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PART 1: VISUAL VOCABULARY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</a:rPr>
              <a:t>Collect representative images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</a:rPr>
              <a:t>Extract descriptors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</a:rPr>
              <a:t>K-means (Visual Vocabulary of K words)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2568" y="3344779"/>
            <a:ext cx="817512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PART 2: CLASSIFIER DESIGN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1. For each image of the training set</a:t>
            </a:r>
          </a:p>
          <a:p>
            <a:r>
              <a:rPr lang="en-US" dirty="0">
                <a:latin typeface="Gill Sans MT" panose="020B0502020104020203" pitchFamily="34" charset="77"/>
              </a:rPr>
              <a:t>		- Extract descriptors and encode them using the Visual Vocabulary</a:t>
            </a:r>
          </a:p>
          <a:p>
            <a:r>
              <a:rPr lang="en-US" dirty="0">
                <a:latin typeface="Gill Sans MT" panose="020B0502020104020203" pitchFamily="34" charset="77"/>
              </a:rPr>
              <a:t>		- Build the histogram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 startAt="2"/>
            </a:pPr>
            <a:r>
              <a:rPr lang="en-US" dirty="0">
                <a:latin typeface="Gill Sans MT" panose="020B0502020104020203" pitchFamily="34" charset="77"/>
              </a:rPr>
              <a:t>Train a classifier using the new representation (histogram) of each image</a:t>
            </a:r>
          </a:p>
          <a:p>
            <a:pPr marL="342900" indent="-342900">
              <a:buAutoNum type="arabicPeriod" startAt="2"/>
            </a:pPr>
            <a:endParaRPr lang="en-US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 startAt="2"/>
            </a:pPr>
            <a:r>
              <a:rPr lang="en-US" dirty="0">
                <a:latin typeface="Gill Sans MT" panose="020B0502020104020203" pitchFamily="34" charset="77"/>
              </a:rPr>
              <a:t>Repeat for testing set and test the classifier</a:t>
            </a: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3C52FF-75E9-404A-B143-EA30FA17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433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1109-51A3-C340-A77E-40F6D982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Ejemplo</a:t>
            </a:r>
            <a:br>
              <a:rPr lang="en-US" dirty="0"/>
            </a:br>
            <a:r>
              <a:rPr lang="en-US" dirty="0" err="1"/>
              <a:t>Reconocimiento</a:t>
            </a:r>
            <a:r>
              <a:rPr lang="en-US" dirty="0"/>
              <a:t> de </a:t>
            </a:r>
            <a:r>
              <a:rPr lang="en-US" dirty="0" err="1"/>
              <a:t>Tigres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Biometría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9B56-22B5-AF4E-9446-C5309E1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867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C7B7354-CE54-5E42-8841-BB8FD49F4BB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37016" y="4052423"/>
            <a:ext cx="1080000" cy="10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403901-9FEB-1F4A-81FA-1267B173892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328739" y="4060668"/>
            <a:ext cx="1080000" cy="10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6D5E80-24AA-384A-8FC2-09F404376EE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619785" y="4052423"/>
            <a:ext cx="1080000" cy="108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8D0D28-D250-3D48-A9AA-8E2F42E54FC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744224" y="4067004"/>
            <a:ext cx="1080000" cy="108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A1F969-94F9-FD4C-9BC8-1A2C812A6454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453750" y="4060668"/>
            <a:ext cx="1080000" cy="108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2D47F1-1C46-CF4B-98A3-34EC90467E84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174567" y="4060668"/>
            <a:ext cx="1080000" cy="108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EBB339-06D4-084E-BF47-04E58FE0756C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619785" y="2788747"/>
            <a:ext cx="1080000" cy="108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72C9A4-0CFD-1E4F-844A-E628FF9A67AC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7329756" y="2788747"/>
            <a:ext cx="1080000" cy="108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6235BAA-879C-A547-8E3B-48DC6082C59D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039675" y="2788747"/>
            <a:ext cx="1080000" cy="108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223AA0-02A7-9346-B095-2527A93F0F36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744224" y="2792650"/>
            <a:ext cx="1080000" cy="108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340CDDD-65AC-414D-B83B-73E77A0A892F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3451432" y="2792650"/>
            <a:ext cx="1080000" cy="108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2FD0772-A867-C84D-B443-62D46101191D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2158640" y="2792650"/>
            <a:ext cx="1080000" cy="108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1631E7C-BE29-2747-A6FB-D94AD2DD2AC1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8622600" y="1525071"/>
            <a:ext cx="1080000" cy="1080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20E74D6-1178-CB42-97D9-9C05C8536279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329808" y="1525071"/>
            <a:ext cx="1080000" cy="1080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C565E2A-111B-3B4A-8D60-457282A06B69}"/>
              </a:ext>
            </a:extLst>
          </p:cNvPr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6037016" y="1525071"/>
            <a:ext cx="1080000" cy="1080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84FD918-BFFC-154E-BB11-F1AB7E55D022}"/>
              </a:ext>
            </a:extLst>
          </p:cNvPr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4744224" y="1525071"/>
            <a:ext cx="1080000" cy="1080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0486E8D-791F-5A4D-AE8E-B9DF32EE43F1}"/>
              </a:ext>
            </a:extLst>
          </p:cNvPr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3451432" y="1525071"/>
            <a:ext cx="1080000" cy="1080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6B802A4-5137-5E43-8797-2161E9D4A75A}"/>
              </a:ext>
            </a:extLst>
          </p:cNvPr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2158640" y="1525071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7298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1109-51A3-C340-A77E-40F6D982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9B56-22B5-AF4E-9446-C5309E1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8476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2C375BE-37D3-8B4A-A4E6-489512B0D26F}"/>
              </a:ext>
            </a:extLst>
          </p:cNvPr>
          <p:cNvSpPr/>
          <p:nvPr/>
        </p:nvSpPr>
        <p:spPr>
          <a:xfrm>
            <a:off x="1910367" y="814838"/>
            <a:ext cx="8126569" cy="3652613"/>
          </a:xfrm>
          <a:prstGeom prst="roundRect">
            <a:avLst>
              <a:gd name="adj" fmla="val 458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7B7354-CE54-5E42-8841-BB8FD49F4BB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37016" y="3254292"/>
            <a:ext cx="1080000" cy="10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403901-9FEB-1F4A-81FA-1267B173892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328739" y="3262537"/>
            <a:ext cx="1080000" cy="10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6D5E80-24AA-384A-8FC2-09F404376EE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619785" y="3254292"/>
            <a:ext cx="1080000" cy="108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8D0D28-D250-3D48-A9AA-8E2F42E54FC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744224" y="3268873"/>
            <a:ext cx="1080000" cy="108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A1F969-94F9-FD4C-9BC8-1A2C812A6454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453750" y="3262537"/>
            <a:ext cx="1080000" cy="108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2D47F1-1C46-CF4B-98A3-34EC90467E84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174567" y="3262537"/>
            <a:ext cx="1080000" cy="108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EBB339-06D4-084E-BF47-04E58FE0756C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619785" y="2093648"/>
            <a:ext cx="1080000" cy="108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72C9A4-0CFD-1E4F-844A-E628FF9A67AC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7329756" y="2093648"/>
            <a:ext cx="1080000" cy="108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6235BAA-879C-A547-8E3B-48DC6082C59D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039675" y="2093648"/>
            <a:ext cx="1080000" cy="108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223AA0-02A7-9346-B095-2527A93F0F36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744224" y="2097551"/>
            <a:ext cx="1080000" cy="108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340CDDD-65AC-414D-B83B-73E77A0A892F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3451432" y="2097551"/>
            <a:ext cx="1080000" cy="108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2FD0772-A867-C84D-B443-62D46101191D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2158640" y="2097551"/>
            <a:ext cx="1080000" cy="108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1631E7C-BE29-2747-A6FB-D94AD2DD2AC1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8622600" y="933004"/>
            <a:ext cx="1080000" cy="1080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20E74D6-1178-CB42-97D9-9C05C8536279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329808" y="933004"/>
            <a:ext cx="1080000" cy="1080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C565E2A-111B-3B4A-8D60-457282A06B69}"/>
              </a:ext>
            </a:extLst>
          </p:cNvPr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6037016" y="933004"/>
            <a:ext cx="1080000" cy="1080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84FD918-BFFC-154E-BB11-F1AB7E55D022}"/>
              </a:ext>
            </a:extLst>
          </p:cNvPr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4744224" y="933004"/>
            <a:ext cx="1080000" cy="1080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0486E8D-791F-5A4D-AE8E-B9DF32EE43F1}"/>
              </a:ext>
            </a:extLst>
          </p:cNvPr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3451432" y="933004"/>
            <a:ext cx="1080000" cy="1080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6B802A4-5137-5E43-8797-2161E9D4A75A}"/>
              </a:ext>
            </a:extLst>
          </p:cNvPr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2158640" y="933004"/>
            <a:ext cx="1080000" cy="1080000"/>
          </a:xfrm>
          <a:prstGeom prst="rect">
            <a:avLst/>
          </a:prstGeom>
        </p:spPr>
      </p:pic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F15CB502-09E8-0E42-ABC1-1E8CCA35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9C0B2870-7350-8D40-A01A-CE539DF873CB}" type="slidenum">
              <a:rPr lang="en-US" smtClean="0"/>
              <a:t>79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DFFE14-E0FA-9A48-9951-D50AFA24835B}"/>
              </a:ext>
            </a:extLst>
          </p:cNvPr>
          <p:cNvSpPr txBox="1"/>
          <p:nvPr/>
        </p:nvSpPr>
        <p:spPr>
          <a:xfrm>
            <a:off x="2124232" y="278486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4B70EA5-9CBE-4344-8EEA-DC6DEEE55001}"/>
              </a:ext>
            </a:extLst>
          </p:cNvPr>
          <p:cNvGrpSpPr/>
          <p:nvPr/>
        </p:nvGrpSpPr>
        <p:grpSpPr>
          <a:xfrm>
            <a:off x="1807333" y="4467452"/>
            <a:ext cx="2086377" cy="1730061"/>
            <a:chOff x="283332" y="4467451"/>
            <a:chExt cx="2086377" cy="173006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EF2EA7D-A7A8-7645-A214-C53E9776CB63}"/>
                </a:ext>
              </a:extLst>
            </p:cNvPr>
            <p:cNvSpPr/>
            <p:nvPr/>
          </p:nvSpPr>
          <p:spPr>
            <a:xfrm>
              <a:off x="283332" y="5270233"/>
              <a:ext cx="2086377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Gill Sans MT" panose="020B0502020104020203" pitchFamily="34" charset="77"/>
                </a:rPr>
                <a:t>HoG</a:t>
              </a:r>
              <a:r>
                <a:rPr lang="en-US" dirty="0">
                  <a:latin typeface="Gill Sans MT" panose="020B0502020104020203" pitchFamily="34" charset="77"/>
                </a:rPr>
                <a:t> de </a:t>
              </a:r>
              <a:r>
                <a:rPr lang="en-US" dirty="0" err="1">
                  <a:latin typeface="Gill Sans MT" panose="020B0502020104020203" pitchFamily="34" charset="77"/>
                </a:rPr>
                <a:t>cada</a:t>
              </a:r>
              <a:r>
                <a:rPr lang="en-US" dirty="0">
                  <a:latin typeface="Gill Sans MT" panose="020B0502020104020203" pitchFamily="34" charset="77"/>
                </a:rPr>
                <a:t> una </a:t>
              </a:r>
            </a:p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de los </a:t>
              </a:r>
              <a:r>
                <a:rPr lang="en-US" dirty="0" err="1">
                  <a:latin typeface="Gill Sans MT" panose="020B0502020104020203" pitchFamily="34" charset="77"/>
                </a:rPr>
                <a:t>Tigres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8293395-C1F9-1A46-9755-893B2EE17C52}"/>
                </a:ext>
              </a:extLst>
            </p:cNvPr>
            <p:cNvCxnSpPr>
              <a:cxnSpLocks/>
            </p:cNvCxnSpPr>
            <p:nvPr/>
          </p:nvCxnSpPr>
          <p:spPr>
            <a:xfrm>
              <a:off x="1326521" y="4467451"/>
              <a:ext cx="0" cy="79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E7F39E-6D91-E44C-91D4-73443AB4283D}"/>
              </a:ext>
            </a:extLst>
          </p:cNvPr>
          <p:cNvGrpSpPr/>
          <p:nvPr/>
        </p:nvGrpSpPr>
        <p:grpSpPr>
          <a:xfrm>
            <a:off x="3893710" y="5270233"/>
            <a:ext cx="1584103" cy="927279"/>
            <a:chOff x="2369709" y="5270232"/>
            <a:chExt cx="1584103" cy="927279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7D72EC7-34ED-9442-B6F4-F0C921C7AEF3}"/>
                </a:ext>
              </a:extLst>
            </p:cNvPr>
            <p:cNvCxnSpPr>
              <a:cxnSpLocks/>
              <a:stCxn id="25" idx="3"/>
              <a:endCxn id="31" idx="1"/>
            </p:cNvCxnSpPr>
            <p:nvPr/>
          </p:nvCxnSpPr>
          <p:spPr>
            <a:xfrm flipV="1">
              <a:off x="2369709" y="5733872"/>
              <a:ext cx="30480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98CA034-6C1A-D547-808C-2FCFF411ED21}"/>
                </a:ext>
              </a:extLst>
            </p:cNvPr>
            <p:cNvSpPr/>
            <p:nvPr/>
          </p:nvSpPr>
          <p:spPr>
            <a:xfrm>
              <a:off x="2674512" y="5270232"/>
              <a:ext cx="1279300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K-means de </a:t>
              </a:r>
              <a:r>
                <a:rPr lang="en-US" dirty="0" err="1">
                  <a:latin typeface="Gill Sans MT" panose="020B0502020104020203" pitchFamily="34" charset="77"/>
                </a:rPr>
                <a:t>todos</a:t>
              </a:r>
              <a:r>
                <a:rPr lang="en-US" dirty="0"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</a:rPr>
                <a:t>los</a:t>
              </a:r>
              <a:r>
                <a:rPr lang="en-US" dirty="0"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</a:rPr>
                <a:t>HoG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2DB8B1E-2E25-E746-993A-0225D9AE677B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5477812" y="5670102"/>
            <a:ext cx="618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AC320BB-3F42-AA46-9F2D-EE4A0F3A7074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5055156"/>
          <a:ext cx="2973190" cy="1280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9" name="Picture 38">
            <a:extLst>
              <a:ext uri="{FF2B5EF4-FFF2-40B4-BE49-F238E27FC236}">
                <a16:creationId xmlns:a16="http://schemas.microsoft.com/office/drawing/2014/main" id="{D2C2DC59-E3D1-DB4A-8372-9CA01621799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0" y="4647910"/>
            <a:ext cx="3429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5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2C375BE-37D3-8B4A-A4E6-489512B0D26F}"/>
              </a:ext>
            </a:extLst>
          </p:cNvPr>
          <p:cNvSpPr/>
          <p:nvPr/>
        </p:nvSpPr>
        <p:spPr>
          <a:xfrm>
            <a:off x="1910367" y="814838"/>
            <a:ext cx="8126569" cy="3652613"/>
          </a:xfrm>
          <a:prstGeom prst="roundRect">
            <a:avLst>
              <a:gd name="adj" fmla="val 458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7B7354-CE54-5E42-8841-BB8FD49F4BB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37016" y="3254292"/>
            <a:ext cx="1080000" cy="10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403901-9FEB-1F4A-81FA-1267B173892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328739" y="3262537"/>
            <a:ext cx="1080000" cy="10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6D5E80-24AA-384A-8FC2-09F404376EE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619785" y="3254292"/>
            <a:ext cx="1080000" cy="108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8D0D28-D250-3D48-A9AA-8E2F42E54FC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744224" y="3268873"/>
            <a:ext cx="1080000" cy="108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A1F969-94F9-FD4C-9BC8-1A2C812A6454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453750" y="3262537"/>
            <a:ext cx="1080000" cy="108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2D47F1-1C46-CF4B-98A3-34EC90467E84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174567" y="3262537"/>
            <a:ext cx="1080000" cy="108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EBB339-06D4-084E-BF47-04E58FE0756C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619785" y="2093648"/>
            <a:ext cx="1080000" cy="108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72C9A4-0CFD-1E4F-844A-E628FF9A67AC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7329756" y="2093648"/>
            <a:ext cx="1080000" cy="108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6235BAA-879C-A547-8E3B-48DC6082C59D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039675" y="2093648"/>
            <a:ext cx="1080000" cy="108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223AA0-02A7-9346-B095-2527A93F0F36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744224" y="2097551"/>
            <a:ext cx="1080000" cy="108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340CDDD-65AC-414D-B83B-73E77A0A892F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3451432" y="2097551"/>
            <a:ext cx="1080000" cy="108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2FD0772-A867-C84D-B443-62D46101191D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2158640" y="2097551"/>
            <a:ext cx="1080000" cy="108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1631E7C-BE29-2747-A6FB-D94AD2DD2AC1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8622600" y="933004"/>
            <a:ext cx="1080000" cy="1080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20E74D6-1178-CB42-97D9-9C05C8536279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329808" y="933004"/>
            <a:ext cx="1080000" cy="1080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C565E2A-111B-3B4A-8D60-457282A06B69}"/>
              </a:ext>
            </a:extLst>
          </p:cNvPr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6037016" y="933004"/>
            <a:ext cx="1080000" cy="1080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84FD918-BFFC-154E-BB11-F1AB7E55D022}"/>
              </a:ext>
            </a:extLst>
          </p:cNvPr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4744224" y="933004"/>
            <a:ext cx="1080000" cy="1080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0486E8D-791F-5A4D-AE8E-B9DF32EE43F1}"/>
              </a:ext>
            </a:extLst>
          </p:cNvPr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3451432" y="933004"/>
            <a:ext cx="1080000" cy="1080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6B802A4-5137-5E43-8797-2161E9D4A75A}"/>
              </a:ext>
            </a:extLst>
          </p:cNvPr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2158640" y="933004"/>
            <a:ext cx="1080000" cy="1080000"/>
          </a:xfrm>
          <a:prstGeom prst="rect">
            <a:avLst/>
          </a:prstGeom>
        </p:spPr>
      </p:pic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F15CB502-09E8-0E42-ABC1-1E8CCA35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9C0B2870-7350-8D40-A01A-CE539DF873CB}" type="slidenum">
              <a:rPr lang="en-US" smtClean="0"/>
              <a:t>80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DFFE14-E0FA-9A48-9951-D50AFA24835B}"/>
              </a:ext>
            </a:extLst>
          </p:cNvPr>
          <p:cNvSpPr txBox="1"/>
          <p:nvPr/>
        </p:nvSpPr>
        <p:spPr>
          <a:xfrm>
            <a:off x="2124232" y="278486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4B70EA5-9CBE-4344-8EEA-DC6DEEE55001}"/>
              </a:ext>
            </a:extLst>
          </p:cNvPr>
          <p:cNvGrpSpPr/>
          <p:nvPr/>
        </p:nvGrpSpPr>
        <p:grpSpPr>
          <a:xfrm>
            <a:off x="1807333" y="4467452"/>
            <a:ext cx="2086377" cy="1730061"/>
            <a:chOff x="283332" y="4467451"/>
            <a:chExt cx="2086377" cy="173006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EF2EA7D-A7A8-7645-A214-C53E9776CB63}"/>
                </a:ext>
              </a:extLst>
            </p:cNvPr>
            <p:cNvSpPr/>
            <p:nvPr/>
          </p:nvSpPr>
          <p:spPr>
            <a:xfrm>
              <a:off x="283332" y="5270233"/>
              <a:ext cx="2086377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Gill Sans MT" panose="020B0502020104020203" pitchFamily="34" charset="77"/>
                </a:rPr>
                <a:t>HoG</a:t>
              </a:r>
              <a:r>
                <a:rPr lang="en-US" dirty="0">
                  <a:latin typeface="Gill Sans MT" panose="020B0502020104020203" pitchFamily="34" charset="77"/>
                </a:rPr>
                <a:t> de </a:t>
              </a:r>
              <a:r>
                <a:rPr lang="en-US" dirty="0" err="1">
                  <a:latin typeface="Gill Sans MT" panose="020B0502020104020203" pitchFamily="34" charset="77"/>
                </a:rPr>
                <a:t>cada</a:t>
              </a:r>
              <a:r>
                <a:rPr lang="en-US" dirty="0">
                  <a:latin typeface="Gill Sans MT" panose="020B0502020104020203" pitchFamily="34" charset="77"/>
                </a:rPr>
                <a:t> una </a:t>
              </a:r>
            </a:p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de los </a:t>
              </a:r>
              <a:r>
                <a:rPr lang="en-US" dirty="0" err="1">
                  <a:latin typeface="Gill Sans MT" panose="020B0502020104020203" pitchFamily="34" charset="77"/>
                </a:rPr>
                <a:t>Tigres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8293395-C1F9-1A46-9755-893B2EE17C52}"/>
                </a:ext>
              </a:extLst>
            </p:cNvPr>
            <p:cNvCxnSpPr>
              <a:cxnSpLocks/>
            </p:cNvCxnSpPr>
            <p:nvPr/>
          </p:nvCxnSpPr>
          <p:spPr>
            <a:xfrm>
              <a:off x="1326521" y="4467451"/>
              <a:ext cx="0" cy="79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E7F39E-6D91-E44C-91D4-73443AB4283D}"/>
              </a:ext>
            </a:extLst>
          </p:cNvPr>
          <p:cNvGrpSpPr/>
          <p:nvPr/>
        </p:nvGrpSpPr>
        <p:grpSpPr>
          <a:xfrm>
            <a:off x="3893710" y="5270233"/>
            <a:ext cx="1584103" cy="927279"/>
            <a:chOff x="2369709" y="5270232"/>
            <a:chExt cx="1584103" cy="927279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7D72EC7-34ED-9442-B6F4-F0C921C7AEF3}"/>
                </a:ext>
              </a:extLst>
            </p:cNvPr>
            <p:cNvCxnSpPr>
              <a:cxnSpLocks/>
              <a:stCxn id="25" idx="3"/>
              <a:endCxn id="31" idx="1"/>
            </p:cNvCxnSpPr>
            <p:nvPr/>
          </p:nvCxnSpPr>
          <p:spPr>
            <a:xfrm flipV="1">
              <a:off x="2369709" y="5733872"/>
              <a:ext cx="30480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98CA034-6C1A-D547-808C-2FCFF411ED21}"/>
                </a:ext>
              </a:extLst>
            </p:cNvPr>
            <p:cNvSpPr/>
            <p:nvPr/>
          </p:nvSpPr>
          <p:spPr>
            <a:xfrm>
              <a:off x="2674512" y="5270232"/>
              <a:ext cx="1279300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K-means de </a:t>
              </a:r>
              <a:r>
                <a:rPr lang="en-US" dirty="0" err="1">
                  <a:latin typeface="Gill Sans MT" panose="020B0502020104020203" pitchFamily="34" charset="77"/>
                </a:rPr>
                <a:t>todos</a:t>
              </a:r>
              <a:r>
                <a:rPr lang="en-US" dirty="0"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</a:rPr>
                <a:t>los</a:t>
              </a:r>
              <a:r>
                <a:rPr lang="en-US" dirty="0"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</a:rPr>
                <a:t>HoG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2DB8B1E-2E25-E746-993A-0225D9AE677B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5477812" y="5670102"/>
            <a:ext cx="618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AC320BB-3F42-AA46-9F2D-EE4A0F3A7074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5055156"/>
          <a:ext cx="2973190" cy="1280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F04909C2-E0AC-0F48-A43E-7C762868D5D9}"/>
              </a:ext>
            </a:extLst>
          </p:cNvPr>
          <p:cNvSpPr txBox="1"/>
          <p:nvPr/>
        </p:nvSpPr>
        <p:spPr>
          <a:xfrm>
            <a:off x="9406795" y="5289980"/>
            <a:ext cx="12602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latin typeface="Gill Sans MT" panose="020B0502020104020203" pitchFamily="34" charset="77"/>
              </a:rPr>
              <a:t>Diccionario</a:t>
            </a:r>
            <a:r>
              <a:rPr lang="en-US" sz="1400" dirty="0">
                <a:latin typeface="Gill Sans MT" panose="020B0502020104020203" pitchFamily="34" charset="77"/>
              </a:rPr>
              <a:t> de</a:t>
            </a:r>
          </a:p>
          <a:p>
            <a:pPr algn="ctr"/>
            <a:r>
              <a:rPr lang="en-US" sz="1400" dirty="0">
                <a:latin typeface="Gill Sans MT" panose="020B0502020104020203" pitchFamily="34" charset="77"/>
              </a:rPr>
              <a:t>K palabras</a:t>
            </a:r>
          </a:p>
          <a:p>
            <a:pPr algn="ctr"/>
            <a:r>
              <a:rPr lang="en-US" sz="1400" dirty="0" err="1">
                <a:latin typeface="Gill Sans MT" panose="020B0502020104020203" pitchFamily="34" charset="77"/>
              </a:rPr>
              <a:t>visuales</a:t>
            </a:r>
            <a:endParaRPr lang="en-US" sz="1400" dirty="0">
              <a:latin typeface="Gill Sans MT" panose="020B0502020104020203" pitchFamily="34" charset="77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2C2DC59-E3D1-DB4A-8372-9CA01621799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0" y="4647910"/>
            <a:ext cx="342900" cy="317500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4759E32-8F5E-D845-A49A-10C2E3CE3F74}"/>
              </a:ext>
            </a:extLst>
          </p:cNvPr>
          <p:cNvCxnSpPr/>
          <p:nvPr/>
        </p:nvCxnSpPr>
        <p:spPr>
          <a:xfrm>
            <a:off x="6214509" y="6555607"/>
            <a:ext cx="297319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54DE3BE-49AF-864B-9196-6FB0C68F50BC}"/>
              </a:ext>
            </a:extLst>
          </p:cNvPr>
          <p:cNvSpPr txBox="1"/>
          <p:nvPr/>
        </p:nvSpPr>
        <p:spPr>
          <a:xfrm>
            <a:off x="7455190" y="6393801"/>
            <a:ext cx="364202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imes" charset="0"/>
                <a:cs typeface="Times" charset="0"/>
              </a:rPr>
              <a:t>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301461E-E0CA-6542-B515-52579E204C5F}"/>
              </a:ext>
            </a:extLst>
          </p:cNvPr>
          <p:cNvCxnSpPr/>
          <p:nvPr/>
        </p:nvCxnSpPr>
        <p:spPr>
          <a:xfrm flipV="1">
            <a:off x="9341478" y="5167672"/>
            <a:ext cx="0" cy="105552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6F26B95-5B2C-4C4C-A20E-DC38186179DF}"/>
              </a:ext>
            </a:extLst>
          </p:cNvPr>
          <p:cNvSpPr txBox="1"/>
          <p:nvPr/>
        </p:nvSpPr>
        <p:spPr>
          <a:xfrm>
            <a:off x="9187699" y="5474646"/>
            <a:ext cx="338554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imes" charset="0"/>
                <a:cs typeface="Times" charset="0"/>
              </a:rPr>
              <a:t>K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08C4F4-57ED-604C-9382-0996D6A32A9D}"/>
              </a:ext>
            </a:extLst>
          </p:cNvPr>
          <p:cNvSpPr txBox="1"/>
          <p:nvPr/>
        </p:nvSpPr>
        <p:spPr>
          <a:xfrm>
            <a:off x="6410945" y="4701021"/>
            <a:ext cx="2370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latin typeface="Gill Sans MT" panose="020B0502020104020203" pitchFamily="34" charset="77"/>
              </a:rPr>
              <a:t>Coordenadas</a:t>
            </a:r>
            <a:r>
              <a:rPr lang="en-US" sz="1400" dirty="0">
                <a:latin typeface="Gill Sans MT" panose="020B0502020104020203" pitchFamily="34" charset="77"/>
              </a:rPr>
              <a:t> de K </a:t>
            </a:r>
            <a:r>
              <a:rPr lang="en-US" sz="1400" dirty="0" err="1">
                <a:latin typeface="Gill Sans MT" panose="020B0502020104020203" pitchFamily="34" charset="77"/>
              </a:rPr>
              <a:t>centroides</a:t>
            </a:r>
            <a:endParaRPr lang="en-US" sz="14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894226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9B56-22B5-AF4E-9446-C5309E1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81</a:t>
            </a:fld>
            <a:endParaRPr lang="en-US"/>
          </a:p>
        </p:txBody>
      </p: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F15BED51-3303-4840-B3B6-F0360D9B4036}"/>
              </a:ext>
            </a:extLst>
          </p:cNvPr>
          <p:cNvGrpSpPr/>
          <p:nvPr/>
        </p:nvGrpSpPr>
        <p:grpSpPr>
          <a:xfrm>
            <a:off x="4043972" y="1903810"/>
            <a:ext cx="1936118" cy="927279"/>
            <a:chOff x="2519972" y="1903809"/>
            <a:chExt cx="1936118" cy="92727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E59A26-69CF-A147-9F1C-BFAD1FA95012}"/>
                </a:ext>
              </a:extLst>
            </p:cNvPr>
            <p:cNvSpPr/>
            <p:nvPr/>
          </p:nvSpPr>
          <p:spPr>
            <a:xfrm>
              <a:off x="2820339" y="1903809"/>
              <a:ext cx="1635751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Gill Sans MT" panose="020B0502020104020203" pitchFamily="34" charset="77"/>
                </a:rPr>
                <a:t>HoG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D1540F7-C9C5-DB49-A1FA-6BB6BCB877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9972" y="2363783"/>
              <a:ext cx="30480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E359C663-6F54-2248-BA25-ECB72D058E6F}"/>
              </a:ext>
            </a:extLst>
          </p:cNvPr>
          <p:cNvGrpSpPr/>
          <p:nvPr/>
        </p:nvGrpSpPr>
        <p:grpSpPr>
          <a:xfrm>
            <a:off x="7602692" y="1903809"/>
            <a:ext cx="2880436" cy="927279"/>
            <a:chOff x="6078692" y="1903808"/>
            <a:chExt cx="2880436" cy="927279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93BA4E6-F675-B04D-8CD6-B218E90C86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8692" y="2342313"/>
              <a:ext cx="30480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76CBE9-7FE7-E149-AAFD-37E48A243A36}"/>
                </a:ext>
              </a:extLst>
            </p:cNvPr>
            <p:cNvSpPr/>
            <p:nvPr/>
          </p:nvSpPr>
          <p:spPr>
            <a:xfrm>
              <a:off x="6383495" y="1903808"/>
              <a:ext cx="1279300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latin typeface="Gill Sans MT" panose="020B0502020104020203" pitchFamily="34" charset="77"/>
                </a:rPr>
                <a:t>Histograma</a:t>
              </a:r>
              <a:endParaRPr lang="en-US" sz="16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D82264C-BECD-AF4A-8E4F-6DC79BF7D9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2795" y="2342313"/>
              <a:ext cx="30480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E2CDEA5-0247-1F47-8245-88F17D9022A9}"/>
                </a:ext>
              </a:extLst>
            </p:cNvPr>
            <p:cNvGrpSpPr/>
            <p:nvPr/>
          </p:nvGrpSpPr>
          <p:grpSpPr>
            <a:xfrm>
              <a:off x="8022055" y="1981081"/>
              <a:ext cx="937073" cy="637503"/>
              <a:chOff x="5038724" y="2361906"/>
              <a:chExt cx="1728788" cy="761220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5875C6A-79CA-5E45-BD2D-702B16A379A5}"/>
                  </a:ext>
                </a:extLst>
              </p:cNvPr>
              <p:cNvCxnSpPr/>
              <p:nvPr/>
            </p:nvCxnSpPr>
            <p:spPr>
              <a:xfrm>
                <a:off x="5038724" y="3013589"/>
                <a:ext cx="172878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BB0CE80F-1A3E-F24F-8A4D-CC1711AA6680}"/>
                  </a:ext>
                </a:extLst>
              </p:cNvPr>
              <p:cNvCxnSpPr/>
              <p:nvPr/>
            </p:nvCxnSpPr>
            <p:spPr>
              <a:xfrm flipH="1" flipV="1">
                <a:off x="5146625" y="2361906"/>
                <a:ext cx="1635" cy="761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EE3F9B9-5F2A-2B4B-9A05-3DD66F1B40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81608" y="2561976"/>
                <a:ext cx="0" cy="456539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25BBD1F-98BE-674B-8B2F-37D3A60C5E93}"/>
                  </a:ext>
                </a:extLst>
              </p:cNvPr>
              <p:cNvCxnSpPr/>
              <p:nvPr/>
            </p:nvCxnSpPr>
            <p:spPr>
              <a:xfrm flipV="1">
                <a:off x="6158919" y="2604183"/>
                <a:ext cx="953" cy="409566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FC4725E-2617-8B40-9F0B-EC51B9655F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23417" y="2650108"/>
                <a:ext cx="0" cy="371028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D8B65A3F-1E6B-104B-87AF-44B8F8F6DD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9674" y="2938984"/>
                <a:ext cx="0" cy="77058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D3D1FAF8-DAD1-7B4A-A8CE-7FE3F857CA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35606" y="2890022"/>
                <a:ext cx="0" cy="124949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340D648-BF68-FF4F-82EA-33187EE032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88006" y="2793240"/>
                <a:ext cx="0" cy="216642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F73A25A-3DF5-6749-837A-0BE9862D22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26281" y="2650108"/>
                <a:ext cx="0" cy="366091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BF9F50A-B231-B546-B966-EF26D5A4C917}"/>
                  </a:ext>
                </a:extLst>
              </p:cNvPr>
              <p:cNvCxnSpPr/>
              <p:nvPr/>
            </p:nvCxnSpPr>
            <p:spPr>
              <a:xfrm flipV="1">
                <a:off x="6308143" y="2761379"/>
                <a:ext cx="0" cy="254176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23F8333-77FB-4B48-B917-99D5DC68A4CE}"/>
                  </a:ext>
                </a:extLst>
              </p:cNvPr>
              <p:cNvCxnSpPr/>
              <p:nvPr/>
            </p:nvCxnSpPr>
            <p:spPr>
              <a:xfrm flipV="1">
                <a:off x="6460543" y="2756290"/>
                <a:ext cx="0" cy="254176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762EED3A-9F07-7E4D-AFFD-9F00DE03475D}"/>
                  </a:ext>
                </a:extLst>
              </p:cNvPr>
              <p:cNvCxnSpPr/>
              <p:nvPr/>
            </p:nvCxnSpPr>
            <p:spPr>
              <a:xfrm flipV="1">
                <a:off x="6598819" y="2497689"/>
                <a:ext cx="0" cy="519094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494C9418-4D60-094E-8A34-7C5B6EE6B887}"/>
              </a:ext>
            </a:extLst>
          </p:cNvPr>
          <p:cNvGrpSpPr/>
          <p:nvPr/>
        </p:nvGrpSpPr>
        <p:grpSpPr>
          <a:xfrm>
            <a:off x="5980090" y="836371"/>
            <a:ext cx="1622602" cy="1994716"/>
            <a:chOff x="4456090" y="836371"/>
            <a:chExt cx="1622602" cy="1994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CE5A37E-C3B0-944E-B96F-7FCCD722CB76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 flipV="1">
              <a:off x="4456090" y="2367448"/>
              <a:ext cx="34330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4F9698-3CCF-8D4F-B438-35AC851EB301}"/>
                </a:ext>
              </a:extLst>
            </p:cNvPr>
            <p:cNvSpPr/>
            <p:nvPr/>
          </p:nvSpPr>
          <p:spPr>
            <a:xfrm>
              <a:off x="4799392" y="1903808"/>
              <a:ext cx="1279300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latin typeface="Gill Sans MT" panose="020B0502020104020203" pitchFamily="34" charset="77"/>
                </a:rPr>
                <a:t>Codificación</a:t>
              </a:r>
              <a:endParaRPr lang="en-US" sz="16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18DABD0-77B4-1F4E-9B72-74FB41D380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7721" y="1231145"/>
              <a:ext cx="0" cy="6855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6AAB051-C335-9748-A004-C76C84FAB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41834" y="836371"/>
              <a:ext cx="342900" cy="317500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F0FF79E-FB1C-C740-87AB-91102E20B292}"/>
              </a:ext>
            </a:extLst>
          </p:cNvPr>
          <p:cNvSpPr txBox="1"/>
          <p:nvPr/>
        </p:nvSpPr>
        <p:spPr>
          <a:xfrm>
            <a:off x="2124232" y="278486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3F3905A7-9179-9D43-B0BF-A97A87661C3C}"/>
              </a:ext>
            </a:extLst>
          </p:cNvPr>
          <p:cNvGrpSpPr/>
          <p:nvPr/>
        </p:nvGrpSpPr>
        <p:grpSpPr>
          <a:xfrm>
            <a:off x="2001147" y="3536038"/>
            <a:ext cx="2982957" cy="3065268"/>
            <a:chOff x="477146" y="3536038"/>
            <a:chExt cx="2982957" cy="3065268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FAC631E-05CF-6C4A-BD5F-A08A5679BB36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4267" y="6213458"/>
              <a:ext cx="180000" cy="18000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1899A7B2-6EFB-DC40-AD0D-E3620CAAA136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267" y="6421306"/>
              <a:ext cx="180000" cy="1800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956AC178-1BC2-504D-86E6-3DA61BA0E2D2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7146" y="6006188"/>
              <a:ext cx="180000" cy="180000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D0E05DCA-7983-C841-9C2D-CC69B1A1F9B7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7146" y="5799981"/>
              <a:ext cx="180000" cy="18000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3B6B219-FDC6-F347-94C4-69E76DEA11ED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7952" y="5592133"/>
              <a:ext cx="180000" cy="18000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50E8B3F6-521E-E04A-B37D-0EC779AE4CFF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7952" y="5392704"/>
              <a:ext cx="180000" cy="1800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B94FC0D-D7B1-3C47-AA61-7E8F201E7F01}"/>
                </a:ext>
              </a:extLst>
            </p:cNvPr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7952" y="5192215"/>
              <a:ext cx="180000" cy="18000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B3035ED8-D541-304D-B4B4-0D34D78087B5}"/>
                </a:ext>
              </a:extLst>
            </p:cNvPr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84267" y="4991262"/>
              <a:ext cx="180000" cy="180000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D18CD376-B297-AC4A-B0FF-92CF0BECBEFD}"/>
                </a:ext>
              </a:extLst>
            </p:cNvPr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1789" y="4791044"/>
              <a:ext cx="180000" cy="18000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7A6541EF-3F8C-2241-8785-707702DC957D}"/>
                </a:ext>
              </a:extLst>
            </p:cNvPr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77952" y="4590829"/>
              <a:ext cx="180000" cy="180000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5BA56213-AD7C-DC43-B655-BAAF82E30367}"/>
                </a:ext>
              </a:extLst>
            </p:cNvPr>
            <p:cNvPicPr>
              <a:picLocks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84267" y="4392069"/>
              <a:ext cx="180000" cy="180000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DD6D7E25-0C34-4C41-888B-E270C34E2BB4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80331" y="4189112"/>
              <a:ext cx="180000" cy="180000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1169154-5A86-6E46-9CBE-166E7E6C1E4E}"/>
                </a:ext>
              </a:extLst>
            </p:cNvPr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77952" y="3984986"/>
              <a:ext cx="180000" cy="180000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DB74FFA7-4693-CD4E-9DD3-93F0474348D0}"/>
                </a:ext>
              </a:extLst>
            </p:cNvPr>
            <p:cNvPicPr>
              <a:picLocks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79815" y="3780860"/>
              <a:ext cx="180000" cy="180000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AB58B444-0FA5-CE4C-B82B-AD3551292B4C}"/>
                </a:ext>
              </a:extLst>
            </p:cNvPr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77952" y="3580325"/>
              <a:ext cx="180000" cy="180000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849B50A1-13DE-504E-B6F9-6950B2D0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177644" y="3536038"/>
              <a:ext cx="2282459" cy="3060000"/>
            </a:xfrm>
            <a:prstGeom prst="rect">
              <a:avLst/>
            </a:prstGeom>
          </p:spPr>
        </p:pic>
      </p:grpSp>
      <p:pic>
        <p:nvPicPr>
          <p:cNvPr id="1025" name="Picture 1024">
            <a:extLst>
              <a:ext uri="{FF2B5EF4-FFF2-40B4-BE49-F238E27FC236}">
                <a16:creationId xmlns:a16="http://schemas.microsoft.com/office/drawing/2014/main" id="{B3A018FF-A445-7948-9ADF-A4FAC66BD16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88886" y="3547236"/>
            <a:ext cx="346883" cy="3060000"/>
          </a:xfrm>
          <a:prstGeom prst="rect">
            <a:avLst/>
          </a:prstGeom>
        </p:spPr>
      </p:pic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64D736FC-38BB-F84F-B3D7-9838CB899EAA}"/>
              </a:ext>
            </a:extLst>
          </p:cNvPr>
          <p:cNvGrpSpPr/>
          <p:nvPr/>
        </p:nvGrpSpPr>
        <p:grpSpPr>
          <a:xfrm>
            <a:off x="8145080" y="390781"/>
            <a:ext cx="2324100" cy="1418952"/>
            <a:chOff x="6621080" y="390781"/>
            <a:chExt cx="2324100" cy="1418952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DBB358A-7DE7-B149-88C5-02D86A73F751}"/>
                </a:ext>
              </a:extLst>
            </p:cNvPr>
            <p:cNvCxnSpPr>
              <a:cxnSpLocks/>
            </p:cNvCxnSpPr>
            <p:nvPr/>
          </p:nvCxnSpPr>
          <p:spPr>
            <a:xfrm>
              <a:off x="6622084" y="792418"/>
              <a:ext cx="2245606" cy="0"/>
            </a:xfrm>
            <a:prstGeom prst="straightConnector1">
              <a:avLst/>
            </a:prstGeom>
            <a:ln w="15875">
              <a:solidFill>
                <a:schemeClr val="bg1">
                  <a:lumMod val="65000"/>
                </a:schemeClr>
              </a:solidFill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0699540-CC0B-014B-A425-C0C5DC4C0E58}"/>
                </a:ext>
              </a:extLst>
            </p:cNvPr>
            <p:cNvSpPr txBox="1"/>
            <p:nvPr/>
          </p:nvSpPr>
          <p:spPr>
            <a:xfrm>
              <a:off x="7573806" y="390781"/>
              <a:ext cx="335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K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00B5F0A0-5CDD-1245-B85D-6D8741869D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2400" y="1153871"/>
              <a:ext cx="8191" cy="655862"/>
            </a:xfrm>
            <a:prstGeom prst="straightConnector1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olid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28" name="Picture 1027">
              <a:extLst>
                <a:ext uri="{FF2B5EF4-FFF2-40B4-BE49-F238E27FC236}">
                  <a16:creationId xmlns:a16="http://schemas.microsoft.com/office/drawing/2014/main" id="{512F3D8D-7F94-FF49-A200-EBED9EC5D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621080" y="1011907"/>
              <a:ext cx="2324100" cy="279400"/>
            </a:xfrm>
            <a:prstGeom prst="rect">
              <a:avLst/>
            </a:prstGeom>
          </p:spPr>
        </p:pic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F85CB347-BEB6-9745-9FEC-A96D40E0B033}"/>
              </a:ext>
            </a:extLst>
          </p:cNvPr>
          <p:cNvGrpSpPr/>
          <p:nvPr/>
        </p:nvGrpSpPr>
        <p:grpSpPr>
          <a:xfrm>
            <a:off x="2701645" y="3150176"/>
            <a:ext cx="2946641" cy="385862"/>
            <a:chOff x="1177644" y="3150176"/>
            <a:chExt cx="2946641" cy="385862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0D7FA470-3714-8449-9D0D-620D62CDA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177644" y="3150176"/>
              <a:ext cx="368300" cy="317500"/>
            </a:xfrm>
            <a:prstGeom prst="rect">
              <a:avLst/>
            </a:prstGeom>
          </p:spPr>
        </p:pic>
        <p:pic>
          <p:nvPicPr>
            <p:cNvPr id="1030" name="Picture 1029">
              <a:extLst>
                <a:ext uri="{FF2B5EF4-FFF2-40B4-BE49-F238E27FC236}">
                  <a16:creationId xmlns:a16="http://schemas.microsoft.com/office/drawing/2014/main" id="{3742D50F-940D-104B-A6E8-E94D1DFAF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857585" y="3231238"/>
              <a:ext cx="266700" cy="304800"/>
            </a:xfrm>
            <a:prstGeom prst="rect">
              <a:avLst/>
            </a:prstGeom>
          </p:spPr>
        </p:pic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1EC1361C-4FB3-844E-8DCB-892E30DE75D6}"/>
              </a:ext>
            </a:extLst>
          </p:cNvPr>
          <p:cNvGrpSpPr/>
          <p:nvPr/>
        </p:nvGrpSpPr>
        <p:grpSpPr>
          <a:xfrm>
            <a:off x="5826177" y="3597754"/>
            <a:ext cx="3669949" cy="2966592"/>
            <a:chOff x="4302177" y="3597754"/>
            <a:chExt cx="3669949" cy="2966592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07CCE812-CC09-8E4A-AEEF-DFB3B3236D41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 flipV="1">
              <a:off x="4594384" y="5079250"/>
              <a:ext cx="34330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9BAC7C1-5EA5-BF48-81AA-44837DE307F2}"/>
                </a:ext>
              </a:extLst>
            </p:cNvPr>
            <p:cNvSpPr/>
            <p:nvPr/>
          </p:nvSpPr>
          <p:spPr>
            <a:xfrm>
              <a:off x="4937686" y="4615610"/>
              <a:ext cx="1279300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latin typeface="Gill Sans MT" panose="020B0502020104020203" pitchFamily="34" charset="77"/>
                </a:rPr>
                <a:t>Entrenar</a:t>
              </a:r>
              <a:endParaRPr lang="en-US" sz="1600" dirty="0">
                <a:latin typeface="Gill Sans MT" panose="020B0502020104020203" pitchFamily="34" charset="77"/>
              </a:endParaRPr>
            </a:p>
            <a:p>
              <a:pPr algn="ctr"/>
              <a:r>
                <a:rPr lang="en-US" sz="1600" dirty="0" err="1">
                  <a:latin typeface="Gill Sans MT" panose="020B0502020104020203" pitchFamily="34" charset="77"/>
                </a:rPr>
                <a:t>Clasificador</a:t>
              </a:r>
              <a:endParaRPr lang="en-US" sz="16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C609073D-C042-3545-8BC7-2D5F75B6BE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6986" y="5054115"/>
              <a:ext cx="30480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91D6209-708C-B044-AF80-571438393C3C}"/>
                </a:ext>
              </a:extLst>
            </p:cNvPr>
            <p:cNvSpPr txBox="1"/>
            <p:nvPr/>
          </p:nvSpPr>
          <p:spPr>
            <a:xfrm>
              <a:off x="6692609" y="4740729"/>
              <a:ext cx="12795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Gill Sans MT" panose="020B0502020104020203" pitchFamily="34" charset="77"/>
                </a:rPr>
                <a:t>Clasificador</a:t>
              </a:r>
              <a:endParaRPr lang="en-US" dirty="0">
                <a:latin typeface="Gill Sans MT" panose="020B0502020104020203" pitchFamily="34" charset="77"/>
              </a:endParaRPr>
            </a:p>
            <a:p>
              <a:pPr algn="ctr"/>
              <a:r>
                <a:rPr lang="en-US" dirty="0" err="1">
                  <a:latin typeface="Gill Sans MT" panose="020B0502020104020203" pitchFamily="34" charset="77"/>
                </a:rPr>
                <a:t>Entrenado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31" name="Right Brace 1030">
              <a:extLst>
                <a:ext uri="{FF2B5EF4-FFF2-40B4-BE49-F238E27FC236}">
                  <a16:creationId xmlns:a16="http://schemas.microsoft.com/office/drawing/2014/main" id="{256F5DF3-BA75-7A44-BB01-5B99E517A9EB}"/>
                </a:ext>
              </a:extLst>
            </p:cNvPr>
            <p:cNvSpPr/>
            <p:nvPr/>
          </p:nvSpPr>
          <p:spPr>
            <a:xfrm>
              <a:off x="4302177" y="3597754"/>
              <a:ext cx="149902" cy="2966592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1E9291CC-4E23-D542-847F-D3FF65874A56}"/>
              </a:ext>
            </a:extLst>
          </p:cNvPr>
          <p:cNvGrpSpPr/>
          <p:nvPr/>
        </p:nvGrpSpPr>
        <p:grpSpPr>
          <a:xfrm>
            <a:off x="1614153" y="1295286"/>
            <a:ext cx="3333348" cy="1600197"/>
            <a:chOff x="90152" y="1295285"/>
            <a:chExt cx="3333348" cy="16001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C018D3-D555-2A4A-8BB9-22EF5D97611B}"/>
                </a:ext>
              </a:extLst>
            </p:cNvPr>
            <p:cNvSpPr txBox="1"/>
            <p:nvPr/>
          </p:nvSpPr>
          <p:spPr>
            <a:xfrm>
              <a:off x="90152" y="1295285"/>
              <a:ext cx="3333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Para </a:t>
              </a:r>
              <a:r>
                <a:rPr lang="en-US" dirty="0" err="1">
                  <a:latin typeface="Gill Sans MT" panose="020B0502020104020203" pitchFamily="34" charset="77"/>
                </a:rPr>
                <a:t>cada</a:t>
              </a:r>
              <a:r>
                <a:rPr lang="en-US" dirty="0"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</a:rPr>
                <a:t>tigre</a:t>
              </a:r>
              <a:r>
                <a:rPr lang="en-US" dirty="0">
                  <a:latin typeface="Gill Sans MT" panose="020B0502020104020203" pitchFamily="34" charset="77"/>
                </a:rPr>
                <a:t> del </a:t>
              </a:r>
              <a:r>
                <a:rPr lang="en-US" dirty="0" err="1">
                  <a:latin typeface="Gill Sans MT" panose="020B0502020104020203" pitchFamily="34" charset="77"/>
                </a:rPr>
                <a:t>entrenamiento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846EC31C-CA53-5C43-BA14-7137A83EBE9E}"/>
                </a:ext>
              </a:extLst>
            </p:cNvPr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384405" y="1815482"/>
              <a:ext cx="1080000" cy="1080000"/>
            </a:xfrm>
            <a:prstGeom prst="rect">
              <a:avLst/>
            </a:prstGeom>
          </p:spPr>
        </p:pic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5CF83836-6B82-D949-8D06-381C70479350}"/>
              </a:ext>
            </a:extLst>
          </p:cNvPr>
          <p:cNvSpPr txBox="1"/>
          <p:nvPr/>
        </p:nvSpPr>
        <p:spPr>
          <a:xfrm>
            <a:off x="3178843" y="6596039"/>
            <a:ext cx="2688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Gill Sans MT" panose="020B0502020104020203" pitchFamily="34" charset="77"/>
              </a:rPr>
              <a:t>Histogramas</a:t>
            </a:r>
            <a:r>
              <a:rPr lang="en-US" sz="1200" dirty="0">
                <a:latin typeface="Gill Sans MT" panose="020B0502020104020203" pitchFamily="34" charset="77"/>
              </a:rPr>
              <a:t>                               Labels</a:t>
            </a:r>
          </a:p>
        </p:txBody>
      </p:sp>
    </p:spTree>
    <p:extLst>
      <p:ext uri="{BB962C8B-B14F-4D97-AF65-F5344CB8AC3E}">
        <p14:creationId xmlns:p14="http://schemas.microsoft.com/office/powerpoint/2010/main" val="63399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1109-51A3-C340-A77E-40F6D982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9B56-22B5-AF4E-9446-C5309E1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271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9B56-22B5-AF4E-9446-C5309E1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018D3-D555-2A4A-8BB9-22EF5D97611B}"/>
              </a:ext>
            </a:extLst>
          </p:cNvPr>
          <p:cNvSpPr txBox="1"/>
          <p:nvPr/>
        </p:nvSpPr>
        <p:spPr>
          <a:xfrm>
            <a:off x="2338053" y="1295285"/>
            <a:ext cx="235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Para el </a:t>
            </a:r>
            <a:r>
              <a:rPr lang="en-US" dirty="0" err="1">
                <a:latin typeface="Gill Sans MT" panose="020B0502020104020203" pitchFamily="34" charset="77"/>
              </a:rPr>
              <a:t>tigre</a:t>
            </a:r>
            <a:r>
              <a:rPr lang="en-US" dirty="0">
                <a:latin typeface="Gill Sans MT" panose="020B0502020104020203" pitchFamily="34" charset="77"/>
              </a:rPr>
              <a:t> de testing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E59A26-69CF-A147-9F1C-BFAD1FA95012}"/>
              </a:ext>
            </a:extLst>
          </p:cNvPr>
          <p:cNvSpPr/>
          <p:nvPr/>
        </p:nvSpPr>
        <p:spPr>
          <a:xfrm>
            <a:off x="4344340" y="1903810"/>
            <a:ext cx="1635751" cy="9272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Gill Sans MT" panose="020B0502020104020203" pitchFamily="34" charset="77"/>
              </a:rPr>
              <a:t>HoG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E5A37E-C3B0-944E-B96F-7FCCD722CB76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5980090" y="2367449"/>
            <a:ext cx="34330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14F9698-3CCF-8D4F-B438-35AC851EB301}"/>
              </a:ext>
            </a:extLst>
          </p:cNvPr>
          <p:cNvSpPr/>
          <p:nvPr/>
        </p:nvSpPr>
        <p:spPr>
          <a:xfrm>
            <a:off x="6323392" y="1903809"/>
            <a:ext cx="1279300" cy="9272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Gill Sans MT" panose="020B0502020104020203" pitchFamily="34" charset="77"/>
              </a:rPr>
              <a:t>Codificación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3BA4E6-F675-B04D-8CD6-B218E90C86F8}"/>
              </a:ext>
            </a:extLst>
          </p:cNvPr>
          <p:cNvCxnSpPr>
            <a:cxnSpLocks/>
          </p:cNvCxnSpPr>
          <p:nvPr/>
        </p:nvCxnSpPr>
        <p:spPr>
          <a:xfrm flipV="1">
            <a:off x="7602693" y="2342314"/>
            <a:ext cx="3048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1540F7-C9C5-DB49-A1FA-6BB6BCB8777F}"/>
              </a:ext>
            </a:extLst>
          </p:cNvPr>
          <p:cNvCxnSpPr>
            <a:cxnSpLocks/>
          </p:cNvCxnSpPr>
          <p:nvPr/>
        </p:nvCxnSpPr>
        <p:spPr>
          <a:xfrm flipV="1">
            <a:off x="4043973" y="2363784"/>
            <a:ext cx="3048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576CBE9-7FE7-E149-AAFD-37E48A243A36}"/>
              </a:ext>
            </a:extLst>
          </p:cNvPr>
          <p:cNvSpPr/>
          <p:nvPr/>
        </p:nvSpPr>
        <p:spPr>
          <a:xfrm>
            <a:off x="7907495" y="1903809"/>
            <a:ext cx="1279300" cy="9272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Gill Sans MT" panose="020B0502020104020203" pitchFamily="34" charset="77"/>
              </a:rPr>
              <a:t>Histograma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82264C-BECD-AF4A-8E4F-6DC79BF7D913}"/>
              </a:ext>
            </a:extLst>
          </p:cNvPr>
          <p:cNvCxnSpPr>
            <a:cxnSpLocks/>
          </p:cNvCxnSpPr>
          <p:nvPr/>
        </p:nvCxnSpPr>
        <p:spPr>
          <a:xfrm flipV="1">
            <a:off x="9186796" y="2342314"/>
            <a:ext cx="3048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3E2CDEA5-0247-1F47-8245-88F17D9022A9}"/>
              </a:ext>
            </a:extLst>
          </p:cNvPr>
          <p:cNvGrpSpPr/>
          <p:nvPr/>
        </p:nvGrpSpPr>
        <p:grpSpPr>
          <a:xfrm>
            <a:off x="9546056" y="1981100"/>
            <a:ext cx="937073" cy="637508"/>
            <a:chOff x="5038724" y="2361906"/>
            <a:chExt cx="1728788" cy="76122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5875C6A-79CA-5E45-BD2D-702B16A379A5}"/>
                </a:ext>
              </a:extLst>
            </p:cNvPr>
            <p:cNvCxnSpPr/>
            <p:nvPr/>
          </p:nvCxnSpPr>
          <p:spPr>
            <a:xfrm>
              <a:off x="5038724" y="3013589"/>
              <a:ext cx="17287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B0CE80F-1A3E-F24F-8A4D-CC1711AA6680}"/>
                </a:ext>
              </a:extLst>
            </p:cNvPr>
            <p:cNvCxnSpPr/>
            <p:nvPr/>
          </p:nvCxnSpPr>
          <p:spPr>
            <a:xfrm flipH="1" flipV="1">
              <a:off x="5146625" y="2361906"/>
              <a:ext cx="1635" cy="7612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EE3F9B9-5F2A-2B4B-9A05-3DD66F1B4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1608" y="2604183"/>
              <a:ext cx="0" cy="414331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5BBD1F-98BE-674B-8B2F-37D3A60C5E93}"/>
                </a:ext>
              </a:extLst>
            </p:cNvPr>
            <p:cNvCxnSpPr/>
            <p:nvPr/>
          </p:nvCxnSpPr>
          <p:spPr>
            <a:xfrm flipV="1">
              <a:off x="6158919" y="2604183"/>
              <a:ext cx="953" cy="40956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FC4725E-2617-8B40-9F0B-EC51B9655F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3417" y="2604183"/>
              <a:ext cx="0" cy="416953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8B65A3F-1E6B-104B-87AF-44B8F8F6DD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9674" y="2604183"/>
              <a:ext cx="0" cy="41294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3D1FAF8-DAD1-7B4A-A8CE-7FE3F857CA90}"/>
                </a:ext>
              </a:extLst>
            </p:cNvPr>
            <p:cNvCxnSpPr/>
            <p:nvPr/>
          </p:nvCxnSpPr>
          <p:spPr>
            <a:xfrm flipV="1">
              <a:off x="5735606" y="2545355"/>
              <a:ext cx="0" cy="47284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340D648-BF68-FF4F-82EA-33187EE032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8006" y="2483614"/>
              <a:ext cx="0" cy="526268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F73A25A-3DF5-6749-837A-0BE9862D22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6281" y="2604183"/>
              <a:ext cx="0" cy="40817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BF9F50A-B231-B546-B966-EF26D5A4C917}"/>
                </a:ext>
              </a:extLst>
            </p:cNvPr>
            <p:cNvCxnSpPr/>
            <p:nvPr/>
          </p:nvCxnSpPr>
          <p:spPr>
            <a:xfrm flipV="1">
              <a:off x="6308143" y="276137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23F8333-77FB-4B48-B917-99D5DC68A4CE}"/>
                </a:ext>
              </a:extLst>
            </p:cNvPr>
            <p:cNvCxnSpPr/>
            <p:nvPr/>
          </p:nvCxnSpPr>
          <p:spPr>
            <a:xfrm flipV="1">
              <a:off x="6460543" y="2756290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2EED3A-9F07-7E4D-AFFD-9F00DE0347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8820" y="2604183"/>
              <a:ext cx="0" cy="40483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8DABD0-77B4-1F4E-9B72-74FB41D38096}"/>
              </a:ext>
            </a:extLst>
          </p:cNvPr>
          <p:cNvCxnSpPr>
            <a:cxnSpLocks/>
          </p:cNvCxnSpPr>
          <p:nvPr/>
        </p:nvCxnSpPr>
        <p:spPr>
          <a:xfrm flipH="1">
            <a:off x="6941721" y="1231145"/>
            <a:ext cx="0" cy="685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36AAB051-C335-9748-A004-C76C84FAB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834" y="836371"/>
            <a:ext cx="342900" cy="3175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F6900BD-C837-CC47-826E-4CF22170A14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866857" y="1778810"/>
            <a:ext cx="1080000" cy="1080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F0FF79E-FB1C-C740-87AB-91102E20B292}"/>
              </a:ext>
            </a:extLst>
          </p:cNvPr>
          <p:cNvSpPr txBox="1"/>
          <p:nvPr/>
        </p:nvSpPr>
        <p:spPr>
          <a:xfrm>
            <a:off x="2124232" y="278486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BB358A-7DE7-B149-88C5-02D86A73F751}"/>
              </a:ext>
            </a:extLst>
          </p:cNvPr>
          <p:cNvCxnSpPr>
            <a:cxnSpLocks/>
          </p:cNvCxnSpPr>
          <p:nvPr/>
        </p:nvCxnSpPr>
        <p:spPr>
          <a:xfrm>
            <a:off x="8146084" y="792418"/>
            <a:ext cx="2245606" cy="0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699540-CC0B-014B-A425-C0C5DC4C0E58}"/>
              </a:ext>
            </a:extLst>
          </p:cNvPr>
          <p:cNvSpPr txBox="1"/>
          <p:nvPr/>
        </p:nvSpPr>
        <p:spPr>
          <a:xfrm>
            <a:off x="9195850" y="390781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0B5F0A0-5CDD-1245-B85D-6D8741869D60}"/>
              </a:ext>
            </a:extLst>
          </p:cNvPr>
          <p:cNvCxnSpPr>
            <a:cxnSpLocks/>
          </p:cNvCxnSpPr>
          <p:nvPr/>
        </p:nvCxnSpPr>
        <p:spPr>
          <a:xfrm flipV="1">
            <a:off x="10006401" y="1153871"/>
            <a:ext cx="8191" cy="655862"/>
          </a:xfrm>
          <a:prstGeom prst="straightConnector1">
            <a:avLst/>
          </a:prstGeom>
          <a:ln w="9525">
            <a:solidFill>
              <a:schemeClr val="bg1">
                <a:lumMod val="75000"/>
              </a:schemeClr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34C9136-E0BB-8B4B-8533-5BD7967BE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728" y="937617"/>
            <a:ext cx="2311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7224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9B56-22B5-AF4E-9446-C5309E1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E59A26-69CF-A147-9F1C-BFAD1FA95012}"/>
              </a:ext>
            </a:extLst>
          </p:cNvPr>
          <p:cNvSpPr/>
          <p:nvPr/>
        </p:nvSpPr>
        <p:spPr>
          <a:xfrm>
            <a:off x="4344340" y="1903810"/>
            <a:ext cx="1635751" cy="9272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Gill Sans MT" panose="020B0502020104020203" pitchFamily="34" charset="77"/>
              </a:rPr>
              <a:t>HoG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E5A37E-C3B0-944E-B96F-7FCCD722CB76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5980090" y="2367449"/>
            <a:ext cx="34330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14F9698-3CCF-8D4F-B438-35AC851EB301}"/>
              </a:ext>
            </a:extLst>
          </p:cNvPr>
          <p:cNvSpPr/>
          <p:nvPr/>
        </p:nvSpPr>
        <p:spPr>
          <a:xfrm>
            <a:off x="6323392" y="1903809"/>
            <a:ext cx="1279300" cy="9272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Gill Sans MT" panose="020B0502020104020203" pitchFamily="34" charset="77"/>
              </a:rPr>
              <a:t>Codificación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3BA4E6-F675-B04D-8CD6-B218E90C86F8}"/>
              </a:ext>
            </a:extLst>
          </p:cNvPr>
          <p:cNvCxnSpPr>
            <a:cxnSpLocks/>
          </p:cNvCxnSpPr>
          <p:nvPr/>
        </p:nvCxnSpPr>
        <p:spPr>
          <a:xfrm flipV="1">
            <a:off x="7602693" y="2342314"/>
            <a:ext cx="3048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1540F7-C9C5-DB49-A1FA-6BB6BCB8777F}"/>
              </a:ext>
            </a:extLst>
          </p:cNvPr>
          <p:cNvCxnSpPr>
            <a:cxnSpLocks/>
          </p:cNvCxnSpPr>
          <p:nvPr/>
        </p:nvCxnSpPr>
        <p:spPr>
          <a:xfrm flipV="1">
            <a:off x="4043973" y="2363784"/>
            <a:ext cx="3048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576CBE9-7FE7-E149-AAFD-37E48A243A36}"/>
              </a:ext>
            </a:extLst>
          </p:cNvPr>
          <p:cNvSpPr/>
          <p:nvPr/>
        </p:nvSpPr>
        <p:spPr>
          <a:xfrm>
            <a:off x="7907495" y="1903809"/>
            <a:ext cx="1279300" cy="9272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Gill Sans MT" panose="020B0502020104020203" pitchFamily="34" charset="77"/>
              </a:rPr>
              <a:t>Histograma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82264C-BECD-AF4A-8E4F-6DC79BF7D913}"/>
              </a:ext>
            </a:extLst>
          </p:cNvPr>
          <p:cNvCxnSpPr>
            <a:cxnSpLocks/>
          </p:cNvCxnSpPr>
          <p:nvPr/>
        </p:nvCxnSpPr>
        <p:spPr>
          <a:xfrm flipV="1">
            <a:off x="9186796" y="2342314"/>
            <a:ext cx="3048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3E2CDEA5-0247-1F47-8245-88F17D9022A9}"/>
              </a:ext>
            </a:extLst>
          </p:cNvPr>
          <p:cNvGrpSpPr/>
          <p:nvPr/>
        </p:nvGrpSpPr>
        <p:grpSpPr>
          <a:xfrm>
            <a:off x="9546056" y="1981100"/>
            <a:ext cx="937073" cy="637508"/>
            <a:chOff x="5038724" y="2361906"/>
            <a:chExt cx="1728788" cy="76122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5875C6A-79CA-5E45-BD2D-702B16A379A5}"/>
                </a:ext>
              </a:extLst>
            </p:cNvPr>
            <p:cNvCxnSpPr/>
            <p:nvPr/>
          </p:nvCxnSpPr>
          <p:spPr>
            <a:xfrm>
              <a:off x="5038724" y="3013589"/>
              <a:ext cx="17287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B0CE80F-1A3E-F24F-8A4D-CC1711AA6680}"/>
                </a:ext>
              </a:extLst>
            </p:cNvPr>
            <p:cNvCxnSpPr/>
            <p:nvPr/>
          </p:nvCxnSpPr>
          <p:spPr>
            <a:xfrm flipH="1" flipV="1">
              <a:off x="5146625" y="2361906"/>
              <a:ext cx="1635" cy="7612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EE3F9B9-5F2A-2B4B-9A05-3DD66F1B4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1608" y="2604183"/>
              <a:ext cx="0" cy="414331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5BBD1F-98BE-674B-8B2F-37D3A60C5E93}"/>
                </a:ext>
              </a:extLst>
            </p:cNvPr>
            <p:cNvCxnSpPr/>
            <p:nvPr/>
          </p:nvCxnSpPr>
          <p:spPr>
            <a:xfrm flipV="1">
              <a:off x="6158919" y="2604183"/>
              <a:ext cx="953" cy="40956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FC4725E-2617-8B40-9F0B-EC51B9655F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3417" y="2604183"/>
              <a:ext cx="0" cy="416953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8B65A3F-1E6B-104B-87AF-44B8F8F6DD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9674" y="2604183"/>
              <a:ext cx="0" cy="41294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3D1FAF8-DAD1-7B4A-A8CE-7FE3F857CA90}"/>
                </a:ext>
              </a:extLst>
            </p:cNvPr>
            <p:cNvCxnSpPr/>
            <p:nvPr/>
          </p:nvCxnSpPr>
          <p:spPr>
            <a:xfrm flipV="1">
              <a:off x="5735606" y="2545355"/>
              <a:ext cx="0" cy="47284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340D648-BF68-FF4F-82EA-33187EE032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8006" y="2483614"/>
              <a:ext cx="0" cy="526268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F73A25A-3DF5-6749-837A-0BE9862D22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6281" y="2604183"/>
              <a:ext cx="0" cy="40817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BF9F50A-B231-B546-B966-EF26D5A4C917}"/>
                </a:ext>
              </a:extLst>
            </p:cNvPr>
            <p:cNvCxnSpPr/>
            <p:nvPr/>
          </p:nvCxnSpPr>
          <p:spPr>
            <a:xfrm flipV="1">
              <a:off x="6308143" y="276137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23F8333-77FB-4B48-B917-99D5DC68A4CE}"/>
                </a:ext>
              </a:extLst>
            </p:cNvPr>
            <p:cNvCxnSpPr/>
            <p:nvPr/>
          </p:nvCxnSpPr>
          <p:spPr>
            <a:xfrm flipV="1">
              <a:off x="6460543" y="2756290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2EED3A-9F07-7E4D-AFFD-9F00DE0347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8820" y="2604183"/>
              <a:ext cx="0" cy="40483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8DABD0-77B4-1F4E-9B72-74FB41D38096}"/>
              </a:ext>
            </a:extLst>
          </p:cNvPr>
          <p:cNvCxnSpPr>
            <a:cxnSpLocks/>
          </p:cNvCxnSpPr>
          <p:nvPr/>
        </p:nvCxnSpPr>
        <p:spPr>
          <a:xfrm flipH="1">
            <a:off x="6941721" y="1231145"/>
            <a:ext cx="0" cy="685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36AAB051-C335-9748-A004-C76C84FAB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834" y="836371"/>
            <a:ext cx="342900" cy="3175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F6900BD-C837-CC47-826E-4CF22170A14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866857" y="1778810"/>
            <a:ext cx="1080000" cy="1080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F0FF79E-FB1C-C740-87AB-91102E20B292}"/>
              </a:ext>
            </a:extLst>
          </p:cNvPr>
          <p:cNvSpPr txBox="1"/>
          <p:nvPr/>
        </p:nvSpPr>
        <p:spPr>
          <a:xfrm>
            <a:off x="2124232" y="278486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C9136-E0BB-8B4B-8533-5BD7967BE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728" y="937617"/>
            <a:ext cx="2311400" cy="2794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DEE0BCB-DE20-EB4D-8F71-E5930F2AF65A}"/>
              </a:ext>
            </a:extLst>
          </p:cNvPr>
          <p:cNvGrpSpPr/>
          <p:nvPr/>
        </p:nvGrpSpPr>
        <p:grpSpPr>
          <a:xfrm>
            <a:off x="5181330" y="4490553"/>
            <a:ext cx="2423054" cy="927279"/>
            <a:chOff x="3657329" y="4490552"/>
            <a:chExt cx="2423054" cy="927279"/>
          </a:xfrm>
        </p:grpSpPr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28AB140-E08A-0249-8311-94F594D6022E}"/>
                </a:ext>
              </a:extLst>
            </p:cNvPr>
            <p:cNvCxnSpPr>
              <a:cxnSpLocks/>
              <a:endCxn id="65" idx="1"/>
            </p:cNvCxnSpPr>
            <p:nvPr/>
          </p:nvCxnSpPr>
          <p:spPr>
            <a:xfrm flipV="1">
              <a:off x="3657329" y="4954192"/>
              <a:ext cx="34330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70B8A01-0586-2A44-868A-8A4DFDC97BF5}"/>
                </a:ext>
              </a:extLst>
            </p:cNvPr>
            <p:cNvSpPr/>
            <p:nvPr/>
          </p:nvSpPr>
          <p:spPr>
            <a:xfrm>
              <a:off x="4000631" y="4490552"/>
              <a:ext cx="1279300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latin typeface="Gill Sans MT" panose="020B0502020104020203" pitchFamily="34" charset="77"/>
                </a:rPr>
                <a:t>Clasificación</a:t>
              </a:r>
              <a:endParaRPr lang="en-US" sz="16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D304D00-1BEF-904A-9955-908B62565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9931" y="4929057"/>
              <a:ext cx="30480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1F9BE69-E20E-1A42-B073-3C79DB668BD2}"/>
                </a:ext>
              </a:extLst>
            </p:cNvPr>
            <p:cNvSpPr txBox="1"/>
            <p:nvPr/>
          </p:nvSpPr>
          <p:spPr>
            <a:xfrm>
              <a:off x="5584734" y="4769525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“3”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8F24ED4-F0A8-594C-9FF2-3A267C7A00BA}"/>
              </a:ext>
            </a:extLst>
          </p:cNvPr>
          <p:cNvSpPr txBox="1"/>
          <p:nvPr/>
        </p:nvSpPr>
        <p:spPr>
          <a:xfrm>
            <a:off x="2338053" y="1295285"/>
            <a:ext cx="235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Para el </a:t>
            </a:r>
            <a:r>
              <a:rPr lang="en-US" dirty="0" err="1">
                <a:latin typeface="Gill Sans MT" panose="020B0502020104020203" pitchFamily="34" charset="77"/>
              </a:rPr>
              <a:t>tigre</a:t>
            </a:r>
            <a:r>
              <a:rPr lang="en-US" dirty="0">
                <a:latin typeface="Gill Sans MT" panose="020B0502020104020203" pitchFamily="34" charset="77"/>
              </a:rPr>
              <a:t> de testing</a:t>
            </a:r>
          </a:p>
        </p:txBody>
      </p:sp>
    </p:spTree>
    <p:extLst>
      <p:ext uri="{BB962C8B-B14F-4D97-AF65-F5344CB8AC3E}">
        <p14:creationId xmlns:p14="http://schemas.microsoft.com/office/powerpoint/2010/main" val="163563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-0.00348 L -0.57795 0.56157 " pathEditMode="relative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9B56-22B5-AF4E-9446-C5309E1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85</a:t>
            </a:fld>
            <a:endParaRPr lang="en-US"/>
          </a:p>
        </p:txBody>
      </p:sp>
      <p:pic>
        <p:nvPicPr>
          <p:cNvPr id="1026" name="Picture 2" descr="Las vacas &amp;#39;hablan&amp;#39; entre ellas y mantienen su identidad individual en el  rebaño">
            <a:extLst>
              <a:ext uri="{FF2B5EF4-FFF2-40B4-BE49-F238E27FC236}">
                <a16:creationId xmlns:a16="http://schemas.microsoft.com/office/drawing/2014/main" id="{9F74A1A2-14A5-C346-A265-CE91F9B33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96598"/>
            <a:ext cx="9144000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C018D3-D555-2A4A-8BB9-22EF5D97611B}"/>
              </a:ext>
            </a:extLst>
          </p:cNvPr>
          <p:cNvSpPr txBox="1"/>
          <p:nvPr/>
        </p:nvSpPr>
        <p:spPr>
          <a:xfrm>
            <a:off x="2354303" y="5073014"/>
            <a:ext cx="7659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Se </a:t>
            </a:r>
            <a:r>
              <a:rPr lang="en-US" sz="2800" dirty="0" err="1">
                <a:latin typeface="Gill Sans MT" panose="020B0502020104020203" pitchFamily="34" charset="77"/>
              </a:rPr>
              <a:t>puede</a:t>
            </a:r>
            <a:r>
              <a:rPr lang="en-US" sz="2800" dirty="0">
                <a:latin typeface="Gill Sans MT" panose="020B0502020104020203" pitchFamily="34" charset="77"/>
              </a:rPr>
              <a:t> usar </a:t>
            </a:r>
            <a:r>
              <a:rPr lang="en-US" sz="2800" dirty="0" err="1">
                <a:latin typeface="Gill Sans MT" panose="020B0502020104020203" pitchFamily="34" charset="77"/>
              </a:rPr>
              <a:t>este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método</a:t>
            </a:r>
            <a:r>
              <a:rPr lang="en-US" sz="2800" dirty="0">
                <a:latin typeface="Gill Sans MT" panose="020B0502020104020203" pitchFamily="34" charset="77"/>
              </a:rPr>
              <a:t> para </a:t>
            </a:r>
            <a:r>
              <a:rPr lang="en-US" sz="2800" dirty="0" err="1">
                <a:latin typeface="Gill Sans MT" panose="020B0502020104020203" pitchFamily="34" charset="77"/>
              </a:rPr>
              <a:t>reconocer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vacas</a:t>
            </a:r>
            <a:r>
              <a:rPr lang="en-US" sz="2800" dirty="0">
                <a:latin typeface="Gill Sans MT" panose="020B0502020104020203" pitchFamily="34" charset="7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50774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1919</Words>
  <Application>Microsoft Macintosh PowerPoint</Application>
  <PresentationFormat>Widescreen</PresentationFormat>
  <Paragraphs>1358</Paragraphs>
  <Slides>85</Slides>
  <Notes>14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9" baseType="lpstr">
      <vt:lpstr>Arial</vt:lpstr>
      <vt:lpstr>Gill Sans MT</vt:lpstr>
      <vt:lpstr>LM Roman 10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Two Clouds of Points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Color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Bag of  Visual Words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Ejemplo Reconocimiento de Tigres (Biometría)</vt:lpstr>
      <vt:lpstr>PowerPoint Presentation</vt:lpstr>
      <vt:lpstr>TRAINING</vt:lpstr>
      <vt:lpstr>PowerPoint Presentation</vt:lpstr>
      <vt:lpstr>PowerPoint Presentation</vt:lpstr>
      <vt:lpstr>PowerPoint Presentation</vt:lpstr>
      <vt:lpstr>TESTING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17</cp:revision>
  <dcterms:created xsi:type="dcterms:W3CDTF">2026-03-08T16:41:49Z</dcterms:created>
  <dcterms:modified xsi:type="dcterms:W3CDTF">2026-06-23T14:09:40Z</dcterms:modified>
</cp:coreProperties>
</file>