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0"/>
  </p:notesMasterIdLst>
  <p:sldIdLst>
    <p:sldId id="257" r:id="rId2"/>
    <p:sldId id="282" r:id="rId3"/>
    <p:sldId id="860" r:id="rId4"/>
    <p:sldId id="861" r:id="rId5"/>
    <p:sldId id="853" r:id="rId6"/>
    <p:sldId id="283" r:id="rId7"/>
    <p:sldId id="854" r:id="rId8"/>
    <p:sldId id="306" r:id="rId9"/>
    <p:sldId id="332" r:id="rId10"/>
    <p:sldId id="855" r:id="rId11"/>
    <p:sldId id="284" r:id="rId12"/>
    <p:sldId id="856" r:id="rId13"/>
    <p:sldId id="309" r:id="rId14"/>
    <p:sldId id="311" r:id="rId15"/>
    <p:sldId id="857" r:id="rId16"/>
    <p:sldId id="312" r:id="rId17"/>
    <p:sldId id="313" r:id="rId18"/>
    <p:sldId id="858" r:id="rId19"/>
    <p:sldId id="315" r:id="rId20"/>
    <p:sldId id="317" r:id="rId21"/>
    <p:sldId id="328" r:id="rId22"/>
    <p:sldId id="319" r:id="rId23"/>
    <p:sldId id="329" r:id="rId24"/>
    <p:sldId id="324" r:id="rId25"/>
    <p:sldId id="325" r:id="rId26"/>
    <p:sldId id="859" r:id="rId27"/>
    <p:sldId id="330" r:id="rId28"/>
    <p:sldId id="333" r:id="rId29"/>
    <p:sldId id="334" r:id="rId30"/>
    <p:sldId id="294" r:id="rId31"/>
    <p:sldId id="335" r:id="rId32"/>
    <p:sldId id="336" r:id="rId33"/>
    <p:sldId id="337" r:id="rId34"/>
    <p:sldId id="285" r:id="rId35"/>
    <p:sldId id="288" r:id="rId36"/>
    <p:sldId id="289" r:id="rId37"/>
    <p:sldId id="290" r:id="rId38"/>
    <p:sldId id="291" r:id="rId39"/>
    <p:sldId id="293" r:id="rId40"/>
    <p:sldId id="292" r:id="rId41"/>
    <p:sldId id="338" r:id="rId42"/>
    <p:sldId id="302" r:id="rId43"/>
    <p:sldId id="297" r:id="rId44"/>
    <p:sldId id="295" r:id="rId45"/>
    <p:sldId id="296" r:id="rId46"/>
    <p:sldId id="301" r:id="rId47"/>
    <p:sldId id="339" r:id="rId48"/>
    <p:sldId id="340" r:id="rId49"/>
    <p:sldId id="341" r:id="rId50"/>
    <p:sldId id="342" r:id="rId51"/>
    <p:sldId id="343" r:id="rId52"/>
    <p:sldId id="344" r:id="rId53"/>
    <p:sldId id="345" r:id="rId54"/>
    <p:sldId id="298" r:id="rId55"/>
    <p:sldId id="299" r:id="rId56"/>
    <p:sldId id="300" r:id="rId57"/>
    <p:sldId id="346" r:id="rId58"/>
    <p:sldId id="347" r:id="rId59"/>
    <p:sldId id="287" r:id="rId60"/>
    <p:sldId id="259" r:id="rId61"/>
    <p:sldId id="260" r:id="rId62"/>
    <p:sldId id="304" r:id="rId63"/>
    <p:sldId id="261" r:id="rId64"/>
    <p:sldId id="348" r:id="rId65"/>
    <p:sldId id="349" r:id="rId66"/>
    <p:sldId id="350" r:id="rId67"/>
    <p:sldId id="351" r:id="rId68"/>
    <p:sldId id="352" r:id="rId69"/>
    <p:sldId id="353" r:id="rId70"/>
    <p:sldId id="354" r:id="rId71"/>
    <p:sldId id="355" r:id="rId72"/>
    <p:sldId id="356" r:id="rId73"/>
    <p:sldId id="357" r:id="rId74"/>
    <p:sldId id="358" r:id="rId75"/>
    <p:sldId id="359" r:id="rId76"/>
    <p:sldId id="360" r:id="rId77"/>
    <p:sldId id="361" r:id="rId78"/>
    <p:sldId id="362" r:id="rId79"/>
    <p:sldId id="363" r:id="rId80"/>
    <p:sldId id="364" r:id="rId81"/>
    <p:sldId id="365" r:id="rId82"/>
    <p:sldId id="320" r:id="rId83"/>
    <p:sldId id="321" r:id="rId84"/>
    <p:sldId id="322" r:id="rId85"/>
    <p:sldId id="323" r:id="rId86"/>
    <p:sldId id="366" r:id="rId87"/>
    <p:sldId id="318" r:id="rId88"/>
    <p:sldId id="367" r:id="rId89"/>
    <p:sldId id="368" r:id="rId90"/>
    <p:sldId id="369" r:id="rId91"/>
    <p:sldId id="370" r:id="rId92"/>
    <p:sldId id="371" r:id="rId93"/>
    <p:sldId id="372" r:id="rId94"/>
    <p:sldId id="373" r:id="rId95"/>
    <p:sldId id="374" r:id="rId96"/>
    <p:sldId id="375" r:id="rId97"/>
    <p:sldId id="376" r:id="rId98"/>
    <p:sldId id="377" r:id="rId99"/>
    <p:sldId id="378" r:id="rId100"/>
    <p:sldId id="379" r:id="rId101"/>
    <p:sldId id="380" r:id="rId102"/>
    <p:sldId id="381" r:id="rId103"/>
    <p:sldId id="382" r:id="rId104"/>
    <p:sldId id="383" r:id="rId105"/>
    <p:sldId id="384" r:id="rId106"/>
    <p:sldId id="385" r:id="rId107"/>
    <p:sldId id="386" r:id="rId108"/>
    <p:sldId id="387" r:id="rId109"/>
    <p:sldId id="388" r:id="rId110"/>
    <p:sldId id="389" r:id="rId111"/>
    <p:sldId id="390" r:id="rId112"/>
    <p:sldId id="391" r:id="rId113"/>
    <p:sldId id="392" r:id="rId114"/>
    <p:sldId id="393" r:id="rId115"/>
    <p:sldId id="809" r:id="rId116"/>
    <p:sldId id="810" r:id="rId117"/>
    <p:sldId id="812" r:id="rId118"/>
    <p:sldId id="813" r:id="rId119"/>
    <p:sldId id="814" r:id="rId120"/>
    <p:sldId id="816" r:id="rId121"/>
    <p:sldId id="815" r:id="rId122"/>
    <p:sldId id="817" r:id="rId123"/>
    <p:sldId id="818" r:id="rId124"/>
    <p:sldId id="819" r:id="rId125"/>
    <p:sldId id="820" r:id="rId126"/>
    <p:sldId id="822" r:id="rId127"/>
    <p:sldId id="823" r:id="rId128"/>
    <p:sldId id="824" r:id="rId129"/>
    <p:sldId id="825" r:id="rId130"/>
    <p:sldId id="826" r:id="rId131"/>
    <p:sldId id="827" r:id="rId132"/>
    <p:sldId id="828" r:id="rId133"/>
    <p:sldId id="829" r:id="rId134"/>
    <p:sldId id="830" r:id="rId135"/>
    <p:sldId id="831" r:id="rId136"/>
    <p:sldId id="832" r:id="rId137"/>
    <p:sldId id="833" r:id="rId138"/>
    <p:sldId id="834" r:id="rId139"/>
    <p:sldId id="835" r:id="rId140"/>
    <p:sldId id="836" r:id="rId141"/>
    <p:sldId id="837" r:id="rId142"/>
    <p:sldId id="838" r:id="rId143"/>
    <p:sldId id="839" r:id="rId144"/>
    <p:sldId id="840" r:id="rId145"/>
    <p:sldId id="841" r:id="rId146"/>
    <p:sldId id="842" r:id="rId147"/>
    <p:sldId id="316" r:id="rId148"/>
    <p:sldId id="843" r:id="rId149"/>
    <p:sldId id="326" r:id="rId150"/>
    <p:sldId id="844" r:id="rId151"/>
    <p:sldId id="845" r:id="rId152"/>
    <p:sldId id="846" r:id="rId153"/>
    <p:sldId id="847" r:id="rId154"/>
    <p:sldId id="848" r:id="rId155"/>
    <p:sldId id="849" r:id="rId156"/>
    <p:sldId id="850" r:id="rId157"/>
    <p:sldId id="851" r:id="rId158"/>
    <p:sldId id="852" r:id="rId159"/>
  </p:sldIdLst>
  <p:sldSz cx="12192000" cy="6858000"/>
  <p:notesSz cx="6858000" cy="9144000"/>
  <p:defaultTextStyle>
    <a:defPPr>
      <a:defRPr lang="en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21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171"/>
    <p:restoredTop sz="94658"/>
  </p:normalViewPr>
  <p:slideViewPr>
    <p:cSldViewPr snapToGrid="0">
      <p:cViewPr varScale="1">
        <p:scale>
          <a:sx n="115" d="100"/>
          <a:sy n="115" d="100"/>
        </p:scale>
        <p:origin x="240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notesMaster" Target="notesMasters/notesMaster1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6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viewProps" Target="view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theme" Target="theme/theme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Gill Sans MT" panose="020B0502020104020203" pitchFamily="34" charset="77"/>
              </a:defRPr>
            </a:lvl1pPr>
          </a:lstStyle>
          <a:p>
            <a:endParaRPr lang="en-CL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Gill Sans MT" panose="020B0502020104020203" pitchFamily="34" charset="77"/>
              </a:defRPr>
            </a:lvl1pPr>
          </a:lstStyle>
          <a:p>
            <a:fld id="{1249748F-0FE7-C64C-B0B9-9306A54D4824}" type="datetimeFigureOut">
              <a:rPr lang="en-CL" smtClean="0"/>
              <a:pPr/>
              <a:t>07-05-26</a:t>
            </a:fld>
            <a:endParaRPr lang="en-CL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L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Gill Sans MT" panose="020B0502020104020203" pitchFamily="34" charset="77"/>
              </a:defRPr>
            </a:lvl1pPr>
          </a:lstStyle>
          <a:p>
            <a:endParaRPr lang="en-C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Gill Sans MT" panose="020B0502020104020203" pitchFamily="34" charset="77"/>
              </a:defRPr>
            </a:lvl1pPr>
          </a:lstStyle>
          <a:p>
            <a:fld id="{8C36E6B2-EC45-1147-8496-DFA2586CC8C4}" type="slidenum">
              <a:rPr lang="en-CL" smtClean="0"/>
              <a:pPr/>
              <a:t>‹#›</a:t>
            </a:fld>
            <a:endParaRPr lang="en-CL" dirty="0"/>
          </a:p>
        </p:txBody>
      </p:sp>
    </p:spTree>
    <p:extLst>
      <p:ext uri="{BB962C8B-B14F-4D97-AF65-F5344CB8AC3E}">
        <p14:creationId xmlns:p14="http://schemas.microsoft.com/office/powerpoint/2010/main" val="3034571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Gill Sans MT" panose="020B0502020104020203" pitchFamily="34" charset="77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368921-76A0-4AD0-9C73-38820D030D86}" type="slidenum">
              <a:rPr lang="en-US"/>
              <a:pPr/>
              <a:t>30</a:t>
            </a:fld>
            <a:endParaRPr lang="en-US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368921-76A0-4AD0-9C73-38820D030D86}" type="slidenum">
              <a:rPr lang="en-US"/>
              <a:pPr/>
              <a:t>46</a:t>
            </a:fld>
            <a:endParaRPr lang="en-US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368921-76A0-4AD0-9C73-38820D030D86}" type="slidenum">
              <a:rPr lang="en-US"/>
              <a:pPr/>
              <a:t>58</a:t>
            </a:fld>
            <a:endParaRPr lang="en-US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84C4E8-482E-894A-972D-B3D5F3FF4336}" type="slidenum">
              <a:rPr lang="en-US"/>
              <a:pPr/>
              <a:t>59</a:t>
            </a:fld>
            <a:endParaRPr lang="en-US"/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523527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838B05D-FD04-9247-A09E-5A81F5BAA23E}" type="slidenum">
              <a:rPr lang="en-US"/>
              <a:pPr/>
              <a:t>60</a:t>
            </a:fld>
            <a:endParaRPr lang="en-US"/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073643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26C48E1-00D8-B84D-8B17-ECB8668D277F}" type="slidenum">
              <a:rPr lang="en-US"/>
              <a:pPr/>
              <a:t>61</a:t>
            </a:fld>
            <a:endParaRPr lang="en-US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372214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4F56885-A447-6B45-8925-737427C81A80}" type="slidenum">
              <a:rPr lang="en-US"/>
              <a:pPr/>
              <a:t>62</a:t>
            </a:fld>
            <a:endParaRPr lang="en-US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864404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4F56885-A447-6B45-8925-737427C81A80}" type="slidenum">
              <a:rPr lang="en-US"/>
              <a:pPr/>
              <a:t>63</a:t>
            </a:fld>
            <a:endParaRPr lang="en-US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458248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4F56885-A447-6B45-8925-737427C81A80}" type="slidenum">
              <a:rPr lang="en-US"/>
              <a:pPr/>
              <a:t>64</a:t>
            </a:fld>
            <a:endParaRPr lang="en-US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461131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4F56885-A447-6B45-8925-737427C81A80}" type="slidenum">
              <a:rPr lang="en-US"/>
              <a:pPr/>
              <a:t>66</a:t>
            </a:fld>
            <a:endParaRPr lang="en-US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590106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4F56885-A447-6B45-8925-737427C81A80}" type="slidenum">
              <a:rPr lang="en-US"/>
              <a:pPr/>
              <a:t>67</a:t>
            </a:fld>
            <a:endParaRPr lang="en-US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392201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4F56885-A447-6B45-8925-737427C81A80}" type="slidenum">
              <a:rPr lang="en-US"/>
              <a:pPr/>
              <a:t>72</a:t>
            </a:fld>
            <a:endParaRPr lang="en-US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447166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4F56885-A447-6B45-8925-737427C81A80}" type="slidenum">
              <a:rPr lang="en-US"/>
              <a:pPr/>
              <a:t>73</a:t>
            </a:fld>
            <a:endParaRPr lang="en-US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646517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4F56885-A447-6B45-8925-737427C81A80}" type="slidenum">
              <a:rPr lang="en-US"/>
              <a:pPr/>
              <a:t>80</a:t>
            </a:fld>
            <a:endParaRPr lang="en-US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161895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4F56885-A447-6B45-8925-737427C81A80}" type="slidenum">
              <a:rPr lang="en-US"/>
              <a:pPr/>
              <a:t>81</a:t>
            </a:fld>
            <a:endParaRPr lang="en-US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073020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4F56885-A447-6B45-8925-737427C81A80}" type="slidenum">
              <a:rPr lang="en-US"/>
              <a:pPr/>
              <a:t>82</a:t>
            </a:fld>
            <a:endParaRPr lang="en-US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326387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4F56885-A447-6B45-8925-737427C81A80}" type="slidenum">
              <a:rPr lang="en-US"/>
              <a:pPr/>
              <a:t>83</a:t>
            </a:fld>
            <a:endParaRPr lang="en-US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031061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4F56885-A447-6B45-8925-737427C81A80}" type="slidenum">
              <a:rPr lang="en-US"/>
              <a:pPr/>
              <a:t>84</a:t>
            </a:fld>
            <a:endParaRPr lang="en-US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016685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4F56885-A447-6B45-8925-737427C81A80}" type="slidenum">
              <a:rPr lang="en-US"/>
              <a:pPr/>
              <a:t>85</a:t>
            </a:fld>
            <a:endParaRPr lang="en-US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4924025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4F56885-A447-6B45-8925-737427C81A80}" type="slidenum">
              <a:rPr lang="en-US"/>
              <a:pPr/>
              <a:t>87</a:t>
            </a:fld>
            <a:endParaRPr lang="en-US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795266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368921-76A0-4AD0-9C73-38820D030D86}" type="slidenum">
              <a:rPr lang="en-US"/>
              <a:pPr/>
              <a:t>108</a:t>
            </a:fld>
            <a:endParaRPr lang="en-US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368921-76A0-4AD0-9C73-38820D030D86}" type="slidenum">
              <a:rPr lang="en-US"/>
              <a:pPr/>
              <a:t>125</a:t>
            </a:fld>
            <a:endParaRPr lang="en-US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B8DC0-3787-B971-5D00-8727CB18CC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4A3FB4-AFDF-6CFB-84FB-E0438C517C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2F51BE-7742-8427-323B-6746C9276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07-05-26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7082A-B0F6-05B3-4148-6F125B3BE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35BB3A-30A8-1717-EEEF-CCDD19DE1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401876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E5084-85EB-0ADC-D7F0-0DA592CED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50CEA-EC43-5349-1EBB-8F562F4E7D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6EC922-A7D2-9731-7041-D7AC6FB83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07-05-26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7AEC05-6729-F167-4DA1-FB23E0490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505FA-C70E-C130-A20D-DB301157A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78850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F4697-BA84-150B-4C2D-F84713796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49B2F4-202A-2BB1-535C-1A428E58FC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EE603-A515-38A5-01CB-993F9D3E6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07-05-26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6D1643-6231-F3E2-610F-D775A2BB9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27DCF5-082A-FB09-50BE-837F0ACE1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326779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C9F8F-3D31-5054-B98B-32951A347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103B9-D8C0-4B32-EE45-9BD12EF747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52F047-75A3-523A-D879-40B2EDA8D1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9FB8B8-5B4E-1775-617E-5E75D094A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07-05-26</a:t>
            </a:fld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B9D2B7-35C0-0726-D40B-546E245F6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310F33-EF19-5FAC-1C0C-CC049E95F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65026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2880C-73E3-54CD-F870-565E8A1B1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35B4E4-4FDE-76FD-67FE-AC9066C11E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CE05A7-4548-3D67-22C7-AE2D1FA325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23D907-7359-B8EC-9C20-35EBC1A8C6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E90DD8-E513-9D1B-B62B-8CD564AF80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7A1F58-D509-1FFB-BFE0-0B0A48435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07-05-26</a:t>
            </a:fld>
            <a:endParaRPr lang="en-C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1A7296-B85D-0D25-EB6E-7FAF5D12D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31504A-0C9E-5FD4-88B8-34EEA6574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040050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B930F-82FE-3339-6D9E-1DCC65EE1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1259F5-F978-F338-03E4-3952DD8EF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07-05-26</a:t>
            </a:fld>
            <a:endParaRPr lang="en-C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FFF779-7E7D-359E-E5CD-14EA90664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3397C7-7E22-651A-C048-37C544FF4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62750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637C7D-F2B3-C204-E8FB-4C5FB6A76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07-05-26</a:t>
            </a:fld>
            <a:endParaRPr lang="en-C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EFEE0D-AE5F-8253-4CF5-C157DB29D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587494-01E2-375D-3A6E-278594CEB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17660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2A152-0160-E38E-9640-CE00E472C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EA249-D00C-C8BF-F952-C8F00CAC9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48AD5D-DACB-DF63-8FE5-FD4EB5F134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DFD239-CEB5-6239-AE07-3B04DD523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07-05-26</a:t>
            </a:fld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6E91D8-CA73-7BEA-3043-ED8929AA7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BF3F48-2CE1-5E7C-C6F3-86C5FE51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704266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182A3-0F8B-CC16-20BE-CAA209EB5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53BF4D-06F1-F555-7BCE-8DDE12ECAC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78D79A-13B1-0A13-045B-552423534D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0F8041-19BA-61C7-2614-452EAEA62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07-05-26</a:t>
            </a:fld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2DDC1A-06C5-55BB-AD73-4558907A0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EA2152-78EF-2AC4-BAFC-1632F3AC7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033367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E0AD8-C101-EB20-BB37-5C26D22B6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2D8A52-99B4-C6B9-B1AB-C4AEFAF4B4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50266-8A1C-5C52-C130-674316BD0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07-05-26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48F916-6B33-A387-4535-E912E9B6D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0DE79-9DC5-1075-5BCE-A06034D3D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11173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487A33-D0CF-C093-B49B-3DC54A000A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1C567E-C21C-371B-9E0F-758B9066F6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7ED834-5694-C52C-4AFB-CC7182B18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57589-72F1-974D-B204-6AE212262628}" type="datetimeFigureOut">
              <a:rPr lang="en-CL" smtClean="0"/>
              <a:t>07-05-26</a:t>
            </a:fld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84DEE-BCC0-3112-ED29-8778C02F0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B55837-C56A-6554-DF4C-C991A899F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05057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788CC3-6112-0648-6A8C-40A7C6624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BAA52D-33E4-8E14-0BD4-6371720A8D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0AAD87-BD69-6E51-34E6-999EF83278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Gill Sans MT" panose="020B0502020104020203" pitchFamily="34" charset="77"/>
              </a:defRPr>
            </a:lvl1pPr>
          </a:lstStyle>
          <a:p>
            <a:fld id="{2C457589-72F1-974D-B204-6AE212262628}" type="datetimeFigureOut">
              <a:rPr lang="en-CL" smtClean="0"/>
              <a:pPr/>
              <a:t>07-05-26</a:t>
            </a:fld>
            <a:endParaRPr lang="en-C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1F1805-E127-5436-F4BD-B493F4465B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Gill Sans MT" panose="020B0502020104020203" pitchFamily="34" charset="77"/>
              </a:defRPr>
            </a:lvl1pPr>
          </a:lstStyle>
          <a:p>
            <a:endParaRPr lang="en-C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0709C2-DDB7-3E94-C59E-462FCDB337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Gill Sans MT" panose="020B0502020104020203" pitchFamily="34" charset="77"/>
              </a:defRPr>
            </a:lvl1pPr>
          </a:lstStyle>
          <a:p>
            <a:fld id="{006AE8E3-C79C-E14F-9140-34B0C7F543F1}" type="slidenum">
              <a:rPr lang="en-CL" smtClean="0"/>
              <a:pPr/>
              <a:t>‹#›</a:t>
            </a:fld>
            <a:endParaRPr lang="en-CL" dirty="0"/>
          </a:p>
        </p:txBody>
      </p:sp>
    </p:spTree>
    <p:extLst>
      <p:ext uri="{BB962C8B-B14F-4D97-AF65-F5344CB8AC3E}">
        <p14:creationId xmlns:p14="http://schemas.microsoft.com/office/powerpoint/2010/main" val="4248052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domingomery.ing.uc.cl/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emf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emf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emf"/><Relationship Id="rId4" Type="http://schemas.openxmlformats.org/officeDocument/2006/relationships/image" Target="../media/image20.emf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emf"/><Relationship Id="rId3" Type="http://schemas.openxmlformats.org/officeDocument/2006/relationships/image" Target="../media/image22.emf"/><Relationship Id="rId7" Type="http://schemas.openxmlformats.org/officeDocument/2006/relationships/image" Target="../media/image24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emf"/><Relationship Id="rId5" Type="http://schemas.openxmlformats.org/officeDocument/2006/relationships/image" Target="../media/image21.emf"/><Relationship Id="rId4" Type="http://schemas.openxmlformats.org/officeDocument/2006/relationships/image" Target="../media/image20.emf"/><Relationship Id="rId9" Type="http://schemas.openxmlformats.org/officeDocument/2006/relationships/image" Target="../media/image26.emf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emf"/><Relationship Id="rId5" Type="http://schemas.openxmlformats.org/officeDocument/2006/relationships/image" Target="../media/image23.emf"/><Relationship Id="rId4" Type="http://schemas.openxmlformats.org/officeDocument/2006/relationships/image" Target="../media/image22.emf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emf"/><Relationship Id="rId5" Type="http://schemas.openxmlformats.org/officeDocument/2006/relationships/image" Target="../media/image20.emf"/><Relationship Id="rId4" Type="http://schemas.openxmlformats.org/officeDocument/2006/relationships/image" Target="../media/image29.emf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emf"/><Relationship Id="rId5" Type="http://schemas.openxmlformats.org/officeDocument/2006/relationships/image" Target="../media/image30.emf"/><Relationship Id="rId4" Type="http://schemas.openxmlformats.org/officeDocument/2006/relationships/image" Target="../media/image21.emf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emf"/><Relationship Id="rId5" Type="http://schemas.openxmlformats.org/officeDocument/2006/relationships/image" Target="../media/image30.emf"/><Relationship Id="rId4" Type="http://schemas.openxmlformats.org/officeDocument/2006/relationships/image" Target="../media/image21.emf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emf"/><Relationship Id="rId4" Type="http://schemas.openxmlformats.org/officeDocument/2006/relationships/image" Target="../media/image21.emf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emf"/><Relationship Id="rId4" Type="http://schemas.openxmlformats.org/officeDocument/2006/relationships/image" Target="../media/image21.emf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emf"/><Relationship Id="rId4" Type="http://schemas.openxmlformats.org/officeDocument/2006/relationships/image" Target="../media/image36.emf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emf"/><Relationship Id="rId3" Type="http://schemas.openxmlformats.org/officeDocument/2006/relationships/image" Target="../media/image21.emf"/><Relationship Id="rId7" Type="http://schemas.openxmlformats.org/officeDocument/2006/relationships/image" Target="../media/image37.em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emf"/><Relationship Id="rId5" Type="http://schemas.openxmlformats.org/officeDocument/2006/relationships/image" Target="../media/image23.emf"/><Relationship Id="rId4" Type="http://schemas.openxmlformats.org/officeDocument/2006/relationships/image" Target="../media/image22.emf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emf"/><Relationship Id="rId3" Type="http://schemas.openxmlformats.org/officeDocument/2006/relationships/image" Target="../media/image22.emf"/><Relationship Id="rId7" Type="http://schemas.openxmlformats.org/officeDocument/2006/relationships/image" Target="../media/image24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emf"/><Relationship Id="rId5" Type="http://schemas.openxmlformats.org/officeDocument/2006/relationships/image" Target="../media/image21.emf"/><Relationship Id="rId4" Type="http://schemas.openxmlformats.org/officeDocument/2006/relationships/image" Target="../media/image20.emf"/><Relationship Id="rId9" Type="http://schemas.openxmlformats.org/officeDocument/2006/relationships/image" Target="../media/image26.emf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emf"/><Relationship Id="rId4" Type="http://schemas.openxmlformats.org/officeDocument/2006/relationships/image" Target="../media/image23.emf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emf"/><Relationship Id="rId4" Type="http://schemas.openxmlformats.org/officeDocument/2006/relationships/image" Target="../media/image23.emf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26.emf"/><Relationship Id="rId4" Type="http://schemas.openxmlformats.org/officeDocument/2006/relationships/image" Target="../media/image23.emf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emf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emf"/><Relationship Id="rId5" Type="http://schemas.openxmlformats.org/officeDocument/2006/relationships/image" Target="../media/image29.emf"/><Relationship Id="rId4" Type="http://schemas.openxmlformats.org/officeDocument/2006/relationships/image" Target="../media/image36.emf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emf"/><Relationship Id="rId3" Type="http://schemas.openxmlformats.org/officeDocument/2006/relationships/image" Target="../media/image22.emf"/><Relationship Id="rId7" Type="http://schemas.openxmlformats.org/officeDocument/2006/relationships/image" Target="../media/image21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emf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9" Type="http://schemas.openxmlformats.org/officeDocument/2006/relationships/image" Target="../media/image42.emf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emf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emf"/><Relationship Id="rId2" Type="http://schemas.openxmlformats.org/officeDocument/2006/relationships/image" Target="../media/image57.emf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emf"/><Relationship Id="rId7" Type="http://schemas.openxmlformats.org/officeDocument/2006/relationships/image" Target="../media/image63.emf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emf"/><Relationship Id="rId5" Type="http://schemas.openxmlformats.org/officeDocument/2006/relationships/image" Target="../media/image61.emf"/><Relationship Id="rId4" Type="http://schemas.openxmlformats.org/officeDocument/2006/relationships/image" Target="../media/image60.emf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emf"/><Relationship Id="rId2" Type="http://schemas.openxmlformats.org/officeDocument/2006/relationships/image" Target="../media/image57.emf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Relationship Id="rId9" Type="http://schemas.openxmlformats.org/officeDocument/2006/relationships/image" Target="../media/image76.png"/></Relationships>
</file>

<file path=ppt/slides/_rels/slide1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64.png"/><Relationship Id="rId7" Type="http://schemas.openxmlformats.org/officeDocument/2006/relationships/image" Target="../media/image69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Relationship Id="rId9" Type="http://schemas.openxmlformats.org/officeDocument/2006/relationships/image" Target="../media/image81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tiff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png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emf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4.emf"/><Relationship Id="rId4" Type="http://schemas.openxmlformats.org/officeDocument/2006/relationships/image" Target="../media/image93.emf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emf"/><Relationship Id="rId2" Type="http://schemas.openxmlformats.org/officeDocument/2006/relationships/image" Target="../media/image95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8.png"/><Relationship Id="rId4" Type="http://schemas.openxmlformats.org/officeDocument/2006/relationships/image" Target="../media/image97.emf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emf"/><Relationship Id="rId2" Type="http://schemas.openxmlformats.org/officeDocument/2006/relationships/image" Target="../media/image95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8.png"/><Relationship Id="rId4" Type="http://schemas.openxmlformats.org/officeDocument/2006/relationships/image" Target="../media/image97.emf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emf"/><Relationship Id="rId2" Type="http://schemas.openxmlformats.org/officeDocument/2006/relationships/image" Target="../media/image99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1.emf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emf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5.png"/><Relationship Id="rId4" Type="http://schemas.openxmlformats.org/officeDocument/2006/relationships/image" Target="../media/image104.emf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emf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4.emf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emf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4.emf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emf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4.emf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emf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4.emf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emf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4.emf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emf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4.emf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emf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4.emf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emf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4.emf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Random_forest" TargetMode="External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emf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A2C7284-77CC-FC88-ACE0-20E53773C64D}"/>
              </a:ext>
            </a:extLst>
          </p:cNvPr>
          <p:cNvSpPr/>
          <p:nvPr/>
        </p:nvSpPr>
        <p:spPr>
          <a:xfrm>
            <a:off x="925897" y="683627"/>
            <a:ext cx="10340205" cy="84741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 dirty="0">
              <a:latin typeface="Gill Sans MT" panose="020B050202010402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76E2BE-1E76-0F44-8020-A654157CDF76}"/>
              </a:ext>
            </a:extLst>
          </p:cNvPr>
          <p:cNvSpPr txBox="1"/>
          <p:nvPr/>
        </p:nvSpPr>
        <p:spPr>
          <a:xfrm>
            <a:off x="925898" y="3991689"/>
            <a:ext cx="3783921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600" noProof="1">
                <a:solidFill>
                  <a:srgbClr val="0041A1"/>
                </a:solidFill>
                <a:latin typeface="Gill Sans MT" panose="020B0502020104020203" pitchFamily="34" charset="77"/>
              </a:rPr>
              <a:t>Domingo Mery</a:t>
            </a:r>
          </a:p>
          <a:p>
            <a:endParaRPr lang="es-ES_tradnl" sz="2400" noProof="1">
              <a:solidFill>
                <a:schemeClr val="bg1">
                  <a:lumMod val="50000"/>
                </a:schemeClr>
              </a:solidFill>
              <a:latin typeface="Gill Sans MT" panose="020B0502020104020203" pitchFamily="34" charset="77"/>
            </a:endParaRP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Ciencia de la Computación</a:t>
            </a: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Universidad Católica – Chile</a:t>
            </a: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  <a:hlinkClick r:id="rId2"/>
              </a:rPr>
              <a:t>http://domingomery.ing.uc.cl</a:t>
            </a:r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0B8274-BF81-6D48-B1EC-87E4CF24BC51}"/>
              </a:ext>
            </a:extLst>
          </p:cNvPr>
          <p:cNvSpPr txBox="1"/>
          <p:nvPr/>
        </p:nvSpPr>
        <p:spPr>
          <a:xfrm>
            <a:off x="925898" y="546159"/>
            <a:ext cx="6803850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400" noProof="1">
                <a:solidFill>
                  <a:schemeClr val="accent2"/>
                </a:solidFill>
                <a:latin typeface="Gill Sans MT" panose="020B0502020104020203" pitchFamily="34" charset="77"/>
              </a:rPr>
              <a:t>Reconocimiento de Patrones</a:t>
            </a:r>
          </a:p>
          <a:p>
            <a:r>
              <a:rPr lang="es-ES_tradnl" sz="1400" noProof="1">
                <a:solidFill>
                  <a:schemeClr val="accent1">
                    <a:lumMod val="60000"/>
                    <a:lumOff val="40000"/>
                  </a:schemeClr>
                </a:solidFill>
                <a:latin typeface="Gill Sans MT" panose="020B0502020104020203" pitchFamily="34" charset="77"/>
              </a:rPr>
              <a:t>Versión 2026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1F84582F-25ED-D64F-A141-4702851F2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2889" y="4153426"/>
            <a:ext cx="671000" cy="396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09BC001-F490-B55D-4087-04CD68E211CA}"/>
              </a:ext>
            </a:extLst>
          </p:cNvPr>
          <p:cNvSpPr txBox="1"/>
          <p:nvPr/>
        </p:nvSpPr>
        <p:spPr>
          <a:xfrm>
            <a:off x="925898" y="2363235"/>
            <a:ext cx="5165132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400" noProof="1">
                <a:latin typeface="Gill Sans MT" panose="020B0502020104020203" pitchFamily="34" charset="77"/>
              </a:rPr>
              <a:t>Clasificadores Básicos</a:t>
            </a:r>
            <a:endParaRPr lang="es-ES_tradnl" sz="1400" noProof="1">
              <a:latin typeface="Gill Sans MT" panose="020B0502020104020203" pitchFamily="34" charset="77"/>
            </a:endParaRPr>
          </a:p>
          <a:p>
            <a:r>
              <a:rPr lang="es-ES_tradnl" sz="1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( CAPÍTULO 1V )</a:t>
            </a:r>
            <a:endParaRPr lang="es-ES_tradnl" sz="4400" noProof="1">
              <a:solidFill>
                <a:schemeClr val="bg1">
                  <a:lumMod val="50000"/>
                </a:schemeClr>
              </a:solidFill>
              <a:latin typeface="Gill Sans MT" panose="020B0502020104020203" pitchFamily="34" charset="77"/>
            </a:endParaRPr>
          </a:p>
        </p:txBody>
      </p:sp>
      <p:pic>
        <p:nvPicPr>
          <p:cNvPr id="4" name="Picture 3" descr="Screen Shot 2014-07-28 at 3.30.32 PM.png">
            <a:extLst>
              <a:ext uri="{FF2B5EF4-FFF2-40B4-BE49-F238E27FC236}">
                <a16:creationId xmlns:a16="http://schemas.microsoft.com/office/drawing/2014/main" id="{F713277D-8D19-F8E9-D0C7-160CDCD11B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7883" y="683626"/>
            <a:ext cx="2688219" cy="84741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F7C2C46-FB77-25C3-BA3D-A0231C48A0BC}"/>
              </a:ext>
            </a:extLst>
          </p:cNvPr>
          <p:cNvSpPr/>
          <p:nvPr/>
        </p:nvSpPr>
        <p:spPr>
          <a:xfrm>
            <a:off x="8532327" y="889536"/>
            <a:ext cx="94889" cy="94882"/>
          </a:xfrm>
          <a:prstGeom prst="rect">
            <a:avLst/>
          </a:prstGeom>
          <a:solidFill>
            <a:srgbClr val="FF00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821CF4-4421-1287-4A0F-68915CE9BDF0}"/>
              </a:ext>
            </a:extLst>
          </p:cNvPr>
          <p:cNvSpPr/>
          <p:nvPr/>
        </p:nvSpPr>
        <p:spPr>
          <a:xfrm>
            <a:off x="9457147" y="1041936"/>
            <a:ext cx="94889" cy="94882"/>
          </a:xfrm>
          <a:prstGeom prst="rect">
            <a:avLst/>
          </a:prstGeom>
          <a:solidFill>
            <a:srgbClr val="FFD3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697AF8-DB10-A907-E9A0-11DBFF2F41AD}"/>
              </a:ext>
            </a:extLst>
          </p:cNvPr>
          <p:cNvSpPr/>
          <p:nvPr/>
        </p:nvSpPr>
        <p:spPr>
          <a:xfrm>
            <a:off x="8450280" y="1194336"/>
            <a:ext cx="94889" cy="94882"/>
          </a:xfrm>
          <a:prstGeom prst="rect">
            <a:avLst/>
          </a:prstGeom>
          <a:solidFill>
            <a:srgbClr val="3366FF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33E66E-94EA-0AAE-A7DB-7F462B910E03}"/>
              </a:ext>
            </a:extLst>
          </p:cNvPr>
          <p:cNvSpPr/>
          <p:nvPr/>
        </p:nvSpPr>
        <p:spPr>
          <a:xfrm>
            <a:off x="9200620" y="814788"/>
            <a:ext cx="94889" cy="94882"/>
          </a:xfrm>
          <a:prstGeom prst="rect">
            <a:avLst/>
          </a:prstGeom>
          <a:solidFill>
            <a:schemeClr val="bg1">
              <a:alpha val="73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468F98-E38C-0CEE-B1A7-0C8769B40381}"/>
              </a:ext>
            </a:extLst>
          </p:cNvPr>
          <p:cNvSpPr/>
          <p:nvPr/>
        </p:nvSpPr>
        <p:spPr>
          <a:xfrm>
            <a:off x="9043304" y="1325718"/>
            <a:ext cx="94889" cy="94882"/>
          </a:xfrm>
          <a:prstGeom prst="rect">
            <a:avLst/>
          </a:prstGeom>
          <a:solidFill>
            <a:srgbClr val="00FF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B39C212-BEE2-95E6-B136-0E0B4DE937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797842">
            <a:off x="6961909" y="2851447"/>
            <a:ext cx="3810000" cy="326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940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4D9AA6AA-A0B7-6744-B04B-192B99D81E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675751"/>
              </p:ext>
            </p:extLst>
          </p:nvPr>
        </p:nvGraphicFramePr>
        <p:xfrm>
          <a:off x="2899351" y="2904910"/>
          <a:ext cx="1092924" cy="112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231">
                  <a:extLst>
                    <a:ext uri="{9D8B030D-6E8A-4147-A177-3AD203B41FA5}">
                      <a16:colId xmlns:a16="http://schemas.microsoft.com/office/drawing/2014/main" val="1587632376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749266633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3802181957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1979340780"/>
                    </a:ext>
                  </a:extLst>
                </a:gridCol>
              </a:tblGrid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129878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10622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080497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68420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387770"/>
                  </a:ext>
                </a:extLst>
              </a:tr>
            </a:tbl>
          </a:graphicData>
        </a:graphic>
      </p:graphicFrame>
      <p:sp>
        <p:nvSpPr>
          <p:cNvPr id="47" name="TextBox 46">
            <a:extLst>
              <a:ext uri="{FF2B5EF4-FFF2-40B4-BE49-F238E27FC236}">
                <a16:creationId xmlns:a16="http://schemas.microsoft.com/office/drawing/2014/main" id="{004A8679-EB84-F349-AB2A-8FC89182301B}"/>
              </a:ext>
            </a:extLst>
          </p:cNvPr>
          <p:cNvSpPr txBox="1"/>
          <p:nvPr/>
        </p:nvSpPr>
        <p:spPr>
          <a:xfrm>
            <a:off x="3633625" y="742487"/>
            <a:ext cx="50526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2"/>
                </a:solidFill>
                <a:latin typeface="Gill Sans MT" panose="020B0502020104020203" pitchFamily="34" charset="77"/>
              </a:rPr>
              <a:t>Labels</a:t>
            </a:r>
            <a:endParaRPr lang="en-US" sz="1000" baseline="-25000" dirty="0">
              <a:solidFill>
                <a:schemeClr val="accent2"/>
              </a:solidFill>
              <a:latin typeface="Gill Sans MT" panose="020B0502020104020203" pitchFamily="34" charset="7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34EF6D2-5A9F-4643-80BF-004A196E3D8B}"/>
              </a:ext>
            </a:extLst>
          </p:cNvPr>
          <p:cNvSpPr txBox="1"/>
          <p:nvPr/>
        </p:nvSpPr>
        <p:spPr>
          <a:xfrm>
            <a:off x="2780724" y="742487"/>
            <a:ext cx="95891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solidFill>
                  <a:schemeClr val="accent2"/>
                </a:solidFill>
                <a:latin typeface="Gill Sans MT" panose="020B0502020104020203" pitchFamily="34" charset="77"/>
              </a:rPr>
              <a:t>Características</a:t>
            </a:r>
            <a:endParaRPr lang="en-US" sz="1000" dirty="0">
              <a:solidFill>
                <a:schemeClr val="accent2"/>
              </a:solidFill>
              <a:latin typeface="Gill Sans MT" panose="020B0502020104020203" pitchFamily="34" charset="7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502E951-CEE0-5447-A69D-C875E2DEEDE5}"/>
              </a:ext>
            </a:extLst>
          </p:cNvPr>
          <p:cNvSpPr txBox="1"/>
          <p:nvPr/>
        </p:nvSpPr>
        <p:spPr>
          <a:xfrm>
            <a:off x="2564966" y="268159"/>
            <a:ext cx="1994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  <a:latin typeface="Gill Sans MT" panose="020B0502020104020203" pitchFamily="34" charset="77"/>
              </a:rPr>
              <a:t>Conjunto de Datos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8CA1C6E-231A-5078-29AD-12F91D9980BF}"/>
              </a:ext>
            </a:extLst>
          </p:cNvPr>
          <p:cNvSpPr/>
          <p:nvPr/>
        </p:nvSpPr>
        <p:spPr>
          <a:xfrm>
            <a:off x="2277881" y="2904910"/>
            <a:ext cx="2148345" cy="2245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1C5C8030-E46E-A94B-A37B-2559B16A4A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0743233"/>
              </p:ext>
            </p:extLst>
          </p:nvPr>
        </p:nvGraphicFramePr>
        <p:xfrm>
          <a:off x="2899351" y="1093704"/>
          <a:ext cx="1092924" cy="2033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231">
                  <a:extLst>
                    <a:ext uri="{9D8B030D-6E8A-4147-A177-3AD203B41FA5}">
                      <a16:colId xmlns:a16="http://schemas.microsoft.com/office/drawing/2014/main" val="1587632376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1429024220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3802181957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1979340780"/>
                    </a:ext>
                  </a:extLst>
                </a:gridCol>
              </a:tblGrid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129878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10622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622095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080497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6197139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68420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38777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607525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5902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2785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71D5D-3454-D42F-5829-B149E3D65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7D55C37-FF0E-1ECE-2C7A-07EE87E7AB0F}"/>
              </a:ext>
            </a:extLst>
          </p:cNvPr>
          <p:cNvSpPr txBox="1"/>
          <p:nvPr/>
        </p:nvSpPr>
        <p:spPr>
          <a:xfrm rot="16200000">
            <a:off x="7282990" y="2141319"/>
            <a:ext cx="1200585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 err="1">
                <a:latin typeface="Gill Sans MT" panose="020B0502020104020203" pitchFamily="34" charset="77"/>
              </a:rPr>
              <a:t>N</a:t>
            </a:r>
            <a:r>
              <a:rPr lang="en-US" sz="1600" baseline="-25000" dirty="0" err="1">
                <a:latin typeface="Gill Sans MT" panose="020B0502020104020203" pitchFamily="34" charset="77"/>
              </a:rPr>
              <a:t>t</a:t>
            </a:r>
            <a:r>
              <a:rPr lang="en-US" sz="1600" dirty="0">
                <a:latin typeface="Gill Sans MT" panose="020B0502020104020203" pitchFamily="34" charset="77"/>
              </a:rPr>
              <a:t> </a:t>
            </a:r>
            <a:r>
              <a:rPr lang="en-US" sz="1600" dirty="0" err="1">
                <a:latin typeface="Gill Sans MT" panose="020B0502020104020203" pitchFamily="34" charset="77"/>
              </a:rPr>
              <a:t>muestras</a:t>
            </a:r>
            <a:endParaRPr lang="en-US" sz="1600" dirty="0">
              <a:latin typeface="Gill Sans MT" panose="020B0502020104020203" pitchFamily="34" charset="77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3C44F95E-8573-0593-B00C-8C62352AD644}"/>
              </a:ext>
            </a:extLst>
          </p:cNvPr>
          <p:cNvGraphicFramePr>
            <a:graphicFrameLocks noGrp="1"/>
          </p:cNvGraphicFramePr>
          <p:nvPr/>
        </p:nvGraphicFramePr>
        <p:xfrm>
          <a:off x="8328588" y="1658587"/>
          <a:ext cx="1092924" cy="112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231">
                  <a:extLst>
                    <a:ext uri="{9D8B030D-6E8A-4147-A177-3AD203B41FA5}">
                      <a16:colId xmlns:a16="http://schemas.microsoft.com/office/drawing/2014/main" val="1587632376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749266633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3802181957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1979340780"/>
                    </a:ext>
                  </a:extLst>
                </a:gridCol>
              </a:tblGrid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129878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10622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080497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68420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387770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18164AE4-BB44-3E3E-9B86-5822C9F80747}"/>
              </a:ext>
            </a:extLst>
          </p:cNvPr>
          <p:cNvSpPr txBox="1"/>
          <p:nvPr/>
        </p:nvSpPr>
        <p:spPr>
          <a:xfrm>
            <a:off x="8294573" y="1856593"/>
            <a:ext cx="851515" cy="21544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800" dirty="0">
                <a:latin typeface="Gill Sans MT" panose="020B0502020104020203" pitchFamily="34" charset="77"/>
              </a:rPr>
              <a:t>p </a:t>
            </a:r>
            <a:r>
              <a:rPr lang="en-US" sz="800" dirty="0" err="1">
                <a:latin typeface="Gill Sans MT" panose="020B0502020104020203" pitchFamily="34" charset="77"/>
              </a:rPr>
              <a:t>características</a:t>
            </a:r>
            <a:endParaRPr lang="en-US" sz="800" dirty="0">
              <a:latin typeface="Gill Sans MT" panose="020B0502020104020203" pitchFamily="34" charset="77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3C4F5E7-228C-811A-09E6-0CDE617FFEBE}"/>
              </a:ext>
            </a:extLst>
          </p:cNvPr>
          <p:cNvCxnSpPr>
            <a:cxnSpLocks/>
          </p:cNvCxnSpPr>
          <p:nvPr/>
        </p:nvCxnSpPr>
        <p:spPr>
          <a:xfrm flipV="1">
            <a:off x="2462542" y="1336736"/>
            <a:ext cx="0" cy="1790107"/>
          </a:xfrm>
          <a:prstGeom prst="straightConnector1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89E65373-8D53-C275-30E5-FBA85CBBB9E1}"/>
              </a:ext>
            </a:extLst>
          </p:cNvPr>
          <p:cNvGraphicFramePr>
            <a:graphicFrameLocks noGrp="1"/>
          </p:cNvGraphicFramePr>
          <p:nvPr/>
        </p:nvGraphicFramePr>
        <p:xfrm>
          <a:off x="2899351" y="1093704"/>
          <a:ext cx="1092924" cy="2033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231">
                  <a:extLst>
                    <a:ext uri="{9D8B030D-6E8A-4147-A177-3AD203B41FA5}">
                      <a16:colId xmlns:a16="http://schemas.microsoft.com/office/drawing/2014/main" val="1587632376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1429024220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3802181957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1979340780"/>
                    </a:ext>
                  </a:extLst>
                </a:gridCol>
              </a:tblGrid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129878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10622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622095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080497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6197139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68420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38777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607525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590238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D4883327-2A68-A494-EF13-BE9E06F2C009}"/>
              </a:ext>
            </a:extLst>
          </p:cNvPr>
          <p:cNvSpPr txBox="1"/>
          <p:nvPr/>
        </p:nvSpPr>
        <p:spPr>
          <a:xfrm rot="16200000">
            <a:off x="1826315" y="2042544"/>
            <a:ext cx="127246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N </a:t>
            </a:r>
            <a:r>
              <a:rPr lang="en-US" dirty="0" err="1">
                <a:latin typeface="Gill Sans MT" panose="020B0502020104020203" pitchFamily="34" charset="77"/>
              </a:rPr>
              <a:t>muestras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1075C6F-A663-4889-296C-C582BACDA76E}"/>
              </a:ext>
            </a:extLst>
          </p:cNvPr>
          <p:cNvSpPr txBox="1"/>
          <p:nvPr/>
        </p:nvSpPr>
        <p:spPr>
          <a:xfrm>
            <a:off x="2883709" y="1330227"/>
            <a:ext cx="851515" cy="21544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800" dirty="0">
                <a:latin typeface="Gill Sans MT" panose="020B0502020104020203" pitchFamily="34" charset="77"/>
              </a:rPr>
              <a:t>p </a:t>
            </a:r>
            <a:r>
              <a:rPr lang="en-US" sz="800" dirty="0" err="1">
                <a:latin typeface="Gill Sans MT" panose="020B0502020104020203" pitchFamily="34" charset="77"/>
              </a:rPr>
              <a:t>características</a:t>
            </a:r>
            <a:endParaRPr lang="en-US" sz="800" dirty="0">
              <a:latin typeface="Gill Sans MT" panose="020B0502020104020203" pitchFamily="34" charset="7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29E8EAF-461F-5515-A63C-E89E28325187}"/>
              </a:ext>
            </a:extLst>
          </p:cNvPr>
          <p:cNvSpPr txBox="1"/>
          <p:nvPr/>
        </p:nvSpPr>
        <p:spPr>
          <a:xfrm>
            <a:off x="9091306" y="1055801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9300"/>
                </a:solidFill>
                <a:latin typeface="Gill Sans MT" panose="020B0502020104020203" pitchFamily="34" charset="77"/>
              </a:rPr>
              <a:t>y</a:t>
            </a:r>
            <a:r>
              <a:rPr lang="en-US" baseline="-250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t</a:t>
            </a:r>
            <a:endParaRPr lang="en-US" baseline="-25000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705F680-FAD7-C631-3BD4-4ED1D8BAB999}"/>
              </a:ext>
            </a:extLst>
          </p:cNvPr>
          <p:cNvSpPr txBox="1"/>
          <p:nvPr/>
        </p:nvSpPr>
        <p:spPr>
          <a:xfrm>
            <a:off x="8486290" y="1055801"/>
            <a:ext cx="39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9300"/>
                </a:solidFill>
                <a:latin typeface="Gill Sans MT" panose="020B0502020104020203" pitchFamily="34" charset="77"/>
              </a:rPr>
              <a:t>X</a:t>
            </a:r>
            <a:r>
              <a:rPr lang="en-US" baseline="-250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t</a:t>
            </a:r>
            <a:endParaRPr lang="en-US" baseline="-25000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8CF8FEA-2EC6-ADFF-CA22-5E936AB79E3E}"/>
              </a:ext>
            </a:extLst>
          </p:cNvPr>
          <p:cNvSpPr txBox="1"/>
          <p:nvPr/>
        </p:nvSpPr>
        <p:spPr>
          <a:xfrm>
            <a:off x="3694064" y="687690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  <a:latin typeface="Gill Sans MT" panose="020B0502020104020203" pitchFamily="34" charset="77"/>
              </a:rPr>
              <a:t>y</a:t>
            </a:r>
            <a:endParaRPr lang="en-US" baseline="-25000" dirty="0">
              <a:solidFill>
                <a:srgbClr val="0096FF"/>
              </a:solidFill>
              <a:latin typeface="Gill Sans MT" panose="020B0502020104020203" pitchFamily="34" charset="7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65A066D-0DB6-2DB3-CFD7-49FAEA6B7DF1}"/>
              </a:ext>
            </a:extLst>
          </p:cNvPr>
          <p:cNvSpPr txBox="1"/>
          <p:nvPr/>
        </p:nvSpPr>
        <p:spPr>
          <a:xfrm>
            <a:off x="3211345" y="702923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  <a:latin typeface="Gill Sans MT" panose="020B0502020104020203" pitchFamily="34" charset="77"/>
              </a:rPr>
              <a:t>X</a:t>
            </a:r>
            <a:endParaRPr lang="en-US" baseline="-25000" dirty="0">
              <a:solidFill>
                <a:srgbClr val="0096FF"/>
              </a:solidFill>
              <a:latin typeface="Gill Sans MT" panose="020B0502020104020203" pitchFamily="34" charset="7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24C96B5-87E3-3AE3-C547-184D7F01086B}"/>
              </a:ext>
            </a:extLst>
          </p:cNvPr>
          <p:cNvSpPr txBox="1"/>
          <p:nvPr/>
        </p:nvSpPr>
        <p:spPr>
          <a:xfrm>
            <a:off x="2098038" y="268159"/>
            <a:ext cx="2808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  <a:latin typeface="Gill Sans MT" panose="020B0502020104020203" pitchFamily="34" charset="77"/>
              </a:rPr>
              <a:t>Conjunto de </a:t>
            </a:r>
            <a:r>
              <a:rPr lang="en-US" dirty="0" err="1">
                <a:solidFill>
                  <a:srgbClr val="0096FF"/>
                </a:solidFill>
                <a:latin typeface="Gill Sans MT" panose="020B0502020104020203" pitchFamily="34" charset="77"/>
              </a:rPr>
              <a:t>Entrenamiento</a:t>
            </a:r>
            <a:endParaRPr lang="en-US" dirty="0">
              <a:solidFill>
                <a:srgbClr val="0096FF"/>
              </a:solidFill>
              <a:latin typeface="Gill Sans MT" panose="020B0502020104020203" pitchFamily="34" charset="7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DCD9E14-AFD5-7D80-E118-805B4198E463}"/>
              </a:ext>
            </a:extLst>
          </p:cNvPr>
          <p:cNvSpPr txBox="1"/>
          <p:nvPr/>
        </p:nvSpPr>
        <p:spPr>
          <a:xfrm>
            <a:off x="7803337" y="278598"/>
            <a:ext cx="2167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9300"/>
                </a:solidFill>
                <a:latin typeface="Gill Sans MT" panose="020B0502020104020203" pitchFamily="34" charset="77"/>
              </a:rPr>
              <a:t>Conjunto de </a:t>
            </a:r>
            <a:r>
              <a:rPr lang="en-US" dirty="0" err="1">
                <a:solidFill>
                  <a:srgbClr val="FF9300"/>
                </a:solidFill>
                <a:latin typeface="Gill Sans MT" panose="020B0502020104020203" pitchFamily="34" charset="77"/>
              </a:rPr>
              <a:t>Pruebas</a:t>
            </a:r>
            <a:endParaRPr lang="en-US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3F3A30D-9296-185E-52F3-92BB9263A7B9}"/>
              </a:ext>
            </a:extLst>
          </p:cNvPr>
          <p:cNvSpPr/>
          <p:nvPr/>
        </p:nvSpPr>
        <p:spPr>
          <a:xfrm>
            <a:off x="6139274" y="277332"/>
            <a:ext cx="431800" cy="432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Gill Sans MT" panose="020B0502020104020203" pitchFamily="34" charset="77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5443426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DFFBC-2FD9-0FC6-8EE9-A2153D2BF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1E56172-A17E-A508-1468-4DED132205E9}"/>
              </a:ext>
            </a:extLst>
          </p:cNvPr>
          <p:cNvSpPr txBox="1"/>
          <p:nvPr/>
        </p:nvSpPr>
        <p:spPr>
          <a:xfrm>
            <a:off x="2264675" y="5340955"/>
            <a:ext cx="38170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>
                <a:latin typeface="Gill Sans MT" panose="020B0502020104020203" pitchFamily="34" charset="77"/>
                <a:cs typeface="Trebuchet MS"/>
              </a:rPr>
              <a:t>Esquema</a:t>
            </a:r>
            <a:r>
              <a:rPr lang="en-US" sz="4000" dirty="0">
                <a:latin typeface="Gill Sans MT" panose="020B0502020104020203" pitchFamily="34" charset="77"/>
                <a:cs typeface="Trebuchet MS"/>
              </a:rPr>
              <a:t> General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B1CC5A-32C9-A473-2D2D-5A72CAD63F7C}"/>
              </a:ext>
            </a:extLst>
          </p:cNvPr>
          <p:cNvSpPr txBox="1"/>
          <p:nvPr/>
        </p:nvSpPr>
        <p:spPr>
          <a:xfrm rot="16200000">
            <a:off x="7282990" y="2141319"/>
            <a:ext cx="1200585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 err="1">
                <a:latin typeface="Gill Sans MT" panose="020B0502020104020203" pitchFamily="34" charset="77"/>
              </a:rPr>
              <a:t>N</a:t>
            </a:r>
            <a:r>
              <a:rPr lang="en-US" sz="1600" baseline="-25000" dirty="0" err="1">
                <a:latin typeface="Gill Sans MT" panose="020B0502020104020203" pitchFamily="34" charset="77"/>
              </a:rPr>
              <a:t>t</a:t>
            </a:r>
            <a:r>
              <a:rPr lang="en-US" sz="1600" dirty="0">
                <a:latin typeface="Gill Sans MT" panose="020B0502020104020203" pitchFamily="34" charset="77"/>
              </a:rPr>
              <a:t> </a:t>
            </a:r>
            <a:r>
              <a:rPr lang="en-US" sz="1600" dirty="0" err="1">
                <a:latin typeface="Gill Sans MT" panose="020B0502020104020203" pitchFamily="34" charset="77"/>
              </a:rPr>
              <a:t>muestras</a:t>
            </a:r>
            <a:endParaRPr lang="en-US" sz="1600" dirty="0">
              <a:latin typeface="Gill Sans MT" panose="020B0502020104020203" pitchFamily="34" charset="77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9E98EDA-3E50-99CC-4328-1A0E70301D91}"/>
              </a:ext>
            </a:extLst>
          </p:cNvPr>
          <p:cNvCxnSpPr>
            <a:cxnSpLocks/>
          </p:cNvCxnSpPr>
          <p:nvPr/>
        </p:nvCxnSpPr>
        <p:spPr>
          <a:xfrm flipH="1">
            <a:off x="8754004" y="2946408"/>
            <a:ext cx="2862" cy="93600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64E402FB-E8D8-8AEB-C98F-EC56645AC128}"/>
              </a:ext>
            </a:extLst>
          </p:cNvPr>
          <p:cNvGraphicFramePr>
            <a:graphicFrameLocks noGrp="1"/>
          </p:cNvGraphicFramePr>
          <p:nvPr/>
        </p:nvGraphicFramePr>
        <p:xfrm>
          <a:off x="8328588" y="1658587"/>
          <a:ext cx="1092924" cy="112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231">
                  <a:extLst>
                    <a:ext uri="{9D8B030D-6E8A-4147-A177-3AD203B41FA5}">
                      <a16:colId xmlns:a16="http://schemas.microsoft.com/office/drawing/2014/main" val="1587632376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749266633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3802181957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1979340780"/>
                    </a:ext>
                  </a:extLst>
                </a:gridCol>
              </a:tblGrid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129878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10622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080497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68420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387770"/>
                  </a:ext>
                </a:extLst>
              </a:tr>
            </a:tbl>
          </a:graphicData>
        </a:graphic>
      </p:graphicFrame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68227D6-C36F-3FA4-DB52-C180C51838D0}"/>
              </a:ext>
            </a:extLst>
          </p:cNvPr>
          <p:cNvSpPr/>
          <p:nvPr/>
        </p:nvSpPr>
        <p:spPr>
          <a:xfrm>
            <a:off x="7923412" y="3876112"/>
            <a:ext cx="1649308" cy="694987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rPr>
              <a:t>Clasificación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Gill Sans MT" panose="020B0502020104020203" pitchFamily="34" charset="77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462AB56-1450-6622-3A96-A30806FA4FEE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4256920" y="4218984"/>
            <a:ext cx="3666495" cy="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eft Brace 15">
            <a:extLst>
              <a:ext uri="{FF2B5EF4-FFF2-40B4-BE49-F238E27FC236}">
                <a16:creationId xmlns:a16="http://schemas.microsoft.com/office/drawing/2014/main" id="{AB1F039F-A957-F847-9D53-309ABB9D7713}"/>
              </a:ext>
            </a:extLst>
          </p:cNvPr>
          <p:cNvSpPr/>
          <p:nvPr/>
        </p:nvSpPr>
        <p:spPr>
          <a:xfrm rot="16200000">
            <a:off x="8707050" y="2470055"/>
            <a:ext cx="91967" cy="797785"/>
          </a:xfrm>
          <a:prstGeom prst="leftBrace">
            <a:avLst/>
          </a:prstGeom>
          <a:ln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F14A254-AC3A-A696-9B41-50F7F4C61AA4}"/>
              </a:ext>
            </a:extLst>
          </p:cNvPr>
          <p:cNvCxnSpPr>
            <a:cxnSpLocks/>
          </p:cNvCxnSpPr>
          <p:nvPr/>
        </p:nvCxnSpPr>
        <p:spPr>
          <a:xfrm flipH="1">
            <a:off x="8750928" y="4569578"/>
            <a:ext cx="2862" cy="64800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6DF6CD27-F2EA-2441-817A-EE310FFE7D34}"/>
              </a:ext>
            </a:extLst>
          </p:cNvPr>
          <p:cNvGraphicFramePr>
            <a:graphicFrameLocks noGrp="1"/>
          </p:cNvGraphicFramePr>
          <p:nvPr/>
        </p:nvGraphicFramePr>
        <p:xfrm>
          <a:off x="8606527" y="5203908"/>
          <a:ext cx="273231" cy="112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231">
                  <a:extLst>
                    <a:ext uri="{9D8B030D-6E8A-4147-A177-3AD203B41FA5}">
                      <a16:colId xmlns:a16="http://schemas.microsoft.com/office/drawing/2014/main" val="1979340780"/>
                    </a:ext>
                  </a:extLst>
                </a:gridCol>
              </a:tblGrid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129878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10622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080497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68420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387770"/>
                  </a:ext>
                </a:extLst>
              </a:tr>
            </a:tbl>
          </a:graphicData>
        </a:graphic>
      </p:graphicFrame>
      <p:sp>
        <p:nvSpPr>
          <p:cNvPr id="19" name="Oval 18">
            <a:extLst>
              <a:ext uri="{FF2B5EF4-FFF2-40B4-BE49-F238E27FC236}">
                <a16:creationId xmlns:a16="http://schemas.microsoft.com/office/drawing/2014/main" id="{ACF81B40-7718-B150-E423-62E86294173A}"/>
              </a:ext>
            </a:extLst>
          </p:cNvPr>
          <p:cNvSpPr/>
          <p:nvPr/>
        </p:nvSpPr>
        <p:spPr>
          <a:xfrm>
            <a:off x="8537901" y="5043798"/>
            <a:ext cx="410476" cy="146341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0E7AB4E-147C-594E-4955-8BA1DAA73E64}"/>
              </a:ext>
            </a:extLst>
          </p:cNvPr>
          <p:cNvSpPr/>
          <p:nvPr/>
        </p:nvSpPr>
        <p:spPr>
          <a:xfrm>
            <a:off x="9553744" y="5617533"/>
            <a:ext cx="324000" cy="32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600" dirty="0">
              <a:latin typeface="Gill Sans MT" panose="020B0502020104020203" pitchFamily="34" charset="77"/>
            </a:endParaRPr>
          </a:p>
        </p:txBody>
      </p: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629B4A99-79B4-1D11-F7FB-08BA8D6987EE}"/>
              </a:ext>
            </a:extLst>
          </p:cNvPr>
          <p:cNvCxnSpPr>
            <a:cxnSpLocks/>
            <a:stCxn id="13" idx="3"/>
            <a:endCxn id="20" idx="0"/>
          </p:cNvCxnSpPr>
          <p:nvPr/>
        </p:nvCxnSpPr>
        <p:spPr>
          <a:xfrm>
            <a:off x="9421512" y="2223347"/>
            <a:ext cx="294232" cy="3394186"/>
          </a:xfrm>
          <a:prstGeom prst="bentConnector2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1FA7D4A-B216-3B29-568A-7AB73DF35C87}"/>
              </a:ext>
            </a:extLst>
          </p:cNvPr>
          <p:cNvCxnSpPr>
            <a:cxnSpLocks/>
            <a:stCxn id="19" idx="6"/>
            <a:endCxn id="20" idx="2"/>
          </p:cNvCxnSpPr>
          <p:nvPr/>
        </p:nvCxnSpPr>
        <p:spPr>
          <a:xfrm>
            <a:off x="8948378" y="5775503"/>
            <a:ext cx="605367" cy="403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0685575-61C7-5BE3-A3F4-209EA47CD36F}"/>
              </a:ext>
            </a:extLst>
          </p:cNvPr>
          <p:cNvCxnSpPr>
            <a:cxnSpLocks/>
          </p:cNvCxnSpPr>
          <p:nvPr/>
        </p:nvCxnSpPr>
        <p:spPr>
          <a:xfrm>
            <a:off x="9719209" y="5940267"/>
            <a:ext cx="0" cy="289754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4B9A62C-01D6-8F5D-7887-39D326F2EC02}"/>
              </a:ext>
            </a:extLst>
          </p:cNvPr>
          <p:cNvSpPr txBox="1"/>
          <p:nvPr/>
        </p:nvSpPr>
        <p:spPr>
          <a:xfrm>
            <a:off x="9164650" y="6226055"/>
            <a:ext cx="1047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Accuracy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D2162D5-A9DE-89E8-0442-E8EF3E53D84A}"/>
              </a:ext>
            </a:extLst>
          </p:cNvPr>
          <p:cNvSpPr txBox="1"/>
          <p:nvPr/>
        </p:nvSpPr>
        <p:spPr>
          <a:xfrm>
            <a:off x="6258929" y="5482966"/>
            <a:ext cx="21675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err="1">
                <a:latin typeface="Gill Sans MT" panose="020B0502020104020203" pitchFamily="34" charset="77"/>
              </a:rPr>
              <a:t>Clasificación</a:t>
            </a:r>
            <a:r>
              <a:rPr lang="en-US" dirty="0">
                <a:latin typeface="Gill Sans MT" panose="020B0502020104020203" pitchFamily="34" charset="77"/>
              </a:rPr>
              <a:t> del </a:t>
            </a:r>
          </a:p>
          <a:p>
            <a:pPr algn="r"/>
            <a:r>
              <a:rPr lang="en-US" dirty="0">
                <a:latin typeface="Gill Sans MT" panose="020B0502020104020203" pitchFamily="34" charset="77"/>
              </a:rPr>
              <a:t>Conjunto de </a:t>
            </a:r>
            <a:r>
              <a:rPr lang="en-US" dirty="0" err="1">
                <a:latin typeface="Gill Sans MT" panose="020B0502020104020203" pitchFamily="34" charset="77"/>
              </a:rPr>
              <a:t>Pruebas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3502AEB-575D-5226-2275-DBB371B95580}"/>
              </a:ext>
            </a:extLst>
          </p:cNvPr>
          <p:cNvSpPr txBox="1"/>
          <p:nvPr/>
        </p:nvSpPr>
        <p:spPr>
          <a:xfrm>
            <a:off x="9532299" y="5318121"/>
            <a:ext cx="3946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Gill Sans MT" panose="020B0502020104020203" pitchFamily="34" charset="77"/>
              </a:rPr>
              <a:t>-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2ED5331-20D3-01E1-A15F-7D5C827E0140}"/>
              </a:ext>
            </a:extLst>
          </p:cNvPr>
          <p:cNvSpPr txBox="1"/>
          <p:nvPr/>
        </p:nvSpPr>
        <p:spPr>
          <a:xfrm>
            <a:off x="8294573" y="1856593"/>
            <a:ext cx="851515" cy="21544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800" dirty="0">
                <a:latin typeface="Gill Sans MT" panose="020B0502020104020203" pitchFamily="34" charset="77"/>
              </a:rPr>
              <a:t>p </a:t>
            </a:r>
            <a:r>
              <a:rPr lang="en-US" sz="800" dirty="0" err="1">
                <a:latin typeface="Gill Sans MT" panose="020B0502020104020203" pitchFamily="34" charset="77"/>
              </a:rPr>
              <a:t>características</a:t>
            </a:r>
            <a:endParaRPr lang="en-US" sz="800" dirty="0">
              <a:latin typeface="Gill Sans MT" panose="020B0502020104020203" pitchFamily="34" charset="77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5A791C1-017D-CAD4-BD46-8E2010A8AC39}"/>
              </a:ext>
            </a:extLst>
          </p:cNvPr>
          <p:cNvCxnSpPr>
            <a:cxnSpLocks/>
          </p:cNvCxnSpPr>
          <p:nvPr/>
        </p:nvCxnSpPr>
        <p:spPr>
          <a:xfrm flipV="1">
            <a:off x="2462542" y="1336736"/>
            <a:ext cx="0" cy="1790107"/>
          </a:xfrm>
          <a:prstGeom prst="straightConnector1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D4019F93-0137-D568-8DDA-1EBD6DE0D56E}"/>
              </a:ext>
            </a:extLst>
          </p:cNvPr>
          <p:cNvGraphicFramePr>
            <a:graphicFrameLocks noGrp="1"/>
          </p:cNvGraphicFramePr>
          <p:nvPr/>
        </p:nvGraphicFramePr>
        <p:xfrm>
          <a:off x="2899351" y="1093704"/>
          <a:ext cx="1092924" cy="2033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231">
                  <a:extLst>
                    <a:ext uri="{9D8B030D-6E8A-4147-A177-3AD203B41FA5}">
                      <a16:colId xmlns:a16="http://schemas.microsoft.com/office/drawing/2014/main" val="1587632376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1429024220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3802181957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1979340780"/>
                    </a:ext>
                  </a:extLst>
                </a:gridCol>
              </a:tblGrid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129878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10622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622095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080497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6197139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68420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38777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607525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590238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A7D982B9-3632-282D-E122-745A88628CE2}"/>
              </a:ext>
            </a:extLst>
          </p:cNvPr>
          <p:cNvSpPr txBox="1"/>
          <p:nvPr/>
        </p:nvSpPr>
        <p:spPr>
          <a:xfrm rot="16200000">
            <a:off x="1826315" y="2042544"/>
            <a:ext cx="127246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N </a:t>
            </a:r>
            <a:r>
              <a:rPr lang="en-US" dirty="0" err="1">
                <a:latin typeface="Gill Sans MT" panose="020B0502020104020203" pitchFamily="34" charset="77"/>
              </a:rPr>
              <a:t>muestras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C99EC48-CA75-A91D-5B6E-F93203000E76}"/>
              </a:ext>
            </a:extLst>
          </p:cNvPr>
          <p:cNvSpPr txBox="1"/>
          <p:nvPr/>
        </p:nvSpPr>
        <p:spPr>
          <a:xfrm>
            <a:off x="2883709" y="1330227"/>
            <a:ext cx="851515" cy="21544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800" dirty="0">
                <a:latin typeface="Gill Sans MT" panose="020B0502020104020203" pitchFamily="34" charset="77"/>
              </a:rPr>
              <a:t>p </a:t>
            </a:r>
            <a:r>
              <a:rPr lang="en-US" sz="800" dirty="0" err="1">
                <a:latin typeface="Gill Sans MT" panose="020B0502020104020203" pitchFamily="34" charset="77"/>
              </a:rPr>
              <a:t>características</a:t>
            </a:r>
            <a:endParaRPr lang="en-US" sz="800" dirty="0">
              <a:latin typeface="Gill Sans MT" panose="020B0502020104020203" pitchFamily="34" charset="77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8D421194-C9AA-6125-2767-79E344C20F4C}"/>
              </a:ext>
            </a:extLst>
          </p:cNvPr>
          <p:cNvSpPr/>
          <p:nvPr/>
        </p:nvSpPr>
        <p:spPr>
          <a:xfrm>
            <a:off x="2607609" y="3860674"/>
            <a:ext cx="1649308" cy="694987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rPr>
              <a:t>Entrenamiento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rPr>
              <a:t> de </a:t>
            </a: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rPr>
              <a:t>Clasificador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Gill Sans MT" panose="020B0502020104020203" pitchFamily="34" charset="77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F990F4F-E050-54F1-DF00-9CF2CFB4A67E}"/>
              </a:ext>
            </a:extLst>
          </p:cNvPr>
          <p:cNvCxnSpPr>
            <a:cxnSpLocks/>
          </p:cNvCxnSpPr>
          <p:nvPr/>
        </p:nvCxnSpPr>
        <p:spPr>
          <a:xfrm>
            <a:off x="3301211" y="3392929"/>
            <a:ext cx="339" cy="46800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Left Brace 33">
            <a:extLst>
              <a:ext uri="{FF2B5EF4-FFF2-40B4-BE49-F238E27FC236}">
                <a16:creationId xmlns:a16="http://schemas.microsoft.com/office/drawing/2014/main" id="{98E623E0-84EF-C608-C4F5-3D07B285DA12}"/>
              </a:ext>
            </a:extLst>
          </p:cNvPr>
          <p:cNvSpPr/>
          <p:nvPr/>
        </p:nvSpPr>
        <p:spPr>
          <a:xfrm rot="16200000">
            <a:off x="3246836" y="2891857"/>
            <a:ext cx="135504" cy="750376"/>
          </a:xfrm>
          <a:prstGeom prst="leftBrace">
            <a:avLst>
              <a:gd name="adj1" fmla="val 8333"/>
              <a:gd name="adj2" fmla="val 49144"/>
            </a:avLst>
          </a:prstGeom>
          <a:ln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3A65A76-4E36-FCB5-CBF4-C10B4752EE82}"/>
              </a:ext>
            </a:extLst>
          </p:cNvPr>
          <p:cNvCxnSpPr>
            <a:cxnSpLocks/>
          </p:cNvCxnSpPr>
          <p:nvPr/>
        </p:nvCxnSpPr>
        <p:spPr>
          <a:xfrm>
            <a:off x="3849922" y="3126597"/>
            <a:ext cx="0" cy="746188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B8624798-F942-4177-B566-B61852C6CEC1}"/>
              </a:ext>
            </a:extLst>
          </p:cNvPr>
          <p:cNvSpPr txBox="1"/>
          <p:nvPr/>
        </p:nvSpPr>
        <p:spPr>
          <a:xfrm>
            <a:off x="4685295" y="4182851"/>
            <a:ext cx="2780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parámetros</a:t>
            </a:r>
            <a:r>
              <a:rPr lang="en-US" dirty="0">
                <a:latin typeface="Gill Sans MT" panose="020B0502020104020203" pitchFamily="34" charset="77"/>
              </a:rPr>
              <a:t> del </a:t>
            </a:r>
            <a:r>
              <a:rPr lang="en-US" dirty="0" err="1">
                <a:latin typeface="Gill Sans MT" panose="020B0502020104020203" pitchFamily="34" charset="77"/>
              </a:rPr>
              <a:t>clasificador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DEBB322-9604-A50F-F3C8-BB4F73D5535F}"/>
              </a:ext>
            </a:extLst>
          </p:cNvPr>
          <p:cNvSpPr/>
          <p:nvPr/>
        </p:nvSpPr>
        <p:spPr>
          <a:xfrm>
            <a:off x="9080142" y="1506324"/>
            <a:ext cx="410476" cy="146341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081A733-5AEB-1C2D-2CD5-B55AC6A396F5}"/>
              </a:ext>
            </a:extLst>
          </p:cNvPr>
          <p:cNvSpPr txBox="1"/>
          <p:nvPr/>
        </p:nvSpPr>
        <p:spPr>
          <a:xfrm>
            <a:off x="7188761" y="3037895"/>
            <a:ext cx="15071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err="1">
                <a:solidFill>
                  <a:srgbClr val="FF0000"/>
                </a:solidFill>
                <a:latin typeface="Gill Sans MT" panose="020B0502020104020203" pitchFamily="34" charset="77"/>
              </a:rPr>
              <a:t>sólo</a:t>
            </a:r>
            <a:endParaRPr lang="en-US" dirty="0">
              <a:solidFill>
                <a:srgbClr val="FF0000"/>
              </a:solidFill>
              <a:latin typeface="Gill Sans MT" panose="020B0502020104020203" pitchFamily="34" charset="77"/>
            </a:endParaRPr>
          </a:p>
          <a:p>
            <a:pPr algn="r"/>
            <a:r>
              <a:rPr lang="en-US" dirty="0" err="1">
                <a:solidFill>
                  <a:srgbClr val="FF0000"/>
                </a:solidFill>
                <a:latin typeface="Gill Sans MT" panose="020B0502020104020203" pitchFamily="34" charset="77"/>
              </a:rPr>
              <a:t>características</a:t>
            </a:r>
            <a:endParaRPr lang="en-US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14BC704-64D3-E550-B7C5-C35DA20181F0}"/>
              </a:ext>
            </a:extLst>
          </p:cNvPr>
          <p:cNvSpPr txBox="1"/>
          <p:nvPr/>
        </p:nvSpPr>
        <p:spPr>
          <a:xfrm>
            <a:off x="9906119" y="3876111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9300"/>
                </a:solidFill>
                <a:latin typeface="Gill Sans MT" panose="020B0502020104020203" pitchFamily="34" charset="77"/>
              </a:rPr>
              <a:t>y</a:t>
            </a:r>
            <a:r>
              <a:rPr lang="en-US" baseline="-250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t</a:t>
            </a:r>
            <a:endParaRPr lang="en-US" baseline="-25000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C8F0B58-0B69-6615-6F6E-569F305CB0AD}"/>
              </a:ext>
            </a:extLst>
          </p:cNvPr>
          <p:cNvSpPr txBox="1"/>
          <p:nvPr/>
        </p:nvSpPr>
        <p:spPr>
          <a:xfrm>
            <a:off x="9118220" y="5364286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00B050"/>
                </a:solidFill>
                <a:latin typeface="Gill Sans MT" panose="020B0502020104020203" pitchFamily="34" charset="77"/>
              </a:rPr>
              <a:t>y</a:t>
            </a:r>
            <a:r>
              <a:rPr lang="en-US" baseline="-25000" dirty="0" err="1">
                <a:solidFill>
                  <a:srgbClr val="00B050"/>
                </a:solidFill>
                <a:latin typeface="Gill Sans MT" panose="020B0502020104020203" pitchFamily="34" charset="77"/>
              </a:rPr>
              <a:t>s</a:t>
            </a:r>
            <a:endParaRPr lang="en-US" baseline="-25000" dirty="0">
              <a:solidFill>
                <a:srgbClr val="00B050"/>
              </a:solidFill>
              <a:latin typeface="Gill Sans MT" panose="020B0502020104020203" pitchFamily="34" charset="7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C542550-2943-E7F8-7299-317FE1D0D578}"/>
              </a:ext>
            </a:extLst>
          </p:cNvPr>
          <p:cNvSpPr txBox="1"/>
          <p:nvPr/>
        </p:nvSpPr>
        <p:spPr>
          <a:xfrm>
            <a:off x="9091306" y="1055801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9300"/>
                </a:solidFill>
                <a:latin typeface="Gill Sans MT" panose="020B0502020104020203" pitchFamily="34" charset="77"/>
              </a:rPr>
              <a:t>y</a:t>
            </a:r>
            <a:r>
              <a:rPr lang="en-US" baseline="-250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t</a:t>
            </a:r>
            <a:endParaRPr lang="en-US" baseline="-25000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8D2ADC4-B92D-40F4-10ED-7BEA469D46E9}"/>
              </a:ext>
            </a:extLst>
          </p:cNvPr>
          <p:cNvSpPr txBox="1"/>
          <p:nvPr/>
        </p:nvSpPr>
        <p:spPr>
          <a:xfrm>
            <a:off x="8486290" y="1055801"/>
            <a:ext cx="39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9300"/>
                </a:solidFill>
                <a:latin typeface="Gill Sans MT" panose="020B0502020104020203" pitchFamily="34" charset="77"/>
              </a:rPr>
              <a:t>X</a:t>
            </a:r>
            <a:r>
              <a:rPr lang="en-US" baseline="-250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t</a:t>
            </a:r>
            <a:endParaRPr lang="en-US" baseline="-25000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426AEEE-0EB9-9390-ED99-E1F8D483A51D}"/>
              </a:ext>
            </a:extLst>
          </p:cNvPr>
          <p:cNvSpPr txBox="1"/>
          <p:nvPr/>
        </p:nvSpPr>
        <p:spPr>
          <a:xfrm>
            <a:off x="8713819" y="3148581"/>
            <a:ext cx="39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9300"/>
                </a:solidFill>
                <a:latin typeface="Gill Sans MT" panose="020B0502020104020203" pitchFamily="34" charset="77"/>
              </a:rPr>
              <a:t>X</a:t>
            </a:r>
            <a:r>
              <a:rPr lang="en-US" baseline="-250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t</a:t>
            </a:r>
            <a:endParaRPr lang="en-US" baseline="-25000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EC96EB9-BACA-C96B-F916-E17D2E0B579C}"/>
              </a:ext>
            </a:extLst>
          </p:cNvPr>
          <p:cNvSpPr txBox="1"/>
          <p:nvPr/>
        </p:nvSpPr>
        <p:spPr>
          <a:xfrm>
            <a:off x="8742528" y="4628968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00B050"/>
                </a:solidFill>
                <a:latin typeface="Gill Sans MT" panose="020B0502020104020203" pitchFamily="34" charset="77"/>
              </a:rPr>
              <a:t>y</a:t>
            </a:r>
            <a:r>
              <a:rPr lang="en-US" baseline="-25000" dirty="0" err="1">
                <a:solidFill>
                  <a:srgbClr val="00B050"/>
                </a:solidFill>
                <a:latin typeface="Gill Sans MT" panose="020B0502020104020203" pitchFamily="34" charset="77"/>
              </a:rPr>
              <a:t>s</a:t>
            </a:r>
            <a:endParaRPr lang="en-US" baseline="-25000" dirty="0">
              <a:solidFill>
                <a:srgbClr val="00B050"/>
              </a:solidFill>
              <a:latin typeface="Gill Sans MT" panose="020B0502020104020203" pitchFamily="34" charset="7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57289F3-8650-A641-3DE5-5FB8D5D5AD05}"/>
              </a:ext>
            </a:extLst>
          </p:cNvPr>
          <p:cNvSpPr txBox="1"/>
          <p:nvPr/>
        </p:nvSpPr>
        <p:spPr>
          <a:xfrm>
            <a:off x="3797350" y="3369764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  <a:latin typeface="Gill Sans MT" panose="020B0502020104020203" pitchFamily="34" charset="77"/>
              </a:rPr>
              <a:t>y</a:t>
            </a:r>
            <a:endParaRPr lang="en-US" baseline="-25000" dirty="0">
              <a:solidFill>
                <a:srgbClr val="0096FF"/>
              </a:solidFill>
              <a:latin typeface="Gill Sans MT" panose="020B0502020104020203" pitchFamily="34" charset="7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8CC2767-F6D4-AEBF-63C1-4AF18223F2DE}"/>
              </a:ext>
            </a:extLst>
          </p:cNvPr>
          <p:cNvSpPr txBox="1"/>
          <p:nvPr/>
        </p:nvSpPr>
        <p:spPr>
          <a:xfrm>
            <a:off x="2908231" y="3384997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  <a:latin typeface="Gill Sans MT" panose="020B0502020104020203" pitchFamily="34" charset="77"/>
              </a:rPr>
              <a:t>X</a:t>
            </a:r>
            <a:endParaRPr lang="en-US" baseline="-25000" dirty="0">
              <a:solidFill>
                <a:srgbClr val="0096FF"/>
              </a:solidFill>
              <a:latin typeface="Gill Sans MT" panose="020B0502020104020203" pitchFamily="34" charset="7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67FB850-25A3-FA8C-0616-9B950CBD70B2}"/>
              </a:ext>
            </a:extLst>
          </p:cNvPr>
          <p:cNvSpPr txBox="1"/>
          <p:nvPr/>
        </p:nvSpPr>
        <p:spPr>
          <a:xfrm>
            <a:off x="3694064" y="687690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  <a:latin typeface="Gill Sans MT" panose="020B0502020104020203" pitchFamily="34" charset="77"/>
              </a:rPr>
              <a:t>y</a:t>
            </a:r>
            <a:endParaRPr lang="en-US" baseline="-25000" dirty="0">
              <a:solidFill>
                <a:srgbClr val="0096FF"/>
              </a:solidFill>
              <a:latin typeface="Gill Sans MT" panose="020B0502020104020203" pitchFamily="34" charset="7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AB7341E-A348-D721-A08B-91010645A6C3}"/>
              </a:ext>
            </a:extLst>
          </p:cNvPr>
          <p:cNvSpPr txBox="1"/>
          <p:nvPr/>
        </p:nvSpPr>
        <p:spPr>
          <a:xfrm>
            <a:off x="3211345" y="702923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  <a:latin typeface="Gill Sans MT" panose="020B0502020104020203" pitchFamily="34" charset="77"/>
              </a:rPr>
              <a:t>X</a:t>
            </a:r>
            <a:endParaRPr lang="en-US" baseline="-25000" dirty="0">
              <a:solidFill>
                <a:srgbClr val="0096FF"/>
              </a:solidFill>
              <a:latin typeface="Gill Sans MT" panose="020B0502020104020203" pitchFamily="34" charset="7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27695C9-503F-104C-2CC3-62825C014137}"/>
              </a:ext>
            </a:extLst>
          </p:cNvPr>
          <p:cNvSpPr txBox="1"/>
          <p:nvPr/>
        </p:nvSpPr>
        <p:spPr>
          <a:xfrm>
            <a:off x="2098038" y="268159"/>
            <a:ext cx="2808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  <a:latin typeface="Gill Sans MT" panose="020B0502020104020203" pitchFamily="34" charset="77"/>
              </a:rPr>
              <a:t>Conjunto de </a:t>
            </a:r>
            <a:r>
              <a:rPr lang="en-US" dirty="0" err="1">
                <a:solidFill>
                  <a:srgbClr val="0096FF"/>
                </a:solidFill>
                <a:latin typeface="Gill Sans MT" panose="020B0502020104020203" pitchFamily="34" charset="77"/>
              </a:rPr>
              <a:t>Entrenamiento</a:t>
            </a:r>
            <a:endParaRPr lang="en-US" dirty="0">
              <a:solidFill>
                <a:srgbClr val="0096FF"/>
              </a:solidFill>
              <a:latin typeface="Gill Sans MT" panose="020B0502020104020203" pitchFamily="34" charset="7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5AC8861-82A4-1718-81CD-4F165C164AA0}"/>
              </a:ext>
            </a:extLst>
          </p:cNvPr>
          <p:cNvSpPr txBox="1"/>
          <p:nvPr/>
        </p:nvSpPr>
        <p:spPr>
          <a:xfrm>
            <a:off x="7803337" y="278598"/>
            <a:ext cx="2167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9300"/>
                </a:solidFill>
                <a:latin typeface="Gill Sans MT" panose="020B0502020104020203" pitchFamily="34" charset="77"/>
              </a:rPr>
              <a:t>Conjunto de </a:t>
            </a:r>
            <a:r>
              <a:rPr lang="en-US" dirty="0" err="1">
                <a:solidFill>
                  <a:srgbClr val="FF9300"/>
                </a:solidFill>
                <a:latin typeface="Gill Sans MT" panose="020B0502020104020203" pitchFamily="34" charset="77"/>
              </a:rPr>
              <a:t>Pruebas</a:t>
            </a:r>
            <a:endParaRPr lang="en-US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6481469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6E315-99C7-8C76-6697-1B656026E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8F4F023-B531-63DB-85D5-C094BF371902}"/>
              </a:ext>
            </a:extLst>
          </p:cNvPr>
          <p:cNvSpPr txBox="1"/>
          <p:nvPr/>
        </p:nvSpPr>
        <p:spPr>
          <a:xfrm>
            <a:off x="2264675" y="5340955"/>
            <a:ext cx="38170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>
                <a:latin typeface="Gill Sans MT" panose="020B0502020104020203" pitchFamily="34" charset="77"/>
                <a:cs typeface="Trebuchet MS"/>
              </a:rPr>
              <a:t>Esquema</a:t>
            </a:r>
            <a:r>
              <a:rPr lang="en-US" sz="4000" dirty="0">
                <a:latin typeface="Gill Sans MT" panose="020B0502020104020203" pitchFamily="34" charset="77"/>
                <a:cs typeface="Trebuchet MS"/>
              </a:rPr>
              <a:t> General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B4AAD3-5D01-F01C-8F24-019F01DEC4E5}"/>
              </a:ext>
            </a:extLst>
          </p:cNvPr>
          <p:cNvSpPr txBox="1"/>
          <p:nvPr/>
        </p:nvSpPr>
        <p:spPr>
          <a:xfrm rot="16200000">
            <a:off x="7282990" y="2141319"/>
            <a:ext cx="1200585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 err="1">
                <a:latin typeface="Gill Sans MT" panose="020B0502020104020203" pitchFamily="34" charset="77"/>
              </a:rPr>
              <a:t>N</a:t>
            </a:r>
            <a:r>
              <a:rPr lang="en-US" sz="1600" baseline="-25000" dirty="0" err="1">
                <a:latin typeface="Gill Sans MT" panose="020B0502020104020203" pitchFamily="34" charset="77"/>
              </a:rPr>
              <a:t>t</a:t>
            </a:r>
            <a:r>
              <a:rPr lang="en-US" sz="1600" dirty="0">
                <a:latin typeface="Gill Sans MT" panose="020B0502020104020203" pitchFamily="34" charset="77"/>
              </a:rPr>
              <a:t> </a:t>
            </a:r>
            <a:r>
              <a:rPr lang="en-US" sz="1600" dirty="0" err="1">
                <a:latin typeface="Gill Sans MT" panose="020B0502020104020203" pitchFamily="34" charset="77"/>
              </a:rPr>
              <a:t>muestras</a:t>
            </a:r>
            <a:endParaRPr lang="en-US" sz="1600" dirty="0">
              <a:latin typeface="Gill Sans MT" panose="020B0502020104020203" pitchFamily="34" charset="77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418BC4A-F7E2-C41E-5FF1-D660B78EF6F0}"/>
              </a:ext>
            </a:extLst>
          </p:cNvPr>
          <p:cNvCxnSpPr>
            <a:cxnSpLocks/>
          </p:cNvCxnSpPr>
          <p:nvPr/>
        </p:nvCxnSpPr>
        <p:spPr>
          <a:xfrm flipH="1">
            <a:off x="8754004" y="2946408"/>
            <a:ext cx="2862" cy="93600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00911417-C5D8-938A-2C7A-0C3B9C639CC2}"/>
              </a:ext>
            </a:extLst>
          </p:cNvPr>
          <p:cNvGraphicFramePr>
            <a:graphicFrameLocks noGrp="1"/>
          </p:cNvGraphicFramePr>
          <p:nvPr/>
        </p:nvGraphicFramePr>
        <p:xfrm>
          <a:off x="8328588" y="1658587"/>
          <a:ext cx="1092924" cy="112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231">
                  <a:extLst>
                    <a:ext uri="{9D8B030D-6E8A-4147-A177-3AD203B41FA5}">
                      <a16:colId xmlns:a16="http://schemas.microsoft.com/office/drawing/2014/main" val="1587632376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749266633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3802181957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1979340780"/>
                    </a:ext>
                  </a:extLst>
                </a:gridCol>
              </a:tblGrid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129878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10622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080497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68420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387770"/>
                  </a:ext>
                </a:extLst>
              </a:tr>
            </a:tbl>
          </a:graphicData>
        </a:graphic>
      </p:graphicFrame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FF90C96-1CC0-6CF3-259D-C3A87A26C399}"/>
              </a:ext>
            </a:extLst>
          </p:cNvPr>
          <p:cNvSpPr/>
          <p:nvPr/>
        </p:nvSpPr>
        <p:spPr>
          <a:xfrm>
            <a:off x="7923412" y="3876112"/>
            <a:ext cx="1649308" cy="694987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rPr>
              <a:t>Clasificación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Gill Sans MT" panose="020B0502020104020203" pitchFamily="34" charset="77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DE90AC6-C21D-9922-D861-E5B515CABB66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4256920" y="4218984"/>
            <a:ext cx="3666495" cy="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eft Brace 15">
            <a:extLst>
              <a:ext uri="{FF2B5EF4-FFF2-40B4-BE49-F238E27FC236}">
                <a16:creationId xmlns:a16="http://schemas.microsoft.com/office/drawing/2014/main" id="{600A37B1-117E-A74B-41DB-0A1517E402EC}"/>
              </a:ext>
            </a:extLst>
          </p:cNvPr>
          <p:cNvSpPr/>
          <p:nvPr/>
        </p:nvSpPr>
        <p:spPr>
          <a:xfrm rot="16200000">
            <a:off x="8707050" y="2470055"/>
            <a:ext cx="91967" cy="797785"/>
          </a:xfrm>
          <a:prstGeom prst="leftBrace">
            <a:avLst/>
          </a:prstGeom>
          <a:ln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B03BA08-3890-4A3A-9231-2F6DB1FA5C9E}"/>
              </a:ext>
            </a:extLst>
          </p:cNvPr>
          <p:cNvCxnSpPr>
            <a:cxnSpLocks/>
          </p:cNvCxnSpPr>
          <p:nvPr/>
        </p:nvCxnSpPr>
        <p:spPr>
          <a:xfrm flipH="1">
            <a:off x="8750928" y="4569578"/>
            <a:ext cx="2862" cy="64800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F3373B8B-3D35-3AAA-3895-214606B73A1E}"/>
              </a:ext>
            </a:extLst>
          </p:cNvPr>
          <p:cNvGraphicFramePr>
            <a:graphicFrameLocks noGrp="1"/>
          </p:cNvGraphicFramePr>
          <p:nvPr/>
        </p:nvGraphicFramePr>
        <p:xfrm>
          <a:off x="8606527" y="5203908"/>
          <a:ext cx="273231" cy="112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231">
                  <a:extLst>
                    <a:ext uri="{9D8B030D-6E8A-4147-A177-3AD203B41FA5}">
                      <a16:colId xmlns:a16="http://schemas.microsoft.com/office/drawing/2014/main" val="1979340780"/>
                    </a:ext>
                  </a:extLst>
                </a:gridCol>
              </a:tblGrid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129878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10622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080497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68420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387770"/>
                  </a:ext>
                </a:extLst>
              </a:tr>
            </a:tbl>
          </a:graphicData>
        </a:graphic>
      </p:graphicFrame>
      <p:sp>
        <p:nvSpPr>
          <p:cNvPr id="19" name="Oval 18">
            <a:extLst>
              <a:ext uri="{FF2B5EF4-FFF2-40B4-BE49-F238E27FC236}">
                <a16:creationId xmlns:a16="http://schemas.microsoft.com/office/drawing/2014/main" id="{62DAA02F-93C6-F1AD-0279-4E7063082899}"/>
              </a:ext>
            </a:extLst>
          </p:cNvPr>
          <p:cNvSpPr/>
          <p:nvPr/>
        </p:nvSpPr>
        <p:spPr>
          <a:xfrm>
            <a:off x="8537901" y="5043798"/>
            <a:ext cx="410476" cy="146341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16B784F-3A0C-69C4-0ADC-513734FE5B1A}"/>
              </a:ext>
            </a:extLst>
          </p:cNvPr>
          <p:cNvSpPr/>
          <p:nvPr/>
        </p:nvSpPr>
        <p:spPr>
          <a:xfrm>
            <a:off x="9553744" y="5617533"/>
            <a:ext cx="324000" cy="32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600" dirty="0">
              <a:latin typeface="Gill Sans MT" panose="020B0502020104020203" pitchFamily="34" charset="77"/>
            </a:endParaRPr>
          </a:p>
        </p:txBody>
      </p: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BEE1FDF6-5F3E-9271-4951-B74922C21C5E}"/>
              </a:ext>
            </a:extLst>
          </p:cNvPr>
          <p:cNvCxnSpPr>
            <a:cxnSpLocks/>
            <a:stCxn id="13" idx="3"/>
            <a:endCxn id="20" idx="0"/>
          </p:cNvCxnSpPr>
          <p:nvPr/>
        </p:nvCxnSpPr>
        <p:spPr>
          <a:xfrm>
            <a:off x="9421512" y="2223347"/>
            <a:ext cx="294232" cy="3394186"/>
          </a:xfrm>
          <a:prstGeom prst="bentConnector2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B0EEB49-A9D5-421A-2EE9-2903C0062F28}"/>
              </a:ext>
            </a:extLst>
          </p:cNvPr>
          <p:cNvCxnSpPr>
            <a:cxnSpLocks/>
            <a:stCxn id="19" idx="6"/>
            <a:endCxn id="20" idx="2"/>
          </p:cNvCxnSpPr>
          <p:nvPr/>
        </p:nvCxnSpPr>
        <p:spPr>
          <a:xfrm>
            <a:off x="8948378" y="5775503"/>
            <a:ext cx="605367" cy="403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DE471F5-76DF-D59E-7D28-65904A476EF2}"/>
              </a:ext>
            </a:extLst>
          </p:cNvPr>
          <p:cNvCxnSpPr>
            <a:cxnSpLocks/>
          </p:cNvCxnSpPr>
          <p:nvPr/>
        </p:nvCxnSpPr>
        <p:spPr>
          <a:xfrm>
            <a:off x="9719209" y="5940267"/>
            <a:ext cx="0" cy="289754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052EB0B-70C9-F700-97C6-0E45ADCB8E3C}"/>
              </a:ext>
            </a:extLst>
          </p:cNvPr>
          <p:cNvSpPr txBox="1"/>
          <p:nvPr/>
        </p:nvSpPr>
        <p:spPr>
          <a:xfrm>
            <a:off x="9164650" y="6226055"/>
            <a:ext cx="1047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Accuracy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037307C-1DF1-A132-BEA6-68C376316209}"/>
              </a:ext>
            </a:extLst>
          </p:cNvPr>
          <p:cNvSpPr txBox="1"/>
          <p:nvPr/>
        </p:nvSpPr>
        <p:spPr>
          <a:xfrm>
            <a:off x="6258929" y="5482966"/>
            <a:ext cx="21675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err="1">
                <a:latin typeface="Gill Sans MT" panose="020B0502020104020203" pitchFamily="34" charset="77"/>
              </a:rPr>
              <a:t>Clasificación</a:t>
            </a:r>
            <a:r>
              <a:rPr lang="en-US" dirty="0">
                <a:latin typeface="Gill Sans MT" panose="020B0502020104020203" pitchFamily="34" charset="77"/>
              </a:rPr>
              <a:t> del </a:t>
            </a:r>
          </a:p>
          <a:p>
            <a:pPr algn="r"/>
            <a:r>
              <a:rPr lang="en-US" dirty="0">
                <a:latin typeface="Gill Sans MT" panose="020B0502020104020203" pitchFamily="34" charset="77"/>
              </a:rPr>
              <a:t>Conjunto de </a:t>
            </a:r>
            <a:r>
              <a:rPr lang="en-US" dirty="0" err="1">
                <a:latin typeface="Gill Sans MT" panose="020B0502020104020203" pitchFamily="34" charset="77"/>
              </a:rPr>
              <a:t>Pruebas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D367F3C-9B6A-3FCC-2054-0B9D956BF4B8}"/>
              </a:ext>
            </a:extLst>
          </p:cNvPr>
          <p:cNvSpPr txBox="1"/>
          <p:nvPr/>
        </p:nvSpPr>
        <p:spPr>
          <a:xfrm>
            <a:off x="9532299" y="5318121"/>
            <a:ext cx="3946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Gill Sans MT" panose="020B0502020104020203" pitchFamily="34" charset="77"/>
              </a:rPr>
              <a:t>-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F8BC898-9BBB-84E8-CFFA-C2E59C60B7F4}"/>
              </a:ext>
            </a:extLst>
          </p:cNvPr>
          <p:cNvSpPr txBox="1"/>
          <p:nvPr/>
        </p:nvSpPr>
        <p:spPr>
          <a:xfrm>
            <a:off x="8294573" y="1856593"/>
            <a:ext cx="851515" cy="21544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800" dirty="0">
                <a:latin typeface="Gill Sans MT" panose="020B0502020104020203" pitchFamily="34" charset="77"/>
              </a:rPr>
              <a:t>p </a:t>
            </a:r>
            <a:r>
              <a:rPr lang="en-US" sz="800" dirty="0" err="1">
                <a:latin typeface="Gill Sans MT" panose="020B0502020104020203" pitchFamily="34" charset="77"/>
              </a:rPr>
              <a:t>características</a:t>
            </a:r>
            <a:endParaRPr lang="en-US" sz="800" dirty="0">
              <a:latin typeface="Gill Sans MT" panose="020B0502020104020203" pitchFamily="34" charset="77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BD9598D-3518-7D29-BB89-2E4417C1587D}"/>
              </a:ext>
            </a:extLst>
          </p:cNvPr>
          <p:cNvCxnSpPr>
            <a:cxnSpLocks/>
          </p:cNvCxnSpPr>
          <p:nvPr/>
        </p:nvCxnSpPr>
        <p:spPr>
          <a:xfrm flipV="1">
            <a:off x="2462542" y="1336736"/>
            <a:ext cx="0" cy="1790107"/>
          </a:xfrm>
          <a:prstGeom prst="straightConnector1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F81031DE-0336-81F0-2485-42FA39302F6A}"/>
              </a:ext>
            </a:extLst>
          </p:cNvPr>
          <p:cNvGraphicFramePr>
            <a:graphicFrameLocks noGrp="1"/>
          </p:cNvGraphicFramePr>
          <p:nvPr/>
        </p:nvGraphicFramePr>
        <p:xfrm>
          <a:off x="2899351" y="1093704"/>
          <a:ext cx="1092924" cy="2033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231">
                  <a:extLst>
                    <a:ext uri="{9D8B030D-6E8A-4147-A177-3AD203B41FA5}">
                      <a16:colId xmlns:a16="http://schemas.microsoft.com/office/drawing/2014/main" val="1587632376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1429024220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3802181957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1979340780"/>
                    </a:ext>
                  </a:extLst>
                </a:gridCol>
              </a:tblGrid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129878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10622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622095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080497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6197139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68420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38777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607525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590238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C8402A54-1C82-4AF7-E3BC-03F77B13BE16}"/>
              </a:ext>
            </a:extLst>
          </p:cNvPr>
          <p:cNvSpPr txBox="1"/>
          <p:nvPr/>
        </p:nvSpPr>
        <p:spPr>
          <a:xfrm rot="16200000">
            <a:off x="1826315" y="2042544"/>
            <a:ext cx="127246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N </a:t>
            </a:r>
            <a:r>
              <a:rPr lang="en-US" dirty="0" err="1">
                <a:latin typeface="Gill Sans MT" panose="020B0502020104020203" pitchFamily="34" charset="77"/>
              </a:rPr>
              <a:t>muestras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98D33DB-CCF1-1658-AD72-D0F6889BE116}"/>
              </a:ext>
            </a:extLst>
          </p:cNvPr>
          <p:cNvSpPr txBox="1"/>
          <p:nvPr/>
        </p:nvSpPr>
        <p:spPr>
          <a:xfrm>
            <a:off x="2883709" y="1330227"/>
            <a:ext cx="851515" cy="21544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800" dirty="0">
                <a:latin typeface="Gill Sans MT" panose="020B0502020104020203" pitchFamily="34" charset="77"/>
              </a:rPr>
              <a:t>p </a:t>
            </a:r>
            <a:r>
              <a:rPr lang="en-US" sz="800" dirty="0" err="1">
                <a:latin typeface="Gill Sans MT" panose="020B0502020104020203" pitchFamily="34" charset="77"/>
              </a:rPr>
              <a:t>características</a:t>
            </a:r>
            <a:endParaRPr lang="en-US" sz="800" dirty="0">
              <a:latin typeface="Gill Sans MT" panose="020B0502020104020203" pitchFamily="34" charset="77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E2E71FB6-AF77-8B41-0DAA-9F2C6985330F}"/>
              </a:ext>
            </a:extLst>
          </p:cNvPr>
          <p:cNvSpPr/>
          <p:nvPr/>
        </p:nvSpPr>
        <p:spPr>
          <a:xfrm>
            <a:off x="2607609" y="3860674"/>
            <a:ext cx="1649308" cy="694987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rPr>
              <a:t>Entrenamiento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rPr>
              <a:t> de </a:t>
            </a: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rPr>
              <a:t>Clasificador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Gill Sans MT" panose="020B0502020104020203" pitchFamily="34" charset="77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FDD5022-DFDC-50BA-2731-2814065AC886}"/>
              </a:ext>
            </a:extLst>
          </p:cNvPr>
          <p:cNvCxnSpPr>
            <a:cxnSpLocks/>
          </p:cNvCxnSpPr>
          <p:nvPr/>
        </p:nvCxnSpPr>
        <p:spPr>
          <a:xfrm>
            <a:off x="3301211" y="3392929"/>
            <a:ext cx="339" cy="46800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Left Brace 33">
            <a:extLst>
              <a:ext uri="{FF2B5EF4-FFF2-40B4-BE49-F238E27FC236}">
                <a16:creationId xmlns:a16="http://schemas.microsoft.com/office/drawing/2014/main" id="{9740237C-D228-F5AA-1CF7-B75489F6F3AB}"/>
              </a:ext>
            </a:extLst>
          </p:cNvPr>
          <p:cNvSpPr/>
          <p:nvPr/>
        </p:nvSpPr>
        <p:spPr>
          <a:xfrm rot="16200000">
            <a:off x="3246836" y="2891857"/>
            <a:ext cx="135504" cy="750376"/>
          </a:xfrm>
          <a:prstGeom prst="leftBrace">
            <a:avLst>
              <a:gd name="adj1" fmla="val 8333"/>
              <a:gd name="adj2" fmla="val 49144"/>
            </a:avLst>
          </a:prstGeom>
          <a:ln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67663C6-C1E4-D420-E3DE-85D606018F67}"/>
              </a:ext>
            </a:extLst>
          </p:cNvPr>
          <p:cNvCxnSpPr>
            <a:cxnSpLocks/>
          </p:cNvCxnSpPr>
          <p:nvPr/>
        </p:nvCxnSpPr>
        <p:spPr>
          <a:xfrm>
            <a:off x="3849922" y="3126597"/>
            <a:ext cx="0" cy="746188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727FA30-8D9A-E703-9508-410B97902BE7}"/>
              </a:ext>
            </a:extLst>
          </p:cNvPr>
          <p:cNvSpPr txBox="1"/>
          <p:nvPr/>
        </p:nvSpPr>
        <p:spPr>
          <a:xfrm>
            <a:off x="4685295" y="4182851"/>
            <a:ext cx="2780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parámetros</a:t>
            </a:r>
            <a:r>
              <a:rPr lang="en-US" dirty="0">
                <a:latin typeface="Gill Sans MT" panose="020B0502020104020203" pitchFamily="34" charset="77"/>
              </a:rPr>
              <a:t> del </a:t>
            </a:r>
            <a:r>
              <a:rPr lang="en-US" dirty="0" err="1">
                <a:latin typeface="Gill Sans MT" panose="020B0502020104020203" pitchFamily="34" charset="77"/>
              </a:rPr>
              <a:t>clasificador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AB775FB-4898-A1C7-AC07-8E541E38C5E8}"/>
              </a:ext>
            </a:extLst>
          </p:cNvPr>
          <p:cNvSpPr/>
          <p:nvPr/>
        </p:nvSpPr>
        <p:spPr>
          <a:xfrm>
            <a:off x="9080142" y="1506324"/>
            <a:ext cx="410476" cy="146341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E0CA95C-5A44-0BE6-3E7C-32A9E85977CD}"/>
              </a:ext>
            </a:extLst>
          </p:cNvPr>
          <p:cNvSpPr txBox="1"/>
          <p:nvPr/>
        </p:nvSpPr>
        <p:spPr>
          <a:xfrm>
            <a:off x="7188761" y="3037895"/>
            <a:ext cx="15071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err="1">
                <a:solidFill>
                  <a:srgbClr val="FF0000"/>
                </a:solidFill>
                <a:latin typeface="Gill Sans MT" panose="020B0502020104020203" pitchFamily="34" charset="77"/>
              </a:rPr>
              <a:t>sólo</a:t>
            </a:r>
            <a:endParaRPr lang="en-US" dirty="0">
              <a:solidFill>
                <a:srgbClr val="FF0000"/>
              </a:solidFill>
              <a:latin typeface="Gill Sans MT" panose="020B0502020104020203" pitchFamily="34" charset="77"/>
            </a:endParaRPr>
          </a:p>
          <a:p>
            <a:pPr algn="r"/>
            <a:r>
              <a:rPr lang="en-US" dirty="0" err="1">
                <a:solidFill>
                  <a:srgbClr val="FF0000"/>
                </a:solidFill>
                <a:latin typeface="Gill Sans MT" panose="020B0502020104020203" pitchFamily="34" charset="77"/>
              </a:rPr>
              <a:t>características</a:t>
            </a:r>
            <a:endParaRPr lang="en-US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4C8D73C-5905-7109-16B7-C65362A80884}"/>
              </a:ext>
            </a:extLst>
          </p:cNvPr>
          <p:cNvSpPr txBox="1"/>
          <p:nvPr/>
        </p:nvSpPr>
        <p:spPr>
          <a:xfrm>
            <a:off x="9906119" y="3876111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9300"/>
                </a:solidFill>
                <a:latin typeface="Gill Sans MT" panose="020B0502020104020203" pitchFamily="34" charset="77"/>
              </a:rPr>
              <a:t>y</a:t>
            </a:r>
            <a:r>
              <a:rPr lang="en-US" baseline="-250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t</a:t>
            </a:r>
            <a:endParaRPr lang="en-US" baseline="-25000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FA67757-70D9-13F7-AA0D-D2C4D72BD69E}"/>
              </a:ext>
            </a:extLst>
          </p:cNvPr>
          <p:cNvSpPr txBox="1"/>
          <p:nvPr/>
        </p:nvSpPr>
        <p:spPr>
          <a:xfrm>
            <a:off x="9118220" y="5364286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00B050"/>
                </a:solidFill>
                <a:latin typeface="Gill Sans MT" panose="020B0502020104020203" pitchFamily="34" charset="77"/>
              </a:rPr>
              <a:t>y</a:t>
            </a:r>
            <a:r>
              <a:rPr lang="en-US" baseline="-25000" dirty="0" err="1">
                <a:solidFill>
                  <a:srgbClr val="00B050"/>
                </a:solidFill>
                <a:latin typeface="Gill Sans MT" panose="020B0502020104020203" pitchFamily="34" charset="77"/>
              </a:rPr>
              <a:t>s</a:t>
            </a:r>
            <a:endParaRPr lang="en-US" baseline="-25000" dirty="0">
              <a:solidFill>
                <a:srgbClr val="00B050"/>
              </a:solidFill>
              <a:latin typeface="Gill Sans MT" panose="020B0502020104020203" pitchFamily="34" charset="7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9B6C4DA-FE2A-C91B-25AD-F3A42D3B63F9}"/>
              </a:ext>
            </a:extLst>
          </p:cNvPr>
          <p:cNvSpPr txBox="1"/>
          <p:nvPr/>
        </p:nvSpPr>
        <p:spPr>
          <a:xfrm>
            <a:off x="9091306" y="1055801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9300"/>
                </a:solidFill>
                <a:latin typeface="Gill Sans MT" panose="020B0502020104020203" pitchFamily="34" charset="77"/>
              </a:rPr>
              <a:t>y</a:t>
            </a:r>
            <a:r>
              <a:rPr lang="en-US" baseline="-250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t</a:t>
            </a:r>
            <a:endParaRPr lang="en-US" baseline="-25000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EDBF9A8-87AF-FACA-00F3-7D991C3688BC}"/>
              </a:ext>
            </a:extLst>
          </p:cNvPr>
          <p:cNvSpPr txBox="1"/>
          <p:nvPr/>
        </p:nvSpPr>
        <p:spPr>
          <a:xfrm>
            <a:off x="8486290" y="1055801"/>
            <a:ext cx="39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9300"/>
                </a:solidFill>
                <a:latin typeface="Gill Sans MT" panose="020B0502020104020203" pitchFamily="34" charset="77"/>
              </a:rPr>
              <a:t>X</a:t>
            </a:r>
            <a:r>
              <a:rPr lang="en-US" baseline="-250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t</a:t>
            </a:r>
            <a:endParaRPr lang="en-US" baseline="-25000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1E6C8C5-F3A0-DFE2-AF92-F407DFEF0E1A}"/>
              </a:ext>
            </a:extLst>
          </p:cNvPr>
          <p:cNvSpPr txBox="1"/>
          <p:nvPr/>
        </p:nvSpPr>
        <p:spPr>
          <a:xfrm>
            <a:off x="8713819" y="3148581"/>
            <a:ext cx="39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9300"/>
                </a:solidFill>
                <a:latin typeface="Gill Sans MT" panose="020B0502020104020203" pitchFamily="34" charset="77"/>
              </a:rPr>
              <a:t>X</a:t>
            </a:r>
            <a:r>
              <a:rPr lang="en-US" baseline="-250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t</a:t>
            </a:r>
            <a:endParaRPr lang="en-US" baseline="-25000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592323D-4845-0ED0-8870-97A17DD88A3C}"/>
              </a:ext>
            </a:extLst>
          </p:cNvPr>
          <p:cNvSpPr txBox="1"/>
          <p:nvPr/>
        </p:nvSpPr>
        <p:spPr>
          <a:xfrm>
            <a:off x="8742528" y="4628968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00B050"/>
                </a:solidFill>
                <a:latin typeface="Gill Sans MT" panose="020B0502020104020203" pitchFamily="34" charset="77"/>
              </a:rPr>
              <a:t>y</a:t>
            </a:r>
            <a:r>
              <a:rPr lang="en-US" baseline="-25000" dirty="0" err="1">
                <a:solidFill>
                  <a:srgbClr val="00B050"/>
                </a:solidFill>
                <a:latin typeface="Gill Sans MT" panose="020B0502020104020203" pitchFamily="34" charset="77"/>
              </a:rPr>
              <a:t>s</a:t>
            </a:r>
            <a:endParaRPr lang="en-US" baseline="-25000" dirty="0">
              <a:solidFill>
                <a:srgbClr val="00B050"/>
              </a:solidFill>
              <a:latin typeface="Gill Sans MT" panose="020B0502020104020203" pitchFamily="34" charset="7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FB621F6-BE90-B021-6B03-B7E4F8DDA00D}"/>
              </a:ext>
            </a:extLst>
          </p:cNvPr>
          <p:cNvSpPr txBox="1"/>
          <p:nvPr/>
        </p:nvSpPr>
        <p:spPr>
          <a:xfrm>
            <a:off x="3797350" y="3369764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  <a:latin typeface="Gill Sans MT" panose="020B0502020104020203" pitchFamily="34" charset="77"/>
              </a:rPr>
              <a:t>y</a:t>
            </a:r>
            <a:endParaRPr lang="en-US" baseline="-25000" dirty="0">
              <a:solidFill>
                <a:srgbClr val="0096FF"/>
              </a:solidFill>
              <a:latin typeface="Gill Sans MT" panose="020B0502020104020203" pitchFamily="34" charset="7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28D653F-5C83-ECD3-E596-6FA3EC2A8CD9}"/>
              </a:ext>
            </a:extLst>
          </p:cNvPr>
          <p:cNvSpPr txBox="1"/>
          <p:nvPr/>
        </p:nvSpPr>
        <p:spPr>
          <a:xfrm>
            <a:off x="2908231" y="3384997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  <a:latin typeface="Gill Sans MT" panose="020B0502020104020203" pitchFamily="34" charset="77"/>
              </a:rPr>
              <a:t>X</a:t>
            </a:r>
            <a:endParaRPr lang="en-US" baseline="-25000" dirty="0">
              <a:solidFill>
                <a:srgbClr val="0096FF"/>
              </a:solidFill>
              <a:latin typeface="Gill Sans MT" panose="020B0502020104020203" pitchFamily="34" charset="7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E0A64C4-F125-C6D5-0C56-67B096C63127}"/>
              </a:ext>
            </a:extLst>
          </p:cNvPr>
          <p:cNvSpPr txBox="1"/>
          <p:nvPr/>
        </p:nvSpPr>
        <p:spPr>
          <a:xfrm>
            <a:off x="3694064" y="687690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  <a:latin typeface="Gill Sans MT" panose="020B0502020104020203" pitchFamily="34" charset="77"/>
              </a:rPr>
              <a:t>y</a:t>
            </a:r>
            <a:endParaRPr lang="en-US" baseline="-25000" dirty="0">
              <a:solidFill>
                <a:srgbClr val="0096FF"/>
              </a:solidFill>
              <a:latin typeface="Gill Sans MT" panose="020B0502020104020203" pitchFamily="34" charset="7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28CAF12-6B0F-3E9B-C883-451AD1C2CC53}"/>
              </a:ext>
            </a:extLst>
          </p:cNvPr>
          <p:cNvSpPr txBox="1"/>
          <p:nvPr/>
        </p:nvSpPr>
        <p:spPr>
          <a:xfrm>
            <a:off x="3211345" y="702923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  <a:latin typeface="Gill Sans MT" panose="020B0502020104020203" pitchFamily="34" charset="77"/>
              </a:rPr>
              <a:t>X</a:t>
            </a:r>
            <a:endParaRPr lang="en-US" baseline="-25000" dirty="0">
              <a:solidFill>
                <a:srgbClr val="0096FF"/>
              </a:solidFill>
              <a:latin typeface="Gill Sans MT" panose="020B0502020104020203" pitchFamily="34" charset="7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2ED3B59-6774-C4E2-0158-42F1627A36C0}"/>
              </a:ext>
            </a:extLst>
          </p:cNvPr>
          <p:cNvSpPr txBox="1"/>
          <p:nvPr/>
        </p:nvSpPr>
        <p:spPr>
          <a:xfrm>
            <a:off x="2098038" y="268159"/>
            <a:ext cx="2808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  <a:latin typeface="Gill Sans MT" panose="020B0502020104020203" pitchFamily="34" charset="77"/>
              </a:rPr>
              <a:t>Conjunto de </a:t>
            </a:r>
            <a:r>
              <a:rPr lang="en-US" dirty="0" err="1">
                <a:solidFill>
                  <a:srgbClr val="0096FF"/>
                </a:solidFill>
                <a:latin typeface="Gill Sans MT" panose="020B0502020104020203" pitchFamily="34" charset="77"/>
              </a:rPr>
              <a:t>Entrenamiento</a:t>
            </a:r>
            <a:endParaRPr lang="en-US" dirty="0">
              <a:solidFill>
                <a:srgbClr val="0096FF"/>
              </a:solidFill>
              <a:latin typeface="Gill Sans MT" panose="020B0502020104020203" pitchFamily="34" charset="7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27E5673-D906-8E4A-2DE2-D6A1715E1A14}"/>
              </a:ext>
            </a:extLst>
          </p:cNvPr>
          <p:cNvSpPr txBox="1"/>
          <p:nvPr/>
        </p:nvSpPr>
        <p:spPr>
          <a:xfrm>
            <a:off x="7803337" y="278598"/>
            <a:ext cx="2167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9300"/>
                </a:solidFill>
                <a:latin typeface="Gill Sans MT" panose="020B0502020104020203" pitchFamily="34" charset="77"/>
              </a:rPr>
              <a:t>Conjunto de </a:t>
            </a:r>
            <a:r>
              <a:rPr lang="en-US" dirty="0" err="1">
                <a:solidFill>
                  <a:srgbClr val="FF9300"/>
                </a:solidFill>
                <a:latin typeface="Gill Sans MT" panose="020B0502020104020203" pitchFamily="34" charset="77"/>
              </a:rPr>
              <a:t>Pruebas</a:t>
            </a:r>
            <a:endParaRPr lang="en-US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8185100-DD7C-9DD2-A698-9B4D7C5A5FE8}"/>
              </a:ext>
            </a:extLst>
          </p:cNvPr>
          <p:cNvSpPr/>
          <p:nvPr/>
        </p:nvSpPr>
        <p:spPr>
          <a:xfrm>
            <a:off x="1727200" y="1856592"/>
            <a:ext cx="431800" cy="432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570617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4412654" y="3429000"/>
            <a:ext cx="1512168" cy="1800200"/>
            <a:chOff x="2888654" y="3429000"/>
            <a:chExt cx="1512168" cy="1800200"/>
          </a:xfrm>
        </p:grpSpPr>
        <p:sp>
          <p:nvSpPr>
            <p:cNvPr id="6" name="Oval 5"/>
            <p:cNvSpPr/>
            <p:nvPr/>
          </p:nvSpPr>
          <p:spPr>
            <a:xfrm>
              <a:off x="3032670" y="3429000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2960662" y="4005064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2888654" y="3717032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3464718" y="3501008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3248694" y="4365104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3392710" y="3861048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3752750" y="4077072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Oval 12"/>
            <p:cNvSpPr/>
            <p:nvPr/>
          </p:nvSpPr>
          <p:spPr>
            <a:xfrm>
              <a:off x="3680742" y="4653136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4" name="Oval 13"/>
            <p:cNvSpPr/>
            <p:nvPr/>
          </p:nvSpPr>
          <p:spPr>
            <a:xfrm>
              <a:off x="3608734" y="4365104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5" name="Oval 14"/>
            <p:cNvSpPr/>
            <p:nvPr/>
          </p:nvSpPr>
          <p:spPr>
            <a:xfrm>
              <a:off x="4184798" y="4149080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6" name="Oval 15"/>
            <p:cNvSpPr/>
            <p:nvPr/>
          </p:nvSpPr>
          <p:spPr>
            <a:xfrm>
              <a:off x="3968774" y="5013176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7" name="Oval 16"/>
            <p:cNvSpPr/>
            <p:nvPr/>
          </p:nvSpPr>
          <p:spPr>
            <a:xfrm>
              <a:off x="4112790" y="4509120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8" name="Oval 17"/>
            <p:cNvSpPr/>
            <p:nvPr/>
          </p:nvSpPr>
          <p:spPr>
            <a:xfrm>
              <a:off x="3176686" y="3717032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9" name="Oval 18"/>
            <p:cNvSpPr/>
            <p:nvPr/>
          </p:nvSpPr>
          <p:spPr>
            <a:xfrm>
              <a:off x="2960662" y="4653136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0" name="Oval 19"/>
            <p:cNvSpPr/>
            <p:nvPr/>
          </p:nvSpPr>
          <p:spPr>
            <a:xfrm>
              <a:off x="2888654" y="4365104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1" name="Oval 20"/>
            <p:cNvSpPr/>
            <p:nvPr/>
          </p:nvSpPr>
          <p:spPr>
            <a:xfrm>
              <a:off x="3464718" y="4149080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2" name="Oval 21"/>
            <p:cNvSpPr/>
            <p:nvPr/>
          </p:nvSpPr>
          <p:spPr>
            <a:xfrm>
              <a:off x="3248694" y="5013176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3" name="Oval 22"/>
            <p:cNvSpPr/>
            <p:nvPr/>
          </p:nvSpPr>
          <p:spPr>
            <a:xfrm>
              <a:off x="3392710" y="4725144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42" name="Group 41"/>
          <p:cNvGrpSpPr/>
          <p:nvPr/>
        </p:nvGrpSpPr>
        <p:grpSpPr>
          <a:xfrm rot="2553764">
            <a:off x="5542359" y="2623150"/>
            <a:ext cx="1512168" cy="1800200"/>
            <a:chOff x="4572000" y="3005336"/>
            <a:chExt cx="1512168" cy="1800200"/>
          </a:xfrm>
          <a:solidFill>
            <a:srgbClr val="0000FF"/>
          </a:solidFill>
        </p:grpSpPr>
        <p:sp>
          <p:nvSpPr>
            <p:cNvPr id="24" name="Oval 23"/>
            <p:cNvSpPr/>
            <p:nvPr/>
          </p:nvSpPr>
          <p:spPr>
            <a:xfrm>
              <a:off x="4716016" y="300533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5" name="Oval 24"/>
            <p:cNvSpPr/>
            <p:nvPr/>
          </p:nvSpPr>
          <p:spPr>
            <a:xfrm>
              <a:off x="4644008" y="358140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6" name="Oval 25"/>
            <p:cNvSpPr/>
            <p:nvPr/>
          </p:nvSpPr>
          <p:spPr>
            <a:xfrm>
              <a:off x="4572000" y="329336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7" name="Oval 26"/>
            <p:cNvSpPr/>
            <p:nvPr/>
          </p:nvSpPr>
          <p:spPr>
            <a:xfrm>
              <a:off x="5148064" y="307734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8" name="Oval 27"/>
            <p:cNvSpPr/>
            <p:nvPr/>
          </p:nvSpPr>
          <p:spPr>
            <a:xfrm>
              <a:off x="493204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9" name="Oval 28"/>
            <p:cNvSpPr/>
            <p:nvPr/>
          </p:nvSpPr>
          <p:spPr>
            <a:xfrm>
              <a:off x="5076056" y="343738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0" name="Oval 29"/>
            <p:cNvSpPr/>
            <p:nvPr/>
          </p:nvSpPr>
          <p:spPr>
            <a:xfrm>
              <a:off x="5436096" y="365340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1" name="Oval 30"/>
            <p:cNvSpPr/>
            <p:nvPr/>
          </p:nvSpPr>
          <p:spPr>
            <a:xfrm>
              <a:off x="5364088" y="422947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2" name="Oval 31"/>
            <p:cNvSpPr/>
            <p:nvPr/>
          </p:nvSpPr>
          <p:spPr>
            <a:xfrm>
              <a:off x="529208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3" name="Oval 32"/>
            <p:cNvSpPr/>
            <p:nvPr/>
          </p:nvSpPr>
          <p:spPr>
            <a:xfrm>
              <a:off x="5868144" y="372541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4" name="Oval 33"/>
            <p:cNvSpPr/>
            <p:nvPr/>
          </p:nvSpPr>
          <p:spPr>
            <a:xfrm>
              <a:off x="5652120" y="458951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5" name="Oval 34"/>
            <p:cNvSpPr/>
            <p:nvPr/>
          </p:nvSpPr>
          <p:spPr>
            <a:xfrm>
              <a:off x="5796136" y="408545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6" name="Oval 35"/>
            <p:cNvSpPr/>
            <p:nvPr/>
          </p:nvSpPr>
          <p:spPr>
            <a:xfrm>
              <a:off x="4860032" y="329336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7" name="Oval 36"/>
            <p:cNvSpPr/>
            <p:nvPr/>
          </p:nvSpPr>
          <p:spPr>
            <a:xfrm>
              <a:off x="4644008" y="422947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8" name="Oval 37"/>
            <p:cNvSpPr/>
            <p:nvPr/>
          </p:nvSpPr>
          <p:spPr>
            <a:xfrm>
              <a:off x="457200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9" name="Oval 38"/>
            <p:cNvSpPr/>
            <p:nvPr/>
          </p:nvSpPr>
          <p:spPr>
            <a:xfrm>
              <a:off x="5148064" y="372541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40" name="Oval 39"/>
            <p:cNvSpPr/>
            <p:nvPr/>
          </p:nvSpPr>
          <p:spPr>
            <a:xfrm>
              <a:off x="4932040" y="458951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41" name="Oval 40"/>
            <p:cNvSpPr/>
            <p:nvPr/>
          </p:nvSpPr>
          <p:spPr>
            <a:xfrm>
              <a:off x="5076056" y="430148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" name="Right Brace 1"/>
          <p:cNvSpPr/>
          <p:nvPr/>
        </p:nvSpPr>
        <p:spPr>
          <a:xfrm>
            <a:off x="8040216" y="2420888"/>
            <a:ext cx="360040" cy="3024336"/>
          </a:xfrm>
          <a:prstGeom prst="rightBrac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400256" y="3687416"/>
            <a:ext cx="17668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Training data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37B28B74-E50E-B44D-B6D4-476F2412088F}"/>
              </a:ext>
            </a:extLst>
          </p:cNvPr>
          <p:cNvSpPr/>
          <p:nvPr/>
        </p:nvSpPr>
        <p:spPr>
          <a:xfrm>
            <a:off x="9144000" y="3093415"/>
            <a:ext cx="431800" cy="432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4230725-47E0-9F4F-8AB9-48FB5BFCF5BD}"/>
              </a:ext>
            </a:extLst>
          </p:cNvPr>
          <p:cNvCxnSpPr>
            <a:cxnSpLocks/>
          </p:cNvCxnSpPr>
          <p:nvPr/>
        </p:nvCxnSpPr>
        <p:spPr>
          <a:xfrm>
            <a:off x="3314700" y="6032500"/>
            <a:ext cx="44831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F9FDD674-E1DE-3E47-9E9F-DA911493B4B7}"/>
              </a:ext>
            </a:extLst>
          </p:cNvPr>
          <p:cNvSpPr txBox="1"/>
          <p:nvPr/>
        </p:nvSpPr>
        <p:spPr>
          <a:xfrm>
            <a:off x="5924822" y="6106240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x</a:t>
            </a:r>
            <a:r>
              <a:rPr lang="en-US" baseline="-25000" dirty="0">
                <a:latin typeface="Gill Sans MT" panose="020B0502020104020203" pitchFamily="34" charset="77"/>
              </a:rPr>
              <a:t>1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6EFE04E5-0009-264B-BEC2-61AE49C077F4}"/>
              </a:ext>
            </a:extLst>
          </p:cNvPr>
          <p:cNvCxnSpPr>
            <a:cxnSpLocks/>
          </p:cNvCxnSpPr>
          <p:nvPr/>
        </p:nvCxnSpPr>
        <p:spPr>
          <a:xfrm flipV="1">
            <a:off x="3683013" y="1447800"/>
            <a:ext cx="0" cy="4927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0C24E5E0-707A-FB4F-A2D6-E4BB58085B3C}"/>
              </a:ext>
            </a:extLst>
          </p:cNvPr>
          <p:cNvSpPr txBox="1"/>
          <p:nvPr/>
        </p:nvSpPr>
        <p:spPr>
          <a:xfrm>
            <a:off x="3213463" y="3641164"/>
            <a:ext cx="385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x</a:t>
            </a:r>
            <a:r>
              <a:rPr lang="en-US" baseline="-25000" dirty="0"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F3E0FB2-50EC-2749-B71C-CF4888D2FC2C}"/>
              </a:ext>
            </a:extLst>
          </p:cNvPr>
          <p:cNvSpPr txBox="1"/>
          <p:nvPr/>
        </p:nvSpPr>
        <p:spPr>
          <a:xfrm>
            <a:off x="9557499" y="422030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d</a:t>
            </a:r>
            <a:endParaRPr lang="en-US" baseline="-25000" dirty="0">
              <a:latin typeface="Gill Sans MT" panose="020B0502020104020203" pitchFamily="34" charset="7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613E7F7-4DE5-B64E-8D38-02EDB4958319}"/>
              </a:ext>
            </a:extLst>
          </p:cNvPr>
          <p:cNvSpPr txBox="1"/>
          <p:nvPr/>
        </p:nvSpPr>
        <p:spPr>
          <a:xfrm>
            <a:off x="8909680" y="4235537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X</a:t>
            </a:r>
            <a:endParaRPr lang="en-US" baseline="-25000" dirty="0">
              <a:latin typeface="Gill Sans MT" panose="020B0502020104020203" pitchFamily="34" charset="7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FFBA345-1E67-D44D-BB7C-C3A4B7CB2107}"/>
              </a:ext>
            </a:extLst>
          </p:cNvPr>
          <p:cNvSpPr txBox="1"/>
          <p:nvPr/>
        </p:nvSpPr>
        <p:spPr>
          <a:xfrm>
            <a:off x="8508987" y="4811672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(x</a:t>
            </a:r>
            <a:r>
              <a:rPr lang="en-US" baseline="-25000" dirty="0">
                <a:latin typeface="Gill Sans MT" panose="020B0502020104020203" pitchFamily="34" charset="77"/>
              </a:rPr>
              <a:t>1</a:t>
            </a:r>
            <a:r>
              <a:rPr lang="en-US" dirty="0">
                <a:latin typeface="Gill Sans MT" panose="020B0502020104020203" pitchFamily="34" charset="77"/>
              </a:rPr>
              <a:t>,x</a:t>
            </a:r>
            <a:r>
              <a:rPr lang="en-US" baseline="-25000" dirty="0">
                <a:latin typeface="Gill Sans MT" panose="020B0502020104020203" pitchFamily="34" charset="77"/>
              </a:rPr>
              <a:t>2</a:t>
            </a:r>
            <a:r>
              <a:rPr lang="en-US" dirty="0">
                <a:latin typeface="Gill Sans MT" panose="020B0502020104020203" pitchFamily="34" charset="77"/>
              </a:rPr>
              <a:t>)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3829BEF-5E74-144D-905E-5A343161F2EE}"/>
              </a:ext>
            </a:extLst>
          </p:cNvPr>
          <p:cNvCxnSpPr>
            <a:stCxn id="57" idx="2"/>
            <a:endCxn id="58" idx="0"/>
          </p:cNvCxnSpPr>
          <p:nvPr/>
        </p:nvCxnSpPr>
        <p:spPr>
          <a:xfrm flipH="1">
            <a:off x="8896273" y="4604869"/>
            <a:ext cx="187493" cy="2068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3CBDE942-9AE7-7244-9720-104FA7EF8DE0}"/>
              </a:ext>
            </a:extLst>
          </p:cNvPr>
          <p:cNvCxnSpPr>
            <a:cxnSpLocks/>
            <a:stCxn id="56" idx="2"/>
          </p:cNvCxnSpPr>
          <p:nvPr/>
        </p:nvCxnSpPr>
        <p:spPr>
          <a:xfrm>
            <a:off x="9713952" y="4589636"/>
            <a:ext cx="229116" cy="2795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FFE9488B-92CA-FE46-ACD0-77FAF8D5C14B}"/>
              </a:ext>
            </a:extLst>
          </p:cNvPr>
          <p:cNvSpPr txBox="1"/>
          <p:nvPr/>
        </p:nvSpPr>
        <p:spPr>
          <a:xfrm>
            <a:off x="9362805" y="4843969"/>
            <a:ext cx="1196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</a:rPr>
              <a:t>Red</a:t>
            </a:r>
            <a:r>
              <a:rPr lang="en-US" dirty="0">
                <a:latin typeface="Gill Sans MT" panose="020B0502020104020203" pitchFamily="34" charset="77"/>
              </a:rPr>
              <a:t> / </a:t>
            </a:r>
            <a:r>
              <a:rPr lang="en-US" dirty="0">
                <a:solidFill>
                  <a:srgbClr val="0000FF"/>
                </a:solidFill>
                <a:latin typeface="Gill Sans MT" panose="020B0502020104020203" pitchFamily="34" charset="77"/>
              </a:rPr>
              <a:t>Blue</a:t>
            </a:r>
          </a:p>
        </p:txBody>
      </p:sp>
    </p:spTree>
    <p:extLst>
      <p:ext uri="{BB962C8B-B14F-4D97-AF65-F5344CB8AC3E}">
        <p14:creationId xmlns:p14="http://schemas.microsoft.com/office/powerpoint/2010/main" val="1348128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7C492-3FBC-ADED-E1BE-026D83248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313ABC7-63FB-4F69-ACC7-8CBF06599C83}"/>
              </a:ext>
            </a:extLst>
          </p:cNvPr>
          <p:cNvSpPr txBox="1"/>
          <p:nvPr/>
        </p:nvSpPr>
        <p:spPr>
          <a:xfrm>
            <a:off x="2264675" y="5340955"/>
            <a:ext cx="38170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>
                <a:latin typeface="Gill Sans MT" panose="020B0502020104020203" pitchFamily="34" charset="77"/>
                <a:cs typeface="Trebuchet MS"/>
              </a:rPr>
              <a:t>Esquema</a:t>
            </a:r>
            <a:r>
              <a:rPr lang="en-US" sz="4000" dirty="0">
                <a:latin typeface="Gill Sans MT" panose="020B0502020104020203" pitchFamily="34" charset="77"/>
                <a:cs typeface="Trebuchet MS"/>
              </a:rPr>
              <a:t> General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9B4838-D9C1-9920-4877-A736746883BF}"/>
              </a:ext>
            </a:extLst>
          </p:cNvPr>
          <p:cNvSpPr txBox="1"/>
          <p:nvPr/>
        </p:nvSpPr>
        <p:spPr>
          <a:xfrm rot="16200000">
            <a:off x="7282990" y="2141319"/>
            <a:ext cx="1200585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 err="1">
                <a:latin typeface="Gill Sans MT" panose="020B0502020104020203" pitchFamily="34" charset="77"/>
              </a:rPr>
              <a:t>N</a:t>
            </a:r>
            <a:r>
              <a:rPr lang="en-US" sz="1600" baseline="-25000" dirty="0" err="1">
                <a:latin typeface="Gill Sans MT" panose="020B0502020104020203" pitchFamily="34" charset="77"/>
              </a:rPr>
              <a:t>t</a:t>
            </a:r>
            <a:r>
              <a:rPr lang="en-US" sz="1600" dirty="0">
                <a:latin typeface="Gill Sans MT" panose="020B0502020104020203" pitchFamily="34" charset="77"/>
              </a:rPr>
              <a:t> </a:t>
            </a:r>
            <a:r>
              <a:rPr lang="en-US" sz="1600" dirty="0" err="1">
                <a:latin typeface="Gill Sans MT" panose="020B0502020104020203" pitchFamily="34" charset="77"/>
              </a:rPr>
              <a:t>muestras</a:t>
            </a:r>
            <a:endParaRPr lang="en-US" sz="1600" dirty="0">
              <a:latin typeface="Gill Sans MT" panose="020B0502020104020203" pitchFamily="34" charset="77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495BF3C-BE19-762B-B938-509C9FDE8661}"/>
              </a:ext>
            </a:extLst>
          </p:cNvPr>
          <p:cNvCxnSpPr>
            <a:cxnSpLocks/>
          </p:cNvCxnSpPr>
          <p:nvPr/>
        </p:nvCxnSpPr>
        <p:spPr>
          <a:xfrm flipH="1">
            <a:off x="8754004" y="2946408"/>
            <a:ext cx="2862" cy="93600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60152C7D-ED14-657E-BB8D-366FB40C462D}"/>
              </a:ext>
            </a:extLst>
          </p:cNvPr>
          <p:cNvGraphicFramePr>
            <a:graphicFrameLocks noGrp="1"/>
          </p:cNvGraphicFramePr>
          <p:nvPr/>
        </p:nvGraphicFramePr>
        <p:xfrm>
          <a:off x="8328588" y="1658587"/>
          <a:ext cx="1092924" cy="112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231">
                  <a:extLst>
                    <a:ext uri="{9D8B030D-6E8A-4147-A177-3AD203B41FA5}">
                      <a16:colId xmlns:a16="http://schemas.microsoft.com/office/drawing/2014/main" val="1587632376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749266633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3802181957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1979340780"/>
                    </a:ext>
                  </a:extLst>
                </a:gridCol>
              </a:tblGrid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129878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10622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080497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68420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387770"/>
                  </a:ext>
                </a:extLst>
              </a:tr>
            </a:tbl>
          </a:graphicData>
        </a:graphic>
      </p:graphicFrame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759E17B-AA2A-1FA8-A1E6-1B0D6D280537}"/>
              </a:ext>
            </a:extLst>
          </p:cNvPr>
          <p:cNvSpPr/>
          <p:nvPr/>
        </p:nvSpPr>
        <p:spPr>
          <a:xfrm>
            <a:off x="7923412" y="3876112"/>
            <a:ext cx="1649308" cy="694987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rPr>
              <a:t>Clasificación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Gill Sans MT" panose="020B0502020104020203" pitchFamily="34" charset="77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D3B7A01-A4B2-F4EC-A8E7-18728D1B0512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4256920" y="4218984"/>
            <a:ext cx="3666495" cy="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eft Brace 15">
            <a:extLst>
              <a:ext uri="{FF2B5EF4-FFF2-40B4-BE49-F238E27FC236}">
                <a16:creationId xmlns:a16="http://schemas.microsoft.com/office/drawing/2014/main" id="{2E78C6AA-4293-B3A5-B14A-DF3A9194B30A}"/>
              </a:ext>
            </a:extLst>
          </p:cNvPr>
          <p:cNvSpPr/>
          <p:nvPr/>
        </p:nvSpPr>
        <p:spPr>
          <a:xfrm rot="16200000">
            <a:off x="8707050" y="2470055"/>
            <a:ext cx="91967" cy="797785"/>
          </a:xfrm>
          <a:prstGeom prst="leftBrace">
            <a:avLst/>
          </a:prstGeom>
          <a:ln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62BE8DD-CC1A-A5FA-C796-A2BC87557C53}"/>
              </a:ext>
            </a:extLst>
          </p:cNvPr>
          <p:cNvCxnSpPr>
            <a:cxnSpLocks/>
          </p:cNvCxnSpPr>
          <p:nvPr/>
        </p:nvCxnSpPr>
        <p:spPr>
          <a:xfrm flipH="1">
            <a:off x="8750928" y="4569578"/>
            <a:ext cx="2862" cy="64800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0BF50CDA-E7C0-FEB4-8F98-6D662AF37A1E}"/>
              </a:ext>
            </a:extLst>
          </p:cNvPr>
          <p:cNvGraphicFramePr>
            <a:graphicFrameLocks noGrp="1"/>
          </p:cNvGraphicFramePr>
          <p:nvPr/>
        </p:nvGraphicFramePr>
        <p:xfrm>
          <a:off x="8606527" y="5203908"/>
          <a:ext cx="273231" cy="112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231">
                  <a:extLst>
                    <a:ext uri="{9D8B030D-6E8A-4147-A177-3AD203B41FA5}">
                      <a16:colId xmlns:a16="http://schemas.microsoft.com/office/drawing/2014/main" val="1979340780"/>
                    </a:ext>
                  </a:extLst>
                </a:gridCol>
              </a:tblGrid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129878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10622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080497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68420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387770"/>
                  </a:ext>
                </a:extLst>
              </a:tr>
            </a:tbl>
          </a:graphicData>
        </a:graphic>
      </p:graphicFrame>
      <p:sp>
        <p:nvSpPr>
          <p:cNvPr id="19" name="Oval 18">
            <a:extLst>
              <a:ext uri="{FF2B5EF4-FFF2-40B4-BE49-F238E27FC236}">
                <a16:creationId xmlns:a16="http://schemas.microsoft.com/office/drawing/2014/main" id="{0E43FBD8-6BB7-E1FC-71CA-B7645CAC3D1E}"/>
              </a:ext>
            </a:extLst>
          </p:cNvPr>
          <p:cNvSpPr/>
          <p:nvPr/>
        </p:nvSpPr>
        <p:spPr>
          <a:xfrm>
            <a:off x="8537901" y="5043798"/>
            <a:ext cx="410476" cy="146341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5BB473C-E80C-FDD4-6546-6DD95E2C1EE5}"/>
              </a:ext>
            </a:extLst>
          </p:cNvPr>
          <p:cNvSpPr/>
          <p:nvPr/>
        </p:nvSpPr>
        <p:spPr>
          <a:xfrm>
            <a:off x="9553744" y="5617533"/>
            <a:ext cx="324000" cy="32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600" dirty="0">
              <a:latin typeface="Gill Sans MT" panose="020B0502020104020203" pitchFamily="34" charset="77"/>
            </a:endParaRPr>
          </a:p>
        </p:txBody>
      </p: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598C5EDB-573D-6F03-357E-C1C699165B7A}"/>
              </a:ext>
            </a:extLst>
          </p:cNvPr>
          <p:cNvCxnSpPr>
            <a:cxnSpLocks/>
            <a:stCxn id="13" idx="3"/>
            <a:endCxn id="20" idx="0"/>
          </p:cNvCxnSpPr>
          <p:nvPr/>
        </p:nvCxnSpPr>
        <p:spPr>
          <a:xfrm>
            <a:off x="9421512" y="2223347"/>
            <a:ext cx="294232" cy="3394186"/>
          </a:xfrm>
          <a:prstGeom prst="bentConnector2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53E2582-5F36-1AF5-BC5E-287EA895B301}"/>
              </a:ext>
            </a:extLst>
          </p:cNvPr>
          <p:cNvCxnSpPr>
            <a:cxnSpLocks/>
            <a:stCxn id="19" idx="6"/>
            <a:endCxn id="20" idx="2"/>
          </p:cNvCxnSpPr>
          <p:nvPr/>
        </p:nvCxnSpPr>
        <p:spPr>
          <a:xfrm>
            <a:off x="8948378" y="5775503"/>
            <a:ext cx="605367" cy="403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D469144-0FB7-AC8A-26CF-183B7FDB116C}"/>
              </a:ext>
            </a:extLst>
          </p:cNvPr>
          <p:cNvCxnSpPr>
            <a:cxnSpLocks/>
          </p:cNvCxnSpPr>
          <p:nvPr/>
        </p:nvCxnSpPr>
        <p:spPr>
          <a:xfrm>
            <a:off x="9719209" y="5940267"/>
            <a:ext cx="0" cy="289754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378B765-394A-420F-E5C8-C82B2F2408C7}"/>
              </a:ext>
            </a:extLst>
          </p:cNvPr>
          <p:cNvSpPr txBox="1"/>
          <p:nvPr/>
        </p:nvSpPr>
        <p:spPr>
          <a:xfrm>
            <a:off x="9164650" y="6226055"/>
            <a:ext cx="1047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Accuracy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894DDB5-C5A3-653F-FE5D-05F3313C5FFA}"/>
              </a:ext>
            </a:extLst>
          </p:cNvPr>
          <p:cNvSpPr txBox="1"/>
          <p:nvPr/>
        </p:nvSpPr>
        <p:spPr>
          <a:xfrm>
            <a:off x="6258929" y="5482966"/>
            <a:ext cx="21675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err="1">
                <a:latin typeface="Gill Sans MT" panose="020B0502020104020203" pitchFamily="34" charset="77"/>
              </a:rPr>
              <a:t>Clasificación</a:t>
            </a:r>
            <a:r>
              <a:rPr lang="en-US" dirty="0">
                <a:latin typeface="Gill Sans MT" panose="020B0502020104020203" pitchFamily="34" charset="77"/>
              </a:rPr>
              <a:t> del </a:t>
            </a:r>
          </a:p>
          <a:p>
            <a:pPr algn="r"/>
            <a:r>
              <a:rPr lang="en-US" dirty="0">
                <a:latin typeface="Gill Sans MT" panose="020B0502020104020203" pitchFamily="34" charset="77"/>
              </a:rPr>
              <a:t>Conjunto de </a:t>
            </a:r>
            <a:r>
              <a:rPr lang="en-US" dirty="0" err="1">
                <a:latin typeface="Gill Sans MT" panose="020B0502020104020203" pitchFamily="34" charset="77"/>
              </a:rPr>
              <a:t>Pruebas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F12F33A-E032-4DCB-16EB-681B6CDAA6C5}"/>
              </a:ext>
            </a:extLst>
          </p:cNvPr>
          <p:cNvSpPr txBox="1"/>
          <p:nvPr/>
        </p:nvSpPr>
        <p:spPr>
          <a:xfrm>
            <a:off x="9532299" y="5318121"/>
            <a:ext cx="3946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Gill Sans MT" panose="020B0502020104020203" pitchFamily="34" charset="77"/>
              </a:rPr>
              <a:t>-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9C5D9B-3FEE-F1B1-85D6-2C128F963C80}"/>
              </a:ext>
            </a:extLst>
          </p:cNvPr>
          <p:cNvSpPr txBox="1"/>
          <p:nvPr/>
        </p:nvSpPr>
        <p:spPr>
          <a:xfrm>
            <a:off x="8294573" y="1856593"/>
            <a:ext cx="851515" cy="21544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800" dirty="0">
                <a:latin typeface="Gill Sans MT" panose="020B0502020104020203" pitchFamily="34" charset="77"/>
              </a:rPr>
              <a:t>p </a:t>
            </a:r>
            <a:r>
              <a:rPr lang="en-US" sz="800" dirty="0" err="1">
                <a:latin typeface="Gill Sans MT" panose="020B0502020104020203" pitchFamily="34" charset="77"/>
              </a:rPr>
              <a:t>características</a:t>
            </a:r>
            <a:endParaRPr lang="en-US" sz="800" dirty="0">
              <a:latin typeface="Gill Sans MT" panose="020B0502020104020203" pitchFamily="34" charset="77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8F5A5F9-450F-3A20-D0A5-C684E481F7BA}"/>
              </a:ext>
            </a:extLst>
          </p:cNvPr>
          <p:cNvCxnSpPr>
            <a:cxnSpLocks/>
          </p:cNvCxnSpPr>
          <p:nvPr/>
        </p:nvCxnSpPr>
        <p:spPr>
          <a:xfrm flipV="1">
            <a:off x="2462542" y="1336736"/>
            <a:ext cx="0" cy="1790107"/>
          </a:xfrm>
          <a:prstGeom prst="straightConnector1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2D72C345-E74E-56D7-B21B-4DDEF41177E0}"/>
              </a:ext>
            </a:extLst>
          </p:cNvPr>
          <p:cNvGraphicFramePr>
            <a:graphicFrameLocks noGrp="1"/>
          </p:cNvGraphicFramePr>
          <p:nvPr/>
        </p:nvGraphicFramePr>
        <p:xfrm>
          <a:off x="2899351" y="1093704"/>
          <a:ext cx="1092924" cy="2033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231">
                  <a:extLst>
                    <a:ext uri="{9D8B030D-6E8A-4147-A177-3AD203B41FA5}">
                      <a16:colId xmlns:a16="http://schemas.microsoft.com/office/drawing/2014/main" val="1587632376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1429024220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3802181957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1979340780"/>
                    </a:ext>
                  </a:extLst>
                </a:gridCol>
              </a:tblGrid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129878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10622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622095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080497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6197139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68420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38777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607525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590238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2200FD57-D5D9-BF91-2B0A-35D9C8E5A5B1}"/>
              </a:ext>
            </a:extLst>
          </p:cNvPr>
          <p:cNvSpPr txBox="1"/>
          <p:nvPr/>
        </p:nvSpPr>
        <p:spPr>
          <a:xfrm rot="16200000">
            <a:off x="1826315" y="2042544"/>
            <a:ext cx="127246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N </a:t>
            </a:r>
            <a:r>
              <a:rPr lang="en-US" dirty="0" err="1">
                <a:latin typeface="Gill Sans MT" panose="020B0502020104020203" pitchFamily="34" charset="77"/>
              </a:rPr>
              <a:t>muestras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3D180E9-A182-55E9-2880-7357ADDE4540}"/>
              </a:ext>
            </a:extLst>
          </p:cNvPr>
          <p:cNvSpPr txBox="1"/>
          <p:nvPr/>
        </p:nvSpPr>
        <p:spPr>
          <a:xfrm>
            <a:off x="2883709" y="1330227"/>
            <a:ext cx="851515" cy="21544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800" dirty="0">
                <a:latin typeface="Gill Sans MT" panose="020B0502020104020203" pitchFamily="34" charset="77"/>
              </a:rPr>
              <a:t>p </a:t>
            </a:r>
            <a:r>
              <a:rPr lang="en-US" sz="800" dirty="0" err="1">
                <a:latin typeface="Gill Sans MT" panose="020B0502020104020203" pitchFamily="34" charset="77"/>
              </a:rPr>
              <a:t>características</a:t>
            </a:r>
            <a:endParaRPr lang="en-US" sz="800" dirty="0">
              <a:latin typeface="Gill Sans MT" panose="020B0502020104020203" pitchFamily="34" charset="77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362556BC-C742-9607-E746-076DB117F002}"/>
              </a:ext>
            </a:extLst>
          </p:cNvPr>
          <p:cNvSpPr/>
          <p:nvPr/>
        </p:nvSpPr>
        <p:spPr>
          <a:xfrm>
            <a:off x="2607609" y="3860674"/>
            <a:ext cx="1649308" cy="694987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rPr>
              <a:t>Entrenamiento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rPr>
              <a:t> de </a:t>
            </a: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rPr>
              <a:t>Clasificador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Gill Sans MT" panose="020B0502020104020203" pitchFamily="34" charset="77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BD152D9-A5AF-B014-5299-DAC27BF1FA40}"/>
              </a:ext>
            </a:extLst>
          </p:cNvPr>
          <p:cNvCxnSpPr>
            <a:cxnSpLocks/>
          </p:cNvCxnSpPr>
          <p:nvPr/>
        </p:nvCxnSpPr>
        <p:spPr>
          <a:xfrm>
            <a:off x="3301211" y="3392929"/>
            <a:ext cx="339" cy="46800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Left Brace 33">
            <a:extLst>
              <a:ext uri="{FF2B5EF4-FFF2-40B4-BE49-F238E27FC236}">
                <a16:creationId xmlns:a16="http://schemas.microsoft.com/office/drawing/2014/main" id="{AD558E10-2B5A-4F47-FB1C-E8831ED0FADC}"/>
              </a:ext>
            </a:extLst>
          </p:cNvPr>
          <p:cNvSpPr/>
          <p:nvPr/>
        </p:nvSpPr>
        <p:spPr>
          <a:xfrm rot="16200000">
            <a:off x="3246836" y="2891857"/>
            <a:ext cx="135504" cy="750376"/>
          </a:xfrm>
          <a:prstGeom prst="leftBrace">
            <a:avLst>
              <a:gd name="adj1" fmla="val 8333"/>
              <a:gd name="adj2" fmla="val 49144"/>
            </a:avLst>
          </a:prstGeom>
          <a:ln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CD3F508-A7FE-6C8C-609A-6ED2CA576A65}"/>
              </a:ext>
            </a:extLst>
          </p:cNvPr>
          <p:cNvCxnSpPr>
            <a:cxnSpLocks/>
          </p:cNvCxnSpPr>
          <p:nvPr/>
        </p:nvCxnSpPr>
        <p:spPr>
          <a:xfrm>
            <a:off x="3849922" y="3126597"/>
            <a:ext cx="0" cy="746188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FDDD735B-5B22-3DD8-AFD3-97809E8A1648}"/>
              </a:ext>
            </a:extLst>
          </p:cNvPr>
          <p:cNvSpPr txBox="1"/>
          <p:nvPr/>
        </p:nvSpPr>
        <p:spPr>
          <a:xfrm>
            <a:off x="4685295" y="4182851"/>
            <a:ext cx="2780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parámetros</a:t>
            </a:r>
            <a:r>
              <a:rPr lang="en-US" dirty="0">
                <a:latin typeface="Gill Sans MT" panose="020B0502020104020203" pitchFamily="34" charset="77"/>
              </a:rPr>
              <a:t> del </a:t>
            </a:r>
            <a:r>
              <a:rPr lang="en-US" dirty="0" err="1">
                <a:latin typeface="Gill Sans MT" panose="020B0502020104020203" pitchFamily="34" charset="77"/>
              </a:rPr>
              <a:t>clasificador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99AC2B5-CBE4-E077-E643-C43E0093DE60}"/>
              </a:ext>
            </a:extLst>
          </p:cNvPr>
          <p:cNvSpPr/>
          <p:nvPr/>
        </p:nvSpPr>
        <p:spPr>
          <a:xfrm>
            <a:off x="9080142" y="1506324"/>
            <a:ext cx="410476" cy="146341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A110CA2-0DB3-6695-CDCC-8DC5EC4D73A2}"/>
              </a:ext>
            </a:extLst>
          </p:cNvPr>
          <p:cNvSpPr txBox="1"/>
          <p:nvPr/>
        </p:nvSpPr>
        <p:spPr>
          <a:xfrm>
            <a:off x="7188761" y="3037895"/>
            <a:ext cx="15071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err="1">
                <a:solidFill>
                  <a:srgbClr val="FF0000"/>
                </a:solidFill>
                <a:latin typeface="Gill Sans MT" panose="020B0502020104020203" pitchFamily="34" charset="77"/>
              </a:rPr>
              <a:t>sólo</a:t>
            </a:r>
            <a:endParaRPr lang="en-US" dirty="0">
              <a:solidFill>
                <a:srgbClr val="FF0000"/>
              </a:solidFill>
              <a:latin typeface="Gill Sans MT" panose="020B0502020104020203" pitchFamily="34" charset="77"/>
            </a:endParaRPr>
          </a:p>
          <a:p>
            <a:pPr algn="r"/>
            <a:r>
              <a:rPr lang="en-US" dirty="0" err="1">
                <a:solidFill>
                  <a:srgbClr val="FF0000"/>
                </a:solidFill>
                <a:latin typeface="Gill Sans MT" panose="020B0502020104020203" pitchFamily="34" charset="77"/>
              </a:rPr>
              <a:t>características</a:t>
            </a:r>
            <a:endParaRPr lang="en-US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1DC676E-B85B-6C06-5BD3-DFEDB688CF2C}"/>
              </a:ext>
            </a:extLst>
          </p:cNvPr>
          <p:cNvSpPr txBox="1"/>
          <p:nvPr/>
        </p:nvSpPr>
        <p:spPr>
          <a:xfrm>
            <a:off x="9906119" y="3876111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9300"/>
                </a:solidFill>
                <a:latin typeface="Gill Sans MT" panose="020B0502020104020203" pitchFamily="34" charset="77"/>
              </a:rPr>
              <a:t>y</a:t>
            </a:r>
            <a:r>
              <a:rPr lang="en-US" baseline="-250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t</a:t>
            </a:r>
            <a:endParaRPr lang="en-US" baseline="-25000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E632CFF-9809-185F-EAC4-86317D507A42}"/>
              </a:ext>
            </a:extLst>
          </p:cNvPr>
          <p:cNvSpPr txBox="1"/>
          <p:nvPr/>
        </p:nvSpPr>
        <p:spPr>
          <a:xfrm>
            <a:off x="9118220" y="5364286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00B050"/>
                </a:solidFill>
                <a:latin typeface="Gill Sans MT" panose="020B0502020104020203" pitchFamily="34" charset="77"/>
              </a:rPr>
              <a:t>y</a:t>
            </a:r>
            <a:r>
              <a:rPr lang="en-US" baseline="-25000" dirty="0" err="1">
                <a:solidFill>
                  <a:srgbClr val="00B050"/>
                </a:solidFill>
                <a:latin typeface="Gill Sans MT" panose="020B0502020104020203" pitchFamily="34" charset="77"/>
              </a:rPr>
              <a:t>s</a:t>
            </a:r>
            <a:endParaRPr lang="en-US" baseline="-25000" dirty="0">
              <a:solidFill>
                <a:srgbClr val="00B050"/>
              </a:solidFill>
              <a:latin typeface="Gill Sans MT" panose="020B0502020104020203" pitchFamily="34" charset="7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CFD7927-C52A-FECF-255D-8F1210B9BB95}"/>
              </a:ext>
            </a:extLst>
          </p:cNvPr>
          <p:cNvSpPr txBox="1"/>
          <p:nvPr/>
        </p:nvSpPr>
        <p:spPr>
          <a:xfrm>
            <a:off x="9091306" y="1055801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9300"/>
                </a:solidFill>
                <a:latin typeface="Gill Sans MT" panose="020B0502020104020203" pitchFamily="34" charset="77"/>
              </a:rPr>
              <a:t>y</a:t>
            </a:r>
            <a:r>
              <a:rPr lang="en-US" baseline="-250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t</a:t>
            </a:r>
            <a:endParaRPr lang="en-US" baseline="-25000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99C45FA-71A3-8F93-6809-A26FD3D28C82}"/>
              </a:ext>
            </a:extLst>
          </p:cNvPr>
          <p:cNvSpPr txBox="1"/>
          <p:nvPr/>
        </p:nvSpPr>
        <p:spPr>
          <a:xfrm>
            <a:off x="8486290" y="1055801"/>
            <a:ext cx="39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9300"/>
                </a:solidFill>
                <a:latin typeface="Gill Sans MT" panose="020B0502020104020203" pitchFamily="34" charset="77"/>
              </a:rPr>
              <a:t>X</a:t>
            </a:r>
            <a:r>
              <a:rPr lang="en-US" baseline="-250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t</a:t>
            </a:r>
            <a:endParaRPr lang="en-US" baseline="-25000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749B0A1-A9B9-57F3-C4B4-1522B0E39E4E}"/>
              </a:ext>
            </a:extLst>
          </p:cNvPr>
          <p:cNvSpPr txBox="1"/>
          <p:nvPr/>
        </p:nvSpPr>
        <p:spPr>
          <a:xfrm>
            <a:off x="8713819" y="3148581"/>
            <a:ext cx="39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9300"/>
                </a:solidFill>
                <a:latin typeface="Gill Sans MT" panose="020B0502020104020203" pitchFamily="34" charset="77"/>
              </a:rPr>
              <a:t>X</a:t>
            </a:r>
            <a:r>
              <a:rPr lang="en-US" baseline="-250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t</a:t>
            </a:r>
            <a:endParaRPr lang="en-US" baseline="-25000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D0D7EAC-A2B1-5D1E-65DF-28C00E4F2678}"/>
              </a:ext>
            </a:extLst>
          </p:cNvPr>
          <p:cNvSpPr txBox="1"/>
          <p:nvPr/>
        </p:nvSpPr>
        <p:spPr>
          <a:xfrm>
            <a:off x="8742528" y="4628968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00B050"/>
                </a:solidFill>
                <a:latin typeface="Gill Sans MT" panose="020B0502020104020203" pitchFamily="34" charset="77"/>
              </a:rPr>
              <a:t>y</a:t>
            </a:r>
            <a:r>
              <a:rPr lang="en-US" baseline="-25000" dirty="0" err="1">
                <a:solidFill>
                  <a:srgbClr val="00B050"/>
                </a:solidFill>
                <a:latin typeface="Gill Sans MT" panose="020B0502020104020203" pitchFamily="34" charset="77"/>
              </a:rPr>
              <a:t>s</a:t>
            </a:r>
            <a:endParaRPr lang="en-US" baseline="-25000" dirty="0">
              <a:solidFill>
                <a:srgbClr val="00B050"/>
              </a:solidFill>
              <a:latin typeface="Gill Sans MT" panose="020B0502020104020203" pitchFamily="34" charset="7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E7AE4A3-111B-F08C-2838-657E6818F4F2}"/>
              </a:ext>
            </a:extLst>
          </p:cNvPr>
          <p:cNvSpPr txBox="1"/>
          <p:nvPr/>
        </p:nvSpPr>
        <p:spPr>
          <a:xfrm>
            <a:off x="3797350" y="3369764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  <a:latin typeface="Gill Sans MT" panose="020B0502020104020203" pitchFamily="34" charset="77"/>
              </a:rPr>
              <a:t>y</a:t>
            </a:r>
            <a:endParaRPr lang="en-US" baseline="-25000" dirty="0">
              <a:solidFill>
                <a:srgbClr val="0096FF"/>
              </a:solidFill>
              <a:latin typeface="Gill Sans MT" panose="020B0502020104020203" pitchFamily="34" charset="7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39CE7CF-24BD-47BF-838F-8E8B318E9D65}"/>
              </a:ext>
            </a:extLst>
          </p:cNvPr>
          <p:cNvSpPr txBox="1"/>
          <p:nvPr/>
        </p:nvSpPr>
        <p:spPr>
          <a:xfrm>
            <a:off x="2908231" y="3384997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  <a:latin typeface="Gill Sans MT" panose="020B0502020104020203" pitchFamily="34" charset="77"/>
              </a:rPr>
              <a:t>X</a:t>
            </a:r>
            <a:endParaRPr lang="en-US" baseline="-25000" dirty="0">
              <a:solidFill>
                <a:srgbClr val="0096FF"/>
              </a:solidFill>
              <a:latin typeface="Gill Sans MT" panose="020B0502020104020203" pitchFamily="34" charset="7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E84C325-2397-5B21-4E56-B993F54DB9C2}"/>
              </a:ext>
            </a:extLst>
          </p:cNvPr>
          <p:cNvSpPr txBox="1"/>
          <p:nvPr/>
        </p:nvSpPr>
        <p:spPr>
          <a:xfrm>
            <a:off x="3694064" y="687690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  <a:latin typeface="Gill Sans MT" panose="020B0502020104020203" pitchFamily="34" charset="77"/>
              </a:rPr>
              <a:t>y</a:t>
            </a:r>
            <a:endParaRPr lang="en-US" baseline="-25000" dirty="0">
              <a:solidFill>
                <a:srgbClr val="0096FF"/>
              </a:solidFill>
              <a:latin typeface="Gill Sans MT" panose="020B0502020104020203" pitchFamily="34" charset="7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D7F51A8-CD9D-ECE7-C5F6-EDAF922B713C}"/>
              </a:ext>
            </a:extLst>
          </p:cNvPr>
          <p:cNvSpPr txBox="1"/>
          <p:nvPr/>
        </p:nvSpPr>
        <p:spPr>
          <a:xfrm>
            <a:off x="3211345" y="702923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  <a:latin typeface="Gill Sans MT" panose="020B0502020104020203" pitchFamily="34" charset="77"/>
              </a:rPr>
              <a:t>X</a:t>
            </a:r>
            <a:endParaRPr lang="en-US" baseline="-25000" dirty="0">
              <a:solidFill>
                <a:srgbClr val="0096FF"/>
              </a:solidFill>
              <a:latin typeface="Gill Sans MT" panose="020B0502020104020203" pitchFamily="34" charset="7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CCA86C6-490B-13CB-8544-F4BBD09F66B3}"/>
              </a:ext>
            </a:extLst>
          </p:cNvPr>
          <p:cNvSpPr txBox="1"/>
          <p:nvPr/>
        </p:nvSpPr>
        <p:spPr>
          <a:xfrm>
            <a:off x="2098038" y="268159"/>
            <a:ext cx="2808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  <a:latin typeface="Gill Sans MT" panose="020B0502020104020203" pitchFamily="34" charset="77"/>
              </a:rPr>
              <a:t>Conjunto de </a:t>
            </a:r>
            <a:r>
              <a:rPr lang="en-US" dirty="0" err="1">
                <a:solidFill>
                  <a:srgbClr val="0096FF"/>
                </a:solidFill>
                <a:latin typeface="Gill Sans MT" panose="020B0502020104020203" pitchFamily="34" charset="77"/>
              </a:rPr>
              <a:t>Entrenamiento</a:t>
            </a:r>
            <a:endParaRPr lang="en-US" dirty="0">
              <a:solidFill>
                <a:srgbClr val="0096FF"/>
              </a:solidFill>
              <a:latin typeface="Gill Sans MT" panose="020B0502020104020203" pitchFamily="34" charset="7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0A80384-1AC4-C51A-0F66-7347B4C1B1D3}"/>
              </a:ext>
            </a:extLst>
          </p:cNvPr>
          <p:cNvSpPr txBox="1"/>
          <p:nvPr/>
        </p:nvSpPr>
        <p:spPr>
          <a:xfrm>
            <a:off x="7803337" y="278598"/>
            <a:ext cx="2167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9300"/>
                </a:solidFill>
                <a:latin typeface="Gill Sans MT" panose="020B0502020104020203" pitchFamily="34" charset="77"/>
              </a:rPr>
              <a:t>Conjunto de </a:t>
            </a:r>
            <a:r>
              <a:rPr lang="en-US" dirty="0" err="1">
                <a:solidFill>
                  <a:srgbClr val="FF9300"/>
                </a:solidFill>
                <a:latin typeface="Gill Sans MT" panose="020B0502020104020203" pitchFamily="34" charset="77"/>
              </a:rPr>
              <a:t>Pruebas</a:t>
            </a:r>
            <a:endParaRPr lang="en-US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F9A7881-7103-FED0-4781-77654C430AF2}"/>
              </a:ext>
            </a:extLst>
          </p:cNvPr>
          <p:cNvSpPr/>
          <p:nvPr/>
        </p:nvSpPr>
        <p:spPr>
          <a:xfrm>
            <a:off x="2098262" y="4003448"/>
            <a:ext cx="431800" cy="432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6024920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4412654" y="3429000"/>
            <a:ext cx="1512168" cy="1800200"/>
            <a:chOff x="2888654" y="3429000"/>
            <a:chExt cx="1512168" cy="1800200"/>
          </a:xfrm>
        </p:grpSpPr>
        <p:sp>
          <p:nvSpPr>
            <p:cNvPr id="6" name="Oval 5"/>
            <p:cNvSpPr/>
            <p:nvPr/>
          </p:nvSpPr>
          <p:spPr>
            <a:xfrm>
              <a:off x="3032670" y="3429000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2960662" y="4005064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2888654" y="3717032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3464718" y="3501008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3248694" y="4365104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3392710" y="3861048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3752750" y="4077072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Oval 12"/>
            <p:cNvSpPr/>
            <p:nvPr/>
          </p:nvSpPr>
          <p:spPr>
            <a:xfrm>
              <a:off x="3680742" y="4653136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4" name="Oval 13"/>
            <p:cNvSpPr/>
            <p:nvPr/>
          </p:nvSpPr>
          <p:spPr>
            <a:xfrm>
              <a:off x="3608734" y="4365104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5" name="Oval 14"/>
            <p:cNvSpPr/>
            <p:nvPr/>
          </p:nvSpPr>
          <p:spPr>
            <a:xfrm>
              <a:off x="4184798" y="4149080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6" name="Oval 15"/>
            <p:cNvSpPr/>
            <p:nvPr/>
          </p:nvSpPr>
          <p:spPr>
            <a:xfrm>
              <a:off x="3968774" y="5013176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7" name="Oval 16"/>
            <p:cNvSpPr/>
            <p:nvPr/>
          </p:nvSpPr>
          <p:spPr>
            <a:xfrm>
              <a:off x="4112790" y="4509120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8" name="Oval 17"/>
            <p:cNvSpPr/>
            <p:nvPr/>
          </p:nvSpPr>
          <p:spPr>
            <a:xfrm>
              <a:off x="3176686" y="3717032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9" name="Oval 18"/>
            <p:cNvSpPr/>
            <p:nvPr/>
          </p:nvSpPr>
          <p:spPr>
            <a:xfrm>
              <a:off x="2960662" y="4653136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0" name="Oval 19"/>
            <p:cNvSpPr/>
            <p:nvPr/>
          </p:nvSpPr>
          <p:spPr>
            <a:xfrm>
              <a:off x="2888654" y="4365104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1" name="Oval 20"/>
            <p:cNvSpPr/>
            <p:nvPr/>
          </p:nvSpPr>
          <p:spPr>
            <a:xfrm>
              <a:off x="3464718" y="4149080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2" name="Oval 21"/>
            <p:cNvSpPr/>
            <p:nvPr/>
          </p:nvSpPr>
          <p:spPr>
            <a:xfrm>
              <a:off x="3248694" y="5013176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3" name="Oval 22"/>
            <p:cNvSpPr/>
            <p:nvPr/>
          </p:nvSpPr>
          <p:spPr>
            <a:xfrm>
              <a:off x="3392710" y="4725144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42" name="Group 41"/>
          <p:cNvGrpSpPr/>
          <p:nvPr/>
        </p:nvGrpSpPr>
        <p:grpSpPr>
          <a:xfrm rot="2553764">
            <a:off x="5542359" y="2623150"/>
            <a:ext cx="1512168" cy="1800200"/>
            <a:chOff x="4572000" y="3005336"/>
            <a:chExt cx="1512168" cy="1800200"/>
          </a:xfrm>
          <a:solidFill>
            <a:srgbClr val="0000FF"/>
          </a:solidFill>
        </p:grpSpPr>
        <p:sp>
          <p:nvSpPr>
            <p:cNvPr id="24" name="Oval 23"/>
            <p:cNvSpPr/>
            <p:nvPr/>
          </p:nvSpPr>
          <p:spPr>
            <a:xfrm>
              <a:off x="4716016" y="300533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5" name="Oval 24"/>
            <p:cNvSpPr/>
            <p:nvPr/>
          </p:nvSpPr>
          <p:spPr>
            <a:xfrm>
              <a:off x="4644008" y="358140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6" name="Oval 25"/>
            <p:cNvSpPr/>
            <p:nvPr/>
          </p:nvSpPr>
          <p:spPr>
            <a:xfrm>
              <a:off x="4572000" y="329336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7" name="Oval 26"/>
            <p:cNvSpPr/>
            <p:nvPr/>
          </p:nvSpPr>
          <p:spPr>
            <a:xfrm>
              <a:off x="5148064" y="307734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8" name="Oval 27"/>
            <p:cNvSpPr/>
            <p:nvPr/>
          </p:nvSpPr>
          <p:spPr>
            <a:xfrm>
              <a:off x="493204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9" name="Oval 28"/>
            <p:cNvSpPr/>
            <p:nvPr/>
          </p:nvSpPr>
          <p:spPr>
            <a:xfrm>
              <a:off x="5076056" y="343738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0" name="Oval 29"/>
            <p:cNvSpPr/>
            <p:nvPr/>
          </p:nvSpPr>
          <p:spPr>
            <a:xfrm>
              <a:off x="5436096" y="365340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1" name="Oval 30"/>
            <p:cNvSpPr/>
            <p:nvPr/>
          </p:nvSpPr>
          <p:spPr>
            <a:xfrm>
              <a:off x="5364088" y="422947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2" name="Oval 31"/>
            <p:cNvSpPr/>
            <p:nvPr/>
          </p:nvSpPr>
          <p:spPr>
            <a:xfrm>
              <a:off x="529208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3" name="Oval 32"/>
            <p:cNvSpPr/>
            <p:nvPr/>
          </p:nvSpPr>
          <p:spPr>
            <a:xfrm>
              <a:off x="5868144" y="372541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4" name="Oval 33"/>
            <p:cNvSpPr/>
            <p:nvPr/>
          </p:nvSpPr>
          <p:spPr>
            <a:xfrm>
              <a:off x="5652120" y="458951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5" name="Oval 34"/>
            <p:cNvSpPr/>
            <p:nvPr/>
          </p:nvSpPr>
          <p:spPr>
            <a:xfrm>
              <a:off x="5796136" y="408545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6" name="Oval 35"/>
            <p:cNvSpPr/>
            <p:nvPr/>
          </p:nvSpPr>
          <p:spPr>
            <a:xfrm>
              <a:off x="4860032" y="329336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7" name="Oval 36"/>
            <p:cNvSpPr/>
            <p:nvPr/>
          </p:nvSpPr>
          <p:spPr>
            <a:xfrm>
              <a:off x="4644008" y="422947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8" name="Oval 37"/>
            <p:cNvSpPr/>
            <p:nvPr/>
          </p:nvSpPr>
          <p:spPr>
            <a:xfrm>
              <a:off x="457200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9" name="Oval 38"/>
            <p:cNvSpPr/>
            <p:nvPr/>
          </p:nvSpPr>
          <p:spPr>
            <a:xfrm>
              <a:off x="5148064" y="372541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40" name="Oval 39"/>
            <p:cNvSpPr/>
            <p:nvPr/>
          </p:nvSpPr>
          <p:spPr>
            <a:xfrm>
              <a:off x="4932040" y="458951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41" name="Oval 40"/>
            <p:cNvSpPr/>
            <p:nvPr/>
          </p:nvSpPr>
          <p:spPr>
            <a:xfrm>
              <a:off x="5076056" y="430148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4" name="Freeform 3">
            <a:extLst>
              <a:ext uri="{FF2B5EF4-FFF2-40B4-BE49-F238E27FC236}">
                <a16:creationId xmlns:a16="http://schemas.microsoft.com/office/drawing/2014/main" id="{068B1DAB-E353-E643-8374-61438104219B}"/>
              </a:ext>
            </a:extLst>
          </p:cNvPr>
          <p:cNvSpPr/>
          <p:nvPr/>
        </p:nvSpPr>
        <p:spPr>
          <a:xfrm>
            <a:off x="5234296" y="2292412"/>
            <a:ext cx="2551809" cy="2808312"/>
          </a:xfrm>
          <a:custGeom>
            <a:avLst/>
            <a:gdLst>
              <a:gd name="connsiteX0" fmla="*/ 367409 w 2551809"/>
              <a:gd name="connsiteY0" fmla="*/ 0 h 4787900"/>
              <a:gd name="connsiteX1" fmla="*/ 24509 w 2551809"/>
              <a:gd name="connsiteY1" fmla="*/ 1854200 h 4787900"/>
              <a:gd name="connsiteX2" fmla="*/ 964309 w 2551809"/>
              <a:gd name="connsiteY2" fmla="*/ 3886200 h 4787900"/>
              <a:gd name="connsiteX3" fmla="*/ 2551809 w 2551809"/>
              <a:gd name="connsiteY3" fmla="*/ 4787900 h 4787900"/>
              <a:gd name="connsiteX4" fmla="*/ 2551809 w 2551809"/>
              <a:gd name="connsiteY4" fmla="*/ 4787900 h 4787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1809" h="4787900">
                <a:moveTo>
                  <a:pt x="367409" y="0"/>
                </a:moveTo>
                <a:cubicBezTo>
                  <a:pt x="146217" y="603250"/>
                  <a:pt x="-74974" y="1206500"/>
                  <a:pt x="24509" y="1854200"/>
                </a:cubicBezTo>
                <a:cubicBezTo>
                  <a:pt x="123992" y="2501900"/>
                  <a:pt x="543092" y="3397250"/>
                  <a:pt x="964309" y="3886200"/>
                </a:cubicBezTo>
                <a:cubicBezTo>
                  <a:pt x="1385526" y="4375150"/>
                  <a:pt x="2551809" y="4787900"/>
                  <a:pt x="2551809" y="4787900"/>
                </a:cubicBezTo>
                <a:lnTo>
                  <a:pt x="2551809" y="4787900"/>
                </a:lnTo>
              </a:path>
            </a:pathLst>
          </a:custGeom>
          <a:noFill/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0DD42EA9-F664-1B44-AECE-8B7B476D2742}"/>
              </a:ext>
            </a:extLst>
          </p:cNvPr>
          <p:cNvSpPr/>
          <p:nvPr/>
        </p:nvSpPr>
        <p:spPr>
          <a:xfrm>
            <a:off x="5430125" y="1301000"/>
            <a:ext cx="431800" cy="432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7FD611A-28F8-D640-8FC9-EFEFE6C52B9B}"/>
              </a:ext>
            </a:extLst>
          </p:cNvPr>
          <p:cNvSpPr txBox="1"/>
          <p:nvPr/>
        </p:nvSpPr>
        <p:spPr>
          <a:xfrm>
            <a:off x="4651133" y="1808913"/>
            <a:ext cx="18020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Classifier Training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E4F2DA5-D3EF-FC4B-BF56-55F85F1F93D8}"/>
              </a:ext>
            </a:extLst>
          </p:cNvPr>
          <p:cNvCxnSpPr>
            <a:cxnSpLocks/>
          </p:cNvCxnSpPr>
          <p:nvPr/>
        </p:nvCxnSpPr>
        <p:spPr>
          <a:xfrm>
            <a:off x="3314700" y="6032500"/>
            <a:ext cx="44831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2A745075-6EE9-4444-8A00-A55DE258E6C2}"/>
              </a:ext>
            </a:extLst>
          </p:cNvPr>
          <p:cNvSpPr txBox="1"/>
          <p:nvPr/>
        </p:nvSpPr>
        <p:spPr>
          <a:xfrm>
            <a:off x="5924822" y="6106240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x</a:t>
            </a:r>
            <a:r>
              <a:rPr lang="en-US" baseline="-25000" dirty="0">
                <a:latin typeface="Gill Sans MT" panose="020B0502020104020203" pitchFamily="34" charset="77"/>
              </a:rPr>
              <a:t>1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4019AD61-E8E7-8A4A-8A26-A519A2B6F57E}"/>
              </a:ext>
            </a:extLst>
          </p:cNvPr>
          <p:cNvCxnSpPr>
            <a:cxnSpLocks/>
          </p:cNvCxnSpPr>
          <p:nvPr/>
        </p:nvCxnSpPr>
        <p:spPr>
          <a:xfrm flipV="1">
            <a:off x="3683013" y="1447800"/>
            <a:ext cx="0" cy="4927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4ECD0E7F-2E23-A84E-A9BB-157C9A2D032E}"/>
              </a:ext>
            </a:extLst>
          </p:cNvPr>
          <p:cNvSpPr txBox="1"/>
          <p:nvPr/>
        </p:nvSpPr>
        <p:spPr>
          <a:xfrm>
            <a:off x="3213463" y="3641164"/>
            <a:ext cx="385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x</a:t>
            </a:r>
            <a:r>
              <a:rPr lang="en-US" baseline="-25000" dirty="0"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51" name="Right Arrow 50">
            <a:extLst>
              <a:ext uri="{FF2B5EF4-FFF2-40B4-BE49-F238E27FC236}">
                <a16:creationId xmlns:a16="http://schemas.microsoft.com/office/drawing/2014/main" id="{0978C568-6E61-DE4A-A308-C0FCC393C082}"/>
              </a:ext>
            </a:extLst>
          </p:cNvPr>
          <p:cNvSpPr/>
          <p:nvPr/>
        </p:nvSpPr>
        <p:spPr>
          <a:xfrm rot="19800000">
            <a:off x="6875067" y="4505945"/>
            <a:ext cx="314072" cy="246454"/>
          </a:xfrm>
          <a:prstGeom prst="rightArrow">
            <a:avLst/>
          </a:prstGeom>
          <a:solidFill>
            <a:schemeClr val="bg2"/>
          </a:solidFill>
          <a:ln>
            <a:solidFill>
              <a:schemeClr val="tx2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Gill Sans MT" panose="020B0502020104020203" pitchFamily="34" charset="7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6AD8224-1017-3646-8C24-8699327DDC27}"/>
              </a:ext>
            </a:extLst>
          </p:cNvPr>
          <p:cNvSpPr txBox="1"/>
          <p:nvPr/>
        </p:nvSpPr>
        <p:spPr>
          <a:xfrm rot="19800000">
            <a:off x="7141131" y="4294143"/>
            <a:ext cx="4555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Gill Sans MT" panose="020B0502020104020203" pitchFamily="34" charset="77"/>
                <a:cs typeface="Trebuchet MS"/>
              </a:rPr>
              <a:t>Blue</a:t>
            </a:r>
          </a:p>
        </p:txBody>
      </p:sp>
      <p:sp>
        <p:nvSpPr>
          <p:cNvPr id="53" name="Right Arrow 52">
            <a:extLst>
              <a:ext uri="{FF2B5EF4-FFF2-40B4-BE49-F238E27FC236}">
                <a16:creationId xmlns:a16="http://schemas.microsoft.com/office/drawing/2014/main" id="{8A933543-ECBC-4248-8440-0723A492FC11}"/>
              </a:ext>
            </a:extLst>
          </p:cNvPr>
          <p:cNvSpPr/>
          <p:nvPr/>
        </p:nvSpPr>
        <p:spPr>
          <a:xfrm rot="9000000">
            <a:off x="6437057" y="4840967"/>
            <a:ext cx="314072" cy="246454"/>
          </a:xfrm>
          <a:prstGeom prst="rightArrow">
            <a:avLst/>
          </a:prstGeom>
          <a:solidFill>
            <a:schemeClr val="bg2"/>
          </a:solidFill>
          <a:ln>
            <a:solidFill>
              <a:schemeClr val="tx2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Gill Sans MT" panose="020B0502020104020203" pitchFamily="34" charset="7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37CB736-B7B9-BC47-8630-560402B9DC2E}"/>
              </a:ext>
            </a:extLst>
          </p:cNvPr>
          <p:cNvSpPr txBox="1"/>
          <p:nvPr/>
        </p:nvSpPr>
        <p:spPr>
          <a:xfrm rot="19800000">
            <a:off x="6028893" y="5017958"/>
            <a:ext cx="4365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Red</a:t>
            </a:r>
          </a:p>
        </p:txBody>
      </p:sp>
    </p:spTree>
    <p:extLst>
      <p:ext uri="{BB962C8B-B14F-4D97-AF65-F5344CB8AC3E}">
        <p14:creationId xmlns:p14="http://schemas.microsoft.com/office/powerpoint/2010/main" val="42832595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068B1DAB-E353-E643-8374-61438104219B}"/>
              </a:ext>
            </a:extLst>
          </p:cNvPr>
          <p:cNvSpPr/>
          <p:nvPr/>
        </p:nvSpPr>
        <p:spPr>
          <a:xfrm>
            <a:off x="5234296" y="2292412"/>
            <a:ext cx="2551809" cy="2808312"/>
          </a:xfrm>
          <a:custGeom>
            <a:avLst/>
            <a:gdLst>
              <a:gd name="connsiteX0" fmla="*/ 367409 w 2551809"/>
              <a:gd name="connsiteY0" fmla="*/ 0 h 4787900"/>
              <a:gd name="connsiteX1" fmla="*/ 24509 w 2551809"/>
              <a:gd name="connsiteY1" fmla="*/ 1854200 h 4787900"/>
              <a:gd name="connsiteX2" fmla="*/ 964309 w 2551809"/>
              <a:gd name="connsiteY2" fmla="*/ 3886200 h 4787900"/>
              <a:gd name="connsiteX3" fmla="*/ 2551809 w 2551809"/>
              <a:gd name="connsiteY3" fmla="*/ 4787900 h 4787900"/>
              <a:gd name="connsiteX4" fmla="*/ 2551809 w 2551809"/>
              <a:gd name="connsiteY4" fmla="*/ 4787900 h 4787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1809" h="4787900">
                <a:moveTo>
                  <a:pt x="367409" y="0"/>
                </a:moveTo>
                <a:cubicBezTo>
                  <a:pt x="146217" y="603250"/>
                  <a:pt x="-74974" y="1206500"/>
                  <a:pt x="24509" y="1854200"/>
                </a:cubicBezTo>
                <a:cubicBezTo>
                  <a:pt x="123992" y="2501900"/>
                  <a:pt x="543092" y="3397250"/>
                  <a:pt x="964309" y="3886200"/>
                </a:cubicBezTo>
                <a:cubicBezTo>
                  <a:pt x="1385526" y="4375150"/>
                  <a:pt x="2551809" y="4787900"/>
                  <a:pt x="2551809" y="4787900"/>
                </a:cubicBezTo>
                <a:lnTo>
                  <a:pt x="2551809" y="4787900"/>
                </a:lnTo>
              </a:path>
            </a:pathLst>
          </a:custGeom>
          <a:noFill/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0DD42EA9-F664-1B44-AECE-8B7B476D2742}"/>
              </a:ext>
            </a:extLst>
          </p:cNvPr>
          <p:cNvSpPr/>
          <p:nvPr/>
        </p:nvSpPr>
        <p:spPr>
          <a:xfrm>
            <a:off x="5430125" y="1301000"/>
            <a:ext cx="431800" cy="432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7FD611A-28F8-D640-8FC9-EFEFE6C52B9B}"/>
              </a:ext>
            </a:extLst>
          </p:cNvPr>
          <p:cNvSpPr txBox="1"/>
          <p:nvPr/>
        </p:nvSpPr>
        <p:spPr>
          <a:xfrm>
            <a:off x="4651133" y="1808913"/>
            <a:ext cx="18020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Classifier Training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E4F2DA5-D3EF-FC4B-BF56-55F85F1F93D8}"/>
              </a:ext>
            </a:extLst>
          </p:cNvPr>
          <p:cNvCxnSpPr>
            <a:cxnSpLocks/>
          </p:cNvCxnSpPr>
          <p:nvPr/>
        </p:nvCxnSpPr>
        <p:spPr>
          <a:xfrm>
            <a:off x="3314700" y="6032500"/>
            <a:ext cx="44831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2A745075-6EE9-4444-8A00-A55DE258E6C2}"/>
              </a:ext>
            </a:extLst>
          </p:cNvPr>
          <p:cNvSpPr txBox="1"/>
          <p:nvPr/>
        </p:nvSpPr>
        <p:spPr>
          <a:xfrm>
            <a:off x="5924822" y="6106240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x</a:t>
            </a:r>
            <a:r>
              <a:rPr lang="en-US" baseline="-25000" dirty="0">
                <a:latin typeface="Gill Sans MT" panose="020B0502020104020203" pitchFamily="34" charset="77"/>
              </a:rPr>
              <a:t>1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4019AD61-E8E7-8A4A-8A26-A519A2B6F57E}"/>
              </a:ext>
            </a:extLst>
          </p:cNvPr>
          <p:cNvCxnSpPr>
            <a:cxnSpLocks/>
          </p:cNvCxnSpPr>
          <p:nvPr/>
        </p:nvCxnSpPr>
        <p:spPr>
          <a:xfrm flipV="1">
            <a:off x="3683013" y="1447800"/>
            <a:ext cx="0" cy="4927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4ECD0E7F-2E23-A84E-A9BB-157C9A2D032E}"/>
              </a:ext>
            </a:extLst>
          </p:cNvPr>
          <p:cNvSpPr txBox="1"/>
          <p:nvPr/>
        </p:nvSpPr>
        <p:spPr>
          <a:xfrm>
            <a:off x="3213463" y="3641164"/>
            <a:ext cx="385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x</a:t>
            </a:r>
            <a:r>
              <a:rPr lang="en-US" baseline="-25000" dirty="0"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51" name="Right Arrow 50">
            <a:extLst>
              <a:ext uri="{FF2B5EF4-FFF2-40B4-BE49-F238E27FC236}">
                <a16:creationId xmlns:a16="http://schemas.microsoft.com/office/drawing/2014/main" id="{0978C568-6E61-DE4A-A308-C0FCC393C082}"/>
              </a:ext>
            </a:extLst>
          </p:cNvPr>
          <p:cNvSpPr/>
          <p:nvPr/>
        </p:nvSpPr>
        <p:spPr>
          <a:xfrm rot="19800000">
            <a:off x="6875067" y="4505945"/>
            <a:ext cx="314072" cy="246454"/>
          </a:xfrm>
          <a:prstGeom prst="rightArrow">
            <a:avLst/>
          </a:prstGeom>
          <a:solidFill>
            <a:schemeClr val="bg2"/>
          </a:solidFill>
          <a:ln>
            <a:solidFill>
              <a:schemeClr val="tx2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Gill Sans MT" panose="020B0502020104020203" pitchFamily="34" charset="7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6AD8224-1017-3646-8C24-8699327DDC27}"/>
              </a:ext>
            </a:extLst>
          </p:cNvPr>
          <p:cNvSpPr txBox="1"/>
          <p:nvPr/>
        </p:nvSpPr>
        <p:spPr>
          <a:xfrm rot="19800000">
            <a:off x="7141131" y="4294143"/>
            <a:ext cx="4555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Gill Sans MT" panose="020B0502020104020203" pitchFamily="34" charset="77"/>
                <a:cs typeface="Trebuchet MS"/>
              </a:rPr>
              <a:t>Blue</a:t>
            </a:r>
          </a:p>
        </p:txBody>
      </p:sp>
      <p:sp>
        <p:nvSpPr>
          <p:cNvPr id="53" name="Right Arrow 52">
            <a:extLst>
              <a:ext uri="{FF2B5EF4-FFF2-40B4-BE49-F238E27FC236}">
                <a16:creationId xmlns:a16="http://schemas.microsoft.com/office/drawing/2014/main" id="{8A933543-ECBC-4248-8440-0723A492FC11}"/>
              </a:ext>
            </a:extLst>
          </p:cNvPr>
          <p:cNvSpPr/>
          <p:nvPr/>
        </p:nvSpPr>
        <p:spPr>
          <a:xfrm rot="9000000">
            <a:off x="6437057" y="4840967"/>
            <a:ext cx="314072" cy="246454"/>
          </a:xfrm>
          <a:prstGeom prst="rightArrow">
            <a:avLst/>
          </a:prstGeom>
          <a:solidFill>
            <a:schemeClr val="bg2"/>
          </a:solidFill>
          <a:ln>
            <a:solidFill>
              <a:schemeClr val="tx2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Gill Sans MT" panose="020B0502020104020203" pitchFamily="34" charset="7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37CB736-B7B9-BC47-8630-560402B9DC2E}"/>
              </a:ext>
            </a:extLst>
          </p:cNvPr>
          <p:cNvSpPr txBox="1"/>
          <p:nvPr/>
        </p:nvSpPr>
        <p:spPr>
          <a:xfrm rot="19800000">
            <a:off x="6028893" y="5017958"/>
            <a:ext cx="4365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Red</a:t>
            </a:r>
          </a:p>
        </p:txBody>
      </p:sp>
    </p:spTree>
    <p:extLst>
      <p:ext uri="{BB962C8B-B14F-4D97-AF65-F5344CB8AC3E}">
        <p14:creationId xmlns:p14="http://schemas.microsoft.com/office/powerpoint/2010/main" val="15698605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C2273-8A88-FD3A-07D1-D3C003782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6B68CA8-8868-37CF-E4B3-7F00C21FFAC9}"/>
              </a:ext>
            </a:extLst>
          </p:cNvPr>
          <p:cNvSpPr txBox="1"/>
          <p:nvPr/>
        </p:nvSpPr>
        <p:spPr>
          <a:xfrm>
            <a:off x="2264675" y="5340955"/>
            <a:ext cx="38170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>
                <a:latin typeface="Gill Sans MT" panose="020B0502020104020203" pitchFamily="34" charset="77"/>
                <a:cs typeface="Trebuchet MS"/>
              </a:rPr>
              <a:t>Esquema</a:t>
            </a:r>
            <a:r>
              <a:rPr lang="en-US" sz="4000" dirty="0">
                <a:latin typeface="Gill Sans MT" panose="020B0502020104020203" pitchFamily="34" charset="77"/>
                <a:cs typeface="Trebuchet MS"/>
              </a:rPr>
              <a:t> General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42BF4F-572F-63A3-EB9B-FFECCFDA6DA2}"/>
              </a:ext>
            </a:extLst>
          </p:cNvPr>
          <p:cNvSpPr txBox="1"/>
          <p:nvPr/>
        </p:nvSpPr>
        <p:spPr>
          <a:xfrm rot="16200000">
            <a:off x="7282990" y="2141319"/>
            <a:ext cx="1200585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 err="1">
                <a:latin typeface="Gill Sans MT" panose="020B0502020104020203" pitchFamily="34" charset="77"/>
              </a:rPr>
              <a:t>N</a:t>
            </a:r>
            <a:r>
              <a:rPr lang="en-US" sz="1600" baseline="-25000" dirty="0" err="1">
                <a:latin typeface="Gill Sans MT" panose="020B0502020104020203" pitchFamily="34" charset="77"/>
              </a:rPr>
              <a:t>t</a:t>
            </a:r>
            <a:r>
              <a:rPr lang="en-US" sz="1600" dirty="0">
                <a:latin typeface="Gill Sans MT" panose="020B0502020104020203" pitchFamily="34" charset="77"/>
              </a:rPr>
              <a:t> </a:t>
            </a:r>
            <a:r>
              <a:rPr lang="en-US" sz="1600" dirty="0" err="1">
                <a:latin typeface="Gill Sans MT" panose="020B0502020104020203" pitchFamily="34" charset="77"/>
              </a:rPr>
              <a:t>muestras</a:t>
            </a:r>
            <a:endParaRPr lang="en-US" sz="1600" dirty="0">
              <a:latin typeface="Gill Sans MT" panose="020B0502020104020203" pitchFamily="34" charset="77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CD70917-A61D-44D2-F0B2-B2037D44DE0E}"/>
              </a:ext>
            </a:extLst>
          </p:cNvPr>
          <p:cNvCxnSpPr>
            <a:cxnSpLocks/>
          </p:cNvCxnSpPr>
          <p:nvPr/>
        </p:nvCxnSpPr>
        <p:spPr>
          <a:xfrm flipH="1">
            <a:off x="8754004" y="2946408"/>
            <a:ext cx="2862" cy="93600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BA4C8090-A604-FE77-BB61-7EB5A5CF83A2}"/>
              </a:ext>
            </a:extLst>
          </p:cNvPr>
          <p:cNvGraphicFramePr>
            <a:graphicFrameLocks noGrp="1"/>
          </p:cNvGraphicFramePr>
          <p:nvPr/>
        </p:nvGraphicFramePr>
        <p:xfrm>
          <a:off x="8328588" y="1658587"/>
          <a:ext cx="1092924" cy="112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231">
                  <a:extLst>
                    <a:ext uri="{9D8B030D-6E8A-4147-A177-3AD203B41FA5}">
                      <a16:colId xmlns:a16="http://schemas.microsoft.com/office/drawing/2014/main" val="1587632376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749266633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3802181957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1979340780"/>
                    </a:ext>
                  </a:extLst>
                </a:gridCol>
              </a:tblGrid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129878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10622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080497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68420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387770"/>
                  </a:ext>
                </a:extLst>
              </a:tr>
            </a:tbl>
          </a:graphicData>
        </a:graphic>
      </p:graphicFrame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3D94959-E334-74E8-EAF6-B54F39396D39}"/>
              </a:ext>
            </a:extLst>
          </p:cNvPr>
          <p:cNvSpPr/>
          <p:nvPr/>
        </p:nvSpPr>
        <p:spPr>
          <a:xfrm>
            <a:off x="7923412" y="3876112"/>
            <a:ext cx="1649308" cy="694987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rPr>
              <a:t>Clasificación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Gill Sans MT" panose="020B0502020104020203" pitchFamily="34" charset="77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46DD73D-8561-B809-904B-BEFC704BEF69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4256920" y="4218984"/>
            <a:ext cx="3666495" cy="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eft Brace 15">
            <a:extLst>
              <a:ext uri="{FF2B5EF4-FFF2-40B4-BE49-F238E27FC236}">
                <a16:creationId xmlns:a16="http://schemas.microsoft.com/office/drawing/2014/main" id="{8A6EDBD3-C456-7C91-43E9-6C234BD0C4EF}"/>
              </a:ext>
            </a:extLst>
          </p:cNvPr>
          <p:cNvSpPr/>
          <p:nvPr/>
        </p:nvSpPr>
        <p:spPr>
          <a:xfrm rot="16200000">
            <a:off x="8707050" y="2470055"/>
            <a:ext cx="91967" cy="797785"/>
          </a:xfrm>
          <a:prstGeom prst="leftBrace">
            <a:avLst/>
          </a:prstGeom>
          <a:ln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B07CE78-4A69-3FF9-06F7-4CBD2FB47627}"/>
              </a:ext>
            </a:extLst>
          </p:cNvPr>
          <p:cNvCxnSpPr>
            <a:cxnSpLocks/>
          </p:cNvCxnSpPr>
          <p:nvPr/>
        </p:nvCxnSpPr>
        <p:spPr>
          <a:xfrm flipH="1">
            <a:off x="8750928" y="4569578"/>
            <a:ext cx="2862" cy="64800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6FC73311-91F5-C9A4-0DBA-65D633ACF23C}"/>
              </a:ext>
            </a:extLst>
          </p:cNvPr>
          <p:cNvGraphicFramePr>
            <a:graphicFrameLocks noGrp="1"/>
          </p:cNvGraphicFramePr>
          <p:nvPr/>
        </p:nvGraphicFramePr>
        <p:xfrm>
          <a:off x="8606527" y="5203908"/>
          <a:ext cx="273231" cy="112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231">
                  <a:extLst>
                    <a:ext uri="{9D8B030D-6E8A-4147-A177-3AD203B41FA5}">
                      <a16:colId xmlns:a16="http://schemas.microsoft.com/office/drawing/2014/main" val="1979340780"/>
                    </a:ext>
                  </a:extLst>
                </a:gridCol>
              </a:tblGrid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129878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10622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080497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68420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387770"/>
                  </a:ext>
                </a:extLst>
              </a:tr>
            </a:tbl>
          </a:graphicData>
        </a:graphic>
      </p:graphicFrame>
      <p:sp>
        <p:nvSpPr>
          <p:cNvPr id="19" name="Oval 18">
            <a:extLst>
              <a:ext uri="{FF2B5EF4-FFF2-40B4-BE49-F238E27FC236}">
                <a16:creationId xmlns:a16="http://schemas.microsoft.com/office/drawing/2014/main" id="{2930B9E8-7B0A-94D0-3D2B-EC17B4C2C65A}"/>
              </a:ext>
            </a:extLst>
          </p:cNvPr>
          <p:cNvSpPr/>
          <p:nvPr/>
        </p:nvSpPr>
        <p:spPr>
          <a:xfrm>
            <a:off x="8537901" y="5043798"/>
            <a:ext cx="410476" cy="146341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1BA4AD8-C07D-0D49-6223-28987AA4480E}"/>
              </a:ext>
            </a:extLst>
          </p:cNvPr>
          <p:cNvSpPr/>
          <p:nvPr/>
        </p:nvSpPr>
        <p:spPr>
          <a:xfrm>
            <a:off x="9553744" y="5617533"/>
            <a:ext cx="324000" cy="32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600" dirty="0">
              <a:latin typeface="Gill Sans MT" panose="020B0502020104020203" pitchFamily="34" charset="77"/>
            </a:endParaRPr>
          </a:p>
        </p:txBody>
      </p: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3D65FD0A-5751-89C9-2F88-A61CC2B589A3}"/>
              </a:ext>
            </a:extLst>
          </p:cNvPr>
          <p:cNvCxnSpPr>
            <a:cxnSpLocks/>
            <a:stCxn id="13" idx="3"/>
            <a:endCxn id="20" idx="0"/>
          </p:cNvCxnSpPr>
          <p:nvPr/>
        </p:nvCxnSpPr>
        <p:spPr>
          <a:xfrm>
            <a:off x="9421512" y="2223347"/>
            <a:ext cx="294232" cy="3394186"/>
          </a:xfrm>
          <a:prstGeom prst="bentConnector2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47EF5CA-4209-48D3-8E0D-DC74F1920C0A}"/>
              </a:ext>
            </a:extLst>
          </p:cNvPr>
          <p:cNvCxnSpPr>
            <a:cxnSpLocks/>
            <a:stCxn id="19" idx="6"/>
            <a:endCxn id="20" idx="2"/>
          </p:cNvCxnSpPr>
          <p:nvPr/>
        </p:nvCxnSpPr>
        <p:spPr>
          <a:xfrm>
            <a:off x="8948378" y="5775503"/>
            <a:ext cx="605367" cy="403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4C53106-90F1-79F2-7122-27B6AA7859B8}"/>
              </a:ext>
            </a:extLst>
          </p:cNvPr>
          <p:cNvCxnSpPr>
            <a:cxnSpLocks/>
          </p:cNvCxnSpPr>
          <p:nvPr/>
        </p:nvCxnSpPr>
        <p:spPr>
          <a:xfrm>
            <a:off x="9719209" y="5940267"/>
            <a:ext cx="0" cy="289754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9F02A91-6AC7-66C3-934E-93033E494D32}"/>
              </a:ext>
            </a:extLst>
          </p:cNvPr>
          <p:cNvSpPr txBox="1"/>
          <p:nvPr/>
        </p:nvSpPr>
        <p:spPr>
          <a:xfrm>
            <a:off x="9164650" y="6226055"/>
            <a:ext cx="1047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Accuracy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05CCF41-AE74-42D5-9027-849861DB6CFF}"/>
              </a:ext>
            </a:extLst>
          </p:cNvPr>
          <p:cNvSpPr txBox="1"/>
          <p:nvPr/>
        </p:nvSpPr>
        <p:spPr>
          <a:xfrm>
            <a:off x="6258929" y="5482966"/>
            <a:ext cx="21675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err="1">
                <a:latin typeface="Gill Sans MT" panose="020B0502020104020203" pitchFamily="34" charset="77"/>
              </a:rPr>
              <a:t>Clasificación</a:t>
            </a:r>
            <a:r>
              <a:rPr lang="en-US" dirty="0">
                <a:latin typeface="Gill Sans MT" panose="020B0502020104020203" pitchFamily="34" charset="77"/>
              </a:rPr>
              <a:t> del </a:t>
            </a:r>
          </a:p>
          <a:p>
            <a:pPr algn="r"/>
            <a:r>
              <a:rPr lang="en-US" dirty="0">
                <a:latin typeface="Gill Sans MT" panose="020B0502020104020203" pitchFamily="34" charset="77"/>
              </a:rPr>
              <a:t>Conjunto de </a:t>
            </a:r>
            <a:r>
              <a:rPr lang="en-US" dirty="0" err="1">
                <a:latin typeface="Gill Sans MT" panose="020B0502020104020203" pitchFamily="34" charset="77"/>
              </a:rPr>
              <a:t>Pruebas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FAD173E-48A1-A289-9DF4-5A712AFC0D12}"/>
              </a:ext>
            </a:extLst>
          </p:cNvPr>
          <p:cNvSpPr txBox="1"/>
          <p:nvPr/>
        </p:nvSpPr>
        <p:spPr>
          <a:xfrm>
            <a:off x="9532299" y="5318121"/>
            <a:ext cx="3946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Gill Sans MT" panose="020B0502020104020203" pitchFamily="34" charset="77"/>
              </a:rPr>
              <a:t>-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D3E7AFB-47C9-A826-1897-4CDD13FBAF6C}"/>
              </a:ext>
            </a:extLst>
          </p:cNvPr>
          <p:cNvSpPr txBox="1"/>
          <p:nvPr/>
        </p:nvSpPr>
        <p:spPr>
          <a:xfrm>
            <a:off x="8294573" y="1856593"/>
            <a:ext cx="851515" cy="21544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800" dirty="0">
                <a:latin typeface="Gill Sans MT" panose="020B0502020104020203" pitchFamily="34" charset="77"/>
              </a:rPr>
              <a:t>p </a:t>
            </a:r>
            <a:r>
              <a:rPr lang="en-US" sz="800" dirty="0" err="1">
                <a:latin typeface="Gill Sans MT" panose="020B0502020104020203" pitchFamily="34" charset="77"/>
              </a:rPr>
              <a:t>características</a:t>
            </a:r>
            <a:endParaRPr lang="en-US" sz="800" dirty="0">
              <a:latin typeface="Gill Sans MT" panose="020B0502020104020203" pitchFamily="34" charset="77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88AE104-2DEE-FA12-D228-18C906A0DC45}"/>
              </a:ext>
            </a:extLst>
          </p:cNvPr>
          <p:cNvCxnSpPr>
            <a:cxnSpLocks/>
          </p:cNvCxnSpPr>
          <p:nvPr/>
        </p:nvCxnSpPr>
        <p:spPr>
          <a:xfrm flipV="1">
            <a:off x="2462542" y="1336736"/>
            <a:ext cx="0" cy="1790107"/>
          </a:xfrm>
          <a:prstGeom prst="straightConnector1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5AA320C7-93B8-52BD-298D-BCC3228FA515}"/>
              </a:ext>
            </a:extLst>
          </p:cNvPr>
          <p:cNvGraphicFramePr>
            <a:graphicFrameLocks noGrp="1"/>
          </p:cNvGraphicFramePr>
          <p:nvPr/>
        </p:nvGraphicFramePr>
        <p:xfrm>
          <a:off x="2899351" y="1093704"/>
          <a:ext cx="1092924" cy="2033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231">
                  <a:extLst>
                    <a:ext uri="{9D8B030D-6E8A-4147-A177-3AD203B41FA5}">
                      <a16:colId xmlns:a16="http://schemas.microsoft.com/office/drawing/2014/main" val="1587632376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1429024220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3802181957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1979340780"/>
                    </a:ext>
                  </a:extLst>
                </a:gridCol>
              </a:tblGrid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129878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10622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622095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080497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6197139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68420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38777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607525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590238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441C4498-1763-D4ED-EB59-F2ACC3D4B11F}"/>
              </a:ext>
            </a:extLst>
          </p:cNvPr>
          <p:cNvSpPr txBox="1"/>
          <p:nvPr/>
        </p:nvSpPr>
        <p:spPr>
          <a:xfrm rot="16200000">
            <a:off x="1826315" y="2042544"/>
            <a:ext cx="127246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N </a:t>
            </a:r>
            <a:r>
              <a:rPr lang="en-US" dirty="0" err="1">
                <a:latin typeface="Gill Sans MT" panose="020B0502020104020203" pitchFamily="34" charset="77"/>
              </a:rPr>
              <a:t>muestras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7E351CA-D249-7DBA-BF04-CDA9F1886CBE}"/>
              </a:ext>
            </a:extLst>
          </p:cNvPr>
          <p:cNvSpPr txBox="1"/>
          <p:nvPr/>
        </p:nvSpPr>
        <p:spPr>
          <a:xfrm>
            <a:off x="2883709" y="1330227"/>
            <a:ext cx="851515" cy="21544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800" dirty="0">
                <a:latin typeface="Gill Sans MT" panose="020B0502020104020203" pitchFamily="34" charset="77"/>
              </a:rPr>
              <a:t>p </a:t>
            </a:r>
            <a:r>
              <a:rPr lang="en-US" sz="800" dirty="0" err="1">
                <a:latin typeface="Gill Sans MT" panose="020B0502020104020203" pitchFamily="34" charset="77"/>
              </a:rPr>
              <a:t>características</a:t>
            </a:r>
            <a:endParaRPr lang="en-US" sz="800" dirty="0">
              <a:latin typeface="Gill Sans MT" panose="020B0502020104020203" pitchFamily="34" charset="77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0DB61D28-C2E6-9018-5A4C-EB985D55827D}"/>
              </a:ext>
            </a:extLst>
          </p:cNvPr>
          <p:cNvSpPr/>
          <p:nvPr/>
        </p:nvSpPr>
        <p:spPr>
          <a:xfrm>
            <a:off x="2607609" y="3860674"/>
            <a:ext cx="1649308" cy="694987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rPr>
              <a:t>Entrenamiento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rPr>
              <a:t> de </a:t>
            </a: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rPr>
              <a:t>Clasificador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Gill Sans MT" panose="020B0502020104020203" pitchFamily="34" charset="77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4018639-2481-49D3-2621-DC528E7CE660}"/>
              </a:ext>
            </a:extLst>
          </p:cNvPr>
          <p:cNvCxnSpPr>
            <a:cxnSpLocks/>
          </p:cNvCxnSpPr>
          <p:nvPr/>
        </p:nvCxnSpPr>
        <p:spPr>
          <a:xfrm>
            <a:off x="3301211" y="3392929"/>
            <a:ext cx="339" cy="46800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Left Brace 33">
            <a:extLst>
              <a:ext uri="{FF2B5EF4-FFF2-40B4-BE49-F238E27FC236}">
                <a16:creationId xmlns:a16="http://schemas.microsoft.com/office/drawing/2014/main" id="{2133411D-61E6-95B8-DA1D-183967CDA659}"/>
              </a:ext>
            </a:extLst>
          </p:cNvPr>
          <p:cNvSpPr/>
          <p:nvPr/>
        </p:nvSpPr>
        <p:spPr>
          <a:xfrm rot="16200000">
            <a:off x="3246836" y="2891857"/>
            <a:ext cx="135504" cy="750376"/>
          </a:xfrm>
          <a:prstGeom prst="leftBrace">
            <a:avLst>
              <a:gd name="adj1" fmla="val 8333"/>
              <a:gd name="adj2" fmla="val 49144"/>
            </a:avLst>
          </a:prstGeom>
          <a:ln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13F0344-8384-E555-BCD5-FEF2BCE1DE47}"/>
              </a:ext>
            </a:extLst>
          </p:cNvPr>
          <p:cNvCxnSpPr>
            <a:cxnSpLocks/>
          </p:cNvCxnSpPr>
          <p:nvPr/>
        </p:nvCxnSpPr>
        <p:spPr>
          <a:xfrm>
            <a:off x="3849922" y="3126597"/>
            <a:ext cx="0" cy="746188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6DFAF20D-1036-F82B-F045-2CBC6B5AFFC4}"/>
              </a:ext>
            </a:extLst>
          </p:cNvPr>
          <p:cNvSpPr txBox="1"/>
          <p:nvPr/>
        </p:nvSpPr>
        <p:spPr>
          <a:xfrm>
            <a:off x="4685295" y="4182851"/>
            <a:ext cx="2780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parámetros</a:t>
            </a:r>
            <a:r>
              <a:rPr lang="en-US" dirty="0">
                <a:latin typeface="Gill Sans MT" panose="020B0502020104020203" pitchFamily="34" charset="77"/>
              </a:rPr>
              <a:t> del </a:t>
            </a:r>
            <a:r>
              <a:rPr lang="en-US" dirty="0" err="1">
                <a:latin typeface="Gill Sans MT" panose="020B0502020104020203" pitchFamily="34" charset="77"/>
              </a:rPr>
              <a:t>clasificador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A59D41D-94B9-84D3-BA2E-7D1FBB847A95}"/>
              </a:ext>
            </a:extLst>
          </p:cNvPr>
          <p:cNvSpPr/>
          <p:nvPr/>
        </p:nvSpPr>
        <p:spPr>
          <a:xfrm>
            <a:off x="9080142" y="1506324"/>
            <a:ext cx="410476" cy="146341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F74A578-3FA7-0661-F0AA-365A3F543B37}"/>
              </a:ext>
            </a:extLst>
          </p:cNvPr>
          <p:cNvSpPr txBox="1"/>
          <p:nvPr/>
        </p:nvSpPr>
        <p:spPr>
          <a:xfrm>
            <a:off x="7188761" y="3037895"/>
            <a:ext cx="15071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err="1">
                <a:solidFill>
                  <a:srgbClr val="FF0000"/>
                </a:solidFill>
                <a:latin typeface="Gill Sans MT" panose="020B0502020104020203" pitchFamily="34" charset="77"/>
              </a:rPr>
              <a:t>sólo</a:t>
            </a:r>
            <a:endParaRPr lang="en-US" dirty="0">
              <a:solidFill>
                <a:srgbClr val="FF0000"/>
              </a:solidFill>
              <a:latin typeface="Gill Sans MT" panose="020B0502020104020203" pitchFamily="34" charset="77"/>
            </a:endParaRPr>
          </a:p>
          <a:p>
            <a:pPr algn="r"/>
            <a:r>
              <a:rPr lang="en-US" dirty="0" err="1">
                <a:solidFill>
                  <a:srgbClr val="FF0000"/>
                </a:solidFill>
                <a:latin typeface="Gill Sans MT" panose="020B0502020104020203" pitchFamily="34" charset="77"/>
              </a:rPr>
              <a:t>características</a:t>
            </a:r>
            <a:endParaRPr lang="en-US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7443829-8358-D0BA-3286-8CBA763ACC08}"/>
              </a:ext>
            </a:extLst>
          </p:cNvPr>
          <p:cNvSpPr txBox="1"/>
          <p:nvPr/>
        </p:nvSpPr>
        <p:spPr>
          <a:xfrm>
            <a:off x="9906119" y="3876111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9300"/>
                </a:solidFill>
                <a:latin typeface="Gill Sans MT" panose="020B0502020104020203" pitchFamily="34" charset="77"/>
              </a:rPr>
              <a:t>y</a:t>
            </a:r>
            <a:r>
              <a:rPr lang="en-US" baseline="-250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t</a:t>
            </a:r>
            <a:endParaRPr lang="en-US" baseline="-25000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95D7033-DC7C-4289-C32D-F6D980CA0680}"/>
              </a:ext>
            </a:extLst>
          </p:cNvPr>
          <p:cNvSpPr txBox="1"/>
          <p:nvPr/>
        </p:nvSpPr>
        <p:spPr>
          <a:xfrm>
            <a:off x="9118220" y="5364286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00B050"/>
                </a:solidFill>
                <a:latin typeface="Gill Sans MT" panose="020B0502020104020203" pitchFamily="34" charset="77"/>
              </a:rPr>
              <a:t>y</a:t>
            </a:r>
            <a:r>
              <a:rPr lang="en-US" baseline="-25000" dirty="0" err="1">
                <a:solidFill>
                  <a:srgbClr val="00B050"/>
                </a:solidFill>
                <a:latin typeface="Gill Sans MT" panose="020B0502020104020203" pitchFamily="34" charset="77"/>
              </a:rPr>
              <a:t>s</a:t>
            </a:r>
            <a:endParaRPr lang="en-US" baseline="-25000" dirty="0">
              <a:solidFill>
                <a:srgbClr val="00B050"/>
              </a:solidFill>
              <a:latin typeface="Gill Sans MT" panose="020B0502020104020203" pitchFamily="34" charset="7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2CA167C-D6C9-06EC-D7D5-496676164CC0}"/>
              </a:ext>
            </a:extLst>
          </p:cNvPr>
          <p:cNvSpPr txBox="1"/>
          <p:nvPr/>
        </p:nvSpPr>
        <p:spPr>
          <a:xfrm>
            <a:off x="9091306" y="1055801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9300"/>
                </a:solidFill>
                <a:latin typeface="Gill Sans MT" panose="020B0502020104020203" pitchFamily="34" charset="77"/>
              </a:rPr>
              <a:t>y</a:t>
            </a:r>
            <a:r>
              <a:rPr lang="en-US" baseline="-250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t</a:t>
            </a:r>
            <a:endParaRPr lang="en-US" baseline="-25000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EC5E38A-5D59-6E97-90A2-19731D924EBC}"/>
              </a:ext>
            </a:extLst>
          </p:cNvPr>
          <p:cNvSpPr txBox="1"/>
          <p:nvPr/>
        </p:nvSpPr>
        <p:spPr>
          <a:xfrm>
            <a:off x="8486290" y="1055801"/>
            <a:ext cx="39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9300"/>
                </a:solidFill>
                <a:latin typeface="Gill Sans MT" panose="020B0502020104020203" pitchFamily="34" charset="77"/>
              </a:rPr>
              <a:t>X</a:t>
            </a:r>
            <a:r>
              <a:rPr lang="en-US" baseline="-250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t</a:t>
            </a:r>
            <a:endParaRPr lang="en-US" baseline="-25000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044A055-6289-3321-86C0-A77143161209}"/>
              </a:ext>
            </a:extLst>
          </p:cNvPr>
          <p:cNvSpPr txBox="1"/>
          <p:nvPr/>
        </p:nvSpPr>
        <p:spPr>
          <a:xfrm>
            <a:off x="8713819" y="3148581"/>
            <a:ext cx="39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9300"/>
                </a:solidFill>
                <a:latin typeface="Gill Sans MT" panose="020B0502020104020203" pitchFamily="34" charset="77"/>
              </a:rPr>
              <a:t>X</a:t>
            </a:r>
            <a:r>
              <a:rPr lang="en-US" baseline="-250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t</a:t>
            </a:r>
            <a:endParaRPr lang="en-US" baseline="-25000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476C89A-B5EF-86C9-D49A-369440FB6F4D}"/>
              </a:ext>
            </a:extLst>
          </p:cNvPr>
          <p:cNvSpPr txBox="1"/>
          <p:nvPr/>
        </p:nvSpPr>
        <p:spPr>
          <a:xfrm>
            <a:off x="8742528" y="4628968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00B050"/>
                </a:solidFill>
                <a:latin typeface="Gill Sans MT" panose="020B0502020104020203" pitchFamily="34" charset="77"/>
              </a:rPr>
              <a:t>y</a:t>
            </a:r>
            <a:r>
              <a:rPr lang="en-US" baseline="-25000" dirty="0" err="1">
                <a:solidFill>
                  <a:srgbClr val="00B050"/>
                </a:solidFill>
                <a:latin typeface="Gill Sans MT" panose="020B0502020104020203" pitchFamily="34" charset="77"/>
              </a:rPr>
              <a:t>s</a:t>
            </a:r>
            <a:endParaRPr lang="en-US" baseline="-25000" dirty="0">
              <a:solidFill>
                <a:srgbClr val="00B050"/>
              </a:solidFill>
              <a:latin typeface="Gill Sans MT" panose="020B0502020104020203" pitchFamily="34" charset="7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D2A66DC-5B12-E7BD-68FA-9CE4A1C621C6}"/>
              </a:ext>
            </a:extLst>
          </p:cNvPr>
          <p:cNvSpPr txBox="1"/>
          <p:nvPr/>
        </p:nvSpPr>
        <p:spPr>
          <a:xfrm>
            <a:off x="3797350" y="3369764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  <a:latin typeface="Gill Sans MT" panose="020B0502020104020203" pitchFamily="34" charset="77"/>
              </a:rPr>
              <a:t>y</a:t>
            </a:r>
            <a:endParaRPr lang="en-US" baseline="-25000" dirty="0">
              <a:solidFill>
                <a:srgbClr val="0096FF"/>
              </a:solidFill>
              <a:latin typeface="Gill Sans MT" panose="020B0502020104020203" pitchFamily="34" charset="7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EAFC5A4-34B8-2E3F-F9E1-7914BB0513EE}"/>
              </a:ext>
            </a:extLst>
          </p:cNvPr>
          <p:cNvSpPr txBox="1"/>
          <p:nvPr/>
        </p:nvSpPr>
        <p:spPr>
          <a:xfrm>
            <a:off x="2908231" y="3384997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  <a:latin typeface="Gill Sans MT" panose="020B0502020104020203" pitchFamily="34" charset="77"/>
              </a:rPr>
              <a:t>X</a:t>
            </a:r>
            <a:endParaRPr lang="en-US" baseline="-25000" dirty="0">
              <a:solidFill>
                <a:srgbClr val="0096FF"/>
              </a:solidFill>
              <a:latin typeface="Gill Sans MT" panose="020B0502020104020203" pitchFamily="34" charset="7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1DC5BE0-B73E-4432-9B91-E3272C8EF25E}"/>
              </a:ext>
            </a:extLst>
          </p:cNvPr>
          <p:cNvSpPr txBox="1"/>
          <p:nvPr/>
        </p:nvSpPr>
        <p:spPr>
          <a:xfrm>
            <a:off x="3694064" y="687690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  <a:latin typeface="Gill Sans MT" panose="020B0502020104020203" pitchFamily="34" charset="77"/>
              </a:rPr>
              <a:t>y</a:t>
            </a:r>
            <a:endParaRPr lang="en-US" baseline="-25000" dirty="0">
              <a:solidFill>
                <a:srgbClr val="0096FF"/>
              </a:solidFill>
              <a:latin typeface="Gill Sans MT" panose="020B0502020104020203" pitchFamily="34" charset="7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E1CB6E0-5558-69A3-B128-7C9E6F6C9811}"/>
              </a:ext>
            </a:extLst>
          </p:cNvPr>
          <p:cNvSpPr txBox="1"/>
          <p:nvPr/>
        </p:nvSpPr>
        <p:spPr>
          <a:xfrm>
            <a:off x="3211345" y="702923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  <a:latin typeface="Gill Sans MT" panose="020B0502020104020203" pitchFamily="34" charset="77"/>
              </a:rPr>
              <a:t>X</a:t>
            </a:r>
            <a:endParaRPr lang="en-US" baseline="-25000" dirty="0">
              <a:solidFill>
                <a:srgbClr val="0096FF"/>
              </a:solidFill>
              <a:latin typeface="Gill Sans MT" panose="020B0502020104020203" pitchFamily="34" charset="7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2289D38-552B-7527-DD61-2CDC74E0CD27}"/>
              </a:ext>
            </a:extLst>
          </p:cNvPr>
          <p:cNvSpPr txBox="1"/>
          <p:nvPr/>
        </p:nvSpPr>
        <p:spPr>
          <a:xfrm>
            <a:off x="2098038" y="268159"/>
            <a:ext cx="2808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  <a:latin typeface="Gill Sans MT" panose="020B0502020104020203" pitchFamily="34" charset="77"/>
              </a:rPr>
              <a:t>Conjunto de </a:t>
            </a:r>
            <a:r>
              <a:rPr lang="en-US" dirty="0" err="1">
                <a:solidFill>
                  <a:srgbClr val="0096FF"/>
                </a:solidFill>
                <a:latin typeface="Gill Sans MT" panose="020B0502020104020203" pitchFamily="34" charset="77"/>
              </a:rPr>
              <a:t>Entrenamiento</a:t>
            </a:r>
            <a:endParaRPr lang="en-US" dirty="0">
              <a:solidFill>
                <a:srgbClr val="0096FF"/>
              </a:solidFill>
              <a:latin typeface="Gill Sans MT" panose="020B0502020104020203" pitchFamily="34" charset="7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F8CDFA1-BD51-C671-C89D-8EE7B605709B}"/>
              </a:ext>
            </a:extLst>
          </p:cNvPr>
          <p:cNvSpPr txBox="1"/>
          <p:nvPr/>
        </p:nvSpPr>
        <p:spPr>
          <a:xfrm>
            <a:off x="7803337" y="278598"/>
            <a:ext cx="2167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9300"/>
                </a:solidFill>
                <a:latin typeface="Gill Sans MT" panose="020B0502020104020203" pitchFamily="34" charset="77"/>
              </a:rPr>
              <a:t>Conjunto de </a:t>
            </a:r>
            <a:r>
              <a:rPr lang="en-US" dirty="0" err="1">
                <a:solidFill>
                  <a:srgbClr val="FF9300"/>
                </a:solidFill>
                <a:latin typeface="Gill Sans MT" panose="020B0502020104020203" pitchFamily="34" charset="77"/>
              </a:rPr>
              <a:t>Pruebas</a:t>
            </a:r>
            <a:endParaRPr lang="en-US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9859682-03E0-C0CF-8412-E30EE3054B8D}"/>
              </a:ext>
            </a:extLst>
          </p:cNvPr>
          <p:cNvSpPr/>
          <p:nvPr/>
        </p:nvSpPr>
        <p:spPr>
          <a:xfrm>
            <a:off x="7222282" y="2007347"/>
            <a:ext cx="431800" cy="432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154998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/>
          <p:cNvSpPr/>
          <p:nvPr/>
        </p:nvSpPr>
        <p:spPr>
          <a:xfrm>
            <a:off x="4556670" y="342900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" name="Oval 6"/>
          <p:cNvSpPr/>
          <p:nvPr/>
        </p:nvSpPr>
        <p:spPr>
          <a:xfrm>
            <a:off x="4484662" y="4005064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" name="Oval 7"/>
          <p:cNvSpPr/>
          <p:nvPr/>
        </p:nvSpPr>
        <p:spPr>
          <a:xfrm>
            <a:off x="4412654" y="3717032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" name="Oval 8"/>
          <p:cNvSpPr/>
          <p:nvPr/>
        </p:nvSpPr>
        <p:spPr>
          <a:xfrm>
            <a:off x="4988718" y="3501008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" name="Oval 9"/>
          <p:cNvSpPr/>
          <p:nvPr/>
        </p:nvSpPr>
        <p:spPr>
          <a:xfrm>
            <a:off x="4772694" y="4365104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4916710" y="3861048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5276750" y="4077072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5204742" y="4653136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5132734" y="4365104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08798" y="414908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5492774" y="5013176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5636790" y="450912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4700686" y="3717032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4484662" y="4653136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4412654" y="4365104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4988718" y="414908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4772694" y="5013176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4916710" y="4725144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42" name="Group 41"/>
          <p:cNvGrpSpPr/>
          <p:nvPr/>
        </p:nvGrpSpPr>
        <p:grpSpPr>
          <a:xfrm rot="2553764">
            <a:off x="5542359" y="2623150"/>
            <a:ext cx="1512168" cy="1800200"/>
            <a:chOff x="4572000" y="3005336"/>
            <a:chExt cx="1512168" cy="1800200"/>
          </a:xfrm>
          <a:solidFill>
            <a:srgbClr val="0000FF"/>
          </a:solidFill>
        </p:grpSpPr>
        <p:sp>
          <p:nvSpPr>
            <p:cNvPr id="24" name="Oval 23"/>
            <p:cNvSpPr/>
            <p:nvPr/>
          </p:nvSpPr>
          <p:spPr>
            <a:xfrm>
              <a:off x="4716016" y="300533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5" name="Oval 24"/>
            <p:cNvSpPr/>
            <p:nvPr/>
          </p:nvSpPr>
          <p:spPr>
            <a:xfrm>
              <a:off x="4644008" y="358140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6" name="Oval 25"/>
            <p:cNvSpPr/>
            <p:nvPr/>
          </p:nvSpPr>
          <p:spPr>
            <a:xfrm>
              <a:off x="4572000" y="329336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7" name="Oval 26"/>
            <p:cNvSpPr/>
            <p:nvPr/>
          </p:nvSpPr>
          <p:spPr>
            <a:xfrm>
              <a:off x="5148064" y="307734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8" name="Oval 27"/>
            <p:cNvSpPr/>
            <p:nvPr/>
          </p:nvSpPr>
          <p:spPr>
            <a:xfrm>
              <a:off x="493204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9" name="Oval 28"/>
            <p:cNvSpPr/>
            <p:nvPr/>
          </p:nvSpPr>
          <p:spPr>
            <a:xfrm>
              <a:off x="5076056" y="343738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0" name="Oval 29"/>
            <p:cNvSpPr/>
            <p:nvPr/>
          </p:nvSpPr>
          <p:spPr>
            <a:xfrm>
              <a:off x="5436096" y="365340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1" name="Oval 30"/>
            <p:cNvSpPr/>
            <p:nvPr/>
          </p:nvSpPr>
          <p:spPr>
            <a:xfrm>
              <a:off x="5364088" y="422947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2" name="Oval 31"/>
            <p:cNvSpPr/>
            <p:nvPr/>
          </p:nvSpPr>
          <p:spPr>
            <a:xfrm>
              <a:off x="529208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3" name="Oval 32"/>
            <p:cNvSpPr/>
            <p:nvPr/>
          </p:nvSpPr>
          <p:spPr>
            <a:xfrm>
              <a:off x="5868144" y="372541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4" name="Oval 33"/>
            <p:cNvSpPr/>
            <p:nvPr/>
          </p:nvSpPr>
          <p:spPr>
            <a:xfrm>
              <a:off x="5652120" y="458951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5" name="Oval 34"/>
            <p:cNvSpPr/>
            <p:nvPr/>
          </p:nvSpPr>
          <p:spPr>
            <a:xfrm>
              <a:off x="5796136" y="408545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6" name="Oval 35"/>
            <p:cNvSpPr/>
            <p:nvPr/>
          </p:nvSpPr>
          <p:spPr>
            <a:xfrm>
              <a:off x="4860032" y="329336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7" name="Oval 36"/>
            <p:cNvSpPr/>
            <p:nvPr/>
          </p:nvSpPr>
          <p:spPr>
            <a:xfrm>
              <a:off x="4644008" y="422947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8" name="Oval 37"/>
            <p:cNvSpPr/>
            <p:nvPr/>
          </p:nvSpPr>
          <p:spPr>
            <a:xfrm>
              <a:off x="457200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9" name="Oval 38"/>
            <p:cNvSpPr/>
            <p:nvPr/>
          </p:nvSpPr>
          <p:spPr>
            <a:xfrm>
              <a:off x="5148064" y="372541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40" name="Oval 39"/>
            <p:cNvSpPr/>
            <p:nvPr/>
          </p:nvSpPr>
          <p:spPr>
            <a:xfrm>
              <a:off x="4932040" y="458951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41" name="Oval 40"/>
            <p:cNvSpPr/>
            <p:nvPr/>
          </p:nvSpPr>
          <p:spPr>
            <a:xfrm>
              <a:off x="5076056" y="430148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44" name="Oval 43"/>
          <p:cNvSpPr/>
          <p:nvPr/>
        </p:nvSpPr>
        <p:spPr>
          <a:xfrm>
            <a:off x="4799856" y="3068960"/>
            <a:ext cx="216024" cy="216024"/>
          </a:xfrm>
          <a:prstGeom prst="ellipse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972744" y="1929657"/>
            <a:ext cx="1653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Testing data</a:t>
            </a:r>
          </a:p>
        </p:txBody>
      </p:sp>
      <p:cxnSp>
        <p:nvCxnSpPr>
          <p:cNvPr id="5" name="Straight Arrow Connector 4"/>
          <p:cNvCxnSpPr>
            <a:cxnSpLocks/>
            <a:endCxn id="44" idx="0"/>
          </p:cNvCxnSpPr>
          <p:nvPr/>
        </p:nvCxnSpPr>
        <p:spPr>
          <a:xfrm>
            <a:off x="4907868" y="2466096"/>
            <a:ext cx="0" cy="6028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D8156F2-C82F-FD43-8A1C-8273596590A4}"/>
              </a:ext>
            </a:extLst>
          </p:cNvPr>
          <p:cNvCxnSpPr>
            <a:cxnSpLocks/>
          </p:cNvCxnSpPr>
          <p:nvPr/>
        </p:nvCxnSpPr>
        <p:spPr>
          <a:xfrm>
            <a:off x="3314700" y="6032500"/>
            <a:ext cx="44831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41E843FC-6BE6-8849-84D5-1012D078AF4C}"/>
              </a:ext>
            </a:extLst>
          </p:cNvPr>
          <p:cNvSpPr txBox="1"/>
          <p:nvPr/>
        </p:nvSpPr>
        <p:spPr>
          <a:xfrm>
            <a:off x="5924822" y="6106240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x</a:t>
            </a:r>
            <a:r>
              <a:rPr lang="en-US" baseline="-25000" dirty="0">
                <a:latin typeface="Gill Sans MT" panose="020B0502020104020203" pitchFamily="34" charset="77"/>
              </a:rPr>
              <a:t>1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65A9D1C-4328-EE41-9395-4F22EB6D7FD2}"/>
              </a:ext>
            </a:extLst>
          </p:cNvPr>
          <p:cNvCxnSpPr>
            <a:cxnSpLocks/>
          </p:cNvCxnSpPr>
          <p:nvPr/>
        </p:nvCxnSpPr>
        <p:spPr>
          <a:xfrm flipV="1">
            <a:off x="3683013" y="1447800"/>
            <a:ext cx="0" cy="4927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7DED08F9-D038-EB43-AA2D-2E7AA0464B50}"/>
              </a:ext>
            </a:extLst>
          </p:cNvPr>
          <p:cNvSpPr txBox="1"/>
          <p:nvPr/>
        </p:nvSpPr>
        <p:spPr>
          <a:xfrm>
            <a:off x="3213463" y="3641164"/>
            <a:ext cx="385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x</a:t>
            </a:r>
            <a:r>
              <a:rPr lang="en-US" baseline="-25000" dirty="0"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B8B72A30-7F8A-4245-AB6C-4A8F3449F99E}"/>
              </a:ext>
            </a:extLst>
          </p:cNvPr>
          <p:cNvSpPr/>
          <p:nvPr/>
        </p:nvSpPr>
        <p:spPr>
          <a:xfrm>
            <a:off x="4670566" y="1433647"/>
            <a:ext cx="431800" cy="432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7F6B302-E861-FC42-B48E-2500608C5C88}"/>
              </a:ext>
            </a:extLst>
          </p:cNvPr>
          <p:cNvSpPr txBox="1"/>
          <p:nvPr/>
        </p:nvSpPr>
        <p:spPr>
          <a:xfrm>
            <a:off x="4988718" y="2946140"/>
            <a:ext cx="2976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?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2741411-132F-794D-81B3-2C00EB51B0B4}"/>
              </a:ext>
            </a:extLst>
          </p:cNvPr>
          <p:cNvSpPr txBox="1"/>
          <p:nvPr/>
        </p:nvSpPr>
        <p:spPr>
          <a:xfrm>
            <a:off x="3845504" y="2477617"/>
            <a:ext cx="9383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77"/>
              </a:rPr>
              <a:t>only one </a:t>
            </a:r>
          </a:p>
          <a:p>
            <a:pPr algn="ctr"/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77"/>
              </a:rPr>
              <a:t>represented</a:t>
            </a:r>
          </a:p>
        </p:txBody>
      </p:sp>
    </p:spTree>
    <p:extLst>
      <p:ext uri="{BB962C8B-B14F-4D97-AF65-F5344CB8AC3E}">
        <p14:creationId xmlns:p14="http://schemas.microsoft.com/office/powerpoint/2010/main" val="9081327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DCA7E-DF1A-D902-50DC-C57EC99AD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1F5E65B-CE43-2741-EFAC-2E4968D4F903}"/>
              </a:ext>
            </a:extLst>
          </p:cNvPr>
          <p:cNvSpPr txBox="1"/>
          <p:nvPr/>
        </p:nvSpPr>
        <p:spPr>
          <a:xfrm>
            <a:off x="2264675" y="5340955"/>
            <a:ext cx="38170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>
                <a:latin typeface="Gill Sans MT" panose="020B0502020104020203" pitchFamily="34" charset="77"/>
                <a:cs typeface="Trebuchet MS"/>
              </a:rPr>
              <a:t>Esquema</a:t>
            </a:r>
            <a:r>
              <a:rPr lang="en-US" sz="4000" dirty="0">
                <a:latin typeface="Gill Sans MT" panose="020B0502020104020203" pitchFamily="34" charset="77"/>
                <a:cs typeface="Trebuchet MS"/>
              </a:rPr>
              <a:t> General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69F2BE-B92E-DA66-4BFD-5DD9443FCCEB}"/>
              </a:ext>
            </a:extLst>
          </p:cNvPr>
          <p:cNvSpPr txBox="1"/>
          <p:nvPr/>
        </p:nvSpPr>
        <p:spPr>
          <a:xfrm rot="16200000">
            <a:off x="7282990" y="2141319"/>
            <a:ext cx="1200585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 err="1">
                <a:latin typeface="Gill Sans MT" panose="020B0502020104020203" pitchFamily="34" charset="77"/>
              </a:rPr>
              <a:t>N</a:t>
            </a:r>
            <a:r>
              <a:rPr lang="en-US" sz="1600" baseline="-25000" dirty="0" err="1">
                <a:latin typeface="Gill Sans MT" panose="020B0502020104020203" pitchFamily="34" charset="77"/>
              </a:rPr>
              <a:t>t</a:t>
            </a:r>
            <a:r>
              <a:rPr lang="en-US" sz="1600" dirty="0">
                <a:latin typeface="Gill Sans MT" panose="020B0502020104020203" pitchFamily="34" charset="77"/>
              </a:rPr>
              <a:t> </a:t>
            </a:r>
            <a:r>
              <a:rPr lang="en-US" sz="1600" dirty="0" err="1">
                <a:latin typeface="Gill Sans MT" panose="020B0502020104020203" pitchFamily="34" charset="77"/>
              </a:rPr>
              <a:t>muestras</a:t>
            </a:r>
            <a:endParaRPr lang="en-US" sz="1600" dirty="0">
              <a:latin typeface="Gill Sans MT" panose="020B0502020104020203" pitchFamily="34" charset="77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F4F8088-FF8D-56B4-A4B8-B00F04D659A3}"/>
              </a:ext>
            </a:extLst>
          </p:cNvPr>
          <p:cNvCxnSpPr>
            <a:cxnSpLocks/>
          </p:cNvCxnSpPr>
          <p:nvPr/>
        </p:nvCxnSpPr>
        <p:spPr>
          <a:xfrm flipH="1">
            <a:off x="8754004" y="2946408"/>
            <a:ext cx="2862" cy="93600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9078CFE4-EE9E-DF6C-8F3B-CBFC1B257B1C}"/>
              </a:ext>
            </a:extLst>
          </p:cNvPr>
          <p:cNvGraphicFramePr>
            <a:graphicFrameLocks noGrp="1"/>
          </p:cNvGraphicFramePr>
          <p:nvPr/>
        </p:nvGraphicFramePr>
        <p:xfrm>
          <a:off x="8328588" y="1658587"/>
          <a:ext cx="1092924" cy="112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231">
                  <a:extLst>
                    <a:ext uri="{9D8B030D-6E8A-4147-A177-3AD203B41FA5}">
                      <a16:colId xmlns:a16="http://schemas.microsoft.com/office/drawing/2014/main" val="1587632376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749266633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3802181957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1979340780"/>
                    </a:ext>
                  </a:extLst>
                </a:gridCol>
              </a:tblGrid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129878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10622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080497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68420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387770"/>
                  </a:ext>
                </a:extLst>
              </a:tr>
            </a:tbl>
          </a:graphicData>
        </a:graphic>
      </p:graphicFrame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71000C0-3EC3-12C9-ACB3-48E155D5877F}"/>
              </a:ext>
            </a:extLst>
          </p:cNvPr>
          <p:cNvSpPr/>
          <p:nvPr/>
        </p:nvSpPr>
        <p:spPr>
          <a:xfrm>
            <a:off x="7923412" y="3876112"/>
            <a:ext cx="1649308" cy="694987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rPr>
              <a:t>Clasificación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Gill Sans MT" panose="020B0502020104020203" pitchFamily="34" charset="77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5474767-193D-65FD-AEF3-D8A7FBABD2C0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4256920" y="4218984"/>
            <a:ext cx="3666495" cy="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eft Brace 15">
            <a:extLst>
              <a:ext uri="{FF2B5EF4-FFF2-40B4-BE49-F238E27FC236}">
                <a16:creationId xmlns:a16="http://schemas.microsoft.com/office/drawing/2014/main" id="{14E4C6F9-F02C-C7BA-7254-F4F9C15114A0}"/>
              </a:ext>
            </a:extLst>
          </p:cNvPr>
          <p:cNvSpPr/>
          <p:nvPr/>
        </p:nvSpPr>
        <p:spPr>
          <a:xfrm rot="16200000">
            <a:off x="8707050" y="2470055"/>
            <a:ext cx="91967" cy="797785"/>
          </a:xfrm>
          <a:prstGeom prst="leftBrace">
            <a:avLst/>
          </a:prstGeom>
          <a:ln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63E4A41-C3EE-BF82-AF67-4B4A45029536}"/>
              </a:ext>
            </a:extLst>
          </p:cNvPr>
          <p:cNvCxnSpPr>
            <a:cxnSpLocks/>
          </p:cNvCxnSpPr>
          <p:nvPr/>
        </p:nvCxnSpPr>
        <p:spPr>
          <a:xfrm flipH="1">
            <a:off x="8750928" y="4569578"/>
            <a:ext cx="2862" cy="64800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352CD09F-DB4B-AB1D-7784-70B6D765EB06}"/>
              </a:ext>
            </a:extLst>
          </p:cNvPr>
          <p:cNvGraphicFramePr>
            <a:graphicFrameLocks noGrp="1"/>
          </p:cNvGraphicFramePr>
          <p:nvPr/>
        </p:nvGraphicFramePr>
        <p:xfrm>
          <a:off x="8606527" y="5203908"/>
          <a:ext cx="273231" cy="112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231">
                  <a:extLst>
                    <a:ext uri="{9D8B030D-6E8A-4147-A177-3AD203B41FA5}">
                      <a16:colId xmlns:a16="http://schemas.microsoft.com/office/drawing/2014/main" val="1979340780"/>
                    </a:ext>
                  </a:extLst>
                </a:gridCol>
              </a:tblGrid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129878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10622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080497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68420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387770"/>
                  </a:ext>
                </a:extLst>
              </a:tr>
            </a:tbl>
          </a:graphicData>
        </a:graphic>
      </p:graphicFrame>
      <p:sp>
        <p:nvSpPr>
          <p:cNvPr id="19" name="Oval 18">
            <a:extLst>
              <a:ext uri="{FF2B5EF4-FFF2-40B4-BE49-F238E27FC236}">
                <a16:creationId xmlns:a16="http://schemas.microsoft.com/office/drawing/2014/main" id="{B0C48DAC-E58D-B323-5B1C-6BB2C4E003A8}"/>
              </a:ext>
            </a:extLst>
          </p:cNvPr>
          <p:cNvSpPr/>
          <p:nvPr/>
        </p:nvSpPr>
        <p:spPr>
          <a:xfrm>
            <a:off x="8537901" y="5043798"/>
            <a:ext cx="410476" cy="146341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699A000-BC15-18AF-F59F-69A300272DAA}"/>
              </a:ext>
            </a:extLst>
          </p:cNvPr>
          <p:cNvSpPr/>
          <p:nvPr/>
        </p:nvSpPr>
        <p:spPr>
          <a:xfrm>
            <a:off x="9553744" y="5617533"/>
            <a:ext cx="324000" cy="32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600" dirty="0">
              <a:latin typeface="Gill Sans MT" panose="020B0502020104020203" pitchFamily="34" charset="77"/>
            </a:endParaRPr>
          </a:p>
        </p:txBody>
      </p: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3E0BFD7C-523B-7F36-8001-7ECD282ABA94}"/>
              </a:ext>
            </a:extLst>
          </p:cNvPr>
          <p:cNvCxnSpPr>
            <a:cxnSpLocks/>
            <a:stCxn id="13" idx="3"/>
            <a:endCxn id="20" idx="0"/>
          </p:cNvCxnSpPr>
          <p:nvPr/>
        </p:nvCxnSpPr>
        <p:spPr>
          <a:xfrm>
            <a:off x="9421512" y="2223347"/>
            <a:ext cx="294232" cy="3394186"/>
          </a:xfrm>
          <a:prstGeom prst="bentConnector2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E6F6BB2-CFB0-1ADD-AFC7-B5C262751AA4}"/>
              </a:ext>
            </a:extLst>
          </p:cNvPr>
          <p:cNvCxnSpPr>
            <a:cxnSpLocks/>
            <a:stCxn id="19" idx="6"/>
            <a:endCxn id="20" idx="2"/>
          </p:cNvCxnSpPr>
          <p:nvPr/>
        </p:nvCxnSpPr>
        <p:spPr>
          <a:xfrm>
            <a:off x="8948378" y="5775503"/>
            <a:ext cx="605367" cy="403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773F89C-129A-644C-DF64-8CFDA8D3365A}"/>
              </a:ext>
            </a:extLst>
          </p:cNvPr>
          <p:cNvCxnSpPr>
            <a:cxnSpLocks/>
          </p:cNvCxnSpPr>
          <p:nvPr/>
        </p:nvCxnSpPr>
        <p:spPr>
          <a:xfrm>
            <a:off x="9719209" y="5940267"/>
            <a:ext cx="0" cy="289754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52A092CF-EE2C-F0BD-AD24-35D96D09EC78}"/>
              </a:ext>
            </a:extLst>
          </p:cNvPr>
          <p:cNvSpPr txBox="1"/>
          <p:nvPr/>
        </p:nvSpPr>
        <p:spPr>
          <a:xfrm>
            <a:off x="9164650" y="6226055"/>
            <a:ext cx="1047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Accuracy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11CF7D-796D-76DC-720B-1A0413A91EE7}"/>
              </a:ext>
            </a:extLst>
          </p:cNvPr>
          <p:cNvSpPr txBox="1"/>
          <p:nvPr/>
        </p:nvSpPr>
        <p:spPr>
          <a:xfrm>
            <a:off x="6258929" y="5482966"/>
            <a:ext cx="21675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err="1">
                <a:latin typeface="Gill Sans MT" panose="020B0502020104020203" pitchFamily="34" charset="77"/>
              </a:rPr>
              <a:t>Clasificación</a:t>
            </a:r>
            <a:r>
              <a:rPr lang="en-US" dirty="0">
                <a:latin typeface="Gill Sans MT" panose="020B0502020104020203" pitchFamily="34" charset="77"/>
              </a:rPr>
              <a:t> del </a:t>
            </a:r>
          </a:p>
          <a:p>
            <a:pPr algn="r"/>
            <a:r>
              <a:rPr lang="en-US" dirty="0">
                <a:latin typeface="Gill Sans MT" panose="020B0502020104020203" pitchFamily="34" charset="77"/>
              </a:rPr>
              <a:t>Conjunto de </a:t>
            </a:r>
            <a:r>
              <a:rPr lang="en-US" dirty="0" err="1">
                <a:latin typeface="Gill Sans MT" panose="020B0502020104020203" pitchFamily="34" charset="77"/>
              </a:rPr>
              <a:t>Pruebas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4D60321-64C9-AC5F-C4D0-4D95FC37F777}"/>
              </a:ext>
            </a:extLst>
          </p:cNvPr>
          <p:cNvSpPr txBox="1"/>
          <p:nvPr/>
        </p:nvSpPr>
        <p:spPr>
          <a:xfrm>
            <a:off x="9532299" y="5318121"/>
            <a:ext cx="3946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Gill Sans MT" panose="020B0502020104020203" pitchFamily="34" charset="77"/>
              </a:rPr>
              <a:t>-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4E3AABE-3016-88F5-9EA3-7AEFF85FB1FF}"/>
              </a:ext>
            </a:extLst>
          </p:cNvPr>
          <p:cNvSpPr txBox="1"/>
          <p:nvPr/>
        </p:nvSpPr>
        <p:spPr>
          <a:xfrm>
            <a:off x="8294573" y="1856593"/>
            <a:ext cx="851515" cy="21544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800" dirty="0">
                <a:latin typeface="Gill Sans MT" panose="020B0502020104020203" pitchFamily="34" charset="77"/>
              </a:rPr>
              <a:t>p </a:t>
            </a:r>
            <a:r>
              <a:rPr lang="en-US" sz="800" dirty="0" err="1">
                <a:latin typeface="Gill Sans MT" panose="020B0502020104020203" pitchFamily="34" charset="77"/>
              </a:rPr>
              <a:t>características</a:t>
            </a:r>
            <a:endParaRPr lang="en-US" sz="800" dirty="0">
              <a:latin typeface="Gill Sans MT" panose="020B0502020104020203" pitchFamily="34" charset="77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9510719-19FD-7EEC-5BAB-887EBA84348A}"/>
              </a:ext>
            </a:extLst>
          </p:cNvPr>
          <p:cNvCxnSpPr>
            <a:cxnSpLocks/>
          </p:cNvCxnSpPr>
          <p:nvPr/>
        </p:nvCxnSpPr>
        <p:spPr>
          <a:xfrm flipV="1">
            <a:off x="2462542" y="1336736"/>
            <a:ext cx="0" cy="1790107"/>
          </a:xfrm>
          <a:prstGeom prst="straightConnector1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5E97E019-504E-A1E1-7968-AC650FAD2C80}"/>
              </a:ext>
            </a:extLst>
          </p:cNvPr>
          <p:cNvGraphicFramePr>
            <a:graphicFrameLocks noGrp="1"/>
          </p:cNvGraphicFramePr>
          <p:nvPr/>
        </p:nvGraphicFramePr>
        <p:xfrm>
          <a:off x="2899351" y="1093704"/>
          <a:ext cx="1092924" cy="2033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231">
                  <a:extLst>
                    <a:ext uri="{9D8B030D-6E8A-4147-A177-3AD203B41FA5}">
                      <a16:colId xmlns:a16="http://schemas.microsoft.com/office/drawing/2014/main" val="1587632376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1429024220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3802181957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1979340780"/>
                    </a:ext>
                  </a:extLst>
                </a:gridCol>
              </a:tblGrid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129878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10622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622095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080497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6197139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68420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38777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607525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590238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33A9D332-432F-6C5E-272D-445BCA7EE708}"/>
              </a:ext>
            </a:extLst>
          </p:cNvPr>
          <p:cNvSpPr txBox="1"/>
          <p:nvPr/>
        </p:nvSpPr>
        <p:spPr>
          <a:xfrm rot="16200000">
            <a:off x="1826315" y="2042544"/>
            <a:ext cx="127246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N </a:t>
            </a:r>
            <a:r>
              <a:rPr lang="en-US" dirty="0" err="1">
                <a:latin typeface="Gill Sans MT" panose="020B0502020104020203" pitchFamily="34" charset="77"/>
              </a:rPr>
              <a:t>muestras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3E2E483-DDCF-9AF9-6E65-FF32222AA456}"/>
              </a:ext>
            </a:extLst>
          </p:cNvPr>
          <p:cNvSpPr txBox="1"/>
          <p:nvPr/>
        </p:nvSpPr>
        <p:spPr>
          <a:xfrm>
            <a:off x="2883709" y="1330227"/>
            <a:ext cx="851515" cy="21544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800" dirty="0">
                <a:latin typeface="Gill Sans MT" panose="020B0502020104020203" pitchFamily="34" charset="77"/>
              </a:rPr>
              <a:t>p </a:t>
            </a:r>
            <a:r>
              <a:rPr lang="en-US" sz="800" dirty="0" err="1">
                <a:latin typeface="Gill Sans MT" panose="020B0502020104020203" pitchFamily="34" charset="77"/>
              </a:rPr>
              <a:t>características</a:t>
            </a:r>
            <a:endParaRPr lang="en-US" sz="800" dirty="0">
              <a:latin typeface="Gill Sans MT" panose="020B0502020104020203" pitchFamily="34" charset="77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779405A5-D4B4-D969-03E6-A62C6C31875E}"/>
              </a:ext>
            </a:extLst>
          </p:cNvPr>
          <p:cNvSpPr/>
          <p:nvPr/>
        </p:nvSpPr>
        <p:spPr>
          <a:xfrm>
            <a:off x="2607609" y="3860674"/>
            <a:ext cx="1649308" cy="694987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rPr>
              <a:t>Entrenamiento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rPr>
              <a:t> de </a:t>
            </a: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rPr>
              <a:t>Clasificador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Gill Sans MT" panose="020B0502020104020203" pitchFamily="34" charset="77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DFB7035-5FC5-E621-6E05-392D9BA8EA8D}"/>
              </a:ext>
            </a:extLst>
          </p:cNvPr>
          <p:cNvCxnSpPr>
            <a:cxnSpLocks/>
          </p:cNvCxnSpPr>
          <p:nvPr/>
        </p:nvCxnSpPr>
        <p:spPr>
          <a:xfrm>
            <a:off x="3301211" y="3392929"/>
            <a:ext cx="339" cy="46800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Left Brace 33">
            <a:extLst>
              <a:ext uri="{FF2B5EF4-FFF2-40B4-BE49-F238E27FC236}">
                <a16:creationId xmlns:a16="http://schemas.microsoft.com/office/drawing/2014/main" id="{666E50E7-4D36-620B-2521-741C9059C7D1}"/>
              </a:ext>
            </a:extLst>
          </p:cNvPr>
          <p:cNvSpPr/>
          <p:nvPr/>
        </p:nvSpPr>
        <p:spPr>
          <a:xfrm rot="16200000">
            <a:off x="3246836" y="2891857"/>
            <a:ext cx="135504" cy="750376"/>
          </a:xfrm>
          <a:prstGeom prst="leftBrace">
            <a:avLst>
              <a:gd name="adj1" fmla="val 8333"/>
              <a:gd name="adj2" fmla="val 49144"/>
            </a:avLst>
          </a:prstGeom>
          <a:ln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F270A78-436B-8D3A-F1D6-70AB6AE6C4DF}"/>
              </a:ext>
            </a:extLst>
          </p:cNvPr>
          <p:cNvCxnSpPr>
            <a:cxnSpLocks/>
          </p:cNvCxnSpPr>
          <p:nvPr/>
        </p:nvCxnSpPr>
        <p:spPr>
          <a:xfrm>
            <a:off x="3849922" y="3126597"/>
            <a:ext cx="0" cy="746188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B1BC020A-12B5-2EB2-B43E-453586D63761}"/>
              </a:ext>
            </a:extLst>
          </p:cNvPr>
          <p:cNvSpPr txBox="1"/>
          <p:nvPr/>
        </p:nvSpPr>
        <p:spPr>
          <a:xfrm>
            <a:off x="4685295" y="4182851"/>
            <a:ext cx="2780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parámetros</a:t>
            </a:r>
            <a:r>
              <a:rPr lang="en-US" dirty="0">
                <a:latin typeface="Gill Sans MT" panose="020B0502020104020203" pitchFamily="34" charset="77"/>
              </a:rPr>
              <a:t> del </a:t>
            </a:r>
            <a:r>
              <a:rPr lang="en-US" dirty="0" err="1">
                <a:latin typeface="Gill Sans MT" panose="020B0502020104020203" pitchFamily="34" charset="77"/>
              </a:rPr>
              <a:t>clasificador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33718EA-8E40-E6E8-4B91-B408BE043DA6}"/>
              </a:ext>
            </a:extLst>
          </p:cNvPr>
          <p:cNvSpPr/>
          <p:nvPr/>
        </p:nvSpPr>
        <p:spPr>
          <a:xfrm>
            <a:off x="9080142" y="1506324"/>
            <a:ext cx="410476" cy="146341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6AC6A5F-EC9D-30FD-7B19-ADFB933AE9E3}"/>
              </a:ext>
            </a:extLst>
          </p:cNvPr>
          <p:cNvSpPr txBox="1"/>
          <p:nvPr/>
        </p:nvSpPr>
        <p:spPr>
          <a:xfrm>
            <a:off x="7188761" y="3037895"/>
            <a:ext cx="15071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err="1">
                <a:solidFill>
                  <a:srgbClr val="FF0000"/>
                </a:solidFill>
                <a:latin typeface="Gill Sans MT" panose="020B0502020104020203" pitchFamily="34" charset="77"/>
              </a:rPr>
              <a:t>sólo</a:t>
            </a:r>
            <a:endParaRPr lang="en-US" dirty="0">
              <a:solidFill>
                <a:srgbClr val="FF0000"/>
              </a:solidFill>
              <a:latin typeface="Gill Sans MT" panose="020B0502020104020203" pitchFamily="34" charset="77"/>
            </a:endParaRPr>
          </a:p>
          <a:p>
            <a:pPr algn="r"/>
            <a:r>
              <a:rPr lang="en-US" dirty="0" err="1">
                <a:solidFill>
                  <a:srgbClr val="FF0000"/>
                </a:solidFill>
                <a:latin typeface="Gill Sans MT" panose="020B0502020104020203" pitchFamily="34" charset="77"/>
              </a:rPr>
              <a:t>características</a:t>
            </a:r>
            <a:endParaRPr lang="en-US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0DAAECF-A87B-4534-08C5-FA69F58A2A8C}"/>
              </a:ext>
            </a:extLst>
          </p:cNvPr>
          <p:cNvSpPr txBox="1"/>
          <p:nvPr/>
        </p:nvSpPr>
        <p:spPr>
          <a:xfrm>
            <a:off x="9906119" y="3876111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9300"/>
                </a:solidFill>
                <a:latin typeface="Gill Sans MT" panose="020B0502020104020203" pitchFamily="34" charset="77"/>
              </a:rPr>
              <a:t>y</a:t>
            </a:r>
            <a:r>
              <a:rPr lang="en-US" baseline="-250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t</a:t>
            </a:r>
            <a:endParaRPr lang="en-US" baseline="-25000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F9C55E1-2AD9-AF98-D393-9EA0B76DA431}"/>
              </a:ext>
            </a:extLst>
          </p:cNvPr>
          <p:cNvSpPr txBox="1"/>
          <p:nvPr/>
        </p:nvSpPr>
        <p:spPr>
          <a:xfrm>
            <a:off x="9118220" y="5364286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00B050"/>
                </a:solidFill>
                <a:latin typeface="Gill Sans MT" panose="020B0502020104020203" pitchFamily="34" charset="77"/>
              </a:rPr>
              <a:t>y</a:t>
            </a:r>
            <a:r>
              <a:rPr lang="en-US" baseline="-25000" dirty="0" err="1">
                <a:solidFill>
                  <a:srgbClr val="00B050"/>
                </a:solidFill>
                <a:latin typeface="Gill Sans MT" panose="020B0502020104020203" pitchFamily="34" charset="77"/>
              </a:rPr>
              <a:t>s</a:t>
            </a:r>
            <a:endParaRPr lang="en-US" baseline="-25000" dirty="0">
              <a:solidFill>
                <a:srgbClr val="00B050"/>
              </a:solidFill>
              <a:latin typeface="Gill Sans MT" panose="020B0502020104020203" pitchFamily="34" charset="7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459EF2A-DEE3-5569-E522-BDA2A5B09D47}"/>
              </a:ext>
            </a:extLst>
          </p:cNvPr>
          <p:cNvSpPr txBox="1"/>
          <p:nvPr/>
        </p:nvSpPr>
        <p:spPr>
          <a:xfrm>
            <a:off x="9091306" y="1055801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9300"/>
                </a:solidFill>
                <a:latin typeface="Gill Sans MT" panose="020B0502020104020203" pitchFamily="34" charset="77"/>
              </a:rPr>
              <a:t>y</a:t>
            </a:r>
            <a:r>
              <a:rPr lang="en-US" baseline="-250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t</a:t>
            </a:r>
            <a:endParaRPr lang="en-US" baseline="-25000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180C789-88B4-62A4-AB20-7F0CB9EA1BCA}"/>
              </a:ext>
            </a:extLst>
          </p:cNvPr>
          <p:cNvSpPr txBox="1"/>
          <p:nvPr/>
        </p:nvSpPr>
        <p:spPr>
          <a:xfrm>
            <a:off x="8486290" y="1055801"/>
            <a:ext cx="39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9300"/>
                </a:solidFill>
                <a:latin typeface="Gill Sans MT" panose="020B0502020104020203" pitchFamily="34" charset="77"/>
              </a:rPr>
              <a:t>X</a:t>
            </a:r>
            <a:r>
              <a:rPr lang="en-US" baseline="-250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t</a:t>
            </a:r>
            <a:endParaRPr lang="en-US" baseline="-25000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B405279-90D6-2B13-6F26-F5EEDB2AB58A}"/>
              </a:ext>
            </a:extLst>
          </p:cNvPr>
          <p:cNvSpPr txBox="1"/>
          <p:nvPr/>
        </p:nvSpPr>
        <p:spPr>
          <a:xfrm>
            <a:off x="8713819" y="3148581"/>
            <a:ext cx="39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9300"/>
                </a:solidFill>
                <a:latin typeface="Gill Sans MT" panose="020B0502020104020203" pitchFamily="34" charset="77"/>
              </a:rPr>
              <a:t>X</a:t>
            </a:r>
            <a:r>
              <a:rPr lang="en-US" baseline="-250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t</a:t>
            </a:r>
            <a:endParaRPr lang="en-US" baseline="-25000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EDEA940-48E1-6642-E400-1D3926D1E857}"/>
              </a:ext>
            </a:extLst>
          </p:cNvPr>
          <p:cNvSpPr txBox="1"/>
          <p:nvPr/>
        </p:nvSpPr>
        <p:spPr>
          <a:xfrm>
            <a:off x="8742528" y="4628968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00B050"/>
                </a:solidFill>
                <a:latin typeface="Gill Sans MT" panose="020B0502020104020203" pitchFamily="34" charset="77"/>
              </a:rPr>
              <a:t>y</a:t>
            </a:r>
            <a:r>
              <a:rPr lang="en-US" baseline="-25000" dirty="0" err="1">
                <a:solidFill>
                  <a:srgbClr val="00B050"/>
                </a:solidFill>
                <a:latin typeface="Gill Sans MT" panose="020B0502020104020203" pitchFamily="34" charset="77"/>
              </a:rPr>
              <a:t>s</a:t>
            </a:r>
            <a:endParaRPr lang="en-US" baseline="-25000" dirty="0">
              <a:solidFill>
                <a:srgbClr val="00B050"/>
              </a:solidFill>
              <a:latin typeface="Gill Sans MT" panose="020B0502020104020203" pitchFamily="34" charset="7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2ECFA3D-3B8B-A17E-234D-15AE71A2D604}"/>
              </a:ext>
            </a:extLst>
          </p:cNvPr>
          <p:cNvSpPr txBox="1"/>
          <p:nvPr/>
        </p:nvSpPr>
        <p:spPr>
          <a:xfrm>
            <a:off x="3797350" y="3369764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  <a:latin typeface="Gill Sans MT" panose="020B0502020104020203" pitchFamily="34" charset="77"/>
              </a:rPr>
              <a:t>y</a:t>
            </a:r>
            <a:endParaRPr lang="en-US" baseline="-25000" dirty="0">
              <a:solidFill>
                <a:srgbClr val="0096FF"/>
              </a:solidFill>
              <a:latin typeface="Gill Sans MT" panose="020B0502020104020203" pitchFamily="34" charset="7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C406212-AAD4-9718-D3E4-27B74DD83923}"/>
              </a:ext>
            </a:extLst>
          </p:cNvPr>
          <p:cNvSpPr txBox="1"/>
          <p:nvPr/>
        </p:nvSpPr>
        <p:spPr>
          <a:xfrm>
            <a:off x="2908231" y="3384997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  <a:latin typeface="Gill Sans MT" panose="020B0502020104020203" pitchFamily="34" charset="77"/>
              </a:rPr>
              <a:t>X</a:t>
            </a:r>
            <a:endParaRPr lang="en-US" baseline="-25000" dirty="0">
              <a:solidFill>
                <a:srgbClr val="0096FF"/>
              </a:solidFill>
              <a:latin typeface="Gill Sans MT" panose="020B0502020104020203" pitchFamily="34" charset="7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89480C7-A029-ED10-65AD-AAD8E303456A}"/>
              </a:ext>
            </a:extLst>
          </p:cNvPr>
          <p:cNvSpPr txBox="1"/>
          <p:nvPr/>
        </p:nvSpPr>
        <p:spPr>
          <a:xfrm>
            <a:off x="3694064" y="687690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  <a:latin typeface="Gill Sans MT" panose="020B0502020104020203" pitchFamily="34" charset="77"/>
              </a:rPr>
              <a:t>y</a:t>
            </a:r>
            <a:endParaRPr lang="en-US" baseline="-25000" dirty="0">
              <a:solidFill>
                <a:srgbClr val="0096FF"/>
              </a:solidFill>
              <a:latin typeface="Gill Sans MT" panose="020B0502020104020203" pitchFamily="34" charset="7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E918580-F818-5573-F040-488B2AE659EB}"/>
              </a:ext>
            </a:extLst>
          </p:cNvPr>
          <p:cNvSpPr txBox="1"/>
          <p:nvPr/>
        </p:nvSpPr>
        <p:spPr>
          <a:xfrm>
            <a:off x="3211345" y="702923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  <a:latin typeface="Gill Sans MT" panose="020B0502020104020203" pitchFamily="34" charset="77"/>
              </a:rPr>
              <a:t>X</a:t>
            </a:r>
            <a:endParaRPr lang="en-US" baseline="-25000" dirty="0">
              <a:solidFill>
                <a:srgbClr val="0096FF"/>
              </a:solidFill>
              <a:latin typeface="Gill Sans MT" panose="020B0502020104020203" pitchFamily="34" charset="7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602F9FB-D451-2380-1E5C-2126CAE5B9B5}"/>
              </a:ext>
            </a:extLst>
          </p:cNvPr>
          <p:cNvSpPr txBox="1"/>
          <p:nvPr/>
        </p:nvSpPr>
        <p:spPr>
          <a:xfrm>
            <a:off x="2098038" y="268159"/>
            <a:ext cx="2808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  <a:latin typeface="Gill Sans MT" panose="020B0502020104020203" pitchFamily="34" charset="77"/>
              </a:rPr>
              <a:t>Conjunto de </a:t>
            </a:r>
            <a:r>
              <a:rPr lang="en-US" dirty="0" err="1">
                <a:solidFill>
                  <a:srgbClr val="0096FF"/>
                </a:solidFill>
                <a:latin typeface="Gill Sans MT" panose="020B0502020104020203" pitchFamily="34" charset="77"/>
              </a:rPr>
              <a:t>Entrenamiento</a:t>
            </a:r>
            <a:endParaRPr lang="en-US" dirty="0">
              <a:solidFill>
                <a:srgbClr val="0096FF"/>
              </a:solidFill>
              <a:latin typeface="Gill Sans MT" panose="020B0502020104020203" pitchFamily="34" charset="7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C393900-2DCB-9871-ED89-E072384A20C1}"/>
              </a:ext>
            </a:extLst>
          </p:cNvPr>
          <p:cNvSpPr txBox="1"/>
          <p:nvPr/>
        </p:nvSpPr>
        <p:spPr>
          <a:xfrm>
            <a:off x="7803337" y="278598"/>
            <a:ext cx="2167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9300"/>
                </a:solidFill>
                <a:latin typeface="Gill Sans MT" panose="020B0502020104020203" pitchFamily="34" charset="77"/>
              </a:rPr>
              <a:t>Conjunto de </a:t>
            </a:r>
            <a:r>
              <a:rPr lang="en-US" dirty="0" err="1">
                <a:solidFill>
                  <a:srgbClr val="FF9300"/>
                </a:solidFill>
                <a:latin typeface="Gill Sans MT" panose="020B0502020104020203" pitchFamily="34" charset="77"/>
              </a:rPr>
              <a:t>Pruebas</a:t>
            </a:r>
            <a:endParaRPr lang="en-US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7704055-40BB-00E1-56B3-097ED1070958}"/>
              </a:ext>
            </a:extLst>
          </p:cNvPr>
          <p:cNvSpPr/>
          <p:nvPr/>
        </p:nvSpPr>
        <p:spPr>
          <a:xfrm>
            <a:off x="7699363" y="4366233"/>
            <a:ext cx="431800" cy="432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1360297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/>
          <p:cNvSpPr/>
          <p:nvPr/>
        </p:nvSpPr>
        <p:spPr>
          <a:xfrm>
            <a:off x="4556670" y="342900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" name="Oval 6"/>
          <p:cNvSpPr/>
          <p:nvPr/>
        </p:nvSpPr>
        <p:spPr>
          <a:xfrm>
            <a:off x="4484662" y="4005064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" name="Oval 7"/>
          <p:cNvSpPr/>
          <p:nvPr/>
        </p:nvSpPr>
        <p:spPr>
          <a:xfrm>
            <a:off x="4412654" y="3717032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" name="Oval 8"/>
          <p:cNvSpPr/>
          <p:nvPr/>
        </p:nvSpPr>
        <p:spPr>
          <a:xfrm>
            <a:off x="4988718" y="3501008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" name="Oval 9"/>
          <p:cNvSpPr/>
          <p:nvPr/>
        </p:nvSpPr>
        <p:spPr>
          <a:xfrm>
            <a:off x="4772694" y="4365104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4916710" y="3861048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5276750" y="4077072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5204742" y="4653136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5132734" y="4365104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08798" y="414908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5492774" y="5013176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5636790" y="450912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4700686" y="3717032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4484662" y="4653136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4412654" y="4365104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4988718" y="414908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4772694" y="5013176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4916710" y="4725144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42" name="Group 41"/>
          <p:cNvGrpSpPr/>
          <p:nvPr/>
        </p:nvGrpSpPr>
        <p:grpSpPr>
          <a:xfrm rot="2553764">
            <a:off x="5542359" y="2623150"/>
            <a:ext cx="1512168" cy="1800200"/>
            <a:chOff x="4572000" y="3005336"/>
            <a:chExt cx="1512168" cy="1800200"/>
          </a:xfrm>
          <a:solidFill>
            <a:srgbClr val="0000FF"/>
          </a:solidFill>
        </p:grpSpPr>
        <p:sp>
          <p:nvSpPr>
            <p:cNvPr id="24" name="Oval 23"/>
            <p:cNvSpPr/>
            <p:nvPr/>
          </p:nvSpPr>
          <p:spPr>
            <a:xfrm>
              <a:off x="4716016" y="300533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5" name="Oval 24"/>
            <p:cNvSpPr/>
            <p:nvPr/>
          </p:nvSpPr>
          <p:spPr>
            <a:xfrm>
              <a:off x="4644008" y="358140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6" name="Oval 25"/>
            <p:cNvSpPr/>
            <p:nvPr/>
          </p:nvSpPr>
          <p:spPr>
            <a:xfrm>
              <a:off x="4572000" y="329336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7" name="Oval 26"/>
            <p:cNvSpPr/>
            <p:nvPr/>
          </p:nvSpPr>
          <p:spPr>
            <a:xfrm>
              <a:off x="5148064" y="307734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8" name="Oval 27"/>
            <p:cNvSpPr/>
            <p:nvPr/>
          </p:nvSpPr>
          <p:spPr>
            <a:xfrm>
              <a:off x="493204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9" name="Oval 28"/>
            <p:cNvSpPr/>
            <p:nvPr/>
          </p:nvSpPr>
          <p:spPr>
            <a:xfrm>
              <a:off x="5076056" y="343738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0" name="Oval 29"/>
            <p:cNvSpPr/>
            <p:nvPr/>
          </p:nvSpPr>
          <p:spPr>
            <a:xfrm>
              <a:off x="5436096" y="365340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1" name="Oval 30"/>
            <p:cNvSpPr/>
            <p:nvPr/>
          </p:nvSpPr>
          <p:spPr>
            <a:xfrm>
              <a:off x="5364088" y="422947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2" name="Oval 31"/>
            <p:cNvSpPr/>
            <p:nvPr/>
          </p:nvSpPr>
          <p:spPr>
            <a:xfrm>
              <a:off x="529208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3" name="Oval 32"/>
            <p:cNvSpPr/>
            <p:nvPr/>
          </p:nvSpPr>
          <p:spPr>
            <a:xfrm>
              <a:off x="5868144" y="372541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4" name="Oval 33"/>
            <p:cNvSpPr/>
            <p:nvPr/>
          </p:nvSpPr>
          <p:spPr>
            <a:xfrm>
              <a:off x="5652120" y="458951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5" name="Oval 34"/>
            <p:cNvSpPr/>
            <p:nvPr/>
          </p:nvSpPr>
          <p:spPr>
            <a:xfrm>
              <a:off x="5796136" y="408545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6" name="Oval 35"/>
            <p:cNvSpPr/>
            <p:nvPr/>
          </p:nvSpPr>
          <p:spPr>
            <a:xfrm>
              <a:off x="4860032" y="329336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7" name="Oval 36"/>
            <p:cNvSpPr/>
            <p:nvPr/>
          </p:nvSpPr>
          <p:spPr>
            <a:xfrm>
              <a:off x="4644008" y="422947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8" name="Oval 37"/>
            <p:cNvSpPr/>
            <p:nvPr/>
          </p:nvSpPr>
          <p:spPr>
            <a:xfrm>
              <a:off x="457200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9" name="Oval 38"/>
            <p:cNvSpPr/>
            <p:nvPr/>
          </p:nvSpPr>
          <p:spPr>
            <a:xfrm>
              <a:off x="5148064" y="372541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40" name="Oval 39"/>
            <p:cNvSpPr/>
            <p:nvPr/>
          </p:nvSpPr>
          <p:spPr>
            <a:xfrm>
              <a:off x="4932040" y="458951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41" name="Oval 40"/>
            <p:cNvSpPr/>
            <p:nvPr/>
          </p:nvSpPr>
          <p:spPr>
            <a:xfrm>
              <a:off x="5076056" y="430148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44" name="Oval 43"/>
          <p:cNvSpPr/>
          <p:nvPr/>
        </p:nvSpPr>
        <p:spPr>
          <a:xfrm>
            <a:off x="4799856" y="3068960"/>
            <a:ext cx="216024" cy="216024"/>
          </a:xfrm>
          <a:prstGeom prst="ellipse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D8156F2-C82F-FD43-8A1C-8273596590A4}"/>
              </a:ext>
            </a:extLst>
          </p:cNvPr>
          <p:cNvCxnSpPr>
            <a:cxnSpLocks/>
          </p:cNvCxnSpPr>
          <p:nvPr/>
        </p:nvCxnSpPr>
        <p:spPr>
          <a:xfrm>
            <a:off x="3314700" y="6032500"/>
            <a:ext cx="44831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41E843FC-6BE6-8849-84D5-1012D078AF4C}"/>
              </a:ext>
            </a:extLst>
          </p:cNvPr>
          <p:cNvSpPr txBox="1"/>
          <p:nvPr/>
        </p:nvSpPr>
        <p:spPr>
          <a:xfrm>
            <a:off x="5924822" y="6106240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x</a:t>
            </a:r>
            <a:r>
              <a:rPr lang="en-US" baseline="-25000" dirty="0">
                <a:latin typeface="Gill Sans MT" panose="020B0502020104020203" pitchFamily="34" charset="77"/>
              </a:rPr>
              <a:t>1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65A9D1C-4328-EE41-9395-4F22EB6D7FD2}"/>
              </a:ext>
            </a:extLst>
          </p:cNvPr>
          <p:cNvCxnSpPr>
            <a:cxnSpLocks/>
          </p:cNvCxnSpPr>
          <p:nvPr/>
        </p:nvCxnSpPr>
        <p:spPr>
          <a:xfrm flipV="1">
            <a:off x="3683013" y="1447800"/>
            <a:ext cx="0" cy="4927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7DED08F9-D038-EB43-AA2D-2E7AA0464B50}"/>
              </a:ext>
            </a:extLst>
          </p:cNvPr>
          <p:cNvSpPr txBox="1"/>
          <p:nvPr/>
        </p:nvSpPr>
        <p:spPr>
          <a:xfrm>
            <a:off x="3213463" y="3641164"/>
            <a:ext cx="385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x</a:t>
            </a:r>
            <a:r>
              <a:rPr lang="en-US" baseline="-25000" dirty="0"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53" name="Freeform 52">
            <a:extLst>
              <a:ext uri="{FF2B5EF4-FFF2-40B4-BE49-F238E27FC236}">
                <a16:creationId xmlns:a16="http://schemas.microsoft.com/office/drawing/2014/main" id="{F3A5A51B-EAB3-B541-84EC-7E0847AF0698}"/>
              </a:ext>
            </a:extLst>
          </p:cNvPr>
          <p:cNvSpPr/>
          <p:nvPr/>
        </p:nvSpPr>
        <p:spPr>
          <a:xfrm>
            <a:off x="5234296" y="2292412"/>
            <a:ext cx="2551809" cy="2808312"/>
          </a:xfrm>
          <a:custGeom>
            <a:avLst/>
            <a:gdLst>
              <a:gd name="connsiteX0" fmla="*/ 367409 w 2551809"/>
              <a:gd name="connsiteY0" fmla="*/ 0 h 4787900"/>
              <a:gd name="connsiteX1" fmla="*/ 24509 w 2551809"/>
              <a:gd name="connsiteY1" fmla="*/ 1854200 h 4787900"/>
              <a:gd name="connsiteX2" fmla="*/ 964309 w 2551809"/>
              <a:gd name="connsiteY2" fmla="*/ 3886200 h 4787900"/>
              <a:gd name="connsiteX3" fmla="*/ 2551809 w 2551809"/>
              <a:gd name="connsiteY3" fmla="*/ 4787900 h 4787900"/>
              <a:gd name="connsiteX4" fmla="*/ 2551809 w 2551809"/>
              <a:gd name="connsiteY4" fmla="*/ 4787900 h 4787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1809" h="4787900">
                <a:moveTo>
                  <a:pt x="367409" y="0"/>
                </a:moveTo>
                <a:cubicBezTo>
                  <a:pt x="146217" y="603250"/>
                  <a:pt x="-74974" y="1206500"/>
                  <a:pt x="24509" y="1854200"/>
                </a:cubicBezTo>
                <a:cubicBezTo>
                  <a:pt x="123992" y="2501900"/>
                  <a:pt x="543092" y="3397250"/>
                  <a:pt x="964309" y="3886200"/>
                </a:cubicBezTo>
                <a:cubicBezTo>
                  <a:pt x="1385526" y="4375150"/>
                  <a:pt x="2551809" y="4787900"/>
                  <a:pt x="2551809" y="4787900"/>
                </a:cubicBezTo>
                <a:lnTo>
                  <a:pt x="2551809" y="4787900"/>
                </a:lnTo>
              </a:path>
            </a:pathLst>
          </a:custGeom>
          <a:noFill/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9" name="Right Arrow 58">
            <a:extLst>
              <a:ext uri="{FF2B5EF4-FFF2-40B4-BE49-F238E27FC236}">
                <a16:creationId xmlns:a16="http://schemas.microsoft.com/office/drawing/2014/main" id="{31662BBA-26D5-0148-8A8D-C512FC72DCF1}"/>
              </a:ext>
            </a:extLst>
          </p:cNvPr>
          <p:cNvSpPr/>
          <p:nvPr/>
        </p:nvSpPr>
        <p:spPr>
          <a:xfrm rot="19800000">
            <a:off x="6875067" y="4505945"/>
            <a:ext cx="314072" cy="246454"/>
          </a:xfrm>
          <a:prstGeom prst="rightArrow">
            <a:avLst/>
          </a:prstGeom>
          <a:solidFill>
            <a:schemeClr val="bg2"/>
          </a:solidFill>
          <a:ln>
            <a:solidFill>
              <a:schemeClr val="tx2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Gill Sans MT" panose="020B0502020104020203" pitchFamily="34" charset="7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8C4C0A0-B05F-F544-ACDD-93C547A06151}"/>
              </a:ext>
            </a:extLst>
          </p:cNvPr>
          <p:cNvSpPr txBox="1"/>
          <p:nvPr/>
        </p:nvSpPr>
        <p:spPr>
          <a:xfrm rot="19800000">
            <a:off x="7141131" y="4294143"/>
            <a:ext cx="4555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Gill Sans MT" panose="020B0502020104020203" pitchFamily="34" charset="77"/>
                <a:cs typeface="Trebuchet MS"/>
              </a:rPr>
              <a:t>Blue</a:t>
            </a:r>
          </a:p>
        </p:txBody>
      </p:sp>
      <p:sp>
        <p:nvSpPr>
          <p:cNvPr id="61" name="Right Arrow 60">
            <a:extLst>
              <a:ext uri="{FF2B5EF4-FFF2-40B4-BE49-F238E27FC236}">
                <a16:creationId xmlns:a16="http://schemas.microsoft.com/office/drawing/2014/main" id="{1AB7EA6F-7213-D541-ADC6-6799FEB73B9E}"/>
              </a:ext>
            </a:extLst>
          </p:cNvPr>
          <p:cNvSpPr/>
          <p:nvPr/>
        </p:nvSpPr>
        <p:spPr>
          <a:xfrm rot="9000000">
            <a:off x="6437057" y="4840967"/>
            <a:ext cx="314072" cy="246454"/>
          </a:xfrm>
          <a:prstGeom prst="rightArrow">
            <a:avLst/>
          </a:prstGeom>
          <a:solidFill>
            <a:schemeClr val="bg2"/>
          </a:solidFill>
          <a:ln>
            <a:solidFill>
              <a:schemeClr val="tx2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Gill Sans MT" panose="020B0502020104020203" pitchFamily="34" charset="7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4685E87-A3A9-2042-AA13-2BC1F2F3D107}"/>
              </a:ext>
            </a:extLst>
          </p:cNvPr>
          <p:cNvSpPr txBox="1"/>
          <p:nvPr/>
        </p:nvSpPr>
        <p:spPr>
          <a:xfrm rot="19800000">
            <a:off x="6028893" y="5017958"/>
            <a:ext cx="4365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Red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56ABB486-3638-DA46-BFB4-6E2F9AD24A1A}"/>
              </a:ext>
            </a:extLst>
          </p:cNvPr>
          <p:cNvSpPr/>
          <p:nvPr/>
        </p:nvSpPr>
        <p:spPr>
          <a:xfrm>
            <a:off x="3972297" y="2057934"/>
            <a:ext cx="431800" cy="432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64" name="Right Arrow 63">
            <a:extLst>
              <a:ext uri="{FF2B5EF4-FFF2-40B4-BE49-F238E27FC236}">
                <a16:creationId xmlns:a16="http://schemas.microsoft.com/office/drawing/2014/main" id="{D8720ED6-093D-2848-9946-3BC5D0C31A40}"/>
              </a:ext>
            </a:extLst>
          </p:cNvPr>
          <p:cNvSpPr/>
          <p:nvPr/>
        </p:nvSpPr>
        <p:spPr>
          <a:xfrm rot="16200000">
            <a:off x="4735617" y="2632715"/>
            <a:ext cx="314072" cy="246454"/>
          </a:xfrm>
          <a:prstGeom prst="rightArrow">
            <a:avLst/>
          </a:prstGeom>
          <a:solidFill>
            <a:schemeClr val="bg2"/>
          </a:solidFill>
          <a:ln>
            <a:solidFill>
              <a:schemeClr val="tx2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Gill Sans MT" panose="020B0502020104020203" pitchFamily="34" charset="7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EBF7E16-4B54-5148-84EA-8DAC1624CF97}"/>
              </a:ext>
            </a:extLst>
          </p:cNvPr>
          <p:cNvSpPr txBox="1"/>
          <p:nvPr/>
        </p:nvSpPr>
        <p:spPr>
          <a:xfrm>
            <a:off x="4547623" y="2053978"/>
            <a:ext cx="7697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77"/>
                <a:cs typeface="Trebuchet MS"/>
              </a:rPr>
              <a:t>Classified</a:t>
            </a:r>
          </a:p>
          <a:p>
            <a:pPr algn="r"/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77"/>
                <a:cs typeface="Trebuchet MS"/>
              </a:rPr>
              <a:t>as </a:t>
            </a:r>
            <a:r>
              <a:rPr lang="en-US" sz="1200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Red</a:t>
            </a:r>
          </a:p>
        </p:txBody>
      </p:sp>
    </p:spTree>
    <p:extLst>
      <p:ext uri="{BB962C8B-B14F-4D97-AF65-F5344CB8AC3E}">
        <p14:creationId xmlns:p14="http://schemas.microsoft.com/office/powerpoint/2010/main" val="25501132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/>
          <p:cNvSpPr/>
          <p:nvPr/>
        </p:nvSpPr>
        <p:spPr>
          <a:xfrm>
            <a:off x="4799856" y="306896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D8156F2-C82F-FD43-8A1C-8273596590A4}"/>
              </a:ext>
            </a:extLst>
          </p:cNvPr>
          <p:cNvCxnSpPr>
            <a:cxnSpLocks/>
          </p:cNvCxnSpPr>
          <p:nvPr/>
        </p:nvCxnSpPr>
        <p:spPr>
          <a:xfrm>
            <a:off x="3314700" y="6032500"/>
            <a:ext cx="44831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41E843FC-6BE6-8849-84D5-1012D078AF4C}"/>
              </a:ext>
            </a:extLst>
          </p:cNvPr>
          <p:cNvSpPr txBox="1"/>
          <p:nvPr/>
        </p:nvSpPr>
        <p:spPr>
          <a:xfrm>
            <a:off x="5924822" y="6106240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x</a:t>
            </a:r>
            <a:r>
              <a:rPr lang="en-US" baseline="-25000" dirty="0">
                <a:latin typeface="Gill Sans MT" panose="020B0502020104020203" pitchFamily="34" charset="77"/>
              </a:rPr>
              <a:t>1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65A9D1C-4328-EE41-9395-4F22EB6D7FD2}"/>
              </a:ext>
            </a:extLst>
          </p:cNvPr>
          <p:cNvCxnSpPr>
            <a:cxnSpLocks/>
          </p:cNvCxnSpPr>
          <p:nvPr/>
        </p:nvCxnSpPr>
        <p:spPr>
          <a:xfrm flipV="1">
            <a:off x="3683013" y="1447800"/>
            <a:ext cx="0" cy="4927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7DED08F9-D038-EB43-AA2D-2E7AA0464B50}"/>
              </a:ext>
            </a:extLst>
          </p:cNvPr>
          <p:cNvSpPr txBox="1"/>
          <p:nvPr/>
        </p:nvSpPr>
        <p:spPr>
          <a:xfrm>
            <a:off x="3213463" y="3641164"/>
            <a:ext cx="385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x</a:t>
            </a:r>
            <a:r>
              <a:rPr lang="en-US" baseline="-25000" dirty="0"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53" name="Freeform 52">
            <a:extLst>
              <a:ext uri="{FF2B5EF4-FFF2-40B4-BE49-F238E27FC236}">
                <a16:creationId xmlns:a16="http://schemas.microsoft.com/office/drawing/2014/main" id="{F3A5A51B-EAB3-B541-84EC-7E0847AF0698}"/>
              </a:ext>
            </a:extLst>
          </p:cNvPr>
          <p:cNvSpPr/>
          <p:nvPr/>
        </p:nvSpPr>
        <p:spPr>
          <a:xfrm>
            <a:off x="5234296" y="2292412"/>
            <a:ext cx="2551809" cy="2808312"/>
          </a:xfrm>
          <a:custGeom>
            <a:avLst/>
            <a:gdLst>
              <a:gd name="connsiteX0" fmla="*/ 367409 w 2551809"/>
              <a:gd name="connsiteY0" fmla="*/ 0 h 4787900"/>
              <a:gd name="connsiteX1" fmla="*/ 24509 w 2551809"/>
              <a:gd name="connsiteY1" fmla="*/ 1854200 h 4787900"/>
              <a:gd name="connsiteX2" fmla="*/ 964309 w 2551809"/>
              <a:gd name="connsiteY2" fmla="*/ 3886200 h 4787900"/>
              <a:gd name="connsiteX3" fmla="*/ 2551809 w 2551809"/>
              <a:gd name="connsiteY3" fmla="*/ 4787900 h 4787900"/>
              <a:gd name="connsiteX4" fmla="*/ 2551809 w 2551809"/>
              <a:gd name="connsiteY4" fmla="*/ 4787900 h 4787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1809" h="4787900">
                <a:moveTo>
                  <a:pt x="367409" y="0"/>
                </a:moveTo>
                <a:cubicBezTo>
                  <a:pt x="146217" y="603250"/>
                  <a:pt x="-74974" y="1206500"/>
                  <a:pt x="24509" y="1854200"/>
                </a:cubicBezTo>
                <a:cubicBezTo>
                  <a:pt x="123992" y="2501900"/>
                  <a:pt x="543092" y="3397250"/>
                  <a:pt x="964309" y="3886200"/>
                </a:cubicBezTo>
                <a:cubicBezTo>
                  <a:pt x="1385526" y="4375150"/>
                  <a:pt x="2551809" y="4787900"/>
                  <a:pt x="2551809" y="4787900"/>
                </a:cubicBezTo>
                <a:lnTo>
                  <a:pt x="2551809" y="4787900"/>
                </a:lnTo>
              </a:path>
            </a:pathLst>
          </a:custGeom>
          <a:noFill/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6" name="Right Arrow 55">
            <a:extLst>
              <a:ext uri="{FF2B5EF4-FFF2-40B4-BE49-F238E27FC236}">
                <a16:creationId xmlns:a16="http://schemas.microsoft.com/office/drawing/2014/main" id="{C0DB36A7-60EE-FB42-9D29-A0756AF184DA}"/>
              </a:ext>
            </a:extLst>
          </p:cNvPr>
          <p:cNvSpPr/>
          <p:nvPr/>
        </p:nvSpPr>
        <p:spPr>
          <a:xfrm rot="16200000">
            <a:off x="4735617" y="2632715"/>
            <a:ext cx="314072" cy="246454"/>
          </a:xfrm>
          <a:prstGeom prst="rightArrow">
            <a:avLst/>
          </a:prstGeom>
          <a:solidFill>
            <a:schemeClr val="bg2"/>
          </a:solidFill>
          <a:ln>
            <a:solidFill>
              <a:schemeClr val="tx2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Gill Sans MT" panose="020B0502020104020203" pitchFamily="34" charset="7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CFB3367-9918-7B47-9642-C2819F2A8132}"/>
              </a:ext>
            </a:extLst>
          </p:cNvPr>
          <p:cNvSpPr txBox="1"/>
          <p:nvPr/>
        </p:nvSpPr>
        <p:spPr>
          <a:xfrm>
            <a:off x="4547623" y="2053978"/>
            <a:ext cx="7697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77"/>
                <a:cs typeface="Trebuchet MS"/>
              </a:rPr>
              <a:t>Classified</a:t>
            </a:r>
          </a:p>
          <a:p>
            <a:pPr algn="r"/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77"/>
                <a:cs typeface="Trebuchet MS"/>
              </a:rPr>
              <a:t>as </a:t>
            </a:r>
            <a:r>
              <a:rPr lang="en-US" sz="1200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Red</a:t>
            </a:r>
          </a:p>
        </p:txBody>
      </p:sp>
      <p:sp>
        <p:nvSpPr>
          <p:cNvPr id="59" name="Right Arrow 58">
            <a:extLst>
              <a:ext uri="{FF2B5EF4-FFF2-40B4-BE49-F238E27FC236}">
                <a16:creationId xmlns:a16="http://schemas.microsoft.com/office/drawing/2014/main" id="{31662BBA-26D5-0148-8A8D-C512FC72DCF1}"/>
              </a:ext>
            </a:extLst>
          </p:cNvPr>
          <p:cNvSpPr/>
          <p:nvPr/>
        </p:nvSpPr>
        <p:spPr>
          <a:xfrm rot="19800000">
            <a:off x="6875067" y="4505945"/>
            <a:ext cx="314072" cy="246454"/>
          </a:xfrm>
          <a:prstGeom prst="rightArrow">
            <a:avLst/>
          </a:prstGeom>
          <a:solidFill>
            <a:schemeClr val="bg2"/>
          </a:solidFill>
          <a:ln>
            <a:solidFill>
              <a:schemeClr val="tx2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Gill Sans MT" panose="020B0502020104020203" pitchFamily="34" charset="7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8C4C0A0-B05F-F544-ACDD-93C547A06151}"/>
              </a:ext>
            </a:extLst>
          </p:cNvPr>
          <p:cNvSpPr txBox="1"/>
          <p:nvPr/>
        </p:nvSpPr>
        <p:spPr>
          <a:xfrm rot="19800000">
            <a:off x="7141131" y="4294143"/>
            <a:ext cx="4555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Gill Sans MT" panose="020B0502020104020203" pitchFamily="34" charset="77"/>
                <a:cs typeface="Trebuchet MS"/>
              </a:rPr>
              <a:t>Blue</a:t>
            </a:r>
          </a:p>
        </p:txBody>
      </p:sp>
      <p:sp>
        <p:nvSpPr>
          <p:cNvPr id="61" name="Right Arrow 60">
            <a:extLst>
              <a:ext uri="{FF2B5EF4-FFF2-40B4-BE49-F238E27FC236}">
                <a16:creationId xmlns:a16="http://schemas.microsoft.com/office/drawing/2014/main" id="{1AB7EA6F-7213-D541-ADC6-6799FEB73B9E}"/>
              </a:ext>
            </a:extLst>
          </p:cNvPr>
          <p:cNvSpPr/>
          <p:nvPr/>
        </p:nvSpPr>
        <p:spPr>
          <a:xfrm rot="9000000">
            <a:off x="6437057" y="4840967"/>
            <a:ext cx="314072" cy="246454"/>
          </a:xfrm>
          <a:prstGeom prst="rightArrow">
            <a:avLst/>
          </a:prstGeom>
          <a:solidFill>
            <a:schemeClr val="bg2"/>
          </a:solidFill>
          <a:ln>
            <a:solidFill>
              <a:schemeClr val="tx2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Gill Sans MT" panose="020B0502020104020203" pitchFamily="34" charset="7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4685E87-A3A9-2042-AA13-2BC1F2F3D107}"/>
              </a:ext>
            </a:extLst>
          </p:cNvPr>
          <p:cNvSpPr txBox="1"/>
          <p:nvPr/>
        </p:nvSpPr>
        <p:spPr>
          <a:xfrm rot="19800000">
            <a:off x="6028893" y="5017958"/>
            <a:ext cx="4365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Red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56ABB486-3638-DA46-BFB4-6E2F9AD24A1A}"/>
              </a:ext>
            </a:extLst>
          </p:cNvPr>
          <p:cNvSpPr/>
          <p:nvPr/>
        </p:nvSpPr>
        <p:spPr>
          <a:xfrm>
            <a:off x="3972297" y="2057934"/>
            <a:ext cx="431800" cy="432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9996748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5616C-1FE1-BC3D-D665-AADF3CC81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171E454-0DDB-85F4-04F2-95E636520126}"/>
              </a:ext>
            </a:extLst>
          </p:cNvPr>
          <p:cNvSpPr txBox="1"/>
          <p:nvPr/>
        </p:nvSpPr>
        <p:spPr>
          <a:xfrm>
            <a:off x="2264675" y="5340955"/>
            <a:ext cx="38170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>
                <a:latin typeface="Gill Sans MT" panose="020B0502020104020203" pitchFamily="34" charset="77"/>
                <a:cs typeface="Trebuchet MS"/>
              </a:rPr>
              <a:t>Esquema</a:t>
            </a:r>
            <a:r>
              <a:rPr lang="en-US" sz="4000" dirty="0">
                <a:latin typeface="Gill Sans MT" panose="020B0502020104020203" pitchFamily="34" charset="77"/>
                <a:cs typeface="Trebuchet MS"/>
              </a:rPr>
              <a:t> General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F9AEB3-83D2-B941-394C-D4646AE39463}"/>
              </a:ext>
            </a:extLst>
          </p:cNvPr>
          <p:cNvSpPr txBox="1"/>
          <p:nvPr/>
        </p:nvSpPr>
        <p:spPr>
          <a:xfrm rot="16200000">
            <a:off x="7282990" y="2141319"/>
            <a:ext cx="1200585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 err="1">
                <a:latin typeface="Gill Sans MT" panose="020B0502020104020203" pitchFamily="34" charset="77"/>
              </a:rPr>
              <a:t>N</a:t>
            </a:r>
            <a:r>
              <a:rPr lang="en-US" sz="1600" baseline="-25000" dirty="0" err="1">
                <a:latin typeface="Gill Sans MT" panose="020B0502020104020203" pitchFamily="34" charset="77"/>
              </a:rPr>
              <a:t>t</a:t>
            </a:r>
            <a:r>
              <a:rPr lang="en-US" sz="1600" dirty="0">
                <a:latin typeface="Gill Sans MT" panose="020B0502020104020203" pitchFamily="34" charset="77"/>
              </a:rPr>
              <a:t> </a:t>
            </a:r>
            <a:r>
              <a:rPr lang="en-US" sz="1600" dirty="0" err="1">
                <a:latin typeface="Gill Sans MT" panose="020B0502020104020203" pitchFamily="34" charset="77"/>
              </a:rPr>
              <a:t>muestras</a:t>
            </a:r>
            <a:endParaRPr lang="en-US" sz="1600" dirty="0">
              <a:latin typeface="Gill Sans MT" panose="020B0502020104020203" pitchFamily="34" charset="77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DF06251-C199-E048-5B0C-8C5CEF0A7D77}"/>
              </a:ext>
            </a:extLst>
          </p:cNvPr>
          <p:cNvCxnSpPr>
            <a:cxnSpLocks/>
          </p:cNvCxnSpPr>
          <p:nvPr/>
        </p:nvCxnSpPr>
        <p:spPr>
          <a:xfrm flipH="1">
            <a:off x="8754004" y="2946408"/>
            <a:ext cx="2862" cy="93600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4862AACE-748B-E0C4-7F07-BE49009DBEF3}"/>
              </a:ext>
            </a:extLst>
          </p:cNvPr>
          <p:cNvGraphicFramePr>
            <a:graphicFrameLocks noGrp="1"/>
          </p:cNvGraphicFramePr>
          <p:nvPr/>
        </p:nvGraphicFramePr>
        <p:xfrm>
          <a:off x="8328588" y="1658587"/>
          <a:ext cx="1092924" cy="112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231">
                  <a:extLst>
                    <a:ext uri="{9D8B030D-6E8A-4147-A177-3AD203B41FA5}">
                      <a16:colId xmlns:a16="http://schemas.microsoft.com/office/drawing/2014/main" val="1587632376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749266633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3802181957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1979340780"/>
                    </a:ext>
                  </a:extLst>
                </a:gridCol>
              </a:tblGrid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129878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10622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080497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68420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387770"/>
                  </a:ext>
                </a:extLst>
              </a:tr>
            </a:tbl>
          </a:graphicData>
        </a:graphic>
      </p:graphicFrame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C9E060C-155C-68FF-BBCA-3755B3301B90}"/>
              </a:ext>
            </a:extLst>
          </p:cNvPr>
          <p:cNvSpPr/>
          <p:nvPr/>
        </p:nvSpPr>
        <p:spPr>
          <a:xfrm>
            <a:off x="7923412" y="3876112"/>
            <a:ext cx="1649308" cy="694987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rPr>
              <a:t>Clasificación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Gill Sans MT" panose="020B0502020104020203" pitchFamily="34" charset="77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4CAD7CD-56C9-FF76-A100-5741A23ED836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4256920" y="4218984"/>
            <a:ext cx="3666495" cy="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eft Brace 15">
            <a:extLst>
              <a:ext uri="{FF2B5EF4-FFF2-40B4-BE49-F238E27FC236}">
                <a16:creationId xmlns:a16="http://schemas.microsoft.com/office/drawing/2014/main" id="{640EBBBF-AC43-7C6E-A01A-BC87BF36885C}"/>
              </a:ext>
            </a:extLst>
          </p:cNvPr>
          <p:cNvSpPr/>
          <p:nvPr/>
        </p:nvSpPr>
        <p:spPr>
          <a:xfrm rot="16200000">
            <a:off x="8707050" y="2470055"/>
            <a:ext cx="91967" cy="797785"/>
          </a:xfrm>
          <a:prstGeom prst="leftBrace">
            <a:avLst/>
          </a:prstGeom>
          <a:ln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9BCC898-723B-B64F-D8D5-FE05CD16B04C}"/>
              </a:ext>
            </a:extLst>
          </p:cNvPr>
          <p:cNvCxnSpPr>
            <a:cxnSpLocks/>
          </p:cNvCxnSpPr>
          <p:nvPr/>
        </p:nvCxnSpPr>
        <p:spPr>
          <a:xfrm flipH="1">
            <a:off x="8750928" y="4569578"/>
            <a:ext cx="2862" cy="64800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CB58C42B-95AE-A547-B293-9F17C99DAC29}"/>
              </a:ext>
            </a:extLst>
          </p:cNvPr>
          <p:cNvGraphicFramePr>
            <a:graphicFrameLocks noGrp="1"/>
          </p:cNvGraphicFramePr>
          <p:nvPr/>
        </p:nvGraphicFramePr>
        <p:xfrm>
          <a:off x="8606527" y="5203908"/>
          <a:ext cx="273231" cy="112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231">
                  <a:extLst>
                    <a:ext uri="{9D8B030D-6E8A-4147-A177-3AD203B41FA5}">
                      <a16:colId xmlns:a16="http://schemas.microsoft.com/office/drawing/2014/main" val="1979340780"/>
                    </a:ext>
                  </a:extLst>
                </a:gridCol>
              </a:tblGrid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129878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10622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080497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68420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387770"/>
                  </a:ext>
                </a:extLst>
              </a:tr>
            </a:tbl>
          </a:graphicData>
        </a:graphic>
      </p:graphicFrame>
      <p:sp>
        <p:nvSpPr>
          <p:cNvPr id="19" name="Oval 18">
            <a:extLst>
              <a:ext uri="{FF2B5EF4-FFF2-40B4-BE49-F238E27FC236}">
                <a16:creationId xmlns:a16="http://schemas.microsoft.com/office/drawing/2014/main" id="{813CFE54-B713-B3AC-FF55-F13B1B25C550}"/>
              </a:ext>
            </a:extLst>
          </p:cNvPr>
          <p:cNvSpPr/>
          <p:nvPr/>
        </p:nvSpPr>
        <p:spPr>
          <a:xfrm>
            <a:off x="8537901" y="5043798"/>
            <a:ext cx="410476" cy="146341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3C07F4C-32C5-7595-8497-D8B0CE33E6AC}"/>
              </a:ext>
            </a:extLst>
          </p:cNvPr>
          <p:cNvSpPr/>
          <p:nvPr/>
        </p:nvSpPr>
        <p:spPr>
          <a:xfrm>
            <a:off x="9553744" y="5617533"/>
            <a:ext cx="324000" cy="32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600" dirty="0">
              <a:latin typeface="Gill Sans MT" panose="020B0502020104020203" pitchFamily="34" charset="77"/>
            </a:endParaRPr>
          </a:p>
        </p:txBody>
      </p: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A75497F5-00E9-00F4-343F-4E7865637270}"/>
              </a:ext>
            </a:extLst>
          </p:cNvPr>
          <p:cNvCxnSpPr>
            <a:cxnSpLocks/>
            <a:stCxn id="13" idx="3"/>
            <a:endCxn id="20" idx="0"/>
          </p:cNvCxnSpPr>
          <p:nvPr/>
        </p:nvCxnSpPr>
        <p:spPr>
          <a:xfrm>
            <a:off x="9421512" y="2223347"/>
            <a:ext cx="294232" cy="3394186"/>
          </a:xfrm>
          <a:prstGeom prst="bentConnector2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97DF12B-9ECD-568B-30FA-A9C91CF1D24A}"/>
              </a:ext>
            </a:extLst>
          </p:cNvPr>
          <p:cNvCxnSpPr>
            <a:cxnSpLocks/>
            <a:stCxn id="19" idx="6"/>
            <a:endCxn id="20" idx="2"/>
          </p:cNvCxnSpPr>
          <p:nvPr/>
        </p:nvCxnSpPr>
        <p:spPr>
          <a:xfrm>
            <a:off x="8948378" y="5775503"/>
            <a:ext cx="605367" cy="403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1179451-283E-56BC-E560-13D3DDD042F1}"/>
              </a:ext>
            </a:extLst>
          </p:cNvPr>
          <p:cNvCxnSpPr>
            <a:cxnSpLocks/>
          </p:cNvCxnSpPr>
          <p:nvPr/>
        </p:nvCxnSpPr>
        <p:spPr>
          <a:xfrm>
            <a:off x="9719209" y="5940267"/>
            <a:ext cx="0" cy="289754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ED6E249-0C3B-CF9E-5D5B-0D235EDF5C56}"/>
              </a:ext>
            </a:extLst>
          </p:cNvPr>
          <p:cNvSpPr txBox="1"/>
          <p:nvPr/>
        </p:nvSpPr>
        <p:spPr>
          <a:xfrm>
            <a:off x="9164650" y="6226055"/>
            <a:ext cx="1047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Accuracy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A26C39A-B9E5-ACE6-E652-649DB0F5306A}"/>
              </a:ext>
            </a:extLst>
          </p:cNvPr>
          <p:cNvSpPr txBox="1"/>
          <p:nvPr/>
        </p:nvSpPr>
        <p:spPr>
          <a:xfrm>
            <a:off x="6258929" y="5482966"/>
            <a:ext cx="21675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err="1">
                <a:latin typeface="Gill Sans MT" panose="020B0502020104020203" pitchFamily="34" charset="77"/>
              </a:rPr>
              <a:t>Clasificación</a:t>
            </a:r>
            <a:r>
              <a:rPr lang="en-US" dirty="0">
                <a:latin typeface="Gill Sans MT" panose="020B0502020104020203" pitchFamily="34" charset="77"/>
              </a:rPr>
              <a:t> del </a:t>
            </a:r>
          </a:p>
          <a:p>
            <a:pPr algn="r"/>
            <a:r>
              <a:rPr lang="en-US" dirty="0">
                <a:latin typeface="Gill Sans MT" panose="020B0502020104020203" pitchFamily="34" charset="77"/>
              </a:rPr>
              <a:t>Conjunto de </a:t>
            </a:r>
            <a:r>
              <a:rPr lang="en-US" dirty="0" err="1">
                <a:latin typeface="Gill Sans MT" panose="020B0502020104020203" pitchFamily="34" charset="77"/>
              </a:rPr>
              <a:t>Pruebas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417A683-69D7-41B9-241F-DFD6104C89CD}"/>
              </a:ext>
            </a:extLst>
          </p:cNvPr>
          <p:cNvSpPr txBox="1"/>
          <p:nvPr/>
        </p:nvSpPr>
        <p:spPr>
          <a:xfrm>
            <a:off x="9532299" y="5318121"/>
            <a:ext cx="3946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Gill Sans MT" panose="020B0502020104020203" pitchFamily="34" charset="77"/>
              </a:rPr>
              <a:t>-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A1CFB9C-4EA3-7367-4A62-757B6976AC6C}"/>
              </a:ext>
            </a:extLst>
          </p:cNvPr>
          <p:cNvSpPr txBox="1"/>
          <p:nvPr/>
        </p:nvSpPr>
        <p:spPr>
          <a:xfrm>
            <a:off x="8294573" y="1856593"/>
            <a:ext cx="851515" cy="21544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800" dirty="0">
                <a:latin typeface="Gill Sans MT" panose="020B0502020104020203" pitchFamily="34" charset="77"/>
              </a:rPr>
              <a:t>p </a:t>
            </a:r>
            <a:r>
              <a:rPr lang="en-US" sz="800" dirty="0" err="1">
                <a:latin typeface="Gill Sans MT" panose="020B0502020104020203" pitchFamily="34" charset="77"/>
              </a:rPr>
              <a:t>características</a:t>
            </a:r>
            <a:endParaRPr lang="en-US" sz="800" dirty="0">
              <a:latin typeface="Gill Sans MT" panose="020B0502020104020203" pitchFamily="34" charset="77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A945AF8-1CA1-528B-223B-6762B6103594}"/>
              </a:ext>
            </a:extLst>
          </p:cNvPr>
          <p:cNvCxnSpPr>
            <a:cxnSpLocks/>
          </p:cNvCxnSpPr>
          <p:nvPr/>
        </p:nvCxnSpPr>
        <p:spPr>
          <a:xfrm flipV="1">
            <a:off x="2462542" y="1336736"/>
            <a:ext cx="0" cy="1790107"/>
          </a:xfrm>
          <a:prstGeom prst="straightConnector1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B1FEE273-F4B0-402E-3BED-7C5B650E40A2}"/>
              </a:ext>
            </a:extLst>
          </p:cNvPr>
          <p:cNvGraphicFramePr>
            <a:graphicFrameLocks noGrp="1"/>
          </p:cNvGraphicFramePr>
          <p:nvPr/>
        </p:nvGraphicFramePr>
        <p:xfrm>
          <a:off x="2899351" y="1093704"/>
          <a:ext cx="1092924" cy="2033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231">
                  <a:extLst>
                    <a:ext uri="{9D8B030D-6E8A-4147-A177-3AD203B41FA5}">
                      <a16:colId xmlns:a16="http://schemas.microsoft.com/office/drawing/2014/main" val="1587632376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1429024220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3802181957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1979340780"/>
                    </a:ext>
                  </a:extLst>
                </a:gridCol>
              </a:tblGrid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129878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10622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622095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080497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6197139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68420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38777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607525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590238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DC428706-1FAA-0860-21A2-B6137CBC41F8}"/>
              </a:ext>
            </a:extLst>
          </p:cNvPr>
          <p:cNvSpPr txBox="1"/>
          <p:nvPr/>
        </p:nvSpPr>
        <p:spPr>
          <a:xfrm rot="16200000">
            <a:off x="1826315" y="2042544"/>
            <a:ext cx="127246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N </a:t>
            </a:r>
            <a:r>
              <a:rPr lang="en-US" dirty="0" err="1">
                <a:latin typeface="Gill Sans MT" panose="020B0502020104020203" pitchFamily="34" charset="77"/>
              </a:rPr>
              <a:t>muestras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B245355-9146-F191-4CFF-64542A831492}"/>
              </a:ext>
            </a:extLst>
          </p:cNvPr>
          <p:cNvSpPr txBox="1"/>
          <p:nvPr/>
        </p:nvSpPr>
        <p:spPr>
          <a:xfrm>
            <a:off x="2883709" y="1330227"/>
            <a:ext cx="851515" cy="21544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800" dirty="0">
                <a:latin typeface="Gill Sans MT" panose="020B0502020104020203" pitchFamily="34" charset="77"/>
              </a:rPr>
              <a:t>p </a:t>
            </a:r>
            <a:r>
              <a:rPr lang="en-US" sz="800" dirty="0" err="1">
                <a:latin typeface="Gill Sans MT" panose="020B0502020104020203" pitchFamily="34" charset="77"/>
              </a:rPr>
              <a:t>características</a:t>
            </a:r>
            <a:endParaRPr lang="en-US" sz="800" dirty="0">
              <a:latin typeface="Gill Sans MT" panose="020B0502020104020203" pitchFamily="34" charset="77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9F3FF429-CDEE-B4F9-8A96-1DCEE134FB4B}"/>
              </a:ext>
            </a:extLst>
          </p:cNvPr>
          <p:cNvSpPr/>
          <p:nvPr/>
        </p:nvSpPr>
        <p:spPr>
          <a:xfrm>
            <a:off x="2607609" y="3860674"/>
            <a:ext cx="1649308" cy="694987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rPr>
              <a:t>Entrenamiento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rPr>
              <a:t> de </a:t>
            </a: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rPr>
              <a:t>Clasificador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Gill Sans MT" panose="020B0502020104020203" pitchFamily="34" charset="77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6128F89-9CEB-EA87-E956-65F42D824CBA}"/>
              </a:ext>
            </a:extLst>
          </p:cNvPr>
          <p:cNvCxnSpPr>
            <a:cxnSpLocks/>
          </p:cNvCxnSpPr>
          <p:nvPr/>
        </p:nvCxnSpPr>
        <p:spPr>
          <a:xfrm>
            <a:off x="3301211" y="3392929"/>
            <a:ext cx="339" cy="46800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Left Brace 33">
            <a:extLst>
              <a:ext uri="{FF2B5EF4-FFF2-40B4-BE49-F238E27FC236}">
                <a16:creationId xmlns:a16="http://schemas.microsoft.com/office/drawing/2014/main" id="{5C18B38D-3A7E-72B9-1E6C-CFD977B6DB15}"/>
              </a:ext>
            </a:extLst>
          </p:cNvPr>
          <p:cNvSpPr/>
          <p:nvPr/>
        </p:nvSpPr>
        <p:spPr>
          <a:xfrm rot="16200000">
            <a:off x="3246836" y="2891857"/>
            <a:ext cx="135504" cy="750376"/>
          </a:xfrm>
          <a:prstGeom prst="leftBrace">
            <a:avLst>
              <a:gd name="adj1" fmla="val 8333"/>
              <a:gd name="adj2" fmla="val 49144"/>
            </a:avLst>
          </a:prstGeom>
          <a:ln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BC495B7-D300-B1F4-BEC9-485B78D634D0}"/>
              </a:ext>
            </a:extLst>
          </p:cNvPr>
          <p:cNvCxnSpPr>
            <a:cxnSpLocks/>
          </p:cNvCxnSpPr>
          <p:nvPr/>
        </p:nvCxnSpPr>
        <p:spPr>
          <a:xfrm>
            <a:off x="3849922" y="3126597"/>
            <a:ext cx="0" cy="746188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9B297BE4-B1F0-C322-1792-E18B70162716}"/>
              </a:ext>
            </a:extLst>
          </p:cNvPr>
          <p:cNvSpPr txBox="1"/>
          <p:nvPr/>
        </p:nvSpPr>
        <p:spPr>
          <a:xfrm>
            <a:off x="4685295" y="4182851"/>
            <a:ext cx="2780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parámetros</a:t>
            </a:r>
            <a:r>
              <a:rPr lang="en-US" dirty="0">
                <a:latin typeface="Gill Sans MT" panose="020B0502020104020203" pitchFamily="34" charset="77"/>
              </a:rPr>
              <a:t> del </a:t>
            </a:r>
            <a:r>
              <a:rPr lang="en-US" dirty="0" err="1">
                <a:latin typeface="Gill Sans MT" panose="020B0502020104020203" pitchFamily="34" charset="77"/>
              </a:rPr>
              <a:t>clasificador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652BAA61-1EA3-037B-3DFF-F6804456B7EF}"/>
              </a:ext>
            </a:extLst>
          </p:cNvPr>
          <p:cNvSpPr/>
          <p:nvPr/>
        </p:nvSpPr>
        <p:spPr>
          <a:xfrm>
            <a:off x="9080142" y="1506324"/>
            <a:ext cx="410476" cy="146341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8E17DB9-3AB9-6A75-A5B8-E0728FD850A1}"/>
              </a:ext>
            </a:extLst>
          </p:cNvPr>
          <p:cNvSpPr txBox="1"/>
          <p:nvPr/>
        </p:nvSpPr>
        <p:spPr>
          <a:xfrm>
            <a:off x="7188761" y="3037895"/>
            <a:ext cx="15071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err="1">
                <a:solidFill>
                  <a:srgbClr val="FF0000"/>
                </a:solidFill>
                <a:latin typeface="Gill Sans MT" panose="020B0502020104020203" pitchFamily="34" charset="77"/>
              </a:rPr>
              <a:t>sólo</a:t>
            </a:r>
            <a:endParaRPr lang="en-US" dirty="0">
              <a:solidFill>
                <a:srgbClr val="FF0000"/>
              </a:solidFill>
              <a:latin typeface="Gill Sans MT" panose="020B0502020104020203" pitchFamily="34" charset="77"/>
            </a:endParaRPr>
          </a:p>
          <a:p>
            <a:pPr algn="r"/>
            <a:r>
              <a:rPr lang="en-US" dirty="0" err="1">
                <a:solidFill>
                  <a:srgbClr val="FF0000"/>
                </a:solidFill>
                <a:latin typeface="Gill Sans MT" panose="020B0502020104020203" pitchFamily="34" charset="77"/>
              </a:rPr>
              <a:t>características</a:t>
            </a:r>
            <a:endParaRPr lang="en-US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8B9BCD3-5A62-9AB4-8FC8-125600FBE4FB}"/>
              </a:ext>
            </a:extLst>
          </p:cNvPr>
          <p:cNvSpPr txBox="1"/>
          <p:nvPr/>
        </p:nvSpPr>
        <p:spPr>
          <a:xfrm>
            <a:off x="9906119" y="3876111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9300"/>
                </a:solidFill>
                <a:latin typeface="Gill Sans MT" panose="020B0502020104020203" pitchFamily="34" charset="77"/>
              </a:rPr>
              <a:t>y</a:t>
            </a:r>
            <a:r>
              <a:rPr lang="en-US" baseline="-250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t</a:t>
            </a:r>
            <a:endParaRPr lang="en-US" baseline="-25000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F93A6E6-B117-38FF-3353-082AA76CA78E}"/>
              </a:ext>
            </a:extLst>
          </p:cNvPr>
          <p:cNvSpPr txBox="1"/>
          <p:nvPr/>
        </p:nvSpPr>
        <p:spPr>
          <a:xfrm>
            <a:off x="9118220" y="5364286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00B050"/>
                </a:solidFill>
                <a:latin typeface="Gill Sans MT" panose="020B0502020104020203" pitchFamily="34" charset="77"/>
              </a:rPr>
              <a:t>y</a:t>
            </a:r>
            <a:r>
              <a:rPr lang="en-US" baseline="-25000" dirty="0" err="1">
                <a:solidFill>
                  <a:srgbClr val="00B050"/>
                </a:solidFill>
                <a:latin typeface="Gill Sans MT" panose="020B0502020104020203" pitchFamily="34" charset="77"/>
              </a:rPr>
              <a:t>s</a:t>
            </a:r>
            <a:endParaRPr lang="en-US" baseline="-25000" dirty="0">
              <a:solidFill>
                <a:srgbClr val="00B050"/>
              </a:solidFill>
              <a:latin typeface="Gill Sans MT" panose="020B0502020104020203" pitchFamily="34" charset="7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41B2596-ADEE-76CF-CB0E-35AC6A5A8FCC}"/>
              </a:ext>
            </a:extLst>
          </p:cNvPr>
          <p:cNvSpPr txBox="1"/>
          <p:nvPr/>
        </p:nvSpPr>
        <p:spPr>
          <a:xfrm>
            <a:off x="9091306" y="1055801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9300"/>
                </a:solidFill>
                <a:latin typeface="Gill Sans MT" panose="020B0502020104020203" pitchFamily="34" charset="77"/>
              </a:rPr>
              <a:t>y</a:t>
            </a:r>
            <a:r>
              <a:rPr lang="en-US" baseline="-250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t</a:t>
            </a:r>
            <a:endParaRPr lang="en-US" baseline="-25000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7FC3C1-FD07-8C03-93AF-C8748FCF679B}"/>
              </a:ext>
            </a:extLst>
          </p:cNvPr>
          <p:cNvSpPr txBox="1"/>
          <p:nvPr/>
        </p:nvSpPr>
        <p:spPr>
          <a:xfrm>
            <a:off x="8486290" y="1055801"/>
            <a:ext cx="39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9300"/>
                </a:solidFill>
                <a:latin typeface="Gill Sans MT" panose="020B0502020104020203" pitchFamily="34" charset="77"/>
              </a:rPr>
              <a:t>X</a:t>
            </a:r>
            <a:r>
              <a:rPr lang="en-US" baseline="-250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t</a:t>
            </a:r>
            <a:endParaRPr lang="en-US" baseline="-25000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33D55DF-03E5-349C-D3E5-5E7B08EB0764}"/>
              </a:ext>
            </a:extLst>
          </p:cNvPr>
          <p:cNvSpPr txBox="1"/>
          <p:nvPr/>
        </p:nvSpPr>
        <p:spPr>
          <a:xfrm>
            <a:off x="8713819" y="3148581"/>
            <a:ext cx="39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9300"/>
                </a:solidFill>
                <a:latin typeface="Gill Sans MT" panose="020B0502020104020203" pitchFamily="34" charset="77"/>
              </a:rPr>
              <a:t>X</a:t>
            </a:r>
            <a:r>
              <a:rPr lang="en-US" baseline="-250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t</a:t>
            </a:r>
            <a:endParaRPr lang="en-US" baseline="-25000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A7DEFB5-CA4D-2901-1B38-97A9D3A554AC}"/>
              </a:ext>
            </a:extLst>
          </p:cNvPr>
          <p:cNvSpPr txBox="1"/>
          <p:nvPr/>
        </p:nvSpPr>
        <p:spPr>
          <a:xfrm>
            <a:off x="8742528" y="4628968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00B050"/>
                </a:solidFill>
                <a:latin typeface="Gill Sans MT" panose="020B0502020104020203" pitchFamily="34" charset="77"/>
              </a:rPr>
              <a:t>y</a:t>
            </a:r>
            <a:r>
              <a:rPr lang="en-US" baseline="-25000" dirty="0" err="1">
                <a:solidFill>
                  <a:srgbClr val="00B050"/>
                </a:solidFill>
                <a:latin typeface="Gill Sans MT" panose="020B0502020104020203" pitchFamily="34" charset="77"/>
              </a:rPr>
              <a:t>s</a:t>
            </a:r>
            <a:endParaRPr lang="en-US" baseline="-25000" dirty="0">
              <a:solidFill>
                <a:srgbClr val="00B050"/>
              </a:solidFill>
              <a:latin typeface="Gill Sans MT" panose="020B0502020104020203" pitchFamily="34" charset="7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D43CC75-9235-B953-03A2-1411CC36DE86}"/>
              </a:ext>
            </a:extLst>
          </p:cNvPr>
          <p:cNvSpPr txBox="1"/>
          <p:nvPr/>
        </p:nvSpPr>
        <p:spPr>
          <a:xfrm>
            <a:off x="3797350" y="3369764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  <a:latin typeface="Gill Sans MT" panose="020B0502020104020203" pitchFamily="34" charset="77"/>
              </a:rPr>
              <a:t>y</a:t>
            </a:r>
            <a:endParaRPr lang="en-US" baseline="-25000" dirty="0">
              <a:solidFill>
                <a:srgbClr val="0096FF"/>
              </a:solidFill>
              <a:latin typeface="Gill Sans MT" panose="020B0502020104020203" pitchFamily="34" charset="7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B8EE441-C57C-B107-6BE1-BF354500E8D8}"/>
              </a:ext>
            </a:extLst>
          </p:cNvPr>
          <p:cNvSpPr txBox="1"/>
          <p:nvPr/>
        </p:nvSpPr>
        <p:spPr>
          <a:xfrm>
            <a:off x="2908231" y="3384997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  <a:latin typeface="Gill Sans MT" panose="020B0502020104020203" pitchFamily="34" charset="77"/>
              </a:rPr>
              <a:t>X</a:t>
            </a:r>
            <a:endParaRPr lang="en-US" baseline="-25000" dirty="0">
              <a:solidFill>
                <a:srgbClr val="0096FF"/>
              </a:solidFill>
              <a:latin typeface="Gill Sans MT" panose="020B0502020104020203" pitchFamily="34" charset="7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A3749D5-4B53-8361-78BD-9193CB0ABD16}"/>
              </a:ext>
            </a:extLst>
          </p:cNvPr>
          <p:cNvSpPr txBox="1"/>
          <p:nvPr/>
        </p:nvSpPr>
        <p:spPr>
          <a:xfrm>
            <a:off x="3694064" y="687690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  <a:latin typeface="Gill Sans MT" panose="020B0502020104020203" pitchFamily="34" charset="77"/>
              </a:rPr>
              <a:t>y</a:t>
            </a:r>
            <a:endParaRPr lang="en-US" baseline="-25000" dirty="0">
              <a:solidFill>
                <a:srgbClr val="0096FF"/>
              </a:solidFill>
              <a:latin typeface="Gill Sans MT" panose="020B0502020104020203" pitchFamily="34" charset="7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B19F7D1-5FBE-7369-482F-DD72332B6DFB}"/>
              </a:ext>
            </a:extLst>
          </p:cNvPr>
          <p:cNvSpPr txBox="1"/>
          <p:nvPr/>
        </p:nvSpPr>
        <p:spPr>
          <a:xfrm>
            <a:off x="3211345" y="702923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  <a:latin typeface="Gill Sans MT" panose="020B0502020104020203" pitchFamily="34" charset="77"/>
              </a:rPr>
              <a:t>X</a:t>
            </a:r>
            <a:endParaRPr lang="en-US" baseline="-25000" dirty="0">
              <a:solidFill>
                <a:srgbClr val="0096FF"/>
              </a:solidFill>
              <a:latin typeface="Gill Sans MT" panose="020B0502020104020203" pitchFamily="34" charset="7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FA08751-F74B-4554-B962-AD0FC8D0E68C}"/>
              </a:ext>
            </a:extLst>
          </p:cNvPr>
          <p:cNvSpPr txBox="1"/>
          <p:nvPr/>
        </p:nvSpPr>
        <p:spPr>
          <a:xfrm>
            <a:off x="2098038" y="268159"/>
            <a:ext cx="2808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  <a:latin typeface="Gill Sans MT" panose="020B0502020104020203" pitchFamily="34" charset="77"/>
              </a:rPr>
              <a:t>Conjunto de </a:t>
            </a:r>
            <a:r>
              <a:rPr lang="en-US" dirty="0" err="1">
                <a:solidFill>
                  <a:srgbClr val="0096FF"/>
                </a:solidFill>
                <a:latin typeface="Gill Sans MT" panose="020B0502020104020203" pitchFamily="34" charset="77"/>
              </a:rPr>
              <a:t>Entrenamiento</a:t>
            </a:r>
            <a:endParaRPr lang="en-US" dirty="0">
              <a:solidFill>
                <a:srgbClr val="0096FF"/>
              </a:solidFill>
              <a:latin typeface="Gill Sans MT" panose="020B0502020104020203" pitchFamily="34" charset="7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51DAB98-286E-B3DA-B210-0AD293AFD1B4}"/>
              </a:ext>
            </a:extLst>
          </p:cNvPr>
          <p:cNvSpPr txBox="1"/>
          <p:nvPr/>
        </p:nvSpPr>
        <p:spPr>
          <a:xfrm>
            <a:off x="7803337" y="278598"/>
            <a:ext cx="2167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9300"/>
                </a:solidFill>
                <a:latin typeface="Gill Sans MT" panose="020B0502020104020203" pitchFamily="34" charset="77"/>
              </a:rPr>
              <a:t>Conjunto de </a:t>
            </a:r>
            <a:r>
              <a:rPr lang="en-US" dirty="0" err="1">
                <a:solidFill>
                  <a:srgbClr val="FF9300"/>
                </a:solidFill>
                <a:latin typeface="Gill Sans MT" panose="020B0502020104020203" pitchFamily="34" charset="77"/>
              </a:rPr>
              <a:t>Pruebas</a:t>
            </a:r>
            <a:endParaRPr lang="en-US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A313771-D31E-19A5-9A7F-85C55E59C40B}"/>
              </a:ext>
            </a:extLst>
          </p:cNvPr>
          <p:cNvSpPr/>
          <p:nvPr/>
        </p:nvSpPr>
        <p:spPr>
          <a:xfrm>
            <a:off x="10083765" y="5508267"/>
            <a:ext cx="431800" cy="432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1969756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/>
          <p:cNvSpPr/>
          <p:nvPr/>
        </p:nvSpPr>
        <p:spPr>
          <a:xfrm>
            <a:off x="4799856" y="306896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D8156F2-C82F-FD43-8A1C-8273596590A4}"/>
              </a:ext>
            </a:extLst>
          </p:cNvPr>
          <p:cNvCxnSpPr>
            <a:cxnSpLocks/>
          </p:cNvCxnSpPr>
          <p:nvPr/>
        </p:nvCxnSpPr>
        <p:spPr>
          <a:xfrm>
            <a:off x="3314700" y="6032500"/>
            <a:ext cx="44831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41E843FC-6BE6-8849-84D5-1012D078AF4C}"/>
              </a:ext>
            </a:extLst>
          </p:cNvPr>
          <p:cNvSpPr txBox="1"/>
          <p:nvPr/>
        </p:nvSpPr>
        <p:spPr>
          <a:xfrm>
            <a:off x="5924822" y="6106240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x</a:t>
            </a:r>
            <a:r>
              <a:rPr lang="en-US" baseline="-25000" dirty="0">
                <a:latin typeface="Gill Sans MT" panose="020B0502020104020203" pitchFamily="34" charset="77"/>
              </a:rPr>
              <a:t>1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65A9D1C-4328-EE41-9395-4F22EB6D7FD2}"/>
              </a:ext>
            </a:extLst>
          </p:cNvPr>
          <p:cNvCxnSpPr>
            <a:cxnSpLocks/>
          </p:cNvCxnSpPr>
          <p:nvPr/>
        </p:nvCxnSpPr>
        <p:spPr>
          <a:xfrm flipV="1">
            <a:off x="3683013" y="1447800"/>
            <a:ext cx="0" cy="4927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7DED08F9-D038-EB43-AA2D-2E7AA0464B50}"/>
              </a:ext>
            </a:extLst>
          </p:cNvPr>
          <p:cNvSpPr txBox="1"/>
          <p:nvPr/>
        </p:nvSpPr>
        <p:spPr>
          <a:xfrm>
            <a:off x="3213463" y="3641164"/>
            <a:ext cx="385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x</a:t>
            </a:r>
            <a:r>
              <a:rPr lang="en-US" baseline="-25000" dirty="0"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53" name="Freeform 52">
            <a:extLst>
              <a:ext uri="{FF2B5EF4-FFF2-40B4-BE49-F238E27FC236}">
                <a16:creationId xmlns:a16="http://schemas.microsoft.com/office/drawing/2014/main" id="{F3A5A51B-EAB3-B541-84EC-7E0847AF0698}"/>
              </a:ext>
            </a:extLst>
          </p:cNvPr>
          <p:cNvSpPr/>
          <p:nvPr/>
        </p:nvSpPr>
        <p:spPr>
          <a:xfrm>
            <a:off x="5234296" y="2292412"/>
            <a:ext cx="2551809" cy="2808312"/>
          </a:xfrm>
          <a:custGeom>
            <a:avLst/>
            <a:gdLst>
              <a:gd name="connsiteX0" fmla="*/ 367409 w 2551809"/>
              <a:gd name="connsiteY0" fmla="*/ 0 h 4787900"/>
              <a:gd name="connsiteX1" fmla="*/ 24509 w 2551809"/>
              <a:gd name="connsiteY1" fmla="*/ 1854200 h 4787900"/>
              <a:gd name="connsiteX2" fmla="*/ 964309 w 2551809"/>
              <a:gd name="connsiteY2" fmla="*/ 3886200 h 4787900"/>
              <a:gd name="connsiteX3" fmla="*/ 2551809 w 2551809"/>
              <a:gd name="connsiteY3" fmla="*/ 4787900 h 4787900"/>
              <a:gd name="connsiteX4" fmla="*/ 2551809 w 2551809"/>
              <a:gd name="connsiteY4" fmla="*/ 4787900 h 4787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1809" h="4787900">
                <a:moveTo>
                  <a:pt x="367409" y="0"/>
                </a:moveTo>
                <a:cubicBezTo>
                  <a:pt x="146217" y="603250"/>
                  <a:pt x="-74974" y="1206500"/>
                  <a:pt x="24509" y="1854200"/>
                </a:cubicBezTo>
                <a:cubicBezTo>
                  <a:pt x="123992" y="2501900"/>
                  <a:pt x="543092" y="3397250"/>
                  <a:pt x="964309" y="3886200"/>
                </a:cubicBezTo>
                <a:cubicBezTo>
                  <a:pt x="1385526" y="4375150"/>
                  <a:pt x="2551809" y="4787900"/>
                  <a:pt x="2551809" y="4787900"/>
                </a:cubicBezTo>
                <a:lnTo>
                  <a:pt x="2551809" y="4787900"/>
                </a:lnTo>
              </a:path>
            </a:pathLst>
          </a:custGeom>
          <a:noFill/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6" name="Right Arrow 55">
            <a:extLst>
              <a:ext uri="{FF2B5EF4-FFF2-40B4-BE49-F238E27FC236}">
                <a16:creationId xmlns:a16="http://schemas.microsoft.com/office/drawing/2014/main" id="{C0DB36A7-60EE-FB42-9D29-A0756AF184DA}"/>
              </a:ext>
            </a:extLst>
          </p:cNvPr>
          <p:cNvSpPr/>
          <p:nvPr/>
        </p:nvSpPr>
        <p:spPr>
          <a:xfrm rot="16200000">
            <a:off x="4735617" y="2632715"/>
            <a:ext cx="314072" cy="246454"/>
          </a:xfrm>
          <a:prstGeom prst="rightArrow">
            <a:avLst/>
          </a:prstGeom>
          <a:solidFill>
            <a:schemeClr val="bg2"/>
          </a:solidFill>
          <a:ln>
            <a:solidFill>
              <a:schemeClr val="tx2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Gill Sans MT" panose="020B0502020104020203" pitchFamily="34" charset="7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CFB3367-9918-7B47-9642-C2819F2A8132}"/>
              </a:ext>
            </a:extLst>
          </p:cNvPr>
          <p:cNvSpPr txBox="1"/>
          <p:nvPr/>
        </p:nvSpPr>
        <p:spPr>
          <a:xfrm>
            <a:off x="4371620" y="2045410"/>
            <a:ext cx="10586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77"/>
                <a:cs typeface="Trebuchet MS"/>
              </a:rPr>
              <a:t>Was it </a:t>
            </a:r>
            <a:r>
              <a:rPr lang="en-US" sz="1200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Red </a:t>
            </a:r>
            <a:r>
              <a:rPr lang="en-US" sz="1200" dirty="0">
                <a:latin typeface="Gill Sans MT" panose="020B0502020104020203" pitchFamily="34" charset="77"/>
                <a:cs typeface="Trebuchet MS"/>
              </a:rPr>
              <a:t>?  </a:t>
            </a:r>
          </a:p>
          <a:p>
            <a:pPr algn="ctr"/>
            <a:r>
              <a:rPr lang="en-US" sz="1200" dirty="0">
                <a:latin typeface="Gill Sans MT" panose="020B0502020104020203" pitchFamily="34" charset="77"/>
                <a:cs typeface="Trebuchet MS"/>
              </a:rPr>
              <a:t>Yes/No</a:t>
            </a:r>
          </a:p>
        </p:txBody>
      </p:sp>
      <p:sp>
        <p:nvSpPr>
          <p:cNvPr id="59" name="Right Arrow 58">
            <a:extLst>
              <a:ext uri="{FF2B5EF4-FFF2-40B4-BE49-F238E27FC236}">
                <a16:creationId xmlns:a16="http://schemas.microsoft.com/office/drawing/2014/main" id="{31662BBA-26D5-0148-8A8D-C512FC72DCF1}"/>
              </a:ext>
            </a:extLst>
          </p:cNvPr>
          <p:cNvSpPr/>
          <p:nvPr/>
        </p:nvSpPr>
        <p:spPr>
          <a:xfrm rot="19800000">
            <a:off x="6875067" y="4505945"/>
            <a:ext cx="314072" cy="246454"/>
          </a:xfrm>
          <a:prstGeom prst="rightArrow">
            <a:avLst/>
          </a:prstGeom>
          <a:solidFill>
            <a:schemeClr val="bg2"/>
          </a:solidFill>
          <a:ln>
            <a:solidFill>
              <a:schemeClr val="tx2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Gill Sans MT" panose="020B0502020104020203" pitchFamily="34" charset="7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8C4C0A0-B05F-F544-ACDD-93C547A06151}"/>
              </a:ext>
            </a:extLst>
          </p:cNvPr>
          <p:cNvSpPr txBox="1"/>
          <p:nvPr/>
        </p:nvSpPr>
        <p:spPr>
          <a:xfrm rot="19800000">
            <a:off x="7141131" y="4294143"/>
            <a:ext cx="4555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Gill Sans MT" panose="020B0502020104020203" pitchFamily="34" charset="77"/>
                <a:cs typeface="Trebuchet MS"/>
              </a:rPr>
              <a:t>Blue</a:t>
            </a:r>
          </a:p>
        </p:txBody>
      </p:sp>
      <p:sp>
        <p:nvSpPr>
          <p:cNvPr id="61" name="Right Arrow 60">
            <a:extLst>
              <a:ext uri="{FF2B5EF4-FFF2-40B4-BE49-F238E27FC236}">
                <a16:creationId xmlns:a16="http://schemas.microsoft.com/office/drawing/2014/main" id="{1AB7EA6F-7213-D541-ADC6-6799FEB73B9E}"/>
              </a:ext>
            </a:extLst>
          </p:cNvPr>
          <p:cNvSpPr/>
          <p:nvPr/>
        </p:nvSpPr>
        <p:spPr>
          <a:xfrm rot="9000000">
            <a:off x="6437057" y="4840967"/>
            <a:ext cx="314072" cy="246454"/>
          </a:xfrm>
          <a:prstGeom prst="rightArrow">
            <a:avLst/>
          </a:prstGeom>
          <a:solidFill>
            <a:schemeClr val="bg2"/>
          </a:solidFill>
          <a:ln>
            <a:solidFill>
              <a:schemeClr val="tx2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Gill Sans MT" panose="020B0502020104020203" pitchFamily="34" charset="7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4685E87-A3A9-2042-AA13-2BC1F2F3D107}"/>
              </a:ext>
            </a:extLst>
          </p:cNvPr>
          <p:cNvSpPr txBox="1"/>
          <p:nvPr/>
        </p:nvSpPr>
        <p:spPr>
          <a:xfrm rot="19800000">
            <a:off x="6028893" y="5017958"/>
            <a:ext cx="4365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Red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56ABB486-3638-DA46-BFB4-6E2F9AD24A1A}"/>
              </a:ext>
            </a:extLst>
          </p:cNvPr>
          <p:cNvSpPr/>
          <p:nvPr/>
        </p:nvSpPr>
        <p:spPr>
          <a:xfrm>
            <a:off x="3972297" y="2057934"/>
            <a:ext cx="431800" cy="432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19" name="Slide Number Placeholder 52">
            <a:extLst>
              <a:ext uri="{FF2B5EF4-FFF2-40B4-BE49-F238E27FC236}">
                <a16:creationId xmlns:a16="http://schemas.microsoft.com/office/drawing/2014/main" id="{F645D835-F904-DF4F-A51A-647729B33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26607" y="6573488"/>
            <a:ext cx="2133600" cy="476250"/>
          </a:xfrm>
        </p:spPr>
        <p:txBody>
          <a:bodyPr/>
          <a:lstStyle/>
          <a:p>
            <a:fld id="{B2515E32-AEC1-A643-BA35-1EE2E73D4B01}" type="slidenum">
              <a:rPr lang="es-ES" smtClean="0"/>
              <a:pPr/>
              <a:t>16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60657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/>
          <p:cNvSpPr/>
          <p:nvPr/>
        </p:nvSpPr>
        <p:spPr>
          <a:xfrm>
            <a:off x="4799856" y="306896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D8156F2-C82F-FD43-8A1C-8273596590A4}"/>
              </a:ext>
            </a:extLst>
          </p:cNvPr>
          <p:cNvCxnSpPr>
            <a:cxnSpLocks/>
          </p:cNvCxnSpPr>
          <p:nvPr/>
        </p:nvCxnSpPr>
        <p:spPr>
          <a:xfrm>
            <a:off x="3314700" y="6032500"/>
            <a:ext cx="44831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41E843FC-6BE6-8849-84D5-1012D078AF4C}"/>
              </a:ext>
            </a:extLst>
          </p:cNvPr>
          <p:cNvSpPr txBox="1"/>
          <p:nvPr/>
        </p:nvSpPr>
        <p:spPr>
          <a:xfrm>
            <a:off x="5924822" y="6106240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x</a:t>
            </a:r>
            <a:r>
              <a:rPr lang="en-US" baseline="-25000" dirty="0">
                <a:latin typeface="Gill Sans MT" panose="020B0502020104020203" pitchFamily="34" charset="77"/>
              </a:rPr>
              <a:t>1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65A9D1C-4328-EE41-9395-4F22EB6D7FD2}"/>
              </a:ext>
            </a:extLst>
          </p:cNvPr>
          <p:cNvCxnSpPr>
            <a:cxnSpLocks/>
          </p:cNvCxnSpPr>
          <p:nvPr/>
        </p:nvCxnSpPr>
        <p:spPr>
          <a:xfrm flipV="1">
            <a:off x="3683013" y="1447800"/>
            <a:ext cx="0" cy="4927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7DED08F9-D038-EB43-AA2D-2E7AA0464B50}"/>
              </a:ext>
            </a:extLst>
          </p:cNvPr>
          <p:cNvSpPr txBox="1"/>
          <p:nvPr/>
        </p:nvSpPr>
        <p:spPr>
          <a:xfrm>
            <a:off x="3213463" y="3641164"/>
            <a:ext cx="385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x</a:t>
            </a:r>
            <a:r>
              <a:rPr lang="en-US" baseline="-25000" dirty="0"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53" name="Freeform 52">
            <a:extLst>
              <a:ext uri="{FF2B5EF4-FFF2-40B4-BE49-F238E27FC236}">
                <a16:creationId xmlns:a16="http://schemas.microsoft.com/office/drawing/2014/main" id="{F3A5A51B-EAB3-B541-84EC-7E0847AF0698}"/>
              </a:ext>
            </a:extLst>
          </p:cNvPr>
          <p:cNvSpPr/>
          <p:nvPr/>
        </p:nvSpPr>
        <p:spPr>
          <a:xfrm>
            <a:off x="5234296" y="2292412"/>
            <a:ext cx="2551809" cy="2808312"/>
          </a:xfrm>
          <a:custGeom>
            <a:avLst/>
            <a:gdLst>
              <a:gd name="connsiteX0" fmla="*/ 367409 w 2551809"/>
              <a:gd name="connsiteY0" fmla="*/ 0 h 4787900"/>
              <a:gd name="connsiteX1" fmla="*/ 24509 w 2551809"/>
              <a:gd name="connsiteY1" fmla="*/ 1854200 h 4787900"/>
              <a:gd name="connsiteX2" fmla="*/ 964309 w 2551809"/>
              <a:gd name="connsiteY2" fmla="*/ 3886200 h 4787900"/>
              <a:gd name="connsiteX3" fmla="*/ 2551809 w 2551809"/>
              <a:gd name="connsiteY3" fmla="*/ 4787900 h 4787900"/>
              <a:gd name="connsiteX4" fmla="*/ 2551809 w 2551809"/>
              <a:gd name="connsiteY4" fmla="*/ 4787900 h 4787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1809" h="4787900">
                <a:moveTo>
                  <a:pt x="367409" y="0"/>
                </a:moveTo>
                <a:cubicBezTo>
                  <a:pt x="146217" y="603250"/>
                  <a:pt x="-74974" y="1206500"/>
                  <a:pt x="24509" y="1854200"/>
                </a:cubicBezTo>
                <a:cubicBezTo>
                  <a:pt x="123992" y="2501900"/>
                  <a:pt x="543092" y="3397250"/>
                  <a:pt x="964309" y="3886200"/>
                </a:cubicBezTo>
                <a:cubicBezTo>
                  <a:pt x="1385526" y="4375150"/>
                  <a:pt x="2551809" y="4787900"/>
                  <a:pt x="2551809" y="4787900"/>
                </a:cubicBezTo>
                <a:lnTo>
                  <a:pt x="2551809" y="4787900"/>
                </a:lnTo>
              </a:path>
            </a:pathLst>
          </a:custGeom>
          <a:noFill/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6" name="Right Arrow 55">
            <a:extLst>
              <a:ext uri="{FF2B5EF4-FFF2-40B4-BE49-F238E27FC236}">
                <a16:creationId xmlns:a16="http://schemas.microsoft.com/office/drawing/2014/main" id="{C0DB36A7-60EE-FB42-9D29-A0756AF184DA}"/>
              </a:ext>
            </a:extLst>
          </p:cNvPr>
          <p:cNvSpPr/>
          <p:nvPr/>
        </p:nvSpPr>
        <p:spPr>
          <a:xfrm rot="16200000">
            <a:off x="4735617" y="2632715"/>
            <a:ext cx="314072" cy="246454"/>
          </a:xfrm>
          <a:prstGeom prst="rightArrow">
            <a:avLst/>
          </a:prstGeom>
          <a:solidFill>
            <a:schemeClr val="bg2"/>
          </a:solidFill>
          <a:ln>
            <a:solidFill>
              <a:schemeClr val="tx2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Gill Sans MT" panose="020B0502020104020203" pitchFamily="34" charset="77"/>
            </a:endParaRPr>
          </a:p>
        </p:txBody>
      </p:sp>
      <p:sp>
        <p:nvSpPr>
          <p:cNvPr id="59" name="Right Arrow 58">
            <a:extLst>
              <a:ext uri="{FF2B5EF4-FFF2-40B4-BE49-F238E27FC236}">
                <a16:creationId xmlns:a16="http://schemas.microsoft.com/office/drawing/2014/main" id="{31662BBA-26D5-0148-8A8D-C512FC72DCF1}"/>
              </a:ext>
            </a:extLst>
          </p:cNvPr>
          <p:cNvSpPr/>
          <p:nvPr/>
        </p:nvSpPr>
        <p:spPr>
          <a:xfrm rot="19800000">
            <a:off x="6875067" y="4505945"/>
            <a:ext cx="314072" cy="246454"/>
          </a:xfrm>
          <a:prstGeom prst="rightArrow">
            <a:avLst/>
          </a:prstGeom>
          <a:solidFill>
            <a:schemeClr val="bg2"/>
          </a:solidFill>
          <a:ln>
            <a:solidFill>
              <a:schemeClr val="tx2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Gill Sans MT" panose="020B0502020104020203" pitchFamily="34" charset="7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8C4C0A0-B05F-F544-ACDD-93C547A06151}"/>
              </a:ext>
            </a:extLst>
          </p:cNvPr>
          <p:cNvSpPr txBox="1"/>
          <p:nvPr/>
        </p:nvSpPr>
        <p:spPr>
          <a:xfrm rot="19800000">
            <a:off x="7141131" y="4294143"/>
            <a:ext cx="4555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Gill Sans MT" panose="020B0502020104020203" pitchFamily="34" charset="77"/>
                <a:cs typeface="Trebuchet MS"/>
              </a:rPr>
              <a:t>Blue</a:t>
            </a:r>
          </a:p>
        </p:txBody>
      </p:sp>
      <p:sp>
        <p:nvSpPr>
          <p:cNvPr id="61" name="Right Arrow 60">
            <a:extLst>
              <a:ext uri="{FF2B5EF4-FFF2-40B4-BE49-F238E27FC236}">
                <a16:creationId xmlns:a16="http://schemas.microsoft.com/office/drawing/2014/main" id="{1AB7EA6F-7213-D541-ADC6-6799FEB73B9E}"/>
              </a:ext>
            </a:extLst>
          </p:cNvPr>
          <p:cNvSpPr/>
          <p:nvPr/>
        </p:nvSpPr>
        <p:spPr>
          <a:xfrm rot="9000000">
            <a:off x="6437057" y="4840967"/>
            <a:ext cx="314072" cy="246454"/>
          </a:xfrm>
          <a:prstGeom prst="rightArrow">
            <a:avLst/>
          </a:prstGeom>
          <a:solidFill>
            <a:schemeClr val="bg2"/>
          </a:solidFill>
          <a:ln>
            <a:solidFill>
              <a:schemeClr val="tx2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Gill Sans MT" panose="020B0502020104020203" pitchFamily="34" charset="7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4685E87-A3A9-2042-AA13-2BC1F2F3D107}"/>
              </a:ext>
            </a:extLst>
          </p:cNvPr>
          <p:cNvSpPr txBox="1"/>
          <p:nvPr/>
        </p:nvSpPr>
        <p:spPr>
          <a:xfrm rot="19800000">
            <a:off x="6028893" y="5017958"/>
            <a:ext cx="4365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Red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56ABB486-3638-DA46-BFB4-6E2F9AD24A1A}"/>
              </a:ext>
            </a:extLst>
          </p:cNvPr>
          <p:cNvSpPr/>
          <p:nvPr/>
        </p:nvSpPr>
        <p:spPr>
          <a:xfrm>
            <a:off x="3972297" y="2057934"/>
            <a:ext cx="431800" cy="432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CD5CE5-A82B-A842-8C9E-328CC3E967C3}"/>
              </a:ext>
            </a:extLst>
          </p:cNvPr>
          <p:cNvSpPr txBox="1"/>
          <p:nvPr/>
        </p:nvSpPr>
        <p:spPr>
          <a:xfrm>
            <a:off x="6753604" y="2067212"/>
            <a:ext cx="31431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Repeat for all testing samples…</a:t>
            </a:r>
          </a:p>
          <a:p>
            <a:r>
              <a:rPr lang="en-US" dirty="0">
                <a:latin typeface="Gill Sans MT" panose="020B0502020104020203" pitchFamily="34" charset="77"/>
              </a:rPr>
              <a:t>Compute Accuracy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613C95-C4C8-9257-4137-539407585638}"/>
              </a:ext>
            </a:extLst>
          </p:cNvPr>
          <p:cNvSpPr txBox="1"/>
          <p:nvPr/>
        </p:nvSpPr>
        <p:spPr>
          <a:xfrm>
            <a:off x="4371620" y="2045410"/>
            <a:ext cx="10586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77"/>
                <a:cs typeface="Trebuchet MS"/>
              </a:rPr>
              <a:t>Was it </a:t>
            </a:r>
            <a:r>
              <a:rPr lang="en-US" sz="1200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Red </a:t>
            </a:r>
            <a:r>
              <a:rPr lang="en-US" sz="1200" dirty="0">
                <a:latin typeface="Gill Sans MT" panose="020B0502020104020203" pitchFamily="34" charset="77"/>
                <a:cs typeface="Trebuchet MS"/>
              </a:rPr>
              <a:t>?  </a:t>
            </a:r>
          </a:p>
          <a:p>
            <a:pPr algn="ctr"/>
            <a:r>
              <a:rPr lang="en-US" sz="1200" dirty="0">
                <a:latin typeface="Gill Sans MT" panose="020B0502020104020203" pitchFamily="34" charset="77"/>
                <a:cs typeface="Trebuchet MS"/>
              </a:rPr>
              <a:t>Yes/No</a:t>
            </a:r>
          </a:p>
        </p:txBody>
      </p:sp>
    </p:spTree>
    <p:extLst>
      <p:ext uri="{BB962C8B-B14F-4D97-AF65-F5344CB8AC3E}">
        <p14:creationId xmlns:p14="http://schemas.microsoft.com/office/powerpoint/2010/main" val="21361536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A4F5F-DE83-4053-3B8B-C83248BB7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18E7243-E72E-743B-A9C2-58D7E493175B}"/>
              </a:ext>
            </a:extLst>
          </p:cNvPr>
          <p:cNvSpPr txBox="1"/>
          <p:nvPr/>
        </p:nvSpPr>
        <p:spPr>
          <a:xfrm>
            <a:off x="2264675" y="5340955"/>
            <a:ext cx="38170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>
                <a:latin typeface="Gill Sans MT" panose="020B0502020104020203" pitchFamily="34" charset="77"/>
                <a:cs typeface="Trebuchet MS"/>
              </a:rPr>
              <a:t>Esquema</a:t>
            </a:r>
            <a:r>
              <a:rPr lang="en-US" sz="4000" dirty="0">
                <a:latin typeface="Gill Sans MT" panose="020B0502020104020203" pitchFamily="34" charset="77"/>
                <a:cs typeface="Trebuchet MS"/>
              </a:rPr>
              <a:t> General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1A96EC-6918-351D-F4E6-ADC8949E0E95}"/>
              </a:ext>
            </a:extLst>
          </p:cNvPr>
          <p:cNvSpPr txBox="1"/>
          <p:nvPr/>
        </p:nvSpPr>
        <p:spPr>
          <a:xfrm rot="16200000">
            <a:off x="7282990" y="2141319"/>
            <a:ext cx="1200585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 err="1">
                <a:latin typeface="Gill Sans MT" panose="020B0502020104020203" pitchFamily="34" charset="77"/>
              </a:rPr>
              <a:t>N</a:t>
            </a:r>
            <a:r>
              <a:rPr lang="en-US" sz="1600" baseline="-25000" dirty="0" err="1">
                <a:latin typeface="Gill Sans MT" panose="020B0502020104020203" pitchFamily="34" charset="77"/>
              </a:rPr>
              <a:t>t</a:t>
            </a:r>
            <a:r>
              <a:rPr lang="en-US" sz="1600" dirty="0">
                <a:latin typeface="Gill Sans MT" panose="020B0502020104020203" pitchFamily="34" charset="77"/>
              </a:rPr>
              <a:t> </a:t>
            </a:r>
            <a:r>
              <a:rPr lang="en-US" sz="1600" dirty="0" err="1">
                <a:latin typeface="Gill Sans MT" panose="020B0502020104020203" pitchFamily="34" charset="77"/>
              </a:rPr>
              <a:t>muestras</a:t>
            </a:r>
            <a:endParaRPr lang="en-US" sz="1600" dirty="0">
              <a:latin typeface="Gill Sans MT" panose="020B0502020104020203" pitchFamily="34" charset="77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5F2BAA1-FC30-A02B-5FF9-1730632D3415}"/>
              </a:ext>
            </a:extLst>
          </p:cNvPr>
          <p:cNvCxnSpPr>
            <a:cxnSpLocks/>
          </p:cNvCxnSpPr>
          <p:nvPr/>
        </p:nvCxnSpPr>
        <p:spPr>
          <a:xfrm flipH="1">
            <a:off x="8754004" y="2946408"/>
            <a:ext cx="2862" cy="93600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5525AA99-D7D6-4559-5A79-326679F2F844}"/>
              </a:ext>
            </a:extLst>
          </p:cNvPr>
          <p:cNvGraphicFramePr>
            <a:graphicFrameLocks noGrp="1"/>
          </p:cNvGraphicFramePr>
          <p:nvPr/>
        </p:nvGraphicFramePr>
        <p:xfrm>
          <a:off x="8328588" y="1658587"/>
          <a:ext cx="1092924" cy="112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231">
                  <a:extLst>
                    <a:ext uri="{9D8B030D-6E8A-4147-A177-3AD203B41FA5}">
                      <a16:colId xmlns:a16="http://schemas.microsoft.com/office/drawing/2014/main" val="1587632376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749266633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3802181957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1979340780"/>
                    </a:ext>
                  </a:extLst>
                </a:gridCol>
              </a:tblGrid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129878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10622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080497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68420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387770"/>
                  </a:ext>
                </a:extLst>
              </a:tr>
            </a:tbl>
          </a:graphicData>
        </a:graphic>
      </p:graphicFrame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51A9627-DFA8-C653-3DC1-86610D136C5E}"/>
              </a:ext>
            </a:extLst>
          </p:cNvPr>
          <p:cNvSpPr/>
          <p:nvPr/>
        </p:nvSpPr>
        <p:spPr>
          <a:xfrm>
            <a:off x="7923412" y="3876112"/>
            <a:ext cx="1649308" cy="694987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rPr>
              <a:t>Clasificación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Gill Sans MT" panose="020B0502020104020203" pitchFamily="34" charset="77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8FC4D80-E5C4-F90E-3B29-FFAD02A31266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4256920" y="4218984"/>
            <a:ext cx="3666495" cy="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eft Brace 15">
            <a:extLst>
              <a:ext uri="{FF2B5EF4-FFF2-40B4-BE49-F238E27FC236}">
                <a16:creationId xmlns:a16="http://schemas.microsoft.com/office/drawing/2014/main" id="{32B2E643-3B77-7AF2-E241-E4529C1EBF1B}"/>
              </a:ext>
            </a:extLst>
          </p:cNvPr>
          <p:cNvSpPr/>
          <p:nvPr/>
        </p:nvSpPr>
        <p:spPr>
          <a:xfrm rot="16200000">
            <a:off x="8707050" y="2470055"/>
            <a:ext cx="91967" cy="797785"/>
          </a:xfrm>
          <a:prstGeom prst="leftBrace">
            <a:avLst/>
          </a:prstGeom>
          <a:ln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2025057-556E-432C-6CB0-A6AFA233F3F6}"/>
              </a:ext>
            </a:extLst>
          </p:cNvPr>
          <p:cNvCxnSpPr>
            <a:cxnSpLocks/>
          </p:cNvCxnSpPr>
          <p:nvPr/>
        </p:nvCxnSpPr>
        <p:spPr>
          <a:xfrm flipH="1">
            <a:off x="8750928" y="4569578"/>
            <a:ext cx="2862" cy="64800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DE935630-DC12-FEFC-54CB-4F2D8B818D5F}"/>
              </a:ext>
            </a:extLst>
          </p:cNvPr>
          <p:cNvGraphicFramePr>
            <a:graphicFrameLocks noGrp="1"/>
          </p:cNvGraphicFramePr>
          <p:nvPr/>
        </p:nvGraphicFramePr>
        <p:xfrm>
          <a:off x="8606527" y="5203908"/>
          <a:ext cx="273231" cy="112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231">
                  <a:extLst>
                    <a:ext uri="{9D8B030D-6E8A-4147-A177-3AD203B41FA5}">
                      <a16:colId xmlns:a16="http://schemas.microsoft.com/office/drawing/2014/main" val="1979340780"/>
                    </a:ext>
                  </a:extLst>
                </a:gridCol>
              </a:tblGrid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129878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10622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080497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68420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387770"/>
                  </a:ext>
                </a:extLst>
              </a:tr>
            </a:tbl>
          </a:graphicData>
        </a:graphic>
      </p:graphicFrame>
      <p:sp>
        <p:nvSpPr>
          <p:cNvPr id="19" name="Oval 18">
            <a:extLst>
              <a:ext uri="{FF2B5EF4-FFF2-40B4-BE49-F238E27FC236}">
                <a16:creationId xmlns:a16="http://schemas.microsoft.com/office/drawing/2014/main" id="{3BAB2A87-A6EF-4628-08D5-12F1501ED70C}"/>
              </a:ext>
            </a:extLst>
          </p:cNvPr>
          <p:cNvSpPr/>
          <p:nvPr/>
        </p:nvSpPr>
        <p:spPr>
          <a:xfrm>
            <a:off x="8537901" y="5043798"/>
            <a:ext cx="410476" cy="146341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EBD8605-20D4-FB2E-3F9F-317E39493D6C}"/>
              </a:ext>
            </a:extLst>
          </p:cNvPr>
          <p:cNvSpPr/>
          <p:nvPr/>
        </p:nvSpPr>
        <p:spPr>
          <a:xfrm>
            <a:off x="9553744" y="5617533"/>
            <a:ext cx="324000" cy="32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600" dirty="0">
              <a:latin typeface="Gill Sans MT" panose="020B0502020104020203" pitchFamily="34" charset="77"/>
            </a:endParaRPr>
          </a:p>
        </p:txBody>
      </p: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EF0170C7-B367-6617-D4A2-8B332E598D47}"/>
              </a:ext>
            </a:extLst>
          </p:cNvPr>
          <p:cNvCxnSpPr>
            <a:cxnSpLocks/>
            <a:stCxn id="13" idx="3"/>
            <a:endCxn id="20" idx="0"/>
          </p:cNvCxnSpPr>
          <p:nvPr/>
        </p:nvCxnSpPr>
        <p:spPr>
          <a:xfrm>
            <a:off x="9421512" y="2223347"/>
            <a:ext cx="294232" cy="3394186"/>
          </a:xfrm>
          <a:prstGeom prst="bentConnector2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BD7C825-1861-6400-05B7-4397AC1F2606}"/>
              </a:ext>
            </a:extLst>
          </p:cNvPr>
          <p:cNvCxnSpPr>
            <a:cxnSpLocks/>
            <a:stCxn id="19" idx="6"/>
            <a:endCxn id="20" idx="2"/>
          </p:cNvCxnSpPr>
          <p:nvPr/>
        </p:nvCxnSpPr>
        <p:spPr>
          <a:xfrm>
            <a:off x="8948378" y="5775503"/>
            <a:ext cx="605367" cy="403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7C0CBC1-1653-C219-2A72-E8E3D725F91E}"/>
              </a:ext>
            </a:extLst>
          </p:cNvPr>
          <p:cNvCxnSpPr>
            <a:cxnSpLocks/>
          </p:cNvCxnSpPr>
          <p:nvPr/>
        </p:nvCxnSpPr>
        <p:spPr>
          <a:xfrm>
            <a:off x="9719209" y="5940267"/>
            <a:ext cx="0" cy="289754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B47A5C5-9DA1-8DFE-CB2B-8A74DA9E9D5C}"/>
              </a:ext>
            </a:extLst>
          </p:cNvPr>
          <p:cNvSpPr txBox="1"/>
          <p:nvPr/>
        </p:nvSpPr>
        <p:spPr>
          <a:xfrm>
            <a:off x="9164650" y="6226055"/>
            <a:ext cx="1047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Accuracy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AF6073-FE46-B558-E807-51865BE4FDF7}"/>
              </a:ext>
            </a:extLst>
          </p:cNvPr>
          <p:cNvSpPr txBox="1"/>
          <p:nvPr/>
        </p:nvSpPr>
        <p:spPr>
          <a:xfrm>
            <a:off x="6258929" y="5482966"/>
            <a:ext cx="21675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err="1">
                <a:latin typeface="Gill Sans MT" panose="020B0502020104020203" pitchFamily="34" charset="77"/>
              </a:rPr>
              <a:t>Clasificación</a:t>
            </a:r>
            <a:r>
              <a:rPr lang="en-US" dirty="0">
                <a:latin typeface="Gill Sans MT" panose="020B0502020104020203" pitchFamily="34" charset="77"/>
              </a:rPr>
              <a:t> del </a:t>
            </a:r>
          </a:p>
          <a:p>
            <a:pPr algn="r"/>
            <a:r>
              <a:rPr lang="en-US" dirty="0">
                <a:latin typeface="Gill Sans MT" panose="020B0502020104020203" pitchFamily="34" charset="77"/>
              </a:rPr>
              <a:t>Conjunto de </a:t>
            </a:r>
            <a:r>
              <a:rPr lang="en-US" dirty="0" err="1">
                <a:latin typeface="Gill Sans MT" panose="020B0502020104020203" pitchFamily="34" charset="77"/>
              </a:rPr>
              <a:t>Pruebas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CEDDF00-28F2-1242-27C7-AD7599E14F21}"/>
              </a:ext>
            </a:extLst>
          </p:cNvPr>
          <p:cNvSpPr txBox="1"/>
          <p:nvPr/>
        </p:nvSpPr>
        <p:spPr>
          <a:xfrm>
            <a:off x="9532299" y="5318121"/>
            <a:ext cx="3946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Gill Sans MT" panose="020B0502020104020203" pitchFamily="34" charset="77"/>
              </a:rPr>
              <a:t>-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4C7C21C-C2B4-5B31-1BF7-A1C9110BAED3}"/>
              </a:ext>
            </a:extLst>
          </p:cNvPr>
          <p:cNvSpPr txBox="1"/>
          <p:nvPr/>
        </p:nvSpPr>
        <p:spPr>
          <a:xfrm>
            <a:off x="8294573" y="1856593"/>
            <a:ext cx="851515" cy="21544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800" dirty="0">
                <a:latin typeface="Gill Sans MT" panose="020B0502020104020203" pitchFamily="34" charset="77"/>
              </a:rPr>
              <a:t>p </a:t>
            </a:r>
            <a:r>
              <a:rPr lang="en-US" sz="800" dirty="0" err="1">
                <a:latin typeface="Gill Sans MT" panose="020B0502020104020203" pitchFamily="34" charset="77"/>
              </a:rPr>
              <a:t>características</a:t>
            </a:r>
            <a:endParaRPr lang="en-US" sz="800" dirty="0">
              <a:latin typeface="Gill Sans MT" panose="020B0502020104020203" pitchFamily="34" charset="77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08B85D7-2644-3C73-DDEC-9E9E756A145B}"/>
              </a:ext>
            </a:extLst>
          </p:cNvPr>
          <p:cNvCxnSpPr>
            <a:cxnSpLocks/>
          </p:cNvCxnSpPr>
          <p:nvPr/>
        </p:nvCxnSpPr>
        <p:spPr>
          <a:xfrm flipV="1">
            <a:off x="2462542" y="1336736"/>
            <a:ext cx="0" cy="1790107"/>
          </a:xfrm>
          <a:prstGeom prst="straightConnector1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23923F8F-F078-BD1D-D6E9-5A704A2D095C}"/>
              </a:ext>
            </a:extLst>
          </p:cNvPr>
          <p:cNvGraphicFramePr>
            <a:graphicFrameLocks noGrp="1"/>
          </p:cNvGraphicFramePr>
          <p:nvPr/>
        </p:nvGraphicFramePr>
        <p:xfrm>
          <a:off x="2899351" y="1093704"/>
          <a:ext cx="1092924" cy="2033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231">
                  <a:extLst>
                    <a:ext uri="{9D8B030D-6E8A-4147-A177-3AD203B41FA5}">
                      <a16:colId xmlns:a16="http://schemas.microsoft.com/office/drawing/2014/main" val="1587632376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1429024220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3802181957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1979340780"/>
                    </a:ext>
                  </a:extLst>
                </a:gridCol>
              </a:tblGrid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129878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10622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622095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080497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6197139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68420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38777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607525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590238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A6644C1A-AAB8-B4F1-F4C7-809496DFD499}"/>
              </a:ext>
            </a:extLst>
          </p:cNvPr>
          <p:cNvSpPr txBox="1"/>
          <p:nvPr/>
        </p:nvSpPr>
        <p:spPr>
          <a:xfrm rot="16200000">
            <a:off x="1826315" y="2042544"/>
            <a:ext cx="127246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N </a:t>
            </a:r>
            <a:r>
              <a:rPr lang="en-US" dirty="0" err="1">
                <a:latin typeface="Gill Sans MT" panose="020B0502020104020203" pitchFamily="34" charset="77"/>
              </a:rPr>
              <a:t>muestras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B666C0C-5216-5888-D4C9-01C867D688FF}"/>
              </a:ext>
            </a:extLst>
          </p:cNvPr>
          <p:cNvSpPr txBox="1"/>
          <p:nvPr/>
        </p:nvSpPr>
        <p:spPr>
          <a:xfrm>
            <a:off x="2883709" y="1330227"/>
            <a:ext cx="851515" cy="21544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800" dirty="0">
                <a:latin typeface="Gill Sans MT" panose="020B0502020104020203" pitchFamily="34" charset="77"/>
              </a:rPr>
              <a:t>p </a:t>
            </a:r>
            <a:r>
              <a:rPr lang="en-US" sz="800" dirty="0" err="1">
                <a:latin typeface="Gill Sans MT" panose="020B0502020104020203" pitchFamily="34" charset="77"/>
              </a:rPr>
              <a:t>características</a:t>
            </a:r>
            <a:endParaRPr lang="en-US" sz="800" dirty="0">
              <a:latin typeface="Gill Sans MT" panose="020B0502020104020203" pitchFamily="34" charset="77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A2800DE6-64EA-E071-3137-BB2F1833D73C}"/>
              </a:ext>
            </a:extLst>
          </p:cNvPr>
          <p:cNvSpPr/>
          <p:nvPr/>
        </p:nvSpPr>
        <p:spPr>
          <a:xfrm>
            <a:off x="2607609" y="3860674"/>
            <a:ext cx="1649308" cy="694987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rPr>
              <a:t>Entrenamiento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rPr>
              <a:t> de </a:t>
            </a: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rPr>
              <a:t>Clasificador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Gill Sans MT" panose="020B0502020104020203" pitchFamily="34" charset="77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8515130-19E7-D169-EF15-FEB36CB51D30}"/>
              </a:ext>
            </a:extLst>
          </p:cNvPr>
          <p:cNvCxnSpPr>
            <a:cxnSpLocks/>
          </p:cNvCxnSpPr>
          <p:nvPr/>
        </p:nvCxnSpPr>
        <p:spPr>
          <a:xfrm>
            <a:off x="3301211" y="3392929"/>
            <a:ext cx="339" cy="46800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Left Brace 33">
            <a:extLst>
              <a:ext uri="{FF2B5EF4-FFF2-40B4-BE49-F238E27FC236}">
                <a16:creationId xmlns:a16="http://schemas.microsoft.com/office/drawing/2014/main" id="{985BF9F4-482F-DCF7-E887-0873CC140C99}"/>
              </a:ext>
            </a:extLst>
          </p:cNvPr>
          <p:cNvSpPr/>
          <p:nvPr/>
        </p:nvSpPr>
        <p:spPr>
          <a:xfrm rot="16200000">
            <a:off x="3246836" y="2891857"/>
            <a:ext cx="135504" cy="750376"/>
          </a:xfrm>
          <a:prstGeom prst="leftBrace">
            <a:avLst>
              <a:gd name="adj1" fmla="val 8333"/>
              <a:gd name="adj2" fmla="val 49144"/>
            </a:avLst>
          </a:prstGeom>
          <a:ln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6842180-8DD8-661F-DBAC-37B3EE9C79A1}"/>
              </a:ext>
            </a:extLst>
          </p:cNvPr>
          <p:cNvCxnSpPr>
            <a:cxnSpLocks/>
          </p:cNvCxnSpPr>
          <p:nvPr/>
        </p:nvCxnSpPr>
        <p:spPr>
          <a:xfrm>
            <a:off x="3849922" y="3126597"/>
            <a:ext cx="0" cy="746188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BB4D8F0D-B7C0-9FDB-08A5-8018A155743F}"/>
              </a:ext>
            </a:extLst>
          </p:cNvPr>
          <p:cNvSpPr txBox="1"/>
          <p:nvPr/>
        </p:nvSpPr>
        <p:spPr>
          <a:xfrm>
            <a:off x="4685295" y="4182851"/>
            <a:ext cx="2780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parámetros</a:t>
            </a:r>
            <a:r>
              <a:rPr lang="en-US" dirty="0">
                <a:latin typeface="Gill Sans MT" panose="020B0502020104020203" pitchFamily="34" charset="77"/>
              </a:rPr>
              <a:t> del </a:t>
            </a:r>
            <a:r>
              <a:rPr lang="en-US" dirty="0" err="1">
                <a:latin typeface="Gill Sans MT" panose="020B0502020104020203" pitchFamily="34" charset="77"/>
              </a:rPr>
              <a:t>clasificador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44335A56-EBF2-EEB9-2AAE-0E0087CABE6E}"/>
              </a:ext>
            </a:extLst>
          </p:cNvPr>
          <p:cNvSpPr/>
          <p:nvPr/>
        </p:nvSpPr>
        <p:spPr>
          <a:xfrm>
            <a:off x="9080142" y="1506324"/>
            <a:ext cx="410476" cy="146341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5482321-8ECF-CF45-EE01-BC6040D64E56}"/>
              </a:ext>
            </a:extLst>
          </p:cNvPr>
          <p:cNvSpPr txBox="1"/>
          <p:nvPr/>
        </p:nvSpPr>
        <p:spPr>
          <a:xfrm>
            <a:off x="7188761" y="3037895"/>
            <a:ext cx="15071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err="1">
                <a:solidFill>
                  <a:srgbClr val="FF0000"/>
                </a:solidFill>
                <a:latin typeface="Gill Sans MT" panose="020B0502020104020203" pitchFamily="34" charset="77"/>
              </a:rPr>
              <a:t>sólo</a:t>
            </a:r>
            <a:endParaRPr lang="en-US" dirty="0">
              <a:solidFill>
                <a:srgbClr val="FF0000"/>
              </a:solidFill>
              <a:latin typeface="Gill Sans MT" panose="020B0502020104020203" pitchFamily="34" charset="77"/>
            </a:endParaRPr>
          </a:p>
          <a:p>
            <a:pPr algn="r"/>
            <a:r>
              <a:rPr lang="en-US" dirty="0" err="1">
                <a:solidFill>
                  <a:srgbClr val="FF0000"/>
                </a:solidFill>
                <a:latin typeface="Gill Sans MT" panose="020B0502020104020203" pitchFamily="34" charset="77"/>
              </a:rPr>
              <a:t>características</a:t>
            </a:r>
            <a:endParaRPr lang="en-US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E364B57-74BB-48E4-97DB-CFFB227AF100}"/>
              </a:ext>
            </a:extLst>
          </p:cNvPr>
          <p:cNvSpPr txBox="1"/>
          <p:nvPr/>
        </p:nvSpPr>
        <p:spPr>
          <a:xfrm>
            <a:off x="9906119" y="3876111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9300"/>
                </a:solidFill>
                <a:latin typeface="Gill Sans MT" panose="020B0502020104020203" pitchFamily="34" charset="77"/>
              </a:rPr>
              <a:t>y</a:t>
            </a:r>
            <a:r>
              <a:rPr lang="en-US" baseline="-250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t</a:t>
            </a:r>
            <a:endParaRPr lang="en-US" baseline="-25000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0C13732-CFCE-051A-8E4D-0BDBA6C010EE}"/>
              </a:ext>
            </a:extLst>
          </p:cNvPr>
          <p:cNvSpPr txBox="1"/>
          <p:nvPr/>
        </p:nvSpPr>
        <p:spPr>
          <a:xfrm>
            <a:off x="9118220" y="5364286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00B050"/>
                </a:solidFill>
                <a:latin typeface="Gill Sans MT" panose="020B0502020104020203" pitchFamily="34" charset="77"/>
              </a:rPr>
              <a:t>y</a:t>
            </a:r>
            <a:r>
              <a:rPr lang="en-US" baseline="-25000" dirty="0" err="1">
                <a:solidFill>
                  <a:srgbClr val="00B050"/>
                </a:solidFill>
                <a:latin typeface="Gill Sans MT" panose="020B0502020104020203" pitchFamily="34" charset="77"/>
              </a:rPr>
              <a:t>s</a:t>
            </a:r>
            <a:endParaRPr lang="en-US" baseline="-25000" dirty="0">
              <a:solidFill>
                <a:srgbClr val="00B050"/>
              </a:solidFill>
              <a:latin typeface="Gill Sans MT" panose="020B0502020104020203" pitchFamily="34" charset="7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64D1D2C-BE9D-0031-77A8-92BA6DB3EC4D}"/>
              </a:ext>
            </a:extLst>
          </p:cNvPr>
          <p:cNvSpPr txBox="1"/>
          <p:nvPr/>
        </p:nvSpPr>
        <p:spPr>
          <a:xfrm>
            <a:off x="9091306" y="1055801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9300"/>
                </a:solidFill>
                <a:latin typeface="Gill Sans MT" panose="020B0502020104020203" pitchFamily="34" charset="77"/>
              </a:rPr>
              <a:t>y</a:t>
            </a:r>
            <a:r>
              <a:rPr lang="en-US" baseline="-250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t</a:t>
            </a:r>
            <a:endParaRPr lang="en-US" baseline="-25000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FFA8683-8B7D-B1CF-50B0-DF9938FEE47C}"/>
              </a:ext>
            </a:extLst>
          </p:cNvPr>
          <p:cNvSpPr txBox="1"/>
          <p:nvPr/>
        </p:nvSpPr>
        <p:spPr>
          <a:xfrm>
            <a:off x="8486290" y="1055801"/>
            <a:ext cx="39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9300"/>
                </a:solidFill>
                <a:latin typeface="Gill Sans MT" panose="020B0502020104020203" pitchFamily="34" charset="77"/>
              </a:rPr>
              <a:t>X</a:t>
            </a:r>
            <a:r>
              <a:rPr lang="en-US" baseline="-250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t</a:t>
            </a:r>
            <a:endParaRPr lang="en-US" baseline="-25000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99F8FFF-3FC5-6206-15CF-38BD2A67E267}"/>
              </a:ext>
            </a:extLst>
          </p:cNvPr>
          <p:cNvSpPr txBox="1"/>
          <p:nvPr/>
        </p:nvSpPr>
        <p:spPr>
          <a:xfrm>
            <a:off x="8713819" y="3148581"/>
            <a:ext cx="39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9300"/>
                </a:solidFill>
                <a:latin typeface="Gill Sans MT" panose="020B0502020104020203" pitchFamily="34" charset="77"/>
              </a:rPr>
              <a:t>X</a:t>
            </a:r>
            <a:r>
              <a:rPr lang="en-US" baseline="-250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t</a:t>
            </a:r>
            <a:endParaRPr lang="en-US" baseline="-25000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E039CB4-4BEB-5504-AF2B-C8070CBE14E7}"/>
              </a:ext>
            </a:extLst>
          </p:cNvPr>
          <p:cNvSpPr txBox="1"/>
          <p:nvPr/>
        </p:nvSpPr>
        <p:spPr>
          <a:xfrm>
            <a:off x="8742528" y="4628968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00B050"/>
                </a:solidFill>
                <a:latin typeface="Gill Sans MT" panose="020B0502020104020203" pitchFamily="34" charset="77"/>
              </a:rPr>
              <a:t>y</a:t>
            </a:r>
            <a:r>
              <a:rPr lang="en-US" baseline="-25000" dirty="0" err="1">
                <a:solidFill>
                  <a:srgbClr val="00B050"/>
                </a:solidFill>
                <a:latin typeface="Gill Sans MT" panose="020B0502020104020203" pitchFamily="34" charset="77"/>
              </a:rPr>
              <a:t>s</a:t>
            </a:r>
            <a:endParaRPr lang="en-US" baseline="-25000" dirty="0">
              <a:solidFill>
                <a:srgbClr val="00B050"/>
              </a:solidFill>
              <a:latin typeface="Gill Sans MT" panose="020B0502020104020203" pitchFamily="34" charset="7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2F92971-BC74-C330-5DA8-328A720A6043}"/>
              </a:ext>
            </a:extLst>
          </p:cNvPr>
          <p:cNvSpPr txBox="1"/>
          <p:nvPr/>
        </p:nvSpPr>
        <p:spPr>
          <a:xfrm>
            <a:off x="3797350" y="3369764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  <a:latin typeface="Gill Sans MT" panose="020B0502020104020203" pitchFamily="34" charset="77"/>
              </a:rPr>
              <a:t>y</a:t>
            </a:r>
            <a:endParaRPr lang="en-US" baseline="-25000" dirty="0">
              <a:solidFill>
                <a:srgbClr val="0096FF"/>
              </a:solidFill>
              <a:latin typeface="Gill Sans MT" panose="020B0502020104020203" pitchFamily="34" charset="7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EFDCD6D-D45E-9625-C9A7-2E8AC55049DE}"/>
              </a:ext>
            </a:extLst>
          </p:cNvPr>
          <p:cNvSpPr txBox="1"/>
          <p:nvPr/>
        </p:nvSpPr>
        <p:spPr>
          <a:xfrm>
            <a:off x="2908231" y="3384997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  <a:latin typeface="Gill Sans MT" panose="020B0502020104020203" pitchFamily="34" charset="77"/>
              </a:rPr>
              <a:t>X</a:t>
            </a:r>
            <a:endParaRPr lang="en-US" baseline="-25000" dirty="0">
              <a:solidFill>
                <a:srgbClr val="0096FF"/>
              </a:solidFill>
              <a:latin typeface="Gill Sans MT" panose="020B0502020104020203" pitchFamily="34" charset="7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105D572-96AF-FC91-DDDD-525116604677}"/>
              </a:ext>
            </a:extLst>
          </p:cNvPr>
          <p:cNvSpPr txBox="1"/>
          <p:nvPr/>
        </p:nvSpPr>
        <p:spPr>
          <a:xfrm>
            <a:off x="3694064" y="687690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  <a:latin typeface="Gill Sans MT" panose="020B0502020104020203" pitchFamily="34" charset="77"/>
              </a:rPr>
              <a:t>y</a:t>
            </a:r>
            <a:endParaRPr lang="en-US" baseline="-25000" dirty="0">
              <a:solidFill>
                <a:srgbClr val="0096FF"/>
              </a:solidFill>
              <a:latin typeface="Gill Sans MT" panose="020B0502020104020203" pitchFamily="34" charset="7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9615B4F-A270-7467-9436-989A5550C035}"/>
              </a:ext>
            </a:extLst>
          </p:cNvPr>
          <p:cNvSpPr txBox="1"/>
          <p:nvPr/>
        </p:nvSpPr>
        <p:spPr>
          <a:xfrm>
            <a:off x="3211345" y="702923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  <a:latin typeface="Gill Sans MT" panose="020B0502020104020203" pitchFamily="34" charset="77"/>
              </a:rPr>
              <a:t>X</a:t>
            </a:r>
            <a:endParaRPr lang="en-US" baseline="-25000" dirty="0">
              <a:solidFill>
                <a:srgbClr val="0096FF"/>
              </a:solidFill>
              <a:latin typeface="Gill Sans MT" panose="020B0502020104020203" pitchFamily="34" charset="7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782A953-A1DD-F9AC-D44C-CEE60C437292}"/>
              </a:ext>
            </a:extLst>
          </p:cNvPr>
          <p:cNvSpPr txBox="1"/>
          <p:nvPr/>
        </p:nvSpPr>
        <p:spPr>
          <a:xfrm>
            <a:off x="2098038" y="268159"/>
            <a:ext cx="2808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  <a:latin typeface="Gill Sans MT" panose="020B0502020104020203" pitchFamily="34" charset="77"/>
              </a:rPr>
              <a:t>Conjunto de </a:t>
            </a:r>
            <a:r>
              <a:rPr lang="en-US" dirty="0" err="1">
                <a:solidFill>
                  <a:srgbClr val="0096FF"/>
                </a:solidFill>
                <a:latin typeface="Gill Sans MT" panose="020B0502020104020203" pitchFamily="34" charset="77"/>
              </a:rPr>
              <a:t>Entrenamiento</a:t>
            </a:r>
            <a:endParaRPr lang="en-US" dirty="0">
              <a:solidFill>
                <a:srgbClr val="0096FF"/>
              </a:solidFill>
              <a:latin typeface="Gill Sans MT" panose="020B0502020104020203" pitchFamily="34" charset="7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6F4CFF3-7C97-0B18-F8EF-BEA594B3BA6C}"/>
              </a:ext>
            </a:extLst>
          </p:cNvPr>
          <p:cNvSpPr txBox="1"/>
          <p:nvPr/>
        </p:nvSpPr>
        <p:spPr>
          <a:xfrm>
            <a:off x="7803337" y="278598"/>
            <a:ext cx="2167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9300"/>
                </a:solidFill>
                <a:latin typeface="Gill Sans MT" panose="020B0502020104020203" pitchFamily="34" charset="77"/>
              </a:rPr>
              <a:t>Conjunto de </a:t>
            </a:r>
            <a:r>
              <a:rPr lang="en-US" dirty="0" err="1">
                <a:solidFill>
                  <a:srgbClr val="FF9300"/>
                </a:solidFill>
                <a:latin typeface="Gill Sans MT" panose="020B0502020104020203" pitchFamily="34" charset="77"/>
              </a:rPr>
              <a:t>Pruebas</a:t>
            </a:r>
            <a:endParaRPr lang="en-US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DBD2390-C43B-B23D-4D1B-F96D523260FB}"/>
              </a:ext>
            </a:extLst>
          </p:cNvPr>
          <p:cNvSpPr/>
          <p:nvPr/>
        </p:nvSpPr>
        <p:spPr>
          <a:xfrm>
            <a:off x="10083765" y="5508267"/>
            <a:ext cx="431800" cy="432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6CE9D76-504C-5CFF-FBC6-CB96E9A2BAAE}"/>
              </a:ext>
            </a:extLst>
          </p:cNvPr>
          <p:cNvSpPr/>
          <p:nvPr/>
        </p:nvSpPr>
        <p:spPr>
          <a:xfrm>
            <a:off x="7699363" y="4366233"/>
            <a:ext cx="431800" cy="432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497FC4A-C85B-88EC-1E14-2F5F3A72A432}"/>
              </a:ext>
            </a:extLst>
          </p:cNvPr>
          <p:cNvSpPr/>
          <p:nvPr/>
        </p:nvSpPr>
        <p:spPr>
          <a:xfrm>
            <a:off x="7222282" y="2007347"/>
            <a:ext cx="431800" cy="432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DA21F50-41A1-4107-0334-60988EB37514}"/>
              </a:ext>
            </a:extLst>
          </p:cNvPr>
          <p:cNvSpPr/>
          <p:nvPr/>
        </p:nvSpPr>
        <p:spPr>
          <a:xfrm>
            <a:off x="2098262" y="4003448"/>
            <a:ext cx="431800" cy="432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E341DC2-7A46-1856-8910-BF0E96AB2E48}"/>
              </a:ext>
            </a:extLst>
          </p:cNvPr>
          <p:cNvSpPr/>
          <p:nvPr/>
        </p:nvSpPr>
        <p:spPr>
          <a:xfrm>
            <a:off x="1727200" y="1856592"/>
            <a:ext cx="431800" cy="432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9503223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4412654" y="3429000"/>
            <a:ext cx="1512168" cy="1800200"/>
            <a:chOff x="2888654" y="3429000"/>
            <a:chExt cx="1512168" cy="1800200"/>
          </a:xfrm>
        </p:grpSpPr>
        <p:sp>
          <p:nvSpPr>
            <p:cNvPr id="6" name="Oval 5"/>
            <p:cNvSpPr/>
            <p:nvPr/>
          </p:nvSpPr>
          <p:spPr>
            <a:xfrm>
              <a:off x="3032670" y="3429000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2960662" y="4005064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2888654" y="3717032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3464718" y="3501008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3248694" y="4365104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3392710" y="3861048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3752750" y="4077072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Oval 12"/>
            <p:cNvSpPr/>
            <p:nvPr/>
          </p:nvSpPr>
          <p:spPr>
            <a:xfrm>
              <a:off x="3680742" y="4653136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4" name="Oval 13"/>
            <p:cNvSpPr/>
            <p:nvPr/>
          </p:nvSpPr>
          <p:spPr>
            <a:xfrm>
              <a:off x="3608734" y="4365104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5" name="Oval 14"/>
            <p:cNvSpPr/>
            <p:nvPr/>
          </p:nvSpPr>
          <p:spPr>
            <a:xfrm>
              <a:off x="4184798" y="4149080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6" name="Oval 15"/>
            <p:cNvSpPr/>
            <p:nvPr/>
          </p:nvSpPr>
          <p:spPr>
            <a:xfrm>
              <a:off x="3968774" y="5013176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7" name="Oval 16"/>
            <p:cNvSpPr/>
            <p:nvPr/>
          </p:nvSpPr>
          <p:spPr>
            <a:xfrm>
              <a:off x="4112790" y="4509120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8" name="Oval 17"/>
            <p:cNvSpPr/>
            <p:nvPr/>
          </p:nvSpPr>
          <p:spPr>
            <a:xfrm>
              <a:off x="3176686" y="3717032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9" name="Oval 18"/>
            <p:cNvSpPr/>
            <p:nvPr/>
          </p:nvSpPr>
          <p:spPr>
            <a:xfrm>
              <a:off x="2960662" y="4653136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0" name="Oval 19"/>
            <p:cNvSpPr/>
            <p:nvPr/>
          </p:nvSpPr>
          <p:spPr>
            <a:xfrm>
              <a:off x="2888654" y="4365104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1" name="Oval 20"/>
            <p:cNvSpPr/>
            <p:nvPr/>
          </p:nvSpPr>
          <p:spPr>
            <a:xfrm>
              <a:off x="3464718" y="4149080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2" name="Oval 21"/>
            <p:cNvSpPr/>
            <p:nvPr/>
          </p:nvSpPr>
          <p:spPr>
            <a:xfrm>
              <a:off x="3248694" y="5013176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3" name="Oval 22"/>
            <p:cNvSpPr/>
            <p:nvPr/>
          </p:nvSpPr>
          <p:spPr>
            <a:xfrm>
              <a:off x="3392710" y="4725144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42" name="Group 41"/>
          <p:cNvGrpSpPr/>
          <p:nvPr/>
        </p:nvGrpSpPr>
        <p:grpSpPr>
          <a:xfrm rot="2553764">
            <a:off x="5542359" y="2623150"/>
            <a:ext cx="1512168" cy="1800200"/>
            <a:chOff x="4572000" y="3005336"/>
            <a:chExt cx="1512168" cy="1800200"/>
          </a:xfrm>
          <a:solidFill>
            <a:srgbClr val="0000FF"/>
          </a:solidFill>
        </p:grpSpPr>
        <p:sp>
          <p:nvSpPr>
            <p:cNvPr id="24" name="Oval 23"/>
            <p:cNvSpPr/>
            <p:nvPr/>
          </p:nvSpPr>
          <p:spPr>
            <a:xfrm>
              <a:off x="4716016" y="300533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5" name="Oval 24"/>
            <p:cNvSpPr/>
            <p:nvPr/>
          </p:nvSpPr>
          <p:spPr>
            <a:xfrm>
              <a:off x="4644008" y="358140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6" name="Oval 25"/>
            <p:cNvSpPr/>
            <p:nvPr/>
          </p:nvSpPr>
          <p:spPr>
            <a:xfrm>
              <a:off x="4572000" y="329336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7" name="Oval 26"/>
            <p:cNvSpPr/>
            <p:nvPr/>
          </p:nvSpPr>
          <p:spPr>
            <a:xfrm>
              <a:off x="5148064" y="307734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8" name="Oval 27"/>
            <p:cNvSpPr/>
            <p:nvPr/>
          </p:nvSpPr>
          <p:spPr>
            <a:xfrm>
              <a:off x="493204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9" name="Oval 28"/>
            <p:cNvSpPr/>
            <p:nvPr/>
          </p:nvSpPr>
          <p:spPr>
            <a:xfrm>
              <a:off x="5076056" y="343738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0" name="Oval 29"/>
            <p:cNvSpPr/>
            <p:nvPr/>
          </p:nvSpPr>
          <p:spPr>
            <a:xfrm>
              <a:off x="5436096" y="365340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1" name="Oval 30"/>
            <p:cNvSpPr/>
            <p:nvPr/>
          </p:nvSpPr>
          <p:spPr>
            <a:xfrm>
              <a:off x="5364088" y="422947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2" name="Oval 31"/>
            <p:cNvSpPr/>
            <p:nvPr/>
          </p:nvSpPr>
          <p:spPr>
            <a:xfrm>
              <a:off x="529208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3" name="Oval 32"/>
            <p:cNvSpPr/>
            <p:nvPr/>
          </p:nvSpPr>
          <p:spPr>
            <a:xfrm>
              <a:off x="5868144" y="372541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4" name="Oval 33"/>
            <p:cNvSpPr/>
            <p:nvPr/>
          </p:nvSpPr>
          <p:spPr>
            <a:xfrm>
              <a:off x="5652120" y="458951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5" name="Oval 34"/>
            <p:cNvSpPr/>
            <p:nvPr/>
          </p:nvSpPr>
          <p:spPr>
            <a:xfrm>
              <a:off x="5796136" y="408545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6" name="Oval 35"/>
            <p:cNvSpPr/>
            <p:nvPr/>
          </p:nvSpPr>
          <p:spPr>
            <a:xfrm>
              <a:off x="4860032" y="329336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7" name="Oval 36"/>
            <p:cNvSpPr/>
            <p:nvPr/>
          </p:nvSpPr>
          <p:spPr>
            <a:xfrm>
              <a:off x="4644008" y="422947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8" name="Oval 37"/>
            <p:cNvSpPr/>
            <p:nvPr/>
          </p:nvSpPr>
          <p:spPr>
            <a:xfrm>
              <a:off x="457200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9" name="Oval 38"/>
            <p:cNvSpPr/>
            <p:nvPr/>
          </p:nvSpPr>
          <p:spPr>
            <a:xfrm>
              <a:off x="5148064" y="372541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40" name="Oval 39"/>
            <p:cNvSpPr/>
            <p:nvPr/>
          </p:nvSpPr>
          <p:spPr>
            <a:xfrm>
              <a:off x="4932040" y="458951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41" name="Oval 40"/>
            <p:cNvSpPr/>
            <p:nvPr/>
          </p:nvSpPr>
          <p:spPr>
            <a:xfrm>
              <a:off x="5076056" y="430148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" name="Right Brace 1"/>
          <p:cNvSpPr/>
          <p:nvPr/>
        </p:nvSpPr>
        <p:spPr>
          <a:xfrm>
            <a:off x="8040216" y="2420888"/>
            <a:ext cx="360040" cy="3024336"/>
          </a:xfrm>
          <a:prstGeom prst="rightBrac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400256" y="3687416"/>
            <a:ext cx="17668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Training data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37B28B74-E50E-B44D-B6D4-476F2412088F}"/>
              </a:ext>
            </a:extLst>
          </p:cNvPr>
          <p:cNvSpPr/>
          <p:nvPr/>
        </p:nvSpPr>
        <p:spPr>
          <a:xfrm>
            <a:off x="9144000" y="3093415"/>
            <a:ext cx="431800" cy="432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4230725-47E0-9F4F-8AB9-48FB5BFCF5BD}"/>
              </a:ext>
            </a:extLst>
          </p:cNvPr>
          <p:cNvCxnSpPr>
            <a:cxnSpLocks/>
          </p:cNvCxnSpPr>
          <p:nvPr/>
        </p:nvCxnSpPr>
        <p:spPr>
          <a:xfrm>
            <a:off x="3314700" y="6032500"/>
            <a:ext cx="44831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F9FDD674-E1DE-3E47-9E9F-DA911493B4B7}"/>
              </a:ext>
            </a:extLst>
          </p:cNvPr>
          <p:cNvSpPr txBox="1"/>
          <p:nvPr/>
        </p:nvSpPr>
        <p:spPr>
          <a:xfrm>
            <a:off x="5924822" y="6106240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x</a:t>
            </a:r>
            <a:r>
              <a:rPr lang="en-US" baseline="-25000" dirty="0">
                <a:latin typeface="Gill Sans MT" panose="020B0502020104020203" pitchFamily="34" charset="77"/>
              </a:rPr>
              <a:t>1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6EFE04E5-0009-264B-BEC2-61AE49C077F4}"/>
              </a:ext>
            </a:extLst>
          </p:cNvPr>
          <p:cNvCxnSpPr>
            <a:cxnSpLocks/>
          </p:cNvCxnSpPr>
          <p:nvPr/>
        </p:nvCxnSpPr>
        <p:spPr>
          <a:xfrm flipV="1">
            <a:off x="3683013" y="1447800"/>
            <a:ext cx="0" cy="4927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0C24E5E0-707A-FB4F-A2D6-E4BB58085B3C}"/>
              </a:ext>
            </a:extLst>
          </p:cNvPr>
          <p:cNvSpPr txBox="1"/>
          <p:nvPr/>
        </p:nvSpPr>
        <p:spPr>
          <a:xfrm>
            <a:off x="3213463" y="3641164"/>
            <a:ext cx="385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x</a:t>
            </a:r>
            <a:r>
              <a:rPr lang="en-US" baseline="-25000" dirty="0"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F3E0FB2-50EC-2749-B71C-CF4888D2FC2C}"/>
              </a:ext>
            </a:extLst>
          </p:cNvPr>
          <p:cNvSpPr txBox="1"/>
          <p:nvPr/>
        </p:nvSpPr>
        <p:spPr>
          <a:xfrm>
            <a:off x="9557499" y="422030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d</a:t>
            </a:r>
            <a:endParaRPr lang="en-US" baseline="-25000" dirty="0">
              <a:latin typeface="Gill Sans MT" panose="020B0502020104020203" pitchFamily="34" charset="7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613E7F7-4DE5-B64E-8D38-02EDB4958319}"/>
              </a:ext>
            </a:extLst>
          </p:cNvPr>
          <p:cNvSpPr txBox="1"/>
          <p:nvPr/>
        </p:nvSpPr>
        <p:spPr>
          <a:xfrm>
            <a:off x="8909680" y="4235537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X</a:t>
            </a:r>
            <a:endParaRPr lang="en-US" baseline="-25000" dirty="0">
              <a:latin typeface="Gill Sans MT" panose="020B0502020104020203" pitchFamily="34" charset="7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FFBA345-1E67-D44D-BB7C-C3A4B7CB2107}"/>
              </a:ext>
            </a:extLst>
          </p:cNvPr>
          <p:cNvSpPr txBox="1"/>
          <p:nvPr/>
        </p:nvSpPr>
        <p:spPr>
          <a:xfrm>
            <a:off x="8508987" y="4811672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(x</a:t>
            </a:r>
            <a:r>
              <a:rPr lang="en-US" baseline="-25000" dirty="0">
                <a:latin typeface="Gill Sans MT" panose="020B0502020104020203" pitchFamily="34" charset="77"/>
              </a:rPr>
              <a:t>1</a:t>
            </a:r>
            <a:r>
              <a:rPr lang="en-US" dirty="0">
                <a:latin typeface="Gill Sans MT" panose="020B0502020104020203" pitchFamily="34" charset="77"/>
              </a:rPr>
              <a:t>,x</a:t>
            </a:r>
            <a:r>
              <a:rPr lang="en-US" baseline="-25000" dirty="0">
                <a:latin typeface="Gill Sans MT" panose="020B0502020104020203" pitchFamily="34" charset="77"/>
              </a:rPr>
              <a:t>2</a:t>
            </a:r>
            <a:r>
              <a:rPr lang="en-US" dirty="0">
                <a:latin typeface="Gill Sans MT" panose="020B0502020104020203" pitchFamily="34" charset="77"/>
              </a:rPr>
              <a:t>)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3829BEF-5E74-144D-905E-5A343161F2EE}"/>
              </a:ext>
            </a:extLst>
          </p:cNvPr>
          <p:cNvCxnSpPr>
            <a:stCxn id="57" idx="2"/>
            <a:endCxn id="58" idx="0"/>
          </p:cNvCxnSpPr>
          <p:nvPr/>
        </p:nvCxnSpPr>
        <p:spPr>
          <a:xfrm flipH="1">
            <a:off x="8896273" y="4604869"/>
            <a:ext cx="187493" cy="2068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3CBDE942-9AE7-7244-9720-104FA7EF8DE0}"/>
              </a:ext>
            </a:extLst>
          </p:cNvPr>
          <p:cNvCxnSpPr>
            <a:cxnSpLocks/>
            <a:stCxn id="56" idx="2"/>
          </p:cNvCxnSpPr>
          <p:nvPr/>
        </p:nvCxnSpPr>
        <p:spPr>
          <a:xfrm>
            <a:off x="9713952" y="4589636"/>
            <a:ext cx="229116" cy="2795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FFE9488B-92CA-FE46-ACD0-77FAF8D5C14B}"/>
              </a:ext>
            </a:extLst>
          </p:cNvPr>
          <p:cNvSpPr txBox="1"/>
          <p:nvPr/>
        </p:nvSpPr>
        <p:spPr>
          <a:xfrm>
            <a:off x="9362805" y="4843969"/>
            <a:ext cx="1196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</a:rPr>
              <a:t>Red</a:t>
            </a:r>
            <a:r>
              <a:rPr lang="en-US" dirty="0">
                <a:latin typeface="Gill Sans MT" panose="020B0502020104020203" pitchFamily="34" charset="77"/>
              </a:rPr>
              <a:t> / </a:t>
            </a:r>
            <a:r>
              <a:rPr lang="en-US" dirty="0">
                <a:solidFill>
                  <a:srgbClr val="0000FF"/>
                </a:solidFill>
                <a:latin typeface="Gill Sans MT" panose="020B0502020104020203" pitchFamily="34" charset="77"/>
              </a:rPr>
              <a:t>Blue</a:t>
            </a:r>
          </a:p>
        </p:txBody>
      </p:sp>
    </p:spTree>
    <p:extLst>
      <p:ext uri="{BB962C8B-B14F-4D97-AF65-F5344CB8AC3E}">
        <p14:creationId xmlns:p14="http://schemas.microsoft.com/office/powerpoint/2010/main" val="5644967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4412654" y="3429000"/>
            <a:ext cx="1512168" cy="1800200"/>
            <a:chOff x="2888654" y="3429000"/>
            <a:chExt cx="1512168" cy="1800200"/>
          </a:xfrm>
        </p:grpSpPr>
        <p:sp>
          <p:nvSpPr>
            <p:cNvPr id="6" name="Oval 5"/>
            <p:cNvSpPr/>
            <p:nvPr/>
          </p:nvSpPr>
          <p:spPr>
            <a:xfrm>
              <a:off x="3032670" y="3429000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2960662" y="4005064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2888654" y="3717032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3464718" y="3501008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3248694" y="4365104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3392710" y="3861048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3752750" y="4077072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Oval 12"/>
            <p:cNvSpPr/>
            <p:nvPr/>
          </p:nvSpPr>
          <p:spPr>
            <a:xfrm>
              <a:off x="3680742" y="4653136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4" name="Oval 13"/>
            <p:cNvSpPr/>
            <p:nvPr/>
          </p:nvSpPr>
          <p:spPr>
            <a:xfrm>
              <a:off x="3608734" y="4365104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5" name="Oval 14"/>
            <p:cNvSpPr/>
            <p:nvPr/>
          </p:nvSpPr>
          <p:spPr>
            <a:xfrm>
              <a:off x="4184798" y="4149080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6" name="Oval 15"/>
            <p:cNvSpPr/>
            <p:nvPr/>
          </p:nvSpPr>
          <p:spPr>
            <a:xfrm>
              <a:off x="3968774" y="5013176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7" name="Oval 16"/>
            <p:cNvSpPr/>
            <p:nvPr/>
          </p:nvSpPr>
          <p:spPr>
            <a:xfrm>
              <a:off x="4112790" y="4509120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8" name="Oval 17"/>
            <p:cNvSpPr/>
            <p:nvPr/>
          </p:nvSpPr>
          <p:spPr>
            <a:xfrm>
              <a:off x="3176686" y="3717032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9" name="Oval 18"/>
            <p:cNvSpPr/>
            <p:nvPr/>
          </p:nvSpPr>
          <p:spPr>
            <a:xfrm>
              <a:off x="2960662" y="4653136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0" name="Oval 19"/>
            <p:cNvSpPr/>
            <p:nvPr/>
          </p:nvSpPr>
          <p:spPr>
            <a:xfrm>
              <a:off x="2888654" y="4365104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1" name="Oval 20"/>
            <p:cNvSpPr/>
            <p:nvPr/>
          </p:nvSpPr>
          <p:spPr>
            <a:xfrm>
              <a:off x="3464718" y="4149080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2" name="Oval 21"/>
            <p:cNvSpPr/>
            <p:nvPr/>
          </p:nvSpPr>
          <p:spPr>
            <a:xfrm>
              <a:off x="3248694" y="5013176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3" name="Oval 22"/>
            <p:cNvSpPr/>
            <p:nvPr/>
          </p:nvSpPr>
          <p:spPr>
            <a:xfrm>
              <a:off x="3392710" y="4725144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42" name="Group 41"/>
          <p:cNvGrpSpPr/>
          <p:nvPr/>
        </p:nvGrpSpPr>
        <p:grpSpPr>
          <a:xfrm rot="2553764">
            <a:off x="5542359" y="2623150"/>
            <a:ext cx="1512168" cy="1800200"/>
            <a:chOff x="4572000" y="3005336"/>
            <a:chExt cx="1512168" cy="1800200"/>
          </a:xfrm>
          <a:solidFill>
            <a:srgbClr val="0000FF"/>
          </a:solidFill>
        </p:grpSpPr>
        <p:sp>
          <p:nvSpPr>
            <p:cNvPr id="24" name="Oval 23"/>
            <p:cNvSpPr/>
            <p:nvPr/>
          </p:nvSpPr>
          <p:spPr>
            <a:xfrm>
              <a:off x="4716016" y="300533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5" name="Oval 24"/>
            <p:cNvSpPr/>
            <p:nvPr/>
          </p:nvSpPr>
          <p:spPr>
            <a:xfrm>
              <a:off x="4644008" y="358140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6" name="Oval 25"/>
            <p:cNvSpPr/>
            <p:nvPr/>
          </p:nvSpPr>
          <p:spPr>
            <a:xfrm>
              <a:off x="4572000" y="329336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7" name="Oval 26"/>
            <p:cNvSpPr/>
            <p:nvPr/>
          </p:nvSpPr>
          <p:spPr>
            <a:xfrm>
              <a:off x="5148064" y="307734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8" name="Oval 27"/>
            <p:cNvSpPr/>
            <p:nvPr/>
          </p:nvSpPr>
          <p:spPr>
            <a:xfrm>
              <a:off x="493204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9" name="Oval 28"/>
            <p:cNvSpPr/>
            <p:nvPr/>
          </p:nvSpPr>
          <p:spPr>
            <a:xfrm>
              <a:off x="5076056" y="343738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0" name="Oval 29"/>
            <p:cNvSpPr/>
            <p:nvPr/>
          </p:nvSpPr>
          <p:spPr>
            <a:xfrm>
              <a:off x="5436096" y="365340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1" name="Oval 30"/>
            <p:cNvSpPr/>
            <p:nvPr/>
          </p:nvSpPr>
          <p:spPr>
            <a:xfrm>
              <a:off x="5364088" y="422947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2" name="Oval 31"/>
            <p:cNvSpPr/>
            <p:nvPr/>
          </p:nvSpPr>
          <p:spPr>
            <a:xfrm>
              <a:off x="529208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3" name="Oval 32"/>
            <p:cNvSpPr/>
            <p:nvPr/>
          </p:nvSpPr>
          <p:spPr>
            <a:xfrm>
              <a:off x="5868144" y="372541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4" name="Oval 33"/>
            <p:cNvSpPr/>
            <p:nvPr/>
          </p:nvSpPr>
          <p:spPr>
            <a:xfrm>
              <a:off x="5652120" y="458951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5" name="Oval 34"/>
            <p:cNvSpPr/>
            <p:nvPr/>
          </p:nvSpPr>
          <p:spPr>
            <a:xfrm>
              <a:off x="5796136" y="408545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6" name="Oval 35"/>
            <p:cNvSpPr/>
            <p:nvPr/>
          </p:nvSpPr>
          <p:spPr>
            <a:xfrm>
              <a:off x="4860032" y="329336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7" name="Oval 36"/>
            <p:cNvSpPr/>
            <p:nvPr/>
          </p:nvSpPr>
          <p:spPr>
            <a:xfrm>
              <a:off x="4644008" y="422947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8" name="Oval 37"/>
            <p:cNvSpPr/>
            <p:nvPr/>
          </p:nvSpPr>
          <p:spPr>
            <a:xfrm>
              <a:off x="457200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9" name="Oval 38"/>
            <p:cNvSpPr/>
            <p:nvPr/>
          </p:nvSpPr>
          <p:spPr>
            <a:xfrm>
              <a:off x="5148064" y="372541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40" name="Oval 39"/>
            <p:cNvSpPr/>
            <p:nvPr/>
          </p:nvSpPr>
          <p:spPr>
            <a:xfrm>
              <a:off x="4932040" y="458951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41" name="Oval 40"/>
            <p:cNvSpPr/>
            <p:nvPr/>
          </p:nvSpPr>
          <p:spPr>
            <a:xfrm>
              <a:off x="5076056" y="430148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4" name="Freeform 3">
            <a:extLst>
              <a:ext uri="{FF2B5EF4-FFF2-40B4-BE49-F238E27FC236}">
                <a16:creationId xmlns:a16="http://schemas.microsoft.com/office/drawing/2014/main" id="{068B1DAB-E353-E643-8374-61438104219B}"/>
              </a:ext>
            </a:extLst>
          </p:cNvPr>
          <p:cNvSpPr/>
          <p:nvPr/>
        </p:nvSpPr>
        <p:spPr>
          <a:xfrm>
            <a:off x="5234296" y="2292412"/>
            <a:ext cx="2551809" cy="2808312"/>
          </a:xfrm>
          <a:custGeom>
            <a:avLst/>
            <a:gdLst>
              <a:gd name="connsiteX0" fmla="*/ 367409 w 2551809"/>
              <a:gd name="connsiteY0" fmla="*/ 0 h 4787900"/>
              <a:gd name="connsiteX1" fmla="*/ 24509 w 2551809"/>
              <a:gd name="connsiteY1" fmla="*/ 1854200 h 4787900"/>
              <a:gd name="connsiteX2" fmla="*/ 964309 w 2551809"/>
              <a:gd name="connsiteY2" fmla="*/ 3886200 h 4787900"/>
              <a:gd name="connsiteX3" fmla="*/ 2551809 w 2551809"/>
              <a:gd name="connsiteY3" fmla="*/ 4787900 h 4787900"/>
              <a:gd name="connsiteX4" fmla="*/ 2551809 w 2551809"/>
              <a:gd name="connsiteY4" fmla="*/ 4787900 h 4787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1809" h="4787900">
                <a:moveTo>
                  <a:pt x="367409" y="0"/>
                </a:moveTo>
                <a:cubicBezTo>
                  <a:pt x="146217" y="603250"/>
                  <a:pt x="-74974" y="1206500"/>
                  <a:pt x="24509" y="1854200"/>
                </a:cubicBezTo>
                <a:cubicBezTo>
                  <a:pt x="123992" y="2501900"/>
                  <a:pt x="543092" y="3397250"/>
                  <a:pt x="964309" y="3886200"/>
                </a:cubicBezTo>
                <a:cubicBezTo>
                  <a:pt x="1385526" y="4375150"/>
                  <a:pt x="2551809" y="4787900"/>
                  <a:pt x="2551809" y="4787900"/>
                </a:cubicBezTo>
                <a:lnTo>
                  <a:pt x="2551809" y="4787900"/>
                </a:lnTo>
              </a:path>
            </a:pathLst>
          </a:custGeom>
          <a:noFill/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0DD42EA9-F664-1B44-AECE-8B7B476D2742}"/>
              </a:ext>
            </a:extLst>
          </p:cNvPr>
          <p:cNvSpPr/>
          <p:nvPr/>
        </p:nvSpPr>
        <p:spPr>
          <a:xfrm>
            <a:off x="5430125" y="1301000"/>
            <a:ext cx="431800" cy="432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7FD611A-28F8-D640-8FC9-EFEFE6C52B9B}"/>
              </a:ext>
            </a:extLst>
          </p:cNvPr>
          <p:cNvSpPr txBox="1"/>
          <p:nvPr/>
        </p:nvSpPr>
        <p:spPr>
          <a:xfrm>
            <a:off x="4651133" y="1808913"/>
            <a:ext cx="18020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Classifier Training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E4F2DA5-D3EF-FC4B-BF56-55F85F1F93D8}"/>
              </a:ext>
            </a:extLst>
          </p:cNvPr>
          <p:cNvCxnSpPr>
            <a:cxnSpLocks/>
          </p:cNvCxnSpPr>
          <p:nvPr/>
        </p:nvCxnSpPr>
        <p:spPr>
          <a:xfrm>
            <a:off x="3314700" y="6032500"/>
            <a:ext cx="44831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2A745075-6EE9-4444-8A00-A55DE258E6C2}"/>
              </a:ext>
            </a:extLst>
          </p:cNvPr>
          <p:cNvSpPr txBox="1"/>
          <p:nvPr/>
        </p:nvSpPr>
        <p:spPr>
          <a:xfrm>
            <a:off x="5924822" y="6106240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x</a:t>
            </a:r>
            <a:r>
              <a:rPr lang="en-US" baseline="-25000" dirty="0">
                <a:latin typeface="Gill Sans MT" panose="020B0502020104020203" pitchFamily="34" charset="77"/>
              </a:rPr>
              <a:t>1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4019AD61-E8E7-8A4A-8A26-A519A2B6F57E}"/>
              </a:ext>
            </a:extLst>
          </p:cNvPr>
          <p:cNvCxnSpPr>
            <a:cxnSpLocks/>
          </p:cNvCxnSpPr>
          <p:nvPr/>
        </p:nvCxnSpPr>
        <p:spPr>
          <a:xfrm flipV="1">
            <a:off x="3683013" y="1447800"/>
            <a:ext cx="0" cy="4927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4ECD0E7F-2E23-A84E-A9BB-157C9A2D032E}"/>
              </a:ext>
            </a:extLst>
          </p:cNvPr>
          <p:cNvSpPr txBox="1"/>
          <p:nvPr/>
        </p:nvSpPr>
        <p:spPr>
          <a:xfrm>
            <a:off x="3213463" y="3641164"/>
            <a:ext cx="385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x</a:t>
            </a:r>
            <a:r>
              <a:rPr lang="en-US" baseline="-25000" dirty="0"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51" name="Right Arrow 50">
            <a:extLst>
              <a:ext uri="{FF2B5EF4-FFF2-40B4-BE49-F238E27FC236}">
                <a16:creationId xmlns:a16="http://schemas.microsoft.com/office/drawing/2014/main" id="{0978C568-6E61-DE4A-A308-C0FCC393C082}"/>
              </a:ext>
            </a:extLst>
          </p:cNvPr>
          <p:cNvSpPr/>
          <p:nvPr/>
        </p:nvSpPr>
        <p:spPr>
          <a:xfrm rot="19800000">
            <a:off x="6875067" y="4505945"/>
            <a:ext cx="314072" cy="246454"/>
          </a:xfrm>
          <a:prstGeom prst="rightArrow">
            <a:avLst/>
          </a:prstGeom>
          <a:solidFill>
            <a:schemeClr val="bg2"/>
          </a:solidFill>
          <a:ln>
            <a:solidFill>
              <a:schemeClr val="tx2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Gill Sans MT" panose="020B0502020104020203" pitchFamily="34" charset="7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6AD8224-1017-3646-8C24-8699327DDC27}"/>
              </a:ext>
            </a:extLst>
          </p:cNvPr>
          <p:cNvSpPr txBox="1"/>
          <p:nvPr/>
        </p:nvSpPr>
        <p:spPr>
          <a:xfrm rot="19800000">
            <a:off x="7141131" y="4294143"/>
            <a:ext cx="4555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Gill Sans MT" panose="020B0502020104020203" pitchFamily="34" charset="77"/>
                <a:cs typeface="Trebuchet MS"/>
              </a:rPr>
              <a:t>Blue</a:t>
            </a:r>
          </a:p>
        </p:txBody>
      </p:sp>
      <p:sp>
        <p:nvSpPr>
          <p:cNvPr id="53" name="Right Arrow 52">
            <a:extLst>
              <a:ext uri="{FF2B5EF4-FFF2-40B4-BE49-F238E27FC236}">
                <a16:creationId xmlns:a16="http://schemas.microsoft.com/office/drawing/2014/main" id="{8A933543-ECBC-4248-8440-0723A492FC11}"/>
              </a:ext>
            </a:extLst>
          </p:cNvPr>
          <p:cNvSpPr/>
          <p:nvPr/>
        </p:nvSpPr>
        <p:spPr>
          <a:xfrm rot="9000000">
            <a:off x="6437057" y="4840967"/>
            <a:ext cx="314072" cy="246454"/>
          </a:xfrm>
          <a:prstGeom prst="rightArrow">
            <a:avLst/>
          </a:prstGeom>
          <a:solidFill>
            <a:schemeClr val="bg2"/>
          </a:solidFill>
          <a:ln>
            <a:solidFill>
              <a:schemeClr val="tx2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Gill Sans MT" panose="020B0502020104020203" pitchFamily="34" charset="7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37CB736-B7B9-BC47-8630-560402B9DC2E}"/>
              </a:ext>
            </a:extLst>
          </p:cNvPr>
          <p:cNvSpPr txBox="1"/>
          <p:nvPr/>
        </p:nvSpPr>
        <p:spPr>
          <a:xfrm rot="19800000">
            <a:off x="6028893" y="5017958"/>
            <a:ext cx="4365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Red</a:t>
            </a:r>
          </a:p>
        </p:txBody>
      </p:sp>
    </p:spTree>
    <p:extLst>
      <p:ext uri="{BB962C8B-B14F-4D97-AF65-F5344CB8AC3E}">
        <p14:creationId xmlns:p14="http://schemas.microsoft.com/office/powerpoint/2010/main" val="32825498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068B1DAB-E353-E643-8374-61438104219B}"/>
              </a:ext>
            </a:extLst>
          </p:cNvPr>
          <p:cNvSpPr/>
          <p:nvPr/>
        </p:nvSpPr>
        <p:spPr>
          <a:xfrm>
            <a:off x="5234296" y="2292412"/>
            <a:ext cx="2551809" cy="2808312"/>
          </a:xfrm>
          <a:custGeom>
            <a:avLst/>
            <a:gdLst>
              <a:gd name="connsiteX0" fmla="*/ 367409 w 2551809"/>
              <a:gd name="connsiteY0" fmla="*/ 0 h 4787900"/>
              <a:gd name="connsiteX1" fmla="*/ 24509 w 2551809"/>
              <a:gd name="connsiteY1" fmla="*/ 1854200 h 4787900"/>
              <a:gd name="connsiteX2" fmla="*/ 964309 w 2551809"/>
              <a:gd name="connsiteY2" fmla="*/ 3886200 h 4787900"/>
              <a:gd name="connsiteX3" fmla="*/ 2551809 w 2551809"/>
              <a:gd name="connsiteY3" fmla="*/ 4787900 h 4787900"/>
              <a:gd name="connsiteX4" fmla="*/ 2551809 w 2551809"/>
              <a:gd name="connsiteY4" fmla="*/ 4787900 h 4787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1809" h="4787900">
                <a:moveTo>
                  <a:pt x="367409" y="0"/>
                </a:moveTo>
                <a:cubicBezTo>
                  <a:pt x="146217" y="603250"/>
                  <a:pt x="-74974" y="1206500"/>
                  <a:pt x="24509" y="1854200"/>
                </a:cubicBezTo>
                <a:cubicBezTo>
                  <a:pt x="123992" y="2501900"/>
                  <a:pt x="543092" y="3397250"/>
                  <a:pt x="964309" y="3886200"/>
                </a:cubicBezTo>
                <a:cubicBezTo>
                  <a:pt x="1385526" y="4375150"/>
                  <a:pt x="2551809" y="4787900"/>
                  <a:pt x="2551809" y="4787900"/>
                </a:cubicBezTo>
                <a:lnTo>
                  <a:pt x="2551809" y="4787900"/>
                </a:lnTo>
              </a:path>
            </a:pathLst>
          </a:custGeom>
          <a:noFill/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0DD42EA9-F664-1B44-AECE-8B7B476D2742}"/>
              </a:ext>
            </a:extLst>
          </p:cNvPr>
          <p:cNvSpPr/>
          <p:nvPr/>
        </p:nvSpPr>
        <p:spPr>
          <a:xfrm>
            <a:off x="5430125" y="1301000"/>
            <a:ext cx="431800" cy="432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7FD611A-28F8-D640-8FC9-EFEFE6C52B9B}"/>
              </a:ext>
            </a:extLst>
          </p:cNvPr>
          <p:cNvSpPr txBox="1"/>
          <p:nvPr/>
        </p:nvSpPr>
        <p:spPr>
          <a:xfrm>
            <a:off x="4651133" y="1808913"/>
            <a:ext cx="18020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Classifier Training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E4F2DA5-D3EF-FC4B-BF56-55F85F1F93D8}"/>
              </a:ext>
            </a:extLst>
          </p:cNvPr>
          <p:cNvCxnSpPr>
            <a:cxnSpLocks/>
          </p:cNvCxnSpPr>
          <p:nvPr/>
        </p:nvCxnSpPr>
        <p:spPr>
          <a:xfrm>
            <a:off x="3314700" y="6032500"/>
            <a:ext cx="44831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2A745075-6EE9-4444-8A00-A55DE258E6C2}"/>
              </a:ext>
            </a:extLst>
          </p:cNvPr>
          <p:cNvSpPr txBox="1"/>
          <p:nvPr/>
        </p:nvSpPr>
        <p:spPr>
          <a:xfrm>
            <a:off x="5924822" y="6106240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x</a:t>
            </a:r>
            <a:r>
              <a:rPr lang="en-US" baseline="-25000" dirty="0">
                <a:latin typeface="Gill Sans MT" panose="020B0502020104020203" pitchFamily="34" charset="77"/>
              </a:rPr>
              <a:t>1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4019AD61-E8E7-8A4A-8A26-A519A2B6F57E}"/>
              </a:ext>
            </a:extLst>
          </p:cNvPr>
          <p:cNvCxnSpPr>
            <a:cxnSpLocks/>
          </p:cNvCxnSpPr>
          <p:nvPr/>
        </p:nvCxnSpPr>
        <p:spPr>
          <a:xfrm flipV="1">
            <a:off x="3683013" y="1447800"/>
            <a:ext cx="0" cy="4927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4ECD0E7F-2E23-A84E-A9BB-157C9A2D032E}"/>
              </a:ext>
            </a:extLst>
          </p:cNvPr>
          <p:cNvSpPr txBox="1"/>
          <p:nvPr/>
        </p:nvSpPr>
        <p:spPr>
          <a:xfrm>
            <a:off x="3213463" y="3641164"/>
            <a:ext cx="385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x</a:t>
            </a:r>
            <a:r>
              <a:rPr lang="en-US" baseline="-25000" dirty="0"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51" name="Right Arrow 50">
            <a:extLst>
              <a:ext uri="{FF2B5EF4-FFF2-40B4-BE49-F238E27FC236}">
                <a16:creationId xmlns:a16="http://schemas.microsoft.com/office/drawing/2014/main" id="{0978C568-6E61-DE4A-A308-C0FCC393C082}"/>
              </a:ext>
            </a:extLst>
          </p:cNvPr>
          <p:cNvSpPr/>
          <p:nvPr/>
        </p:nvSpPr>
        <p:spPr>
          <a:xfrm rot="19800000">
            <a:off x="6875067" y="4505945"/>
            <a:ext cx="314072" cy="246454"/>
          </a:xfrm>
          <a:prstGeom prst="rightArrow">
            <a:avLst/>
          </a:prstGeom>
          <a:solidFill>
            <a:schemeClr val="bg2"/>
          </a:solidFill>
          <a:ln>
            <a:solidFill>
              <a:schemeClr val="tx2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Gill Sans MT" panose="020B0502020104020203" pitchFamily="34" charset="7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6AD8224-1017-3646-8C24-8699327DDC27}"/>
              </a:ext>
            </a:extLst>
          </p:cNvPr>
          <p:cNvSpPr txBox="1"/>
          <p:nvPr/>
        </p:nvSpPr>
        <p:spPr>
          <a:xfrm rot="19800000">
            <a:off x="7141131" y="4294143"/>
            <a:ext cx="4555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Gill Sans MT" panose="020B0502020104020203" pitchFamily="34" charset="77"/>
                <a:cs typeface="Trebuchet MS"/>
              </a:rPr>
              <a:t>Blue</a:t>
            </a:r>
          </a:p>
        </p:txBody>
      </p:sp>
      <p:sp>
        <p:nvSpPr>
          <p:cNvPr id="53" name="Right Arrow 52">
            <a:extLst>
              <a:ext uri="{FF2B5EF4-FFF2-40B4-BE49-F238E27FC236}">
                <a16:creationId xmlns:a16="http://schemas.microsoft.com/office/drawing/2014/main" id="{8A933543-ECBC-4248-8440-0723A492FC11}"/>
              </a:ext>
            </a:extLst>
          </p:cNvPr>
          <p:cNvSpPr/>
          <p:nvPr/>
        </p:nvSpPr>
        <p:spPr>
          <a:xfrm rot="9000000">
            <a:off x="6437057" y="4840967"/>
            <a:ext cx="314072" cy="246454"/>
          </a:xfrm>
          <a:prstGeom prst="rightArrow">
            <a:avLst/>
          </a:prstGeom>
          <a:solidFill>
            <a:schemeClr val="bg2"/>
          </a:solidFill>
          <a:ln>
            <a:solidFill>
              <a:schemeClr val="tx2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Gill Sans MT" panose="020B0502020104020203" pitchFamily="34" charset="7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37CB736-B7B9-BC47-8630-560402B9DC2E}"/>
              </a:ext>
            </a:extLst>
          </p:cNvPr>
          <p:cNvSpPr txBox="1"/>
          <p:nvPr/>
        </p:nvSpPr>
        <p:spPr>
          <a:xfrm rot="19800000">
            <a:off x="6028893" y="5017958"/>
            <a:ext cx="4365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Red</a:t>
            </a:r>
          </a:p>
        </p:txBody>
      </p:sp>
    </p:spTree>
    <p:extLst>
      <p:ext uri="{BB962C8B-B14F-4D97-AF65-F5344CB8AC3E}">
        <p14:creationId xmlns:p14="http://schemas.microsoft.com/office/powerpoint/2010/main" val="30970047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/>
          <p:cNvSpPr/>
          <p:nvPr/>
        </p:nvSpPr>
        <p:spPr>
          <a:xfrm>
            <a:off x="4799856" y="3068960"/>
            <a:ext cx="216024" cy="216024"/>
          </a:xfrm>
          <a:prstGeom prst="ellipse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972744" y="1929657"/>
            <a:ext cx="1653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Testing data</a:t>
            </a:r>
          </a:p>
        </p:txBody>
      </p:sp>
      <p:cxnSp>
        <p:nvCxnSpPr>
          <p:cNvPr id="5" name="Straight Arrow Connector 4"/>
          <p:cNvCxnSpPr>
            <a:cxnSpLocks/>
            <a:endCxn id="44" idx="0"/>
          </p:cNvCxnSpPr>
          <p:nvPr/>
        </p:nvCxnSpPr>
        <p:spPr>
          <a:xfrm>
            <a:off x="4907868" y="2466096"/>
            <a:ext cx="0" cy="6028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D8156F2-C82F-FD43-8A1C-8273596590A4}"/>
              </a:ext>
            </a:extLst>
          </p:cNvPr>
          <p:cNvCxnSpPr>
            <a:cxnSpLocks/>
          </p:cNvCxnSpPr>
          <p:nvPr/>
        </p:nvCxnSpPr>
        <p:spPr>
          <a:xfrm>
            <a:off x="3314700" y="6032500"/>
            <a:ext cx="44831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41E843FC-6BE6-8849-84D5-1012D078AF4C}"/>
              </a:ext>
            </a:extLst>
          </p:cNvPr>
          <p:cNvSpPr txBox="1"/>
          <p:nvPr/>
        </p:nvSpPr>
        <p:spPr>
          <a:xfrm>
            <a:off x="5924822" y="6106240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x</a:t>
            </a:r>
            <a:r>
              <a:rPr lang="en-US" baseline="-25000" dirty="0">
                <a:latin typeface="Gill Sans MT" panose="020B0502020104020203" pitchFamily="34" charset="77"/>
              </a:rPr>
              <a:t>1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65A9D1C-4328-EE41-9395-4F22EB6D7FD2}"/>
              </a:ext>
            </a:extLst>
          </p:cNvPr>
          <p:cNvCxnSpPr>
            <a:cxnSpLocks/>
          </p:cNvCxnSpPr>
          <p:nvPr/>
        </p:nvCxnSpPr>
        <p:spPr>
          <a:xfrm flipV="1">
            <a:off x="3683013" y="1447800"/>
            <a:ext cx="0" cy="4927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7DED08F9-D038-EB43-AA2D-2E7AA0464B50}"/>
              </a:ext>
            </a:extLst>
          </p:cNvPr>
          <p:cNvSpPr txBox="1"/>
          <p:nvPr/>
        </p:nvSpPr>
        <p:spPr>
          <a:xfrm>
            <a:off x="3213463" y="3641164"/>
            <a:ext cx="385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x</a:t>
            </a:r>
            <a:r>
              <a:rPr lang="en-US" baseline="-25000" dirty="0"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B8B72A30-7F8A-4245-AB6C-4A8F3449F99E}"/>
              </a:ext>
            </a:extLst>
          </p:cNvPr>
          <p:cNvSpPr/>
          <p:nvPr/>
        </p:nvSpPr>
        <p:spPr>
          <a:xfrm>
            <a:off x="4670566" y="1433647"/>
            <a:ext cx="431800" cy="432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7F6B302-E861-FC42-B48E-2500608C5C88}"/>
              </a:ext>
            </a:extLst>
          </p:cNvPr>
          <p:cNvSpPr txBox="1"/>
          <p:nvPr/>
        </p:nvSpPr>
        <p:spPr>
          <a:xfrm>
            <a:off x="4988718" y="2946140"/>
            <a:ext cx="2976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?</a:t>
            </a:r>
          </a:p>
        </p:txBody>
      </p:sp>
      <p:sp>
        <p:nvSpPr>
          <p:cNvPr id="54" name="Slide Number Placeholder 52">
            <a:extLst>
              <a:ext uri="{FF2B5EF4-FFF2-40B4-BE49-F238E27FC236}">
                <a16:creationId xmlns:a16="http://schemas.microsoft.com/office/drawing/2014/main" id="{813124A5-AF40-0A42-B6AA-6DBA325B1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26607" y="6573488"/>
            <a:ext cx="2133600" cy="476250"/>
          </a:xfrm>
        </p:spPr>
        <p:txBody>
          <a:bodyPr/>
          <a:lstStyle/>
          <a:p>
            <a:fld id="{B2515E32-AEC1-A643-BA35-1EE2E73D4B01}" type="slidenum">
              <a:rPr lang="es-ES" smtClean="0"/>
              <a:pPr/>
              <a:t>22</a:t>
            </a:fld>
            <a:endParaRPr lang="es-ES" dirty="0"/>
          </a:p>
        </p:txBody>
      </p:sp>
      <p:sp>
        <p:nvSpPr>
          <p:cNvPr id="55" name="Freeform 54">
            <a:extLst>
              <a:ext uri="{FF2B5EF4-FFF2-40B4-BE49-F238E27FC236}">
                <a16:creationId xmlns:a16="http://schemas.microsoft.com/office/drawing/2014/main" id="{B5F721E8-8D09-6648-A391-90ED9B6E0913}"/>
              </a:ext>
            </a:extLst>
          </p:cNvPr>
          <p:cNvSpPr/>
          <p:nvPr/>
        </p:nvSpPr>
        <p:spPr>
          <a:xfrm>
            <a:off x="5234296" y="2292412"/>
            <a:ext cx="2551809" cy="2808312"/>
          </a:xfrm>
          <a:custGeom>
            <a:avLst/>
            <a:gdLst>
              <a:gd name="connsiteX0" fmla="*/ 367409 w 2551809"/>
              <a:gd name="connsiteY0" fmla="*/ 0 h 4787900"/>
              <a:gd name="connsiteX1" fmla="*/ 24509 w 2551809"/>
              <a:gd name="connsiteY1" fmla="*/ 1854200 h 4787900"/>
              <a:gd name="connsiteX2" fmla="*/ 964309 w 2551809"/>
              <a:gd name="connsiteY2" fmla="*/ 3886200 h 4787900"/>
              <a:gd name="connsiteX3" fmla="*/ 2551809 w 2551809"/>
              <a:gd name="connsiteY3" fmla="*/ 4787900 h 4787900"/>
              <a:gd name="connsiteX4" fmla="*/ 2551809 w 2551809"/>
              <a:gd name="connsiteY4" fmla="*/ 4787900 h 4787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1809" h="4787900">
                <a:moveTo>
                  <a:pt x="367409" y="0"/>
                </a:moveTo>
                <a:cubicBezTo>
                  <a:pt x="146217" y="603250"/>
                  <a:pt x="-74974" y="1206500"/>
                  <a:pt x="24509" y="1854200"/>
                </a:cubicBezTo>
                <a:cubicBezTo>
                  <a:pt x="123992" y="2501900"/>
                  <a:pt x="543092" y="3397250"/>
                  <a:pt x="964309" y="3886200"/>
                </a:cubicBezTo>
                <a:cubicBezTo>
                  <a:pt x="1385526" y="4375150"/>
                  <a:pt x="2551809" y="4787900"/>
                  <a:pt x="2551809" y="4787900"/>
                </a:cubicBezTo>
                <a:lnTo>
                  <a:pt x="2551809" y="4787900"/>
                </a:lnTo>
              </a:path>
            </a:pathLst>
          </a:custGeom>
          <a:noFill/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6" name="Right Arrow 55">
            <a:extLst>
              <a:ext uri="{FF2B5EF4-FFF2-40B4-BE49-F238E27FC236}">
                <a16:creationId xmlns:a16="http://schemas.microsoft.com/office/drawing/2014/main" id="{182E8125-0B23-F646-9E96-6FE3C2CD1139}"/>
              </a:ext>
            </a:extLst>
          </p:cNvPr>
          <p:cNvSpPr/>
          <p:nvPr/>
        </p:nvSpPr>
        <p:spPr>
          <a:xfrm rot="19800000">
            <a:off x="6875067" y="4505945"/>
            <a:ext cx="314072" cy="246454"/>
          </a:xfrm>
          <a:prstGeom prst="rightArrow">
            <a:avLst/>
          </a:prstGeom>
          <a:solidFill>
            <a:schemeClr val="bg2"/>
          </a:solidFill>
          <a:ln>
            <a:solidFill>
              <a:schemeClr val="tx2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Gill Sans MT" panose="020B0502020104020203" pitchFamily="34" charset="7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A517496-D8F7-A049-91FE-4DBA1E2E5D10}"/>
              </a:ext>
            </a:extLst>
          </p:cNvPr>
          <p:cNvSpPr txBox="1"/>
          <p:nvPr/>
        </p:nvSpPr>
        <p:spPr>
          <a:xfrm rot="19800000">
            <a:off x="7141131" y="4294143"/>
            <a:ext cx="4555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Gill Sans MT" panose="020B0502020104020203" pitchFamily="34" charset="77"/>
                <a:cs typeface="Trebuchet MS"/>
              </a:rPr>
              <a:t>Blue</a:t>
            </a:r>
          </a:p>
        </p:txBody>
      </p:sp>
      <p:sp>
        <p:nvSpPr>
          <p:cNvPr id="59" name="Right Arrow 58">
            <a:extLst>
              <a:ext uri="{FF2B5EF4-FFF2-40B4-BE49-F238E27FC236}">
                <a16:creationId xmlns:a16="http://schemas.microsoft.com/office/drawing/2014/main" id="{22433AB8-E61A-6749-94D9-2F526408D133}"/>
              </a:ext>
            </a:extLst>
          </p:cNvPr>
          <p:cNvSpPr/>
          <p:nvPr/>
        </p:nvSpPr>
        <p:spPr>
          <a:xfrm rot="9000000">
            <a:off x="6437057" y="4840967"/>
            <a:ext cx="314072" cy="246454"/>
          </a:xfrm>
          <a:prstGeom prst="rightArrow">
            <a:avLst/>
          </a:prstGeom>
          <a:solidFill>
            <a:schemeClr val="bg2"/>
          </a:solidFill>
          <a:ln>
            <a:solidFill>
              <a:schemeClr val="tx2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Gill Sans MT" panose="020B0502020104020203" pitchFamily="34" charset="7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48464EF-1824-B34F-8C22-18F4C39571D9}"/>
              </a:ext>
            </a:extLst>
          </p:cNvPr>
          <p:cNvSpPr txBox="1"/>
          <p:nvPr/>
        </p:nvSpPr>
        <p:spPr>
          <a:xfrm rot="19800000">
            <a:off x="6028893" y="5017958"/>
            <a:ext cx="4365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Red</a:t>
            </a:r>
          </a:p>
        </p:txBody>
      </p:sp>
    </p:spTree>
    <p:extLst>
      <p:ext uri="{BB962C8B-B14F-4D97-AF65-F5344CB8AC3E}">
        <p14:creationId xmlns:p14="http://schemas.microsoft.com/office/powerpoint/2010/main" val="29647594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D8156F2-C82F-FD43-8A1C-8273596590A4}"/>
              </a:ext>
            </a:extLst>
          </p:cNvPr>
          <p:cNvCxnSpPr>
            <a:cxnSpLocks/>
          </p:cNvCxnSpPr>
          <p:nvPr/>
        </p:nvCxnSpPr>
        <p:spPr>
          <a:xfrm>
            <a:off x="3314700" y="6032500"/>
            <a:ext cx="44831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41E843FC-6BE6-8849-84D5-1012D078AF4C}"/>
              </a:ext>
            </a:extLst>
          </p:cNvPr>
          <p:cNvSpPr txBox="1"/>
          <p:nvPr/>
        </p:nvSpPr>
        <p:spPr>
          <a:xfrm>
            <a:off x="5924822" y="6106240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x</a:t>
            </a:r>
            <a:r>
              <a:rPr lang="en-US" baseline="-25000" dirty="0">
                <a:latin typeface="Gill Sans MT" panose="020B0502020104020203" pitchFamily="34" charset="77"/>
              </a:rPr>
              <a:t>1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65A9D1C-4328-EE41-9395-4F22EB6D7FD2}"/>
              </a:ext>
            </a:extLst>
          </p:cNvPr>
          <p:cNvCxnSpPr>
            <a:cxnSpLocks/>
          </p:cNvCxnSpPr>
          <p:nvPr/>
        </p:nvCxnSpPr>
        <p:spPr>
          <a:xfrm flipV="1">
            <a:off x="3683013" y="1447800"/>
            <a:ext cx="0" cy="4927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7DED08F9-D038-EB43-AA2D-2E7AA0464B50}"/>
              </a:ext>
            </a:extLst>
          </p:cNvPr>
          <p:cNvSpPr txBox="1"/>
          <p:nvPr/>
        </p:nvSpPr>
        <p:spPr>
          <a:xfrm>
            <a:off x="3213463" y="3641164"/>
            <a:ext cx="385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x</a:t>
            </a:r>
            <a:r>
              <a:rPr lang="en-US" baseline="-25000" dirty="0"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55" name="Freeform 54">
            <a:extLst>
              <a:ext uri="{FF2B5EF4-FFF2-40B4-BE49-F238E27FC236}">
                <a16:creationId xmlns:a16="http://schemas.microsoft.com/office/drawing/2014/main" id="{B5F721E8-8D09-6648-A391-90ED9B6E0913}"/>
              </a:ext>
            </a:extLst>
          </p:cNvPr>
          <p:cNvSpPr/>
          <p:nvPr/>
        </p:nvSpPr>
        <p:spPr>
          <a:xfrm>
            <a:off x="5234296" y="2292412"/>
            <a:ext cx="2551809" cy="2808312"/>
          </a:xfrm>
          <a:custGeom>
            <a:avLst/>
            <a:gdLst>
              <a:gd name="connsiteX0" fmla="*/ 367409 w 2551809"/>
              <a:gd name="connsiteY0" fmla="*/ 0 h 4787900"/>
              <a:gd name="connsiteX1" fmla="*/ 24509 w 2551809"/>
              <a:gd name="connsiteY1" fmla="*/ 1854200 h 4787900"/>
              <a:gd name="connsiteX2" fmla="*/ 964309 w 2551809"/>
              <a:gd name="connsiteY2" fmla="*/ 3886200 h 4787900"/>
              <a:gd name="connsiteX3" fmla="*/ 2551809 w 2551809"/>
              <a:gd name="connsiteY3" fmla="*/ 4787900 h 4787900"/>
              <a:gd name="connsiteX4" fmla="*/ 2551809 w 2551809"/>
              <a:gd name="connsiteY4" fmla="*/ 4787900 h 4787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1809" h="4787900">
                <a:moveTo>
                  <a:pt x="367409" y="0"/>
                </a:moveTo>
                <a:cubicBezTo>
                  <a:pt x="146217" y="603250"/>
                  <a:pt x="-74974" y="1206500"/>
                  <a:pt x="24509" y="1854200"/>
                </a:cubicBezTo>
                <a:cubicBezTo>
                  <a:pt x="123992" y="2501900"/>
                  <a:pt x="543092" y="3397250"/>
                  <a:pt x="964309" y="3886200"/>
                </a:cubicBezTo>
                <a:cubicBezTo>
                  <a:pt x="1385526" y="4375150"/>
                  <a:pt x="2551809" y="4787900"/>
                  <a:pt x="2551809" y="4787900"/>
                </a:cubicBezTo>
                <a:lnTo>
                  <a:pt x="2551809" y="4787900"/>
                </a:lnTo>
              </a:path>
            </a:pathLst>
          </a:custGeom>
          <a:noFill/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6" name="Right Arrow 55">
            <a:extLst>
              <a:ext uri="{FF2B5EF4-FFF2-40B4-BE49-F238E27FC236}">
                <a16:creationId xmlns:a16="http://schemas.microsoft.com/office/drawing/2014/main" id="{182E8125-0B23-F646-9E96-6FE3C2CD1139}"/>
              </a:ext>
            </a:extLst>
          </p:cNvPr>
          <p:cNvSpPr/>
          <p:nvPr/>
        </p:nvSpPr>
        <p:spPr>
          <a:xfrm rot="19800000">
            <a:off x="6875067" y="4505945"/>
            <a:ext cx="314072" cy="246454"/>
          </a:xfrm>
          <a:prstGeom prst="rightArrow">
            <a:avLst/>
          </a:prstGeom>
          <a:solidFill>
            <a:schemeClr val="bg2"/>
          </a:solidFill>
          <a:ln>
            <a:solidFill>
              <a:schemeClr val="tx2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Gill Sans MT" panose="020B0502020104020203" pitchFamily="34" charset="7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A517496-D8F7-A049-91FE-4DBA1E2E5D10}"/>
              </a:ext>
            </a:extLst>
          </p:cNvPr>
          <p:cNvSpPr txBox="1"/>
          <p:nvPr/>
        </p:nvSpPr>
        <p:spPr>
          <a:xfrm rot="19800000">
            <a:off x="7141131" y="4294143"/>
            <a:ext cx="4555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Gill Sans MT" panose="020B0502020104020203" pitchFamily="34" charset="77"/>
                <a:cs typeface="Trebuchet MS"/>
              </a:rPr>
              <a:t>Blue</a:t>
            </a:r>
          </a:p>
        </p:txBody>
      </p:sp>
      <p:sp>
        <p:nvSpPr>
          <p:cNvPr id="59" name="Right Arrow 58">
            <a:extLst>
              <a:ext uri="{FF2B5EF4-FFF2-40B4-BE49-F238E27FC236}">
                <a16:creationId xmlns:a16="http://schemas.microsoft.com/office/drawing/2014/main" id="{22433AB8-E61A-6749-94D9-2F526408D133}"/>
              </a:ext>
            </a:extLst>
          </p:cNvPr>
          <p:cNvSpPr/>
          <p:nvPr/>
        </p:nvSpPr>
        <p:spPr>
          <a:xfrm rot="9000000">
            <a:off x="6437057" y="4840967"/>
            <a:ext cx="314072" cy="246454"/>
          </a:xfrm>
          <a:prstGeom prst="rightArrow">
            <a:avLst/>
          </a:prstGeom>
          <a:solidFill>
            <a:schemeClr val="bg2"/>
          </a:solidFill>
          <a:ln>
            <a:solidFill>
              <a:schemeClr val="tx2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Gill Sans MT" panose="020B0502020104020203" pitchFamily="34" charset="7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48464EF-1824-B34F-8C22-18F4C39571D9}"/>
              </a:ext>
            </a:extLst>
          </p:cNvPr>
          <p:cNvSpPr txBox="1"/>
          <p:nvPr/>
        </p:nvSpPr>
        <p:spPr>
          <a:xfrm rot="19800000">
            <a:off x="6028893" y="5017958"/>
            <a:ext cx="4365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Red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8D19999-E1BC-5942-8A45-46F465716028}"/>
              </a:ext>
            </a:extLst>
          </p:cNvPr>
          <p:cNvSpPr/>
          <p:nvPr/>
        </p:nvSpPr>
        <p:spPr>
          <a:xfrm>
            <a:off x="4799856" y="306896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Right Arrow 18">
            <a:extLst>
              <a:ext uri="{FF2B5EF4-FFF2-40B4-BE49-F238E27FC236}">
                <a16:creationId xmlns:a16="http://schemas.microsoft.com/office/drawing/2014/main" id="{4BFC2C5B-DFBA-5743-8FB7-FA57D061EF9D}"/>
              </a:ext>
            </a:extLst>
          </p:cNvPr>
          <p:cNvSpPr/>
          <p:nvPr/>
        </p:nvSpPr>
        <p:spPr>
          <a:xfrm rot="16200000">
            <a:off x="4735617" y="2632715"/>
            <a:ext cx="314072" cy="246454"/>
          </a:xfrm>
          <a:prstGeom prst="rightArrow">
            <a:avLst/>
          </a:prstGeom>
          <a:solidFill>
            <a:schemeClr val="bg2"/>
          </a:solidFill>
          <a:ln>
            <a:solidFill>
              <a:schemeClr val="tx2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Gill Sans MT" panose="020B0502020104020203" pitchFamily="34" charset="7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EFD52BC-1002-9F4D-89AF-6765AB179D87}"/>
              </a:ext>
            </a:extLst>
          </p:cNvPr>
          <p:cNvSpPr txBox="1"/>
          <p:nvPr/>
        </p:nvSpPr>
        <p:spPr>
          <a:xfrm>
            <a:off x="4547623" y="2053978"/>
            <a:ext cx="7697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77"/>
                <a:cs typeface="Trebuchet MS"/>
              </a:rPr>
              <a:t>Classified</a:t>
            </a:r>
          </a:p>
          <a:p>
            <a:pPr algn="r"/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77"/>
                <a:cs typeface="Trebuchet MS"/>
              </a:rPr>
              <a:t>as </a:t>
            </a:r>
            <a:r>
              <a:rPr lang="en-US" sz="1200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Red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B78535A-D1D9-E442-9CC8-E7FB695C7901}"/>
              </a:ext>
            </a:extLst>
          </p:cNvPr>
          <p:cNvSpPr/>
          <p:nvPr/>
        </p:nvSpPr>
        <p:spPr>
          <a:xfrm>
            <a:off x="3972297" y="2057934"/>
            <a:ext cx="431800" cy="432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2989811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/>
          <p:cNvSpPr/>
          <p:nvPr/>
        </p:nvSpPr>
        <p:spPr>
          <a:xfrm>
            <a:off x="4799856" y="306896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D8156F2-C82F-FD43-8A1C-8273596590A4}"/>
              </a:ext>
            </a:extLst>
          </p:cNvPr>
          <p:cNvCxnSpPr>
            <a:cxnSpLocks/>
          </p:cNvCxnSpPr>
          <p:nvPr/>
        </p:nvCxnSpPr>
        <p:spPr>
          <a:xfrm>
            <a:off x="3314700" y="6032500"/>
            <a:ext cx="44831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41E843FC-6BE6-8849-84D5-1012D078AF4C}"/>
              </a:ext>
            </a:extLst>
          </p:cNvPr>
          <p:cNvSpPr txBox="1"/>
          <p:nvPr/>
        </p:nvSpPr>
        <p:spPr>
          <a:xfrm>
            <a:off x="5924822" y="6106240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x</a:t>
            </a:r>
            <a:r>
              <a:rPr lang="en-US" baseline="-25000" dirty="0">
                <a:latin typeface="Gill Sans MT" panose="020B0502020104020203" pitchFamily="34" charset="77"/>
              </a:rPr>
              <a:t>1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65A9D1C-4328-EE41-9395-4F22EB6D7FD2}"/>
              </a:ext>
            </a:extLst>
          </p:cNvPr>
          <p:cNvCxnSpPr>
            <a:cxnSpLocks/>
          </p:cNvCxnSpPr>
          <p:nvPr/>
        </p:nvCxnSpPr>
        <p:spPr>
          <a:xfrm flipV="1">
            <a:off x="3683013" y="1447800"/>
            <a:ext cx="0" cy="4927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7DED08F9-D038-EB43-AA2D-2E7AA0464B50}"/>
              </a:ext>
            </a:extLst>
          </p:cNvPr>
          <p:cNvSpPr txBox="1"/>
          <p:nvPr/>
        </p:nvSpPr>
        <p:spPr>
          <a:xfrm>
            <a:off x="3213463" y="3641164"/>
            <a:ext cx="385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x</a:t>
            </a:r>
            <a:r>
              <a:rPr lang="en-US" baseline="-25000" dirty="0"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53" name="Freeform 52">
            <a:extLst>
              <a:ext uri="{FF2B5EF4-FFF2-40B4-BE49-F238E27FC236}">
                <a16:creationId xmlns:a16="http://schemas.microsoft.com/office/drawing/2014/main" id="{F3A5A51B-EAB3-B541-84EC-7E0847AF0698}"/>
              </a:ext>
            </a:extLst>
          </p:cNvPr>
          <p:cNvSpPr/>
          <p:nvPr/>
        </p:nvSpPr>
        <p:spPr>
          <a:xfrm>
            <a:off x="5234296" y="2292412"/>
            <a:ext cx="2551809" cy="2808312"/>
          </a:xfrm>
          <a:custGeom>
            <a:avLst/>
            <a:gdLst>
              <a:gd name="connsiteX0" fmla="*/ 367409 w 2551809"/>
              <a:gd name="connsiteY0" fmla="*/ 0 h 4787900"/>
              <a:gd name="connsiteX1" fmla="*/ 24509 w 2551809"/>
              <a:gd name="connsiteY1" fmla="*/ 1854200 h 4787900"/>
              <a:gd name="connsiteX2" fmla="*/ 964309 w 2551809"/>
              <a:gd name="connsiteY2" fmla="*/ 3886200 h 4787900"/>
              <a:gd name="connsiteX3" fmla="*/ 2551809 w 2551809"/>
              <a:gd name="connsiteY3" fmla="*/ 4787900 h 4787900"/>
              <a:gd name="connsiteX4" fmla="*/ 2551809 w 2551809"/>
              <a:gd name="connsiteY4" fmla="*/ 4787900 h 4787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1809" h="4787900">
                <a:moveTo>
                  <a:pt x="367409" y="0"/>
                </a:moveTo>
                <a:cubicBezTo>
                  <a:pt x="146217" y="603250"/>
                  <a:pt x="-74974" y="1206500"/>
                  <a:pt x="24509" y="1854200"/>
                </a:cubicBezTo>
                <a:cubicBezTo>
                  <a:pt x="123992" y="2501900"/>
                  <a:pt x="543092" y="3397250"/>
                  <a:pt x="964309" y="3886200"/>
                </a:cubicBezTo>
                <a:cubicBezTo>
                  <a:pt x="1385526" y="4375150"/>
                  <a:pt x="2551809" y="4787900"/>
                  <a:pt x="2551809" y="4787900"/>
                </a:cubicBezTo>
                <a:lnTo>
                  <a:pt x="2551809" y="4787900"/>
                </a:lnTo>
              </a:path>
            </a:pathLst>
          </a:custGeom>
          <a:noFill/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6" name="Right Arrow 55">
            <a:extLst>
              <a:ext uri="{FF2B5EF4-FFF2-40B4-BE49-F238E27FC236}">
                <a16:creationId xmlns:a16="http://schemas.microsoft.com/office/drawing/2014/main" id="{C0DB36A7-60EE-FB42-9D29-A0756AF184DA}"/>
              </a:ext>
            </a:extLst>
          </p:cNvPr>
          <p:cNvSpPr/>
          <p:nvPr/>
        </p:nvSpPr>
        <p:spPr>
          <a:xfrm rot="16200000">
            <a:off x="4735617" y="2632715"/>
            <a:ext cx="314072" cy="246454"/>
          </a:xfrm>
          <a:prstGeom prst="rightArrow">
            <a:avLst/>
          </a:prstGeom>
          <a:solidFill>
            <a:schemeClr val="bg2"/>
          </a:solidFill>
          <a:ln>
            <a:solidFill>
              <a:schemeClr val="tx2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Gill Sans MT" panose="020B0502020104020203" pitchFamily="34" charset="77"/>
            </a:endParaRPr>
          </a:p>
        </p:txBody>
      </p:sp>
      <p:sp>
        <p:nvSpPr>
          <p:cNvPr id="59" name="Right Arrow 58">
            <a:extLst>
              <a:ext uri="{FF2B5EF4-FFF2-40B4-BE49-F238E27FC236}">
                <a16:creationId xmlns:a16="http://schemas.microsoft.com/office/drawing/2014/main" id="{31662BBA-26D5-0148-8A8D-C512FC72DCF1}"/>
              </a:ext>
            </a:extLst>
          </p:cNvPr>
          <p:cNvSpPr/>
          <p:nvPr/>
        </p:nvSpPr>
        <p:spPr>
          <a:xfrm rot="19800000">
            <a:off x="6875067" y="4505945"/>
            <a:ext cx="314072" cy="246454"/>
          </a:xfrm>
          <a:prstGeom prst="rightArrow">
            <a:avLst/>
          </a:prstGeom>
          <a:solidFill>
            <a:schemeClr val="bg2"/>
          </a:solidFill>
          <a:ln>
            <a:solidFill>
              <a:schemeClr val="tx2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Gill Sans MT" panose="020B0502020104020203" pitchFamily="34" charset="7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8C4C0A0-B05F-F544-ACDD-93C547A06151}"/>
              </a:ext>
            </a:extLst>
          </p:cNvPr>
          <p:cNvSpPr txBox="1"/>
          <p:nvPr/>
        </p:nvSpPr>
        <p:spPr>
          <a:xfrm rot="19800000">
            <a:off x="7141131" y="4294143"/>
            <a:ext cx="4555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Gill Sans MT" panose="020B0502020104020203" pitchFamily="34" charset="77"/>
                <a:cs typeface="Trebuchet MS"/>
              </a:rPr>
              <a:t>Blue</a:t>
            </a:r>
          </a:p>
        </p:txBody>
      </p:sp>
      <p:sp>
        <p:nvSpPr>
          <p:cNvPr id="61" name="Right Arrow 60">
            <a:extLst>
              <a:ext uri="{FF2B5EF4-FFF2-40B4-BE49-F238E27FC236}">
                <a16:creationId xmlns:a16="http://schemas.microsoft.com/office/drawing/2014/main" id="{1AB7EA6F-7213-D541-ADC6-6799FEB73B9E}"/>
              </a:ext>
            </a:extLst>
          </p:cNvPr>
          <p:cNvSpPr/>
          <p:nvPr/>
        </p:nvSpPr>
        <p:spPr>
          <a:xfrm rot="9000000">
            <a:off x="6437057" y="4840967"/>
            <a:ext cx="314072" cy="246454"/>
          </a:xfrm>
          <a:prstGeom prst="rightArrow">
            <a:avLst/>
          </a:prstGeom>
          <a:solidFill>
            <a:schemeClr val="bg2"/>
          </a:solidFill>
          <a:ln>
            <a:solidFill>
              <a:schemeClr val="tx2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Gill Sans MT" panose="020B0502020104020203" pitchFamily="34" charset="7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4685E87-A3A9-2042-AA13-2BC1F2F3D107}"/>
              </a:ext>
            </a:extLst>
          </p:cNvPr>
          <p:cNvSpPr txBox="1"/>
          <p:nvPr/>
        </p:nvSpPr>
        <p:spPr>
          <a:xfrm rot="19800000">
            <a:off x="6028893" y="5017958"/>
            <a:ext cx="4365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Red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56ABB486-3638-DA46-BFB4-6E2F9AD24A1A}"/>
              </a:ext>
            </a:extLst>
          </p:cNvPr>
          <p:cNvSpPr/>
          <p:nvPr/>
        </p:nvSpPr>
        <p:spPr>
          <a:xfrm>
            <a:off x="3972297" y="2057934"/>
            <a:ext cx="431800" cy="432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511C38-9DCD-3FEF-8DC4-E7B8BAC9D8B5}"/>
              </a:ext>
            </a:extLst>
          </p:cNvPr>
          <p:cNvSpPr txBox="1"/>
          <p:nvPr/>
        </p:nvSpPr>
        <p:spPr>
          <a:xfrm>
            <a:off x="4371620" y="2045410"/>
            <a:ext cx="10586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77"/>
                <a:cs typeface="Trebuchet MS"/>
              </a:rPr>
              <a:t>Was it </a:t>
            </a:r>
            <a:r>
              <a:rPr lang="en-US" sz="1200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Red </a:t>
            </a:r>
            <a:r>
              <a:rPr lang="en-US" sz="1200" dirty="0">
                <a:latin typeface="Gill Sans MT" panose="020B0502020104020203" pitchFamily="34" charset="77"/>
                <a:cs typeface="Trebuchet MS"/>
              </a:rPr>
              <a:t>?  </a:t>
            </a:r>
          </a:p>
          <a:p>
            <a:pPr algn="ctr"/>
            <a:r>
              <a:rPr lang="en-US" sz="1200" dirty="0">
                <a:latin typeface="Gill Sans MT" panose="020B0502020104020203" pitchFamily="34" charset="77"/>
                <a:cs typeface="Trebuchet MS"/>
              </a:rPr>
              <a:t>Yes/No</a:t>
            </a:r>
          </a:p>
        </p:txBody>
      </p:sp>
    </p:spTree>
    <p:extLst>
      <p:ext uri="{BB962C8B-B14F-4D97-AF65-F5344CB8AC3E}">
        <p14:creationId xmlns:p14="http://schemas.microsoft.com/office/powerpoint/2010/main" val="5933517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/>
          <p:cNvSpPr/>
          <p:nvPr/>
        </p:nvSpPr>
        <p:spPr>
          <a:xfrm>
            <a:off x="4799856" y="306896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D8156F2-C82F-FD43-8A1C-8273596590A4}"/>
              </a:ext>
            </a:extLst>
          </p:cNvPr>
          <p:cNvCxnSpPr>
            <a:cxnSpLocks/>
          </p:cNvCxnSpPr>
          <p:nvPr/>
        </p:nvCxnSpPr>
        <p:spPr>
          <a:xfrm>
            <a:off x="3314700" y="6032500"/>
            <a:ext cx="44831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41E843FC-6BE6-8849-84D5-1012D078AF4C}"/>
              </a:ext>
            </a:extLst>
          </p:cNvPr>
          <p:cNvSpPr txBox="1"/>
          <p:nvPr/>
        </p:nvSpPr>
        <p:spPr>
          <a:xfrm>
            <a:off x="5924822" y="6106240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x</a:t>
            </a:r>
            <a:r>
              <a:rPr lang="en-US" baseline="-25000" dirty="0">
                <a:latin typeface="Gill Sans MT" panose="020B0502020104020203" pitchFamily="34" charset="77"/>
              </a:rPr>
              <a:t>1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65A9D1C-4328-EE41-9395-4F22EB6D7FD2}"/>
              </a:ext>
            </a:extLst>
          </p:cNvPr>
          <p:cNvCxnSpPr>
            <a:cxnSpLocks/>
          </p:cNvCxnSpPr>
          <p:nvPr/>
        </p:nvCxnSpPr>
        <p:spPr>
          <a:xfrm flipV="1">
            <a:off x="3683013" y="1447800"/>
            <a:ext cx="0" cy="4927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7DED08F9-D038-EB43-AA2D-2E7AA0464B50}"/>
              </a:ext>
            </a:extLst>
          </p:cNvPr>
          <p:cNvSpPr txBox="1"/>
          <p:nvPr/>
        </p:nvSpPr>
        <p:spPr>
          <a:xfrm>
            <a:off x="3213463" y="3641164"/>
            <a:ext cx="385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x</a:t>
            </a:r>
            <a:r>
              <a:rPr lang="en-US" baseline="-25000" dirty="0"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53" name="Freeform 52">
            <a:extLst>
              <a:ext uri="{FF2B5EF4-FFF2-40B4-BE49-F238E27FC236}">
                <a16:creationId xmlns:a16="http://schemas.microsoft.com/office/drawing/2014/main" id="{F3A5A51B-EAB3-B541-84EC-7E0847AF0698}"/>
              </a:ext>
            </a:extLst>
          </p:cNvPr>
          <p:cNvSpPr/>
          <p:nvPr/>
        </p:nvSpPr>
        <p:spPr>
          <a:xfrm>
            <a:off x="5234296" y="2292412"/>
            <a:ext cx="2551809" cy="2808312"/>
          </a:xfrm>
          <a:custGeom>
            <a:avLst/>
            <a:gdLst>
              <a:gd name="connsiteX0" fmla="*/ 367409 w 2551809"/>
              <a:gd name="connsiteY0" fmla="*/ 0 h 4787900"/>
              <a:gd name="connsiteX1" fmla="*/ 24509 w 2551809"/>
              <a:gd name="connsiteY1" fmla="*/ 1854200 h 4787900"/>
              <a:gd name="connsiteX2" fmla="*/ 964309 w 2551809"/>
              <a:gd name="connsiteY2" fmla="*/ 3886200 h 4787900"/>
              <a:gd name="connsiteX3" fmla="*/ 2551809 w 2551809"/>
              <a:gd name="connsiteY3" fmla="*/ 4787900 h 4787900"/>
              <a:gd name="connsiteX4" fmla="*/ 2551809 w 2551809"/>
              <a:gd name="connsiteY4" fmla="*/ 4787900 h 4787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1809" h="4787900">
                <a:moveTo>
                  <a:pt x="367409" y="0"/>
                </a:moveTo>
                <a:cubicBezTo>
                  <a:pt x="146217" y="603250"/>
                  <a:pt x="-74974" y="1206500"/>
                  <a:pt x="24509" y="1854200"/>
                </a:cubicBezTo>
                <a:cubicBezTo>
                  <a:pt x="123992" y="2501900"/>
                  <a:pt x="543092" y="3397250"/>
                  <a:pt x="964309" y="3886200"/>
                </a:cubicBezTo>
                <a:cubicBezTo>
                  <a:pt x="1385526" y="4375150"/>
                  <a:pt x="2551809" y="4787900"/>
                  <a:pt x="2551809" y="4787900"/>
                </a:cubicBezTo>
                <a:lnTo>
                  <a:pt x="2551809" y="4787900"/>
                </a:lnTo>
              </a:path>
            </a:pathLst>
          </a:custGeom>
          <a:noFill/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6" name="Right Arrow 55">
            <a:extLst>
              <a:ext uri="{FF2B5EF4-FFF2-40B4-BE49-F238E27FC236}">
                <a16:creationId xmlns:a16="http://schemas.microsoft.com/office/drawing/2014/main" id="{C0DB36A7-60EE-FB42-9D29-A0756AF184DA}"/>
              </a:ext>
            </a:extLst>
          </p:cNvPr>
          <p:cNvSpPr/>
          <p:nvPr/>
        </p:nvSpPr>
        <p:spPr>
          <a:xfrm rot="16200000">
            <a:off x="4735617" y="2632715"/>
            <a:ext cx="314072" cy="246454"/>
          </a:xfrm>
          <a:prstGeom prst="rightArrow">
            <a:avLst/>
          </a:prstGeom>
          <a:solidFill>
            <a:schemeClr val="bg2"/>
          </a:solidFill>
          <a:ln>
            <a:solidFill>
              <a:schemeClr val="tx2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Gill Sans MT" panose="020B0502020104020203" pitchFamily="34" charset="77"/>
            </a:endParaRPr>
          </a:p>
        </p:txBody>
      </p:sp>
      <p:sp>
        <p:nvSpPr>
          <p:cNvPr id="59" name="Right Arrow 58">
            <a:extLst>
              <a:ext uri="{FF2B5EF4-FFF2-40B4-BE49-F238E27FC236}">
                <a16:creationId xmlns:a16="http://schemas.microsoft.com/office/drawing/2014/main" id="{31662BBA-26D5-0148-8A8D-C512FC72DCF1}"/>
              </a:ext>
            </a:extLst>
          </p:cNvPr>
          <p:cNvSpPr/>
          <p:nvPr/>
        </p:nvSpPr>
        <p:spPr>
          <a:xfrm rot="19800000">
            <a:off x="6875067" y="4505945"/>
            <a:ext cx="314072" cy="246454"/>
          </a:xfrm>
          <a:prstGeom prst="rightArrow">
            <a:avLst/>
          </a:prstGeom>
          <a:solidFill>
            <a:schemeClr val="bg2"/>
          </a:solidFill>
          <a:ln>
            <a:solidFill>
              <a:schemeClr val="tx2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Gill Sans MT" panose="020B0502020104020203" pitchFamily="34" charset="7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8C4C0A0-B05F-F544-ACDD-93C547A06151}"/>
              </a:ext>
            </a:extLst>
          </p:cNvPr>
          <p:cNvSpPr txBox="1"/>
          <p:nvPr/>
        </p:nvSpPr>
        <p:spPr>
          <a:xfrm rot="19800000">
            <a:off x="7141131" y="4294143"/>
            <a:ext cx="4555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Gill Sans MT" panose="020B0502020104020203" pitchFamily="34" charset="77"/>
                <a:cs typeface="Trebuchet MS"/>
              </a:rPr>
              <a:t>Blue</a:t>
            </a:r>
          </a:p>
        </p:txBody>
      </p:sp>
      <p:sp>
        <p:nvSpPr>
          <p:cNvPr id="61" name="Right Arrow 60">
            <a:extLst>
              <a:ext uri="{FF2B5EF4-FFF2-40B4-BE49-F238E27FC236}">
                <a16:creationId xmlns:a16="http://schemas.microsoft.com/office/drawing/2014/main" id="{1AB7EA6F-7213-D541-ADC6-6799FEB73B9E}"/>
              </a:ext>
            </a:extLst>
          </p:cNvPr>
          <p:cNvSpPr/>
          <p:nvPr/>
        </p:nvSpPr>
        <p:spPr>
          <a:xfrm rot="9000000">
            <a:off x="6437057" y="4840967"/>
            <a:ext cx="314072" cy="246454"/>
          </a:xfrm>
          <a:prstGeom prst="rightArrow">
            <a:avLst/>
          </a:prstGeom>
          <a:solidFill>
            <a:schemeClr val="bg2"/>
          </a:solidFill>
          <a:ln>
            <a:solidFill>
              <a:schemeClr val="tx2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latin typeface="Gill Sans MT" panose="020B0502020104020203" pitchFamily="34" charset="7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4685E87-A3A9-2042-AA13-2BC1F2F3D107}"/>
              </a:ext>
            </a:extLst>
          </p:cNvPr>
          <p:cNvSpPr txBox="1"/>
          <p:nvPr/>
        </p:nvSpPr>
        <p:spPr>
          <a:xfrm rot="19800000">
            <a:off x="6028893" y="5017958"/>
            <a:ext cx="4365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Red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56ABB486-3638-DA46-BFB4-6E2F9AD24A1A}"/>
              </a:ext>
            </a:extLst>
          </p:cNvPr>
          <p:cNvSpPr/>
          <p:nvPr/>
        </p:nvSpPr>
        <p:spPr>
          <a:xfrm>
            <a:off x="3972297" y="2057934"/>
            <a:ext cx="431800" cy="432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CD5CE5-A82B-A842-8C9E-328CC3E967C3}"/>
              </a:ext>
            </a:extLst>
          </p:cNvPr>
          <p:cNvSpPr txBox="1"/>
          <p:nvPr/>
        </p:nvSpPr>
        <p:spPr>
          <a:xfrm>
            <a:off x="6753604" y="2067212"/>
            <a:ext cx="31431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Repeat for all testing samples…</a:t>
            </a:r>
          </a:p>
          <a:p>
            <a:r>
              <a:rPr lang="en-US" dirty="0">
                <a:latin typeface="Gill Sans MT" panose="020B0502020104020203" pitchFamily="34" charset="77"/>
              </a:rPr>
              <a:t>Compute Accuracy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AA4768-F354-B3D6-2F93-9AF54AB7EA59}"/>
              </a:ext>
            </a:extLst>
          </p:cNvPr>
          <p:cNvSpPr txBox="1"/>
          <p:nvPr/>
        </p:nvSpPr>
        <p:spPr>
          <a:xfrm>
            <a:off x="4371620" y="2045410"/>
            <a:ext cx="10586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77"/>
                <a:cs typeface="Trebuchet MS"/>
              </a:rPr>
              <a:t>Was it </a:t>
            </a:r>
            <a:r>
              <a:rPr lang="en-US" sz="1200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Red </a:t>
            </a:r>
            <a:r>
              <a:rPr lang="en-US" sz="1200" dirty="0">
                <a:latin typeface="Gill Sans MT" panose="020B0502020104020203" pitchFamily="34" charset="77"/>
                <a:cs typeface="Trebuchet MS"/>
              </a:rPr>
              <a:t>?  </a:t>
            </a:r>
          </a:p>
          <a:p>
            <a:pPr algn="ctr"/>
            <a:r>
              <a:rPr lang="en-US" sz="1200" dirty="0">
                <a:latin typeface="Gill Sans MT" panose="020B0502020104020203" pitchFamily="34" charset="77"/>
                <a:cs typeface="Trebuchet MS"/>
              </a:rPr>
              <a:t>Yes/No</a:t>
            </a:r>
          </a:p>
        </p:txBody>
      </p:sp>
    </p:spTree>
    <p:extLst>
      <p:ext uri="{BB962C8B-B14F-4D97-AF65-F5344CB8AC3E}">
        <p14:creationId xmlns:p14="http://schemas.microsoft.com/office/powerpoint/2010/main" val="11900461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71E04-6028-9E4D-CE10-D2E450413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320F638-E3E2-EED3-F24A-D3D283BC3A87}"/>
              </a:ext>
            </a:extLst>
          </p:cNvPr>
          <p:cNvSpPr txBox="1"/>
          <p:nvPr/>
        </p:nvSpPr>
        <p:spPr>
          <a:xfrm>
            <a:off x="2264675" y="5340955"/>
            <a:ext cx="38170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>
                <a:latin typeface="Gill Sans MT" panose="020B0502020104020203" pitchFamily="34" charset="77"/>
                <a:cs typeface="Trebuchet MS"/>
              </a:rPr>
              <a:t>Esquema</a:t>
            </a:r>
            <a:r>
              <a:rPr lang="en-US" sz="4000" dirty="0">
                <a:latin typeface="Gill Sans MT" panose="020B0502020104020203" pitchFamily="34" charset="77"/>
                <a:cs typeface="Trebuchet MS"/>
              </a:rPr>
              <a:t> General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E0C01A-B981-02F8-1F32-8D600C86E101}"/>
              </a:ext>
            </a:extLst>
          </p:cNvPr>
          <p:cNvSpPr txBox="1"/>
          <p:nvPr/>
        </p:nvSpPr>
        <p:spPr>
          <a:xfrm rot="16200000">
            <a:off x="7282990" y="2141319"/>
            <a:ext cx="1200585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 err="1">
                <a:latin typeface="Gill Sans MT" panose="020B0502020104020203" pitchFamily="34" charset="77"/>
              </a:rPr>
              <a:t>N</a:t>
            </a:r>
            <a:r>
              <a:rPr lang="en-US" sz="1600" baseline="-25000" dirty="0" err="1">
                <a:latin typeface="Gill Sans MT" panose="020B0502020104020203" pitchFamily="34" charset="77"/>
              </a:rPr>
              <a:t>t</a:t>
            </a:r>
            <a:r>
              <a:rPr lang="en-US" sz="1600" dirty="0">
                <a:latin typeface="Gill Sans MT" panose="020B0502020104020203" pitchFamily="34" charset="77"/>
              </a:rPr>
              <a:t> </a:t>
            </a:r>
            <a:r>
              <a:rPr lang="en-US" sz="1600" dirty="0" err="1">
                <a:latin typeface="Gill Sans MT" panose="020B0502020104020203" pitchFamily="34" charset="77"/>
              </a:rPr>
              <a:t>muestras</a:t>
            </a:r>
            <a:endParaRPr lang="en-US" sz="1600" dirty="0">
              <a:latin typeface="Gill Sans MT" panose="020B0502020104020203" pitchFamily="34" charset="77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22B13C9-E10C-06CD-1C2E-D9298F6DDAEC}"/>
              </a:ext>
            </a:extLst>
          </p:cNvPr>
          <p:cNvCxnSpPr>
            <a:cxnSpLocks/>
          </p:cNvCxnSpPr>
          <p:nvPr/>
        </p:nvCxnSpPr>
        <p:spPr>
          <a:xfrm flipH="1">
            <a:off x="8754004" y="2946408"/>
            <a:ext cx="2862" cy="93600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52B052E7-8585-B76D-4D36-4D204E533D5C}"/>
              </a:ext>
            </a:extLst>
          </p:cNvPr>
          <p:cNvGraphicFramePr>
            <a:graphicFrameLocks noGrp="1"/>
          </p:cNvGraphicFramePr>
          <p:nvPr/>
        </p:nvGraphicFramePr>
        <p:xfrm>
          <a:off x="8328588" y="1658587"/>
          <a:ext cx="1092924" cy="112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231">
                  <a:extLst>
                    <a:ext uri="{9D8B030D-6E8A-4147-A177-3AD203B41FA5}">
                      <a16:colId xmlns:a16="http://schemas.microsoft.com/office/drawing/2014/main" val="1587632376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749266633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3802181957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1979340780"/>
                    </a:ext>
                  </a:extLst>
                </a:gridCol>
              </a:tblGrid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129878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10622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080497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68420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387770"/>
                  </a:ext>
                </a:extLst>
              </a:tr>
            </a:tbl>
          </a:graphicData>
        </a:graphic>
      </p:graphicFrame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5A2BB4B-1A91-9EAC-01E8-ED5F1D956430}"/>
              </a:ext>
            </a:extLst>
          </p:cNvPr>
          <p:cNvSpPr/>
          <p:nvPr/>
        </p:nvSpPr>
        <p:spPr>
          <a:xfrm>
            <a:off x="7923412" y="3876112"/>
            <a:ext cx="1649308" cy="694987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rPr>
              <a:t>Clasificación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Gill Sans MT" panose="020B0502020104020203" pitchFamily="34" charset="77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36C063C-0A05-8636-EF41-FA8E5E4C8614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4256920" y="4218984"/>
            <a:ext cx="3666495" cy="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eft Brace 15">
            <a:extLst>
              <a:ext uri="{FF2B5EF4-FFF2-40B4-BE49-F238E27FC236}">
                <a16:creationId xmlns:a16="http://schemas.microsoft.com/office/drawing/2014/main" id="{721A7427-B2BF-E484-E45C-ED214F56EE82}"/>
              </a:ext>
            </a:extLst>
          </p:cNvPr>
          <p:cNvSpPr/>
          <p:nvPr/>
        </p:nvSpPr>
        <p:spPr>
          <a:xfrm rot="16200000">
            <a:off x="8707050" y="2470055"/>
            <a:ext cx="91967" cy="797785"/>
          </a:xfrm>
          <a:prstGeom prst="leftBrace">
            <a:avLst/>
          </a:prstGeom>
          <a:ln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66AF22E-10DA-EEA7-4C8E-FD7C40EF8EBD}"/>
              </a:ext>
            </a:extLst>
          </p:cNvPr>
          <p:cNvCxnSpPr>
            <a:cxnSpLocks/>
          </p:cNvCxnSpPr>
          <p:nvPr/>
        </p:nvCxnSpPr>
        <p:spPr>
          <a:xfrm flipH="1">
            <a:off x="8750928" y="4569578"/>
            <a:ext cx="2862" cy="64800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0EE81D3F-C565-BD53-FBF4-96D83E0A83DC}"/>
              </a:ext>
            </a:extLst>
          </p:cNvPr>
          <p:cNvGraphicFramePr>
            <a:graphicFrameLocks noGrp="1"/>
          </p:cNvGraphicFramePr>
          <p:nvPr/>
        </p:nvGraphicFramePr>
        <p:xfrm>
          <a:off x="8606527" y="5203908"/>
          <a:ext cx="273231" cy="112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231">
                  <a:extLst>
                    <a:ext uri="{9D8B030D-6E8A-4147-A177-3AD203B41FA5}">
                      <a16:colId xmlns:a16="http://schemas.microsoft.com/office/drawing/2014/main" val="1979340780"/>
                    </a:ext>
                  </a:extLst>
                </a:gridCol>
              </a:tblGrid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129878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10622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080497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68420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387770"/>
                  </a:ext>
                </a:extLst>
              </a:tr>
            </a:tbl>
          </a:graphicData>
        </a:graphic>
      </p:graphicFrame>
      <p:sp>
        <p:nvSpPr>
          <p:cNvPr id="19" name="Oval 18">
            <a:extLst>
              <a:ext uri="{FF2B5EF4-FFF2-40B4-BE49-F238E27FC236}">
                <a16:creationId xmlns:a16="http://schemas.microsoft.com/office/drawing/2014/main" id="{84972380-CFB5-0A0A-DF3D-04B4403DC718}"/>
              </a:ext>
            </a:extLst>
          </p:cNvPr>
          <p:cNvSpPr/>
          <p:nvPr/>
        </p:nvSpPr>
        <p:spPr>
          <a:xfrm>
            <a:off x="8537901" y="5043798"/>
            <a:ext cx="410476" cy="146341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A3F6F86-5C8F-A3F0-6399-7D4B7FA9A10C}"/>
              </a:ext>
            </a:extLst>
          </p:cNvPr>
          <p:cNvSpPr/>
          <p:nvPr/>
        </p:nvSpPr>
        <p:spPr>
          <a:xfrm>
            <a:off x="9553744" y="5617533"/>
            <a:ext cx="324000" cy="324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600" dirty="0">
              <a:latin typeface="Gill Sans MT" panose="020B0502020104020203" pitchFamily="34" charset="77"/>
            </a:endParaRPr>
          </a:p>
        </p:txBody>
      </p: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E0DF9CB7-5115-8A66-E3C8-EF8DCC7633CE}"/>
              </a:ext>
            </a:extLst>
          </p:cNvPr>
          <p:cNvCxnSpPr>
            <a:cxnSpLocks/>
            <a:stCxn id="13" idx="3"/>
            <a:endCxn id="20" idx="0"/>
          </p:cNvCxnSpPr>
          <p:nvPr/>
        </p:nvCxnSpPr>
        <p:spPr>
          <a:xfrm>
            <a:off x="9421512" y="2223347"/>
            <a:ext cx="294232" cy="3394186"/>
          </a:xfrm>
          <a:prstGeom prst="bentConnector2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C8F877A-8BC5-F25D-C348-5DDAF23AD80A}"/>
              </a:ext>
            </a:extLst>
          </p:cNvPr>
          <p:cNvCxnSpPr>
            <a:cxnSpLocks/>
            <a:stCxn id="19" idx="6"/>
            <a:endCxn id="20" idx="2"/>
          </p:cNvCxnSpPr>
          <p:nvPr/>
        </p:nvCxnSpPr>
        <p:spPr>
          <a:xfrm>
            <a:off x="8948378" y="5775503"/>
            <a:ext cx="605367" cy="403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1DFAF1A-C5D6-9D40-036D-668CBC2AA206}"/>
              </a:ext>
            </a:extLst>
          </p:cNvPr>
          <p:cNvCxnSpPr>
            <a:cxnSpLocks/>
          </p:cNvCxnSpPr>
          <p:nvPr/>
        </p:nvCxnSpPr>
        <p:spPr>
          <a:xfrm>
            <a:off x="9719209" y="5940267"/>
            <a:ext cx="0" cy="289754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C0A8D13-322C-AE6A-0FAA-1A93D7A41B93}"/>
              </a:ext>
            </a:extLst>
          </p:cNvPr>
          <p:cNvSpPr txBox="1"/>
          <p:nvPr/>
        </p:nvSpPr>
        <p:spPr>
          <a:xfrm>
            <a:off x="9164650" y="6226055"/>
            <a:ext cx="1047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Accuracy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4A2CAC5-FF56-55B3-063A-E7FF418F2B0B}"/>
              </a:ext>
            </a:extLst>
          </p:cNvPr>
          <p:cNvSpPr txBox="1"/>
          <p:nvPr/>
        </p:nvSpPr>
        <p:spPr>
          <a:xfrm>
            <a:off x="6258929" y="5482966"/>
            <a:ext cx="21675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err="1">
                <a:latin typeface="Gill Sans MT" panose="020B0502020104020203" pitchFamily="34" charset="77"/>
              </a:rPr>
              <a:t>Clasificación</a:t>
            </a:r>
            <a:r>
              <a:rPr lang="en-US" dirty="0">
                <a:latin typeface="Gill Sans MT" panose="020B0502020104020203" pitchFamily="34" charset="77"/>
              </a:rPr>
              <a:t> del </a:t>
            </a:r>
          </a:p>
          <a:p>
            <a:pPr algn="r"/>
            <a:r>
              <a:rPr lang="en-US" dirty="0">
                <a:latin typeface="Gill Sans MT" panose="020B0502020104020203" pitchFamily="34" charset="77"/>
              </a:rPr>
              <a:t>Conjunto de </a:t>
            </a:r>
            <a:r>
              <a:rPr lang="en-US" dirty="0" err="1">
                <a:latin typeface="Gill Sans MT" panose="020B0502020104020203" pitchFamily="34" charset="77"/>
              </a:rPr>
              <a:t>Pruebas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90AB162-2710-1C6E-0696-6C986F658F66}"/>
              </a:ext>
            </a:extLst>
          </p:cNvPr>
          <p:cNvSpPr txBox="1"/>
          <p:nvPr/>
        </p:nvSpPr>
        <p:spPr>
          <a:xfrm>
            <a:off x="9532299" y="5318121"/>
            <a:ext cx="3946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Gill Sans MT" panose="020B0502020104020203" pitchFamily="34" charset="77"/>
              </a:rPr>
              <a:t>-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417CCB4-8D61-B09B-BE11-F4920986BCCF}"/>
              </a:ext>
            </a:extLst>
          </p:cNvPr>
          <p:cNvSpPr txBox="1"/>
          <p:nvPr/>
        </p:nvSpPr>
        <p:spPr>
          <a:xfrm>
            <a:off x="8294573" y="1856593"/>
            <a:ext cx="851515" cy="21544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800" dirty="0">
                <a:latin typeface="Gill Sans MT" panose="020B0502020104020203" pitchFamily="34" charset="77"/>
              </a:rPr>
              <a:t>p </a:t>
            </a:r>
            <a:r>
              <a:rPr lang="en-US" sz="800" dirty="0" err="1">
                <a:latin typeface="Gill Sans MT" panose="020B0502020104020203" pitchFamily="34" charset="77"/>
              </a:rPr>
              <a:t>características</a:t>
            </a:r>
            <a:endParaRPr lang="en-US" sz="800" dirty="0">
              <a:latin typeface="Gill Sans MT" panose="020B0502020104020203" pitchFamily="34" charset="77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BC83ED8-0FF3-FBF2-8943-466B57773DF3}"/>
              </a:ext>
            </a:extLst>
          </p:cNvPr>
          <p:cNvCxnSpPr>
            <a:cxnSpLocks/>
          </p:cNvCxnSpPr>
          <p:nvPr/>
        </p:nvCxnSpPr>
        <p:spPr>
          <a:xfrm flipV="1">
            <a:off x="2462542" y="1336736"/>
            <a:ext cx="0" cy="1790107"/>
          </a:xfrm>
          <a:prstGeom prst="straightConnector1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C729203C-F889-B27C-CDD7-42B53E75D1FB}"/>
              </a:ext>
            </a:extLst>
          </p:cNvPr>
          <p:cNvGraphicFramePr>
            <a:graphicFrameLocks noGrp="1"/>
          </p:cNvGraphicFramePr>
          <p:nvPr/>
        </p:nvGraphicFramePr>
        <p:xfrm>
          <a:off x="2899351" y="1093704"/>
          <a:ext cx="1092924" cy="2033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231">
                  <a:extLst>
                    <a:ext uri="{9D8B030D-6E8A-4147-A177-3AD203B41FA5}">
                      <a16:colId xmlns:a16="http://schemas.microsoft.com/office/drawing/2014/main" val="1587632376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1429024220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3802181957"/>
                    </a:ext>
                  </a:extLst>
                </a:gridCol>
                <a:gridCol w="273231">
                  <a:extLst>
                    <a:ext uri="{9D8B030D-6E8A-4147-A177-3AD203B41FA5}">
                      <a16:colId xmlns:a16="http://schemas.microsoft.com/office/drawing/2014/main" val="1979340780"/>
                    </a:ext>
                  </a:extLst>
                </a:gridCol>
              </a:tblGrid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129878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10622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622095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080497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6197139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68420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387770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607525"/>
                  </a:ext>
                </a:extLst>
              </a:tr>
              <a:tr h="225904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MT" panose="020B0502020104020203" pitchFamily="34" charset="77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590238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1C3086EA-34EA-5C3F-01CE-DCD9D09617D2}"/>
              </a:ext>
            </a:extLst>
          </p:cNvPr>
          <p:cNvSpPr txBox="1"/>
          <p:nvPr/>
        </p:nvSpPr>
        <p:spPr>
          <a:xfrm rot="16200000">
            <a:off x="1826315" y="2042544"/>
            <a:ext cx="127246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N </a:t>
            </a:r>
            <a:r>
              <a:rPr lang="en-US" dirty="0" err="1">
                <a:latin typeface="Gill Sans MT" panose="020B0502020104020203" pitchFamily="34" charset="77"/>
              </a:rPr>
              <a:t>muestras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F937FD7-2580-C4A8-0C01-5D1DA7D829ED}"/>
              </a:ext>
            </a:extLst>
          </p:cNvPr>
          <p:cNvSpPr txBox="1"/>
          <p:nvPr/>
        </p:nvSpPr>
        <p:spPr>
          <a:xfrm>
            <a:off x="2883709" y="1330227"/>
            <a:ext cx="851515" cy="21544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800" dirty="0">
                <a:latin typeface="Gill Sans MT" panose="020B0502020104020203" pitchFamily="34" charset="77"/>
              </a:rPr>
              <a:t>p </a:t>
            </a:r>
            <a:r>
              <a:rPr lang="en-US" sz="800" dirty="0" err="1">
                <a:latin typeface="Gill Sans MT" panose="020B0502020104020203" pitchFamily="34" charset="77"/>
              </a:rPr>
              <a:t>características</a:t>
            </a:r>
            <a:endParaRPr lang="en-US" sz="800" dirty="0">
              <a:latin typeface="Gill Sans MT" panose="020B0502020104020203" pitchFamily="34" charset="77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A9987504-D168-B344-D52D-7B0C56037942}"/>
              </a:ext>
            </a:extLst>
          </p:cNvPr>
          <p:cNvSpPr/>
          <p:nvPr/>
        </p:nvSpPr>
        <p:spPr>
          <a:xfrm>
            <a:off x="2607609" y="3860674"/>
            <a:ext cx="1649308" cy="694987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rPr>
              <a:t>Entrenamiento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rPr>
              <a:t> de </a:t>
            </a: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rPr>
              <a:t>Clasificador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Gill Sans MT" panose="020B0502020104020203" pitchFamily="34" charset="77"/>
            </a:endParaRP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F156F61-A30E-7518-CBC1-0097E8EA5369}"/>
              </a:ext>
            </a:extLst>
          </p:cNvPr>
          <p:cNvCxnSpPr>
            <a:cxnSpLocks/>
          </p:cNvCxnSpPr>
          <p:nvPr/>
        </p:nvCxnSpPr>
        <p:spPr>
          <a:xfrm>
            <a:off x="3301211" y="3392929"/>
            <a:ext cx="339" cy="46800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Left Brace 33">
            <a:extLst>
              <a:ext uri="{FF2B5EF4-FFF2-40B4-BE49-F238E27FC236}">
                <a16:creationId xmlns:a16="http://schemas.microsoft.com/office/drawing/2014/main" id="{4E099D76-A31C-0C46-0482-40B21045FA70}"/>
              </a:ext>
            </a:extLst>
          </p:cNvPr>
          <p:cNvSpPr/>
          <p:nvPr/>
        </p:nvSpPr>
        <p:spPr>
          <a:xfrm rot="16200000">
            <a:off x="3246836" y="2891857"/>
            <a:ext cx="135504" cy="750376"/>
          </a:xfrm>
          <a:prstGeom prst="leftBrace">
            <a:avLst>
              <a:gd name="adj1" fmla="val 8333"/>
              <a:gd name="adj2" fmla="val 49144"/>
            </a:avLst>
          </a:prstGeom>
          <a:ln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46C806B-5029-36DC-B0A3-1695BBE0D1E6}"/>
              </a:ext>
            </a:extLst>
          </p:cNvPr>
          <p:cNvCxnSpPr>
            <a:cxnSpLocks/>
          </p:cNvCxnSpPr>
          <p:nvPr/>
        </p:nvCxnSpPr>
        <p:spPr>
          <a:xfrm>
            <a:off x="3849922" y="3126597"/>
            <a:ext cx="0" cy="746188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CED5B017-A80C-DC23-C344-7CD6474A9031}"/>
              </a:ext>
            </a:extLst>
          </p:cNvPr>
          <p:cNvSpPr txBox="1"/>
          <p:nvPr/>
        </p:nvSpPr>
        <p:spPr>
          <a:xfrm>
            <a:off x="4685295" y="4182851"/>
            <a:ext cx="2780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parámetros</a:t>
            </a:r>
            <a:r>
              <a:rPr lang="en-US" dirty="0">
                <a:latin typeface="Gill Sans MT" panose="020B0502020104020203" pitchFamily="34" charset="77"/>
              </a:rPr>
              <a:t> del </a:t>
            </a:r>
            <a:r>
              <a:rPr lang="en-US" dirty="0" err="1">
                <a:latin typeface="Gill Sans MT" panose="020B0502020104020203" pitchFamily="34" charset="77"/>
              </a:rPr>
              <a:t>clasificador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B55C9ED-C51F-F5FF-CD1E-5C9618740933}"/>
              </a:ext>
            </a:extLst>
          </p:cNvPr>
          <p:cNvSpPr/>
          <p:nvPr/>
        </p:nvSpPr>
        <p:spPr>
          <a:xfrm>
            <a:off x="9080142" y="1506324"/>
            <a:ext cx="410476" cy="1463410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AA3DE85-9B70-5E18-77D7-D57DCD5121CE}"/>
              </a:ext>
            </a:extLst>
          </p:cNvPr>
          <p:cNvSpPr txBox="1"/>
          <p:nvPr/>
        </p:nvSpPr>
        <p:spPr>
          <a:xfrm>
            <a:off x="7188761" y="3037895"/>
            <a:ext cx="15071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err="1">
                <a:solidFill>
                  <a:srgbClr val="FF0000"/>
                </a:solidFill>
                <a:latin typeface="Gill Sans MT" panose="020B0502020104020203" pitchFamily="34" charset="77"/>
              </a:rPr>
              <a:t>sólo</a:t>
            </a:r>
            <a:endParaRPr lang="en-US" dirty="0">
              <a:solidFill>
                <a:srgbClr val="FF0000"/>
              </a:solidFill>
              <a:latin typeface="Gill Sans MT" panose="020B0502020104020203" pitchFamily="34" charset="77"/>
            </a:endParaRPr>
          </a:p>
          <a:p>
            <a:pPr algn="r"/>
            <a:r>
              <a:rPr lang="en-US" dirty="0" err="1">
                <a:solidFill>
                  <a:srgbClr val="FF0000"/>
                </a:solidFill>
                <a:latin typeface="Gill Sans MT" panose="020B0502020104020203" pitchFamily="34" charset="77"/>
              </a:rPr>
              <a:t>características</a:t>
            </a:r>
            <a:endParaRPr lang="en-US" dirty="0">
              <a:solidFill>
                <a:srgbClr val="FF0000"/>
              </a:solidFill>
              <a:latin typeface="Gill Sans MT" panose="020B0502020104020203" pitchFamily="34" charset="7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0C824C6-4AE3-1C87-921C-30A6FFDC0DE1}"/>
              </a:ext>
            </a:extLst>
          </p:cNvPr>
          <p:cNvSpPr txBox="1"/>
          <p:nvPr/>
        </p:nvSpPr>
        <p:spPr>
          <a:xfrm>
            <a:off x="9906119" y="3876111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9300"/>
                </a:solidFill>
                <a:latin typeface="Gill Sans MT" panose="020B0502020104020203" pitchFamily="34" charset="77"/>
              </a:rPr>
              <a:t>y</a:t>
            </a:r>
            <a:r>
              <a:rPr lang="en-US" baseline="-250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t</a:t>
            </a:r>
            <a:endParaRPr lang="en-US" baseline="-25000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8892794-1B38-244E-69EC-1544046EE123}"/>
              </a:ext>
            </a:extLst>
          </p:cNvPr>
          <p:cNvSpPr txBox="1"/>
          <p:nvPr/>
        </p:nvSpPr>
        <p:spPr>
          <a:xfrm>
            <a:off x="9118220" y="5364286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00B050"/>
                </a:solidFill>
                <a:latin typeface="Gill Sans MT" panose="020B0502020104020203" pitchFamily="34" charset="77"/>
              </a:rPr>
              <a:t>y</a:t>
            </a:r>
            <a:r>
              <a:rPr lang="en-US" baseline="-25000" dirty="0" err="1">
                <a:solidFill>
                  <a:srgbClr val="00B050"/>
                </a:solidFill>
                <a:latin typeface="Gill Sans MT" panose="020B0502020104020203" pitchFamily="34" charset="77"/>
              </a:rPr>
              <a:t>s</a:t>
            </a:r>
            <a:endParaRPr lang="en-US" baseline="-25000" dirty="0">
              <a:solidFill>
                <a:srgbClr val="00B050"/>
              </a:solidFill>
              <a:latin typeface="Gill Sans MT" panose="020B0502020104020203" pitchFamily="34" charset="7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57ABC53-AB80-6CD2-34BE-5C0ED772740A}"/>
              </a:ext>
            </a:extLst>
          </p:cNvPr>
          <p:cNvSpPr txBox="1"/>
          <p:nvPr/>
        </p:nvSpPr>
        <p:spPr>
          <a:xfrm>
            <a:off x="9091306" y="1055801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9300"/>
                </a:solidFill>
                <a:latin typeface="Gill Sans MT" panose="020B0502020104020203" pitchFamily="34" charset="77"/>
              </a:rPr>
              <a:t>y</a:t>
            </a:r>
            <a:r>
              <a:rPr lang="en-US" baseline="-250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t</a:t>
            </a:r>
            <a:endParaRPr lang="en-US" baseline="-25000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E96EAA6-0899-C092-B18B-5D641EE755DD}"/>
              </a:ext>
            </a:extLst>
          </p:cNvPr>
          <p:cNvSpPr txBox="1"/>
          <p:nvPr/>
        </p:nvSpPr>
        <p:spPr>
          <a:xfrm>
            <a:off x="8486290" y="1055801"/>
            <a:ext cx="39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9300"/>
                </a:solidFill>
                <a:latin typeface="Gill Sans MT" panose="020B0502020104020203" pitchFamily="34" charset="77"/>
              </a:rPr>
              <a:t>X</a:t>
            </a:r>
            <a:r>
              <a:rPr lang="en-US" baseline="-250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t</a:t>
            </a:r>
            <a:endParaRPr lang="en-US" baseline="-25000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BC9E522-3A8F-430B-4671-8E1011BB35E1}"/>
              </a:ext>
            </a:extLst>
          </p:cNvPr>
          <p:cNvSpPr txBox="1"/>
          <p:nvPr/>
        </p:nvSpPr>
        <p:spPr>
          <a:xfrm>
            <a:off x="8713819" y="3148581"/>
            <a:ext cx="39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9300"/>
                </a:solidFill>
                <a:latin typeface="Gill Sans MT" panose="020B0502020104020203" pitchFamily="34" charset="77"/>
              </a:rPr>
              <a:t>X</a:t>
            </a:r>
            <a:r>
              <a:rPr lang="en-US" baseline="-25000" dirty="0" err="1">
                <a:solidFill>
                  <a:srgbClr val="FF9300"/>
                </a:solidFill>
                <a:latin typeface="Gill Sans MT" panose="020B0502020104020203" pitchFamily="34" charset="77"/>
              </a:rPr>
              <a:t>t</a:t>
            </a:r>
            <a:endParaRPr lang="en-US" baseline="-25000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EEB056D-F2F6-E71C-E45F-C9496CC44D5F}"/>
              </a:ext>
            </a:extLst>
          </p:cNvPr>
          <p:cNvSpPr txBox="1"/>
          <p:nvPr/>
        </p:nvSpPr>
        <p:spPr>
          <a:xfrm>
            <a:off x="8742528" y="4628968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00B050"/>
                </a:solidFill>
                <a:latin typeface="Gill Sans MT" panose="020B0502020104020203" pitchFamily="34" charset="77"/>
              </a:rPr>
              <a:t>y</a:t>
            </a:r>
            <a:r>
              <a:rPr lang="en-US" baseline="-25000" dirty="0" err="1">
                <a:solidFill>
                  <a:srgbClr val="00B050"/>
                </a:solidFill>
                <a:latin typeface="Gill Sans MT" panose="020B0502020104020203" pitchFamily="34" charset="77"/>
              </a:rPr>
              <a:t>s</a:t>
            </a:r>
            <a:endParaRPr lang="en-US" baseline="-25000" dirty="0">
              <a:solidFill>
                <a:srgbClr val="00B050"/>
              </a:solidFill>
              <a:latin typeface="Gill Sans MT" panose="020B0502020104020203" pitchFamily="34" charset="7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B8B3513-FF2A-6623-E9CD-0575B63379B6}"/>
              </a:ext>
            </a:extLst>
          </p:cNvPr>
          <p:cNvSpPr txBox="1"/>
          <p:nvPr/>
        </p:nvSpPr>
        <p:spPr>
          <a:xfrm>
            <a:off x="3797350" y="3369764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  <a:latin typeface="Gill Sans MT" panose="020B0502020104020203" pitchFamily="34" charset="77"/>
              </a:rPr>
              <a:t>y</a:t>
            </a:r>
            <a:endParaRPr lang="en-US" baseline="-25000" dirty="0">
              <a:solidFill>
                <a:srgbClr val="0096FF"/>
              </a:solidFill>
              <a:latin typeface="Gill Sans MT" panose="020B0502020104020203" pitchFamily="34" charset="7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441A115-80ED-1426-0B89-E229ED8BBCC2}"/>
              </a:ext>
            </a:extLst>
          </p:cNvPr>
          <p:cNvSpPr txBox="1"/>
          <p:nvPr/>
        </p:nvSpPr>
        <p:spPr>
          <a:xfrm>
            <a:off x="2908231" y="3384997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  <a:latin typeface="Gill Sans MT" panose="020B0502020104020203" pitchFamily="34" charset="77"/>
              </a:rPr>
              <a:t>X</a:t>
            </a:r>
            <a:endParaRPr lang="en-US" baseline="-25000" dirty="0">
              <a:solidFill>
                <a:srgbClr val="0096FF"/>
              </a:solidFill>
              <a:latin typeface="Gill Sans MT" panose="020B0502020104020203" pitchFamily="34" charset="7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DC333E0-CC27-F249-C7FB-F5DFE7B43AB9}"/>
              </a:ext>
            </a:extLst>
          </p:cNvPr>
          <p:cNvSpPr txBox="1"/>
          <p:nvPr/>
        </p:nvSpPr>
        <p:spPr>
          <a:xfrm>
            <a:off x="3694064" y="687690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  <a:latin typeface="Gill Sans MT" panose="020B0502020104020203" pitchFamily="34" charset="77"/>
              </a:rPr>
              <a:t>y</a:t>
            </a:r>
            <a:endParaRPr lang="en-US" baseline="-25000" dirty="0">
              <a:solidFill>
                <a:srgbClr val="0096FF"/>
              </a:solidFill>
              <a:latin typeface="Gill Sans MT" panose="020B0502020104020203" pitchFamily="34" charset="7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4928253-F594-EB42-EB6B-6DBDD8040CFB}"/>
              </a:ext>
            </a:extLst>
          </p:cNvPr>
          <p:cNvSpPr txBox="1"/>
          <p:nvPr/>
        </p:nvSpPr>
        <p:spPr>
          <a:xfrm>
            <a:off x="3211345" y="702923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  <a:latin typeface="Gill Sans MT" panose="020B0502020104020203" pitchFamily="34" charset="77"/>
              </a:rPr>
              <a:t>X</a:t>
            </a:r>
            <a:endParaRPr lang="en-US" baseline="-25000" dirty="0">
              <a:solidFill>
                <a:srgbClr val="0096FF"/>
              </a:solidFill>
              <a:latin typeface="Gill Sans MT" panose="020B0502020104020203" pitchFamily="34" charset="7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94CBA0F-B5BB-AC3B-5C41-1956DA4BAA90}"/>
              </a:ext>
            </a:extLst>
          </p:cNvPr>
          <p:cNvSpPr txBox="1"/>
          <p:nvPr/>
        </p:nvSpPr>
        <p:spPr>
          <a:xfrm>
            <a:off x="2098038" y="268159"/>
            <a:ext cx="2808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6FF"/>
                </a:solidFill>
                <a:latin typeface="Gill Sans MT" panose="020B0502020104020203" pitchFamily="34" charset="77"/>
              </a:rPr>
              <a:t>Conjunto de </a:t>
            </a:r>
            <a:r>
              <a:rPr lang="en-US" dirty="0" err="1">
                <a:solidFill>
                  <a:srgbClr val="0096FF"/>
                </a:solidFill>
                <a:latin typeface="Gill Sans MT" panose="020B0502020104020203" pitchFamily="34" charset="77"/>
              </a:rPr>
              <a:t>Entrenamiento</a:t>
            </a:r>
            <a:endParaRPr lang="en-US" dirty="0">
              <a:solidFill>
                <a:srgbClr val="0096FF"/>
              </a:solidFill>
              <a:latin typeface="Gill Sans MT" panose="020B0502020104020203" pitchFamily="34" charset="7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C293AF8-D4A5-65CB-8F62-7E70AE6F8722}"/>
              </a:ext>
            </a:extLst>
          </p:cNvPr>
          <p:cNvSpPr txBox="1"/>
          <p:nvPr/>
        </p:nvSpPr>
        <p:spPr>
          <a:xfrm>
            <a:off x="7803337" y="278598"/>
            <a:ext cx="2167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9300"/>
                </a:solidFill>
                <a:latin typeface="Gill Sans MT" panose="020B0502020104020203" pitchFamily="34" charset="77"/>
              </a:rPr>
              <a:t>Conjunto de </a:t>
            </a:r>
            <a:r>
              <a:rPr lang="en-US" dirty="0" err="1">
                <a:solidFill>
                  <a:srgbClr val="FF9300"/>
                </a:solidFill>
                <a:latin typeface="Gill Sans MT" panose="020B0502020104020203" pitchFamily="34" charset="77"/>
              </a:rPr>
              <a:t>Pruebas</a:t>
            </a:r>
            <a:endParaRPr lang="en-US" dirty="0">
              <a:solidFill>
                <a:srgbClr val="FF9300"/>
              </a:solidFill>
              <a:latin typeface="Gill Sans MT" panose="020B0502020104020203" pitchFamily="34" charset="77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A1C72B5-088D-93E4-709F-CBFD14237984}"/>
              </a:ext>
            </a:extLst>
          </p:cNvPr>
          <p:cNvSpPr/>
          <p:nvPr/>
        </p:nvSpPr>
        <p:spPr>
          <a:xfrm>
            <a:off x="10083765" y="5508267"/>
            <a:ext cx="431800" cy="432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Gill Sans MT" panose="020B0502020104020203" pitchFamily="34" charset="77"/>
              </a:rPr>
              <a:t>5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8A7C05A-E07F-BAA8-C53C-256F820DFFC7}"/>
              </a:ext>
            </a:extLst>
          </p:cNvPr>
          <p:cNvSpPr/>
          <p:nvPr/>
        </p:nvSpPr>
        <p:spPr>
          <a:xfrm>
            <a:off x="7699363" y="4366233"/>
            <a:ext cx="431800" cy="432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Gill Sans MT" panose="020B0502020104020203" pitchFamily="34" charset="77"/>
              </a:rPr>
              <a:t>4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C067DF0-A19C-EE4C-6995-4C28D2CE5296}"/>
              </a:ext>
            </a:extLst>
          </p:cNvPr>
          <p:cNvSpPr/>
          <p:nvPr/>
        </p:nvSpPr>
        <p:spPr>
          <a:xfrm>
            <a:off x="7222282" y="2007347"/>
            <a:ext cx="431800" cy="432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Gill Sans MT" panose="020B0502020104020203" pitchFamily="34" charset="77"/>
              </a:rPr>
              <a:t>3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93B8BF8-B0B1-EDCC-CD85-116DCDD9F86C}"/>
              </a:ext>
            </a:extLst>
          </p:cNvPr>
          <p:cNvSpPr/>
          <p:nvPr/>
        </p:nvSpPr>
        <p:spPr>
          <a:xfrm>
            <a:off x="2098262" y="4003448"/>
            <a:ext cx="431800" cy="432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Gill Sans MT" panose="020B0502020104020203" pitchFamily="34" charset="77"/>
              </a:rPr>
              <a:t>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E1BE034-DA09-90DE-C71C-19B377869000}"/>
              </a:ext>
            </a:extLst>
          </p:cNvPr>
          <p:cNvSpPr/>
          <p:nvPr/>
        </p:nvSpPr>
        <p:spPr>
          <a:xfrm>
            <a:off x="1727200" y="1856592"/>
            <a:ext cx="431800" cy="432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Gill Sans MT" panose="020B0502020104020203" pitchFamily="34" charset="77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7417231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B553AC-0B60-5941-B585-99DBF44D096B}"/>
              </a:ext>
            </a:extLst>
          </p:cNvPr>
          <p:cNvSpPr txBox="1"/>
          <p:nvPr/>
        </p:nvSpPr>
        <p:spPr>
          <a:xfrm>
            <a:off x="2433779" y="1219200"/>
            <a:ext cx="14462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Gill Sans MT" panose="020B0502020104020203" pitchFamily="34" charset="77"/>
              </a:rPr>
              <a:t>Libraries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E052B0-9489-2D45-854C-BF438AB2CFA8}"/>
              </a:ext>
            </a:extLst>
          </p:cNvPr>
          <p:cNvSpPr txBox="1"/>
          <p:nvPr/>
        </p:nvSpPr>
        <p:spPr>
          <a:xfrm>
            <a:off x="2425700" y="1993901"/>
            <a:ext cx="793037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STEPS: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0.	</a:t>
            </a:r>
            <a:r>
              <a:rPr lang="en-US" dirty="0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X,y</a:t>
            </a:r>
            <a:r>
              <a:rPr lang="en-US" dirty="0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and </a:t>
            </a:r>
            <a:r>
              <a:rPr lang="en-US" dirty="0">
                <a:solidFill>
                  <a:srgbClr val="FF93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FF93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baseline="-25000" dirty="0" err="1">
                <a:solidFill>
                  <a:srgbClr val="FF93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dirty="0" err="1">
                <a:solidFill>
                  <a:srgbClr val="FF93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,y</a:t>
            </a:r>
            <a:r>
              <a:rPr lang="en-US" baseline="-25000" dirty="0" err="1">
                <a:solidFill>
                  <a:srgbClr val="FF93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dirty="0">
                <a:solidFill>
                  <a:srgbClr val="FF93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	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← read training and testing data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1.	Definition  	   	← Classifier Definition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2.	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TrainedParameters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	← Training(</a:t>
            </a:r>
            <a:r>
              <a:rPr lang="en-US" dirty="0" err="1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X,y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,Definition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3.	</a:t>
            </a:r>
            <a:r>
              <a:rPr lang="en-US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baseline="-250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		   	← Testing(</a:t>
            </a:r>
            <a:r>
              <a:rPr lang="en-US" dirty="0" err="1">
                <a:solidFill>
                  <a:srgbClr val="FF93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baseline="-25000" dirty="0" err="1">
                <a:solidFill>
                  <a:srgbClr val="FF93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,TrainedParameters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4.	Accuracy	    	← Accuracy(</a:t>
            </a:r>
            <a:r>
              <a:rPr lang="en-US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baseline="-250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US" dirty="0" err="1">
                <a:solidFill>
                  <a:srgbClr val="FF93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baseline="-25000" dirty="0" err="1">
                <a:solidFill>
                  <a:srgbClr val="FF93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C97D9FC-B270-0749-829C-E72017D1A9B0}"/>
              </a:ext>
            </a:extLst>
          </p:cNvPr>
          <p:cNvGrpSpPr/>
          <p:nvPr/>
        </p:nvGrpSpPr>
        <p:grpSpPr>
          <a:xfrm>
            <a:off x="3741683" y="950890"/>
            <a:ext cx="3216166" cy="1666187"/>
            <a:chOff x="2217683" y="950889"/>
            <a:chExt cx="3216166" cy="1666187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0CF5C2F0-9653-8547-BF72-E1A47D59A75E}"/>
                </a:ext>
              </a:extLst>
            </p:cNvPr>
            <p:cNvSpPr txBox="1"/>
            <p:nvPr/>
          </p:nvSpPr>
          <p:spPr>
            <a:xfrm>
              <a:off x="3457026" y="950889"/>
              <a:ext cx="19768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0096FF"/>
                  </a:solidFill>
                  <a:latin typeface="Courier" pitchFamily="2" charset="0"/>
                </a:rPr>
                <a:t>Xtrain,ytrain</a:t>
              </a:r>
              <a:endParaRPr lang="en-US" dirty="0">
                <a:solidFill>
                  <a:srgbClr val="0096FF"/>
                </a:solidFill>
                <a:latin typeface="Courier" pitchFamily="2" charset="0"/>
              </a:endParaRP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1693B63B-68C0-C44E-BC0D-E6FA4C5B7B1D}"/>
                </a:ext>
              </a:extLst>
            </p:cNvPr>
            <p:cNvCxnSpPr/>
            <p:nvPr/>
          </p:nvCxnSpPr>
          <p:spPr>
            <a:xfrm flipV="1">
              <a:off x="2217683" y="1313793"/>
              <a:ext cx="1177158" cy="1303283"/>
            </a:xfrm>
            <a:prstGeom prst="straightConnector1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F267D35-D745-A846-A2F4-94CDD050CFDA}"/>
              </a:ext>
            </a:extLst>
          </p:cNvPr>
          <p:cNvGrpSpPr/>
          <p:nvPr/>
        </p:nvGrpSpPr>
        <p:grpSpPr>
          <a:xfrm>
            <a:off x="2433780" y="3719116"/>
            <a:ext cx="873957" cy="1192524"/>
            <a:chOff x="909779" y="3719116"/>
            <a:chExt cx="873957" cy="1192524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F5BB853-7DC7-C24D-8DD9-5EA4643416DC}"/>
                </a:ext>
              </a:extLst>
            </p:cNvPr>
            <p:cNvSpPr txBox="1"/>
            <p:nvPr/>
          </p:nvSpPr>
          <p:spPr>
            <a:xfrm>
              <a:off x="909779" y="4542308"/>
              <a:ext cx="8739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00B050"/>
                  </a:solidFill>
                  <a:latin typeface="Courier" pitchFamily="2" charset="0"/>
                </a:rPr>
                <a:t>ypred</a:t>
              </a:r>
              <a:endParaRPr lang="en-US" dirty="0">
                <a:solidFill>
                  <a:srgbClr val="00B050"/>
                </a:solidFill>
                <a:latin typeface="Courier" pitchFamily="2" charset="0"/>
              </a:endParaRP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00216A55-3F21-D74B-BD51-E30BE78953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93076" y="3719116"/>
              <a:ext cx="665388" cy="779312"/>
            </a:xfrm>
            <a:prstGeom prst="straightConnector1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64D70B7-9A4C-E846-887A-633EDDCB7196}"/>
              </a:ext>
            </a:extLst>
          </p:cNvPr>
          <p:cNvGrpSpPr/>
          <p:nvPr/>
        </p:nvGrpSpPr>
        <p:grpSpPr>
          <a:xfrm>
            <a:off x="5072392" y="1683494"/>
            <a:ext cx="2242390" cy="862172"/>
            <a:chOff x="3250933" y="1683494"/>
            <a:chExt cx="2242390" cy="862172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984CA81B-F7FA-DD47-B064-7BE439E650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50933" y="1965434"/>
              <a:ext cx="490750" cy="580232"/>
            </a:xfrm>
            <a:prstGeom prst="straightConnector1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4963230-37AD-874A-9F05-F3D7598CCB8D}"/>
                </a:ext>
              </a:extLst>
            </p:cNvPr>
            <p:cNvSpPr txBox="1"/>
            <p:nvPr/>
          </p:nvSpPr>
          <p:spPr>
            <a:xfrm>
              <a:off x="3792216" y="1683494"/>
              <a:ext cx="17011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FF9300"/>
                  </a:solidFill>
                  <a:latin typeface="Courier" pitchFamily="2" charset="0"/>
                </a:rPr>
                <a:t>Xtest,ytest</a:t>
              </a:r>
              <a:endParaRPr lang="en-US" dirty="0">
                <a:solidFill>
                  <a:srgbClr val="FF9300"/>
                </a:solidFill>
                <a:latin typeface="Courier" pitchFamily="2" charset="0"/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A9BC3B90-AB58-5C48-A3BD-EB7F73F78E3B}"/>
              </a:ext>
            </a:extLst>
          </p:cNvPr>
          <p:cNvSpPr txBox="1"/>
          <p:nvPr/>
        </p:nvSpPr>
        <p:spPr>
          <a:xfrm>
            <a:off x="3853474" y="4726974"/>
            <a:ext cx="579357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Example for KNN-3</a:t>
            </a:r>
          </a:p>
          <a:p>
            <a:endParaRPr lang="en-US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1.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clf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KNeighborsClassifier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n_neighbors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=3)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2.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clf.fit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Xtrain</a:t>
            </a:r>
            <a:r>
              <a:rPr lang="en-US" dirty="0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ytrain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3. </a:t>
            </a:r>
            <a:r>
              <a:rPr lang="en-US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ypred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clf.predict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FF93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Xtest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4. acc	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accuracy_score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ypred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US" dirty="0" err="1">
                <a:solidFill>
                  <a:srgbClr val="FF93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ytest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07566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A9BC3B90-AB58-5C48-A3BD-EB7F73F78E3B}"/>
              </a:ext>
            </a:extLst>
          </p:cNvPr>
          <p:cNvSpPr txBox="1"/>
          <p:nvPr/>
        </p:nvSpPr>
        <p:spPr>
          <a:xfrm>
            <a:off x="3853474" y="4726974"/>
            <a:ext cx="490711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Example for SVM</a:t>
            </a:r>
          </a:p>
          <a:p>
            <a:endParaRPr lang="en-US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1.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clf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SVC(</a:t>
            </a:r>
            <a:r>
              <a:rPr lang="en-US" i="1" dirty="0">
                <a:solidFill>
                  <a:srgbClr val="FF4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parameters here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2.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clf.fit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Xtrain</a:t>
            </a:r>
            <a:r>
              <a:rPr lang="en-US" dirty="0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ytrain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3. </a:t>
            </a:r>
            <a:r>
              <a:rPr lang="en-US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ypred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clf.predict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FF93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Xtest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4. acc	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accuracy_score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ypred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US" dirty="0" err="1">
                <a:solidFill>
                  <a:srgbClr val="FF93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ytest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1E23CA-02B1-B0F6-689D-B7DA9E8530A6}"/>
              </a:ext>
            </a:extLst>
          </p:cNvPr>
          <p:cNvSpPr txBox="1"/>
          <p:nvPr/>
        </p:nvSpPr>
        <p:spPr>
          <a:xfrm>
            <a:off x="2433779" y="1219200"/>
            <a:ext cx="14462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Gill Sans MT" panose="020B0502020104020203" pitchFamily="34" charset="77"/>
              </a:rPr>
              <a:t>Libraries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3798CC-700D-751A-B2E0-10F8C26A551B}"/>
              </a:ext>
            </a:extLst>
          </p:cNvPr>
          <p:cNvSpPr txBox="1"/>
          <p:nvPr/>
        </p:nvSpPr>
        <p:spPr>
          <a:xfrm>
            <a:off x="2425700" y="1993901"/>
            <a:ext cx="793037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STEPS: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0.	</a:t>
            </a:r>
            <a:r>
              <a:rPr lang="en-US" dirty="0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X,y</a:t>
            </a:r>
            <a:r>
              <a:rPr lang="en-US" dirty="0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and </a:t>
            </a:r>
            <a:r>
              <a:rPr lang="en-US" dirty="0">
                <a:solidFill>
                  <a:srgbClr val="FF93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FF93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baseline="-25000" dirty="0" err="1">
                <a:solidFill>
                  <a:srgbClr val="FF93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dirty="0" err="1">
                <a:solidFill>
                  <a:srgbClr val="FF93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,y</a:t>
            </a:r>
            <a:r>
              <a:rPr lang="en-US" baseline="-25000" dirty="0" err="1">
                <a:solidFill>
                  <a:srgbClr val="FF93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dirty="0">
                <a:solidFill>
                  <a:srgbClr val="FF93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	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← read training and testing data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1.	Definition  	   	← Classifier Definition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2.	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TrainedParameters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	← Training(</a:t>
            </a:r>
            <a:r>
              <a:rPr lang="en-US" dirty="0" err="1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X,d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,Definition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3.	</a:t>
            </a:r>
            <a:r>
              <a:rPr lang="en-US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baseline="-250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		   	← Testing(</a:t>
            </a:r>
            <a:r>
              <a:rPr lang="en-US" dirty="0" err="1">
                <a:solidFill>
                  <a:srgbClr val="FF93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baseline="-25000" dirty="0" err="1">
                <a:solidFill>
                  <a:srgbClr val="FF93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,TrainedParameters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4.	Accuracy	    	← Accuracy(</a:t>
            </a:r>
            <a:r>
              <a:rPr lang="en-US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baseline="-250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US" dirty="0" err="1">
                <a:solidFill>
                  <a:srgbClr val="FF93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baseline="-25000" dirty="0" err="1">
                <a:solidFill>
                  <a:srgbClr val="FF93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F829030-78D3-E959-7CFC-B09C4FB60703}"/>
              </a:ext>
            </a:extLst>
          </p:cNvPr>
          <p:cNvGrpSpPr/>
          <p:nvPr/>
        </p:nvGrpSpPr>
        <p:grpSpPr>
          <a:xfrm>
            <a:off x="3741683" y="950890"/>
            <a:ext cx="3216166" cy="1666187"/>
            <a:chOff x="2217683" y="950889"/>
            <a:chExt cx="3216166" cy="1666187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6A110EF-A714-F6CC-A514-EA20A2C854E5}"/>
                </a:ext>
              </a:extLst>
            </p:cNvPr>
            <p:cNvSpPr txBox="1"/>
            <p:nvPr/>
          </p:nvSpPr>
          <p:spPr>
            <a:xfrm>
              <a:off x="3457026" y="950889"/>
              <a:ext cx="19768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0096FF"/>
                  </a:solidFill>
                  <a:latin typeface="Courier" pitchFamily="2" charset="0"/>
                </a:rPr>
                <a:t>Xtrain,ytrain</a:t>
              </a:r>
              <a:endParaRPr lang="en-US" dirty="0">
                <a:solidFill>
                  <a:srgbClr val="0096FF"/>
                </a:solidFill>
                <a:latin typeface="Courier" pitchFamily="2" charset="0"/>
              </a:endParaRP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EEB09232-D84F-C216-3D76-913B4FD1C5B5}"/>
                </a:ext>
              </a:extLst>
            </p:cNvPr>
            <p:cNvCxnSpPr/>
            <p:nvPr/>
          </p:nvCxnSpPr>
          <p:spPr>
            <a:xfrm flipV="1">
              <a:off x="2217683" y="1313793"/>
              <a:ext cx="1177158" cy="1303283"/>
            </a:xfrm>
            <a:prstGeom prst="straightConnector1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141E2A9-7A3D-33A9-52E9-CEBBA05FB870}"/>
              </a:ext>
            </a:extLst>
          </p:cNvPr>
          <p:cNvGrpSpPr/>
          <p:nvPr/>
        </p:nvGrpSpPr>
        <p:grpSpPr>
          <a:xfrm>
            <a:off x="2433780" y="3719116"/>
            <a:ext cx="873957" cy="1192524"/>
            <a:chOff x="909779" y="3719116"/>
            <a:chExt cx="873957" cy="1192524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1D66368-A8D9-5310-E781-43E72102D65E}"/>
                </a:ext>
              </a:extLst>
            </p:cNvPr>
            <p:cNvSpPr txBox="1"/>
            <p:nvPr/>
          </p:nvSpPr>
          <p:spPr>
            <a:xfrm>
              <a:off x="909779" y="4542308"/>
              <a:ext cx="8739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00B050"/>
                  </a:solidFill>
                  <a:latin typeface="Courier" pitchFamily="2" charset="0"/>
                </a:rPr>
                <a:t>ypred</a:t>
              </a:r>
              <a:endParaRPr lang="en-US" dirty="0">
                <a:solidFill>
                  <a:srgbClr val="00B050"/>
                </a:solidFill>
                <a:latin typeface="Courier" pitchFamily="2" charset="0"/>
              </a:endParaRP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35B135A4-5B41-A301-2BE6-B96BDE9AC4F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93076" y="3719116"/>
              <a:ext cx="665388" cy="779312"/>
            </a:xfrm>
            <a:prstGeom prst="straightConnector1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47525B0-BCAE-A17A-086F-782BCC3086F4}"/>
              </a:ext>
            </a:extLst>
          </p:cNvPr>
          <p:cNvGrpSpPr/>
          <p:nvPr/>
        </p:nvGrpSpPr>
        <p:grpSpPr>
          <a:xfrm>
            <a:off x="5072392" y="1683494"/>
            <a:ext cx="2242390" cy="862172"/>
            <a:chOff x="3250933" y="1683494"/>
            <a:chExt cx="2242390" cy="862172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55639BE0-8A14-708F-1A38-603CB17143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50933" y="1965434"/>
              <a:ext cx="490750" cy="580232"/>
            </a:xfrm>
            <a:prstGeom prst="straightConnector1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25099F3-4563-9357-C8F9-42DEB68DD9D8}"/>
                </a:ext>
              </a:extLst>
            </p:cNvPr>
            <p:cNvSpPr txBox="1"/>
            <p:nvPr/>
          </p:nvSpPr>
          <p:spPr>
            <a:xfrm>
              <a:off x="3792216" y="1683494"/>
              <a:ext cx="17011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FF9300"/>
                  </a:solidFill>
                  <a:latin typeface="Courier" pitchFamily="2" charset="0"/>
                </a:rPr>
                <a:t>Xtest,ytest</a:t>
              </a:r>
              <a:endParaRPr lang="en-US" dirty="0">
                <a:solidFill>
                  <a:srgbClr val="FF9300"/>
                </a:solidFill>
                <a:latin typeface="Courier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575640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A9BC3B90-AB58-5C48-A3BD-EB7F73F78E3B}"/>
              </a:ext>
            </a:extLst>
          </p:cNvPr>
          <p:cNvSpPr txBox="1"/>
          <p:nvPr/>
        </p:nvSpPr>
        <p:spPr>
          <a:xfrm>
            <a:off x="3853473" y="4726974"/>
            <a:ext cx="512351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Example for Neural Networks</a:t>
            </a:r>
          </a:p>
          <a:p>
            <a:endParaRPr lang="en-US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1.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clf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MLPClassifier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i="1" dirty="0">
                <a:solidFill>
                  <a:srgbClr val="FF4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parameters here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2.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clf.fit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Xtrain</a:t>
            </a:r>
            <a:r>
              <a:rPr lang="en-US" dirty="0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ytrain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3. </a:t>
            </a:r>
            <a:r>
              <a:rPr lang="en-US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ypred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clf.predict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FF93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Xtest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4. acc	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accuracy_score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ypred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US" dirty="0" err="1">
                <a:solidFill>
                  <a:srgbClr val="FF93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ytest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B58E71-42A3-2CE1-0308-ADD20DB198F6}"/>
              </a:ext>
            </a:extLst>
          </p:cNvPr>
          <p:cNvSpPr txBox="1"/>
          <p:nvPr/>
        </p:nvSpPr>
        <p:spPr>
          <a:xfrm>
            <a:off x="2433779" y="1219200"/>
            <a:ext cx="14462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Gill Sans MT" panose="020B0502020104020203" pitchFamily="34" charset="77"/>
              </a:rPr>
              <a:t>Libraries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AEC6AE-9969-2C70-69D4-EAC0C1B6D281}"/>
              </a:ext>
            </a:extLst>
          </p:cNvPr>
          <p:cNvSpPr txBox="1"/>
          <p:nvPr/>
        </p:nvSpPr>
        <p:spPr>
          <a:xfrm>
            <a:off x="2425700" y="1993901"/>
            <a:ext cx="793037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STEPS: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0.	</a:t>
            </a:r>
            <a:r>
              <a:rPr lang="en-US" dirty="0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X,y</a:t>
            </a:r>
            <a:r>
              <a:rPr lang="en-US" dirty="0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and </a:t>
            </a:r>
            <a:r>
              <a:rPr lang="en-US" dirty="0">
                <a:solidFill>
                  <a:srgbClr val="FF93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FF93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baseline="-25000" dirty="0" err="1">
                <a:solidFill>
                  <a:srgbClr val="FF93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dirty="0" err="1">
                <a:solidFill>
                  <a:srgbClr val="FF93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,y</a:t>
            </a:r>
            <a:r>
              <a:rPr lang="en-US" baseline="-25000" dirty="0" err="1">
                <a:solidFill>
                  <a:srgbClr val="FF93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dirty="0">
                <a:solidFill>
                  <a:srgbClr val="FF93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	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← read training and testing data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1.	Definition  	   	← Classifier Definition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2.	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TrainedParameters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	← Training(</a:t>
            </a:r>
            <a:r>
              <a:rPr lang="en-US" dirty="0" err="1">
                <a:solidFill>
                  <a:srgbClr val="0096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X,d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,Definition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3.	</a:t>
            </a:r>
            <a:r>
              <a:rPr lang="en-US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baseline="-250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		   	← Testing(</a:t>
            </a:r>
            <a:r>
              <a:rPr lang="en-US" dirty="0" err="1">
                <a:solidFill>
                  <a:srgbClr val="FF93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baseline="-25000" dirty="0" err="1">
                <a:solidFill>
                  <a:srgbClr val="FF93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,TrainedParameters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4.	Accuracy	    	← Accuracy(</a:t>
            </a:r>
            <a:r>
              <a:rPr lang="en-US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baseline="-250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US" dirty="0" err="1">
                <a:solidFill>
                  <a:srgbClr val="FF93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baseline="-25000" dirty="0" err="1">
                <a:solidFill>
                  <a:srgbClr val="FF93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6C942FF-484D-2071-E2D4-6CD50CF0F5B8}"/>
              </a:ext>
            </a:extLst>
          </p:cNvPr>
          <p:cNvGrpSpPr/>
          <p:nvPr/>
        </p:nvGrpSpPr>
        <p:grpSpPr>
          <a:xfrm>
            <a:off x="3741683" y="950890"/>
            <a:ext cx="3216166" cy="1666187"/>
            <a:chOff x="2217683" y="950889"/>
            <a:chExt cx="3216166" cy="1666187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C5AA885-63F7-13D6-03E2-DA389591AFB8}"/>
                </a:ext>
              </a:extLst>
            </p:cNvPr>
            <p:cNvSpPr txBox="1"/>
            <p:nvPr/>
          </p:nvSpPr>
          <p:spPr>
            <a:xfrm>
              <a:off x="3457026" y="950889"/>
              <a:ext cx="19768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0096FF"/>
                  </a:solidFill>
                  <a:latin typeface="Courier" pitchFamily="2" charset="0"/>
                </a:rPr>
                <a:t>Xtrain,ytrain</a:t>
              </a:r>
              <a:endParaRPr lang="en-US" dirty="0">
                <a:solidFill>
                  <a:srgbClr val="0096FF"/>
                </a:solidFill>
                <a:latin typeface="Courier" pitchFamily="2" charset="0"/>
              </a:endParaRP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8C8F51B0-3EBB-1297-D3A4-F4E3351C7B0A}"/>
                </a:ext>
              </a:extLst>
            </p:cNvPr>
            <p:cNvCxnSpPr/>
            <p:nvPr/>
          </p:nvCxnSpPr>
          <p:spPr>
            <a:xfrm flipV="1">
              <a:off x="2217683" y="1313793"/>
              <a:ext cx="1177158" cy="1303283"/>
            </a:xfrm>
            <a:prstGeom prst="straightConnector1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3EC7932-49D0-A702-BC18-F4CB094EE148}"/>
              </a:ext>
            </a:extLst>
          </p:cNvPr>
          <p:cNvGrpSpPr/>
          <p:nvPr/>
        </p:nvGrpSpPr>
        <p:grpSpPr>
          <a:xfrm>
            <a:off x="2433780" y="3719116"/>
            <a:ext cx="873957" cy="1192524"/>
            <a:chOff x="909779" y="3719116"/>
            <a:chExt cx="873957" cy="1192524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5DD4816-D0D5-A88F-2133-DA870B1C663B}"/>
                </a:ext>
              </a:extLst>
            </p:cNvPr>
            <p:cNvSpPr txBox="1"/>
            <p:nvPr/>
          </p:nvSpPr>
          <p:spPr>
            <a:xfrm>
              <a:off x="909779" y="4542308"/>
              <a:ext cx="8739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00B050"/>
                  </a:solidFill>
                  <a:latin typeface="Courier" pitchFamily="2" charset="0"/>
                </a:rPr>
                <a:t>ypred</a:t>
              </a:r>
              <a:endParaRPr lang="en-US" dirty="0">
                <a:solidFill>
                  <a:srgbClr val="00B050"/>
                </a:solidFill>
                <a:latin typeface="Courier" pitchFamily="2" charset="0"/>
              </a:endParaRP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2BEAF2ED-F975-3729-5C68-2AF7E11646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93076" y="3719116"/>
              <a:ext cx="665388" cy="779312"/>
            </a:xfrm>
            <a:prstGeom prst="straightConnector1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0B03E0F-EB3E-9AD8-8BE6-8031E04EDFB8}"/>
              </a:ext>
            </a:extLst>
          </p:cNvPr>
          <p:cNvGrpSpPr/>
          <p:nvPr/>
        </p:nvGrpSpPr>
        <p:grpSpPr>
          <a:xfrm>
            <a:off x="5072392" y="1683494"/>
            <a:ext cx="2242390" cy="862172"/>
            <a:chOff x="3250933" y="1683494"/>
            <a:chExt cx="2242390" cy="862172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13C07757-AC01-35AB-667F-1A3482AE72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50933" y="1965434"/>
              <a:ext cx="490750" cy="580232"/>
            </a:xfrm>
            <a:prstGeom prst="straightConnector1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8E81DD6-D9DA-A0D1-FBF2-5AB815DFD46D}"/>
                </a:ext>
              </a:extLst>
            </p:cNvPr>
            <p:cNvSpPr txBox="1"/>
            <p:nvPr/>
          </p:nvSpPr>
          <p:spPr>
            <a:xfrm>
              <a:off x="3792216" y="1683494"/>
              <a:ext cx="17011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FF9300"/>
                  </a:solidFill>
                  <a:latin typeface="Courier" pitchFamily="2" charset="0"/>
                </a:rPr>
                <a:t>Xtest,ytest</a:t>
              </a:r>
              <a:endParaRPr lang="en-US" dirty="0">
                <a:solidFill>
                  <a:srgbClr val="FF9300"/>
                </a:solidFill>
                <a:latin typeface="Courier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476887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524001" y="3031067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Gill Sans MT" panose="020B0502020104020203" pitchFamily="34" charset="77"/>
                <a:cs typeface="Trebuchet MS"/>
              </a:rPr>
              <a:t>KNN</a:t>
            </a:r>
          </a:p>
        </p:txBody>
      </p:sp>
    </p:spTree>
    <p:extLst>
      <p:ext uri="{BB962C8B-B14F-4D97-AF65-F5344CB8AC3E}">
        <p14:creationId xmlns:p14="http://schemas.microsoft.com/office/powerpoint/2010/main" val="26249385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35561" y="764705"/>
            <a:ext cx="34419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KNN: k nearest neighbors</a:t>
            </a:r>
          </a:p>
        </p:txBody>
      </p:sp>
    </p:spTree>
    <p:extLst>
      <p:ext uri="{BB962C8B-B14F-4D97-AF65-F5344CB8AC3E}">
        <p14:creationId xmlns:p14="http://schemas.microsoft.com/office/powerpoint/2010/main" val="27756851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35560" y="764705"/>
            <a:ext cx="51349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KNN: k nearest neighbors (two classes)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4412654" y="3429000"/>
            <a:ext cx="1512168" cy="1800200"/>
            <a:chOff x="2888654" y="3429000"/>
            <a:chExt cx="1512168" cy="1800200"/>
          </a:xfrm>
        </p:grpSpPr>
        <p:sp>
          <p:nvSpPr>
            <p:cNvPr id="6" name="Oval 5"/>
            <p:cNvSpPr/>
            <p:nvPr/>
          </p:nvSpPr>
          <p:spPr>
            <a:xfrm>
              <a:off x="3032670" y="3429000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2960662" y="4005064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2888654" y="3717032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3464718" y="3501008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3248694" y="4365104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3392710" y="3861048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3752750" y="4077072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Oval 12"/>
            <p:cNvSpPr/>
            <p:nvPr/>
          </p:nvSpPr>
          <p:spPr>
            <a:xfrm>
              <a:off x="3680742" y="4653136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4" name="Oval 13"/>
            <p:cNvSpPr/>
            <p:nvPr/>
          </p:nvSpPr>
          <p:spPr>
            <a:xfrm>
              <a:off x="3608734" y="4365104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5" name="Oval 14"/>
            <p:cNvSpPr/>
            <p:nvPr/>
          </p:nvSpPr>
          <p:spPr>
            <a:xfrm>
              <a:off x="4184798" y="4149080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6" name="Oval 15"/>
            <p:cNvSpPr/>
            <p:nvPr/>
          </p:nvSpPr>
          <p:spPr>
            <a:xfrm>
              <a:off x="3968774" y="5013176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7" name="Oval 16"/>
            <p:cNvSpPr/>
            <p:nvPr/>
          </p:nvSpPr>
          <p:spPr>
            <a:xfrm>
              <a:off x="4112790" y="4509120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8" name="Oval 17"/>
            <p:cNvSpPr/>
            <p:nvPr/>
          </p:nvSpPr>
          <p:spPr>
            <a:xfrm>
              <a:off x="3176686" y="3717032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9" name="Oval 18"/>
            <p:cNvSpPr/>
            <p:nvPr/>
          </p:nvSpPr>
          <p:spPr>
            <a:xfrm>
              <a:off x="2960662" y="4653136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0" name="Oval 19"/>
            <p:cNvSpPr/>
            <p:nvPr/>
          </p:nvSpPr>
          <p:spPr>
            <a:xfrm>
              <a:off x="2888654" y="4365104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1" name="Oval 20"/>
            <p:cNvSpPr/>
            <p:nvPr/>
          </p:nvSpPr>
          <p:spPr>
            <a:xfrm>
              <a:off x="3464718" y="4149080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2" name="Oval 21"/>
            <p:cNvSpPr/>
            <p:nvPr/>
          </p:nvSpPr>
          <p:spPr>
            <a:xfrm>
              <a:off x="3248694" y="5013176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3" name="Oval 22"/>
            <p:cNvSpPr/>
            <p:nvPr/>
          </p:nvSpPr>
          <p:spPr>
            <a:xfrm>
              <a:off x="3392710" y="4725144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42" name="Group 41"/>
          <p:cNvGrpSpPr/>
          <p:nvPr/>
        </p:nvGrpSpPr>
        <p:grpSpPr>
          <a:xfrm rot="2553764">
            <a:off x="5542359" y="2623150"/>
            <a:ext cx="1512168" cy="1800200"/>
            <a:chOff x="4572000" y="3005336"/>
            <a:chExt cx="1512168" cy="1800200"/>
          </a:xfrm>
          <a:solidFill>
            <a:srgbClr val="0000FF"/>
          </a:solidFill>
        </p:grpSpPr>
        <p:sp>
          <p:nvSpPr>
            <p:cNvPr id="24" name="Oval 23"/>
            <p:cNvSpPr/>
            <p:nvPr/>
          </p:nvSpPr>
          <p:spPr>
            <a:xfrm>
              <a:off x="4716016" y="300533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5" name="Oval 24"/>
            <p:cNvSpPr/>
            <p:nvPr/>
          </p:nvSpPr>
          <p:spPr>
            <a:xfrm>
              <a:off x="4644008" y="358140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6" name="Oval 25"/>
            <p:cNvSpPr/>
            <p:nvPr/>
          </p:nvSpPr>
          <p:spPr>
            <a:xfrm>
              <a:off x="4572000" y="329336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7" name="Oval 26"/>
            <p:cNvSpPr/>
            <p:nvPr/>
          </p:nvSpPr>
          <p:spPr>
            <a:xfrm>
              <a:off x="5148064" y="307734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8" name="Oval 27"/>
            <p:cNvSpPr/>
            <p:nvPr/>
          </p:nvSpPr>
          <p:spPr>
            <a:xfrm>
              <a:off x="493204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9" name="Oval 28"/>
            <p:cNvSpPr/>
            <p:nvPr/>
          </p:nvSpPr>
          <p:spPr>
            <a:xfrm>
              <a:off x="5076056" y="343738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0" name="Oval 29"/>
            <p:cNvSpPr/>
            <p:nvPr/>
          </p:nvSpPr>
          <p:spPr>
            <a:xfrm>
              <a:off x="5436096" y="365340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1" name="Oval 30"/>
            <p:cNvSpPr/>
            <p:nvPr/>
          </p:nvSpPr>
          <p:spPr>
            <a:xfrm>
              <a:off x="5364088" y="422947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2" name="Oval 31"/>
            <p:cNvSpPr/>
            <p:nvPr/>
          </p:nvSpPr>
          <p:spPr>
            <a:xfrm>
              <a:off x="529208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3" name="Oval 32"/>
            <p:cNvSpPr/>
            <p:nvPr/>
          </p:nvSpPr>
          <p:spPr>
            <a:xfrm>
              <a:off x="5868144" y="372541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4" name="Oval 33"/>
            <p:cNvSpPr/>
            <p:nvPr/>
          </p:nvSpPr>
          <p:spPr>
            <a:xfrm>
              <a:off x="5652120" y="458951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5" name="Oval 34"/>
            <p:cNvSpPr/>
            <p:nvPr/>
          </p:nvSpPr>
          <p:spPr>
            <a:xfrm>
              <a:off x="5796136" y="408545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6" name="Oval 35"/>
            <p:cNvSpPr/>
            <p:nvPr/>
          </p:nvSpPr>
          <p:spPr>
            <a:xfrm>
              <a:off x="4860032" y="329336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7" name="Oval 36"/>
            <p:cNvSpPr/>
            <p:nvPr/>
          </p:nvSpPr>
          <p:spPr>
            <a:xfrm>
              <a:off x="4644008" y="422947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8" name="Oval 37"/>
            <p:cNvSpPr/>
            <p:nvPr/>
          </p:nvSpPr>
          <p:spPr>
            <a:xfrm>
              <a:off x="457200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9" name="Oval 38"/>
            <p:cNvSpPr/>
            <p:nvPr/>
          </p:nvSpPr>
          <p:spPr>
            <a:xfrm>
              <a:off x="5148064" y="372541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40" name="Oval 39"/>
            <p:cNvSpPr/>
            <p:nvPr/>
          </p:nvSpPr>
          <p:spPr>
            <a:xfrm>
              <a:off x="4932040" y="458951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41" name="Oval 40"/>
            <p:cNvSpPr/>
            <p:nvPr/>
          </p:nvSpPr>
          <p:spPr>
            <a:xfrm>
              <a:off x="5076056" y="430148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" name="Right Brace 1"/>
          <p:cNvSpPr/>
          <p:nvPr/>
        </p:nvSpPr>
        <p:spPr>
          <a:xfrm>
            <a:off x="8040216" y="2420888"/>
            <a:ext cx="360040" cy="3024336"/>
          </a:xfrm>
          <a:prstGeom prst="rightBrac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400256" y="3687416"/>
            <a:ext cx="17668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Training data</a:t>
            </a:r>
          </a:p>
        </p:txBody>
      </p:sp>
    </p:spTree>
    <p:extLst>
      <p:ext uri="{BB962C8B-B14F-4D97-AF65-F5344CB8AC3E}">
        <p14:creationId xmlns:p14="http://schemas.microsoft.com/office/powerpoint/2010/main" val="23319369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35560" y="764705"/>
            <a:ext cx="51349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KNN: k nearest neighbors (two classes)</a:t>
            </a:r>
          </a:p>
        </p:txBody>
      </p:sp>
      <p:sp>
        <p:nvSpPr>
          <p:cNvPr id="6" name="Oval 5"/>
          <p:cNvSpPr/>
          <p:nvPr/>
        </p:nvSpPr>
        <p:spPr>
          <a:xfrm>
            <a:off x="4556670" y="342900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" name="Oval 6"/>
          <p:cNvSpPr/>
          <p:nvPr/>
        </p:nvSpPr>
        <p:spPr>
          <a:xfrm>
            <a:off x="4484662" y="4005064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" name="Oval 7"/>
          <p:cNvSpPr/>
          <p:nvPr/>
        </p:nvSpPr>
        <p:spPr>
          <a:xfrm>
            <a:off x="4412654" y="3717032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" name="Oval 8"/>
          <p:cNvSpPr/>
          <p:nvPr/>
        </p:nvSpPr>
        <p:spPr>
          <a:xfrm>
            <a:off x="4988718" y="3501008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" name="Oval 9"/>
          <p:cNvSpPr/>
          <p:nvPr/>
        </p:nvSpPr>
        <p:spPr>
          <a:xfrm>
            <a:off x="4772694" y="4365104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4916710" y="3861048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5276750" y="4077072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5204742" y="4653136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5132734" y="4365104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08798" y="414908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5492774" y="5013176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5636790" y="450912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4700686" y="3717032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4484662" y="4653136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4412654" y="4365104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4988718" y="414908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4772694" y="5013176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4916710" y="4725144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42" name="Group 41"/>
          <p:cNvGrpSpPr/>
          <p:nvPr/>
        </p:nvGrpSpPr>
        <p:grpSpPr>
          <a:xfrm rot="2553764">
            <a:off x="5542359" y="2623150"/>
            <a:ext cx="1512168" cy="1800200"/>
            <a:chOff x="4572000" y="3005336"/>
            <a:chExt cx="1512168" cy="1800200"/>
          </a:xfrm>
          <a:solidFill>
            <a:srgbClr val="0000FF"/>
          </a:solidFill>
        </p:grpSpPr>
        <p:sp>
          <p:nvSpPr>
            <p:cNvPr id="24" name="Oval 23"/>
            <p:cNvSpPr/>
            <p:nvPr/>
          </p:nvSpPr>
          <p:spPr>
            <a:xfrm>
              <a:off x="4716016" y="300533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5" name="Oval 24"/>
            <p:cNvSpPr/>
            <p:nvPr/>
          </p:nvSpPr>
          <p:spPr>
            <a:xfrm>
              <a:off x="4644008" y="358140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6" name="Oval 25"/>
            <p:cNvSpPr/>
            <p:nvPr/>
          </p:nvSpPr>
          <p:spPr>
            <a:xfrm>
              <a:off x="4572000" y="329336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7" name="Oval 26"/>
            <p:cNvSpPr/>
            <p:nvPr/>
          </p:nvSpPr>
          <p:spPr>
            <a:xfrm>
              <a:off x="5148064" y="307734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8" name="Oval 27"/>
            <p:cNvSpPr/>
            <p:nvPr/>
          </p:nvSpPr>
          <p:spPr>
            <a:xfrm>
              <a:off x="493204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9" name="Oval 28"/>
            <p:cNvSpPr/>
            <p:nvPr/>
          </p:nvSpPr>
          <p:spPr>
            <a:xfrm>
              <a:off x="5076056" y="343738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0" name="Oval 29"/>
            <p:cNvSpPr/>
            <p:nvPr/>
          </p:nvSpPr>
          <p:spPr>
            <a:xfrm>
              <a:off x="5436096" y="365340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1" name="Oval 30"/>
            <p:cNvSpPr/>
            <p:nvPr/>
          </p:nvSpPr>
          <p:spPr>
            <a:xfrm>
              <a:off x="5364088" y="422947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2" name="Oval 31"/>
            <p:cNvSpPr/>
            <p:nvPr/>
          </p:nvSpPr>
          <p:spPr>
            <a:xfrm>
              <a:off x="529208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3" name="Oval 32"/>
            <p:cNvSpPr/>
            <p:nvPr/>
          </p:nvSpPr>
          <p:spPr>
            <a:xfrm>
              <a:off x="5868144" y="372541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4" name="Oval 33"/>
            <p:cNvSpPr/>
            <p:nvPr/>
          </p:nvSpPr>
          <p:spPr>
            <a:xfrm>
              <a:off x="5652120" y="458951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5" name="Oval 34"/>
            <p:cNvSpPr/>
            <p:nvPr/>
          </p:nvSpPr>
          <p:spPr>
            <a:xfrm>
              <a:off x="5796136" y="408545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6" name="Oval 35"/>
            <p:cNvSpPr/>
            <p:nvPr/>
          </p:nvSpPr>
          <p:spPr>
            <a:xfrm>
              <a:off x="4860032" y="329336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7" name="Oval 36"/>
            <p:cNvSpPr/>
            <p:nvPr/>
          </p:nvSpPr>
          <p:spPr>
            <a:xfrm>
              <a:off x="4644008" y="422947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8" name="Oval 37"/>
            <p:cNvSpPr/>
            <p:nvPr/>
          </p:nvSpPr>
          <p:spPr>
            <a:xfrm>
              <a:off x="457200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9" name="Oval 38"/>
            <p:cNvSpPr/>
            <p:nvPr/>
          </p:nvSpPr>
          <p:spPr>
            <a:xfrm>
              <a:off x="5148064" y="372541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40" name="Oval 39"/>
            <p:cNvSpPr/>
            <p:nvPr/>
          </p:nvSpPr>
          <p:spPr>
            <a:xfrm>
              <a:off x="4932040" y="458951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41" name="Oval 40"/>
            <p:cNvSpPr/>
            <p:nvPr/>
          </p:nvSpPr>
          <p:spPr>
            <a:xfrm>
              <a:off x="5076056" y="430148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" name="Right Brace 1"/>
          <p:cNvSpPr/>
          <p:nvPr/>
        </p:nvSpPr>
        <p:spPr>
          <a:xfrm>
            <a:off x="8040216" y="2420888"/>
            <a:ext cx="360040" cy="3024336"/>
          </a:xfrm>
          <a:prstGeom prst="rightBrac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400256" y="3687416"/>
            <a:ext cx="17668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Training data</a:t>
            </a:r>
          </a:p>
        </p:txBody>
      </p:sp>
      <p:sp>
        <p:nvSpPr>
          <p:cNvPr id="44" name="Oval 43"/>
          <p:cNvSpPr/>
          <p:nvPr/>
        </p:nvSpPr>
        <p:spPr>
          <a:xfrm>
            <a:off x="4799856" y="3068960"/>
            <a:ext cx="216024" cy="216024"/>
          </a:xfrm>
          <a:prstGeom prst="ellipse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991544" y="2132857"/>
            <a:ext cx="1653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Testing data</a:t>
            </a:r>
          </a:p>
        </p:txBody>
      </p:sp>
      <p:cxnSp>
        <p:nvCxnSpPr>
          <p:cNvPr id="5" name="Straight Arrow Connector 4"/>
          <p:cNvCxnSpPr>
            <a:stCxn id="45" idx="3"/>
            <a:endCxn id="44" idx="1"/>
          </p:cNvCxnSpPr>
          <p:nvPr/>
        </p:nvCxnSpPr>
        <p:spPr>
          <a:xfrm>
            <a:off x="3644882" y="2363690"/>
            <a:ext cx="1186610" cy="73690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2701978" y="2463280"/>
            <a:ext cx="2976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3438675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35560" y="764705"/>
            <a:ext cx="51349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KNN: k nearest neighbors (two classes)</a:t>
            </a:r>
          </a:p>
        </p:txBody>
      </p:sp>
      <p:sp>
        <p:nvSpPr>
          <p:cNvPr id="6" name="Oval 5"/>
          <p:cNvSpPr/>
          <p:nvPr/>
        </p:nvSpPr>
        <p:spPr>
          <a:xfrm>
            <a:off x="4556670" y="342900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" name="Oval 6"/>
          <p:cNvSpPr/>
          <p:nvPr/>
        </p:nvSpPr>
        <p:spPr>
          <a:xfrm>
            <a:off x="4484662" y="4005064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" name="Oval 7"/>
          <p:cNvSpPr/>
          <p:nvPr/>
        </p:nvSpPr>
        <p:spPr>
          <a:xfrm>
            <a:off x="4412654" y="3717032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" name="Oval 8"/>
          <p:cNvSpPr/>
          <p:nvPr/>
        </p:nvSpPr>
        <p:spPr>
          <a:xfrm>
            <a:off x="4988718" y="3501008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" name="Oval 9"/>
          <p:cNvSpPr/>
          <p:nvPr/>
        </p:nvSpPr>
        <p:spPr>
          <a:xfrm>
            <a:off x="4772694" y="4365104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4916710" y="3861048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5276750" y="4077072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5204742" y="4653136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5132734" y="4365104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08798" y="414908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5492774" y="5013176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5636790" y="450912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4700686" y="3717032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4484662" y="4653136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4412654" y="4365104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4988718" y="414908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4772694" y="5013176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4916710" y="4725144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42" name="Group 41"/>
          <p:cNvGrpSpPr/>
          <p:nvPr/>
        </p:nvGrpSpPr>
        <p:grpSpPr>
          <a:xfrm rot="2553764">
            <a:off x="5542359" y="2623150"/>
            <a:ext cx="1512168" cy="1800200"/>
            <a:chOff x="4572000" y="3005336"/>
            <a:chExt cx="1512168" cy="1800200"/>
          </a:xfrm>
          <a:solidFill>
            <a:srgbClr val="0000FF"/>
          </a:solidFill>
        </p:grpSpPr>
        <p:sp>
          <p:nvSpPr>
            <p:cNvPr id="24" name="Oval 23"/>
            <p:cNvSpPr/>
            <p:nvPr/>
          </p:nvSpPr>
          <p:spPr>
            <a:xfrm>
              <a:off x="4716016" y="300533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5" name="Oval 24"/>
            <p:cNvSpPr/>
            <p:nvPr/>
          </p:nvSpPr>
          <p:spPr>
            <a:xfrm>
              <a:off x="4644008" y="358140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6" name="Oval 25"/>
            <p:cNvSpPr/>
            <p:nvPr/>
          </p:nvSpPr>
          <p:spPr>
            <a:xfrm>
              <a:off x="4572000" y="329336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7" name="Oval 26"/>
            <p:cNvSpPr/>
            <p:nvPr/>
          </p:nvSpPr>
          <p:spPr>
            <a:xfrm>
              <a:off x="5148064" y="307734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8" name="Oval 27"/>
            <p:cNvSpPr/>
            <p:nvPr/>
          </p:nvSpPr>
          <p:spPr>
            <a:xfrm>
              <a:off x="493204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9" name="Oval 28"/>
            <p:cNvSpPr/>
            <p:nvPr/>
          </p:nvSpPr>
          <p:spPr>
            <a:xfrm>
              <a:off x="5076056" y="343738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0" name="Oval 29"/>
            <p:cNvSpPr/>
            <p:nvPr/>
          </p:nvSpPr>
          <p:spPr>
            <a:xfrm>
              <a:off x="5436096" y="365340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1" name="Oval 30"/>
            <p:cNvSpPr/>
            <p:nvPr/>
          </p:nvSpPr>
          <p:spPr>
            <a:xfrm>
              <a:off x="5364088" y="422947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2" name="Oval 31"/>
            <p:cNvSpPr/>
            <p:nvPr/>
          </p:nvSpPr>
          <p:spPr>
            <a:xfrm>
              <a:off x="529208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3" name="Oval 32"/>
            <p:cNvSpPr/>
            <p:nvPr/>
          </p:nvSpPr>
          <p:spPr>
            <a:xfrm>
              <a:off x="5868144" y="372541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4" name="Oval 33"/>
            <p:cNvSpPr/>
            <p:nvPr/>
          </p:nvSpPr>
          <p:spPr>
            <a:xfrm>
              <a:off x="5652120" y="458951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5" name="Oval 34"/>
            <p:cNvSpPr/>
            <p:nvPr/>
          </p:nvSpPr>
          <p:spPr>
            <a:xfrm>
              <a:off x="5796136" y="408545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6" name="Oval 35"/>
            <p:cNvSpPr/>
            <p:nvPr/>
          </p:nvSpPr>
          <p:spPr>
            <a:xfrm>
              <a:off x="4860032" y="329336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7" name="Oval 36"/>
            <p:cNvSpPr/>
            <p:nvPr/>
          </p:nvSpPr>
          <p:spPr>
            <a:xfrm>
              <a:off x="4644008" y="422947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8" name="Oval 37"/>
            <p:cNvSpPr/>
            <p:nvPr/>
          </p:nvSpPr>
          <p:spPr>
            <a:xfrm>
              <a:off x="457200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9" name="Oval 38"/>
            <p:cNvSpPr/>
            <p:nvPr/>
          </p:nvSpPr>
          <p:spPr>
            <a:xfrm>
              <a:off x="5148064" y="372541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40" name="Oval 39"/>
            <p:cNvSpPr/>
            <p:nvPr/>
          </p:nvSpPr>
          <p:spPr>
            <a:xfrm>
              <a:off x="4932040" y="458951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41" name="Oval 40"/>
            <p:cNvSpPr/>
            <p:nvPr/>
          </p:nvSpPr>
          <p:spPr>
            <a:xfrm>
              <a:off x="5076056" y="430148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7680176" y="1580601"/>
            <a:ext cx="16757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KNN Algorithm</a:t>
            </a:r>
          </a:p>
          <a:p>
            <a:endParaRPr lang="en-US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4799856" y="3068960"/>
            <a:ext cx="216024" cy="216024"/>
          </a:xfrm>
          <a:prstGeom prst="ellipse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991544" y="2132857"/>
            <a:ext cx="1653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Testing data</a:t>
            </a:r>
          </a:p>
        </p:txBody>
      </p:sp>
      <p:cxnSp>
        <p:nvCxnSpPr>
          <p:cNvPr id="48" name="Straight Arrow Connector 47"/>
          <p:cNvCxnSpPr>
            <a:stCxn id="47" idx="3"/>
          </p:cNvCxnSpPr>
          <p:nvPr/>
        </p:nvCxnSpPr>
        <p:spPr>
          <a:xfrm>
            <a:off x="3644882" y="2363690"/>
            <a:ext cx="1186610" cy="73690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12069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35560" y="764705"/>
            <a:ext cx="51349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KNN: k nearest neighbors (two classes)</a:t>
            </a:r>
          </a:p>
        </p:txBody>
      </p:sp>
      <p:sp>
        <p:nvSpPr>
          <p:cNvPr id="6" name="Oval 5"/>
          <p:cNvSpPr/>
          <p:nvPr/>
        </p:nvSpPr>
        <p:spPr>
          <a:xfrm>
            <a:off x="4556670" y="342900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" name="Oval 6"/>
          <p:cNvSpPr/>
          <p:nvPr/>
        </p:nvSpPr>
        <p:spPr>
          <a:xfrm>
            <a:off x="4484662" y="4005064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" name="Oval 7"/>
          <p:cNvSpPr/>
          <p:nvPr/>
        </p:nvSpPr>
        <p:spPr>
          <a:xfrm>
            <a:off x="4412654" y="3717032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" name="Oval 8"/>
          <p:cNvSpPr/>
          <p:nvPr/>
        </p:nvSpPr>
        <p:spPr>
          <a:xfrm>
            <a:off x="4988718" y="3501008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" name="Oval 9"/>
          <p:cNvSpPr/>
          <p:nvPr/>
        </p:nvSpPr>
        <p:spPr>
          <a:xfrm>
            <a:off x="4772694" y="4365104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4916710" y="3861048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5276750" y="4077072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5204742" y="4653136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5132734" y="4365104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08798" y="414908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5492774" y="5013176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5636790" y="450912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4700686" y="3717032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4484662" y="4653136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4412654" y="4365104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4988718" y="414908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4772694" y="5013176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4916710" y="4725144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42" name="Group 41"/>
          <p:cNvGrpSpPr/>
          <p:nvPr/>
        </p:nvGrpSpPr>
        <p:grpSpPr>
          <a:xfrm rot="2553764">
            <a:off x="5542359" y="2623150"/>
            <a:ext cx="1512168" cy="1800200"/>
            <a:chOff x="4572000" y="3005336"/>
            <a:chExt cx="1512168" cy="1800200"/>
          </a:xfrm>
          <a:solidFill>
            <a:srgbClr val="0000FF"/>
          </a:solidFill>
        </p:grpSpPr>
        <p:sp>
          <p:nvSpPr>
            <p:cNvPr id="24" name="Oval 23"/>
            <p:cNvSpPr/>
            <p:nvPr/>
          </p:nvSpPr>
          <p:spPr>
            <a:xfrm>
              <a:off x="4716016" y="300533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5" name="Oval 24"/>
            <p:cNvSpPr/>
            <p:nvPr/>
          </p:nvSpPr>
          <p:spPr>
            <a:xfrm>
              <a:off x="4644008" y="358140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6" name="Oval 25"/>
            <p:cNvSpPr/>
            <p:nvPr/>
          </p:nvSpPr>
          <p:spPr>
            <a:xfrm>
              <a:off x="4572000" y="329336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7" name="Oval 26"/>
            <p:cNvSpPr/>
            <p:nvPr/>
          </p:nvSpPr>
          <p:spPr>
            <a:xfrm>
              <a:off x="5148064" y="307734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8" name="Oval 27"/>
            <p:cNvSpPr/>
            <p:nvPr/>
          </p:nvSpPr>
          <p:spPr>
            <a:xfrm>
              <a:off x="493204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9" name="Oval 28"/>
            <p:cNvSpPr/>
            <p:nvPr/>
          </p:nvSpPr>
          <p:spPr>
            <a:xfrm>
              <a:off x="5076056" y="343738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0" name="Oval 29"/>
            <p:cNvSpPr/>
            <p:nvPr/>
          </p:nvSpPr>
          <p:spPr>
            <a:xfrm>
              <a:off x="5436096" y="365340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1" name="Oval 30"/>
            <p:cNvSpPr/>
            <p:nvPr/>
          </p:nvSpPr>
          <p:spPr>
            <a:xfrm>
              <a:off x="5364088" y="422947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2" name="Oval 31"/>
            <p:cNvSpPr/>
            <p:nvPr/>
          </p:nvSpPr>
          <p:spPr>
            <a:xfrm>
              <a:off x="529208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3" name="Oval 32"/>
            <p:cNvSpPr/>
            <p:nvPr/>
          </p:nvSpPr>
          <p:spPr>
            <a:xfrm>
              <a:off x="5868144" y="372541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4" name="Oval 33"/>
            <p:cNvSpPr/>
            <p:nvPr/>
          </p:nvSpPr>
          <p:spPr>
            <a:xfrm>
              <a:off x="5652120" y="458951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5" name="Oval 34"/>
            <p:cNvSpPr/>
            <p:nvPr/>
          </p:nvSpPr>
          <p:spPr>
            <a:xfrm>
              <a:off x="5796136" y="408545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6" name="Oval 35"/>
            <p:cNvSpPr/>
            <p:nvPr/>
          </p:nvSpPr>
          <p:spPr>
            <a:xfrm>
              <a:off x="4860032" y="329336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7" name="Oval 36"/>
            <p:cNvSpPr/>
            <p:nvPr/>
          </p:nvSpPr>
          <p:spPr>
            <a:xfrm>
              <a:off x="4644008" y="422947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8" name="Oval 37"/>
            <p:cNvSpPr/>
            <p:nvPr/>
          </p:nvSpPr>
          <p:spPr>
            <a:xfrm>
              <a:off x="457200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9" name="Oval 38"/>
            <p:cNvSpPr/>
            <p:nvPr/>
          </p:nvSpPr>
          <p:spPr>
            <a:xfrm>
              <a:off x="5148064" y="372541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40" name="Oval 39"/>
            <p:cNvSpPr/>
            <p:nvPr/>
          </p:nvSpPr>
          <p:spPr>
            <a:xfrm>
              <a:off x="4932040" y="458951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41" name="Oval 40"/>
            <p:cNvSpPr/>
            <p:nvPr/>
          </p:nvSpPr>
          <p:spPr>
            <a:xfrm>
              <a:off x="5076056" y="430148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44" name="Oval 43"/>
          <p:cNvSpPr/>
          <p:nvPr/>
        </p:nvSpPr>
        <p:spPr>
          <a:xfrm>
            <a:off x="4799856" y="3068960"/>
            <a:ext cx="216024" cy="216024"/>
          </a:xfrm>
          <a:prstGeom prst="ellipse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4524953" y="2594442"/>
            <a:ext cx="2299219" cy="2522184"/>
            <a:chOff x="3000952" y="2594442"/>
            <a:chExt cx="2299219" cy="2522184"/>
          </a:xfrm>
        </p:grpSpPr>
        <p:grpSp>
          <p:nvGrpSpPr>
            <p:cNvPr id="45" name="Group 44"/>
            <p:cNvGrpSpPr/>
            <p:nvPr/>
          </p:nvGrpSpPr>
          <p:grpSpPr>
            <a:xfrm>
              <a:off x="3000952" y="2594442"/>
              <a:ext cx="2299219" cy="2522184"/>
              <a:chOff x="2996666" y="2490992"/>
              <a:chExt cx="2299219" cy="2522184"/>
            </a:xfrm>
          </p:grpSpPr>
          <p:cxnSp>
            <p:nvCxnSpPr>
              <p:cNvPr id="46" name="Straight Connector 45"/>
              <p:cNvCxnSpPr/>
              <p:nvPr/>
            </p:nvCxnSpPr>
            <p:spPr>
              <a:xfrm flipH="1">
                <a:off x="3140682" y="3068960"/>
                <a:ext cx="243186" cy="360040"/>
              </a:xfrm>
              <a:prstGeom prst="line">
                <a:avLst/>
              </a:prstGeom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headEnd type="oval" w="sm" len="sm"/>
                <a:tailEnd type="oval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>
              <a:xfrm>
                <a:off x="3383868" y="3068960"/>
                <a:ext cx="188862" cy="432048"/>
              </a:xfrm>
              <a:prstGeom prst="line">
                <a:avLst/>
              </a:prstGeom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headEnd type="oval" w="sm" len="sm"/>
                <a:tailEnd type="oval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>
              <a:xfrm>
                <a:off x="3383868" y="3068960"/>
                <a:ext cx="669453" cy="274947"/>
              </a:xfrm>
              <a:prstGeom prst="line">
                <a:avLst/>
              </a:prstGeom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headEnd type="oval" w="sm" len="sm"/>
                <a:tailEnd type="oval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>
              <a:xfrm>
                <a:off x="3383868" y="3068960"/>
                <a:ext cx="811241" cy="14095"/>
              </a:xfrm>
              <a:prstGeom prst="line">
                <a:avLst/>
              </a:prstGeom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headEnd type="oval" w="sm" len="sm"/>
                <a:tailEnd type="oval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>
              <a:xfrm flipH="1">
                <a:off x="3284698" y="3068960"/>
                <a:ext cx="99170" cy="648072"/>
              </a:xfrm>
              <a:prstGeom prst="line">
                <a:avLst/>
              </a:prstGeom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headEnd type="oval" w="sm" len="sm"/>
                <a:tailEnd type="oval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>
              <a:xfrm flipH="1">
                <a:off x="2996666" y="3068960"/>
                <a:ext cx="387202" cy="648072"/>
              </a:xfrm>
              <a:prstGeom prst="line">
                <a:avLst/>
              </a:prstGeom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headEnd type="oval" w="sm" len="sm"/>
                <a:tailEnd type="oval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>
              <a:xfrm flipV="1">
                <a:off x="3383868" y="2866578"/>
                <a:ext cx="1107807" cy="202382"/>
              </a:xfrm>
              <a:prstGeom prst="line">
                <a:avLst/>
              </a:prstGeom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headEnd type="oval" w="sm" len="sm"/>
                <a:tailEnd type="oval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>
              <a:xfrm flipV="1">
                <a:off x="3383868" y="2605726"/>
                <a:ext cx="1249595" cy="463234"/>
              </a:xfrm>
              <a:prstGeom prst="line">
                <a:avLst/>
              </a:prstGeom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headEnd type="oval" w="sm" len="sm"/>
                <a:tailEnd type="oval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>
              <a:xfrm flipV="1">
                <a:off x="3383868" y="2490992"/>
                <a:ext cx="1550492" cy="577968"/>
              </a:xfrm>
              <a:prstGeom prst="line">
                <a:avLst/>
              </a:prstGeom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headEnd type="oval" w="sm" len="sm"/>
                <a:tailEnd type="oval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/>
              <p:cNvCxnSpPr/>
              <p:nvPr/>
            </p:nvCxnSpPr>
            <p:spPr>
              <a:xfrm>
                <a:off x="3383868" y="3068960"/>
                <a:ext cx="1076424" cy="257625"/>
              </a:xfrm>
              <a:prstGeom prst="line">
                <a:avLst/>
              </a:prstGeom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headEnd type="oval" w="sm" len="sm"/>
                <a:tailEnd type="oval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/>
              <p:nvPr/>
            </p:nvCxnSpPr>
            <p:spPr>
              <a:xfrm>
                <a:off x="3383868" y="3068960"/>
                <a:ext cx="938967" cy="620220"/>
              </a:xfrm>
              <a:prstGeom prst="line">
                <a:avLst/>
              </a:prstGeom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headEnd type="oval" w="sm" len="sm"/>
                <a:tailEnd type="oval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/>
              <p:cNvCxnSpPr/>
              <p:nvPr/>
            </p:nvCxnSpPr>
            <p:spPr>
              <a:xfrm>
                <a:off x="3460244" y="3100596"/>
                <a:ext cx="1265231" cy="469519"/>
              </a:xfrm>
              <a:prstGeom prst="line">
                <a:avLst/>
              </a:prstGeom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headEnd type="oval" w="sm" len="sm"/>
                <a:tailEnd type="oval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/>
              <p:cNvCxnSpPr/>
              <p:nvPr/>
            </p:nvCxnSpPr>
            <p:spPr>
              <a:xfrm>
                <a:off x="3383868" y="3068960"/>
                <a:ext cx="1381651" cy="244633"/>
              </a:xfrm>
              <a:prstGeom prst="line">
                <a:avLst/>
              </a:prstGeom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headEnd type="oval" w="sm" len="sm"/>
                <a:tailEnd type="oval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>
              <a:xfrm flipV="1">
                <a:off x="3383868" y="3052741"/>
                <a:ext cx="1523439" cy="16219"/>
              </a:xfrm>
              <a:prstGeom prst="line">
                <a:avLst/>
              </a:prstGeom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headEnd type="oval" w="sm" len="sm"/>
                <a:tailEnd type="oval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>
              <a:xfrm>
                <a:off x="3383868" y="3068960"/>
                <a:ext cx="638070" cy="734954"/>
              </a:xfrm>
              <a:prstGeom prst="line">
                <a:avLst/>
              </a:prstGeom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headEnd type="oval" w="sm" len="sm"/>
                <a:tailEnd type="oval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>
                <a:off x="3383868" y="3068960"/>
                <a:ext cx="476894" cy="1008112"/>
              </a:xfrm>
              <a:prstGeom prst="line">
                <a:avLst/>
              </a:prstGeom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headEnd type="oval" w="sm" len="sm"/>
                <a:tailEnd type="oval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>
              <a:xfrm>
                <a:off x="3383868" y="3068960"/>
                <a:ext cx="116854" cy="792088"/>
              </a:xfrm>
              <a:prstGeom prst="line">
                <a:avLst/>
              </a:prstGeom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headEnd type="oval" w="sm" len="sm"/>
                <a:tailEnd type="oval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/>
              <p:cNvCxnSpPr/>
              <p:nvPr/>
            </p:nvCxnSpPr>
            <p:spPr>
              <a:xfrm flipH="1">
                <a:off x="3068674" y="3068960"/>
                <a:ext cx="315194" cy="936104"/>
              </a:xfrm>
              <a:prstGeom prst="line">
                <a:avLst/>
              </a:prstGeom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headEnd type="oval" w="sm" len="sm"/>
                <a:tailEnd type="oval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>
              <a:xfrm flipH="1">
                <a:off x="3356706" y="3068960"/>
                <a:ext cx="27162" cy="1296144"/>
              </a:xfrm>
              <a:prstGeom prst="line">
                <a:avLst/>
              </a:prstGeom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headEnd type="oval" w="sm" len="sm"/>
                <a:tailEnd type="oval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/>
            </p:nvCxnSpPr>
            <p:spPr>
              <a:xfrm flipH="1">
                <a:off x="2996666" y="3068960"/>
                <a:ext cx="387202" cy="1296144"/>
              </a:xfrm>
              <a:prstGeom prst="line">
                <a:avLst/>
              </a:prstGeom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headEnd type="oval" w="sm" len="sm"/>
                <a:tailEnd type="oval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>
              <a:xfrm>
                <a:off x="3383868" y="3068960"/>
                <a:ext cx="188862" cy="1080120"/>
              </a:xfrm>
              <a:prstGeom prst="line">
                <a:avLst/>
              </a:prstGeom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headEnd type="oval" w="sm" len="sm"/>
                <a:tailEnd type="oval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>
              <a:xfrm flipH="1">
                <a:off x="3068674" y="3068960"/>
                <a:ext cx="315194" cy="1584176"/>
              </a:xfrm>
              <a:prstGeom prst="line">
                <a:avLst/>
              </a:prstGeom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headEnd type="oval" w="sm" len="sm"/>
                <a:tailEnd type="oval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/>
              <p:cNvCxnSpPr/>
              <p:nvPr/>
            </p:nvCxnSpPr>
            <p:spPr>
              <a:xfrm>
                <a:off x="3383868" y="3068960"/>
                <a:ext cx="116854" cy="1656184"/>
              </a:xfrm>
              <a:prstGeom prst="line">
                <a:avLst/>
              </a:prstGeom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headEnd type="oval" w="sm" len="sm"/>
                <a:tailEnd type="oval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/>
              <p:cNvCxnSpPr/>
              <p:nvPr/>
            </p:nvCxnSpPr>
            <p:spPr>
              <a:xfrm>
                <a:off x="3383868" y="3068960"/>
                <a:ext cx="1615451" cy="948170"/>
              </a:xfrm>
              <a:prstGeom prst="line">
                <a:avLst/>
              </a:prstGeom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headEnd type="oval" w="sm" len="sm"/>
                <a:tailEnd type="oval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>
              <a:xfrm>
                <a:off x="3383868" y="3068960"/>
                <a:ext cx="1912017" cy="731693"/>
              </a:xfrm>
              <a:prstGeom prst="line">
                <a:avLst/>
              </a:prstGeom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headEnd type="oval" w="sm" len="sm"/>
                <a:tailEnd type="oval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>
              <a:xfrm>
                <a:off x="3383868" y="3068960"/>
                <a:ext cx="1642504" cy="386421"/>
              </a:xfrm>
              <a:prstGeom prst="line">
                <a:avLst/>
              </a:prstGeom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headEnd type="oval" w="sm" len="sm"/>
                <a:tailEnd type="oval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>
              <a:xfrm flipV="1">
                <a:off x="3383868" y="2836264"/>
                <a:ext cx="1820005" cy="232696"/>
              </a:xfrm>
              <a:prstGeom prst="line">
                <a:avLst/>
              </a:prstGeom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headEnd type="oval" w="sm" len="sm"/>
                <a:tailEnd type="oval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/>
              <p:cNvCxnSpPr/>
              <p:nvPr/>
            </p:nvCxnSpPr>
            <p:spPr>
              <a:xfrm>
                <a:off x="3383868" y="3068960"/>
                <a:ext cx="836934" cy="1440160"/>
              </a:xfrm>
              <a:prstGeom prst="line">
                <a:avLst/>
              </a:prstGeom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headEnd type="oval" w="sm" len="sm"/>
                <a:tailEnd type="oval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/>
              <p:nvPr/>
            </p:nvCxnSpPr>
            <p:spPr>
              <a:xfrm>
                <a:off x="3383868" y="3068960"/>
                <a:ext cx="938967" cy="620220"/>
              </a:xfrm>
              <a:prstGeom prst="line">
                <a:avLst/>
              </a:prstGeom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headEnd type="oval" w="sm" len="sm"/>
                <a:tailEnd type="oval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/>
              <p:cNvCxnSpPr/>
              <p:nvPr/>
            </p:nvCxnSpPr>
            <p:spPr>
              <a:xfrm>
                <a:off x="3383868" y="3068960"/>
                <a:ext cx="908942" cy="1080120"/>
              </a:xfrm>
              <a:prstGeom prst="line">
                <a:avLst/>
              </a:prstGeom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headEnd type="oval" w="sm" len="sm"/>
                <a:tailEnd type="oval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/>
              <p:cNvCxnSpPr/>
              <p:nvPr/>
            </p:nvCxnSpPr>
            <p:spPr>
              <a:xfrm>
                <a:off x="3383868" y="3068960"/>
                <a:ext cx="1168435" cy="1222014"/>
              </a:xfrm>
              <a:prstGeom prst="line">
                <a:avLst/>
              </a:prstGeom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headEnd type="oval" w="sm" len="sm"/>
                <a:tailEnd type="oval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/>
              <p:cNvCxnSpPr/>
              <p:nvPr/>
            </p:nvCxnSpPr>
            <p:spPr>
              <a:xfrm>
                <a:off x="3383868" y="3068960"/>
                <a:ext cx="1199819" cy="762007"/>
              </a:xfrm>
              <a:prstGeom prst="line">
                <a:avLst/>
              </a:prstGeom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headEnd type="oval" w="sm" len="sm"/>
                <a:tailEnd type="oval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/>
              <p:cNvCxnSpPr/>
              <p:nvPr/>
            </p:nvCxnSpPr>
            <p:spPr>
              <a:xfrm>
                <a:off x="3383868" y="3068960"/>
                <a:ext cx="332878" cy="1296144"/>
              </a:xfrm>
              <a:prstGeom prst="line">
                <a:avLst/>
              </a:prstGeom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headEnd type="oval" w="sm" len="sm"/>
                <a:tailEnd type="oval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/>
              <p:cNvCxnSpPr/>
              <p:nvPr/>
            </p:nvCxnSpPr>
            <p:spPr>
              <a:xfrm flipH="1">
                <a:off x="3356706" y="3068960"/>
                <a:ext cx="27162" cy="1944216"/>
              </a:xfrm>
              <a:prstGeom prst="line">
                <a:avLst/>
              </a:prstGeom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headEnd type="oval" w="sm" len="sm"/>
                <a:tailEnd type="oval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/>
              <p:cNvCxnSpPr/>
              <p:nvPr/>
            </p:nvCxnSpPr>
            <p:spPr>
              <a:xfrm>
                <a:off x="3383868" y="3068960"/>
                <a:ext cx="692918" cy="1944216"/>
              </a:xfrm>
              <a:prstGeom prst="line">
                <a:avLst/>
              </a:prstGeom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headEnd type="oval" w="sm" len="sm"/>
                <a:tailEnd type="oval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/>
              <p:cNvCxnSpPr/>
              <p:nvPr/>
            </p:nvCxnSpPr>
            <p:spPr>
              <a:xfrm>
                <a:off x="3383868" y="3068960"/>
                <a:ext cx="404886" cy="1584176"/>
              </a:xfrm>
              <a:prstGeom prst="line">
                <a:avLst/>
              </a:prstGeom>
              <a:ln w="6350" cmpd="sng">
                <a:solidFill>
                  <a:schemeClr val="tx1">
                    <a:lumMod val="50000"/>
                    <a:lumOff val="50000"/>
                  </a:schemeClr>
                </a:solidFill>
                <a:prstDash val="sysDash"/>
                <a:headEnd type="oval" w="sm" len="sm"/>
                <a:tailEnd type="oval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3" name="Straight Connector 82"/>
            <p:cNvCxnSpPr/>
            <p:nvPr/>
          </p:nvCxnSpPr>
          <p:spPr>
            <a:xfrm flipV="1">
              <a:off x="3387150" y="2902292"/>
              <a:ext cx="1461741" cy="268410"/>
            </a:xfrm>
            <a:prstGeom prst="line">
              <a:avLst/>
            </a:prstGeom>
            <a:ln w="6350" cmpd="sng">
              <a:solidFill>
                <a:schemeClr val="tx1">
                  <a:lumMod val="50000"/>
                  <a:lumOff val="50000"/>
                </a:schemeClr>
              </a:solidFill>
              <a:prstDash val="sysDash"/>
              <a:headEnd type="oval" w="sm" len="sm"/>
              <a:tailEnd type="oval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4" name="TextBox 83"/>
          <p:cNvSpPr txBox="1"/>
          <p:nvPr/>
        </p:nvSpPr>
        <p:spPr>
          <a:xfrm>
            <a:off x="7680176" y="1580601"/>
            <a:ext cx="167578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KNN Algorithm</a:t>
            </a:r>
          </a:p>
          <a:p>
            <a:endParaRPr lang="en-US" dirty="0">
              <a:latin typeface="Gill Sans MT" panose="020B0502020104020203" pitchFamily="34" charset="77"/>
              <a:cs typeface="Trebuchet MS"/>
            </a:endParaRPr>
          </a:p>
          <a:p>
            <a:pPr marL="342900" indent="-342900">
              <a:buAutoNum type="arabicPeriod"/>
            </a:pPr>
            <a:r>
              <a:rPr lang="en-US" dirty="0">
                <a:latin typeface="Gill Sans MT" panose="020B0502020104020203" pitchFamily="34" charset="77"/>
                <a:cs typeface="Trebuchet MS"/>
              </a:rPr>
              <a:t>Distances</a:t>
            </a:r>
          </a:p>
          <a:p>
            <a:pPr marL="342900" indent="-342900">
              <a:buAutoNum type="arabicPeriod"/>
            </a:pPr>
            <a:endParaRPr lang="en-US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1991544" y="2132857"/>
            <a:ext cx="1653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Testing data</a:t>
            </a:r>
          </a:p>
        </p:txBody>
      </p:sp>
      <p:cxnSp>
        <p:nvCxnSpPr>
          <p:cNvPr id="86" name="Straight Arrow Connector 85"/>
          <p:cNvCxnSpPr>
            <a:stCxn id="85" idx="3"/>
          </p:cNvCxnSpPr>
          <p:nvPr/>
        </p:nvCxnSpPr>
        <p:spPr>
          <a:xfrm>
            <a:off x="3644882" y="2363690"/>
            <a:ext cx="1186610" cy="73690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9163540" y="2266457"/>
            <a:ext cx="800319" cy="37856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ourier"/>
                <a:cs typeface="Courier"/>
              </a:rPr>
              <a:t>    0.3655</a:t>
            </a:r>
          </a:p>
          <a:p>
            <a:r>
              <a:rPr lang="en-US" sz="800" dirty="0">
                <a:latin typeface="Courier"/>
                <a:cs typeface="Courier"/>
              </a:rPr>
              <a:t>    0.7015</a:t>
            </a:r>
          </a:p>
          <a:p>
            <a:r>
              <a:rPr lang="en-US" sz="800" dirty="0">
                <a:latin typeface="Courier"/>
                <a:cs typeface="Courier"/>
              </a:rPr>
              <a:t>    0.6712</a:t>
            </a:r>
          </a:p>
          <a:p>
            <a:r>
              <a:rPr lang="en-US" sz="800" dirty="0">
                <a:latin typeface="Courier"/>
                <a:cs typeface="Courier"/>
              </a:rPr>
              <a:t>    0.7474</a:t>
            </a:r>
          </a:p>
          <a:p>
            <a:r>
              <a:rPr lang="en-US" sz="800" dirty="0">
                <a:latin typeface="Courier"/>
                <a:cs typeface="Courier"/>
              </a:rPr>
              <a:t>    0.4313</a:t>
            </a:r>
          </a:p>
          <a:p>
            <a:r>
              <a:rPr lang="en-US" sz="800" dirty="0">
                <a:latin typeface="Courier"/>
                <a:cs typeface="Courier"/>
              </a:rPr>
              <a:t>    0.2880</a:t>
            </a:r>
          </a:p>
          <a:p>
            <a:r>
              <a:rPr lang="en-US" sz="800" dirty="0">
                <a:latin typeface="Courier"/>
                <a:cs typeface="Courier"/>
              </a:rPr>
              <a:t>    0.0115</a:t>
            </a:r>
          </a:p>
          <a:p>
            <a:r>
              <a:rPr lang="en-US" sz="800" dirty="0">
                <a:latin typeface="Courier"/>
                <a:cs typeface="Courier"/>
              </a:rPr>
              <a:t>    0.9202</a:t>
            </a:r>
          </a:p>
          <a:p>
            <a:r>
              <a:rPr lang="en-US" sz="800" dirty="0">
                <a:latin typeface="Courier"/>
                <a:cs typeface="Courier"/>
              </a:rPr>
              <a:t>    0.5304</a:t>
            </a:r>
          </a:p>
          <a:p>
            <a:r>
              <a:rPr lang="en-US" sz="800" dirty="0">
                <a:latin typeface="Courier"/>
                <a:cs typeface="Courier"/>
              </a:rPr>
              <a:t>    0.9362</a:t>
            </a:r>
          </a:p>
          <a:p>
            <a:r>
              <a:rPr lang="en-US" sz="800" dirty="0">
                <a:latin typeface="Courier"/>
                <a:cs typeface="Courier"/>
              </a:rPr>
              <a:t>    0.5989</a:t>
            </a:r>
          </a:p>
          <a:p>
            <a:r>
              <a:rPr lang="en-US" sz="800" dirty="0">
                <a:latin typeface="Courier"/>
                <a:cs typeface="Courier"/>
              </a:rPr>
              <a:t>    0.9447</a:t>
            </a:r>
          </a:p>
          <a:p>
            <a:r>
              <a:rPr lang="en-US" sz="800" dirty="0">
                <a:latin typeface="Courier"/>
                <a:cs typeface="Courier"/>
              </a:rPr>
              <a:t>    0.0569</a:t>
            </a:r>
          </a:p>
          <a:p>
            <a:r>
              <a:rPr lang="en-US" sz="800" dirty="0">
                <a:latin typeface="Courier"/>
                <a:cs typeface="Courier"/>
              </a:rPr>
              <a:t>    0.3264</a:t>
            </a:r>
          </a:p>
          <a:p>
            <a:r>
              <a:rPr lang="en-US" sz="800" dirty="0">
                <a:latin typeface="Courier"/>
                <a:cs typeface="Courier"/>
              </a:rPr>
              <a:t>    0.6811</a:t>
            </a:r>
          </a:p>
          <a:p>
            <a:r>
              <a:rPr lang="en-US" sz="800" dirty="0">
                <a:latin typeface="Courier"/>
                <a:cs typeface="Courier"/>
              </a:rPr>
              <a:t>    0.1332</a:t>
            </a:r>
          </a:p>
          <a:p>
            <a:r>
              <a:rPr lang="en-US" sz="800" dirty="0">
                <a:latin typeface="Courier"/>
                <a:cs typeface="Courier"/>
              </a:rPr>
              <a:t>    0.0226</a:t>
            </a:r>
          </a:p>
          <a:p>
            <a:r>
              <a:rPr lang="en-US" sz="800" dirty="0">
                <a:latin typeface="Courier"/>
                <a:cs typeface="Courier"/>
              </a:rPr>
              <a:t>    0.2435</a:t>
            </a:r>
          </a:p>
          <a:p>
            <a:r>
              <a:rPr lang="en-US" sz="800" dirty="0">
                <a:latin typeface="Courier"/>
                <a:cs typeface="Courier"/>
              </a:rPr>
              <a:t>    0.0705</a:t>
            </a:r>
          </a:p>
          <a:p>
            <a:r>
              <a:rPr lang="en-US" sz="800" dirty="0">
                <a:latin typeface="Courier"/>
                <a:cs typeface="Courier"/>
              </a:rPr>
              <a:t>    0.4839</a:t>
            </a:r>
          </a:p>
          <a:p>
            <a:r>
              <a:rPr lang="en-US" sz="800" dirty="0">
                <a:latin typeface="Courier"/>
                <a:cs typeface="Courier"/>
              </a:rPr>
              <a:t>    0.3631</a:t>
            </a:r>
          </a:p>
          <a:p>
            <a:r>
              <a:rPr lang="en-US" sz="800" dirty="0">
                <a:latin typeface="Courier"/>
                <a:cs typeface="Courier"/>
              </a:rPr>
              <a:t>    0.1090</a:t>
            </a:r>
          </a:p>
          <a:p>
            <a:r>
              <a:rPr lang="en-US" sz="800" dirty="0">
                <a:latin typeface="Courier"/>
                <a:cs typeface="Courier"/>
              </a:rPr>
              <a:t>    0.6296</a:t>
            </a:r>
          </a:p>
          <a:p>
            <a:r>
              <a:rPr lang="en-US" sz="800" dirty="0">
                <a:latin typeface="Courier"/>
                <a:cs typeface="Courier"/>
              </a:rPr>
              <a:t>    0.0508</a:t>
            </a:r>
          </a:p>
          <a:p>
            <a:r>
              <a:rPr lang="en-US" sz="800" dirty="0">
                <a:latin typeface="Courier"/>
                <a:cs typeface="Courier"/>
              </a:rPr>
              <a:t>    0.7660</a:t>
            </a:r>
          </a:p>
          <a:p>
            <a:r>
              <a:rPr lang="en-US" sz="800" dirty="0">
                <a:latin typeface="Courier"/>
                <a:cs typeface="Courier"/>
              </a:rPr>
              <a:t>    0.9544</a:t>
            </a:r>
          </a:p>
          <a:p>
            <a:r>
              <a:rPr lang="en-US" sz="800" dirty="0">
                <a:latin typeface="Courier"/>
                <a:cs typeface="Courier"/>
              </a:rPr>
              <a:t>    0.6487</a:t>
            </a:r>
          </a:p>
          <a:p>
            <a:r>
              <a:rPr lang="en-US" sz="800" dirty="0">
                <a:latin typeface="Courier"/>
                <a:cs typeface="Courier"/>
              </a:rPr>
              <a:t>    0.1519</a:t>
            </a:r>
          </a:p>
          <a:p>
            <a:r>
              <a:rPr lang="en-US" sz="800" dirty="0">
                <a:latin typeface="Courier"/>
                <a:cs typeface="Courier"/>
              </a:rPr>
              <a:t>    0.7936</a:t>
            </a:r>
          </a:p>
          <a:p>
            <a:r>
              <a:rPr lang="en-US" sz="800" dirty="0">
                <a:latin typeface="Courier"/>
                <a:cs typeface="Courier"/>
              </a:rPr>
              <a:t>    0.9525</a:t>
            </a:r>
          </a:p>
        </p:txBody>
      </p:sp>
    </p:spTree>
    <p:extLst>
      <p:ext uri="{BB962C8B-B14F-4D97-AF65-F5344CB8AC3E}">
        <p14:creationId xmlns:p14="http://schemas.microsoft.com/office/powerpoint/2010/main" val="4204739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3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35560" y="764705"/>
            <a:ext cx="51349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KNN: k nearest neighbors (two classes)</a:t>
            </a:r>
          </a:p>
        </p:txBody>
      </p:sp>
      <p:sp>
        <p:nvSpPr>
          <p:cNvPr id="6" name="Oval 5"/>
          <p:cNvSpPr/>
          <p:nvPr/>
        </p:nvSpPr>
        <p:spPr>
          <a:xfrm>
            <a:off x="4556670" y="342900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" name="Oval 6"/>
          <p:cNvSpPr/>
          <p:nvPr/>
        </p:nvSpPr>
        <p:spPr>
          <a:xfrm>
            <a:off x="4484662" y="4005064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" name="Oval 7"/>
          <p:cNvSpPr/>
          <p:nvPr/>
        </p:nvSpPr>
        <p:spPr>
          <a:xfrm>
            <a:off x="4412654" y="3717032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" name="Oval 8"/>
          <p:cNvSpPr/>
          <p:nvPr/>
        </p:nvSpPr>
        <p:spPr>
          <a:xfrm>
            <a:off x="4988718" y="3501008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" name="Oval 9"/>
          <p:cNvSpPr/>
          <p:nvPr/>
        </p:nvSpPr>
        <p:spPr>
          <a:xfrm>
            <a:off x="4772694" y="4365104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4916710" y="3861048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5276750" y="4077072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5204742" y="4653136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5132734" y="4365104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08798" y="414908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5492774" y="5013176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5636790" y="450912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4700686" y="3717032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4484662" y="4653136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4412654" y="4365104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4988718" y="414908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4772694" y="5013176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4916710" y="4725144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42" name="Group 41"/>
          <p:cNvGrpSpPr/>
          <p:nvPr/>
        </p:nvGrpSpPr>
        <p:grpSpPr>
          <a:xfrm rot="2553764">
            <a:off x="5542359" y="2623150"/>
            <a:ext cx="1512168" cy="1800200"/>
            <a:chOff x="4572000" y="3005336"/>
            <a:chExt cx="1512168" cy="1800200"/>
          </a:xfrm>
          <a:solidFill>
            <a:srgbClr val="0000FF"/>
          </a:solidFill>
        </p:grpSpPr>
        <p:sp>
          <p:nvSpPr>
            <p:cNvPr id="24" name="Oval 23"/>
            <p:cNvSpPr/>
            <p:nvPr/>
          </p:nvSpPr>
          <p:spPr>
            <a:xfrm>
              <a:off x="4716016" y="300533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5" name="Oval 24"/>
            <p:cNvSpPr/>
            <p:nvPr/>
          </p:nvSpPr>
          <p:spPr>
            <a:xfrm>
              <a:off x="4644008" y="358140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6" name="Oval 25"/>
            <p:cNvSpPr/>
            <p:nvPr/>
          </p:nvSpPr>
          <p:spPr>
            <a:xfrm>
              <a:off x="4572000" y="329336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7" name="Oval 26"/>
            <p:cNvSpPr/>
            <p:nvPr/>
          </p:nvSpPr>
          <p:spPr>
            <a:xfrm>
              <a:off x="5148064" y="307734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8" name="Oval 27"/>
            <p:cNvSpPr/>
            <p:nvPr/>
          </p:nvSpPr>
          <p:spPr>
            <a:xfrm>
              <a:off x="493204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9" name="Oval 28"/>
            <p:cNvSpPr/>
            <p:nvPr/>
          </p:nvSpPr>
          <p:spPr>
            <a:xfrm>
              <a:off x="5076056" y="343738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0" name="Oval 29"/>
            <p:cNvSpPr/>
            <p:nvPr/>
          </p:nvSpPr>
          <p:spPr>
            <a:xfrm>
              <a:off x="5436096" y="365340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1" name="Oval 30"/>
            <p:cNvSpPr/>
            <p:nvPr/>
          </p:nvSpPr>
          <p:spPr>
            <a:xfrm>
              <a:off x="5364088" y="422947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2" name="Oval 31"/>
            <p:cNvSpPr/>
            <p:nvPr/>
          </p:nvSpPr>
          <p:spPr>
            <a:xfrm>
              <a:off x="529208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3" name="Oval 32"/>
            <p:cNvSpPr/>
            <p:nvPr/>
          </p:nvSpPr>
          <p:spPr>
            <a:xfrm>
              <a:off x="5868144" y="372541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4" name="Oval 33"/>
            <p:cNvSpPr/>
            <p:nvPr/>
          </p:nvSpPr>
          <p:spPr>
            <a:xfrm>
              <a:off x="5652120" y="458951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5" name="Oval 34"/>
            <p:cNvSpPr/>
            <p:nvPr/>
          </p:nvSpPr>
          <p:spPr>
            <a:xfrm>
              <a:off x="5796136" y="408545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6" name="Oval 35"/>
            <p:cNvSpPr/>
            <p:nvPr/>
          </p:nvSpPr>
          <p:spPr>
            <a:xfrm>
              <a:off x="4860032" y="329336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7" name="Oval 36"/>
            <p:cNvSpPr/>
            <p:nvPr/>
          </p:nvSpPr>
          <p:spPr>
            <a:xfrm>
              <a:off x="4644008" y="422947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8" name="Oval 37"/>
            <p:cNvSpPr/>
            <p:nvPr/>
          </p:nvSpPr>
          <p:spPr>
            <a:xfrm>
              <a:off x="457200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9" name="Oval 38"/>
            <p:cNvSpPr/>
            <p:nvPr/>
          </p:nvSpPr>
          <p:spPr>
            <a:xfrm>
              <a:off x="5148064" y="372541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40" name="Oval 39"/>
            <p:cNvSpPr/>
            <p:nvPr/>
          </p:nvSpPr>
          <p:spPr>
            <a:xfrm>
              <a:off x="4932040" y="458951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41" name="Oval 40"/>
            <p:cNvSpPr/>
            <p:nvPr/>
          </p:nvSpPr>
          <p:spPr>
            <a:xfrm>
              <a:off x="5076056" y="430148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44" name="Oval 43"/>
          <p:cNvSpPr/>
          <p:nvPr/>
        </p:nvSpPr>
        <p:spPr>
          <a:xfrm>
            <a:off x="4799856" y="3068960"/>
            <a:ext cx="216024" cy="216024"/>
          </a:xfrm>
          <a:prstGeom prst="ellipse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46" name="Straight Connector 45"/>
          <p:cNvCxnSpPr/>
          <p:nvPr/>
        </p:nvCxnSpPr>
        <p:spPr>
          <a:xfrm flipH="1">
            <a:off x="4668968" y="3172410"/>
            <a:ext cx="243186" cy="360040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4912154" y="3172410"/>
            <a:ext cx="188862" cy="432048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4912155" y="3172411"/>
            <a:ext cx="669453" cy="274947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4912155" y="3172411"/>
            <a:ext cx="811241" cy="14095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 flipH="1">
            <a:off x="4812984" y="3172410"/>
            <a:ext cx="99170" cy="648072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H="1">
            <a:off x="4524952" y="3172410"/>
            <a:ext cx="387202" cy="648072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 flipV="1">
            <a:off x="4912155" y="2970028"/>
            <a:ext cx="1107807" cy="202382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V="1">
            <a:off x="4912155" y="2709176"/>
            <a:ext cx="1249595" cy="463234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 flipV="1">
            <a:off x="4912154" y="2594442"/>
            <a:ext cx="1550492" cy="577968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>
            <a:off x="4912154" y="3172411"/>
            <a:ext cx="1076424" cy="257625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>
            <a:off x="4912155" y="3172410"/>
            <a:ext cx="938967" cy="620220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>
            <a:off x="4988531" y="3204047"/>
            <a:ext cx="1265231" cy="469519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>
            <a:off x="4912155" y="3172411"/>
            <a:ext cx="1381651" cy="244633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 flipV="1">
            <a:off x="4912155" y="3156192"/>
            <a:ext cx="1523439" cy="16219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>
            <a:off x="4912154" y="3172410"/>
            <a:ext cx="638070" cy="734954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>
            <a:off x="4912154" y="3172410"/>
            <a:ext cx="476894" cy="1008112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>
            <a:off x="4912154" y="3172410"/>
            <a:ext cx="116854" cy="792088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 flipH="1">
            <a:off x="4596960" y="3172410"/>
            <a:ext cx="315194" cy="936104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 flipH="1">
            <a:off x="4884992" y="3172410"/>
            <a:ext cx="27162" cy="1296144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 flipH="1">
            <a:off x="4524952" y="3172410"/>
            <a:ext cx="387202" cy="1296144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>
            <a:off x="4912154" y="3172410"/>
            <a:ext cx="188862" cy="1080120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 flipH="1">
            <a:off x="4596960" y="3172410"/>
            <a:ext cx="315194" cy="1584176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>
            <a:off x="4912154" y="3172410"/>
            <a:ext cx="116854" cy="1656184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/>
          <p:nvPr/>
        </p:nvCxnSpPr>
        <p:spPr>
          <a:xfrm>
            <a:off x="4912155" y="3172410"/>
            <a:ext cx="1615451" cy="948170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>
            <a:off x="4912155" y="3172411"/>
            <a:ext cx="1912017" cy="731693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>
            <a:off x="4912154" y="3172411"/>
            <a:ext cx="1642504" cy="386421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 flipV="1">
            <a:off x="4912155" y="2939714"/>
            <a:ext cx="1820005" cy="232696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>
            <a:off x="4912154" y="3172410"/>
            <a:ext cx="836934" cy="1440160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>
            <a:off x="4912155" y="3172410"/>
            <a:ext cx="938967" cy="620220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>
            <a:off x="4912154" y="3172410"/>
            <a:ext cx="908942" cy="1080120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>
            <a:off x="4912155" y="3172410"/>
            <a:ext cx="1168435" cy="1222014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/>
          <p:nvPr/>
        </p:nvCxnSpPr>
        <p:spPr>
          <a:xfrm>
            <a:off x="4912155" y="3172411"/>
            <a:ext cx="1199819" cy="762007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/>
          <p:nvPr/>
        </p:nvCxnSpPr>
        <p:spPr>
          <a:xfrm>
            <a:off x="4912154" y="3172410"/>
            <a:ext cx="332878" cy="1296144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 flipH="1">
            <a:off x="4884992" y="3172410"/>
            <a:ext cx="27162" cy="1944216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>
            <a:off x="4912154" y="3172410"/>
            <a:ext cx="692918" cy="1944216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/>
          <p:nvPr/>
        </p:nvCxnSpPr>
        <p:spPr>
          <a:xfrm>
            <a:off x="4912154" y="3172410"/>
            <a:ext cx="404886" cy="1584176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 flipV="1">
            <a:off x="4911151" y="2902292"/>
            <a:ext cx="1461741" cy="268410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7680176" y="1580601"/>
            <a:ext cx="167578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KNN Algorithm</a:t>
            </a:r>
          </a:p>
          <a:p>
            <a:endParaRPr lang="en-US" dirty="0">
              <a:latin typeface="Gill Sans MT" panose="020B0502020104020203" pitchFamily="34" charset="77"/>
              <a:cs typeface="Trebuchet MS"/>
            </a:endParaRPr>
          </a:p>
          <a:p>
            <a:pPr marL="342900" indent="-342900">
              <a:buAutoNum type="arabicPeriod"/>
            </a:pPr>
            <a:r>
              <a:rPr lang="en-US" dirty="0">
                <a:latin typeface="Gill Sans MT" panose="020B0502020104020203" pitchFamily="34" charset="77"/>
                <a:cs typeface="Trebuchet MS"/>
              </a:rPr>
              <a:t>Distances</a:t>
            </a:r>
          </a:p>
          <a:p>
            <a:pPr marL="342900" indent="-342900">
              <a:buAutoNum type="arabicPeriod"/>
            </a:pPr>
            <a:r>
              <a:rPr lang="en-US" dirty="0">
                <a:latin typeface="Gill Sans MT" panose="020B0502020104020203" pitchFamily="34" charset="77"/>
                <a:cs typeface="Trebuchet MS"/>
              </a:rPr>
              <a:t>Sort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991544" y="2132857"/>
            <a:ext cx="1653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Testing data</a:t>
            </a:r>
          </a:p>
        </p:txBody>
      </p:sp>
      <p:cxnSp>
        <p:nvCxnSpPr>
          <p:cNvPr id="85" name="Straight Arrow Connector 84"/>
          <p:cNvCxnSpPr>
            <a:stCxn id="82" idx="3"/>
          </p:cNvCxnSpPr>
          <p:nvPr/>
        </p:nvCxnSpPr>
        <p:spPr>
          <a:xfrm>
            <a:off x="3644882" y="2363690"/>
            <a:ext cx="1186610" cy="73690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9163540" y="2266457"/>
            <a:ext cx="800319" cy="37856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ourier"/>
                <a:cs typeface="Courier"/>
              </a:rPr>
              <a:t>    0.3655</a:t>
            </a:r>
          </a:p>
          <a:p>
            <a:r>
              <a:rPr lang="en-US" sz="800" dirty="0">
                <a:latin typeface="Courier"/>
                <a:cs typeface="Courier"/>
              </a:rPr>
              <a:t>    0.7015</a:t>
            </a:r>
          </a:p>
          <a:p>
            <a:r>
              <a:rPr lang="en-US" sz="800" dirty="0">
                <a:latin typeface="Courier"/>
                <a:cs typeface="Courier"/>
              </a:rPr>
              <a:t>    0.6712</a:t>
            </a:r>
          </a:p>
          <a:p>
            <a:r>
              <a:rPr lang="en-US" sz="800" dirty="0">
                <a:latin typeface="Courier"/>
                <a:cs typeface="Courier"/>
              </a:rPr>
              <a:t>    0.7474</a:t>
            </a:r>
          </a:p>
          <a:p>
            <a:r>
              <a:rPr lang="en-US" sz="800" dirty="0">
                <a:latin typeface="Courier"/>
                <a:cs typeface="Courier"/>
              </a:rPr>
              <a:t>    0.4313</a:t>
            </a:r>
          </a:p>
          <a:p>
            <a:r>
              <a:rPr lang="en-US" sz="800" dirty="0">
                <a:latin typeface="Courier"/>
                <a:cs typeface="Courier"/>
              </a:rPr>
              <a:t>    0.2880</a:t>
            </a:r>
          </a:p>
          <a:p>
            <a:r>
              <a:rPr lang="en-US" sz="800" dirty="0">
                <a:latin typeface="Courier"/>
                <a:cs typeface="Courier"/>
              </a:rPr>
              <a:t>    0.0115</a:t>
            </a:r>
          </a:p>
          <a:p>
            <a:r>
              <a:rPr lang="en-US" sz="800" dirty="0">
                <a:latin typeface="Courier"/>
                <a:cs typeface="Courier"/>
              </a:rPr>
              <a:t>    0.9202</a:t>
            </a:r>
          </a:p>
          <a:p>
            <a:r>
              <a:rPr lang="en-US" sz="800" dirty="0">
                <a:latin typeface="Courier"/>
                <a:cs typeface="Courier"/>
              </a:rPr>
              <a:t>    0.5304</a:t>
            </a:r>
          </a:p>
          <a:p>
            <a:r>
              <a:rPr lang="en-US" sz="800" dirty="0">
                <a:latin typeface="Courier"/>
                <a:cs typeface="Courier"/>
              </a:rPr>
              <a:t>    0.9362</a:t>
            </a:r>
          </a:p>
          <a:p>
            <a:r>
              <a:rPr lang="en-US" sz="800" dirty="0">
                <a:latin typeface="Courier"/>
                <a:cs typeface="Courier"/>
              </a:rPr>
              <a:t>    0.5989</a:t>
            </a:r>
          </a:p>
          <a:p>
            <a:r>
              <a:rPr lang="en-US" sz="800" dirty="0">
                <a:latin typeface="Courier"/>
                <a:cs typeface="Courier"/>
              </a:rPr>
              <a:t>    0.9447</a:t>
            </a:r>
          </a:p>
          <a:p>
            <a:r>
              <a:rPr lang="en-US" sz="800" dirty="0">
                <a:latin typeface="Courier"/>
                <a:cs typeface="Courier"/>
              </a:rPr>
              <a:t>    0.0569</a:t>
            </a:r>
          </a:p>
          <a:p>
            <a:r>
              <a:rPr lang="en-US" sz="800" dirty="0">
                <a:latin typeface="Courier"/>
                <a:cs typeface="Courier"/>
              </a:rPr>
              <a:t>    0.3264</a:t>
            </a:r>
          </a:p>
          <a:p>
            <a:r>
              <a:rPr lang="en-US" sz="800" dirty="0">
                <a:latin typeface="Courier"/>
                <a:cs typeface="Courier"/>
              </a:rPr>
              <a:t>    0.6811</a:t>
            </a:r>
          </a:p>
          <a:p>
            <a:r>
              <a:rPr lang="en-US" sz="800" dirty="0">
                <a:latin typeface="Courier"/>
                <a:cs typeface="Courier"/>
              </a:rPr>
              <a:t>    0.1332</a:t>
            </a:r>
          </a:p>
          <a:p>
            <a:r>
              <a:rPr lang="en-US" sz="800" dirty="0">
                <a:latin typeface="Courier"/>
                <a:cs typeface="Courier"/>
              </a:rPr>
              <a:t>    0.0226</a:t>
            </a:r>
          </a:p>
          <a:p>
            <a:r>
              <a:rPr lang="en-US" sz="800" dirty="0">
                <a:latin typeface="Courier"/>
                <a:cs typeface="Courier"/>
              </a:rPr>
              <a:t>    0.2435</a:t>
            </a:r>
          </a:p>
          <a:p>
            <a:r>
              <a:rPr lang="en-US" sz="800" dirty="0">
                <a:latin typeface="Courier"/>
                <a:cs typeface="Courier"/>
              </a:rPr>
              <a:t>    0.0705</a:t>
            </a:r>
          </a:p>
          <a:p>
            <a:r>
              <a:rPr lang="en-US" sz="800" dirty="0">
                <a:latin typeface="Courier"/>
                <a:cs typeface="Courier"/>
              </a:rPr>
              <a:t>    0.4839</a:t>
            </a:r>
          </a:p>
          <a:p>
            <a:r>
              <a:rPr lang="en-US" sz="800" dirty="0">
                <a:latin typeface="Courier"/>
                <a:cs typeface="Courier"/>
              </a:rPr>
              <a:t>    0.3631</a:t>
            </a:r>
          </a:p>
          <a:p>
            <a:r>
              <a:rPr lang="en-US" sz="800" dirty="0">
                <a:latin typeface="Courier"/>
                <a:cs typeface="Courier"/>
              </a:rPr>
              <a:t>    0.1090</a:t>
            </a:r>
          </a:p>
          <a:p>
            <a:r>
              <a:rPr lang="en-US" sz="800" dirty="0">
                <a:latin typeface="Courier"/>
                <a:cs typeface="Courier"/>
              </a:rPr>
              <a:t>    0.6296</a:t>
            </a:r>
          </a:p>
          <a:p>
            <a:r>
              <a:rPr lang="en-US" sz="800" dirty="0">
                <a:latin typeface="Courier"/>
                <a:cs typeface="Courier"/>
              </a:rPr>
              <a:t>    0.0508</a:t>
            </a:r>
          </a:p>
          <a:p>
            <a:r>
              <a:rPr lang="en-US" sz="800" dirty="0">
                <a:latin typeface="Courier"/>
                <a:cs typeface="Courier"/>
              </a:rPr>
              <a:t>    0.7660</a:t>
            </a:r>
          </a:p>
          <a:p>
            <a:r>
              <a:rPr lang="en-US" sz="800" dirty="0">
                <a:latin typeface="Courier"/>
                <a:cs typeface="Courier"/>
              </a:rPr>
              <a:t>    0.9544</a:t>
            </a:r>
          </a:p>
          <a:p>
            <a:r>
              <a:rPr lang="en-US" sz="800" dirty="0">
                <a:latin typeface="Courier"/>
                <a:cs typeface="Courier"/>
              </a:rPr>
              <a:t>    0.6487</a:t>
            </a:r>
          </a:p>
          <a:p>
            <a:r>
              <a:rPr lang="en-US" sz="800" dirty="0">
                <a:latin typeface="Courier"/>
                <a:cs typeface="Courier"/>
              </a:rPr>
              <a:t>    0.1519</a:t>
            </a:r>
          </a:p>
          <a:p>
            <a:r>
              <a:rPr lang="en-US" sz="800" dirty="0">
                <a:latin typeface="Courier"/>
                <a:cs typeface="Courier"/>
              </a:rPr>
              <a:t>    0.7936</a:t>
            </a:r>
          </a:p>
          <a:p>
            <a:r>
              <a:rPr lang="en-US" sz="800" dirty="0">
                <a:latin typeface="Courier"/>
                <a:cs typeface="Courier"/>
              </a:rPr>
              <a:t>    0.9525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808287" y="2256653"/>
            <a:ext cx="800319" cy="37856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Courier"/>
                <a:cs typeface="Courier"/>
              </a:rPr>
              <a:t>    0.0115</a:t>
            </a:r>
          </a:p>
          <a:p>
            <a:r>
              <a:rPr lang="en-US" sz="800" dirty="0">
                <a:latin typeface="Courier"/>
                <a:cs typeface="Courier"/>
              </a:rPr>
              <a:t>    0.0226</a:t>
            </a:r>
          </a:p>
          <a:p>
            <a:r>
              <a:rPr lang="en-US" sz="800" dirty="0">
                <a:latin typeface="Courier"/>
                <a:cs typeface="Courier"/>
              </a:rPr>
              <a:t>    0.0508</a:t>
            </a:r>
          </a:p>
          <a:p>
            <a:r>
              <a:rPr lang="en-US" sz="800" dirty="0">
                <a:latin typeface="Courier"/>
                <a:cs typeface="Courier"/>
              </a:rPr>
              <a:t>    0.0569</a:t>
            </a:r>
          </a:p>
          <a:p>
            <a:r>
              <a:rPr lang="en-US" sz="800" dirty="0">
                <a:latin typeface="Courier"/>
                <a:cs typeface="Courier"/>
              </a:rPr>
              <a:t>    0.0705</a:t>
            </a:r>
          </a:p>
          <a:p>
            <a:r>
              <a:rPr lang="en-US" sz="800" dirty="0">
                <a:latin typeface="Courier"/>
                <a:cs typeface="Courier"/>
              </a:rPr>
              <a:t>    0.1090</a:t>
            </a:r>
          </a:p>
          <a:p>
            <a:r>
              <a:rPr lang="en-US" sz="800" dirty="0">
                <a:latin typeface="Courier"/>
                <a:cs typeface="Courier"/>
              </a:rPr>
              <a:t>    0.1332</a:t>
            </a:r>
          </a:p>
          <a:p>
            <a:r>
              <a:rPr lang="en-US" sz="800" dirty="0">
                <a:latin typeface="Courier"/>
                <a:cs typeface="Courier"/>
              </a:rPr>
              <a:t>    0.1519</a:t>
            </a:r>
          </a:p>
          <a:p>
            <a:r>
              <a:rPr lang="en-US" sz="800" dirty="0">
                <a:latin typeface="Courier"/>
                <a:cs typeface="Courier"/>
              </a:rPr>
              <a:t>    0.2435</a:t>
            </a:r>
          </a:p>
          <a:p>
            <a:r>
              <a:rPr lang="en-US" sz="800" dirty="0">
                <a:latin typeface="Courier"/>
                <a:cs typeface="Courier"/>
              </a:rPr>
              <a:t>    0.2880</a:t>
            </a:r>
          </a:p>
          <a:p>
            <a:r>
              <a:rPr lang="en-US" sz="800" dirty="0">
                <a:latin typeface="Courier"/>
                <a:cs typeface="Courier"/>
              </a:rPr>
              <a:t>    0.3264</a:t>
            </a:r>
          </a:p>
          <a:p>
            <a:r>
              <a:rPr lang="en-US" sz="800" dirty="0">
                <a:latin typeface="Courier"/>
                <a:cs typeface="Courier"/>
              </a:rPr>
              <a:t>    0.3631</a:t>
            </a:r>
          </a:p>
          <a:p>
            <a:r>
              <a:rPr lang="en-US" sz="800" dirty="0">
                <a:latin typeface="Courier"/>
                <a:cs typeface="Courier"/>
              </a:rPr>
              <a:t>    0.3655</a:t>
            </a:r>
          </a:p>
          <a:p>
            <a:r>
              <a:rPr lang="en-US" sz="800" dirty="0">
                <a:latin typeface="Courier"/>
                <a:cs typeface="Courier"/>
              </a:rPr>
              <a:t>    0.4313</a:t>
            </a:r>
          </a:p>
          <a:p>
            <a:r>
              <a:rPr lang="en-US" sz="800" dirty="0">
                <a:latin typeface="Courier"/>
                <a:cs typeface="Courier"/>
              </a:rPr>
              <a:t>    0.4839</a:t>
            </a:r>
          </a:p>
          <a:p>
            <a:r>
              <a:rPr lang="en-US" sz="800" dirty="0">
                <a:latin typeface="Courier"/>
                <a:cs typeface="Courier"/>
              </a:rPr>
              <a:t>    0.5304</a:t>
            </a:r>
          </a:p>
          <a:p>
            <a:r>
              <a:rPr lang="en-US" sz="800" dirty="0">
                <a:latin typeface="Courier"/>
                <a:cs typeface="Courier"/>
              </a:rPr>
              <a:t>    0.5989</a:t>
            </a:r>
          </a:p>
          <a:p>
            <a:r>
              <a:rPr lang="en-US" sz="800" dirty="0">
                <a:latin typeface="Courier"/>
                <a:cs typeface="Courier"/>
              </a:rPr>
              <a:t>    0.6296</a:t>
            </a:r>
          </a:p>
          <a:p>
            <a:r>
              <a:rPr lang="en-US" sz="800" dirty="0">
                <a:latin typeface="Courier"/>
                <a:cs typeface="Courier"/>
              </a:rPr>
              <a:t>    0.6487</a:t>
            </a:r>
          </a:p>
          <a:p>
            <a:r>
              <a:rPr lang="en-US" sz="800" dirty="0">
                <a:latin typeface="Courier"/>
                <a:cs typeface="Courier"/>
              </a:rPr>
              <a:t>    0.6712</a:t>
            </a:r>
          </a:p>
          <a:p>
            <a:r>
              <a:rPr lang="en-US" sz="800" dirty="0">
                <a:latin typeface="Courier"/>
                <a:cs typeface="Courier"/>
              </a:rPr>
              <a:t>    0.6811</a:t>
            </a:r>
          </a:p>
          <a:p>
            <a:r>
              <a:rPr lang="en-US" sz="800" dirty="0">
                <a:latin typeface="Courier"/>
                <a:cs typeface="Courier"/>
              </a:rPr>
              <a:t>    0.7015</a:t>
            </a:r>
          </a:p>
          <a:p>
            <a:r>
              <a:rPr lang="en-US" sz="800" dirty="0">
                <a:latin typeface="Courier"/>
                <a:cs typeface="Courier"/>
              </a:rPr>
              <a:t>    0.7474</a:t>
            </a:r>
          </a:p>
          <a:p>
            <a:r>
              <a:rPr lang="en-US" sz="800" dirty="0">
                <a:latin typeface="Courier"/>
                <a:cs typeface="Courier"/>
              </a:rPr>
              <a:t>    0.7660</a:t>
            </a:r>
          </a:p>
          <a:p>
            <a:r>
              <a:rPr lang="en-US" sz="800" dirty="0">
                <a:latin typeface="Courier"/>
                <a:cs typeface="Courier"/>
              </a:rPr>
              <a:t>    0.7936</a:t>
            </a:r>
          </a:p>
          <a:p>
            <a:r>
              <a:rPr lang="en-US" sz="800" dirty="0">
                <a:latin typeface="Courier"/>
                <a:cs typeface="Courier"/>
              </a:rPr>
              <a:t>    0.9202</a:t>
            </a:r>
          </a:p>
          <a:p>
            <a:r>
              <a:rPr lang="en-US" sz="800" dirty="0">
                <a:latin typeface="Courier"/>
                <a:cs typeface="Courier"/>
              </a:rPr>
              <a:t>    0.9362</a:t>
            </a:r>
          </a:p>
          <a:p>
            <a:r>
              <a:rPr lang="en-US" sz="800" dirty="0">
                <a:latin typeface="Courier"/>
                <a:cs typeface="Courier"/>
              </a:rPr>
              <a:t>    0.9447</a:t>
            </a:r>
          </a:p>
          <a:p>
            <a:r>
              <a:rPr lang="en-US" sz="800" dirty="0">
                <a:latin typeface="Courier"/>
                <a:cs typeface="Courier"/>
              </a:rPr>
              <a:t>    0.9525</a:t>
            </a:r>
          </a:p>
          <a:p>
            <a:r>
              <a:rPr lang="en-US" sz="800" dirty="0">
                <a:latin typeface="Courier"/>
                <a:cs typeface="Courier"/>
              </a:rPr>
              <a:t>    0.9544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8AA6BB-01FC-A44E-B655-F272893E6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36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82098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073770" y="2373929"/>
            <a:ext cx="1691999" cy="168030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35560" y="764705"/>
            <a:ext cx="51349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KNN: k nearest neighbors (two classes)</a:t>
            </a:r>
          </a:p>
        </p:txBody>
      </p:sp>
      <p:sp>
        <p:nvSpPr>
          <p:cNvPr id="6" name="Oval 5"/>
          <p:cNvSpPr/>
          <p:nvPr/>
        </p:nvSpPr>
        <p:spPr>
          <a:xfrm>
            <a:off x="4556670" y="342900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" name="Oval 6"/>
          <p:cNvSpPr/>
          <p:nvPr/>
        </p:nvSpPr>
        <p:spPr>
          <a:xfrm>
            <a:off x="4484662" y="4005064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" name="Oval 7"/>
          <p:cNvSpPr/>
          <p:nvPr/>
        </p:nvSpPr>
        <p:spPr>
          <a:xfrm>
            <a:off x="4412654" y="3717032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" name="Oval 8"/>
          <p:cNvSpPr/>
          <p:nvPr/>
        </p:nvSpPr>
        <p:spPr>
          <a:xfrm>
            <a:off x="4988718" y="3501008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" name="Oval 9"/>
          <p:cNvSpPr/>
          <p:nvPr/>
        </p:nvSpPr>
        <p:spPr>
          <a:xfrm>
            <a:off x="4772694" y="4365104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4916710" y="3861048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5276750" y="4077072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5204742" y="4653136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5132734" y="4365104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08798" y="414908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5492774" y="5013176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5636790" y="450912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4700686" y="3717032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4484662" y="4653136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4412654" y="4365104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4988718" y="414908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4772694" y="5013176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4916710" y="4725144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42" name="Group 41"/>
          <p:cNvGrpSpPr/>
          <p:nvPr/>
        </p:nvGrpSpPr>
        <p:grpSpPr>
          <a:xfrm rot="2553764">
            <a:off x="5542359" y="2623150"/>
            <a:ext cx="1512168" cy="1800200"/>
            <a:chOff x="4572000" y="3005336"/>
            <a:chExt cx="1512168" cy="1800200"/>
          </a:xfrm>
          <a:solidFill>
            <a:srgbClr val="0000FF"/>
          </a:solidFill>
        </p:grpSpPr>
        <p:sp>
          <p:nvSpPr>
            <p:cNvPr id="24" name="Oval 23"/>
            <p:cNvSpPr/>
            <p:nvPr/>
          </p:nvSpPr>
          <p:spPr>
            <a:xfrm>
              <a:off x="4716016" y="300533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5" name="Oval 24"/>
            <p:cNvSpPr/>
            <p:nvPr/>
          </p:nvSpPr>
          <p:spPr>
            <a:xfrm>
              <a:off x="4644008" y="358140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6" name="Oval 25"/>
            <p:cNvSpPr/>
            <p:nvPr/>
          </p:nvSpPr>
          <p:spPr>
            <a:xfrm>
              <a:off x="4572000" y="329336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7" name="Oval 26"/>
            <p:cNvSpPr/>
            <p:nvPr/>
          </p:nvSpPr>
          <p:spPr>
            <a:xfrm>
              <a:off x="5148064" y="307734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8" name="Oval 27"/>
            <p:cNvSpPr/>
            <p:nvPr/>
          </p:nvSpPr>
          <p:spPr>
            <a:xfrm>
              <a:off x="493204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9" name="Oval 28"/>
            <p:cNvSpPr/>
            <p:nvPr/>
          </p:nvSpPr>
          <p:spPr>
            <a:xfrm>
              <a:off x="5076056" y="343738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0" name="Oval 29"/>
            <p:cNvSpPr/>
            <p:nvPr/>
          </p:nvSpPr>
          <p:spPr>
            <a:xfrm>
              <a:off x="5436096" y="365340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1" name="Oval 30"/>
            <p:cNvSpPr/>
            <p:nvPr/>
          </p:nvSpPr>
          <p:spPr>
            <a:xfrm>
              <a:off x="5364088" y="422947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2" name="Oval 31"/>
            <p:cNvSpPr/>
            <p:nvPr/>
          </p:nvSpPr>
          <p:spPr>
            <a:xfrm>
              <a:off x="529208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3" name="Oval 32"/>
            <p:cNvSpPr/>
            <p:nvPr/>
          </p:nvSpPr>
          <p:spPr>
            <a:xfrm>
              <a:off x="5868144" y="372541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4" name="Oval 33"/>
            <p:cNvSpPr/>
            <p:nvPr/>
          </p:nvSpPr>
          <p:spPr>
            <a:xfrm>
              <a:off x="5652120" y="458951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5" name="Oval 34"/>
            <p:cNvSpPr/>
            <p:nvPr/>
          </p:nvSpPr>
          <p:spPr>
            <a:xfrm>
              <a:off x="5796136" y="408545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6" name="Oval 35"/>
            <p:cNvSpPr/>
            <p:nvPr/>
          </p:nvSpPr>
          <p:spPr>
            <a:xfrm>
              <a:off x="4860032" y="329336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7" name="Oval 36"/>
            <p:cNvSpPr/>
            <p:nvPr/>
          </p:nvSpPr>
          <p:spPr>
            <a:xfrm>
              <a:off x="4644008" y="422947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8" name="Oval 37"/>
            <p:cNvSpPr/>
            <p:nvPr/>
          </p:nvSpPr>
          <p:spPr>
            <a:xfrm>
              <a:off x="457200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9" name="Oval 38"/>
            <p:cNvSpPr/>
            <p:nvPr/>
          </p:nvSpPr>
          <p:spPr>
            <a:xfrm>
              <a:off x="5148064" y="372541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40" name="Oval 39"/>
            <p:cNvSpPr/>
            <p:nvPr/>
          </p:nvSpPr>
          <p:spPr>
            <a:xfrm>
              <a:off x="4932040" y="458951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41" name="Oval 40"/>
            <p:cNvSpPr/>
            <p:nvPr/>
          </p:nvSpPr>
          <p:spPr>
            <a:xfrm>
              <a:off x="5076056" y="430148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44" name="Oval 43"/>
          <p:cNvSpPr/>
          <p:nvPr/>
        </p:nvSpPr>
        <p:spPr>
          <a:xfrm>
            <a:off x="4799856" y="3068960"/>
            <a:ext cx="216024" cy="216024"/>
          </a:xfrm>
          <a:prstGeom prst="ellipse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46" name="Straight Connector 45"/>
          <p:cNvCxnSpPr/>
          <p:nvPr/>
        </p:nvCxnSpPr>
        <p:spPr>
          <a:xfrm flipH="1">
            <a:off x="4668968" y="3172410"/>
            <a:ext cx="243186" cy="360040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4912154" y="3172410"/>
            <a:ext cx="188862" cy="432048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4912155" y="3172411"/>
            <a:ext cx="669453" cy="274947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4912155" y="3172411"/>
            <a:ext cx="811241" cy="14095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 flipH="1">
            <a:off x="4812984" y="3172410"/>
            <a:ext cx="99170" cy="648072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H="1">
            <a:off x="4524952" y="3172410"/>
            <a:ext cx="387202" cy="648072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>
            <a:off x="4912154" y="3172410"/>
            <a:ext cx="116854" cy="792088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7680176" y="1580601"/>
            <a:ext cx="224587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KNN Algorithm</a:t>
            </a:r>
          </a:p>
          <a:p>
            <a:endParaRPr lang="en-US" dirty="0">
              <a:latin typeface="Gill Sans MT" panose="020B0502020104020203" pitchFamily="34" charset="77"/>
              <a:cs typeface="Trebuchet MS"/>
            </a:endParaRPr>
          </a:p>
          <a:p>
            <a:pPr marL="342900" indent="-342900">
              <a:buAutoNum type="arabicPeriod"/>
            </a:pPr>
            <a:r>
              <a:rPr lang="en-US" dirty="0">
                <a:latin typeface="Gill Sans MT" panose="020B0502020104020203" pitchFamily="34" charset="77"/>
                <a:cs typeface="Trebuchet MS"/>
              </a:rPr>
              <a:t>Distances</a:t>
            </a:r>
          </a:p>
          <a:p>
            <a:pPr marL="342900" indent="-342900">
              <a:buAutoNum type="arabicPeriod"/>
            </a:pPr>
            <a:r>
              <a:rPr lang="en-US" dirty="0">
                <a:latin typeface="Gill Sans MT" panose="020B0502020104020203" pitchFamily="34" charset="77"/>
                <a:cs typeface="Trebuchet MS"/>
              </a:rPr>
              <a:t>Sort</a:t>
            </a:r>
          </a:p>
          <a:p>
            <a:pPr marL="342900" indent="-342900">
              <a:buAutoNum type="arabicPeriod"/>
            </a:pPr>
            <a:r>
              <a:rPr lang="en-US" dirty="0">
                <a:latin typeface="Gill Sans MT" panose="020B0502020104020203" pitchFamily="34" charset="77"/>
                <a:cs typeface="Trebuchet MS"/>
              </a:rPr>
              <a:t>Take the k nearest</a:t>
            </a:r>
          </a:p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    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  <a:cs typeface="Trebuchet MS"/>
              </a:rPr>
              <a:t>(example k=7)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991544" y="2132857"/>
            <a:ext cx="1653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Testing data</a:t>
            </a:r>
          </a:p>
        </p:txBody>
      </p:sp>
      <p:cxnSp>
        <p:nvCxnSpPr>
          <p:cNvPr id="85" name="Straight Arrow Connector 84"/>
          <p:cNvCxnSpPr>
            <a:stCxn id="82" idx="3"/>
          </p:cNvCxnSpPr>
          <p:nvPr/>
        </p:nvCxnSpPr>
        <p:spPr>
          <a:xfrm>
            <a:off x="3644882" y="2363690"/>
            <a:ext cx="1186610" cy="73690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808287" y="2256653"/>
            <a:ext cx="800319" cy="37856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>
                <a:latin typeface="Courier"/>
                <a:cs typeface="Courier"/>
              </a:rPr>
              <a:t>    0.0115</a:t>
            </a:r>
          </a:p>
          <a:p>
            <a:r>
              <a:rPr lang="en-US" sz="800" b="1" dirty="0">
                <a:latin typeface="Courier"/>
                <a:cs typeface="Courier"/>
              </a:rPr>
              <a:t>    0.0226</a:t>
            </a:r>
          </a:p>
          <a:p>
            <a:r>
              <a:rPr lang="en-US" sz="800" b="1" dirty="0">
                <a:latin typeface="Courier"/>
                <a:cs typeface="Courier"/>
              </a:rPr>
              <a:t>    0.0508</a:t>
            </a:r>
          </a:p>
          <a:p>
            <a:r>
              <a:rPr lang="en-US" sz="800" b="1" dirty="0">
                <a:latin typeface="Courier"/>
                <a:cs typeface="Courier"/>
              </a:rPr>
              <a:t>    0.0569</a:t>
            </a:r>
          </a:p>
          <a:p>
            <a:r>
              <a:rPr lang="en-US" sz="800" b="1" dirty="0">
                <a:latin typeface="Courier"/>
                <a:cs typeface="Courier"/>
              </a:rPr>
              <a:t>    0.0705</a:t>
            </a:r>
          </a:p>
          <a:p>
            <a:r>
              <a:rPr lang="en-US" sz="800" b="1" dirty="0">
                <a:latin typeface="Courier"/>
                <a:cs typeface="Courier"/>
              </a:rPr>
              <a:t>    0.1090</a:t>
            </a:r>
          </a:p>
          <a:p>
            <a:r>
              <a:rPr lang="en-US" sz="800" b="1" dirty="0">
                <a:latin typeface="Courier"/>
                <a:cs typeface="Courier"/>
              </a:rPr>
              <a:t>    0.1332</a:t>
            </a:r>
          </a:p>
          <a:p>
            <a:r>
              <a:rPr lang="en-US" sz="800" dirty="0">
                <a:latin typeface="Courier"/>
                <a:cs typeface="Courier"/>
              </a:rPr>
              <a:t>    </a:t>
            </a:r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0.1519</a:t>
            </a:r>
          </a:p>
          <a:p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    0.2435</a:t>
            </a:r>
          </a:p>
          <a:p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    0.2880</a:t>
            </a:r>
          </a:p>
          <a:p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    0.3264</a:t>
            </a:r>
          </a:p>
          <a:p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    0.3631</a:t>
            </a:r>
          </a:p>
          <a:p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    0.3655</a:t>
            </a:r>
          </a:p>
          <a:p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    0.4313</a:t>
            </a:r>
          </a:p>
          <a:p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    0.4839</a:t>
            </a:r>
          </a:p>
          <a:p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    0.5304</a:t>
            </a:r>
          </a:p>
          <a:p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    0.5989</a:t>
            </a:r>
          </a:p>
          <a:p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    0.6296</a:t>
            </a:r>
          </a:p>
          <a:p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    0.6487</a:t>
            </a:r>
          </a:p>
          <a:p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    0.6712</a:t>
            </a:r>
          </a:p>
          <a:p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    0.6811</a:t>
            </a:r>
          </a:p>
          <a:p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    0.7015</a:t>
            </a:r>
          </a:p>
          <a:p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    0.7474</a:t>
            </a:r>
          </a:p>
          <a:p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    0.7660</a:t>
            </a:r>
          </a:p>
          <a:p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    0.7936</a:t>
            </a:r>
          </a:p>
          <a:p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    0.9202</a:t>
            </a:r>
          </a:p>
          <a:p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    0.9362</a:t>
            </a:r>
          </a:p>
          <a:p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    0.9447</a:t>
            </a:r>
          </a:p>
          <a:p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    0.9525</a:t>
            </a:r>
          </a:p>
          <a:p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    0.9544</a:t>
            </a:r>
          </a:p>
        </p:txBody>
      </p:sp>
    </p:spTree>
    <p:extLst>
      <p:ext uri="{BB962C8B-B14F-4D97-AF65-F5344CB8AC3E}">
        <p14:creationId xmlns:p14="http://schemas.microsoft.com/office/powerpoint/2010/main" val="3956363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073770" y="2373929"/>
            <a:ext cx="1691999" cy="168030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35560" y="764705"/>
            <a:ext cx="51349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KNN: k nearest neighbors (two classes)</a:t>
            </a:r>
          </a:p>
        </p:txBody>
      </p:sp>
      <p:sp>
        <p:nvSpPr>
          <p:cNvPr id="6" name="Oval 5"/>
          <p:cNvSpPr/>
          <p:nvPr/>
        </p:nvSpPr>
        <p:spPr>
          <a:xfrm>
            <a:off x="4556670" y="342900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" name="Oval 7"/>
          <p:cNvSpPr/>
          <p:nvPr/>
        </p:nvSpPr>
        <p:spPr>
          <a:xfrm>
            <a:off x="4412654" y="3717032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" name="Oval 8"/>
          <p:cNvSpPr/>
          <p:nvPr/>
        </p:nvSpPr>
        <p:spPr>
          <a:xfrm>
            <a:off x="4988718" y="3501008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4916710" y="3861048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4700686" y="3717032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7" name="Oval 36"/>
          <p:cNvSpPr/>
          <p:nvPr/>
        </p:nvSpPr>
        <p:spPr>
          <a:xfrm rot="2553764">
            <a:off x="5473902" y="3343809"/>
            <a:ext cx="216024" cy="216024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8" name="Oval 37"/>
          <p:cNvSpPr/>
          <p:nvPr/>
        </p:nvSpPr>
        <p:spPr>
          <a:xfrm rot="2553764">
            <a:off x="5615690" y="3082957"/>
            <a:ext cx="216024" cy="216024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4799856" y="3068960"/>
            <a:ext cx="216024" cy="216024"/>
          </a:xfrm>
          <a:prstGeom prst="ellipse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46" name="Straight Connector 45"/>
          <p:cNvCxnSpPr/>
          <p:nvPr/>
        </p:nvCxnSpPr>
        <p:spPr>
          <a:xfrm flipH="1">
            <a:off x="4668968" y="3172410"/>
            <a:ext cx="243186" cy="360040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4912154" y="3172410"/>
            <a:ext cx="188862" cy="432048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4912155" y="3172411"/>
            <a:ext cx="669453" cy="274947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4912155" y="3172411"/>
            <a:ext cx="811241" cy="14095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 flipH="1">
            <a:off x="4812984" y="3172410"/>
            <a:ext cx="99170" cy="648072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H="1">
            <a:off x="4524952" y="3172410"/>
            <a:ext cx="387202" cy="648072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>
            <a:off x="4912154" y="3172410"/>
            <a:ext cx="116854" cy="792088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7680176" y="1580600"/>
            <a:ext cx="224587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KNN Algorithm</a:t>
            </a:r>
          </a:p>
          <a:p>
            <a:endParaRPr lang="en-US" dirty="0">
              <a:latin typeface="Gill Sans MT" panose="020B0502020104020203" pitchFamily="34" charset="77"/>
              <a:cs typeface="Trebuchet MS"/>
            </a:endParaRPr>
          </a:p>
          <a:p>
            <a:pPr marL="342900" indent="-342900">
              <a:buAutoNum type="arabicPeriod"/>
            </a:pPr>
            <a:r>
              <a:rPr lang="en-US" dirty="0">
                <a:latin typeface="Gill Sans MT" panose="020B0502020104020203" pitchFamily="34" charset="77"/>
                <a:cs typeface="Trebuchet MS"/>
              </a:rPr>
              <a:t>Distances</a:t>
            </a:r>
          </a:p>
          <a:p>
            <a:pPr marL="342900" indent="-342900">
              <a:buAutoNum type="arabicPeriod"/>
            </a:pPr>
            <a:r>
              <a:rPr lang="en-US" dirty="0">
                <a:latin typeface="Gill Sans MT" panose="020B0502020104020203" pitchFamily="34" charset="77"/>
                <a:cs typeface="Trebuchet MS"/>
              </a:rPr>
              <a:t>Sort</a:t>
            </a:r>
          </a:p>
          <a:p>
            <a:pPr marL="342900" indent="-342900">
              <a:buAutoNum type="arabicPeriod"/>
            </a:pPr>
            <a:r>
              <a:rPr lang="en-US" dirty="0">
                <a:latin typeface="Gill Sans MT" panose="020B0502020104020203" pitchFamily="34" charset="77"/>
                <a:cs typeface="Trebuchet MS"/>
              </a:rPr>
              <a:t>Take the k nearest</a:t>
            </a:r>
          </a:p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    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  <a:cs typeface="Trebuchet MS"/>
              </a:rPr>
              <a:t>(example k=7)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dirty="0">
                <a:latin typeface="Gill Sans MT" panose="020B0502020104020203" pitchFamily="34" charset="77"/>
                <a:cs typeface="Trebuchet MS"/>
              </a:rPr>
              <a:t>Majority vote</a:t>
            </a:r>
          </a:p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 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3" name="Oval 2"/>
          <p:cNvSpPr/>
          <p:nvPr/>
        </p:nvSpPr>
        <p:spPr>
          <a:xfrm>
            <a:off x="4347308" y="3321538"/>
            <a:ext cx="914400" cy="914400"/>
          </a:xfrm>
          <a:prstGeom prst="ellipse">
            <a:avLst/>
          </a:prstGeom>
          <a:solidFill>
            <a:srgbClr val="FF0000">
              <a:alpha val="3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2" name="Oval 51"/>
          <p:cNvSpPr/>
          <p:nvPr/>
        </p:nvSpPr>
        <p:spPr>
          <a:xfrm>
            <a:off x="5339863" y="2999154"/>
            <a:ext cx="648676" cy="654538"/>
          </a:xfrm>
          <a:prstGeom prst="ellipse">
            <a:avLst/>
          </a:prstGeom>
          <a:solidFill>
            <a:srgbClr val="3366FF">
              <a:alpha val="3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015163" y="4269154"/>
            <a:ext cx="678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5 red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33475" y="3259016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2 blue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37052" y="4271115"/>
            <a:ext cx="2147383" cy="369332"/>
          </a:xfrm>
          <a:prstGeom prst="rect">
            <a:avLst/>
          </a:prstGeom>
          <a:noFill/>
          <a:ln>
            <a:solidFill>
              <a:schemeClr val="accent4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Testing sample is </a:t>
            </a:r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red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991544" y="2132857"/>
            <a:ext cx="1653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Testing data</a:t>
            </a:r>
          </a:p>
        </p:txBody>
      </p:sp>
      <p:cxnSp>
        <p:nvCxnSpPr>
          <p:cNvPr id="65" name="Straight Arrow Connector 64"/>
          <p:cNvCxnSpPr>
            <a:stCxn id="64" idx="3"/>
          </p:cNvCxnSpPr>
          <p:nvPr/>
        </p:nvCxnSpPr>
        <p:spPr>
          <a:xfrm>
            <a:off x="3644882" y="2363690"/>
            <a:ext cx="1186610" cy="73690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808287" y="2256653"/>
            <a:ext cx="800319" cy="37856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>
                <a:latin typeface="Courier"/>
                <a:cs typeface="Courier"/>
              </a:rPr>
              <a:t>    </a:t>
            </a:r>
            <a:r>
              <a:rPr lang="en-US" sz="800" b="1" dirty="0">
                <a:solidFill>
                  <a:srgbClr val="FF0000"/>
                </a:solidFill>
                <a:latin typeface="Courier"/>
                <a:cs typeface="Courier"/>
              </a:rPr>
              <a:t>0.0115</a:t>
            </a:r>
          </a:p>
          <a:p>
            <a:r>
              <a:rPr lang="en-US" sz="800" b="1" dirty="0">
                <a:solidFill>
                  <a:srgbClr val="FF0000"/>
                </a:solidFill>
                <a:latin typeface="Courier"/>
                <a:cs typeface="Courier"/>
              </a:rPr>
              <a:t>    0.0226</a:t>
            </a:r>
          </a:p>
          <a:p>
            <a:r>
              <a:rPr lang="en-US" sz="800" b="1" dirty="0">
                <a:solidFill>
                  <a:srgbClr val="FF0000"/>
                </a:solidFill>
                <a:latin typeface="Courier"/>
                <a:cs typeface="Courier"/>
              </a:rPr>
              <a:t>    </a:t>
            </a:r>
            <a:r>
              <a:rPr lang="en-US" sz="800" b="1" dirty="0">
                <a:solidFill>
                  <a:srgbClr val="0000FF"/>
                </a:solidFill>
                <a:latin typeface="Courier"/>
                <a:cs typeface="Courier"/>
              </a:rPr>
              <a:t>0.0508</a:t>
            </a:r>
          </a:p>
          <a:p>
            <a:r>
              <a:rPr lang="en-US" sz="800" b="1" dirty="0">
                <a:solidFill>
                  <a:srgbClr val="0000FF"/>
                </a:solidFill>
                <a:latin typeface="Courier"/>
                <a:cs typeface="Courier"/>
              </a:rPr>
              <a:t>    </a:t>
            </a:r>
            <a:r>
              <a:rPr lang="en-US" sz="800" b="1" dirty="0">
                <a:solidFill>
                  <a:srgbClr val="FF0000"/>
                </a:solidFill>
                <a:latin typeface="Courier"/>
                <a:cs typeface="Courier"/>
              </a:rPr>
              <a:t>0.0569</a:t>
            </a:r>
          </a:p>
          <a:p>
            <a:r>
              <a:rPr lang="en-US" sz="800" b="1" dirty="0">
                <a:solidFill>
                  <a:srgbClr val="FF0000"/>
                </a:solidFill>
                <a:latin typeface="Courier"/>
                <a:cs typeface="Courier"/>
              </a:rPr>
              <a:t>    </a:t>
            </a:r>
            <a:r>
              <a:rPr lang="en-US" sz="800" b="1" dirty="0">
                <a:solidFill>
                  <a:srgbClr val="0000FF"/>
                </a:solidFill>
                <a:latin typeface="Courier"/>
                <a:cs typeface="Courier"/>
              </a:rPr>
              <a:t>0.0705</a:t>
            </a:r>
          </a:p>
          <a:p>
            <a:r>
              <a:rPr lang="en-US" sz="800" b="1" dirty="0">
                <a:solidFill>
                  <a:srgbClr val="0000FF"/>
                </a:solidFill>
                <a:latin typeface="Courier"/>
                <a:cs typeface="Courier"/>
              </a:rPr>
              <a:t>    </a:t>
            </a:r>
            <a:r>
              <a:rPr lang="en-US" sz="800" b="1" dirty="0">
                <a:solidFill>
                  <a:srgbClr val="FF0000"/>
                </a:solidFill>
                <a:latin typeface="Courier"/>
                <a:cs typeface="Courier"/>
              </a:rPr>
              <a:t>0.1090</a:t>
            </a:r>
          </a:p>
          <a:p>
            <a:r>
              <a:rPr lang="en-US" sz="800" b="1" dirty="0">
                <a:solidFill>
                  <a:srgbClr val="FF0000"/>
                </a:solidFill>
                <a:latin typeface="Courier"/>
                <a:cs typeface="Courier"/>
              </a:rPr>
              <a:t>    0.1332</a:t>
            </a:r>
          </a:p>
          <a:p>
            <a:r>
              <a:rPr lang="en-US" sz="800" dirty="0">
                <a:solidFill>
                  <a:srgbClr val="FF0000"/>
                </a:solidFill>
                <a:latin typeface="Courier"/>
                <a:cs typeface="Courier"/>
              </a:rPr>
              <a:t>    </a:t>
            </a:r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0.1519</a:t>
            </a:r>
          </a:p>
          <a:p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    0.2435</a:t>
            </a:r>
          </a:p>
          <a:p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    0.2880</a:t>
            </a:r>
          </a:p>
          <a:p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    0.3264</a:t>
            </a:r>
          </a:p>
          <a:p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    0.3631</a:t>
            </a:r>
          </a:p>
          <a:p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    0.3655</a:t>
            </a:r>
          </a:p>
          <a:p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    0.4313</a:t>
            </a:r>
          </a:p>
          <a:p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    0.4839</a:t>
            </a:r>
          </a:p>
          <a:p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    0.5304</a:t>
            </a:r>
          </a:p>
          <a:p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    0.5989</a:t>
            </a:r>
          </a:p>
          <a:p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    0.6296</a:t>
            </a:r>
          </a:p>
          <a:p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    0.6487</a:t>
            </a:r>
          </a:p>
          <a:p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    0.6712</a:t>
            </a:r>
          </a:p>
          <a:p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    0.6811</a:t>
            </a:r>
          </a:p>
          <a:p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    0.7015</a:t>
            </a:r>
          </a:p>
          <a:p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    0.7474</a:t>
            </a:r>
          </a:p>
          <a:p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    0.7660</a:t>
            </a:r>
          </a:p>
          <a:p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    0.7936</a:t>
            </a:r>
          </a:p>
          <a:p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    0.9202</a:t>
            </a:r>
          </a:p>
          <a:p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    0.9362</a:t>
            </a:r>
          </a:p>
          <a:p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    0.9447</a:t>
            </a:r>
          </a:p>
          <a:p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    0.9525</a:t>
            </a:r>
          </a:p>
          <a:p>
            <a:r>
              <a:rPr lang="en-US" sz="800" dirty="0">
                <a:solidFill>
                  <a:schemeClr val="bg2">
                    <a:lumMod val="60000"/>
                    <a:lumOff val="40000"/>
                  </a:schemeClr>
                </a:solidFill>
                <a:latin typeface="Courier"/>
                <a:cs typeface="Courier"/>
              </a:rPr>
              <a:t>    0.9544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12F3343-443E-6159-A259-9BA3D1B90029}"/>
              </a:ext>
            </a:extLst>
          </p:cNvPr>
          <p:cNvCxnSpPr>
            <a:stCxn id="53" idx="2"/>
            <a:endCxn id="54" idx="0"/>
          </p:cNvCxnSpPr>
          <p:nvPr/>
        </p:nvCxnSpPr>
        <p:spPr>
          <a:xfrm flipH="1">
            <a:off x="6410744" y="3628348"/>
            <a:ext cx="1200" cy="6427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6E37F5B-1812-17C9-0C0F-81BBD6182040}"/>
              </a:ext>
            </a:extLst>
          </p:cNvPr>
          <p:cNvCxnSpPr>
            <a:cxnSpLocks/>
            <a:stCxn id="5" idx="3"/>
            <a:endCxn id="54" idx="1"/>
          </p:cNvCxnSpPr>
          <p:nvPr/>
        </p:nvCxnSpPr>
        <p:spPr>
          <a:xfrm>
            <a:off x="4693747" y="4453820"/>
            <a:ext cx="643305" cy="19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32099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073770" y="2373929"/>
            <a:ext cx="1691999" cy="168030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35560" y="764705"/>
            <a:ext cx="51349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KNN: k nearest neighbors (two classes)</a:t>
            </a:r>
          </a:p>
        </p:txBody>
      </p:sp>
      <p:sp>
        <p:nvSpPr>
          <p:cNvPr id="6" name="Oval 5"/>
          <p:cNvSpPr/>
          <p:nvPr/>
        </p:nvSpPr>
        <p:spPr>
          <a:xfrm>
            <a:off x="4556670" y="342900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" name="Oval 7"/>
          <p:cNvSpPr/>
          <p:nvPr/>
        </p:nvSpPr>
        <p:spPr>
          <a:xfrm>
            <a:off x="4412654" y="3717032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" name="Oval 8"/>
          <p:cNvSpPr/>
          <p:nvPr/>
        </p:nvSpPr>
        <p:spPr>
          <a:xfrm>
            <a:off x="4988718" y="3501008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4916710" y="3861048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4700686" y="3717032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7" name="Oval 36"/>
          <p:cNvSpPr/>
          <p:nvPr/>
        </p:nvSpPr>
        <p:spPr>
          <a:xfrm rot="2553764">
            <a:off x="5473902" y="3343809"/>
            <a:ext cx="216024" cy="216024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8" name="Oval 37"/>
          <p:cNvSpPr/>
          <p:nvPr/>
        </p:nvSpPr>
        <p:spPr>
          <a:xfrm rot="2553764">
            <a:off x="5615690" y="3082957"/>
            <a:ext cx="216024" cy="216024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4799856" y="306896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46" name="Straight Connector 45"/>
          <p:cNvCxnSpPr/>
          <p:nvPr/>
        </p:nvCxnSpPr>
        <p:spPr>
          <a:xfrm flipH="1">
            <a:off x="4668968" y="3172410"/>
            <a:ext cx="243186" cy="360040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4912154" y="3172410"/>
            <a:ext cx="188862" cy="432048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4912155" y="3172411"/>
            <a:ext cx="669453" cy="274947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4912155" y="3172411"/>
            <a:ext cx="811241" cy="14095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 flipH="1">
            <a:off x="4812984" y="3172410"/>
            <a:ext cx="99170" cy="648072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H="1">
            <a:off x="4524952" y="3172410"/>
            <a:ext cx="387202" cy="648072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>
            <a:off x="4912154" y="3172410"/>
            <a:ext cx="116854" cy="792088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7680176" y="1580600"/>
            <a:ext cx="224587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KNN Algorithm</a:t>
            </a:r>
          </a:p>
          <a:p>
            <a:endParaRPr lang="en-US" dirty="0">
              <a:latin typeface="Gill Sans MT" panose="020B0502020104020203" pitchFamily="34" charset="77"/>
              <a:cs typeface="Trebuchet MS"/>
            </a:endParaRPr>
          </a:p>
          <a:p>
            <a:pPr marL="342900" indent="-342900">
              <a:buAutoNum type="arabicPeriod"/>
            </a:pPr>
            <a:r>
              <a:rPr lang="en-US" dirty="0">
                <a:latin typeface="Gill Sans MT" panose="020B0502020104020203" pitchFamily="34" charset="77"/>
                <a:cs typeface="Trebuchet MS"/>
              </a:rPr>
              <a:t>Distances</a:t>
            </a:r>
          </a:p>
          <a:p>
            <a:pPr marL="342900" indent="-342900">
              <a:buAutoNum type="arabicPeriod"/>
            </a:pPr>
            <a:r>
              <a:rPr lang="en-US" dirty="0">
                <a:latin typeface="Gill Sans MT" panose="020B0502020104020203" pitchFamily="34" charset="77"/>
                <a:cs typeface="Trebuchet MS"/>
              </a:rPr>
              <a:t>Sort</a:t>
            </a:r>
          </a:p>
          <a:p>
            <a:pPr marL="342900" indent="-342900">
              <a:buAutoNum type="arabicPeriod"/>
            </a:pPr>
            <a:r>
              <a:rPr lang="en-US" dirty="0">
                <a:latin typeface="Gill Sans MT" panose="020B0502020104020203" pitchFamily="34" charset="77"/>
                <a:cs typeface="Trebuchet MS"/>
              </a:rPr>
              <a:t>Take the k nearest</a:t>
            </a:r>
          </a:p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    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  <a:cs typeface="Trebuchet MS"/>
              </a:rPr>
              <a:t>(example k=7)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dirty="0">
                <a:latin typeface="Gill Sans MT" panose="020B0502020104020203" pitchFamily="34" charset="77"/>
                <a:cs typeface="Trebuchet MS"/>
              </a:rPr>
              <a:t>Majority vote</a:t>
            </a:r>
          </a:p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 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3" name="Oval 2"/>
          <p:cNvSpPr/>
          <p:nvPr/>
        </p:nvSpPr>
        <p:spPr>
          <a:xfrm>
            <a:off x="4347308" y="3321538"/>
            <a:ext cx="914400" cy="914400"/>
          </a:xfrm>
          <a:prstGeom prst="ellipse">
            <a:avLst/>
          </a:prstGeom>
          <a:solidFill>
            <a:srgbClr val="FF0000">
              <a:alpha val="3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2" name="Oval 51"/>
          <p:cNvSpPr/>
          <p:nvPr/>
        </p:nvSpPr>
        <p:spPr>
          <a:xfrm>
            <a:off x="5339863" y="2999154"/>
            <a:ext cx="648676" cy="654538"/>
          </a:xfrm>
          <a:prstGeom prst="ellipse">
            <a:avLst/>
          </a:prstGeom>
          <a:solidFill>
            <a:srgbClr val="3366FF">
              <a:alpha val="3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015163" y="4269154"/>
            <a:ext cx="678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5 red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33475" y="3259016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2 blue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991544" y="2132857"/>
            <a:ext cx="1653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Testing data</a:t>
            </a:r>
          </a:p>
        </p:txBody>
      </p:sp>
      <p:cxnSp>
        <p:nvCxnSpPr>
          <p:cNvPr id="65" name="Straight Arrow Connector 64"/>
          <p:cNvCxnSpPr>
            <a:stCxn id="64" idx="3"/>
          </p:cNvCxnSpPr>
          <p:nvPr/>
        </p:nvCxnSpPr>
        <p:spPr>
          <a:xfrm>
            <a:off x="3644882" y="2363690"/>
            <a:ext cx="1186610" cy="73690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4982B1B-18FA-7272-82E8-244E6D9B7792}"/>
              </a:ext>
            </a:extLst>
          </p:cNvPr>
          <p:cNvSpPr txBox="1"/>
          <p:nvPr/>
        </p:nvSpPr>
        <p:spPr>
          <a:xfrm>
            <a:off x="5337052" y="4271115"/>
            <a:ext cx="2147383" cy="369332"/>
          </a:xfrm>
          <a:prstGeom prst="rect">
            <a:avLst/>
          </a:prstGeom>
          <a:noFill/>
          <a:ln>
            <a:solidFill>
              <a:schemeClr val="accent4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Testing sample is </a:t>
            </a:r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red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59F947A-1AA6-7297-0600-C700C10C764F}"/>
              </a:ext>
            </a:extLst>
          </p:cNvPr>
          <p:cNvCxnSpPr>
            <a:endCxn id="10" idx="0"/>
          </p:cNvCxnSpPr>
          <p:nvPr/>
        </p:nvCxnSpPr>
        <p:spPr>
          <a:xfrm flipH="1">
            <a:off x="6410744" y="3628348"/>
            <a:ext cx="1200" cy="6427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CD1EF73-FABC-452E-6166-443D0A480E26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4693747" y="4453820"/>
            <a:ext cx="643305" cy="19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53076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val 26"/>
          <p:cNvSpPr/>
          <p:nvPr/>
        </p:nvSpPr>
        <p:spPr>
          <a:xfrm>
            <a:off x="4562535" y="3434865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4490527" y="4010929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4418519" y="3722897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4994583" y="3506873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4778559" y="4370969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4922575" y="3866913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5282615" y="4082937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5210607" y="4659001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5138599" y="4370969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5714663" y="4154945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5498639" y="5019041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5642655" y="4514985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4706551" y="3722897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4490527" y="4659001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4418519" y="4370969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5" name="Oval 54"/>
          <p:cNvSpPr/>
          <p:nvPr/>
        </p:nvSpPr>
        <p:spPr>
          <a:xfrm>
            <a:off x="4994583" y="4154945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6" name="Oval 55"/>
          <p:cNvSpPr/>
          <p:nvPr/>
        </p:nvSpPr>
        <p:spPr>
          <a:xfrm>
            <a:off x="4778559" y="5019041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4922575" y="4731009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59" name="Group 58"/>
          <p:cNvGrpSpPr/>
          <p:nvPr/>
        </p:nvGrpSpPr>
        <p:grpSpPr>
          <a:xfrm rot="2553764">
            <a:off x="5548224" y="2629015"/>
            <a:ext cx="1512168" cy="1800200"/>
            <a:chOff x="4572000" y="3005336"/>
            <a:chExt cx="1512168" cy="1800200"/>
          </a:xfrm>
          <a:solidFill>
            <a:srgbClr val="0000FF"/>
          </a:solidFill>
        </p:grpSpPr>
        <p:sp>
          <p:nvSpPr>
            <p:cNvPr id="60" name="Oval 59"/>
            <p:cNvSpPr/>
            <p:nvPr/>
          </p:nvSpPr>
          <p:spPr>
            <a:xfrm>
              <a:off x="4716016" y="300533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1" name="Oval 60"/>
            <p:cNvSpPr/>
            <p:nvPr/>
          </p:nvSpPr>
          <p:spPr>
            <a:xfrm>
              <a:off x="4644008" y="358140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3" name="Oval 62"/>
            <p:cNvSpPr/>
            <p:nvPr/>
          </p:nvSpPr>
          <p:spPr>
            <a:xfrm>
              <a:off x="4572000" y="329336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4" name="Oval 63"/>
            <p:cNvSpPr/>
            <p:nvPr/>
          </p:nvSpPr>
          <p:spPr>
            <a:xfrm>
              <a:off x="5148064" y="307734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5" name="Oval 64"/>
            <p:cNvSpPr/>
            <p:nvPr/>
          </p:nvSpPr>
          <p:spPr>
            <a:xfrm>
              <a:off x="493204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6" name="Oval 65"/>
            <p:cNvSpPr/>
            <p:nvPr/>
          </p:nvSpPr>
          <p:spPr>
            <a:xfrm>
              <a:off x="5076056" y="343738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7" name="Oval 66"/>
            <p:cNvSpPr/>
            <p:nvPr/>
          </p:nvSpPr>
          <p:spPr>
            <a:xfrm>
              <a:off x="5436096" y="365340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8" name="Oval 67"/>
            <p:cNvSpPr/>
            <p:nvPr/>
          </p:nvSpPr>
          <p:spPr>
            <a:xfrm>
              <a:off x="5364088" y="422947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9" name="Oval 68"/>
            <p:cNvSpPr/>
            <p:nvPr/>
          </p:nvSpPr>
          <p:spPr>
            <a:xfrm>
              <a:off x="529208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70" name="Oval 69"/>
            <p:cNvSpPr/>
            <p:nvPr/>
          </p:nvSpPr>
          <p:spPr>
            <a:xfrm>
              <a:off x="5868144" y="372541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71" name="Oval 70"/>
            <p:cNvSpPr/>
            <p:nvPr/>
          </p:nvSpPr>
          <p:spPr>
            <a:xfrm>
              <a:off x="5652120" y="458951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72" name="Oval 71"/>
            <p:cNvSpPr/>
            <p:nvPr/>
          </p:nvSpPr>
          <p:spPr>
            <a:xfrm>
              <a:off x="5796136" y="408545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73" name="Oval 72"/>
            <p:cNvSpPr/>
            <p:nvPr/>
          </p:nvSpPr>
          <p:spPr>
            <a:xfrm>
              <a:off x="4860032" y="329336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74" name="Oval 73"/>
            <p:cNvSpPr/>
            <p:nvPr/>
          </p:nvSpPr>
          <p:spPr>
            <a:xfrm>
              <a:off x="4644008" y="422947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75" name="Oval 74"/>
            <p:cNvSpPr/>
            <p:nvPr/>
          </p:nvSpPr>
          <p:spPr>
            <a:xfrm>
              <a:off x="457200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76" name="Oval 75"/>
            <p:cNvSpPr/>
            <p:nvPr/>
          </p:nvSpPr>
          <p:spPr>
            <a:xfrm>
              <a:off x="5148064" y="372541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77" name="Oval 76"/>
            <p:cNvSpPr/>
            <p:nvPr/>
          </p:nvSpPr>
          <p:spPr>
            <a:xfrm>
              <a:off x="4932040" y="458951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78" name="Oval 77"/>
            <p:cNvSpPr/>
            <p:nvPr/>
          </p:nvSpPr>
          <p:spPr>
            <a:xfrm>
              <a:off x="5076056" y="430148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79" name="Oval 78"/>
          <p:cNvSpPr/>
          <p:nvPr/>
        </p:nvSpPr>
        <p:spPr>
          <a:xfrm>
            <a:off x="4805721" y="3074825"/>
            <a:ext cx="216024" cy="216024"/>
          </a:xfrm>
          <a:prstGeom prst="ellipse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Oval 1"/>
          <p:cNvSpPr/>
          <p:nvPr/>
        </p:nvSpPr>
        <p:spPr>
          <a:xfrm>
            <a:off x="4073770" y="2373929"/>
            <a:ext cx="1691999" cy="168030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35560" y="764705"/>
            <a:ext cx="51349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KNN: k nearest neighbors (two classes)</a:t>
            </a:r>
          </a:p>
        </p:txBody>
      </p:sp>
      <p:sp>
        <p:nvSpPr>
          <p:cNvPr id="6" name="Oval 5"/>
          <p:cNvSpPr/>
          <p:nvPr/>
        </p:nvSpPr>
        <p:spPr>
          <a:xfrm>
            <a:off x="4556670" y="342900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" name="Oval 7"/>
          <p:cNvSpPr/>
          <p:nvPr/>
        </p:nvSpPr>
        <p:spPr>
          <a:xfrm>
            <a:off x="4412654" y="3717032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" name="Oval 8"/>
          <p:cNvSpPr/>
          <p:nvPr/>
        </p:nvSpPr>
        <p:spPr>
          <a:xfrm>
            <a:off x="4988718" y="3501008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4916710" y="3861048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4700686" y="3717032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7" name="Oval 36"/>
          <p:cNvSpPr/>
          <p:nvPr/>
        </p:nvSpPr>
        <p:spPr>
          <a:xfrm rot="2553764">
            <a:off x="5473902" y="3343809"/>
            <a:ext cx="216024" cy="216024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8" name="Oval 37"/>
          <p:cNvSpPr/>
          <p:nvPr/>
        </p:nvSpPr>
        <p:spPr>
          <a:xfrm rot="2553764">
            <a:off x="5615690" y="3082957"/>
            <a:ext cx="216024" cy="216024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4799856" y="306896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46" name="Straight Connector 45"/>
          <p:cNvCxnSpPr/>
          <p:nvPr/>
        </p:nvCxnSpPr>
        <p:spPr>
          <a:xfrm flipH="1">
            <a:off x="4668968" y="3172410"/>
            <a:ext cx="243186" cy="360040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4912154" y="3172410"/>
            <a:ext cx="188862" cy="432048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4912155" y="3172411"/>
            <a:ext cx="669453" cy="274947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4912155" y="3172411"/>
            <a:ext cx="811241" cy="14095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 flipH="1">
            <a:off x="4812984" y="3172410"/>
            <a:ext cx="99170" cy="648072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H="1">
            <a:off x="4524952" y="3172410"/>
            <a:ext cx="387202" cy="648072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>
            <a:off x="4912154" y="3172410"/>
            <a:ext cx="116854" cy="792088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7680176" y="1580600"/>
            <a:ext cx="224587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KNN Algorithm</a:t>
            </a:r>
          </a:p>
          <a:p>
            <a:endParaRPr lang="en-US" dirty="0">
              <a:latin typeface="Gill Sans MT" panose="020B0502020104020203" pitchFamily="34" charset="77"/>
              <a:cs typeface="Trebuchet MS"/>
            </a:endParaRPr>
          </a:p>
          <a:p>
            <a:pPr marL="342900" indent="-342900">
              <a:buAutoNum type="arabicPeriod"/>
            </a:pPr>
            <a:r>
              <a:rPr lang="en-US" dirty="0">
                <a:latin typeface="Gill Sans MT" panose="020B0502020104020203" pitchFamily="34" charset="77"/>
                <a:cs typeface="Trebuchet MS"/>
              </a:rPr>
              <a:t>Distances</a:t>
            </a:r>
          </a:p>
          <a:p>
            <a:pPr marL="342900" indent="-342900">
              <a:buAutoNum type="arabicPeriod"/>
            </a:pPr>
            <a:r>
              <a:rPr lang="en-US" dirty="0">
                <a:latin typeface="Gill Sans MT" panose="020B0502020104020203" pitchFamily="34" charset="77"/>
                <a:cs typeface="Trebuchet MS"/>
              </a:rPr>
              <a:t>Sort</a:t>
            </a:r>
          </a:p>
          <a:p>
            <a:pPr marL="342900" indent="-342900">
              <a:buAutoNum type="arabicPeriod"/>
            </a:pPr>
            <a:r>
              <a:rPr lang="en-US" dirty="0">
                <a:latin typeface="Gill Sans MT" panose="020B0502020104020203" pitchFamily="34" charset="77"/>
                <a:cs typeface="Trebuchet MS"/>
              </a:rPr>
              <a:t>Take the k nearest</a:t>
            </a:r>
          </a:p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     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Gill Sans MT" panose="020B0502020104020203" pitchFamily="34" charset="77"/>
                <a:cs typeface="Trebuchet MS"/>
              </a:rPr>
              <a:t>(example k=7)</a:t>
            </a:r>
          </a:p>
          <a:p>
            <a:pPr marL="342900" indent="-342900">
              <a:buFont typeface="+mj-lt"/>
              <a:buAutoNum type="arabicPeriod" startAt="4"/>
            </a:pPr>
            <a:r>
              <a:rPr lang="en-US" dirty="0">
                <a:latin typeface="Gill Sans MT" panose="020B0502020104020203" pitchFamily="34" charset="77"/>
                <a:cs typeface="Trebuchet MS"/>
              </a:rPr>
              <a:t>Majority vote</a:t>
            </a:r>
          </a:p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 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3" name="Oval 2"/>
          <p:cNvSpPr/>
          <p:nvPr/>
        </p:nvSpPr>
        <p:spPr>
          <a:xfrm>
            <a:off x="4347308" y="3321538"/>
            <a:ext cx="914400" cy="914400"/>
          </a:xfrm>
          <a:prstGeom prst="ellipse">
            <a:avLst/>
          </a:prstGeom>
          <a:solidFill>
            <a:srgbClr val="FF0000">
              <a:alpha val="3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2" name="Oval 51"/>
          <p:cNvSpPr/>
          <p:nvPr/>
        </p:nvSpPr>
        <p:spPr>
          <a:xfrm>
            <a:off x="5339863" y="2999154"/>
            <a:ext cx="648676" cy="654538"/>
          </a:xfrm>
          <a:prstGeom prst="ellipse">
            <a:avLst/>
          </a:prstGeom>
          <a:solidFill>
            <a:srgbClr val="3366FF">
              <a:alpha val="3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1991544" y="2132857"/>
            <a:ext cx="1653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Testing data</a:t>
            </a:r>
          </a:p>
        </p:txBody>
      </p:sp>
      <p:cxnSp>
        <p:nvCxnSpPr>
          <p:cNvPr id="81" name="Straight Arrow Connector 80"/>
          <p:cNvCxnSpPr>
            <a:stCxn id="80" idx="3"/>
          </p:cNvCxnSpPr>
          <p:nvPr/>
        </p:nvCxnSpPr>
        <p:spPr>
          <a:xfrm>
            <a:off x="3644882" y="2363690"/>
            <a:ext cx="1186610" cy="73690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47846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8B6B9441-7CA8-1E43-8973-384474CC04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1410" y="939442"/>
            <a:ext cx="2874726" cy="22392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95D863B-C684-EB44-8A6B-6C8EB194BBAE}"/>
              </a:ext>
            </a:extLst>
          </p:cNvPr>
          <p:cNvSpPr txBox="1"/>
          <p:nvPr/>
        </p:nvSpPr>
        <p:spPr>
          <a:xfrm>
            <a:off x="4256690" y="409903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TRAINING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5B439A9-4D3C-974C-AFBE-58D0E7F57182}"/>
              </a:ext>
            </a:extLst>
          </p:cNvPr>
          <p:cNvGrpSpPr/>
          <p:nvPr/>
        </p:nvGrpSpPr>
        <p:grpSpPr>
          <a:xfrm>
            <a:off x="6613488" y="414198"/>
            <a:ext cx="2965507" cy="2797167"/>
            <a:chOff x="5089487" y="414197"/>
            <a:chExt cx="2965507" cy="2797167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4F15BDF9-E7E6-7F41-94A0-224743D1AA0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89487" y="896453"/>
              <a:ext cx="2965507" cy="2314911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F3A3BE0-DCA5-5F48-A469-4813C0BC6DDC}"/>
                </a:ext>
              </a:extLst>
            </p:cNvPr>
            <p:cNvSpPr txBox="1"/>
            <p:nvPr/>
          </p:nvSpPr>
          <p:spPr>
            <a:xfrm>
              <a:off x="5909434" y="414197"/>
              <a:ext cx="10935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TESTING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57E32221-7F35-D041-8311-B1301418EBEA}"/>
              </a:ext>
            </a:extLst>
          </p:cNvPr>
          <p:cNvSpPr txBox="1"/>
          <p:nvPr/>
        </p:nvSpPr>
        <p:spPr>
          <a:xfrm>
            <a:off x="2017795" y="1869242"/>
            <a:ext cx="788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k = 15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637AF39-44B4-8148-A541-2266C7658865}"/>
              </a:ext>
            </a:extLst>
          </p:cNvPr>
          <p:cNvGrpSpPr/>
          <p:nvPr/>
        </p:nvGrpSpPr>
        <p:grpSpPr>
          <a:xfrm>
            <a:off x="2129360" y="3268485"/>
            <a:ext cx="7428614" cy="2275817"/>
            <a:chOff x="605360" y="3268484"/>
            <a:chExt cx="7428614" cy="2275817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92CF1900-8A63-1843-B203-B8E3C047F98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44117" y="3268484"/>
              <a:ext cx="2889857" cy="2264478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CC6D47A7-8DEC-3F49-91C2-9DAE8C5800A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856252" y="3289910"/>
              <a:ext cx="2894900" cy="2254391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F57AB76-F098-C84A-8F3E-E3F2FCDAD110}"/>
                </a:ext>
              </a:extLst>
            </p:cNvPr>
            <p:cNvSpPr txBox="1"/>
            <p:nvPr/>
          </p:nvSpPr>
          <p:spPr>
            <a:xfrm>
              <a:off x="605360" y="4216057"/>
              <a:ext cx="6735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k = 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55526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5D863B-C684-EB44-8A6B-6C8EB194BBAE}"/>
              </a:ext>
            </a:extLst>
          </p:cNvPr>
          <p:cNvSpPr txBox="1"/>
          <p:nvPr/>
        </p:nvSpPr>
        <p:spPr>
          <a:xfrm>
            <a:off x="4256690" y="409903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TRAINING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3A3BE0-DCA5-5F48-A469-4813C0BC6DDC}"/>
              </a:ext>
            </a:extLst>
          </p:cNvPr>
          <p:cNvSpPr txBox="1"/>
          <p:nvPr/>
        </p:nvSpPr>
        <p:spPr>
          <a:xfrm>
            <a:off x="7433434" y="414197"/>
            <a:ext cx="1093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TESTING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E32221-7F35-D041-8311-B1301418EBEA}"/>
              </a:ext>
            </a:extLst>
          </p:cNvPr>
          <p:cNvSpPr txBox="1"/>
          <p:nvPr/>
        </p:nvSpPr>
        <p:spPr>
          <a:xfrm>
            <a:off x="2017796" y="1869242"/>
            <a:ext cx="673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k = 3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96135276-4315-AC4E-A1DB-10782CE10DB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53715" y="930568"/>
            <a:ext cx="2910030" cy="222917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6BD52B2-C5D1-E946-A2F2-F111CF9A517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4588" y="930564"/>
            <a:ext cx="2854553" cy="2229174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3CBCE1BB-000E-F64B-BA1A-09010C72C07B}"/>
              </a:ext>
            </a:extLst>
          </p:cNvPr>
          <p:cNvGrpSpPr/>
          <p:nvPr/>
        </p:nvGrpSpPr>
        <p:grpSpPr>
          <a:xfrm>
            <a:off x="2129361" y="3296372"/>
            <a:ext cx="7426661" cy="2277764"/>
            <a:chOff x="605360" y="3296372"/>
            <a:chExt cx="7426661" cy="2277764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F57AB76-F098-C84A-8F3E-E3F2FCDAD110}"/>
                </a:ext>
              </a:extLst>
            </p:cNvPr>
            <p:cNvSpPr txBox="1"/>
            <p:nvPr/>
          </p:nvSpPr>
          <p:spPr>
            <a:xfrm>
              <a:off x="605360" y="4216057"/>
              <a:ext cx="6735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k = 1</a:t>
              </a:r>
            </a:p>
          </p:txBody>
        </p: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E5ECE6C6-00AE-FE41-BABC-C15300EA65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142164" y="3296372"/>
              <a:ext cx="2889857" cy="2244304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987C6BD2-E5EB-3D47-960A-92C729F3CA7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877562" y="3299572"/>
              <a:ext cx="2925160" cy="227456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89732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1703" y="2486896"/>
            <a:ext cx="8229600" cy="1143000"/>
          </a:xfrm>
        </p:spPr>
        <p:txBody>
          <a:bodyPr/>
          <a:lstStyle/>
          <a:p>
            <a:r>
              <a:rPr lang="en-US" dirty="0">
                <a:latin typeface="Gill Sans MT" panose="020B0502020104020203" pitchFamily="34" charset="77"/>
              </a:rPr>
              <a:t>Example with 80 million images</a:t>
            </a:r>
          </a:p>
        </p:txBody>
      </p:sp>
    </p:spTree>
    <p:extLst>
      <p:ext uri="{BB962C8B-B14F-4D97-AF65-F5344CB8AC3E}">
        <p14:creationId xmlns:p14="http://schemas.microsoft.com/office/powerpoint/2010/main" val="86881042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Screen Shot 2013-05-14 at 9.15.43 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554" y="0"/>
            <a:ext cx="523889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16353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Screen Shot 2013-05-14 at 9.15.31 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0792" y="0"/>
            <a:ext cx="54504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72452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524001" y="3031067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Gill Sans MT" panose="020B0502020104020203" pitchFamily="34" charset="77"/>
                <a:cs typeface="Trebuchet MS"/>
              </a:rPr>
              <a:t>Minimal Distance</a:t>
            </a:r>
          </a:p>
        </p:txBody>
      </p:sp>
    </p:spTree>
    <p:extLst>
      <p:ext uri="{BB962C8B-B14F-4D97-AF65-F5344CB8AC3E}">
        <p14:creationId xmlns:p14="http://schemas.microsoft.com/office/powerpoint/2010/main" val="240162419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35560" y="764705"/>
            <a:ext cx="32316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DMIN: Minimal Distance</a:t>
            </a:r>
          </a:p>
        </p:txBody>
      </p:sp>
    </p:spTree>
    <p:extLst>
      <p:ext uri="{BB962C8B-B14F-4D97-AF65-F5344CB8AC3E}">
        <p14:creationId xmlns:p14="http://schemas.microsoft.com/office/powerpoint/2010/main" val="122207837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4412654" y="3429000"/>
            <a:ext cx="1512168" cy="1800200"/>
            <a:chOff x="2888654" y="3429000"/>
            <a:chExt cx="1512168" cy="1800200"/>
          </a:xfrm>
        </p:grpSpPr>
        <p:sp>
          <p:nvSpPr>
            <p:cNvPr id="6" name="Oval 5"/>
            <p:cNvSpPr/>
            <p:nvPr/>
          </p:nvSpPr>
          <p:spPr>
            <a:xfrm>
              <a:off x="3032670" y="3429000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2960662" y="4005064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2888654" y="3717032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3464718" y="3501008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3248694" y="4365104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3392710" y="3861048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3752750" y="4077072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Oval 12"/>
            <p:cNvSpPr/>
            <p:nvPr/>
          </p:nvSpPr>
          <p:spPr>
            <a:xfrm>
              <a:off x="3680742" y="4653136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4" name="Oval 13"/>
            <p:cNvSpPr/>
            <p:nvPr/>
          </p:nvSpPr>
          <p:spPr>
            <a:xfrm>
              <a:off x="3608734" y="4365104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5" name="Oval 14"/>
            <p:cNvSpPr/>
            <p:nvPr/>
          </p:nvSpPr>
          <p:spPr>
            <a:xfrm>
              <a:off x="4184798" y="4149080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6" name="Oval 15"/>
            <p:cNvSpPr/>
            <p:nvPr/>
          </p:nvSpPr>
          <p:spPr>
            <a:xfrm>
              <a:off x="3968774" y="5013176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7" name="Oval 16"/>
            <p:cNvSpPr/>
            <p:nvPr/>
          </p:nvSpPr>
          <p:spPr>
            <a:xfrm>
              <a:off x="4112790" y="4509120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8" name="Oval 17"/>
            <p:cNvSpPr/>
            <p:nvPr/>
          </p:nvSpPr>
          <p:spPr>
            <a:xfrm>
              <a:off x="3176686" y="3717032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9" name="Oval 18"/>
            <p:cNvSpPr/>
            <p:nvPr/>
          </p:nvSpPr>
          <p:spPr>
            <a:xfrm>
              <a:off x="2960662" y="4653136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0" name="Oval 19"/>
            <p:cNvSpPr/>
            <p:nvPr/>
          </p:nvSpPr>
          <p:spPr>
            <a:xfrm>
              <a:off x="2888654" y="4365104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1" name="Oval 20"/>
            <p:cNvSpPr/>
            <p:nvPr/>
          </p:nvSpPr>
          <p:spPr>
            <a:xfrm>
              <a:off x="3464718" y="4149080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2" name="Oval 21"/>
            <p:cNvSpPr/>
            <p:nvPr/>
          </p:nvSpPr>
          <p:spPr>
            <a:xfrm>
              <a:off x="3248694" y="5013176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3" name="Oval 22"/>
            <p:cNvSpPr/>
            <p:nvPr/>
          </p:nvSpPr>
          <p:spPr>
            <a:xfrm>
              <a:off x="3392710" y="4725144"/>
              <a:ext cx="216024" cy="21602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42" name="Group 41"/>
          <p:cNvGrpSpPr/>
          <p:nvPr/>
        </p:nvGrpSpPr>
        <p:grpSpPr>
          <a:xfrm rot="2553764">
            <a:off x="5542359" y="2623150"/>
            <a:ext cx="1512168" cy="1800200"/>
            <a:chOff x="4572000" y="3005336"/>
            <a:chExt cx="1512168" cy="1800200"/>
          </a:xfrm>
          <a:solidFill>
            <a:srgbClr val="0000FF"/>
          </a:solidFill>
        </p:grpSpPr>
        <p:sp>
          <p:nvSpPr>
            <p:cNvPr id="24" name="Oval 23"/>
            <p:cNvSpPr/>
            <p:nvPr/>
          </p:nvSpPr>
          <p:spPr>
            <a:xfrm>
              <a:off x="4716016" y="300533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5" name="Oval 24"/>
            <p:cNvSpPr/>
            <p:nvPr/>
          </p:nvSpPr>
          <p:spPr>
            <a:xfrm>
              <a:off x="4644008" y="358140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6" name="Oval 25"/>
            <p:cNvSpPr/>
            <p:nvPr/>
          </p:nvSpPr>
          <p:spPr>
            <a:xfrm>
              <a:off x="4572000" y="329336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7" name="Oval 26"/>
            <p:cNvSpPr/>
            <p:nvPr/>
          </p:nvSpPr>
          <p:spPr>
            <a:xfrm>
              <a:off x="5148064" y="307734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8" name="Oval 27"/>
            <p:cNvSpPr/>
            <p:nvPr/>
          </p:nvSpPr>
          <p:spPr>
            <a:xfrm>
              <a:off x="493204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9" name="Oval 28"/>
            <p:cNvSpPr/>
            <p:nvPr/>
          </p:nvSpPr>
          <p:spPr>
            <a:xfrm>
              <a:off x="5076056" y="343738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0" name="Oval 29"/>
            <p:cNvSpPr/>
            <p:nvPr/>
          </p:nvSpPr>
          <p:spPr>
            <a:xfrm>
              <a:off x="5436096" y="365340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1" name="Oval 30"/>
            <p:cNvSpPr/>
            <p:nvPr/>
          </p:nvSpPr>
          <p:spPr>
            <a:xfrm>
              <a:off x="5364088" y="422947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2" name="Oval 31"/>
            <p:cNvSpPr/>
            <p:nvPr/>
          </p:nvSpPr>
          <p:spPr>
            <a:xfrm>
              <a:off x="529208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3" name="Oval 32"/>
            <p:cNvSpPr/>
            <p:nvPr/>
          </p:nvSpPr>
          <p:spPr>
            <a:xfrm>
              <a:off x="5868144" y="372541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4" name="Oval 33"/>
            <p:cNvSpPr/>
            <p:nvPr/>
          </p:nvSpPr>
          <p:spPr>
            <a:xfrm>
              <a:off x="5652120" y="458951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5" name="Oval 34"/>
            <p:cNvSpPr/>
            <p:nvPr/>
          </p:nvSpPr>
          <p:spPr>
            <a:xfrm>
              <a:off x="5796136" y="408545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6" name="Oval 35"/>
            <p:cNvSpPr/>
            <p:nvPr/>
          </p:nvSpPr>
          <p:spPr>
            <a:xfrm>
              <a:off x="4860032" y="329336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7" name="Oval 36"/>
            <p:cNvSpPr/>
            <p:nvPr/>
          </p:nvSpPr>
          <p:spPr>
            <a:xfrm>
              <a:off x="4644008" y="422947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8" name="Oval 37"/>
            <p:cNvSpPr/>
            <p:nvPr/>
          </p:nvSpPr>
          <p:spPr>
            <a:xfrm>
              <a:off x="457200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9" name="Oval 38"/>
            <p:cNvSpPr/>
            <p:nvPr/>
          </p:nvSpPr>
          <p:spPr>
            <a:xfrm>
              <a:off x="5148064" y="372541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40" name="Oval 39"/>
            <p:cNvSpPr/>
            <p:nvPr/>
          </p:nvSpPr>
          <p:spPr>
            <a:xfrm>
              <a:off x="4932040" y="458951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41" name="Oval 40"/>
            <p:cNvSpPr/>
            <p:nvPr/>
          </p:nvSpPr>
          <p:spPr>
            <a:xfrm>
              <a:off x="5076056" y="430148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" name="Right Brace 1"/>
          <p:cNvSpPr/>
          <p:nvPr/>
        </p:nvSpPr>
        <p:spPr>
          <a:xfrm>
            <a:off x="8040216" y="2420888"/>
            <a:ext cx="360040" cy="3024336"/>
          </a:xfrm>
          <a:prstGeom prst="rightBrac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400256" y="3687416"/>
            <a:ext cx="17668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Training data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35560" y="764705"/>
            <a:ext cx="32316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DMIN: Minimal Distance</a:t>
            </a:r>
          </a:p>
        </p:txBody>
      </p:sp>
    </p:spTree>
    <p:extLst>
      <p:ext uri="{BB962C8B-B14F-4D97-AF65-F5344CB8AC3E}">
        <p14:creationId xmlns:p14="http://schemas.microsoft.com/office/powerpoint/2010/main" val="221106268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/>
          <p:cNvSpPr/>
          <p:nvPr/>
        </p:nvSpPr>
        <p:spPr>
          <a:xfrm>
            <a:off x="4556670" y="342900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" name="Oval 6"/>
          <p:cNvSpPr/>
          <p:nvPr/>
        </p:nvSpPr>
        <p:spPr>
          <a:xfrm>
            <a:off x="4484662" y="4005064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" name="Oval 7"/>
          <p:cNvSpPr/>
          <p:nvPr/>
        </p:nvSpPr>
        <p:spPr>
          <a:xfrm>
            <a:off x="4412654" y="3717032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" name="Oval 8"/>
          <p:cNvSpPr/>
          <p:nvPr/>
        </p:nvSpPr>
        <p:spPr>
          <a:xfrm>
            <a:off x="4988718" y="3501008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" name="Oval 9"/>
          <p:cNvSpPr/>
          <p:nvPr/>
        </p:nvSpPr>
        <p:spPr>
          <a:xfrm>
            <a:off x="4772694" y="4365104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4916710" y="3861048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5276750" y="4077072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5204742" y="4653136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5132734" y="4365104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08798" y="414908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5492774" y="5013176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5636790" y="450912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4700686" y="3717032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4484662" y="4653136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4412654" y="4365104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4988718" y="414908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4772694" y="5013176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4916710" y="4725144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42" name="Group 41"/>
          <p:cNvGrpSpPr/>
          <p:nvPr/>
        </p:nvGrpSpPr>
        <p:grpSpPr>
          <a:xfrm rot="2553764">
            <a:off x="5542359" y="2623150"/>
            <a:ext cx="1512168" cy="1800200"/>
            <a:chOff x="4572000" y="3005336"/>
            <a:chExt cx="1512168" cy="1800200"/>
          </a:xfrm>
          <a:solidFill>
            <a:srgbClr val="0000FF"/>
          </a:solidFill>
        </p:grpSpPr>
        <p:sp>
          <p:nvSpPr>
            <p:cNvPr id="24" name="Oval 23"/>
            <p:cNvSpPr/>
            <p:nvPr/>
          </p:nvSpPr>
          <p:spPr>
            <a:xfrm>
              <a:off x="4716016" y="300533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5" name="Oval 24"/>
            <p:cNvSpPr/>
            <p:nvPr/>
          </p:nvSpPr>
          <p:spPr>
            <a:xfrm>
              <a:off x="4644008" y="358140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6" name="Oval 25"/>
            <p:cNvSpPr/>
            <p:nvPr/>
          </p:nvSpPr>
          <p:spPr>
            <a:xfrm>
              <a:off x="4572000" y="329336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7" name="Oval 26"/>
            <p:cNvSpPr/>
            <p:nvPr/>
          </p:nvSpPr>
          <p:spPr>
            <a:xfrm>
              <a:off x="5148064" y="307734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8" name="Oval 27"/>
            <p:cNvSpPr/>
            <p:nvPr/>
          </p:nvSpPr>
          <p:spPr>
            <a:xfrm>
              <a:off x="493204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9" name="Oval 28"/>
            <p:cNvSpPr/>
            <p:nvPr/>
          </p:nvSpPr>
          <p:spPr>
            <a:xfrm>
              <a:off x="5076056" y="343738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0" name="Oval 29"/>
            <p:cNvSpPr/>
            <p:nvPr/>
          </p:nvSpPr>
          <p:spPr>
            <a:xfrm>
              <a:off x="5436096" y="365340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1" name="Oval 30"/>
            <p:cNvSpPr/>
            <p:nvPr/>
          </p:nvSpPr>
          <p:spPr>
            <a:xfrm>
              <a:off x="5364088" y="422947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2" name="Oval 31"/>
            <p:cNvSpPr/>
            <p:nvPr/>
          </p:nvSpPr>
          <p:spPr>
            <a:xfrm>
              <a:off x="529208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3" name="Oval 32"/>
            <p:cNvSpPr/>
            <p:nvPr/>
          </p:nvSpPr>
          <p:spPr>
            <a:xfrm>
              <a:off x="5868144" y="372541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4" name="Oval 33"/>
            <p:cNvSpPr/>
            <p:nvPr/>
          </p:nvSpPr>
          <p:spPr>
            <a:xfrm>
              <a:off x="5652120" y="458951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5" name="Oval 34"/>
            <p:cNvSpPr/>
            <p:nvPr/>
          </p:nvSpPr>
          <p:spPr>
            <a:xfrm>
              <a:off x="5796136" y="408545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6" name="Oval 35"/>
            <p:cNvSpPr/>
            <p:nvPr/>
          </p:nvSpPr>
          <p:spPr>
            <a:xfrm>
              <a:off x="4860032" y="329336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7" name="Oval 36"/>
            <p:cNvSpPr/>
            <p:nvPr/>
          </p:nvSpPr>
          <p:spPr>
            <a:xfrm>
              <a:off x="4644008" y="422947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8" name="Oval 37"/>
            <p:cNvSpPr/>
            <p:nvPr/>
          </p:nvSpPr>
          <p:spPr>
            <a:xfrm>
              <a:off x="457200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9" name="Oval 38"/>
            <p:cNvSpPr/>
            <p:nvPr/>
          </p:nvSpPr>
          <p:spPr>
            <a:xfrm>
              <a:off x="5148064" y="372541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40" name="Oval 39"/>
            <p:cNvSpPr/>
            <p:nvPr/>
          </p:nvSpPr>
          <p:spPr>
            <a:xfrm>
              <a:off x="4932040" y="458951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41" name="Oval 40"/>
            <p:cNvSpPr/>
            <p:nvPr/>
          </p:nvSpPr>
          <p:spPr>
            <a:xfrm>
              <a:off x="5076056" y="430148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" name="Right Brace 1"/>
          <p:cNvSpPr/>
          <p:nvPr/>
        </p:nvSpPr>
        <p:spPr>
          <a:xfrm>
            <a:off x="8040216" y="2420888"/>
            <a:ext cx="360040" cy="3024336"/>
          </a:xfrm>
          <a:prstGeom prst="rightBrac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400256" y="3687416"/>
            <a:ext cx="17668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Training data</a:t>
            </a:r>
          </a:p>
        </p:txBody>
      </p:sp>
      <p:sp>
        <p:nvSpPr>
          <p:cNvPr id="44" name="Oval 43"/>
          <p:cNvSpPr/>
          <p:nvPr/>
        </p:nvSpPr>
        <p:spPr>
          <a:xfrm>
            <a:off x="4799856" y="3068960"/>
            <a:ext cx="216024" cy="216024"/>
          </a:xfrm>
          <a:prstGeom prst="ellipse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991544" y="2132857"/>
            <a:ext cx="1653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Testing data</a:t>
            </a:r>
          </a:p>
        </p:txBody>
      </p:sp>
      <p:cxnSp>
        <p:nvCxnSpPr>
          <p:cNvPr id="5" name="Straight Arrow Connector 4"/>
          <p:cNvCxnSpPr>
            <a:stCxn id="45" idx="3"/>
            <a:endCxn id="44" idx="1"/>
          </p:cNvCxnSpPr>
          <p:nvPr/>
        </p:nvCxnSpPr>
        <p:spPr>
          <a:xfrm>
            <a:off x="3644882" y="2363690"/>
            <a:ext cx="1186610" cy="73690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2701978" y="2463280"/>
            <a:ext cx="2976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?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135561" y="764705"/>
            <a:ext cx="4924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DMIN: Minimal Distance (two classes)</a:t>
            </a:r>
          </a:p>
        </p:txBody>
      </p:sp>
    </p:spTree>
    <p:extLst>
      <p:ext uri="{BB962C8B-B14F-4D97-AF65-F5344CB8AC3E}">
        <p14:creationId xmlns:p14="http://schemas.microsoft.com/office/powerpoint/2010/main" val="229912929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/>
          <p:cNvSpPr/>
          <p:nvPr/>
        </p:nvSpPr>
        <p:spPr>
          <a:xfrm>
            <a:off x="4556670" y="342900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" name="Oval 6"/>
          <p:cNvSpPr/>
          <p:nvPr/>
        </p:nvSpPr>
        <p:spPr>
          <a:xfrm>
            <a:off x="4484662" y="4005064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8" name="Oval 7"/>
          <p:cNvSpPr/>
          <p:nvPr/>
        </p:nvSpPr>
        <p:spPr>
          <a:xfrm>
            <a:off x="4412654" y="3717032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" name="Oval 8"/>
          <p:cNvSpPr/>
          <p:nvPr/>
        </p:nvSpPr>
        <p:spPr>
          <a:xfrm>
            <a:off x="4988718" y="3501008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" name="Oval 9"/>
          <p:cNvSpPr/>
          <p:nvPr/>
        </p:nvSpPr>
        <p:spPr>
          <a:xfrm>
            <a:off x="4772694" y="4365104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4916710" y="3861048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5276750" y="4077072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5204742" y="4653136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5132734" y="4365104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08798" y="414908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5492774" y="5013176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5636790" y="450912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4700686" y="3717032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4484662" y="4653136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4412654" y="4365104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4988718" y="414908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4772694" y="5013176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4916710" y="4725144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42" name="Group 41"/>
          <p:cNvGrpSpPr/>
          <p:nvPr/>
        </p:nvGrpSpPr>
        <p:grpSpPr>
          <a:xfrm rot="2553764">
            <a:off x="5542359" y="2623150"/>
            <a:ext cx="1512168" cy="1800200"/>
            <a:chOff x="4572000" y="3005336"/>
            <a:chExt cx="1512168" cy="1800200"/>
          </a:xfrm>
          <a:solidFill>
            <a:srgbClr val="0000FF"/>
          </a:solidFill>
        </p:grpSpPr>
        <p:sp>
          <p:nvSpPr>
            <p:cNvPr id="24" name="Oval 23"/>
            <p:cNvSpPr/>
            <p:nvPr/>
          </p:nvSpPr>
          <p:spPr>
            <a:xfrm>
              <a:off x="4716016" y="300533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5" name="Oval 24"/>
            <p:cNvSpPr/>
            <p:nvPr/>
          </p:nvSpPr>
          <p:spPr>
            <a:xfrm>
              <a:off x="4644008" y="358140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6" name="Oval 25"/>
            <p:cNvSpPr/>
            <p:nvPr/>
          </p:nvSpPr>
          <p:spPr>
            <a:xfrm>
              <a:off x="4572000" y="329336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7" name="Oval 26"/>
            <p:cNvSpPr/>
            <p:nvPr/>
          </p:nvSpPr>
          <p:spPr>
            <a:xfrm>
              <a:off x="5148064" y="307734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8" name="Oval 27"/>
            <p:cNvSpPr/>
            <p:nvPr/>
          </p:nvSpPr>
          <p:spPr>
            <a:xfrm>
              <a:off x="493204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9" name="Oval 28"/>
            <p:cNvSpPr/>
            <p:nvPr/>
          </p:nvSpPr>
          <p:spPr>
            <a:xfrm>
              <a:off x="5076056" y="343738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0" name="Oval 29"/>
            <p:cNvSpPr/>
            <p:nvPr/>
          </p:nvSpPr>
          <p:spPr>
            <a:xfrm>
              <a:off x="5436096" y="365340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1" name="Oval 30"/>
            <p:cNvSpPr/>
            <p:nvPr/>
          </p:nvSpPr>
          <p:spPr>
            <a:xfrm>
              <a:off x="5364088" y="422947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2" name="Oval 31"/>
            <p:cNvSpPr/>
            <p:nvPr/>
          </p:nvSpPr>
          <p:spPr>
            <a:xfrm>
              <a:off x="529208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3" name="Oval 32"/>
            <p:cNvSpPr/>
            <p:nvPr/>
          </p:nvSpPr>
          <p:spPr>
            <a:xfrm>
              <a:off x="5868144" y="372541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4" name="Oval 33"/>
            <p:cNvSpPr/>
            <p:nvPr/>
          </p:nvSpPr>
          <p:spPr>
            <a:xfrm>
              <a:off x="5652120" y="458951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5" name="Oval 34"/>
            <p:cNvSpPr/>
            <p:nvPr/>
          </p:nvSpPr>
          <p:spPr>
            <a:xfrm>
              <a:off x="5796136" y="408545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6" name="Oval 35"/>
            <p:cNvSpPr/>
            <p:nvPr/>
          </p:nvSpPr>
          <p:spPr>
            <a:xfrm>
              <a:off x="4860032" y="329336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7" name="Oval 36"/>
            <p:cNvSpPr/>
            <p:nvPr/>
          </p:nvSpPr>
          <p:spPr>
            <a:xfrm>
              <a:off x="4644008" y="422947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8" name="Oval 37"/>
            <p:cNvSpPr/>
            <p:nvPr/>
          </p:nvSpPr>
          <p:spPr>
            <a:xfrm>
              <a:off x="457200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9" name="Oval 38"/>
            <p:cNvSpPr/>
            <p:nvPr/>
          </p:nvSpPr>
          <p:spPr>
            <a:xfrm>
              <a:off x="5148064" y="372541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40" name="Oval 39"/>
            <p:cNvSpPr/>
            <p:nvPr/>
          </p:nvSpPr>
          <p:spPr>
            <a:xfrm>
              <a:off x="4932040" y="458951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41" name="Oval 40"/>
            <p:cNvSpPr/>
            <p:nvPr/>
          </p:nvSpPr>
          <p:spPr>
            <a:xfrm>
              <a:off x="5076056" y="430148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7680177" y="1580601"/>
            <a:ext cx="17559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DMIN Algorithm</a:t>
            </a:r>
          </a:p>
          <a:p>
            <a:endParaRPr lang="en-US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4799856" y="3068960"/>
            <a:ext cx="216024" cy="216024"/>
          </a:xfrm>
          <a:prstGeom prst="ellipse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991544" y="2132857"/>
            <a:ext cx="1653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Testing data</a:t>
            </a:r>
          </a:p>
        </p:txBody>
      </p:sp>
      <p:cxnSp>
        <p:nvCxnSpPr>
          <p:cNvPr id="48" name="Straight Arrow Connector 47"/>
          <p:cNvCxnSpPr>
            <a:stCxn id="47" idx="3"/>
          </p:cNvCxnSpPr>
          <p:nvPr/>
        </p:nvCxnSpPr>
        <p:spPr>
          <a:xfrm>
            <a:off x="3644882" y="2363690"/>
            <a:ext cx="1186610" cy="73690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135561" y="764705"/>
            <a:ext cx="4924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DMIN: Minimal Distance (two classes)</a:t>
            </a:r>
          </a:p>
        </p:txBody>
      </p:sp>
    </p:spTree>
    <p:extLst>
      <p:ext uri="{BB962C8B-B14F-4D97-AF65-F5344CB8AC3E}">
        <p14:creationId xmlns:p14="http://schemas.microsoft.com/office/powerpoint/2010/main" val="96043492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4412654" y="3429000"/>
            <a:ext cx="1512168" cy="1800200"/>
            <a:chOff x="2888654" y="3429000"/>
            <a:chExt cx="1512168" cy="1800200"/>
          </a:xfrm>
          <a:solidFill>
            <a:srgbClr val="FFB4B7"/>
          </a:solidFill>
        </p:grpSpPr>
        <p:sp>
          <p:nvSpPr>
            <p:cNvPr id="6" name="Oval 5"/>
            <p:cNvSpPr/>
            <p:nvPr/>
          </p:nvSpPr>
          <p:spPr>
            <a:xfrm>
              <a:off x="3032670" y="342900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2960662" y="400506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2888654" y="371703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3464718" y="350100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3248694" y="436510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3392710" y="386104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3752750" y="407707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Oval 12"/>
            <p:cNvSpPr/>
            <p:nvPr/>
          </p:nvSpPr>
          <p:spPr>
            <a:xfrm>
              <a:off x="3680742" y="465313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4" name="Oval 13"/>
            <p:cNvSpPr/>
            <p:nvPr/>
          </p:nvSpPr>
          <p:spPr>
            <a:xfrm>
              <a:off x="3608734" y="436510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5" name="Oval 14"/>
            <p:cNvSpPr/>
            <p:nvPr/>
          </p:nvSpPr>
          <p:spPr>
            <a:xfrm>
              <a:off x="4184798" y="414908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6" name="Oval 15"/>
            <p:cNvSpPr/>
            <p:nvPr/>
          </p:nvSpPr>
          <p:spPr>
            <a:xfrm>
              <a:off x="3968774" y="501317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7" name="Oval 16"/>
            <p:cNvSpPr/>
            <p:nvPr/>
          </p:nvSpPr>
          <p:spPr>
            <a:xfrm>
              <a:off x="4112790" y="450912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8" name="Oval 17"/>
            <p:cNvSpPr/>
            <p:nvPr/>
          </p:nvSpPr>
          <p:spPr>
            <a:xfrm>
              <a:off x="3176686" y="371703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9" name="Oval 18"/>
            <p:cNvSpPr/>
            <p:nvPr/>
          </p:nvSpPr>
          <p:spPr>
            <a:xfrm>
              <a:off x="2960662" y="465313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0" name="Oval 19"/>
            <p:cNvSpPr/>
            <p:nvPr/>
          </p:nvSpPr>
          <p:spPr>
            <a:xfrm>
              <a:off x="2888654" y="436510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1" name="Oval 20"/>
            <p:cNvSpPr/>
            <p:nvPr/>
          </p:nvSpPr>
          <p:spPr>
            <a:xfrm>
              <a:off x="3464718" y="414908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2" name="Oval 21"/>
            <p:cNvSpPr/>
            <p:nvPr/>
          </p:nvSpPr>
          <p:spPr>
            <a:xfrm>
              <a:off x="3248694" y="501317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3" name="Oval 22"/>
            <p:cNvSpPr/>
            <p:nvPr/>
          </p:nvSpPr>
          <p:spPr>
            <a:xfrm>
              <a:off x="3392710" y="472514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42" name="Group 41"/>
          <p:cNvGrpSpPr/>
          <p:nvPr/>
        </p:nvGrpSpPr>
        <p:grpSpPr>
          <a:xfrm rot="2553764">
            <a:off x="5542359" y="2623150"/>
            <a:ext cx="1512168" cy="1800200"/>
            <a:chOff x="4572000" y="3005336"/>
            <a:chExt cx="1512168" cy="1800200"/>
          </a:xfrm>
          <a:solidFill>
            <a:schemeClr val="tx2">
              <a:lumMod val="25000"/>
              <a:lumOff val="75000"/>
            </a:schemeClr>
          </a:solidFill>
        </p:grpSpPr>
        <p:sp>
          <p:nvSpPr>
            <p:cNvPr id="24" name="Oval 23"/>
            <p:cNvSpPr/>
            <p:nvPr/>
          </p:nvSpPr>
          <p:spPr>
            <a:xfrm>
              <a:off x="4716016" y="3005336"/>
              <a:ext cx="216024" cy="216024"/>
            </a:xfrm>
            <a:prstGeom prst="ellips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5" name="Oval 24"/>
            <p:cNvSpPr/>
            <p:nvPr/>
          </p:nvSpPr>
          <p:spPr>
            <a:xfrm>
              <a:off x="4644008" y="3581400"/>
              <a:ext cx="216024" cy="216024"/>
            </a:xfrm>
            <a:prstGeom prst="ellips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6" name="Oval 25"/>
            <p:cNvSpPr/>
            <p:nvPr/>
          </p:nvSpPr>
          <p:spPr>
            <a:xfrm>
              <a:off x="4572000" y="3293368"/>
              <a:ext cx="216024" cy="216024"/>
            </a:xfrm>
            <a:prstGeom prst="ellips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7" name="Oval 26"/>
            <p:cNvSpPr/>
            <p:nvPr/>
          </p:nvSpPr>
          <p:spPr>
            <a:xfrm>
              <a:off x="5148064" y="3077344"/>
              <a:ext cx="216024" cy="216024"/>
            </a:xfrm>
            <a:prstGeom prst="ellips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8" name="Oval 27"/>
            <p:cNvSpPr/>
            <p:nvPr/>
          </p:nvSpPr>
          <p:spPr>
            <a:xfrm>
              <a:off x="4932040" y="3941440"/>
              <a:ext cx="216024" cy="216024"/>
            </a:xfrm>
            <a:prstGeom prst="ellips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9" name="Oval 28"/>
            <p:cNvSpPr/>
            <p:nvPr/>
          </p:nvSpPr>
          <p:spPr>
            <a:xfrm>
              <a:off x="5076056" y="3437384"/>
              <a:ext cx="216024" cy="216024"/>
            </a:xfrm>
            <a:prstGeom prst="ellips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0" name="Oval 29"/>
            <p:cNvSpPr/>
            <p:nvPr/>
          </p:nvSpPr>
          <p:spPr>
            <a:xfrm>
              <a:off x="5436096" y="3653408"/>
              <a:ext cx="216024" cy="216024"/>
            </a:xfrm>
            <a:prstGeom prst="ellips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1" name="Oval 30"/>
            <p:cNvSpPr/>
            <p:nvPr/>
          </p:nvSpPr>
          <p:spPr>
            <a:xfrm>
              <a:off x="5364088" y="4229472"/>
              <a:ext cx="216024" cy="216024"/>
            </a:xfrm>
            <a:prstGeom prst="ellips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2" name="Oval 31"/>
            <p:cNvSpPr/>
            <p:nvPr/>
          </p:nvSpPr>
          <p:spPr>
            <a:xfrm>
              <a:off x="5292080" y="3941440"/>
              <a:ext cx="216024" cy="216024"/>
            </a:xfrm>
            <a:prstGeom prst="ellips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3" name="Oval 32"/>
            <p:cNvSpPr/>
            <p:nvPr/>
          </p:nvSpPr>
          <p:spPr>
            <a:xfrm>
              <a:off x="5868144" y="3725416"/>
              <a:ext cx="216024" cy="216024"/>
            </a:xfrm>
            <a:prstGeom prst="ellips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4" name="Oval 33"/>
            <p:cNvSpPr/>
            <p:nvPr/>
          </p:nvSpPr>
          <p:spPr>
            <a:xfrm>
              <a:off x="5652120" y="4589512"/>
              <a:ext cx="216024" cy="216024"/>
            </a:xfrm>
            <a:prstGeom prst="ellips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5" name="Oval 34"/>
            <p:cNvSpPr/>
            <p:nvPr/>
          </p:nvSpPr>
          <p:spPr>
            <a:xfrm>
              <a:off x="5796136" y="4085456"/>
              <a:ext cx="216024" cy="216024"/>
            </a:xfrm>
            <a:prstGeom prst="ellips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6" name="Oval 35"/>
            <p:cNvSpPr/>
            <p:nvPr/>
          </p:nvSpPr>
          <p:spPr>
            <a:xfrm>
              <a:off x="4860032" y="3293368"/>
              <a:ext cx="216024" cy="216024"/>
            </a:xfrm>
            <a:prstGeom prst="ellips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7" name="Oval 36"/>
            <p:cNvSpPr/>
            <p:nvPr/>
          </p:nvSpPr>
          <p:spPr>
            <a:xfrm>
              <a:off x="4644008" y="4229472"/>
              <a:ext cx="216024" cy="216024"/>
            </a:xfrm>
            <a:prstGeom prst="ellips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8" name="Oval 37"/>
            <p:cNvSpPr/>
            <p:nvPr/>
          </p:nvSpPr>
          <p:spPr>
            <a:xfrm>
              <a:off x="4572000" y="3941440"/>
              <a:ext cx="216024" cy="216024"/>
            </a:xfrm>
            <a:prstGeom prst="ellips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9" name="Oval 38"/>
            <p:cNvSpPr/>
            <p:nvPr/>
          </p:nvSpPr>
          <p:spPr>
            <a:xfrm>
              <a:off x="5148064" y="3725416"/>
              <a:ext cx="216024" cy="216024"/>
            </a:xfrm>
            <a:prstGeom prst="ellips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40" name="Oval 39"/>
            <p:cNvSpPr/>
            <p:nvPr/>
          </p:nvSpPr>
          <p:spPr>
            <a:xfrm>
              <a:off x="4932040" y="4589512"/>
              <a:ext cx="216024" cy="216024"/>
            </a:xfrm>
            <a:prstGeom prst="ellips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41" name="Oval 40"/>
            <p:cNvSpPr/>
            <p:nvPr/>
          </p:nvSpPr>
          <p:spPr>
            <a:xfrm>
              <a:off x="5076056" y="4301480"/>
              <a:ext cx="216024" cy="216024"/>
            </a:xfrm>
            <a:prstGeom prst="ellips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7230802" y="1580601"/>
            <a:ext cx="314156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DMIN Algorithm</a:t>
            </a:r>
          </a:p>
          <a:p>
            <a:endParaRPr lang="en-US" dirty="0">
              <a:latin typeface="Gill Sans MT" panose="020B0502020104020203" pitchFamily="34" charset="77"/>
              <a:cs typeface="Trebuchet MS"/>
            </a:endParaRPr>
          </a:p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1. Centers of mass of each class</a:t>
            </a:r>
          </a:p>
          <a:p>
            <a:endParaRPr lang="en-US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4799856" y="3068960"/>
            <a:ext cx="216024" cy="216024"/>
          </a:xfrm>
          <a:prstGeom prst="ellipse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991544" y="2132857"/>
            <a:ext cx="1653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Testing data</a:t>
            </a:r>
          </a:p>
        </p:txBody>
      </p:sp>
      <p:cxnSp>
        <p:nvCxnSpPr>
          <p:cNvPr id="48" name="Straight Arrow Connector 47"/>
          <p:cNvCxnSpPr>
            <a:stCxn id="47" idx="3"/>
          </p:cNvCxnSpPr>
          <p:nvPr/>
        </p:nvCxnSpPr>
        <p:spPr>
          <a:xfrm>
            <a:off x="3644882" y="2363690"/>
            <a:ext cx="1186610" cy="73690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135561" y="764705"/>
            <a:ext cx="4924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DMIN: Minimal Distance (two classes)</a:t>
            </a:r>
          </a:p>
        </p:txBody>
      </p:sp>
      <p:sp>
        <p:nvSpPr>
          <p:cNvPr id="2" name="Cross 1"/>
          <p:cNvSpPr/>
          <p:nvPr/>
        </p:nvSpPr>
        <p:spPr>
          <a:xfrm>
            <a:off x="5033174" y="4151014"/>
            <a:ext cx="183032" cy="176275"/>
          </a:xfrm>
          <a:prstGeom prst="plus">
            <a:avLst>
              <a:gd name="adj" fmla="val 46493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5" name="Cross 44"/>
          <p:cNvSpPr/>
          <p:nvPr/>
        </p:nvSpPr>
        <p:spPr>
          <a:xfrm>
            <a:off x="6141621" y="3440128"/>
            <a:ext cx="183032" cy="176275"/>
          </a:xfrm>
          <a:prstGeom prst="plus">
            <a:avLst>
              <a:gd name="adj" fmla="val 46493"/>
            </a:avLst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42465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/>
          <p:cNvSpPr txBox="1"/>
          <p:nvPr/>
        </p:nvSpPr>
        <p:spPr>
          <a:xfrm>
            <a:off x="7230802" y="1580601"/>
            <a:ext cx="314156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DMIN Algorithm</a:t>
            </a:r>
          </a:p>
          <a:p>
            <a:endParaRPr lang="en-US" dirty="0">
              <a:latin typeface="Gill Sans MT" panose="020B0502020104020203" pitchFamily="34" charset="77"/>
              <a:cs typeface="Trebuchet MS"/>
            </a:endParaRPr>
          </a:p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1. Centers of mass of each class</a:t>
            </a:r>
          </a:p>
          <a:p>
            <a:endParaRPr lang="en-US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4799856" y="3068960"/>
            <a:ext cx="216024" cy="216024"/>
          </a:xfrm>
          <a:prstGeom prst="ellipse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991544" y="2132857"/>
            <a:ext cx="1653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Testing data</a:t>
            </a:r>
          </a:p>
        </p:txBody>
      </p:sp>
      <p:cxnSp>
        <p:nvCxnSpPr>
          <p:cNvPr id="48" name="Straight Arrow Connector 47"/>
          <p:cNvCxnSpPr>
            <a:stCxn id="47" idx="3"/>
          </p:cNvCxnSpPr>
          <p:nvPr/>
        </p:nvCxnSpPr>
        <p:spPr>
          <a:xfrm>
            <a:off x="3644882" y="2363690"/>
            <a:ext cx="1186610" cy="73690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135561" y="764705"/>
            <a:ext cx="4924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DMIN: Minimal Distance (two classes)</a:t>
            </a:r>
          </a:p>
        </p:txBody>
      </p:sp>
      <p:sp>
        <p:nvSpPr>
          <p:cNvPr id="50" name="Cross 49"/>
          <p:cNvSpPr/>
          <p:nvPr/>
        </p:nvSpPr>
        <p:spPr>
          <a:xfrm>
            <a:off x="5033174" y="4151014"/>
            <a:ext cx="183032" cy="176275"/>
          </a:xfrm>
          <a:prstGeom prst="plus">
            <a:avLst>
              <a:gd name="adj" fmla="val 46493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1" name="Cross 50"/>
          <p:cNvSpPr/>
          <p:nvPr/>
        </p:nvSpPr>
        <p:spPr>
          <a:xfrm>
            <a:off x="6141621" y="3440128"/>
            <a:ext cx="183032" cy="176275"/>
          </a:xfrm>
          <a:prstGeom prst="plus">
            <a:avLst>
              <a:gd name="adj" fmla="val 46493"/>
            </a:avLst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30013920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/>
          <p:cNvSpPr txBox="1"/>
          <p:nvPr/>
        </p:nvSpPr>
        <p:spPr>
          <a:xfrm>
            <a:off x="7230802" y="1580601"/>
            <a:ext cx="314156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DMIN Algorithm</a:t>
            </a:r>
          </a:p>
          <a:p>
            <a:endParaRPr lang="en-US" dirty="0">
              <a:latin typeface="Gill Sans MT" panose="020B0502020104020203" pitchFamily="34" charset="77"/>
              <a:cs typeface="Trebuchet MS"/>
            </a:endParaRPr>
          </a:p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1. Centers of mass of each class</a:t>
            </a:r>
          </a:p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2. Distances</a:t>
            </a:r>
          </a:p>
        </p:txBody>
      </p:sp>
      <p:sp>
        <p:nvSpPr>
          <p:cNvPr id="44" name="Oval 43"/>
          <p:cNvSpPr/>
          <p:nvPr/>
        </p:nvSpPr>
        <p:spPr>
          <a:xfrm>
            <a:off x="4799856" y="3068960"/>
            <a:ext cx="216024" cy="216024"/>
          </a:xfrm>
          <a:prstGeom prst="ellipse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991544" y="2132857"/>
            <a:ext cx="1653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Testing data</a:t>
            </a:r>
          </a:p>
        </p:txBody>
      </p:sp>
      <p:cxnSp>
        <p:nvCxnSpPr>
          <p:cNvPr id="48" name="Straight Arrow Connector 47"/>
          <p:cNvCxnSpPr>
            <a:stCxn id="47" idx="3"/>
          </p:cNvCxnSpPr>
          <p:nvPr/>
        </p:nvCxnSpPr>
        <p:spPr>
          <a:xfrm>
            <a:off x="3644882" y="2363690"/>
            <a:ext cx="1186610" cy="73690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135561" y="764705"/>
            <a:ext cx="4924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DMIN: Minimal Distance (two classes)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927069" y="3163919"/>
            <a:ext cx="1271632" cy="371481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4911043" y="3186559"/>
            <a:ext cx="216822" cy="1042304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ross 18"/>
          <p:cNvSpPr/>
          <p:nvPr/>
        </p:nvSpPr>
        <p:spPr>
          <a:xfrm>
            <a:off x="5033174" y="4151014"/>
            <a:ext cx="183032" cy="176275"/>
          </a:xfrm>
          <a:prstGeom prst="plus">
            <a:avLst>
              <a:gd name="adj" fmla="val 46493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Cross 19"/>
          <p:cNvSpPr/>
          <p:nvPr/>
        </p:nvSpPr>
        <p:spPr>
          <a:xfrm>
            <a:off x="6141621" y="3440128"/>
            <a:ext cx="183032" cy="176275"/>
          </a:xfrm>
          <a:prstGeom prst="plus">
            <a:avLst>
              <a:gd name="adj" fmla="val 46493"/>
            </a:avLst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34841" y="3538692"/>
            <a:ext cx="511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  <a:cs typeface="Trebuchet MS"/>
              </a:rPr>
              <a:t>d</a:t>
            </a:r>
            <a:r>
              <a:rPr lang="en-US" baseline="-25000" dirty="0" err="1">
                <a:latin typeface="Gill Sans MT" panose="020B0502020104020203" pitchFamily="34" charset="77"/>
                <a:cs typeface="Trebuchet MS"/>
              </a:rPr>
              <a:t>red</a:t>
            </a:r>
            <a:endParaRPr lang="en-US" baseline="-250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365036" y="2991917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  <a:cs typeface="Trebuchet MS"/>
              </a:rPr>
              <a:t>d</a:t>
            </a:r>
            <a:r>
              <a:rPr lang="en-US" baseline="-25000" dirty="0" err="1">
                <a:latin typeface="Gill Sans MT" panose="020B0502020104020203" pitchFamily="34" charset="77"/>
                <a:cs typeface="Trebuchet MS"/>
              </a:rPr>
              <a:t>blue</a:t>
            </a:r>
            <a:endParaRPr lang="en-US" baseline="-250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E03C05-8A4C-0E48-82D0-A95AFC0DA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53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4408696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/>
          <p:cNvSpPr>
            <a:spLocks noChangeAspect="1"/>
          </p:cNvSpPr>
          <p:nvPr/>
        </p:nvSpPr>
        <p:spPr>
          <a:xfrm>
            <a:off x="3781409" y="2037382"/>
            <a:ext cx="2269717" cy="2254043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230802" y="1580601"/>
            <a:ext cx="314156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DMIN Algorithm</a:t>
            </a:r>
          </a:p>
          <a:p>
            <a:endParaRPr lang="en-US" dirty="0">
              <a:latin typeface="Gill Sans MT" panose="020B0502020104020203" pitchFamily="34" charset="77"/>
              <a:cs typeface="Trebuchet MS"/>
            </a:endParaRPr>
          </a:p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1. Centers of mass of each class</a:t>
            </a:r>
          </a:p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2. Distances</a:t>
            </a:r>
          </a:p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3. Take the class of the minimal</a:t>
            </a:r>
          </a:p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    </a:t>
            </a:r>
            <a:r>
              <a:rPr lang="en-US" sz="8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distance</a:t>
            </a:r>
          </a:p>
        </p:txBody>
      </p:sp>
      <p:sp>
        <p:nvSpPr>
          <p:cNvPr id="44" name="Oval 43"/>
          <p:cNvSpPr/>
          <p:nvPr/>
        </p:nvSpPr>
        <p:spPr>
          <a:xfrm>
            <a:off x="4799856" y="3068960"/>
            <a:ext cx="216024" cy="216024"/>
          </a:xfrm>
          <a:prstGeom prst="ellipse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991544" y="2132857"/>
            <a:ext cx="1653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Testing data</a:t>
            </a:r>
          </a:p>
        </p:txBody>
      </p:sp>
      <p:cxnSp>
        <p:nvCxnSpPr>
          <p:cNvPr id="48" name="Straight Arrow Connector 47"/>
          <p:cNvCxnSpPr>
            <a:stCxn id="47" idx="3"/>
          </p:cNvCxnSpPr>
          <p:nvPr/>
        </p:nvCxnSpPr>
        <p:spPr>
          <a:xfrm>
            <a:off x="3644882" y="2363690"/>
            <a:ext cx="1186610" cy="73690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135561" y="764705"/>
            <a:ext cx="4924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DMIN: Minimal Distance (two classes)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927069" y="3163919"/>
            <a:ext cx="1271632" cy="371481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4911043" y="3186559"/>
            <a:ext cx="216822" cy="1042304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ross 18"/>
          <p:cNvSpPr/>
          <p:nvPr/>
        </p:nvSpPr>
        <p:spPr>
          <a:xfrm>
            <a:off x="5033174" y="4151014"/>
            <a:ext cx="183032" cy="176275"/>
          </a:xfrm>
          <a:prstGeom prst="plus">
            <a:avLst>
              <a:gd name="adj" fmla="val 46493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0" name="Cross 19"/>
          <p:cNvSpPr/>
          <p:nvPr/>
        </p:nvSpPr>
        <p:spPr>
          <a:xfrm>
            <a:off x="6141621" y="3440128"/>
            <a:ext cx="183032" cy="176275"/>
          </a:xfrm>
          <a:prstGeom prst="plus">
            <a:avLst>
              <a:gd name="adj" fmla="val 46493"/>
            </a:avLst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34841" y="3538692"/>
            <a:ext cx="511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  <a:cs typeface="Trebuchet MS"/>
              </a:rPr>
              <a:t>d</a:t>
            </a:r>
            <a:r>
              <a:rPr lang="en-US" baseline="-25000" dirty="0" err="1">
                <a:latin typeface="Gill Sans MT" panose="020B0502020104020203" pitchFamily="34" charset="77"/>
                <a:cs typeface="Trebuchet MS"/>
              </a:rPr>
              <a:t>red</a:t>
            </a:r>
            <a:endParaRPr lang="en-US" baseline="-250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365036" y="2991917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  <a:cs typeface="Trebuchet MS"/>
              </a:rPr>
              <a:t>d</a:t>
            </a:r>
            <a:r>
              <a:rPr lang="en-US" baseline="-25000" dirty="0" err="1">
                <a:latin typeface="Gill Sans MT" panose="020B0502020104020203" pitchFamily="34" charset="77"/>
                <a:cs typeface="Trebuchet MS"/>
              </a:rPr>
              <a:t>blue</a:t>
            </a:r>
            <a:endParaRPr lang="en-US" baseline="-250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414978" y="4333194"/>
            <a:ext cx="3478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  <a:cs typeface="Trebuchet MS"/>
              </a:rPr>
              <a:t>d</a:t>
            </a:r>
            <a:r>
              <a:rPr lang="en-US" baseline="-25000" dirty="0" err="1">
                <a:latin typeface="Gill Sans MT" panose="020B0502020104020203" pitchFamily="34" charset="77"/>
                <a:cs typeface="Trebuchet MS"/>
              </a:rPr>
              <a:t>red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&lt;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d</a:t>
            </a:r>
            <a:r>
              <a:rPr lang="en-US" baseline="-25000" dirty="0" err="1">
                <a:latin typeface="Gill Sans MT" panose="020B0502020104020203" pitchFamily="34" charset="77"/>
                <a:cs typeface="Trebuchet MS"/>
              </a:rPr>
              <a:t>blue</a:t>
            </a:r>
            <a:r>
              <a:rPr lang="en-US" baseline="-250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dirty="0">
                <a:latin typeface="Wingdings"/>
                <a:ea typeface="Wingdings"/>
                <a:cs typeface="Wingdings"/>
                <a:sym typeface="Wingdings"/>
              </a:rPr>
              <a:t> </a:t>
            </a:r>
            <a:r>
              <a:rPr lang="en-US" dirty="0">
                <a:latin typeface="Gill Sans MT" panose="020B0502020104020203" pitchFamily="34" charset="77"/>
                <a:ea typeface="Wingdings"/>
                <a:cs typeface="Trebuchet MS"/>
                <a:sym typeface="Wingdings"/>
              </a:rPr>
              <a:t>Testing sample is red</a:t>
            </a:r>
            <a:endParaRPr lang="en-US" dirty="0">
              <a:latin typeface="Gill Sans MT" panose="020B0502020104020203" pitchFamily="34" charset="77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77002044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/>
          <p:cNvSpPr>
            <a:spLocks noChangeAspect="1"/>
          </p:cNvSpPr>
          <p:nvPr/>
        </p:nvSpPr>
        <p:spPr>
          <a:xfrm>
            <a:off x="3781409" y="2037382"/>
            <a:ext cx="2269717" cy="2254043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4412654" y="3429000"/>
            <a:ext cx="1512168" cy="1800200"/>
            <a:chOff x="2888654" y="3429000"/>
            <a:chExt cx="1512168" cy="1800200"/>
          </a:xfrm>
          <a:solidFill>
            <a:srgbClr val="FFB4B7"/>
          </a:solidFill>
        </p:grpSpPr>
        <p:sp>
          <p:nvSpPr>
            <p:cNvPr id="13" name="Oval 12"/>
            <p:cNvSpPr/>
            <p:nvPr/>
          </p:nvSpPr>
          <p:spPr>
            <a:xfrm>
              <a:off x="3032670" y="342900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5" name="Oval 14"/>
            <p:cNvSpPr/>
            <p:nvPr/>
          </p:nvSpPr>
          <p:spPr>
            <a:xfrm>
              <a:off x="2960662" y="400506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6" name="Oval 15"/>
            <p:cNvSpPr/>
            <p:nvPr/>
          </p:nvSpPr>
          <p:spPr>
            <a:xfrm>
              <a:off x="2888654" y="371703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7" name="Oval 16"/>
            <p:cNvSpPr/>
            <p:nvPr/>
          </p:nvSpPr>
          <p:spPr>
            <a:xfrm>
              <a:off x="3464718" y="350100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8" name="Oval 17"/>
            <p:cNvSpPr/>
            <p:nvPr/>
          </p:nvSpPr>
          <p:spPr>
            <a:xfrm>
              <a:off x="3248694" y="436510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1" name="Oval 20"/>
            <p:cNvSpPr/>
            <p:nvPr/>
          </p:nvSpPr>
          <p:spPr>
            <a:xfrm>
              <a:off x="3392710" y="386104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2" name="Oval 21"/>
            <p:cNvSpPr/>
            <p:nvPr/>
          </p:nvSpPr>
          <p:spPr>
            <a:xfrm>
              <a:off x="3752750" y="407707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3" name="Oval 22"/>
            <p:cNvSpPr/>
            <p:nvPr/>
          </p:nvSpPr>
          <p:spPr>
            <a:xfrm>
              <a:off x="3680742" y="465313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4" name="Oval 23"/>
            <p:cNvSpPr/>
            <p:nvPr/>
          </p:nvSpPr>
          <p:spPr>
            <a:xfrm>
              <a:off x="3608734" y="436510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5" name="Oval 24"/>
            <p:cNvSpPr/>
            <p:nvPr/>
          </p:nvSpPr>
          <p:spPr>
            <a:xfrm>
              <a:off x="4184798" y="414908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6" name="Oval 25"/>
            <p:cNvSpPr/>
            <p:nvPr/>
          </p:nvSpPr>
          <p:spPr>
            <a:xfrm>
              <a:off x="3968774" y="501317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7" name="Oval 26"/>
            <p:cNvSpPr/>
            <p:nvPr/>
          </p:nvSpPr>
          <p:spPr>
            <a:xfrm>
              <a:off x="4112790" y="450912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8" name="Oval 27"/>
            <p:cNvSpPr/>
            <p:nvPr/>
          </p:nvSpPr>
          <p:spPr>
            <a:xfrm>
              <a:off x="3176686" y="371703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9" name="Oval 28"/>
            <p:cNvSpPr/>
            <p:nvPr/>
          </p:nvSpPr>
          <p:spPr>
            <a:xfrm>
              <a:off x="2960662" y="465313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0" name="Oval 29"/>
            <p:cNvSpPr/>
            <p:nvPr/>
          </p:nvSpPr>
          <p:spPr>
            <a:xfrm>
              <a:off x="2888654" y="436510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1" name="Oval 30"/>
            <p:cNvSpPr/>
            <p:nvPr/>
          </p:nvSpPr>
          <p:spPr>
            <a:xfrm>
              <a:off x="3464718" y="414908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2" name="Oval 31"/>
            <p:cNvSpPr/>
            <p:nvPr/>
          </p:nvSpPr>
          <p:spPr>
            <a:xfrm>
              <a:off x="3248694" y="501317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3" name="Oval 32"/>
            <p:cNvSpPr/>
            <p:nvPr/>
          </p:nvSpPr>
          <p:spPr>
            <a:xfrm>
              <a:off x="3392710" y="472514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44" name="Oval 43"/>
          <p:cNvSpPr/>
          <p:nvPr/>
        </p:nvSpPr>
        <p:spPr>
          <a:xfrm>
            <a:off x="4799856" y="3068960"/>
            <a:ext cx="216024" cy="216024"/>
          </a:xfrm>
          <a:prstGeom prst="ellipse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991544" y="2132857"/>
            <a:ext cx="1653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Testing data</a:t>
            </a:r>
          </a:p>
        </p:txBody>
      </p:sp>
      <p:cxnSp>
        <p:nvCxnSpPr>
          <p:cNvPr id="48" name="Straight Arrow Connector 47"/>
          <p:cNvCxnSpPr>
            <a:stCxn id="47" idx="3"/>
          </p:cNvCxnSpPr>
          <p:nvPr/>
        </p:nvCxnSpPr>
        <p:spPr>
          <a:xfrm>
            <a:off x="3644882" y="2363690"/>
            <a:ext cx="1186610" cy="73690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135561" y="764705"/>
            <a:ext cx="4924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DMIN: Minimal Distance (two classes)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4911043" y="3186559"/>
            <a:ext cx="216822" cy="1042304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ross 18"/>
          <p:cNvSpPr/>
          <p:nvPr/>
        </p:nvSpPr>
        <p:spPr>
          <a:xfrm>
            <a:off x="5033174" y="4151014"/>
            <a:ext cx="183032" cy="176275"/>
          </a:xfrm>
          <a:prstGeom prst="plus">
            <a:avLst>
              <a:gd name="adj" fmla="val 46493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230802" y="1580601"/>
            <a:ext cx="314156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DMIN Algorithm</a:t>
            </a:r>
          </a:p>
          <a:p>
            <a:endParaRPr lang="en-US" dirty="0">
              <a:latin typeface="Gill Sans MT" panose="020B0502020104020203" pitchFamily="34" charset="77"/>
              <a:cs typeface="Trebuchet MS"/>
            </a:endParaRPr>
          </a:p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1. Centers of mass of each class</a:t>
            </a:r>
          </a:p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2. Distances</a:t>
            </a:r>
          </a:p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3. Take the class of the minimal</a:t>
            </a:r>
          </a:p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    </a:t>
            </a:r>
            <a:r>
              <a:rPr lang="en-US" sz="8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distance</a:t>
            </a:r>
          </a:p>
        </p:txBody>
      </p:sp>
    </p:spTree>
    <p:extLst>
      <p:ext uri="{BB962C8B-B14F-4D97-AF65-F5344CB8AC3E}">
        <p14:creationId xmlns:p14="http://schemas.microsoft.com/office/powerpoint/2010/main" val="405711593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4412654" y="3429000"/>
            <a:ext cx="1512168" cy="1800200"/>
            <a:chOff x="2888654" y="3429000"/>
            <a:chExt cx="1512168" cy="1800200"/>
          </a:xfrm>
          <a:solidFill>
            <a:srgbClr val="FF0000"/>
          </a:solidFill>
        </p:grpSpPr>
        <p:sp>
          <p:nvSpPr>
            <p:cNvPr id="13" name="Oval 12"/>
            <p:cNvSpPr/>
            <p:nvPr/>
          </p:nvSpPr>
          <p:spPr>
            <a:xfrm>
              <a:off x="3032670" y="342900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5" name="Oval 14"/>
            <p:cNvSpPr/>
            <p:nvPr/>
          </p:nvSpPr>
          <p:spPr>
            <a:xfrm>
              <a:off x="2960662" y="400506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6" name="Oval 15"/>
            <p:cNvSpPr/>
            <p:nvPr/>
          </p:nvSpPr>
          <p:spPr>
            <a:xfrm>
              <a:off x="2888654" y="371703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7" name="Oval 16"/>
            <p:cNvSpPr/>
            <p:nvPr/>
          </p:nvSpPr>
          <p:spPr>
            <a:xfrm>
              <a:off x="3464718" y="350100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8" name="Oval 17"/>
            <p:cNvSpPr/>
            <p:nvPr/>
          </p:nvSpPr>
          <p:spPr>
            <a:xfrm>
              <a:off x="3248694" y="436510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1" name="Oval 20"/>
            <p:cNvSpPr/>
            <p:nvPr/>
          </p:nvSpPr>
          <p:spPr>
            <a:xfrm>
              <a:off x="3392710" y="386104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2" name="Oval 21"/>
            <p:cNvSpPr/>
            <p:nvPr/>
          </p:nvSpPr>
          <p:spPr>
            <a:xfrm>
              <a:off x="3752750" y="407707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3" name="Oval 22"/>
            <p:cNvSpPr/>
            <p:nvPr/>
          </p:nvSpPr>
          <p:spPr>
            <a:xfrm>
              <a:off x="3680742" y="465313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4" name="Oval 23"/>
            <p:cNvSpPr/>
            <p:nvPr/>
          </p:nvSpPr>
          <p:spPr>
            <a:xfrm>
              <a:off x="3608734" y="436510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5" name="Oval 24"/>
            <p:cNvSpPr/>
            <p:nvPr/>
          </p:nvSpPr>
          <p:spPr>
            <a:xfrm>
              <a:off x="4184798" y="414908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6" name="Oval 25"/>
            <p:cNvSpPr/>
            <p:nvPr/>
          </p:nvSpPr>
          <p:spPr>
            <a:xfrm>
              <a:off x="3968774" y="501317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7" name="Oval 26"/>
            <p:cNvSpPr/>
            <p:nvPr/>
          </p:nvSpPr>
          <p:spPr>
            <a:xfrm>
              <a:off x="4112790" y="450912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8" name="Oval 27"/>
            <p:cNvSpPr/>
            <p:nvPr/>
          </p:nvSpPr>
          <p:spPr>
            <a:xfrm>
              <a:off x="3176686" y="371703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9" name="Oval 28"/>
            <p:cNvSpPr/>
            <p:nvPr/>
          </p:nvSpPr>
          <p:spPr>
            <a:xfrm>
              <a:off x="2960662" y="465313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0" name="Oval 29"/>
            <p:cNvSpPr/>
            <p:nvPr/>
          </p:nvSpPr>
          <p:spPr>
            <a:xfrm>
              <a:off x="2888654" y="436510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1" name="Oval 30"/>
            <p:cNvSpPr/>
            <p:nvPr/>
          </p:nvSpPr>
          <p:spPr>
            <a:xfrm>
              <a:off x="3464718" y="414908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2" name="Oval 31"/>
            <p:cNvSpPr/>
            <p:nvPr/>
          </p:nvSpPr>
          <p:spPr>
            <a:xfrm>
              <a:off x="3248694" y="501317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3" name="Oval 32"/>
            <p:cNvSpPr/>
            <p:nvPr/>
          </p:nvSpPr>
          <p:spPr>
            <a:xfrm>
              <a:off x="3392710" y="472514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7230802" y="1580601"/>
            <a:ext cx="314156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DMIN Algorithm</a:t>
            </a:r>
          </a:p>
          <a:p>
            <a:endParaRPr lang="en-US" dirty="0">
              <a:latin typeface="Gill Sans MT" panose="020B0502020104020203" pitchFamily="34" charset="77"/>
              <a:cs typeface="Trebuchet MS"/>
            </a:endParaRPr>
          </a:p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1. Centers of mass of each class</a:t>
            </a:r>
          </a:p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2. Distances</a:t>
            </a:r>
          </a:p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3. Take the class of the minimal</a:t>
            </a:r>
          </a:p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    </a:t>
            </a:r>
            <a:r>
              <a:rPr lang="en-US" sz="8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distance</a:t>
            </a:r>
          </a:p>
        </p:txBody>
      </p:sp>
      <p:sp>
        <p:nvSpPr>
          <p:cNvPr id="44" name="Oval 43"/>
          <p:cNvSpPr/>
          <p:nvPr/>
        </p:nvSpPr>
        <p:spPr>
          <a:xfrm>
            <a:off x="4799856" y="306896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991544" y="2132857"/>
            <a:ext cx="1653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Testing data</a:t>
            </a:r>
          </a:p>
        </p:txBody>
      </p:sp>
      <p:cxnSp>
        <p:nvCxnSpPr>
          <p:cNvPr id="48" name="Straight Arrow Connector 47"/>
          <p:cNvCxnSpPr>
            <a:stCxn id="47" idx="3"/>
          </p:cNvCxnSpPr>
          <p:nvPr/>
        </p:nvCxnSpPr>
        <p:spPr>
          <a:xfrm>
            <a:off x="3644882" y="2363690"/>
            <a:ext cx="1186610" cy="73690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135561" y="764705"/>
            <a:ext cx="4924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DMIN: Minimal Distance (two classes)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4911043" y="3186559"/>
            <a:ext cx="216822" cy="1042304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ross 18"/>
          <p:cNvSpPr/>
          <p:nvPr/>
        </p:nvSpPr>
        <p:spPr>
          <a:xfrm>
            <a:off x="5033174" y="4151014"/>
            <a:ext cx="183032" cy="176275"/>
          </a:xfrm>
          <a:prstGeom prst="plus">
            <a:avLst>
              <a:gd name="adj" fmla="val 46493"/>
            </a:avLst>
          </a:prstGeom>
          <a:solidFill>
            <a:srgbClr val="FF0000"/>
          </a:solidFill>
          <a:ln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34" name="Group 33"/>
          <p:cNvGrpSpPr/>
          <p:nvPr/>
        </p:nvGrpSpPr>
        <p:grpSpPr>
          <a:xfrm rot="2553764">
            <a:off x="5548224" y="2629015"/>
            <a:ext cx="1512168" cy="1800200"/>
            <a:chOff x="4572000" y="3005336"/>
            <a:chExt cx="1512168" cy="1800200"/>
          </a:xfrm>
          <a:solidFill>
            <a:srgbClr val="0000FF"/>
          </a:solidFill>
        </p:grpSpPr>
        <p:sp>
          <p:nvSpPr>
            <p:cNvPr id="35" name="Oval 34"/>
            <p:cNvSpPr/>
            <p:nvPr/>
          </p:nvSpPr>
          <p:spPr>
            <a:xfrm>
              <a:off x="4716016" y="300533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6" name="Oval 35"/>
            <p:cNvSpPr/>
            <p:nvPr/>
          </p:nvSpPr>
          <p:spPr>
            <a:xfrm>
              <a:off x="4644008" y="358140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7" name="Oval 36"/>
            <p:cNvSpPr/>
            <p:nvPr/>
          </p:nvSpPr>
          <p:spPr>
            <a:xfrm>
              <a:off x="4572000" y="329336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8" name="Oval 37"/>
            <p:cNvSpPr/>
            <p:nvPr/>
          </p:nvSpPr>
          <p:spPr>
            <a:xfrm>
              <a:off x="5148064" y="307734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9" name="Oval 38"/>
            <p:cNvSpPr/>
            <p:nvPr/>
          </p:nvSpPr>
          <p:spPr>
            <a:xfrm>
              <a:off x="493204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40" name="Oval 39"/>
            <p:cNvSpPr/>
            <p:nvPr/>
          </p:nvSpPr>
          <p:spPr>
            <a:xfrm>
              <a:off x="5076056" y="343738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41" name="Oval 40"/>
            <p:cNvSpPr/>
            <p:nvPr/>
          </p:nvSpPr>
          <p:spPr>
            <a:xfrm>
              <a:off x="5436096" y="365340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42" name="Oval 41"/>
            <p:cNvSpPr/>
            <p:nvPr/>
          </p:nvSpPr>
          <p:spPr>
            <a:xfrm>
              <a:off x="5364088" y="422947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45" name="Oval 44"/>
            <p:cNvSpPr/>
            <p:nvPr/>
          </p:nvSpPr>
          <p:spPr>
            <a:xfrm>
              <a:off x="529208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46" name="Oval 45"/>
            <p:cNvSpPr/>
            <p:nvPr/>
          </p:nvSpPr>
          <p:spPr>
            <a:xfrm>
              <a:off x="5868144" y="372541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50" name="Oval 49"/>
            <p:cNvSpPr/>
            <p:nvPr/>
          </p:nvSpPr>
          <p:spPr>
            <a:xfrm>
              <a:off x="5652120" y="458951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51" name="Oval 50"/>
            <p:cNvSpPr/>
            <p:nvPr/>
          </p:nvSpPr>
          <p:spPr>
            <a:xfrm>
              <a:off x="5796136" y="408545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52" name="Oval 51"/>
            <p:cNvSpPr/>
            <p:nvPr/>
          </p:nvSpPr>
          <p:spPr>
            <a:xfrm>
              <a:off x="4860032" y="329336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53" name="Oval 52"/>
            <p:cNvSpPr/>
            <p:nvPr/>
          </p:nvSpPr>
          <p:spPr>
            <a:xfrm>
              <a:off x="4644008" y="422947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54" name="Oval 53"/>
            <p:cNvSpPr/>
            <p:nvPr/>
          </p:nvSpPr>
          <p:spPr>
            <a:xfrm>
              <a:off x="4572000" y="394144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55" name="Oval 54"/>
            <p:cNvSpPr/>
            <p:nvPr/>
          </p:nvSpPr>
          <p:spPr>
            <a:xfrm>
              <a:off x="5148064" y="372541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56" name="Oval 55"/>
            <p:cNvSpPr/>
            <p:nvPr/>
          </p:nvSpPr>
          <p:spPr>
            <a:xfrm>
              <a:off x="4932040" y="458951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57" name="Oval 56"/>
            <p:cNvSpPr/>
            <p:nvPr/>
          </p:nvSpPr>
          <p:spPr>
            <a:xfrm>
              <a:off x="5076056" y="430148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cxnSp>
        <p:nvCxnSpPr>
          <p:cNvPr id="58" name="Straight Connector 57"/>
          <p:cNvCxnSpPr/>
          <p:nvPr/>
        </p:nvCxnSpPr>
        <p:spPr>
          <a:xfrm>
            <a:off x="4927069" y="3163919"/>
            <a:ext cx="1271632" cy="371481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Cross 58"/>
          <p:cNvSpPr/>
          <p:nvPr/>
        </p:nvSpPr>
        <p:spPr>
          <a:xfrm>
            <a:off x="6141621" y="3440128"/>
            <a:ext cx="183032" cy="176275"/>
          </a:xfrm>
          <a:prstGeom prst="plus">
            <a:avLst>
              <a:gd name="adj" fmla="val 46493"/>
            </a:avLst>
          </a:prstGeom>
          <a:solidFill>
            <a:srgbClr val="0000FF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23114638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63E22B2-91F4-ED34-CF60-858358FDF5EC}"/>
              </a:ext>
            </a:extLst>
          </p:cNvPr>
          <p:cNvGrpSpPr/>
          <p:nvPr/>
        </p:nvGrpSpPr>
        <p:grpSpPr>
          <a:xfrm rot="2553764">
            <a:off x="5542359" y="2623150"/>
            <a:ext cx="1512168" cy="1800200"/>
            <a:chOff x="4572000" y="3005336"/>
            <a:chExt cx="1512168" cy="1800200"/>
          </a:xfrm>
          <a:solidFill>
            <a:schemeClr val="tx2">
              <a:lumMod val="25000"/>
              <a:lumOff val="75000"/>
            </a:schemeClr>
          </a:solidFill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1FEB6330-1110-D049-18E3-FE3541BF5613}"/>
                </a:ext>
              </a:extLst>
            </p:cNvPr>
            <p:cNvSpPr/>
            <p:nvPr/>
          </p:nvSpPr>
          <p:spPr>
            <a:xfrm>
              <a:off x="4716016" y="3005336"/>
              <a:ext cx="216024" cy="216024"/>
            </a:xfrm>
            <a:prstGeom prst="ellips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33E8A9DB-98F7-152D-AB93-93D4E54B332E}"/>
                </a:ext>
              </a:extLst>
            </p:cNvPr>
            <p:cNvSpPr/>
            <p:nvPr/>
          </p:nvSpPr>
          <p:spPr>
            <a:xfrm>
              <a:off x="4644008" y="3581400"/>
              <a:ext cx="216024" cy="216024"/>
            </a:xfrm>
            <a:prstGeom prst="ellips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95C8F18-19B5-3654-43C3-5D04BBE2AB59}"/>
                </a:ext>
              </a:extLst>
            </p:cNvPr>
            <p:cNvSpPr/>
            <p:nvPr/>
          </p:nvSpPr>
          <p:spPr>
            <a:xfrm>
              <a:off x="4572000" y="3293368"/>
              <a:ext cx="216024" cy="216024"/>
            </a:xfrm>
            <a:prstGeom prst="ellips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E651AE1-2DDA-19FA-5615-E7D857B105CA}"/>
                </a:ext>
              </a:extLst>
            </p:cNvPr>
            <p:cNvSpPr/>
            <p:nvPr/>
          </p:nvSpPr>
          <p:spPr>
            <a:xfrm>
              <a:off x="5148064" y="3077344"/>
              <a:ext cx="216024" cy="216024"/>
            </a:xfrm>
            <a:prstGeom prst="ellips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F516413-2852-2D87-7E16-30BD736C1E81}"/>
                </a:ext>
              </a:extLst>
            </p:cNvPr>
            <p:cNvSpPr/>
            <p:nvPr/>
          </p:nvSpPr>
          <p:spPr>
            <a:xfrm>
              <a:off x="4932040" y="3941440"/>
              <a:ext cx="216024" cy="216024"/>
            </a:xfrm>
            <a:prstGeom prst="ellips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3677708-C439-7881-3034-37145C637D60}"/>
                </a:ext>
              </a:extLst>
            </p:cNvPr>
            <p:cNvSpPr/>
            <p:nvPr/>
          </p:nvSpPr>
          <p:spPr>
            <a:xfrm>
              <a:off x="5076056" y="3437384"/>
              <a:ext cx="216024" cy="216024"/>
            </a:xfrm>
            <a:prstGeom prst="ellips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F15A653-A3B1-A766-5040-4520DBA56E02}"/>
                </a:ext>
              </a:extLst>
            </p:cNvPr>
            <p:cNvSpPr/>
            <p:nvPr/>
          </p:nvSpPr>
          <p:spPr>
            <a:xfrm>
              <a:off x="5436096" y="3653408"/>
              <a:ext cx="216024" cy="216024"/>
            </a:xfrm>
            <a:prstGeom prst="ellips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8A9BFDB-BB72-E174-9DB1-5331437F8052}"/>
                </a:ext>
              </a:extLst>
            </p:cNvPr>
            <p:cNvSpPr/>
            <p:nvPr/>
          </p:nvSpPr>
          <p:spPr>
            <a:xfrm>
              <a:off x="5364088" y="4229472"/>
              <a:ext cx="216024" cy="216024"/>
            </a:xfrm>
            <a:prstGeom prst="ellips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AA850BD5-9D52-F01A-5785-46D4011688D1}"/>
                </a:ext>
              </a:extLst>
            </p:cNvPr>
            <p:cNvSpPr/>
            <p:nvPr/>
          </p:nvSpPr>
          <p:spPr>
            <a:xfrm>
              <a:off x="5292080" y="3941440"/>
              <a:ext cx="216024" cy="216024"/>
            </a:xfrm>
            <a:prstGeom prst="ellips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49AF0B96-8BFD-05F1-F5AA-195CE55254CD}"/>
                </a:ext>
              </a:extLst>
            </p:cNvPr>
            <p:cNvSpPr/>
            <p:nvPr/>
          </p:nvSpPr>
          <p:spPr>
            <a:xfrm>
              <a:off x="5868144" y="3725416"/>
              <a:ext cx="216024" cy="216024"/>
            </a:xfrm>
            <a:prstGeom prst="ellips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43E5805A-9798-88E6-288E-477E9CFCF87D}"/>
                </a:ext>
              </a:extLst>
            </p:cNvPr>
            <p:cNvSpPr/>
            <p:nvPr/>
          </p:nvSpPr>
          <p:spPr>
            <a:xfrm>
              <a:off x="5652120" y="4589512"/>
              <a:ext cx="216024" cy="216024"/>
            </a:xfrm>
            <a:prstGeom prst="ellips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78249CFC-D35F-3D55-FD16-F984C7A424CB}"/>
                </a:ext>
              </a:extLst>
            </p:cNvPr>
            <p:cNvSpPr/>
            <p:nvPr/>
          </p:nvSpPr>
          <p:spPr>
            <a:xfrm>
              <a:off x="5796136" y="4085456"/>
              <a:ext cx="216024" cy="216024"/>
            </a:xfrm>
            <a:prstGeom prst="ellips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19280049-BDDC-DB83-46AC-B1AED5FB6533}"/>
                </a:ext>
              </a:extLst>
            </p:cNvPr>
            <p:cNvSpPr/>
            <p:nvPr/>
          </p:nvSpPr>
          <p:spPr>
            <a:xfrm>
              <a:off x="4860032" y="3293368"/>
              <a:ext cx="216024" cy="216024"/>
            </a:xfrm>
            <a:prstGeom prst="ellips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E1ACFAF1-1318-A6DA-A658-2BD2C01B8C3A}"/>
                </a:ext>
              </a:extLst>
            </p:cNvPr>
            <p:cNvSpPr/>
            <p:nvPr/>
          </p:nvSpPr>
          <p:spPr>
            <a:xfrm>
              <a:off x="4644008" y="4229472"/>
              <a:ext cx="216024" cy="216024"/>
            </a:xfrm>
            <a:prstGeom prst="ellips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EE2C905B-30BE-6D75-64EC-68EA8776453F}"/>
                </a:ext>
              </a:extLst>
            </p:cNvPr>
            <p:cNvSpPr/>
            <p:nvPr/>
          </p:nvSpPr>
          <p:spPr>
            <a:xfrm>
              <a:off x="4572000" y="3941440"/>
              <a:ext cx="216024" cy="216024"/>
            </a:xfrm>
            <a:prstGeom prst="ellips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6DC7181F-47C4-3E51-450A-65855C87D2C8}"/>
                </a:ext>
              </a:extLst>
            </p:cNvPr>
            <p:cNvSpPr/>
            <p:nvPr/>
          </p:nvSpPr>
          <p:spPr>
            <a:xfrm>
              <a:off x="5148064" y="3725416"/>
              <a:ext cx="216024" cy="216024"/>
            </a:xfrm>
            <a:prstGeom prst="ellips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534EB09B-9EA4-53E1-16E5-D6436C72CE27}"/>
                </a:ext>
              </a:extLst>
            </p:cNvPr>
            <p:cNvSpPr/>
            <p:nvPr/>
          </p:nvSpPr>
          <p:spPr>
            <a:xfrm>
              <a:off x="4932040" y="4589512"/>
              <a:ext cx="216024" cy="216024"/>
            </a:xfrm>
            <a:prstGeom prst="ellips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75007F60-19C8-82D9-2BEE-A6BBBA589B0E}"/>
                </a:ext>
              </a:extLst>
            </p:cNvPr>
            <p:cNvSpPr/>
            <p:nvPr/>
          </p:nvSpPr>
          <p:spPr>
            <a:xfrm>
              <a:off x="5076056" y="4301480"/>
              <a:ext cx="216024" cy="216024"/>
            </a:xfrm>
            <a:prstGeom prst="ellipse">
              <a:avLst/>
            </a:prstGeom>
            <a:grpFill/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4412654" y="3429000"/>
            <a:ext cx="1512168" cy="1800200"/>
            <a:chOff x="2888654" y="3429000"/>
            <a:chExt cx="1512168" cy="1800200"/>
          </a:xfrm>
          <a:solidFill>
            <a:srgbClr val="FFB4B7"/>
          </a:solidFill>
        </p:grpSpPr>
        <p:sp>
          <p:nvSpPr>
            <p:cNvPr id="13" name="Oval 12"/>
            <p:cNvSpPr/>
            <p:nvPr/>
          </p:nvSpPr>
          <p:spPr>
            <a:xfrm>
              <a:off x="3032670" y="342900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5" name="Oval 14"/>
            <p:cNvSpPr/>
            <p:nvPr/>
          </p:nvSpPr>
          <p:spPr>
            <a:xfrm>
              <a:off x="2960662" y="400506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6" name="Oval 15"/>
            <p:cNvSpPr/>
            <p:nvPr/>
          </p:nvSpPr>
          <p:spPr>
            <a:xfrm>
              <a:off x="2888654" y="371703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7" name="Oval 16"/>
            <p:cNvSpPr/>
            <p:nvPr/>
          </p:nvSpPr>
          <p:spPr>
            <a:xfrm>
              <a:off x="3464718" y="350100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8" name="Oval 17"/>
            <p:cNvSpPr/>
            <p:nvPr/>
          </p:nvSpPr>
          <p:spPr>
            <a:xfrm>
              <a:off x="3248694" y="436510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1" name="Oval 20"/>
            <p:cNvSpPr/>
            <p:nvPr/>
          </p:nvSpPr>
          <p:spPr>
            <a:xfrm>
              <a:off x="3392710" y="3861048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2" name="Oval 21"/>
            <p:cNvSpPr/>
            <p:nvPr/>
          </p:nvSpPr>
          <p:spPr>
            <a:xfrm>
              <a:off x="3752750" y="407707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3" name="Oval 22"/>
            <p:cNvSpPr/>
            <p:nvPr/>
          </p:nvSpPr>
          <p:spPr>
            <a:xfrm>
              <a:off x="3680742" y="465313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4" name="Oval 23"/>
            <p:cNvSpPr/>
            <p:nvPr/>
          </p:nvSpPr>
          <p:spPr>
            <a:xfrm>
              <a:off x="3608734" y="436510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5" name="Oval 24"/>
            <p:cNvSpPr/>
            <p:nvPr/>
          </p:nvSpPr>
          <p:spPr>
            <a:xfrm>
              <a:off x="4184798" y="414908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6" name="Oval 25"/>
            <p:cNvSpPr/>
            <p:nvPr/>
          </p:nvSpPr>
          <p:spPr>
            <a:xfrm>
              <a:off x="3968774" y="501317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7" name="Oval 26"/>
            <p:cNvSpPr/>
            <p:nvPr/>
          </p:nvSpPr>
          <p:spPr>
            <a:xfrm>
              <a:off x="4112790" y="450912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8" name="Oval 27"/>
            <p:cNvSpPr/>
            <p:nvPr/>
          </p:nvSpPr>
          <p:spPr>
            <a:xfrm>
              <a:off x="3176686" y="3717032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9" name="Oval 28"/>
            <p:cNvSpPr/>
            <p:nvPr/>
          </p:nvSpPr>
          <p:spPr>
            <a:xfrm>
              <a:off x="2960662" y="465313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0" name="Oval 29"/>
            <p:cNvSpPr/>
            <p:nvPr/>
          </p:nvSpPr>
          <p:spPr>
            <a:xfrm>
              <a:off x="2888654" y="436510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1" name="Oval 30"/>
            <p:cNvSpPr/>
            <p:nvPr/>
          </p:nvSpPr>
          <p:spPr>
            <a:xfrm>
              <a:off x="3464718" y="4149080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2" name="Oval 31"/>
            <p:cNvSpPr/>
            <p:nvPr/>
          </p:nvSpPr>
          <p:spPr>
            <a:xfrm>
              <a:off x="3248694" y="5013176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33" name="Oval 32"/>
            <p:cNvSpPr/>
            <p:nvPr/>
          </p:nvSpPr>
          <p:spPr>
            <a:xfrm>
              <a:off x="3392710" y="4725144"/>
              <a:ext cx="216024" cy="216024"/>
            </a:xfrm>
            <a:prstGeom prst="ellipse">
              <a:avLst/>
            </a:prstGeom>
            <a:grp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7230802" y="1580601"/>
            <a:ext cx="314156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DMIN Algorithm</a:t>
            </a:r>
          </a:p>
          <a:p>
            <a:endParaRPr lang="en-US" dirty="0">
              <a:latin typeface="Gill Sans MT" panose="020B0502020104020203" pitchFamily="34" charset="77"/>
              <a:cs typeface="Trebuchet MS"/>
            </a:endParaRPr>
          </a:p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1. Centers of mass of each class</a:t>
            </a:r>
          </a:p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2. Distances</a:t>
            </a:r>
          </a:p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3. Take the class of the minimal</a:t>
            </a:r>
          </a:p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    </a:t>
            </a:r>
            <a:r>
              <a:rPr lang="en-US" sz="8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distance</a:t>
            </a:r>
          </a:p>
        </p:txBody>
      </p:sp>
      <p:sp>
        <p:nvSpPr>
          <p:cNvPr id="44" name="Oval 43"/>
          <p:cNvSpPr/>
          <p:nvPr/>
        </p:nvSpPr>
        <p:spPr>
          <a:xfrm>
            <a:off x="4799856" y="3068960"/>
            <a:ext cx="216024" cy="2160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2135561" y="764705"/>
            <a:ext cx="4924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DMIN: Minimal Distance (two classes)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4911043" y="3186559"/>
            <a:ext cx="216822" cy="1042304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ross 18"/>
          <p:cNvSpPr/>
          <p:nvPr/>
        </p:nvSpPr>
        <p:spPr>
          <a:xfrm>
            <a:off x="5033174" y="4151014"/>
            <a:ext cx="183032" cy="176275"/>
          </a:xfrm>
          <a:prstGeom prst="plus">
            <a:avLst>
              <a:gd name="adj" fmla="val 46493"/>
            </a:avLst>
          </a:prstGeom>
          <a:solidFill>
            <a:srgbClr val="FF0000"/>
          </a:solidFill>
          <a:ln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58" name="Straight Connector 57"/>
          <p:cNvCxnSpPr/>
          <p:nvPr/>
        </p:nvCxnSpPr>
        <p:spPr>
          <a:xfrm>
            <a:off x="4927069" y="3163919"/>
            <a:ext cx="1271632" cy="371481"/>
          </a:xfrm>
          <a:prstGeom prst="line">
            <a:avLst/>
          </a:prstGeom>
          <a:ln w="6350" cmpd="sng">
            <a:solidFill>
              <a:schemeClr val="tx1">
                <a:lumMod val="50000"/>
                <a:lumOff val="50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Cross 58"/>
          <p:cNvSpPr/>
          <p:nvPr/>
        </p:nvSpPr>
        <p:spPr>
          <a:xfrm>
            <a:off x="6141621" y="3440128"/>
            <a:ext cx="183032" cy="176275"/>
          </a:xfrm>
          <a:prstGeom prst="plus">
            <a:avLst>
              <a:gd name="adj" fmla="val 46493"/>
            </a:avLst>
          </a:prstGeom>
          <a:solidFill>
            <a:srgbClr val="0000FF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D64F968-3D87-EA4C-96DC-779A445F71B2}"/>
              </a:ext>
            </a:extLst>
          </p:cNvPr>
          <p:cNvCxnSpPr>
            <a:cxnSpLocks/>
          </p:cNvCxnSpPr>
          <p:nvPr/>
        </p:nvCxnSpPr>
        <p:spPr>
          <a:xfrm>
            <a:off x="4252618" y="1724851"/>
            <a:ext cx="3012635" cy="4514126"/>
          </a:xfrm>
          <a:prstGeom prst="line">
            <a:avLst/>
          </a:prstGeom>
          <a:ln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21657C03-4F1C-0E41-BA8F-62ACA263EF76}"/>
              </a:ext>
            </a:extLst>
          </p:cNvPr>
          <p:cNvCxnSpPr>
            <a:cxnSpLocks/>
          </p:cNvCxnSpPr>
          <p:nvPr/>
        </p:nvCxnSpPr>
        <p:spPr>
          <a:xfrm flipV="1">
            <a:off x="5113116" y="3532727"/>
            <a:ext cx="1108447" cy="71088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67EF82A0-3080-9747-BF1A-7A218FEC7F7A}"/>
              </a:ext>
            </a:extLst>
          </p:cNvPr>
          <p:cNvSpPr txBox="1"/>
          <p:nvPr/>
        </p:nvSpPr>
        <p:spPr>
          <a:xfrm>
            <a:off x="2284872" y="1704341"/>
            <a:ext cx="18790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  <a:cs typeface="Trebuchet MS"/>
              </a:rPr>
              <a:t>Decision Line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7C28574-B716-D647-AA33-B96686CF8981}"/>
              </a:ext>
            </a:extLst>
          </p:cNvPr>
          <p:cNvSpPr/>
          <p:nvPr/>
        </p:nvSpPr>
        <p:spPr>
          <a:xfrm rot="19581566">
            <a:off x="5617553" y="3660434"/>
            <a:ext cx="180000" cy="180000"/>
          </a:xfrm>
          <a:prstGeom prst="rect">
            <a:avLst/>
          </a:prstGeom>
          <a:noFill/>
          <a:ln>
            <a:solidFill>
              <a:schemeClr val="tx2">
                <a:lumMod val="65000"/>
                <a:lumOff val="3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6" name="Right Arrow 95">
            <a:extLst>
              <a:ext uri="{FF2B5EF4-FFF2-40B4-BE49-F238E27FC236}">
                <a16:creationId xmlns:a16="http://schemas.microsoft.com/office/drawing/2014/main" id="{302D1B14-35AE-0B4D-916C-72FFEF16A0D7}"/>
              </a:ext>
            </a:extLst>
          </p:cNvPr>
          <p:cNvSpPr/>
          <p:nvPr/>
        </p:nvSpPr>
        <p:spPr>
          <a:xfrm rot="19800000">
            <a:off x="6720764" y="5050376"/>
            <a:ext cx="314072" cy="246454"/>
          </a:xfrm>
          <a:prstGeom prst="rightArrow">
            <a:avLst/>
          </a:prstGeom>
          <a:solidFill>
            <a:schemeClr val="bg2"/>
          </a:solidFill>
          <a:ln>
            <a:solidFill>
              <a:schemeClr val="tx2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268324C4-5949-6C46-BD10-B4222D9E5449}"/>
              </a:ext>
            </a:extLst>
          </p:cNvPr>
          <p:cNvSpPr txBox="1"/>
          <p:nvPr/>
        </p:nvSpPr>
        <p:spPr>
          <a:xfrm rot="19800000">
            <a:off x="7096867" y="4404889"/>
            <a:ext cx="10214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77"/>
                <a:cs typeface="Trebuchet MS"/>
              </a:rPr>
              <a:t>Classified </a:t>
            </a:r>
          </a:p>
          <a:p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77"/>
                <a:cs typeface="Trebuchet MS"/>
              </a:rPr>
              <a:t>as </a:t>
            </a:r>
            <a:r>
              <a:rPr lang="en-US" sz="1600" dirty="0">
                <a:solidFill>
                  <a:srgbClr val="0000FF"/>
                </a:solidFill>
                <a:latin typeface="Gill Sans MT" panose="020B0502020104020203" pitchFamily="34" charset="77"/>
                <a:cs typeface="Trebuchet MS"/>
              </a:rPr>
              <a:t>Blue</a:t>
            </a:r>
          </a:p>
        </p:txBody>
      </p:sp>
      <p:sp>
        <p:nvSpPr>
          <p:cNvPr id="98" name="Right Arrow 97">
            <a:extLst>
              <a:ext uri="{FF2B5EF4-FFF2-40B4-BE49-F238E27FC236}">
                <a16:creationId xmlns:a16="http://schemas.microsoft.com/office/drawing/2014/main" id="{A6F45A5A-C229-2048-A24A-70E874DFAF9D}"/>
              </a:ext>
            </a:extLst>
          </p:cNvPr>
          <p:cNvSpPr/>
          <p:nvPr/>
        </p:nvSpPr>
        <p:spPr>
          <a:xfrm rot="9000000">
            <a:off x="6270554" y="5309734"/>
            <a:ext cx="314072" cy="246454"/>
          </a:xfrm>
          <a:prstGeom prst="rightArrow">
            <a:avLst/>
          </a:prstGeom>
          <a:solidFill>
            <a:schemeClr val="bg2"/>
          </a:solidFill>
          <a:ln>
            <a:solidFill>
              <a:schemeClr val="tx2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11360A8D-34F7-3B49-881E-40C71CEA5B8F}"/>
              </a:ext>
            </a:extLst>
          </p:cNvPr>
          <p:cNvSpPr txBox="1"/>
          <p:nvPr/>
        </p:nvSpPr>
        <p:spPr>
          <a:xfrm rot="19800000">
            <a:off x="5333223" y="5499176"/>
            <a:ext cx="9637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77"/>
                <a:cs typeface="Trebuchet MS"/>
              </a:rPr>
              <a:t>Classified</a:t>
            </a:r>
          </a:p>
          <a:p>
            <a:pPr algn="r"/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Gill Sans MT" panose="020B0502020104020203" pitchFamily="34" charset="77"/>
                <a:cs typeface="Trebuchet MS"/>
              </a:rPr>
              <a:t>as </a:t>
            </a:r>
            <a:r>
              <a:rPr lang="en-US" sz="1600" dirty="0">
                <a:solidFill>
                  <a:srgbClr val="FF0000"/>
                </a:solidFill>
                <a:latin typeface="Gill Sans MT" panose="020B0502020104020203" pitchFamily="34" charset="77"/>
                <a:cs typeface="Trebuchet MS"/>
              </a:rPr>
              <a:t>Red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5D78CFCC-636D-9B40-9D60-F25A70E47919}"/>
              </a:ext>
            </a:extLst>
          </p:cNvPr>
          <p:cNvSpPr txBox="1"/>
          <p:nvPr/>
        </p:nvSpPr>
        <p:spPr>
          <a:xfrm rot="20809448">
            <a:off x="5323036" y="3829043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rPr>
              <a:t>//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0494875A-8FE6-5542-AF12-771F709BBABB}"/>
              </a:ext>
            </a:extLst>
          </p:cNvPr>
          <p:cNvSpPr txBox="1"/>
          <p:nvPr/>
        </p:nvSpPr>
        <p:spPr>
          <a:xfrm rot="20809448">
            <a:off x="5784660" y="354452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Gill Sans MT" panose="020B0502020104020203" pitchFamily="34" charset="77"/>
              </a:rPr>
              <a:t>//</a:t>
            </a:r>
          </a:p>
        </p:txBody>
      </p:sp>
    </p:spTree>
    <p:extLst>
      <p:ext uri="{BB962C8B-B14F-4D97-AF65-F5344CB8AC3E}">
        <p14:creationId xmlns:p14="http://schemas.microsoft.com/office/powerpoint/2010/main" val="82403511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066801" y="3031067"/>
            <a:ext cx="10058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Gill Sans MT" panose="020B0502020104020203" pitchFamily="34" charset="77"/>
                <a:cs typeface="Trebuchet MS"/>
              </a:rPr>
              <a:t>Bayes</a:t>
            </a:r>
            <a:endParaRPr lang="es-CL" sz="1000" dirty="0">
              <a:latin typeface="Gill Sans MT" panose="020B0502020104020203" pitchFamily="34" charset="77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97670401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1752601" y="152400"/>
            <a:ext cx="240097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Mandarinas vs. Naranjas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075" name="Text Box 3"/>
          <p:cNvSpPr txBox="1">
            <a:spLocks noChangeArrowheads="1"/>
          </p:cNvSpPr>
          <p:nvPr/>
        </p:nvSpPr>
        <p:spPr bwMode="auto">
          <a:xfrm>
            <a:off x="3352800" y="5715001"/>
            <a:ext cx="445506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¿cómo separar las mandarinas de las naranjas?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076" name="Line 4"/>
          <p:cNvSpPr>
            <a:spLocks noChangeShapeType="1"/>
          </p:cNvSpPr>
          <p:nvPr/>
        </p:nvSpPr>
        <p:spPr bwMode="auto">
          <a:xfrm>
            <a:off x="1524000" y="6096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05000" y="1525589"/>
            <a:ext cx="8153400" cy="3705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88728353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3"/>
          <p:cNvSpPr txBox="1">
            <a:spLocks noChangeArrowheads="1"/>
          </p:cNvSpPr>
          <p:nvPr/>
        </p:nvSpPr>
        <p:spPr bwMode="auto">
          <a:xfrm>
            <a:off x="1676400" y="1143000"/>
            <a:ext cx="5852243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Clasificación por tamaño: (las mandarinas son más pequeñas)</a:t>
            </a:r>
          </a:p>
          <a:p>
            <a:pPr algn="l"/>
            <a:endParaRPr lang="es-CL" dirty="0">
              <a:latin typeface="Gill Sans MT" panose="020B0502020104020203" pitchFamily="34" charset="77"/>
            </a:endParaRPr>
          </a:p>
          <a:p>
            <a:pPr algn="l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100" name="Line 5"/>
          <p:cNvSpPr>
            <a:spLocks noChangeShapeType="1"/>
          </p:cNvSpPr>
          <p:nvPr/>
        </p:nvSpPr>
        <p:spPr bwMode="auto">
          <a:xfrm>
            <a:off x="1524000" y="6096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101" name="Text Box 10"/>
          <p:cNvSpPr txBox="1">
            <a:spLocks noChangeArrowheads="1"/>
          </p:cNvSpPr>
          <p:nvPr/>
        </p:nvSpPr>
        <p:spPr bwMode="auto">
          <a:xfrm>
            <a:off x="5965825" y="2551113"/>
            <a:ext cx="222503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Área = 15.457 pixeles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102" name="Text Box 11"/>
          <p:cNvSpPr txBox="1">
            <a:spLocks noChangeArrowheads="1"/>
          </p:cNvSpPr>
          <p:nvPr/>
        </p:nvSpPr>
        <p:spPr bwMode="auto">
          <a:xfrm>
            <a:off x="6057900" y="4800601"/>
            <a:ext cx="222503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Área = 18.583 pixeles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4103" name="Picture 1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62201" y="1905001"/>
            <a:ext cx="3444875" cy="3705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 Box 2">
            <a:extLst>
              <a:ext uri="{FF2B5EF4-FFF2-40B4-BE49-F238E27FC236}">
                <a16:creationId xmlns:a16="http://schemas.microsoft.com/office/drawing/2014/main" id="{706387CF-6DB8-9047-B613-9F1A1D12D2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1" y="152400"/>
            <a:ext cx="240097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Mandarinas vs. Naranjas</a:t>
            </a:r>
            <a:endParaRPr lang="en-US" dirty="0"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943529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1676400" y="1143000"/>
            <a:ext cx="4362797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Extracción de Característica: Área en Pixeles</a:t>
            </a:r>
          </a:p>
          <a:p>
            <a:pPr algn="l"/>
            <a:endParaRPr lang="es-CL" dirty="0">
              <a:latin typeface="Gill Sans MT" panose="020B0502020104020203" pitchFamily="34" charset="77"/>
            </a:endParaRPr>
          </a:p>
          <a:p>
            <a:pPr algn="l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5124" name="Line 4"/>
          <p:cNvSpPr>
            <a:spLocks noChangeShapeType="1"/>
          </p:cNvSpPr>
          <p:nvPr/>
        </p:nvSpPr>
        <p:spPr bwMode="auto">
          <a:xfrm>
            <a:off x="1524000" y="6096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graphicFrame>
        <p:nvGraphicFramePr>
          <p:cNvPr id="10399" name="Group 159"/>
          <p:cNvGraphicFramePr>
            <a:graphicFrameLocks noGrp="1"/>
          </p:cNvGraphicFramePr>
          <p:nvPr/>
        </p:nvGraphicFramePr>
        <p:xfrm>
          <a:off x="1752600" y="1676400"/>
          <a:ext cx="8153400" cy="4663440"/>
        </p:xfrm>
        <a:graphic>
          <a:graphicData uri="http://schemas.openxmlformats.org/drawingml/2006/table">
            <a:tbl>
              <a:tblPr/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0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</a:rPr>
                        <a:t>Naranja-01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</a:rPr>
                        <a:t>19.327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</a:rPr>
                        <a:t>Mandarina-01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</a:rPr>
                        <a:t>13.221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</a:rPr>
                        <a:t>Naranja-02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</a:rPr>
                        <a:t>18.265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</a:rPr>
                        <a:t>Mandarina-02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</a:rPr>
                        <a:t>14.987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</a:rPr>
                        <a:t>Naranja-03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</a:rPr>
                        <a:t>17.456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</a:rPr>
                        <a:t>Mandarina-03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</a:rPr>
                        <a:t>15.321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</a:rPr>
                        <a:t>Naranja-04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</a:rPr>
                        <a:t>19.341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</a:rPr>
                        <a:t>Mandarina-04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</a:rPr>
                        <a:t>15.987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</a:rPr>
                        <a:t>Naranja-05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</a:rPr>
                        <a:t>16.342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</a:rPr>
                        <a:t>Mandarina-05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</a:rPr>
                        <a:t>16.345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</a:rPr>
                        <a:t>Naranja-06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</a:rPr>
                        <a:t>16.987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</a:rPr>
                        <a:t>Mandarina-06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</a:rPr>
                        <a:t>15.965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</a:rPr>
                        <a:t>Naranja-07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</a:rPr>
                        <a:t>17.001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</a:rPr>
                        <a:t>Mandarina-07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</a:rPr>
                        <a:t>16.341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</a:rPr>
                        <a:t>: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</a:rPr>
                        <a:t>19.056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</a:rPr>
                        <a:t>: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CL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</a:rPr>
                        <a:t>Naranja-75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</a:rPr>
                        <a:t>15.900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</a:rPr>
                        <a:t>Mandarina-50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L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Gill Sans MT" panose="020B0502020104020203" pitchFamily="34" charset="77"/>
                        </a:rPr>
                        <a:t>13.439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Gill Sans MT" panose="020B0502020104020203" pitchFamily="34" charset="7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 Box 2">
            <a:extLst>
              <a:ext uri="{FF2B5EF4-FFF2-40B4-BE49-F238E27FC236}">
                <a16:creationId xmlns:a16="http://schemas.microsoft.com/office/drawing/2014/main" id="{FC48D1FD-F2BC-9946-B7BF-A9ED87AD39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1" y="152400"/>
            <a:ext cx="240097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Mandarinas vs. Naranjas</a:t>
            </a:r>
            <a:endParaRPr lang="en-US" dirty="0"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84776584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1676400" y="1143000"/>
            <a:ext cx="1398140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Histogramas:</a:t>
            </a:r>
          </a:p>
          <a:p>
            <a:pPr algn="l"/>
            <a:endParaRPr lang="es-CL" dirty="0">
              <a:latin typeface="Gill Sans MT" panose="020B0502020104020203" pitchFamily="34" charset="77"/>
            </a:endParaRPr>
          </a:p>
          <a:p>
            <a:pPr algn="l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48" name="Line 4"/>
          <p:cNvSpPr>
            <a:spLocks noChangeShapeType="1"/>
          </p:cNvSpPr>
          <p:nvPr/>
        </p:nvSpPr>
        <p:spPr bwMode="auto">
          <a:xfrm>
            <a:off x="1524000" y="6096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49" name="Line 57"/>
          <p:cNvSpPr>
            <a:spLocks noChangeShapeType="1"/>
          </p:cNvSpPr>
          <p:nvPr/>
        </p:nvSpPr>
        <p:spPr bwMode="auto">
          <a:xfrm>
            <a:off x="2286000" y="1752600"/>
            <a:ext cx="18431" cy="279837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1" name="Line 59"/>
          <p:cNvSpPr>
            <a:spLocks noChangeShapeType="1"/>
          </p:cNvSpPr>
          <p:nvPr/>
        </p:nvSpPr>
        <p:spPr bwMode="auto">
          <a:xfrm>
            <a:off x="1905000" y="4290844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3" name="Text Box 61"/>
          <p:cNvSpPr txBox="1">
            <a:spLocks noChangeArrowheads="1"/>
          </p:cNvSpPr>
          <p:nvPr/>
        </p:nvSpPr>
        <p:spPr bwMode="auto">
          <a:xfrm>
            <a:off x="9798050" y="4403839"/>
            <a:ext cx="57759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área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4" name="Text Box 62"/>
          <p:cNvSpPr txBox="1">
            <a:spLocks noChangeArrowheads="1"/>
          </p:cNvSpPr>
          <p:nvPr/>
        </p:nvSpPr>
        <p:spPr bwMode="auto">
          <a:xfrm>
            <a:off x="2305278" y="1894178"/>
            <a:ext cx="301236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Frutas (naranjas y mandarinas)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6" name="Line 64"/>
          <p:cNvSpPr>
            <a:spLocks noChangeShapeType="1"/>
          </p:cNvSpPr>
          <p:nvPr/>
        </p:nvSpPr>
        <p:spPr bwMode="auto">
          <a:xfrm>
            <a:off x="3505200" y="1752600"/>
            <a:ext cx="0" cy="2651238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49A40BC-5121-6547-8C37-A51F350D7387}"/>
              </a:ext>
            </a:extLst>
          </p:cNvPr>
          <p:cNvGrpSpPr/>
          <p:nvPr/>
        </p:nvGrpSpPr>
        <p:grpSpPr>
          <a:xfrm>
            <a:off x="4648200" y="1752601"/>
            <a:ext cx="4953000" cy="2619705"/>
            <a:chOff x="3124200" y="1752600"/>
            <a:chExt cx="4953000" cy="4267200"/>
          </a:xfrm>
        </p:grpSpPr>
        <p:sp>
          <p:nvSpPr>
            <p:cNvPr id="6157" name="Line 65"/>
            <p:cNvSpPr>
              <a:spLocks noChangeShapeType="1"/>
            </p:cNvSpPr>
            <p:nvPr/>
          </p:nvSpPr>
          <p:spPr bwMode="auto">
            <a:xfrm>
              <a:off x="31242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158" name="Line 66"/>
            <p:cNvSpPr>
              <a:spLocks noChangeShapeType="1"/>
            </p:cNvSpPr>
            <p:nvPr/>
          </p:nvSpPr>
          <p:spPr bwMode="auto">
            <a:xfrm>
              <a:off x="43434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159" name="Line 67"/>
            <p:cNvSpPr>
              <a:spLocks noChangeShapeType="1"/>
            </p:cNvSpPr>
            <p:nvPr/>
          </p:nvSpPr>
          <p:spPr bwMode="auto">
            <a:xfrm>
              <a:off x="55626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160" name="Line 68"/>
            <p:cNvSpPr>
              <a:spLocks noChangeShapeType="1"/>
            </p:cNvSpPr>
            <p:nvPr/>
          </p:nvSpPr>
          <p:spPr bwMode="auto">
            <a:xfrm>
              <a:off x="67818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161" name="Line 69"/>
            <p:cNvSpPr>
              <a:spLocks noChangeShapeType="1"/>
            </p:cNvSpPr>
            <p:nvPr/>
          </p:nvSpPr>
          <p:spPr bwMode="auto">
            <a:xfrm>
              <a:off x="80772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6162" name="Text Box 71"/>
          <p:cNvSpPr txBox="1">
            <a:spLocks noChangeArrowheads="1"/>
          </p:cNvSpPr>
          <p:nvPr/>
        </p:nvSpPr>
        <p:spPr bwMode="auto">
          <a:xfrm>
            <a:off x="1981201" y="4632438"/>
            <a:ext cx="760977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8.000        10.000       12.000       14.000         16.000         18.000         20.000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63" name="Rectangle 72"/>
          <p:cNvSpPr>
            <a:spLocks noChangeArrowheads="1"/>
          </p:cNvSpPr>
          <p:nvPr/>
        </p:nvSpPr>
        <p:spPr bwMode="auto">
          <a:xfrm>
            <a:off x="3276600" y="3909844"/>
            <a:ext cx="4572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4" name="Rectangle 73"/>
          <p:cNvSpPr>
            <a:spLocks noChangeArrowheads="1"/>
          </p:cNvSpPr>
          <p:nvPr/>
        </p:nvSpPr>
        <p:spPr bwMode="auto">
          <a:xfrm>
            <a:off x="3810000" y="3757444"/>
            <a:ext cx="5334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5" name="Rectangle 74"/>
          <p:cNvSpPr>
            <a:spLocks noChangeArrowheads="1"/>
          </p:cNvSpPr>
          <p:nvPr/>
        </p:nvSpPr>
        <p:spPr bwMode="auto">
          <a:xfrm>
            <a:off x="4419600" y="3605044"/>
            <a:ext cx="4572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6" name="Rectangle 75"/>
          <p:cNvSpPr>
            <a:spLocks noChangeArrowheads="1"/>
          </p:cNvSpPr>
          <p:nvPr/>
        </p:nvSpPr>
        <p:spPr bwMode="auto">
          <a:xfrm>
            <a:off x="5029200" y="3300244"/>
            <a:ext cx="457200" cy="990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7" name="Rectangle 76"/>
          <p:cNvSpPr>
            <a:spLocks noChangeArrowheads="1"/>
          </p:cNvSpPr>
          <p:nvPr/>
        </p:nvSpPr>
        <p:spPr bwMode="auto">
          <a:xfrm>
            <a:off x="5638800" y="3376444"/>
            <a:ext cx="4572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8" name="Rectangle 77"/>
          <p:cNvSpPr>
            <a:spLocks noChangeArrowheads="1"/>
          </p:cNvSpPr>
          <p:nvPr/>
        </p:nvSpPr>
        <p:spPr bwMode="auto">
          <a:xfrm>
            <a:off x="6248400" y="3757444"/>
            <a:ext cx="4572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9" name="Rectangle 78"/>
          <p:cNvSpPr>
            <a:spLocks noChangeArrowheads="1"/>
          </p:cNvSpPr>
          <p:nvPr/>
        </p:nvSpPr>
        <p:spPr bwMode="auto">
          <a:xfrm>
            <a:off x="6858000" y="3757444"/>
            <a:ext cx="4572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70" name="Rectangle 80"/>
          <p:cNvSpPr>
            <a:spLocks noChangeArrowheads="1"/>
          </p:cNvSpPr>
          <p:nvPr/>
        </p:nvSpPr>
        <p:spPr bwMode="auto">
          <a:xfrm flipH="1">
            <a:off x="9372600" y="3876021"/>
            <a:ext cx="457200" cy="4095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71" name="Rectangle 81"/>
          <p:cNvSpPr>
            <a:spLocks noChangeArrowheads="1"/>
          </p:cNvSpPr>
          <p:nvPr/>
        </p:nvSpPr>
        <p:spPr bwMode="auto">
          <a:xfrm flipH="1">
            <a:off x="8686800" y="3710921"/>
            <a:ext cx="457200" cy="5746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72" name="Rectangle 82"/>
          <p:cNvSpPr>
            <a:spLocks noChangeArrowheads="1"/>
          </p:cNvSpPr>
          <p:nvPr/>
        </p:nvSpPr>
        <p:spPr bwMode="auto">
          <a:xfrm flipH="1">
            <a:off x="8077200" y="3547409"/>
            <a:ext cx="457200" cy="7381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73" name="Rectangle 83"/>
          <p:cNvSpPr>
            <a:spLocks noChangeArrowheads="1"/>
          </p:cNvSpPr>
          <p:nvPr/>
        </p:nvSpPr>
        <p:spPr bwMode="auto">
          <a:xfrm flipH="1">
            <a:off x="7467600" y="3218795"/>
            <a:ext cx="457200" cy="1066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33" name="Text Box 2">
            <a:extLst>
              <a:ext uri="{FF2B5EF4-FFF2-40B4-BE49-F238E27FC236}">
                <a16:creationId xmlns:a16="http://schemas.microsoft.com/office/drawing/2014/main" id="{B631265C-3D24-DC47-B63F-A205E44EAF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1" y="152400"/>
            <a:ext cx="240097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Mandarinas vs. Naranjas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9C29C6-8B5F-A04E-AD2F-E5AD196233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9499" y="2462815"/>
            <a:ext cx="1905000" cy="64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83109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1676400" y="1143000"/>
            <a:ext cx="1398140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Histogramas:</a:t>
            </a:r>
          </a:p>
          <a:p>
            <a:pPr algn="l"/>
            <a:endParaRPr lang="es-CL" dirty="0">
              <a:latin typeface="Gill Sans MT" panose="020B0502020104020203" pitchFamily="34" charset="77"/>
            </a:endParaRPr>
          </a:p>
          <a:p>
            <a:pPr algn="l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48" name="Line 4"/>
          <p:cNvSpPr>
            <a:spLocks noChangeShapeType="1"/>
          </p:cNvSpPr>
          <p:nvPr/>
        </p:nvSpPr>
        <p:spPr bwMode="auto">
          <a:xfrm>
            <a:off x="1524000" y="6096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49" name="Line 57"/>
          <p:cNvSpPr>
            <a:spLocks noChangeShapeType="1"/>
          </p:cNvSpPr>
          <p:nvPr/>
        </p:nvSpPr>
        <p:spPr bwMode="auto">
          <a:xfrm>
            <a:off x="2286000" y="1752600"/>
            <a:ext cx="0" cy="419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0" name="Line 58"/>
          <p:cNvSpPr>
            <a:spLocks noChangeShapeType="1"/>
          </p:cNvSpPr>
          <p:nvPr/>
        </p:nvSpPr>
        <p:spPr bwMode="auto">
          <a:xfrm>
            <a:off x="1981200" y="5715000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1" name="Line 59"/>
          <p:cNvSpPr>
            <a:spLocks noChangeShapeType="1"/>
          </p:cNvSpPr>
          <p:nvPr/>
        </p:nvSpPr>
        <p:spPr bwMode="auto">
          <a:xfrm>
            <a:off x="1905000" y="3429000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2" name="Text Box 60"/>
          <p:cNvSpPr txBox="1">
            <a:spLocks noChangeArrowheads="1"/>
          </p:cNvSpPr>
          <p:nvPr/>
        </p:nvSpPr>
        <p:spPr bwMode="auto">
          <a:xfrm>
            <a:off x="9782175" y="3541713"/>
            <a:ext cx="57759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área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3" name="Text Box 61"/>
          <p:cNvSpPr txBox="1">
            <a:spLocks noChangeArrowheads="1"/>
          </p:cNvSpPr>
          <p:nvPr/>
        </p:nvSpPr>
        <p:spPr bwMode="auto">
          <a:xfrm>
            <a:off x="9798050" y="5791201"/>
            <a:ext cx="57759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área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4" name="Text Box 62"/>
          <p:cNvSpPr txBox="1">
            <a:spLocks noChangeArrowheads="1"/>
          </p:cNvSpPr>
          <p:nvPr/>
        </p:nvSpPr>
        <p:spPr bwMode="auto">
          <a:xfrm>
            <a:off x="2362200" y="1828801"/>
            <a:ext cx="123463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mandarinas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5" name="Text Box 63"/>
          <p:cNvSpPr txBox="1">
            <a:spLocks noChangeArrowheads="1"/>
          </p:cNvSpPr>
          <p:nvPr/>
        </p:nvSpPr>
        <p:spPr bwMode="auto">
          <a:xfrm>
            <a:off x="2286001" y="4191000"/>
            <a:ext cx="93968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naranjas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6" name="Line 64"/>
          <p:cNvSpPr>
            <a:spLocks noChangeShapeType="1"/>
          </p:cNvSpPr>
          <p:nvPr/>
        </p:nvSpPr>
        <p:spPr bwMode="auto">
          <a:xfrm>
            <a:off x="3505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7" name="Line 65"/>
          <p:cNvSpPr>
            <a:spLocks noChangeShapeType="1"/>
          </p:cNvSpPr>
          <p:nvPr/>
        </p:nvSpPr>
        <p:spPr bwMode="auto">
          <a:xfrm>
            <a:off x="4648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8" name="Line 66"/>
          <p:cNvSpPr>
            <a:spLocks noChangeShapeType="1"/>
          </p:cNvSpPr>
          <p:nvPr/>
        </p:nvSpPr>
        <p:spPr bwMode="auto">
          <a:xfrm>
            <a:off x="58674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9" name="Line 67"/>
          <p:cNvSpPr>
            <a:spLocks noChangeShapeType="1"/>
          </p:cNvSpPr>
          <p:nvPr/>
        </p:nvSpPr>
        <p:spPr bwMode="auto">
          <a:xfrm>
            <a:off x="70866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60" name="Line 68"/>
          <p:cNvSpPr>
            <a:spLocks noChangeShapeType="1"/>
          </p:cNvSpPr>
          <p:nvPr/>
        </p:nvSpPr>
        <p:spPr bwMode="auto">
          <a:xfrm>
            <a:off x="83058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61" name="Line 69"/>
          <p:cNvSpPr>
            <a:spLocks noChangeShapeType="1"/>
          </p:cNvSpPr>
          <p:nvPr/>
        </p:nvSpPr>
        <p:spPr bwMode="auto">
          <a:xfrm>
            <a:off x="9601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62" name="Text Box 71"/>
          <p:cNvSpPr txBox="1">
            <a:spLocks noChangeArrowheads="1"/>
          </p:cNvSpPr>
          <p:nvPr/>
        </p:nvSpPr>
        <p:spPr bwMode="auto">
          <a:xfrm>
            <a:off x="1981201" y="6019800"/>
            <a:ext cx="760977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8.000        10.000       12.000       14.000         16.000         18.000         20.000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63" name="Rectangle 72"/>
          <p:cNvSpPr>
            <a:spLocks noChangeArrowheads="1"/>
          </p:cNvSpPr>
          <p:nvPr/>
        </p:nvSpPr>
        <p:spPr bwMode="auto">
          <a:xfrm>
            <a:off x="3276600" y="3048000"/>
            <a:ext cx="4572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4" name="Rectangle 73"/>
          <p:cNvSpPr>
            <a:spLocks noChangeArrowheads="1"/>
          </p:cNvSpPr>
          <p:nvPr/>
        </p:nvSpPr>
        <p:spPr bwMode="auto">
          <a:xfrm>
            <a:off x="3810000" y="2895600"/>
            <a:ext cx="5334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5" name="Rectangle 74"/>
          <p:cNvSpPr>
            <a:spLocks noChangeArrowheads="1"/>
          </p:cNvSpPr>
          <p:nvPr/>
        </p:nvSpPr>
        <p:spPr bwMode="auto">
          <a:xfrm>
            <a:off x="4419600" y="2743200"/>
            <a:ext cx="4572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6" name="Rectangle 75"/>
          <p:cNvSpPr>
            <a:spLocks noChangeArrowheads="1"/>
          </p:cNvSpPr>
          <p:nvPr/>
        </p:nvSpPr>
        <p:spPr bwMode="auto">
          <a:xfrm>
            <a:off x="5029200" y="2438400"/>
            <a:ext cx="457200" cy="990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7" name="Rectangle 76"/>
          <p:cNvSpPr>
            <a:spLocks noChangeArrowheads="1"/>
          </p:cNvSpPr>
          <p:nvPr/>
        </p:nvSpPr>
        <p:spPr bwMode="auto">
          <a:xfrm>
            <a:off x="5638800" y="2514600"/>
            <a:ext cx="4572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8" name="Rectangle 77"/>
          <p:cNvSpPr>
            <a:spLocks noChangeArrowheads="1"/>
          </p:cNvSpPr>
          <p:nvPr/>
        </p:nvSpPr>
        <p:spPr bwMode="auto">
          <a:xfrm>
            <a:off x="6248400" y="2971800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9" name="Rectangle 78"/>
          <p:cNvSpPr>
            <a:spLocks noChangeArrowheads="1"/>
          </p:cNvSpPr>
          <p:nvPr/>
        </p:nvSpPr>
        <p:spPr bwMode="auto">
          <a:xfrm>
            <a:off x="6858000" y="3200400"/>
            <a:ext cx="457200" cy="228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70" name="Rectangle 80"/>
          <p:cNvSpPr>
            <a:spLocks noChangeArrowheads="1"/>
          </p:cNvSpPr>
          <p:nvPr/>
        </p:nvSpPr>
        <p:spPr bwMode="auto">
          <a:xfrm flipH="1">
            <a:off x="9372600" y="5305426"/>
            <a:ext cx="457200" cy="4095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71" name="Rectangle 81"/>
          <p:cNvSpPr>
            <a:spLocks noChangeArrowheads="1"/>
          </p:cNvSpPr>
          <p:nvPr/>
        </p:nvSpPr>
        <p:spPr bwMode="auto">
          <a:xfrm flipH="1">
            <a:off x="8686800" y="5140326"/>
            <a:ext cx="457200" cy="5746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72" name="Rectangle 82"/>
          <p:cNvSpPr>
            <a:spLocks noChangeArrowheads="1"/>
          </p:cNvSpPr>
          <p:nvPr/>
        </p:nvSpPr>
        <p:spPr bwMode="auto">
          <a:xfrm flipH="1">
            <a:off x="8077200" y="4976814"/>
            <a:ext cx="457200" cy="7381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73" name="Rectangle 83"/>
          <p:cNvSpPr>
            <a:spLocks noChangeArrowheads="1"/>
          </p:cNvSpPr>
          <p:nvPr/>
        </p:nvSpPr>
        <p:spPr bwMode="auto">
          <a:xfrm flipH="1">
            <a:off x="7467600" y="4648200"/>
            <a:ext cx="457200" cy="1066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74" name="Rectangle 84"/>
          <p:cNvSpPr>
            <a:spLocks noChangeArrowheads="1"/>
          </p:cNvSpPr>
          <p:nvPr/>
        </p:nvSpPr>
        <p:spPr bwMode="auto">
          <a:xfrm flipH="1">
            <a:off x="6858000" y="5257800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75" name="Rectangle 85"/>
          <p:cNvSpPr>
            <a:spLocks noChangeArrowheads="1"/>
          </p:cNvSpPr>
          <p:nvPr/>
        </p:nvSpPr>
        <p:spPr bwMode="auto">
          <a:xfrm flipH="1">
            <a:off x="6248400" y="5562600"/>
            <a:ext cx="4572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33" name="Text Box 2">
            <a:extLst>
              <a:ext uri="{FF2B5EF4-FFF2-40B4-BE49-F238E27FC236}">
                <a16:creationId xmlns:a16="http://schemas.microsoft.com/office/drawing/2014/main" id="{B631265C-3D24-DC47-B63F-A205E44EAF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1" y="152400"/>
            <a:ext cx="240097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Mandarinas vs. Naranjas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CA5238C-C204-7548-B773-BE6CFD028A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4" y="4385038"/>
            <a:ext cx="914395" cy="35328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320965F-46F7-E540-886B-3A43DF7233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7626" y="2225973"/>
            <a:ext cx="920749" cy="353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91912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1676400" y="1143000"/>
            <a:ext cx="3321743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PDF: Probability Density Function</a:t>
            </a:r>
          </a:p>
          <a:p>
            <a:pPr algn="l"/>
            <a:endParaRPr lang="es-CL" dirty="0">
              <a:latin typeface="Gill Sans MT" panose="020B0502020104020203" pitchFamily="34" charset="77"/>
            </a:endParaRPr>
          </a:p>
          <a:p>
            <a:pPr algn="l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48" name="Line 4"/>
          <p:cNvSpPr>
            <a:spLocks noChangeShapeType="1"/>
          </p:cNvSpPr>
          <p:nvPr/>
        </p:nvSpPr>
        <p:spPr bwMode="auto">
          <a:xfrm>
            <a:off x="1524000" y="6096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49" name="Line 57"/>
          <p:cNvSpPr>
            <a:spLocks noChangeShapeType="1"/>
          </p:cNvSpPr>
          <p:nvPr/>
        </p:nvSpPr>
        <p:spPr bwMode="auto">
          <a:xfrm>
            <a:off x="2286000" y="1752600"/>
            <a:ext cx="0" cy="419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0" name="Line 58"/>
          <p:cNvSpPr>
            <a:spLocks noChangeShapeType="1"/>
          </p:cNvSpPr>
          <p:nvPr/>
        </p:nvSpPr>
        <p:spPr bwMode="auto">
          <a:xfrm>
            <a:off x="1981200" y="5715000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1" name="Line 59"/>
          <p:cNvSpPr>
            <a:spLocks noChangeShapeType="1"/>
          </p:cNvSpPr>
          <p:nvPr/>
        </p:nvSpPr>
        <p:spPr bwMode="auto">
          <a:xfrm>
            <a:off x="1905000" y="3429000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2" name="Text Box 60"/>
          <p:cNvSpPr txBox="1">
            <a:spLocks noChangeArrowheads="1"/>
          </p:cNvSpPr>
          <p:nvPr/>
        </p:nvSpPr>
        <p:spPr bwMode="auto">
          <a:xfrm>
            <a:off x="9782175" y="3541713"/>
            <a:ext cx="57759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área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3" name="Text Box 61"/>
          <p:cNvSpPr txBox="1">
            <a:spLocks noChangeArrowheads="1"/>
          </p:cNvSpPr>
          <p:nvPr/>
        </p:nvSpPr>
        <p:spPr bwMode="auto">
          <a:xfrm>
            <a:off x="9798050" y="5791201"/>
            <a:ext cx="57759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área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4" name="Text Box 62"/>
          <p:cNvSpPr txBox="1">
            <a:spLocks noChangeArrowheads="1"/>
          </p:cNvSpPr>
          <p:nvPr/>
        </p:nvSpPr>
        <p:spPr bwMode="auto">
          <a:xfrm>
            <a:off x="2362200" y="1828801"/>
            <a:ext cx="123463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mandarinas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5" name="Text Box 63"/>
          <p:cNvSpPr txBox="1">
            <a:spLocks noChangeArrowheads="1"/>
          </p:cNvSpPr>
          <p:nvPr/>
        </p:nvSpPr>
        <p:spPr bwMode="auto">
          <a:xfrm>
            <a:off x="2286000" y="4191001"/>
            <a:ext cx="93968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naranjas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6" name="Line 64"/>
          <p:cNvSpPr>
            <a:spLocks noChangeShapeType="1"/>
          </p:cNvSpPr>
          <p:nvPr/>
        </p:nvSpPr>
        <p:spPr bwMode="auto">
          <a:xfrm>
            <a:off x="3505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7" name="Line 65"/>
          <p:cNvSpPr>
            <a:spLocks noChangeShapeType="1"/>
          </p:cNvSpPr>
          <p:nvPr/>
        </p:nvSpPr>
        <p:spPr bwMode="auto">
          <a:xfrm>
            <a:off x="4648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8" name="Line 66"/>
          <p:cNvSpPr>
            <a:spLocks noChangeShapeType="1"/>
          </p:cNvSpPr>
          <p:nvPr/>
        </p:nvSpPr>
        <p:spPr bwMode="auto">
          <a:xfrm>
            <a:off x="58674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9" name="Line 67"/>
          <p:cNvSpPr>
            <a:spLocks noChangeShapeType="1"/>
          </p:cNvSpPr>
          <p:nvPr/>
        </p:nvSpPr>
        <p:spPr bwMode="auto">
          <a:xfrm>
            <a:off x="70866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60" name="Line 68"/>
          <p:cNvSpPr>
            <a:spLocks noChangeShapeType="1"/>
          </p:cNvSpPr>
          <p:nvPr/>
        </p:nvSpPr>
        <p:spPr bwMode="auto">
          <a:xfrm>
            <a:off x="83058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61" name="Line 69"/>
          <p:cNvSpPr>
            <a:spLocks noChangeShapeType="1"/>
          </p:cNvSpPr>
          <p:nvPr/>
        </p:nvSpPr>
        <p:spPr bwMode="auto">
          <a:xfrm>
            <a:off x="9601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62" name="Text Box 71"/>
          <p:cNvSpPr txBox="1">
            <a:spLocks noChangeArrowheads="1"/>
          </p:cNvSpPr>
          <p:nvPr/>
        </p:nvSpPr>
        <p:spPr bwMode="auto">
          <a:xfrm>
            <a:off x="1981201" y="6019800"/>
            <a:ext cx="760977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8.000        10.000       12.000       14.000         16.000         18.000         20.000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63" name="Rectangle 72"/>
          <p:cNvSpPr>
            <a:spLocks noChangeArrowheads="1"/>
          </p:cNvSpPr>
          <p:nvPr/>
        </p:nvSpPr>
        <p:spPr bwMode="auto">
          <a:xfrm>
            <a:off x="3276600" y="3048000"/>
            <a:ext cx="4572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4" name="Rectangle 73"/>
          <p:cNvSpPr>
            <a:spLocks noChangeArrowheads="1"/>
          </p:cNvSpPr>
          <p:nvPr/>
        </p:nvSpPr>
        <p:spPr bwMode="auto">
          <a:xfrm>
            <a:off x="3810000" y="2895600"/>
            <a:ext cx="5334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5" name="Rectangle 74"/>
          <p:cNvSpPr>
            <a:spLocks noChangeArrowheads="1"/>
          </p:cNvSpPr>
          <p:nvPr/>
        </p:nvSpPr>
        <p:spPr bwMode="auto">
          <a:xfrm>
            <a:off x="4419600" y="2743200"/>
            <a:ext cx="4572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6" name="Rectangle 75"/>
          <p:cNvSpPr>
            <a:spLocks noChangeArrowheads="1"/>
          </p:cNvSpPr>
          <p:nvPr/>
        </p:nvSpPr>
        <p:spPr bwMode="auto">
          <a:xfrm>
            <a:off x="5029200" y="2438400"/>
            <a:ext cx="457200" cy="990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7" name="Rectangle 76"/>
          <p:cNvSpPr>
            <a:spLocks noChangeArrowheads="1"/>
          </p:cNvSpPr>
          <p:nvPr/>
        </p:nvSpPr>
        <p:spPr bwMode="auto">
          <a:xfrm>
            <a:off x="5638800" y="2514600"/>
            <a:ext cx="4572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8" name="Rectangle 77"/>
          <p:cNvSpPr>
            <a:spLocks noChangeArrowheads="1"/>
          </p:cNvSpPr>
          <p:nvPr/>
        </p:nvSpPr>
        <p:spPr bwMode="auto">
          <a:xfrm>
            <a:off x="6248400" y="2971800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9" name="Rectangle 78"/>
          <p:cNvSpPr>
            <a:spLocks noChangeArrowheads="1"/>
          </p:cNvSpPr>
          <p:nvPr/>
        </p:nvSpPr>
        <p:spPr bwMode="auto">
          <a:xfrm>
            <a:off x="6858000" y="3200400"/>
            <a:ext cx="457200" cy="228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70" name="Rectangle 80"/>
          <p:cNvSpPr>
            <a:spLocks noChangeArrowheads="1"/>
          </p:cNvSpPr>
          <p:nvPr/>
        </p:nvSpPr>
        <p:spPr bwMode="auto">
          <a:xfrm flipH="1">
            <a:off x="9372600" y="5305426"/>
            <a:ext cx="457200" cy="4095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71" name="Rectangle 81"/>
          <p:cNvSpPr>
            <a:spLocks noChangeArrowheads="1"/>
          </p:cNvSpPr>
          <p:nvPr/>
        </p:nvSpPr>
        <p:spPr bwMode="auto">
          <a:xfrm flipH="1">
            <a:off x="8686800" y="5140326"/>
            <a:ext cx="457200" cy="5746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72" name="Rectangle 82"/>
          <p:cNvSpPr>
            <a:spLocks noChangeArrowheads="1"/>
          </p:cNvSpPr>
          <p:nvPr/>
        </p:nvSpPr>
        <p:spPr bwMode="auto">
          <a:xfrm flipH="1">
            <a:off x="8077200" y="4976814"/>
            <a:ext cx="457200" cy="7381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73" name="Rectangle 83"/>
          <p:cNvSpPr>
            <a:spLocks noChangeArrowheads="1"/>
          </p:cNvSpPr>
          <p:nvPr/>
        </p:nvSpPr>
        <p:spPr bwMode="auto">
          <a:xfrm flipH="1">
            <a:off x="7467600" y="4648200"/>
            <a:ext cx="457200" cy="1066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74" name="Rectangle 84"/>
          <p:cNvSpPr>
            <a:spLocks noChangeArrowheads="1"/>
          </p:cNvSpPr>
          <p:nvPr/>
        </p:nvSpPr>
        <p:spPr bwMode="auto">
          <a:xfrm flipH="1">
            <a:off x="6858000" y="5257800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75" name="Rectangle 85"/>
          <p:cNvSpPr>
            <a:spLocks noChangeArrowheads="1"/>
          </p:cNvSpPr>
          <p:nvPr/>
        </p:nvSpPr>
        <p:spPr bwMode="auto">
          <a:xfrm flipH="1">
            <a:off x="6248400" y="5562600"/>
            <a:ext cx="4572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33" name="Text Box 2">
            <a:extLst>
              <a:ext uri="{FF2B5EF4-FFF2-40B4-BE49-F238E27FC236}">
                <a16:creationId xmlns:a16="http://schemas.microsoft.com/office/drawing/2014/main" id="{B631265C-3D24-DC47-B63F-A205E44EAF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1" y="152400"/>
            <a:ext cx="240097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Mandarinas vs. Naranjas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FC3E7698-5780-4F46-AC36-662AA1C0B647}"/>
              </a:ext>
            </a:extLst>
          </p:cNvPr>
          <p:cNvSpPr/>
          <p:nvPr/>
        </p:nvSpPr>
        <p:spPr>
          <a:xfrm>
            <a:off x="2406870" y="2440736"/>
            <a:ext cx="5885793" cy="994101"/>
          </a:xfrm>
          <a:custGeom>
            <a:avLst/>
            <a:gdLst>
              <a:gd name="connsiteX0" fmla="*/ 0 w 5885793"/>
              <a:gd name="connsiteY0" fmla="*/ 985636 h 1026265"/>
              <a:gd name="connsiteX1" fmla="*/ 399393 w 5885793"/>
              <a:gd name="connsiteY1" fmla="*/ 996147 h 1026265"/>
              <a:gd name="connsiteX2" fmla="*/ 1082565 w 5885793"/>
              <a:gd name="connsiteY2" fmla="*/ 649305 h 1026265"/>
              <a:gd name="connsiteX3" fmla="*/ 1692165 w 5885793"/>
              <a:gd name="connsiteY3" fmla="*/ 481140 h 1026265"/>
              <a:gd name="connsiteX4" fmla="*/ 2228193 w 5885793"/>
              <a:gd name="connsiteY4" fmla="*/ 302464 h 1026265"/>
              <a:gd name="connsiteX5" fmla="*/ 2795752 w 5885793"/>
              <a:gd name="connsiteY5" fmla="*/ 18685 h 1026265"/>
              <a:gd name="connsiteX6" fmla="*/ 3478924 w 5885793"/>
              <a:gd name="connsiteY6" fmla="*/ 81747 h 1026265"/>
              <a:gd name="connsiteX7" fmla="*/ 4067503 w 5885793"/>
              <a:gd name="connsiteY7" fmla="*/ 523181 h 1026265"/>
              <a:gd name="connsiteX8" fmla="*/ 4687614 w 5885793"/>
              <a:gd name="connsiteY8" fmla="*/ 775430 h 1026265"/>
              <a:gd name="connsiteX9" fmla="*/ 5433848 w 5885793"/>
              <a:gd name="connsiteY9" fmla="*/ 985636 h 1026265"/>
              <a:gd name="connsiteX10" fmla="*/ 5885793 w 5885793"/>
              <a:gd name="connsiteY10" fmla="*/ 975126 h 1026265"/>
              <a:gd name="connsiteX0" fmla="*/ 0 w 5885793"/>
              <a:gd name="connsiteY0" fmla="*/ 985636 h 1002712"/>
              <a:gd name="connsiteX1" fmla="*/ 472965 w 5885793"/>
              <a:gd name="connsiteY1" fmla="*/ 922575 h 1002712"/>
              <a:gd name="connsiteX2" fmla="*/ 1082565 w 5885793"/>
              <a:gd name="connsiteY2" fmla="*/ 649305 h 1002712"/>
              <a:gd name="connsiteX3" fmla="*/ 1692165 w 5885793"/>
              <a:gd name="connsiteY3" fmla="*/ 481140 h 1002712"/>
              <a:gd name="connsiteX4" fmla="*/ 2228193 w 5885793"/>
              <a:gd name="connsiteY4" fmla="*/ 302464 h 1002712"/>
              <a:gd name="connsiteX5" fmla="*/ 2795752 w 5885793"/>
              <a:gd name="connsiteY5" fmla="*/ 18685 h 1002712"/>
              <a:gd name="connsiteX6" fmla="*/ 3478924 w 5885793"/>
              <a:gd name="connsiteY6" fmla="*/ 81747 h 1002712"/>
              <a:gd name="connsiteX7" fmla="*/ 4067503 w 5885793"/>
              <a:gd name="connsiteY7" fmla="*/ 523181 h 1002712"/>
              <a:gd name="connsiteX8" fmla="*/ 4687614 w 5885793"/>
              <a:gd name="connsiteY8" fmla="*/ 775430 h 1002712"/>
              <a:gd name="connsiteX9" fmla="*/ 5433848 w 5885793"/>
              <a:gd name="connsiteY9" fmla="*/ 985636 h 1002712"/>
              <a:gd name="connsiteX10" fmla="*/ 5885793 w 5885793"/>
              <a:gd name="connsiteY10" fmla="*/ 975126 h 1002712"/>
              <a:gd name="connsiteX0" fmla="*/ 0 w 5885793"/>
              <a:gd name="connsiteY0" fmla="*/ 985636 h 1002712"/>
              <a:gd name="connsiteX1" fmla="*/ 567559 w 5885793"/>
              <a:gd name="connsiteY1" fmla="*/ 891044 h 1002712"/>
              <a:gd name="connsiteX2" fmla="*/ 1082565 w 5885793"/>
              <a:gd name="connsiteY2" fmla="*/ 649305 h 1002712"/>
              <a:gd name="connsiteX3" fmla="*/ 1692165 w 5885793"/>
              <a:gd name="connsiteY3" fmla="*/ 481140 h 1002712"/>
              <a:gd name="connsiteX4" fmla="*/ 2228193 w 5885793"/>
              <a:gd name="connsiteY4" fmla="*/ 302464 h 1002712"/>
              <a:gd name="connsiteX5" fmla="*/ 2795752 w 5885793"/>
              <a:gd name="connsiteY5" fmla="*/ 18685 h 1002712"/>
              <a:gd name="connsiteX6" fmla="*/ 3478924 w 5885793"/>
              <a:gd name="connsiteY6" fmla="*/ 81747 h 1002712"/>
              <a:gd name="connsiteX7" fmla="*/ 4067503 w 5885793"/>
              <a:gd name="connsiteY7" fmla="*/ 523181 h 1002712"/>
              <a:gd name="connsiteX8" fmla="*/ 4687614 w 5885793"/>
              <a:gd name="connsiteY8" fmla="*/ 775430 h 1002712"/>
              <a:gd name="connsiteX9" fmla="*/ 5433848 w 5885793"/>
              <a:gd name="connsiteY9" fmla="*/ 985636 h 1002712"/>
              <a:gd name="connsiteX10" fmla="*/ 5885793 w 5885793"/>
              <a:gd name="connsiteY10" fmla="*/ 975126 h 1002712"/>
              <a:gd name="connsiteX0" fmla="*/ 0 w 5885793"/>
              <a:gd name="connsiteY0" fmla="*/ 985636 h 994101"/>
              <a:gd name="connsiteX1" fmla="*/ 567559 w 5885793"/>
              <a:gd name="connsiteY1" fmla="*/ 891044 h 994101"/>
              <a:gd name="connsiteX2" fmla="*/ 1082565 w 5885793"/>
              <a:gd name="connsiteY2" fmla="*/ 649305 h 994101"/>
              <a:gd name="connsiteX3" fmla="*/ 1692165 w 5885793"/>
              <a:gd name="connsiteY3" fmla="*/ 481140 h 994101"/>
              <a:gd name="connsiteX4" fmla="*/ 2228193 w 5885793"/>
              <a:gd name="connsiteY4" fmla="*/ 302464 h 994101"/>
              <a:gd name="connsiteX5" fmla="*/ 2795752 w 5885793"/>
              <a:gd name="connsiteY5" fmla="*/ 18685 h 994101"/>
              <a:gd name="connsiteX6" fmla="*/ 3478924 w 5885793"/>
              <a:gd name="connsiteY6" fmla="*/ 81747 h 994101"/>
              <a:gd name="connsiteX7" fmla="*/ 4067503 w 5885793"/>
              <a:gd name="connsiteY7" fmla="*/ 523181 h 994101"/>
              <a:gd name="connsiteX8" fmla="*/ 4687614 w 5885793"/>
              <a:gd name="connsiteY8" fmla="*/ 775430 h 994101"/>
              <a:gd name="connsiteX9" fmla="*/ 5349765 w 5885793"/>
              <a:gd name="connsiteY9" fmla="*/ 954105 h 994101"/>
              <a:gd name="connsiteX10" fmla="*/ 5885793 w 5885793"/>
              <a:gd name="connsiteY10" fmla="*/ 975126 h 99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885793" h="994101">
                <a:moveTo>
                  <a:pt x="0" y="985636"/>
                </a:moveTo>
                <a:cubicBezTo>
                  <a:pt x="109483" y="1018919"/>
                  <a:pt x="387132" y="947099"/>
                  <a:pt x="567559" y="891044"/>
                </a:cubicBezTo>
                <a:cubicBezTo>
                  <a:pt x="747986" y="834989"/>
                  <a:pt x="895131" y="717622"/>
                  <a:pt x="1082565" y="649305"/>
                </a:cubicBezTo>
                <a:cubicBezTo>
                  <a:pt x="1269999" y="580988"/>
                  <a:pt x="1501227" y="538947"/>
                  <a:pt x="1692165" y="481140"/>
                </a:cubicBezTo>
                <a:cubicBezTo>
                  <a:pt x="1883103" y="423333"/>
                  <a:pt x="2044262" y="379540"/>
                  <a:pt x="2228193" y="302464"/>
                </a:cubicBezTo>
                <a:cubicBezTo>
                  <a:pt x="2412124" y="225388"/>
                  <a:pt x="2587297" y="55471"/>
                  <a:pt x="2795752" y="18685"/>
                </a:cubicBezTo>
                <a:cubicBezTo>
                  <a:pt x="3004207" y="-18101"/>
                  <a:pt x="3266966" y="-2336"/>
                  <a:pt x="3478924" y="81747"/>
                </a:cubicBezTo>
                <a:cubicBezTo>
                  <a:pt x="3690882" y="165830"/>
                  <a:pt x="3866055" y="407567"/>
                  <a:pt x="4067503" y="523181"/>
                </a:cubicBezTo>
                <a:cubicBezTo>
                  <a:pt x="4268951" y="638795"/>
                  <a:pt x="4473904" y="703609"/>
                  <a:pt x="4687614" y="775430"/>
                </a:cubicBezTo>
                <a:cubicBezTo>
                  <a:pt x="4901324" y="847251"/>
                  <a:pt x="5150069" y="920822"/>
                  <a:pt x="5349765" y="954105"/>
                </a:cubicBezTo>
                <a:cubicBezTo>
                  <a:pt x="5549461" y="987388"/>
                  <a:pt x="5759668" y="997022"/>
                  <a:pt x="5885793" y="975126"/>
                </a:cubicBezTo>
              </a:path>
            </a:pathLst>
          </a:custGeom>
          <a:noFill/>
          <a:ln w="12700">
            <a:solidFill>
              <a:srgbClr val="0000F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1835EB-CF5C-B846-B724-CC97E23865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0214" y="2074022"/>
            <a:ext cx="825500" cy="685800"/>
          </a:xfrm>
          <a:prstGeom prst="rect">
            <a:avLst/>
          </a:prstGeom>
        </p:spPr>
      </p:pic>
      <p:sp>
        <p:nvSpPr>
          <p:cNvPr id="6" name="Freeform 5">
            <a:extLst>
              <a:ext uri="{FF2B5EF4-FFF2-40B4-BE49-F238E27FC236}">
                <a16:creationId xmlns:a16="http://schemas.microsoft.com/office/drawing/2014/main" id="{0D10CD24-D979-5841-992F-3FBCBE0C8B4F}"/>
              </a:ext>
            </a:extLst>
          </p:cNvPr>
          <p:cNvSpPr/>
          <p:nvPr/>
        </p:nvSpPr>
        <p:spPr>
          <a:xfrm>
            <a:off x="5864772" y="4662128"/>
            <a:ext cx="4508938" cy="1055501"/>
          </a:xfrm>
          <a:custGeom>
            <a:avLst/>
            <a:gdLst>
              <a:gd name="csX0" fmla="*/ 0 w 4508938"/>
              <a:gd name="csY0" fmla="*/ 1055501 h 1055501"/>
              <a:gd name="csX1" fmla="*/ 609600 w 4508938"/>
              <a:gd name="csY1" fmla="*/ 918866 h 1055501"/>
              <a:gd name="csX2" fmla="*/ 1240221 w 4508938"/>
              <a:gd name="csY2" fmla="*/ 593045 h 1055501"/>
              <a:gd name="csX3" fmla="*/ 1797269 w 4508938"/>
              <a:gd name="csY3" fmla="*/ 4466 h 1055501"/>
              <a:gd name="csX4" fmla="*/ 2438400 w 4508938"/>
              <a:gd name="csY4" fmla="*/ 330287 h 1055501"/>
              <a:gd name="csX5" fmla="*/ 3026980 w 4508938"/>
              <a:gd name="csY5" fmla="*/ 477432 h 1055501"/>
              <a:gd name="csX6" fmla="*/ 3762704 w 4508938"/>
              <a:gd name="csY6" fmla="*/ 656107 h 1055501"/>
              <a:gd name="csX7" fmla="*/ 4508938 w 4508938"/>
              <a:gd name="csY7" fmla="*/ 1044990 h 10555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508938" h="1055501" extrusionOk="0">
                <a:moveTo>
                  <a:pt x="0" y="1055501"/>
                </a:moveTo>
                <a:cubicBezTo>
                  <a:pt x="197032" y="1022997"/>
                  <a:pt x="385097" y="1002623"/>
                  <a:pt x="609600" y="918866"/>
                </a:cubicBezTo>
                <a:cubicBezTo>
                  <a:pt x="872988" y="853723"/>
                  <a:pt x="995671" y="746927"/>
                  <a:pt x="1240221" y="593045"/>
                </a:cubicBezTo>
                <a:cubicBezTo>
                  <a:pt x="1405626" y="472422"/>
                  <a:pt x="1596010" y="56900"/>
                  <a:pt x="1797269" y="4466"/>
                </a:cubicBezTo>
                <a:cubicBezTo>
                  <a:pt x="1984470" y="-46163"/>
                  <a:pt x="2280742" y="274056"/>
                  <a:pt x="2438400" y="330287"/>
                </a:cubicBezTo>
                <a:cubicBezTo>
                  <a:pt x="2643353" y="409115"/>
                  <a:pt x="3026980" y="477431"/>
                  <a:pt x="3026980" y="477432"/>
                </a:cubicBezTo>
                <a:cubicBezTo>
                  <a:pt x="3207039" y="525509"/>
                  <a:pt x="3476012" y="598890"/>
                  <a:pt x="3762704" y="656107"/>
                </a:cubicBezTo>
                <a:cubicBezTo>
                  <a:pt x="4008277" y="737160"/>
                  <a:pt x="4219817" y="952739"/>
                  <a:pt x="4508938" y="1044990"/>
                </a:cubicBezTo>
              </a:path>
            </a:pathLst>
          </a:custGeom>
          <a:noFill/>
          <a:ln>
            <a:solidFill>
              <a:srgbClr val="FF0000"/>
            </a:solidFill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508938"/>
                      <a:gd name="connsiteY0" fmla="*/ 1055501 h 1055501"/>
                      <a:gd name="connsiteX1" fmla="*/ 609600 w 4508938"/>
                      <a:gd name="connsiteY1" fmla="*/ 918866 h 1055501"/>
                      <a:gd name="connsiteX2" fmla="*/ 1240221 w 4508938"/>
                      <a:gd name="connsiteY2" fmla="*/ 593045 h 1055501"/>
                      <a:gd name="connsiteX3" fmla="*/ 1797269 w 4508938"/>
                      <a:gd name="connsiteY3" fmla="*/ 4466 h 1055501"/>
                      <a:gd name="connsiteX4" fmla="*/ 2438400 w 4508938"/>
                      <a:gd name="connsiteY4" fmla="*/ 330287 h 1055501"/>
                      <a:gd name="connsiteX5" fmla="*/ 3026980 w 4508938"/>
                      <a:gd name="connsiteY5" fmla="*/ 477432 h 1055501"/>
                      <a:gd name="connsiteX6" fmla="*/ 3762704 w 4508938"/>
                      <a:gd name="connsiteY6" fmla="*/ 656107 h 1055501"/>
                      <a:gd name="connsiteX7" fmla="*/ 4508938 w 4508938"/>
                      <a:gd name="connsiteY7" fmla="*/ 1044990 h 10555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4508938" h="1055501">
                        <a:moveTo>
                          <a:pt x="0" y="1055501"/>
                        </a:moveTo>
                        <a:cubicBezTo>
                          <a:pt x="201448" y="1025721"/>
                          <a:pt x="402897" y="995942"/>
                          <a:pt x="609600" y="918866"/>
                        </a:cubicBezTo>
                        <a:cubicBezTo>
                          <a:pt x="816304" y="841790"/>
                          <a:pt x="1042276" y="745445"/>
                          <a:pt x="1240221" y="593045"/>
                        </a:cubicBezTo>
                        <a:cubicBezTo>
                          <a:pt x="1438166" y="440645"/>
                          <a:pt x="1597573" y="48259"/>
                          <a:pt x="1797269" y="4466"/>
                        </a:cubicBezTo>
                        <a:cubicBezTo>
                          <a:pt x="1996965" y="-39327"/>
                          <a:pt x="2233448" y="251459"/>
                          <a:pt x="2438400" y="330287"/>
                        </a:cubicBezTo>
                        <a:cubicBezTo>
                          <a:pt x="2643352" y="409115"/>
                          <a:pt x="3026980" y="477432"/>
                          <a:pt x="3026980" y="477432"/>
                        </a:cubicBezTo>
                        <a:cubicBezTo>
                          <a:pt x="3247697" y="531735"/>
                          <a:pt x="3515711" y="561514"/>
                          <a:pt x="3762704" y="656107"/>
                        </a:cubicBezTo>
                        <a:cubicBezTo>
                          <a:pt x="4009697" y="750700"/>
                          <a:pt x="4259317" y="897845"/>
                          <a:pt x="4508938" y="1044990"/>
                        </a:cubicBezTo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0D348D6F-07A2-3341-96F8-AC2C3430E3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5700" y="4359955"/>
            <a:ext cx="8255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19159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10B49-95C1-D64A-8867-BB43F1687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Gill Sans MT" panose="020B0502020104020203" pitchFamily="34" charset="77"/>
              </a:rPr>
              <a:t>Definiciones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5424C8-666B-004D-A1A8-0D2912C37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800" y="1893833"/>
            <a:ext cx="304800" cy="190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671DECF-31CC-E846-B0E0-D250C8747C2A}"/>
              </a:ext>
            </a:extLst>
          </p:cNvPr>
          <p:cNvSpPr txBox="1"/>
          <p:nvPr/>
        </p:nvSpPr>
        <p:spPr>
          <a:xfrm>
            <a:off x="5339256" y="1804417"/>
            <a:ext cx="1723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Clase</a:t>
            </a:r>
            <a:r>
              <a:rPr lang="en-US" dirty="0">
                <a:latin typeface="Gill Sans MT" panose="020B0502020104020203" pitchFamily="34" charset="77"/>
              </a:rPr>
              <a:t> Mandarina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4C127FC-2168-1248-B59D-1518691E5B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800" y="2465278"/>
            <a:ext cx="304800" cy="1905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B97194A-7ED5-F04C-9D54-B5D4E95D69C3}"/>
              </a:ext>
            </a:extLst>
          </p:cNvPr>
          <p:cNvSpPr txBox="1"/>
          <p:nvPr/>
        </p:nvSpPr>
        <p:spPr>
          <a:xfrm>
            <a:off x="5339255" y="2375862"/>
            <a:ext cx="1491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Clase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Naranja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FDE63E3-4606-AD4A-ABDD-26EDA6147F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5800" y="3072661"/>
            <a:ext cx="165100" cy="1397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DCB86EA-173B-F24D-B33B-EACAF187AC32}"/>
              </a:ext>
            </a:extLst>
          </p:cNvPr>
          <p:cNvSpPr txBox="1"/>
          <p:nvPr/>
        </p:nvSpPr>
        <p:spPr>
          <a:xfrm>
            <a:off x="5339255" y="2947307"/>
            <a:ext cx="2089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Característica</a:t>
            </a:r>
            <a:r>
              <a:rPr lang="en-US" dirty="0">
                <a:latin typeface="Gill Sans MT" panose="020B0502020104020203" pitchFamily="34" charset="77"/>
              </a:rPr>
              <a:t> (</a:t>
            </a:r>
            <a:r>
              <a:rPr lang="en-US" dirty="0" err="1">
                <a:latin typeface="Gill Sans MT" panose="020B0502020104020203" pitchFamily="34" charset="77"/>
              </a:rPr>
              <a:t>área</a:t>
            </a:r>
            <a:r>
              <a:rPr lang="en-US" dirty="0">
                <a:latin typeface="Gill Sans MT" panose="020B0502020104020203" pitchFamily="34" charset="7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2241967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1676400" y="1143000"/>
            <a:ext cx="3321743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PDF: Probability Density Function</a:t>
            </a:r>
          </a:p>
          <a:p>
            <a:pPr algn="l"/>
            <a:endParaRPr lang="es-CL" dirty="0">
              <a:latin typeface="Gill Sans MT" panose="020B0502020104020203" pitchFamily="34" charset="77"/>
            </a:endParaRPr>
          </a:p>
          <a:p>
            <a:pPr algn="l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48" name="Line 4"/>
          <p:cNvSpPr>
            <a:spLocks noChangeShapeType="1"/>
          </p:cNvSpPr>
          <p:nvPr/>
        </p:nvSpPr>
        <p:spPr bwMode="auto">
          <a:xfrm>
            <a:off x="1524000" y="6096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49" name="Line 57"/>
          <p:cNvSpPr>
            <a:spLocks noChangeShapeType="1"/>
          </p:cNvSpPr>
          <p:nvPr/>
        </p:nvSpPr>
        <p:spPr bwMode="auto">
          <a:xfrm>
            <a:off x="2286000" y="1752600"/>
            <a:ext cx="0" cy="419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0" name="Line 58"/>
          <p:cNvSpPr>
            <a:spLocks noChangeShapeType="1"/>
          </p:cNvSpPr>
          <p:nvPr/>
        </p:nvSpPr>
        <p:spPr bwMode="auto">
          <a:xfrm>
            <a:off x="1981200" y="5715000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1" name="Line 59"/>
          <p:cNvSpPr>
            <a:spLocks noChangeShapeType="1"/>
          </p:cNvSpPr>
          <p:nvPr/>
        </p:nvSpPr>
        <p:spPr bwMode="auto">
          <a:xfrm>
            <a:off x="1905000" y="3429000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6" name="Line 64"/>
          <p:cNvSpPr>
            <a:spLocks noChangeShapeType="1"/>
          </p:cNvSpPr>
          <p:nvPr/>
        </p:nvSpPr>
        <p:spPr bwMode="auto">
          <a:xfrm>
            <a:off x="3505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7" name="Line 65"/>
          <p:cNvSpPr>
            <a:spLocks noChangeShapeType="1"/>
          </p:cNvSpPr>
          <p:nvPr/>
        </p:nvSpPr>
        <p:spPr bwMode="auto">
          <a:xfrm>
            <a:off x="4648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8" name="Line 66"/>
          <p:cNvSpPr>
            <a:spLocks noChangeShapeType="1"/>
          </p:cNvSpPr>
          <p:nvPr/>
        </p:nvSpPr>
        <p:spPr bwMode="auto">
          <a:xfrm>
            <a:off x="58674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9" name="Line 67"/>
          <p:cNvSpPr>
            <a:spLocks noChangeShapeType="1"/>
          </p:cNvSpPr>
          <p:nvPr/>
        </p:nvSpPr>
        <p:spPr bwMode="auto">
          <a:xfrm>
            <a:off x="70866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60" name="Line 68"/>
          <p:cNvSpPr>
            <a:spLocks noChangeShapeType="1"/>
          </p:cNvSpPr>
          <p:nvPr/>
        </p:nvSpPr>
        <p:spPr bwMode="auto">
          <a:xfrm>
            <a:off x="83058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61" name="Line 69"/>
          <p:cNvSpPr>
            <a:spLocks noChangeShapeType="1"/>
          </p:cNvSpPr>
          <p:nvPr/>
        </p:nvSpPr>
        <p:spPr bwMode="auto">
          <a:xfrm>
            <a:off x="9601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62" name="Text Box 71"/>
          <p:cNvSpPr txBox="1">
            <a:spLocks noChangeArrowheads="1"/>
          </p:cNvSpPr>
          <p:nvPr/>
        </p:nvSpPr>
        <p:spPr bwMode="auto">
          <a:xfrm>
            <a:off x="1981201" y="6019800"/>
            <a:ext cx="760977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8.000        10.000       12.000       14.000         16.000         18.000         20.000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63" name="Rectangle 72"/>
          <p:cNvSpPr>
            <a:spLocks noChangeArrowheads="1"/>
          </p:cNvSpPr>
          <p:nvPr/>
        </p:nvSpPr>
        <p:spPr bwMode="auto">
          <a:xfrm>
            <a:off x="3276600" y="3048000"/>
            <a:ext cx="4572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4" name="Rectangle 73"/>
          <p:cNvSpPr>
            <a:spLocks noChangeArrowheads="1"/>
          </p:cNvSpPr>
          <p:nvPr/>
        </p:nvSpPr>
        <p:spPr bwMode="auto">
          <a:xfrm>
            <a:off x="3810000" y="2895600"/>
            <a:ext cx="5334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5" name="Rectangle 74"/>
          <p:cNvSpPr>
            <a:spLocks noChangeArrowheads="1"/>
          </p:cNvSpPr>
          <p:nvPr/>
        </p:nvSpPr>
        <p:spPr bwMode="auto">
          <a:xfrm>
            <a:off x="4419600" y="2743200"/>
            <a:ext cx="4572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6" name="Rectangle 75"/>
          <p:cNvSpPr>
            <a:spLocks noChangeArrowheads="1"/>
          </p:cNvSpPr>
          <p:nvPr/>
        </p:nvSpPr>
        <p:spPr bwMode="auto">
          <a:xfrm>
            <a:off x="5029200" y="2438400"/>
            <a:ext cx="457200" cy="990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7" name="Rectangle 76"/>
          <p:cNvSpPr>
            <a:spLocks noChangeArrowheads="1"/>
          </p:cNvSpPr>
          <p:nvPr/>
        </p:nvSpPr>
        <p:spPr bwMode="auto">
          <a:xfrm>
            <a:off x="5638800" y="2514600"/>
            <a:ext cx="4572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8" name="Rectangle 77"/>
          <p:cNvSpPr>
            <a:spLocks noChangeArrowheads="1"/>
          </p:cNvSpPr>
          <p:nvPr/>
        </p:nvSpPr>
        <p:spPr bwMode="auto">
          <a:xfrm>
            <a:off x="6248400" y="2971800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9" name="Rectangle 78"/>
          <p:cNvSpPr>
            <a:spLocks noChangeArrowheads="1"/>
          </p:cNvSpPr>
          <p:nvPr/>
        </p:nvSpPr>
        <p:spPr bwMode="auto">
          <a:xfrm>
            <a:off x="6858000" y="3200400"/>
            <a:ext cx="457200" cy="228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70" name="Rectangle 80"/>
          <p:cNvSpPr>
            <a:spLocks noChangeArrowheads="1"/>
          </p:cNvSpPr>
          <p:nvPr/>
        </p:nvSpPr>
        <p:spPr bwMode="auto">
          <a:xfrm flipH="1">
            <a:off x="9372600" y="5305426"/>
            <a:ext cx="457200" cy="4095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71" name="Rectangle 81"/>
          <p:cNvSpPr>
            <a:spLocks noChangeArrowheads="1"/>
          </p:cNvSpPr>
          <p:nvPr/>
        </p:nvSpPr>
        <p:spPr bwMode="auto">
          <a:xfrm flipH="1">
            <a:off x="8686800" y="5140326"/>
            <a:ext cx="457200" cy="5746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72" name="Rectangle 82"/>
          <p:cNvSpPr>
            <a:spLocks noChangeArrowheads="1"/>
          </p:cNvSpPr>
          <p:nvPr/>
        </p:nvSpPr>
        <p:spPr bwMode="auto">
          <a:xfrm flipH="1">
            <a:off x="8077200" y="4976814"/>
            <a:ext cx="457200" cy="7381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73" name="Rectangle 83"/>
          <p:cNvSpPr>
            <a:spLocks noChangeArrowheads="1"/>
          </p:cNvSpPr>
          <p:nvPr/>
        </p:nvSpPr>
        <p:spPr bwMode="auto">
          <a:xfrm flipH="1">
            <a:off x="7467600" y="4648200"/>
            <a:ext cx="457200" cy="1066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74" name="Rectangle 84"/>
          <p:cNvSpPr>
            <a:spLocks noChangeArrowheads="1"/>
          </p:cNvSpPr>
          <p:nvPr/>
        </p:nvSpPr>
        <p:spPr bwMode="auto">
          <a:xfrm flipH="1">
            <a:off x="6858000" y="5257800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75" name="Rectangle 85"/>
          <p:cNvSpPr>
            <a:spLocks noChangeArrowheads="1"/>
          </p:cNvSpPr>
          <p:nvPr/>
        </p:nvSpPr>
        <p:spPr bwMode="auto">
          <a:xfrm flipH="1">
            <a:off x="6248400" y="5562600"/>
            <a:ext cx="4572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33" name="Text Box 2">
            <a:extLst>
              <a:ext uri="{FF2B5EF4-FFF2-40B4-BE49-F238E27FC236}">
                <a16:creationId xmlns:a16="http://schemas.microsoft.com/office/drawing/2014/main" id="{B631265C-3D24-DC47-B63F-A205E44EAF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1" y="152400"/>
            <a:ext cx="240097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Mandarinas vs. Naranjas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FC3E7698-5780-4F46-AC36-662AA1C0B647}"/>
              </a:ext>
            </a:extLst>
          </p:cNvPr>
          <p:cNvSpPr/>
          <p:nvPr/>
        </p:nvSpPr>
        <p:spPr>
          <a:xfrm>
            <a:off x="2406870" y="2440736"/>
            <a:ext cx="5885793" cy="994101"/>
          </a:xfrm>
          <a:custGeom>
            <a:avLst/>
            <a:gdLst>
              <a:gd name="connsiteX0" fmla="*/ 0 w 5885793"/>
              <a:gd name="connsiteY0" fmla="*/ 985636 h 1026265"/>
              <a:gd name="connsiteX1" fmla="*/ 399393 w 5885793"/>
              <a:gd name="connsiteY1" fmla="*/ 996147 h 1026265"/>
              <a:gd name="connsiteX2" fmla="*/ 1082565 w 5885793"/>
              <a:gd name="connsiteY2" fmla="*/ 649305 h 1026265"/>
              <a:gd name="connsiteX3" fmla="*/ 1692165 w 5885793"/>
              <a:gd name="connsiteY3" fmla="*/ 481140 h 1026265"/>
              <a:gd name="connsiteX4" fmla="*/ 2228193 w 5885793"/>
              <a:gd name="connsiteY4" fmla="*/ 302464 h 1026265"/>
              <a:gd name="connsiteX5" fmla="*/ 2795752 w 5885793"/>
              <a:gd name="connsiteY5" fmla="*/ 18685 h 1026265"/>
              <a:gd name="connsiteX6" fmla="*/ 3478924 w 5885793"/>
              <a:gd name="connsiteY6" fmla="*/ 81747 h 1026265"/>
              <a:gd name="connsiteX7" fmla="*/ 4067503 w 5885793"/>
              <a:gd name="connsiteY7" fmla="*/ 523181 h 1026265"/>
              <a:gd name="connsiteX8" fmla="*/ 4687614 w 5885793"/>
              <a:gd name="connsiteY8" fmla="*/ 775430 h 1026265"/>
              <a:gd name="connsiteX9" fmla="*/ 5433848 w 5885793"/>
              <a:gd name="connsiteY9" fmla="*/ 985636 h 1026265"/>
              <a:gd name="connsiteX10" fmla="*/ 5885793 w 5885793"/>
              <a:gd name="connsiteY10" fmla="*/ 975126 h 1026265"/>
              <a:gd name="connsiteX0" fmla="*/ 0 w 5885793"/>
              <a:gd name="connsiteY0" fmla="*/ 985636 h 1002712"/>
              <a:gd name="connsiteX1" fmla="*/ 472965 w 5885793"/>
              <a:gd name="connsiteY1" fmla="*/ 922575 h 1002712"/>
              <a:gd name="connsiteX2" fmla="*/ 1082565 w 5885793"/>
              <a:gd name="connsiteY2" fmla="*/ 649305 h 1002712"/>
              <a:gd name="connsiteX3" fmla="*/ 1692165 w 5885793"/>
              <a:gd name="connsiteY3" fmla="*/ 481140 h 1002712"/>
              <a:gd name="connsiteX4" fmla="*/ 2228193 w 5885793"/>
              <a:gd name="connsiteY4" fmla="*/ 302464 h 1002712"/>
              <a:gd name="connsiteX5" fmla="*/ 2795752 w 5885793"/>
              <a:gd name="connsiteY5" fmla="*/ 18685 h 1002712"/>
              <a:gd name="connsiteX6" fmla="*/ 3478924 w 5885793"/>
              <a:gd name="connsiteY6" fmla="*/ 81747 h 1002712"/>
              <a:gd name="connsiteX7" fmla="*/ 4067503 w 5885793"/>
              <a:gd name="connsiteY7" fmla="*/ 523181 h 1002712"/>
              <a:gd name="connsiteX8" fmla="*/ 4687614 w 5885793"/>
              <a:gd name="connsiteY8" fmla="*/ 775430 h 1002712"/>
              <a:gd name="connsiteX9" fmla="*/ 5433848 w 5885793"/>
              <a:gd name="connsiteY9" fmla="*/ 985636 h 1002712"/>
              <a:gd name="connsiteX10" fmla="*/ 5885793 w 5885793"/>
              <a:gd name="connsiteY10" fmla="*/ 975126 h 1002712"/>
              <a:gd name="connsiteX0" fmla="*/ 0 w 5885793"/>
              <a:gd name="connsiteY0" fmla="*/ 985636 h 1002712"/>
              <a:gd name="connsiteX1" fmla="*/ 567559 w 5885793"/>
              <a:gd name="connsiteY1" fmla="*/ 891044 h 1002712"/>
              <a:gd name="connsiteX2" fmla="*/ 1082565 w 5885793"/>
              <a:gd name="connsiteY2" fmla="*/ 649305 h 1002712"/>
              <a:gd name="connsiteX3" fmla="*/ 1692165 w 5885793"/>
              <a:gd name="connsiteY3" fmla="*/ 481140 h 1002712"/>
              <a:gd name="connsiteX4" fmla="*/ 2228193 w 5885793"/>
              <a:gd name="connsiteY4" fmla="*/ 302464 h 1002712"/>
              <a:gd name="connsiteX5" fmla="*/ 2795752 w 5885793"/>
              <a:gd name="connsiteY5" fmla="*/ 18685 h 1002712"/>
              <a:gd name="connsiteX6" fmla="*/ 3478924 w 5885793"/>
              <a:gd name="connsiteY6" fmla="*/ 81747 h 1002712"/>
              <a:gd name="connsiteX7" fmla="*/ 4067503 w 5885793"/>
              <a:gd name="connsiteY7" fmla="*/ 523181 h 1002712"/>
              <a:gd name="connsiteX8" fmla="*/ 4687614 w 5885793"/>
              <a:gd name="connsiteY8" fmla="*/ 775430 h 1002712"/>
              <a:gd name="connsiteX9" fmla="*/ 5433848 w 5885793"/>
              <a:gd name="connsiteY9" fmla="*/ 985636 h 1002712"/>
              <a:gd name="connsiteX10" fmla="*/ 5885793 w 5885793"/>
              <a:gd name="connsiteY10" fmla="*/ 975126 h 1002712"/>
              <a:gd name="connsiteX0" fmla="*/ 0 w 5885793"/>
              <a:gd name="connsiteY0" fmla="*/ 985636 h 994101"/>
              <a:gd name="connsiteX1" fmla="*/ 567559 w 5885793"/>
              <a:gd name="connsiteY1" fmla="*/ 891044 h 994101"/>
              <a:gd name="connsiteX2" fmla="*/ 1082565 w 5885793"/>
              <a:gd name="connsiteY2" fmla="*/ 649305 h 994101"/>
              <a:gd name="connsiteX3" fmla="*/ 1692165 w 5885793"/>
              <a:gd name="connsiteY3" fmla="*/ 481140 h 994101"/>
              <a:gd name="connsiteX4" fmla="*/ 2228193 w 5885793"/>
              <a:gd name="connsiteY4" fmla="*/ 302464 h 994101"/>
              <a:gd name="connsiteX5" fmla="*/ 2795752 w 5885793"/>
              <a:gd name="connsiteY5" fmla="*/ 18685 h 994101"/>
              <a:gd name="connsiteX6" fmla="*/ 3478924 w 5885793"/>
              <a:gd name="connsiteY6" fmla="*/ 81747 h 994101"/>
              <a:gd name="connsiteX7" fmla="*/ 4067503 w 5885793"/>
              <a:gd name="connsiteY7" fmla="*/ 523181 h 994101"/>
              <a:gd name="connsiteX8" fmla="*/ 4687614 w 5885793"/>
              <a:gd name="connsiteY8" fmla="*/ 775430 h 994101"/>
              <a:gd name="connsiteX9" fmla="*/ 5349765 w 5885793"/>
              <a:gd name="connsiteY9" fmla="*/ 954105 h 994101"/>
              <a:gd name="connsiteX10" fmla="*/ 5885793 w 5885793"/>
              <a:gd name="connsiteY10" fmla="*/ 975126 h 99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885793" h="994101">
                <a:moveTo>
                  <a:pt x="0" y="985636"/>
                </a:moveTo>
                <a:cubicBezTo>
                  <a:pt x="109483" y="1018919"/>
                  <a:pt x="387132" y="947099"/>
                  <a:pt x="567559" y="891044"/>
                </a:cubicBezTo>
                <a:cubicBezTo>
                  <a:pt x="747986" y="834989"/>
                  <a:pt x="895131" y="717622"/>
                  <a:pt x="1082565" y="649305"/>
                </a:cubicBezTo>
                <a:cubicBezTo>
                  <a:pt x="1269999" y="580988"/>
                  <a:pt x="1501227" y="538947"/>
                  <a:pt x="1692165" y="481140"/>
                </a:cubicBezTo>
                <a:cubicBezTo>
                  <a:pt x="1883103" y="423333"/>
                  <a:pt x="2044262" y="379540"/>
                  <a:pt x="2228193" y="302464"/>
                </a:cubicBezTo>
                <a:cubicBezTo>
                  <a:pt x="2412124" y="225388"/>
                  <a:pt x="2587297" y="55471"/>
                  <a:pt x="2795752" y="18685"/>
                </a:cubicBezTo>
                <a:cubicBezTo>
                  <a:pt x="3004207" y="-18101"/>
                  <a:pt x="3266966" y="-2336"/>
                  <a:pt x="3478924" y="81747"/>
                </a:cubicBezTo>
                <a:cubicBezTo>
                  <a:pt x="3690882" y="165830"/>
                  <a:pt x="3866055" y="407567"/>
                  <a:pt x="4067503" y="523181"/>
                </a:cubicBezTo>
                <a:cubicBezTo>
                  <a:pt x="4268951" y="638795"/>
                  <a:pt x="4473904" y="703609"/>
                  <a:pt x="4687614" y="775430"/>
                </a:cubicBezTo>
                <a:cubicBezTo>
                  <a:pt x="4901324" y="847251"/>
                  <a:pt x="5150069" y="920822"/>
                  <a:pt x="5349765" y="954105"/>
                </a:cubicBezTo>
                <a:cubicBezTo>
                  <a:pt x="5549461" y="987388"/>
                  <a:pt x="5759668" y="997022"/>
                  <a:pt x="5885793" y="975126"/>
                </a:cubicBezTo>
              </a:path>
            </a:pathLst>
          </a:custGeom>
          <a:noFill/>
          <a:ln w="12700">
            <a:solidFill>
              <a:srgbClr val="0000F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0D10CD24-D979-5841-992F-3FBCBE0C8B4F}"/>
              </a:ext>
            </a:extLst>
          </p:cNvPr>
          <p:cNvSpPr/>
          <p:nvPr/>
        </p:nvSpPr>
        <p:spPr>
          <a:xfrm>
            <a:off x="5864772" y="4662128"/>
            <a:ext cx="4508938" cy="1055501"/>
          </a:xfrm>
          <a:custGeom>
            <a:avLst/>
            <a:gdLst>
              <a:gd name="csX0" fmla="*/ 0 w 4508938"/>
              <a:gd name="csY0" fmla="*/ 1055501 h 1055501"/>
              <a:gd name="csX1" fmla="*/ 609600 w 4508938"/>
              <a:gd name="csY1" fmla="*/ 918866 h 1055501"/>
              <a:gd name="csX2" fmla="*/ 1240221 w 4508938"/>
              <a:gd name="csY2" fmla="*/ 593045 h 1055501"/>
              <a:gd name="csX3" fmla="*/ 1797269 w 4508938"/>
              <a:gd name="csY3" fmla="*/ 4466 h 1055501"/>
              <a:gd name="csX4" fmla="*/ 2438400 w 4508938"/>
              <a:gd name="csY4" fmla="*/ 330287 h 1055501"/>
              <a:gd name="csX5" fmla="*/ 3026980 w 4508938"/>
              <a:gd name="csY5" fmla="*/ 477432 h 1055501"/>
              <a:gd name="csX6" fmla="*/ 3762704 w 4508938"/>
              <a:gd name="csY6" fmla="*/ 656107 h 1055501"/>
              <a:gd name="csX7" fmla="*/ 4508938 w 4508938"/>
              <a:gd name="csY7" fmla="*/ 1044990 h 10555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508938" h="1055501" extrusionOk="0">
                <a:moveTo>
                  <a:pt x="0" y="1055501"/>
                </a:moveTo>
                <a:cubicBezTo>
                  <a:pt x="197032" y="1022997"/>
                  <a:pt x="385097" y="1002623"/>
                  <a:pt x="609600" y="918866"/>
                </a:cubicBezTo>
                <a:cubicBezTo>
                  <a:pt x="872988" y="853723"/>
                  <a:pt x="995671" y="746927"/>
                  <a:pt x="1240221" y="593045"/>
                </a:cubicBezTo>
                <a:cubicBezTo>
                  <a:pt x="1405626" y="472422"/>
                  <a:pt x="1596010" y="56900"/>
                  <a:pt x="1797269" y="4466"/>
                </a:cubicBezTo>
                <a:cubicBezTo>
                  <a:pt x="1984470" y="-46163"/>
                  <a:pt x="2280742" y="274056"/>
                  <a:pt x="2438400" y="330287"/>
                </a:cubicBezTo>
                <a:cubicBezTo>
                  <a:pt x="2643353" y="409115"/>
                  <a:pt x="3026980" y="477431"/>
                  <a:pt x="3026980" y="477432"/>
                </a:cubicBezTo>
                <a:cubicBezTo>
                  <a:pt x="3207039" y="525509"/>
                  <a:pt x="3476012" y="598890"/>
                  <a:pt x="3762704" y="656107"/>
                </a:cubicBezTo>
                <a:cubicBezTo>
                  <a:pt x="4008277" y="737160"/>
                  <a:pt x="4219817" y="952739"/>
                  <a:pt x="4508938" y="1044990"/>
                </a:cubicBezTo>
              </a:path>
            </a:pathLst>
          </a:custGeom>
          <a:noFill/>
          <a:ln>
            <a:solidFill>
              <a:srgbClr val="FF0000"/>
            </a:solidFill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508938"/>
                      <a:gd name="connsiteY0" fmla="*/ 1055501 h 1055501"/>
                      <a:gd name="connsiteX1" fmla="*/ 609600 w 4508938"/>
                      <a:gd name="connsiteY1" fmla="*/ 918866 h 1055501"/>
                      <a:gd name="connsiteX2" fmla="*/ 1240221 w 4508938"/>
                      <a:gd name="connsiteY2" fmla="*/ 593045 h 1055501"/>
                      <a:gd name="connsiteX3" fmla="*/ 1797269 w 4508938"/>
                      <a:gd name="connsiteY3" fmla="*/ 4466 h 1055501"/>
                      <a:gd name="connsiteX4" fmla="*/ 2438400 w 4508938"/>
                      <a:gd name="connsiteY4" fmla="*/ 330287 h 1055501"/>
                      <a:gd name="connsiteX5" fmla="*/ 3026980 w 4508938"/>
                      <a:gd name="connsiteY5" fmla="*/ 477432 h 1055501"/>
                      <a:gd name="connsiteX6" fmla="*/ 3762704 w 4508938"/>
                      <a:gd name="connsiteY6" fmla="*/ 656107 h 1055501"/>
                      <a:gd name="connsiteX7" fmla="*/ 4508938 w 4508938"/>
                      <a:gd name="connsiteY7" fmla="*/ 1044990 h 10555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4508938" h="1055501">
                        <a:moveTo>
                          <a:pt x="0" y="1055501"/>
                        </a:moveTo>
                        <a:cubicBezTo>
                          <a:pt x="201448" y="1025721"/>
                          <a:pt x="402897" y="995942"/>
                          <a:pt x="609600" y="918866"/>
                        </a:cubicBezTo>
                        <a:cubicBezTo>
                          <a:pt x="816304" y="841790"/>
                          <a:pt x="1042276" y="745445"/>
                          <a:pt x="1240221" y="593045"/>
                        </a:cubicBezTo>
                        <a:cubicBezTo>
                          <a:pt x="1438166" y="440645"/>
                          <a:pt x="1597573" y="48259"/>
                          <a:pt x="1797269" y="4466"/>
                        </a:cubicBezTo>
                        <a:cubicBezTo>
                          <a:pt x="1996965" y="-39327"/>
                          <a:pt x="2233448" y="251459"/>
                          <a:pt x="2438400" y="330287"/>
                        </a:cubicBezTo>
                        <a:cubicBezTo>
                          <a:pt x="2643352" y="409115"/>
                          <a:pt x="3026980" y="477432"/>
                          <a:pt x="3026980" y="477432"/>
                        </a:cubicBezTo>
                        <a:cubicBezTo>
                          <a:pt x="3247697" y="531735"/>
                          <a:pt x="3515711" y="561514"/>
                          <a:pt x="3762704" y="656107"/>
                        </a:cubicBezTo>
                        <a:cubicBezTo>
                          <a:pt x="4009697" y="750700"/>
                          <a:pt x="4259317" y="897845"/>
                          <a:pt x="4508938" y="1044990"/>
                        </a:cubicBezTo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69FE4641-60EE-8A45-A694-25E4300DFD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4905" y="3649718"/>
            <a:ext cx="165100" cy="13970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5F293E1E-1811-E548-A28A-ADE6C5F5C0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041" y="5867401"/>
            <a:ext cx="165100" cy="1397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9D2FC8FD-9B05-444A-8953-474B8ED0BB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9284" y="1932469"/>
            <a:ext cx="304800" cy="19050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DCBA23D8-AC3F-D54B-BC5C-6BB0421C2A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8743" y="4316052"/>
            <a:ext cx="304800" cy="19050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BC1AE875-84C8-3748-912A-27DFA8BDBA73}"/>
              </a:ext>
            </a:extLst>
          </p:cNvPr>
          <p:cNvSpPr txBox="1"/>
          <p:nvPr/>
        </p:nvSpPr>
        <p:spPr>
          <a:xfrm>
            <a:off x="2380595" y="1836036"/>
            <a:ext cx="1050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PDF para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2379DF1-0CB5-434D-9DC3-D6D40F35E498}"/>
              </a:ext>
            </a:extLst>
          </p:cNvPr>
          <p:cNvSpPr txBox="1"/>
          <p:nvPr/>
        </p:nvSpPr>
        <p:spPr>
          <a:xfrm>
            <a:off x="2406870" y="4202667"/>
            <a:ext cx="1050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PDF para</a:t>
            </a:r>
          </a:p>
        </p:txBody>
      </p:sp>
    </p:spTree>
    <p:extLst>
      <p:ext uri="{BB962C8B-B14F-4D97-AF65-F5344CB8AC3E}">
        <p14:creationId xmlns:p14="http://schemas.microsoft.com/office/powerpoint/2010/main" val="288125753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1676400" y="1143000"/>
            <a:ext cx="3321743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PDF: Probability Density Function</a:t>
            </a:r>
          </a:p>
          <a:p>
            <a:pPr algn="l"/>
            <a:endParaRPr lang="es-CL" dirty="0">
              <a:latin typeface="Gill Sans MT" panose="020B0502020104020203" pitchFamily="34" charset="77"/>
            </a:endParaRPr>
          </a:p>
          <a:p>
            <a:pPr algn="l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48" name="Line 4"/>
          <p:cNvSpPr>
            <a:spLocks noChangeShapeType="1"/>
          </p:cNvSpPr>
          <p:nvPr/>
        </p:nvSpPr>
        <p:spPr bwMode="auto">
          <a:xfrm>
            <a:off x="1524000" y="6096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49" name="Line 57"/>
          <p:cNvSpPr>
            <a:spLocks noChangeShapeType="1"/>
          </p:cNvSpPr>
          <p:nvPr/>
        </p:nvSpPr>
        <p:spPr bwMode="auto">
          <a:xfrm>
            <a:off x="2286000" y="1752600"/>
            <a:ext cx="0" cy="419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0" name="Line 58"/>
          <p:cNvSpPr>
            <a:spLocks noChangeShapeType="1"/>
          </p:cNvSpPr>
          <p:nvPr/>
        </p:nvSpPr>
        <p:spPr bwMode="auto">
          <a:xfrm>
            <a:off x="1981200" y="5715000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1" name="Line 59"/>
          <p:cNvSpPr>
            <a:spLocks noChangeShapeType="1"/>
          </p:cNvSpPr>
          <p:nvPr/>
        </p:nvSpPr>
        <p:spPr bwMode="auto">
          <a:xfrm>
            <a:off x="1905000" y="3429000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6" name="Line 64"/>
          <p:cNvSpPr>
            <a:spLocks noChangeShapeType="1"/>
          </p:cNvSpPr>
          <p:nvPr/>
        </p:nvSpPr>
        <p:spPr bwMode="auto">
          <a:xfrm>
            <a:off x="3505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7" name="Line 65"/>
          <p:cNvSpPr>
            <a:spLocks noChangeShapeType="1"/>
          </p:cNvSpPr>
          <p:nvPr/>
        </p:nvSpPr>
        <p:spPr bwMode="auto">
          <a:xfrm>
            <a:off x="4648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8" name="Line 66"/>
          <p:cNvSpPr>
            <a:spLocks noChangeShapeType="1"/>
          </p:cNvSpPr>
          <p:nvPr/>
        </p:nvSpPr>
        <p:spPr bwMode="auto">
          <a:xfrm>
            <a:off x="58674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9" name="Line 67"/>
          <p:cNvSpPr>
            <a:spLocks noChangeShapeType="1"/>
          </p:cNvSpPr>
          <p:nvPr/>
        </p:nvSpPr>
        <p:spPr bwMode="auto">
          <a:xfrm>
            <a:off x="70866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60" name="Line 68"/>
          <p:cNvSpPr>
            <a:spLocks noChangeShapeType="1"/>
          </p:cNvSpPr>
          <p:nvPr/>
        </p:nvSpPr>
        <p:spPr bwMode="auto">
          <a:xfrm>
            <a:off x="83058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61" name="Line 69"/>
          <p:cNvSpPr>
            <a:spLocks noChangeShapeType="1"/>
          </p:cNvSpPr>
          <p:nvPr/>
        </p:nvSpPr>
        <p:spPr bwMode="auto">
          <a:xfrm>
            <a:off x="9601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62" name="Text Box 71"/>
          <p:cNvSpPr txBox="1">
            <a:spLocks noChangeArrowheads="1"/>
          </p:cNvSpPr>
          <p:nvPr/>
        </p:nvSpPr>
        <p:spPr bwMode="auto">
          <a:xfrm>
            <a:off x="1981201" y="6019800"/>
            <a:ext cx="760977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8.000        10.000       12.000       14.000         16.000         18.000         20.000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3" name="Text Box 2">
            <a:extLst>
              <a:ext uri="{FF2B5EF4-FFF2-40B4-BE49-F238E27FC236}">
                <a16:creationId xmlns:a16="http://schemas.microsoft.com/office/drawing/2014/main" id="{B631265C-3D24-DC47-B63F-A205E44EAF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1" y="152400"/>
            <a:ext cx="240097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Mandarinas vs. Naranjas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FC3E7698-5780-4F46-AC36-662AA1C0B647}"/>
              </a:ext>
            </a:extLst>
          </p:cNvPr>
          <p:cNvSpPr/>
          <p:nvPr/>
        </p:nvSpPr>
        <p:spPr>
          <a:xfrm>
            <a:off x="2406870" y="2440736"/>
            <a:ext cx="5885793" cy="994101"/>
          </a:xfrm>
          <a:custGeom>
            <a:avLst/>
            <a:gdLst>
              <a:gd name="connsiteX0" fmla="*/ 0 w 5885793"/>
              <a:gd name="connsiteY0" fmla="*/ 985636 h 1026265"/>
              <a:gd name="connsiteX1" fmla="*/ 399393 w 5885793"/>
              <a:gd name="connsiteY1" fmla="*/ 996147 h 1026265"/>
              <a:gd name="connsiteX2" fmla="*/ 1082565 w 5885793"/>
              <a:gd name="connsiteY2" fmla="*/ 649305 h 1026265"/>
              <a:gd name="connsiteX3" fmla="*/ 1692165 w 5885793"/>
              <a:gd name="connsiteY3" fmla="*/ 481140 h 1026265"/>
              <a:gd name="connsiteX4" fmla="*/ 2228193 w 5885793"/>
              <a:gd name="connsiteY4" fmla="*/ 302464 h 1026265"/>
              <a:gd name="connsiteX5" fmla="*/ 2795752 w 5885793"/>
              <a:gd name="connsiteY5" fmla="*/ 18685 h 1026265"/>
              <a:gd name="connsiteX6" fmla="*/ 3478924 w 5885793"/>
              <a:gd name="connsiteY6" fmla="*/ 81747 h 1026265"/>
              <a:gd name="connsiteX7" fmla="*/ 4067503 w 5885793"/>
              <a:gd name="connsiteY7" fmla="*/ 523181 h 1026265"/>
              <a:gd name="connsiteX8" fmla="*/ 4687614 w 5885793"/>
              <a:gd name="connsiteY8" fmla="*/ 775430 h 1026265"/>
              <a:gd name="connsiteX9" fmla="*/ 5433848 w 5885793"/>
              <a:gd name="connsiteY9" fmla="*/ 985636 h 1026265"/>
              <a:gd name="connsiteX10" fmla="*/ 5885793 w 5885793"/>
              <a:gd name="connsiteY10" fmla="*/ 975126 h 1026265"/>
              <a:gd name="connsiteX0" fmla="*/ 0 w 5885793"/>
              <a:gd name="connsiteY0" fmla="*/ 985636 h 1002712"/>
              <a:gd name="connsiteX1" fmla="*/ 472965 w 5885793"/>
              <a:gd name="connsiteY1" fmla="*/ 922575 h 1002712"/>
              <a:gd name="connsiteX2" fmla="*/ 1082565 w 5885793"/>
              <a:gd name="connsiteY2" fmla="*/ 649305 h 1002712"/>
              <a:gd name="connsiteX3" fmla="*/ 1692165 w 5885793"/>
              <a:gd name="connsiteY3" fmla="*/ 481140 h 1002712"/>
              <a:gd name="connsiteX4" fmla="*/ 2228193 w 5885793"/>
              <a:gd name="connsiteY4" fmla="*/ 302464 h 1002712"/>
              <a:gd name="connsiteX5" fmla="*/ 2795752 w 5885793"/>
              <a:gd name="connsiteY5" fmla="*/ 18685 h 1002712"/>
              <a:gd name="connsiteX6" fmla="*/ 3478924 w 5885793"/>
              <a:gd name="connsiteY6" fmla="*/ 81747 h 1002712"/>
              <a:gd name="connsiteX7" fmla="*/ 4067503 w 5885793"/>
              <a:gd name="connsiteY7" fmla="*/ 523181 h 1002712"/>
              <a:gd name="connsiteX8" fmla="*/ 4687614 w 5885793"/>
              <a:gd name="connsiteY8" fmla="*/ 775430 h 1002712"/>
              <a:gd name="connsiteX9" fmla="*/ 5433848 w 5885793"/>
              <a:gd name="connsiteY9" fmla="*/ 985636 h 1002712"/>
              <a:gd name="connsiteX10" fmla="*/ 5885793 w 5885793"/>
              <a:gd name="connsiteY10" fmla="*/ 975126 h 1002712"/>
              <a:gd name="connsiteX0" fmla="*/ 0 w 5885793"/>
              <a:gd name="connsiteY0" fmla="*/ 985636 h 1002712"/>
              <a:gd name="connsiteX1" fmla="*/ 567559 w 5885793"/>
              <a:gd name="connsiteY1" fmla="*/ 891044 h 1002712"/>
              <a:gd name="connsiteX2" fmla="*/ 1082565 w 5885793"/>
              <a:gd name="connsiteY2" fmla="*/ 649305 h 1002712"/>
              <a:gd name="connsiteX3" fmla="*/ 1692165 w 5885793"/>
              <a:gd name="connsiteY3" fmla="*/ 481140 h 1002712"/>
              <a:gd name="connsiteX4" fmla="*/ 2228193 w 5885793"/>
              <a:gd name="connsiteY4" fmla="*/ 302464 h 1002712"/>
              <a:gd name="connsiteX5" fmla="*/ 2795752 w 5885793"/>
              <a:gd name="connsiteY5" fmla="*/ 18685 h 1002712"/>
              <a:gd name="connsiteX6" fmla="*/ 3478924 w 5885793"/>
              <a:gd name="connsiteY6" fmla="*/ 81747 h 1002712"/>
              <a:gd name="connsiteX7" fmla="*/ 4067503 w 5885793"/>
              <a:gd name="connsiteY7" fmla="*/ 523181 h 1002712"/>
              <a:gd name="connsiteX8" fmla="*/ 4687614 w 5885793"/>
              <a:gd name="connsiteY8" fmla="*/ 775430 h 1002712"/>
              <a:gd name="connsiteX9" fmla="*/ 5433848 w 5885793"/>
              <a:gd name="connsiteY9" fmla="*/ 985636 h 1002712"/>
              <a:gd name="connsiteX10" fmla="*/ 5885793 w 5885793"/>
              <a:gd name="connsiteY10" fmla="*/ 975126 h 1002712"/>
              <a:gd name="connsiteX0" fmla="*/ 0 w 5885793"/>
              <a:gd name="connsiteY0" fmla="*/ 985636 h 994101"/>
              <a:gd name="connsiteX1" fmla="*/ 567559 w 5885793"/>
              <a:gd name="connsiteY1" fmla="*/ 891044 h 994101"/>
              <a:gd name="connsiteX2" fmla="*/ 1082565 w 5885793"/>
              <a:gd name="connsiteY2" fmla="*/ 649305 h 994101"/>
              <a:gd name="connsiteX3" fmla="*/ 1692165 w 5885793"/>
              <a:gd name="connsiteY3" fmla="*/ 481140 h 994101"/>
              <a:gd name="connsiteX4" fmla="*/ 2228193 w 5885793"/>
              <a:gd name="connsiteY4" fmla="*/ 302464 h 994101"/>
              <a:gd name="connsiteX5" fmla="*/ 2795752 w 5885793"/>
              <a:gd name="connsiteY5" fmla="*/ 18685 h 994101"/>
              <a:gd name="connsiteX6" fmla="*/ 3478924 w 5885793"/>
              <a:gd name="connsiteY6" fmla="*/ 81747 h 994101"/>
              <a:gd name="connsiteX7" fmla="*/ 4067503 w 5885793"/>
              <a:gd name="connsiteY7" fmla="*/ 523181 h 994101"/>
              <a:gd name="connsiteX8" fmla="*/ 4687614 w 5885793"/>
              <a:gd name="connsiteY8" fmla="*/ 775430 h 994101"/>
              <a:gd name="connsiteX9" fmla="*/ 5349765 w 5885793"/>
              <a:gd name="connsiteY9" fmla="*/ 954105 h 994101"/>
              <a:gd name="connsiteX10" fmla="*/ 5885793 w 5885793"/>
              <a:gd name="connsiteY10" fmla="*/ 975126 h 99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885793" h="994101">
                <a:moveTo>
                  <a:pt x="0" y="985636"/>
                </a:moveTo>
                <a:cubicBezTo>
                  <a:pt x="109483" y="1018919"/>
                  <a:pt x="387132" y="947099"/>
                  <a:pt x="567559" y="891044"/>
                </a:cubicBezTo>
                <a:cubicBezTo>
                  <a:pt x="747986" y="834989"/>
                  <a:pt x="895131" y="717622"/>
                  <a:pt x="1082565" y="649305"/>
                </a:cubicBezTo>
                <a:cubicBezTo>
                  <a:pt x="1269999" y="580988"/>
                  <a:pt x="1501227" y="538947"/>
                  <a:pt x="1692165" y="481140"/>
                </a:cubicBezTo>
                <a:cubicBezTo>
                  <a:pt x="1883103" y="423333"/>
                  <a:pt x="2044262" y="379540"/>
                  <a:pt x="2228193" y="302464"/>
                </a:cubicBezTo>
                <a:cubicBezTo>
                  <a:pt x="2412124" y="225388"/>
                  <a:pt x="2587297" y="55471"/>
                  <a:pt x="2795752" y="18685"/>
                </a:cubicBezTo>
                <a:cubicBezTo>
                  <a:pt x="3004207" y="-18101"/>
                  <a:pt x="3266966" y="-2336"/>
                  <a:pt x="3478924" y="81747"/>
                </a:cubicBezTo>
                <a:cubicBezTo>
                  <a:pt x="3690882" y="165830"/>
                  <a:pt x="3866055" y="407567"/>
                  <a:pt x="4067503" y="523181"/>
                </a:cubicBezTo>
                <a:cubicBezTo>
                  <a:pt x="4268951" y="638795"/>
                  <a:pt x="4473904" y="703609"/>
                  <a:pt x="4687614" y="775430"/>
                </a:cubicBezTo>
                <a:cubicBezTo>
                  <a:pt x="4901324" y="847251"/>
                  <a:pt x="5150069" y="920822"/>
                  <a:pt x="5349765" y="954105"/>
                </a:cubicBezTo>
                <a:cubicBezTo>
                  <a:pt x="5549461" y="987388"/>
                  <a:pt x="5759668" y="997022"/>
                  <a:pt x="5885793" y="975126"/>
                </a:cubicBezTo>
              </a:path>
            </a:pathLst>
          </a:custGeom>
          <a:noFill/>
          <a:ln w="25400">
            <a:solidFill>
              <a:srgbClr val="0000FF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0D10CD24-D979-5841-992F-3FBCBE0C8B4F}"/>
              </a:ext>
            </a:extLst>
          </p:cNvPr>
          <p:cNvSpPr/>
          <p:nvPr/>
        </p:nvSpPr>
        <p:spPr>
          <a:xfrm>
            <a:off x="5864772" y="4662128"/>
            <a:ext cx="4508938" cy="1055501"/>
          </a:xfrm>
          <a:custGeom>
            <a:avLst/>
            <a:gdLst>
              <a:gd name="csX0" fmla="*/ 0 w 4508938"/>
              <a:gd name="csY0" fmla="*/ 1055501 h 1055501"/>
              <a:gd name="csX1" fmla="*/ 609600 w 4508938"/>
              <a:gd name="csY1" fmla="*/ 918866 h 1055501"/>
              <a:gd name="csX2" fmla="*/ 1240221 w 4508938"/>
              <a:gd name="csY2" fmla="*/ 593045 h 1055501"/>
              <a:gd name="csX3" fmla="*/ 1797269 w 4508938"/>
              <a:gd name="csY3" fmla="*/ 4466 h 1055501"/>
              <a:gd name="csX4" fmla="*/ 2438400 w 4508938"/>
              <a:gd name="csY4" fmla="*/ 330287 h 1055501"/>
              <a:gd name="csX5" fmla="*/ 3026980 w 4508938"/>
              <a:gd name="csY5" fmla="*/ 477432 h 1055501"/>
              <a:gd name="csX6" fmla="*/ 3762704 w 4508938"/>
              <a:gd name="csY6" fmla="*/ 656107 h 1055501"/>
              <a:gd name="csX7" fmla="*/ 4508938 w 4508938"/>
              <a:gd name="csY7" fmla="*/ 1044990 h 10555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508938" h="1055501" extrusionOk="0">
                <a:moveTo>
                  <a:pt x="0" y="1055501"/>
                </a:moveTo>
                <a:cubicBezTo>
                  <a:pt x="197032" y="1022997"/>
                  <a:pt x="385097" y="1002623"/>
                  <a:pt x="609600" y="918866"/>
                </a:cubicBezTo>
                <a:cubicBezTo>
                  <a:pt x="872988" y="853723"/>
                  <a:pt x="995671" y="746927"/>
                  <a:pt x="1240221" y="593045"/>
                </a:cubicBezTo>
                <a:cubicBezTo>
                  <a:pt x="1405626" y="472422"/>
                  <a:pt x="1596010" y="56900"/>
                  <a:pt x="1797269" y="4466"/>
                </a:cubicBezTo>
                <a:cubicBezTo>
                  <a:pt x="1984470" y="-46163"/>
                  <a:pt x="2280742" y="274056"/>
                  <a:pt x="2438400" y="330287"/>
                </a:cubicBezTo>
                <a:cubicBezTo>
                  <a:pt x="2643353" y="409115"/>
                  <a:pt x="3026980" y="477431"/>
                  <a:pt x="3026980" y="477432"/>
                </a:cubicBezTo>
                <a:cubicBezTo>
                  <a:pt x="3207039" y="525509"/>
                  <a:pt x="3476012" y="598890"/>
                  <a:pt x="3762704" y="656107"/>
                </a:cubicBezTo>
                <a:cubicBezTo>
                  <a:pt x="4008277" y="737160"/>
                  <a:pt x="4219817" y="952739"/>
                  <a:pt x="4508938" y="1044990"/>
                </a:cubicBezTo>
              </a:path>
            </a:pathLst>
          </a:custGeom>
          <a:noFill/>
          <a:ln w="25400">
            <a:solidFill>
              <a:srgbClr val="FF0000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508938"/>
                      <a:gd name="connsiteY0" fmla="*/ 1055501 h 1055501"/>
                      <a:gd name="connsiteX1" fmla="*/ 609600 w 4508938"/>
                      <a:gd name="connsiteY1" fmla="*/ 918866 h 1055501"/>
                      <a:gd name="connsiteX2" fmla="*/ 1240221 w 4508938"/>
                      <a:gd name="connsiteY2" fmla="*/ 593045 h 1055501"/>
                      <a:gd name="connsiteX3" fmla="*/ 1797269 w 4508938"/>
                      <a:gd name="connsiteY3" fmla="*/ 4466 h 1055501"/>
                      <a:gd name="connsiteX4" fmla="*/ 2438400 w 4508938"/>
                      <a:gd name="connsiteY4" fmla="*/ 330287 h 1055501"/>
                      <a:gd name="connsiteX5" fmla="*/ 3026980 w 4508938"/>
                      <a:gd name="connsiteY5" fmla="*/ 477432 h 1055501"/>
                      <a:gd name="connsiteX6" fmla="*/ 3762704 w 4508938"/>
                      <a:gd name="connsiteY6" fmla="*/ 656107 h 1055501"/>
                      <a:gd name="connsiteX7" fmla="*/ 4508938 w 4508938"/>
                      <a:gd name="connsiteY7" fmla="*/ 1044990 h 10555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4508938" h="1055501">
                        <a:moveTo>
                          <a:pt x="0" y="1055501"/>
                        </a:moveTo>
                        <a:cubicBezTo>
                          <a:pt x="201448" y="1025721"/>
                          <a:pt x="402897" y="995942"/>
                          <a:pt x="609600" y="918866"/>
                        </a:cubicBezTo>
                        <a:cubicBezTo>
                          <a:pt x="816304" y="841790"/>
                          <a:pt x="1042276" y="745445"/>
                          <a:pt x="1240221" y="593045"/>
                        </a:cubicBezTo>
                        <a:cubicBezTo>
                          <a:pt x="1438166" y="440645"/>
                          <a:pt x="1597573" y="48259"/>
                          <a:pt x="1797269" y="4466"/>
                        </a:cubicBezTo>
                        <a:cubicBezTo>
                          <a:pt x="1996965" y="-39327"/>
                          <a:pt x="2233448" y="251459"/>
                          <a:pt x="2438400" y="330287"/>
                        </a:cubicBezTo>
                        <a:cubicBezTo>
                          <a:pt x="2643352" y="409115"/>
                          <a:pt x="3026980" y="477432"/>
                          <a:pt x="3026980" y="477432"/>
                        </a:cubicBezTo>
                        <a:cubicBezTo>
                          <a:pt x="3247697" y="531735"/>
                          <a:pt x="3515711" y="561514"/>
                          <a:pt x="3762704" y="656107"/>
                        </a:cubicBezTo>
                        <a:cubicBezTo>
                          <a:pt x="4009697" y="750700"/>
                          <a:pt x="4259317" y="897845"/>
                          <a:pt x="4508938" y="1044990"/>
                        </a:cubicBezTo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69FE4641-60EE-8A45-A694-25E4300DFD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4905" y="3649718"/>
            <a:ext cx="165100" cy="13970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5F293E1E-1811-E548-A28A-ADE6C5F5C0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041" y="5867401"/>
            <a:ext cx="165100" cy="1397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9D2FC8FD-9B05-444A-8953-474B8ED0BB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9284" y="1932469"/>
            <a:ext cx="304800" cy="19050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DCBA23D8-AC3F-D54B-BC5C-6BB0421C2A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8743" y="4316052"/>
            <a:ext cx="304800" cy="19050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BC1AE875-84C8-3748-912A-27DFA8BDBA73}"/>
              </a:ext>
            </a:extLst>
          </p:cNvPr>
          <p:cNvSpPr txBox="1"/>
          <p:nvPr/>
        </p:nvSpPr>
        <p:spPr>
          <a:xfrm>
            <a:off x="2380595" y="1836036"/>
            <a:ext cx="1050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PDF para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2379DF1-0CB5-434D-9DC3-D6D40F35E498}"/>
              </a:ext>
            </a:extLst>
          </p:cNvPr>
          <p:cNvSpPr txBox="1"/>
          <p:nvPr/>
        </p:nvSpPr>
        <p:spPr>
          <a:xfrm>
            <a:off x="2406870" y="4202667"/>
            <a:ext cx="1050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PDF para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AC7CAC6-A0D5-BE47-BA72-9C1AA1F3C8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8558" y="2005552"/>
            <a:ext cx="965200" cy="3175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B7160D6-C498-784A-AB7D-0F2D96D9F3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957" y="1810988"/>
            <a:ext cx="2197100" cy="685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127B78C-16AD-234E-A252-AB229AA3AE5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37221" y="4800601"/>
            <a:ext cx="2197100" cy="685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12B459B-4AEE-5E40-BBA1-98D63A15BBB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05029" y="4260335"/>
            <a:ext cx="9652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1015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10B49-95C1-D64A-8867-BB43F1687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Gill Sans MT" panose="020B0502020104020203" pitchFamily="34" charset="77"/>
              </a:rPr>
              <a:t>Definiciones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5424C8-666B-004D-A1A8-0D2912C37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800" y="1893833"/>
            <a:ext cx="304800" cy="190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671DECF-31CC-E846-B0E0-D250C8747C2A}"/>
              </a:ext>
            </a:extLst>
          </p:cNvPr>
          <p:cNvSpPr txBox="1"/>
          <p:nvPr/>
        </p:nvSpPr>
        <p:spPr>
          <a:xfrm>
            <a:off x="5339256" y="1804417"/>
            <a:ext cx="1723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Clase</a:t>
            </a:r>
            <a:r>
              <a:rPr lang="en-US" dirty="0">
                <a:latin typeface="Gill Sans MT" panose="020B0502020104020203" pitchFamily="34" charset="77"/>
              </a:rPr>
              <a:t> Mandarina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4C127FC-2168-1248-B59D-1518691E5B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800" y="2465278"/>
            <a:ext cx="304800" cy="1905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B97194A-7ED5-F04C-9D54-B5D4E95D69C3}"/>
              </a:ext>
            </a:extLst>
          </p:cNvPr>
          <p:cNvSpPr txBox="1"/>
          <p:nvPr/>
        </p:nvSpPr>
        <p:spPr>
          <a:xfrm>
            <a:off x="5339255" y="2375862"/>
            <a:ext cx="1491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Clase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Naranja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FDE63E3-4606-AD4A-ABDD-26EDA6147F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5800" y="3072661"/>
            <a:ext cx="165100" cy="1397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DCB86EA-173B-F24D-B33B-EACAF187AC32}"/>
              </a:ext>
            </a:extLst>
          </p:cNvPr>
          <p:cNvSpPr txBox="1"/>
          <p:nvPr/>
        </p:nvSpPr>
        <p:spPr>
          <a:xfrm>
            <a:off x="5339255" y="2947307"/>
            <a:ext cx="2089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Característica</a:t>
            </a:r>
            <a:r>
              <a:rPr lang="en-US" dirty="0">
                <a:latin typeface="Gill Sans MT" panose="020B0502020104020203" pitchFamily="34" charset="77"/>
              </a:rPr>
              <a:t> (</a:t>
            </a:r>
            <a:r>
              <a:rPr lang="en-US" dirty="0" err="1">
                <a:latin typeface="Gill Sans MT" panose="020B0502020104020203" pitchFamily="34" charset="77"/>
              </a:rPr>
              <a:t>área</a:t>
            </a:r>
            <a:r>
              <a:rPr lang="en-US" dirty="0">
                <a:latin typeface="Gill Sans MT" panose="020B0502020104020203" pitchFamily="34" charset="77"/>
              </a:rPr>
              <a:t>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2775F5E-1658-D048-A115-16043B0320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6317" y="3647112"/>
            <a:ext cx="965200" cy="3175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B72FACD-4963-7C4D-8D4A-F1098A9EF4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34220" y="4336460"/>
            <a:ext cx="965200" cy="3175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3DB0AB6-21BD-7343-A089-7C4F0547AE06}"/>
              </a:ext>
            </a:extLst>
          </p:cNvPr>
          <p:cNvSpPr txBox="1"/>
          <p:nvPr/>
        </p:nvSpPr>
        <p:spPr>
          <a:xfrm>
            <a:off x="5339254" y="3621196"/>
            <a:ext cx="3502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Distribución</a:t>
            </a:r>
            <a:r>
              <a:rPr lang="en-US" dirty="0">
                <a:latin typeface="Gill Sans MT" panose="020B0502020104020203" pitchFamily="34" charset="77"/>
              </a:rPr>
              <a:t> de x para </a:t>
            </a:r>
            <a:r>
              <a:rPr lang="en-US" dirty="0" err="1">
                <a:latin typeface="Gill Sans MT" panose="020B0502020104020203" pitchFamily="34" charset="77"/>
              </a:rPr>
              <a:t>Mandarinas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B72868-A42D-5743-A777-D95340FA44C6}"/>
              </a:ext>
            </a:extLst>
          </p:cNvPr>
          <p:cNvSpPr txBox="1"/>
          <p:nvPr/>
        </p:nvSpPr>
        <p:spPr>
          <a:xfrm>
            <a:off x="5339254" y="4274863"/>
            <a:ext cx="3251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Distribución</a:t>
            </a:r>
            <a:r>
              <a:rPr lang="en-US" dirty="0">
                <a:latin typeface="Gill Sans MT" panose="020B0502020104020203" pitchFamily="34" charset="77"/>
              </a:rPr>
              <a:t> de x para </a:t>
            </a:r>
            <a:r>
              <a:rPr lang="en-US" dirty="0" err="1">
                <a:latin typeface="Gill Sans MT" panose="020B0502020104020203" pitchFamily="34" charset="77"/>
              </a:rPr>
              <a:t>Naranjas</a:t>
            </a:r>
            <a:endParaRPr lang="en-US" dirty="0"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60156157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10B49-95C1-D64A-8867-BB43F1687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Gill Sans MT" panose="020B0502020104020203" pitchFamily="34" charset="77"/>
              </a:rPr>
              <a:t>Clasificación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según</a:t>
            </a:r>
            <a:r>
              <a:rPr lang="en-US" dirty="0">
                <a:latin typeface="Gill Sans MT" panose="020B0502020104020203" pitchFamily="34" charset="77"/>
              </a:rPr>
              <a:t> Bayes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9DF5E7-D72D-D047-88FB-A34A84040F19}"/>
              </a:ext>
            </a:extLst>
          </p:cNvPr>
          <p:cNvSpPr txBox="1"/>
          <p:nvPr/>
        </p:nvSpPr>
        <p:spPr>
          <a:xfrm>
            <a:off x="3699642" y="1496384"/>
            <a:ext cx="4743606" cy="29546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Dado el valor </a:t>
            </a:r>
            <a:r>
              <a:rPr lang="en-US" sz="2000" dirty="0">
                <a:latin typeface="Gill Sans MT" panose="020B0502020104020203" pitchFamily="34" charset="77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Gill Sans MT" panose="020B0502020104020203" pitchFamily="34" charset="77"/>
              </a:rPr>
              <a:t> (</a:t>
            </a:r>
            <a:r>
              <a:rPr lang="en-US" dirty="0" err="1">
                <a:latin typeface="Gill Sans MT" panose="020B0502020104020203" pitchFamily="34" charset="77"/>
              </a:rPr>
              <a:t>área</a:t>
            </a:r>
            <a:r>
              <a:rPr lang="en-US" dirty="0">
                <a:latin typeface="Gill Sans MT" panose="020B0502020104020203" pitchFamily="34" charset="77"/>
              </a:rPr>
              <a:t>), </a:t>
            </a:r>
            <a:r>
              <a:rPr lang="en-US" dirty="0" err="1">
                <a:latin typeface="Gill Sans MT" panose="020B0502020104020203" pitchFamily="34" charset="77"/>
              </a:rPr>
              <a:t>calculamos</a:t>
            </a:r>
            <a:r>
              <a:rPr lang="en-US" dirty="0">
                <a:latin typeface="Gill Sans MT" panose="020B0502020104020203" pitchFamily="34" charset="77"/>
              </a:rPr>
              <a:t> </a:t>
            </a:r>
          </a:p>
          <a:p>
            <a:endParaRPr lang="en-US" dirty="0">
              <a:latin typeface="Gill Sans MT" panose="020B0502020104020203" pitchFamily="34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77"/>
              </a:rPr>
              <a:t>p</a:t>
            </a:r>
            <a:r>
              <a:rPr lang="en-US" baseline="-25000" dirty="0">
                <a:latin typeface="Gill Sans MT" panose="020B0502020104020203" pitchFamily="34" charset="77"/>
              </a:rPr>
              <a:t>1</a:t>
            </a:r>
            <a:r>
              <a:rPr lang="en-US" dirty="0">
                <a:latin typeface="Gill Sans MT" panose="020B0502020104020203" pitchFamily="34" charset="77"/>
              </a:rPr>
              <a:t>, la </a:t>
            </a:r>
            <a:r>
              <a:rPr lang="en-US" dirty="0" err="1">
                <a:latin typeface="Gill Sans MT" panose="020B0502020104020203" pitchFamily="34" charset="77"/>
              </a:rPr>
              <a:t>probabilidad</a:t>
            </a:r>
            <a:r>
              <a:rPr lang="en-US" dirty="0">
                <a:latin typeface="Gill Sans MT" panose="020B0502020104020203" pitchFamily="34" charset="77"/>
              </a:rPr>
              <a:t> de que sea       (mandarina)</a:t>
            </a:r>
          </a:p>
          <a:p>
            <a:r>
              <a:rPr lang="en-US" dirty="0">
                <a:latin typeface="Gill Sans MT" panose="020B0502020104020203" pitchFamily="34" charset="77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77"/>
              </a:rPr>
              <a:t>p</a:t>
            </a:r>
            <a:r>
              <a:rPr lang="en-US" baseline="-25000" dirty="0">
                <a:latin typeface="Gill Sans MT" panose="020B0502020104020203" pitchFamily="34" charset="77"/>
              </a:rPr>
              <a:t>2</a:t>
            </a:r>
            <a:r>
              <a:rPr lang="en-US" dirty="0">
                <a:latin typeface="Gill Sans MT" panose="020B0502020104020203" pitchFamily="34" charset="77"/>
              </a:rPr>
              <a:t>, la </a:t>
            </a:r>
            <a:r>
              <a:rPr lang="en-US" dirty="0" err="1">
                <a:latin typeface="Gill Sans MT" panose="020B0502020104020203" pitchFamily="34" charset="77"/>
              </a:rPr>
              <a:t>probabilidad</a:t>
            </a:r>
            <a:r>
              <a:rPr lang="en-US" dirty="0">
                <a:latin typeface="Gill Sans MT" panose="020B0502020104020203" pitchFamily="34" charset="77"/>
              </a:rPr>
              <a:t> de que sea       (</a:t>
            </a:r>
            <a:r>
              <a:rPr lang="en-US" dirty="0" err="1">
                <a:latin typeface="Gill Sans MT" panose="020B0502020104020203" pitchFamily="34" charset="77"/>
              </a:rPr>
              <a:t>naranja</a:t>
            </a:r>
            <a:r>
              <a:rPr lang="en-US" dirty="0">
                <a:latin typeface="Gill Sans MT" panose="020B0502020104020203" pitchFamily="34" charset="77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Gill Sans MT" panose="020B0502020104020203" pitchFamily="34" charset="77"/>
            </a:endParaRPr>
          </a:p>
          <a:p>
            <a:r>
              <a:rPr lang="en-US" dirty="0" err="1">
                <a:latin typeface="Gill Sans MT" panose="020B0502020104020203" pitchFamily="34" charset="77"/>
              </a:rPr>
              <a:t>Clasificamos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sz="2000" dirty="0">
                <a:latin typeface="Gill Sans MT" panose="020B0502020104020203" pitchFamily="34" charset="77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como</a:t>
            </a:r>
            <a:r>
              <a:rPr lang="en-US" dirty="0">
                <a:latin typeface="Gill Sans MT" panose="020B0502020104020203" pitchFamily="34" charset="77"/>
              </a:rPr>
              <a:t>        </a:t>
            </a:r>
            <a:r>
              <a:rPr lang="en-US" dirty="0" err="1">
                <a:latin typeface="Gill Sans MT" panose="020B0502020104020203" pitchFamily="34" charset="77"/>
              </a:rPr>
              <a:t>si</a:t>
            </a:r>
            <a:r>
              <a:rPr lang="en-US" dirty="0">
                <a:latin typeface="Gill Sans MT" panose="020B0502020104020203" pitchFamily="34" charset="77"/>
              </a:rPr>
              <a:t> p</a:t>
            </a:r>
            <a:r>
              <a:rPr lang="en-US" baseline="-25000" dirty="0">
                <a:latin typeface="Gill Sans MT" panose="020B0502020104020203" pitchFamily="34" charset="77"/>
              </a:rPr>
              <a:t>1</a:t>
            </a:r>
            <a:r>
              <a:rPr lang="en-US" dirty="0">
                <a:latin typeface="Gill Sans MT" panose="020B0502020104020203" pitchFamily="34" charset="77"/>
              </a:rPr>
              <a:t> &gt; p</a:t>
            </a:r>
            <a:r>
              <a:rPr lang="en-US" baseline="-25000" dirty="0">
                <a:latin typeface="Gill Sans MT" panose="020B0502020104020203" pitchFamily="34" charset="77"/>
              </a:rPr>
              <a:t>2</a:t>
            </a:r>
            <a:r>
              <a:rPr lang="en-US" dirty="0">
                <a:latin typeface="Gill Sans MT" panose="020B0502020104020203" pitchFamily="34" charset="77"/>
              </a:rPr>
              <a:t>,</a:t>
            </a:r>
          </a:p>
          <a:p>
            <a:endParaRPr lang="en-US" dirty="0">
              <a:latin typeface="Gill Sans MT" panose="020B0502020104020203" pitchFamily="34" charset="77"/>
            </a:endParaRPr>
          </a:p>
          <a:p>
            <a:r>
              <a:rPr lang="en-US" dirty="0" err="1">
                <a:latin typeface="Gill Sans MT" panose="020B0502020104020203" pitchFamily="34" charset="77"/>
              </a:rPr>
              <a:t>en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caso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contrario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clasificamos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sz="2000" dirty="0">
                <a:latin typeface="Gill Sans MT" panose="020B0502020104020203" pitchFamily="34" charset="77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como</a:t>
            </a:r>
            <a:endParaRPr lang="en-US" dirty="0">
              <a:latin typeface="Gill Sans MT" panose="020B0502020104020203" pitchFamily="34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A19A396-FFCB-E748-965B-E31EFE0CEF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1062" y="2180869"/>
            <a:ext cx="304800" cy="1905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9D97F5C-EDE1-A94B-BF06-8A590AC6C7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5805" y="2731100"/>
            <a:ext cx="304800" cy="1905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B762E31-045F-A942-9F90-3209B44443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6117" y="3321240"/>
            <a:ext cx="304800" cy="1905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76426CA-0A15-1B41-BE88-A72B2B492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3506" y="3892491"/>
            <a:ext cx="304800" cy="19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08223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10B49-95C1-D64A-8867-BB43F1687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Gill Sans MT" panose="020B0502020104020203" pitchFamily="34" charset="77"/>
              </a:rPr>
              <a:t>Clasificación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según</a:t>
            </a:r>
            <a:r>
              <a:rPr lang="en-US" dirty="0">
                <a:latin typeface="Gill Sans MT" panose="020B0502020104020203" pitchFamily="34" charset="77"/>
              </a:rPr>
              <a:t> Bayes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6667EB-8342-C54C-8E5D-82AF95EDB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5E32-AEC1-A643-BA35-1EE2E73D4B01}" type="slidenum">
              <a:rPr lang="es-ES" smtClean="0"/>
              <a:pPr/>
              <a:t>70</a:t>
            </a:fld>
            <a:endParaRPr lang="es-E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15EBD17-9447-8E43-B41F-561724198E47}"/>
              </a:ext>
            </a:extLst>
          </p:cNvPr>
          <p:cNvGrpSpPr/>
          <p:nvPr/>
        </p:nvGrpSpPr>
        <p:grpSpPr>
          <a:xfrm>
            <a:off x="7832839" y="4784755"/>
            <a:ext cx="1607209" cy="1000671"/>
            <a:chOff x="430922" y="4878333"/>
            <a:chExt cx="1607209" cy="1000671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88172BC-1B99-D84D-A9F3-063C579C47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72931" y="4878333"/>
              <a:ext cx="965200" cy="3175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C0DEB75-C291-C642-A662-F8732E6CA8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72931" y="5540484"/>
              <a:ext cx="965200" cy="31750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9A1EC7B-44AE-1647-8064-9EADB5D6BEF4}"/>
                </a:ext>
              </a:extLst>
            </p:cNvPr>
            <p:cNvSpPr txBox="1"/>
            <p:nvPr/>
          </p:nvSpPr>
          <p:spPr>
            <a:xfrm>
              <a:off x="430922" y="4878333"/>
              <a:ext cx="6399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p</a:t>
              </a:r>
              <a:r>
                <a:rPr lang="en-US" baseline="-25000" dirty="0">
                  <a:latin typeface="Gill Sans MT" panose="020B0502020104020203" pitchFamily="34" charset="77"/>
                </a:rPr>
                <a:t>1</a:t>
              </a:r>
              <a:r>
                <a:rPr lang="en-US" dirty="0">
                  <a:latin typeface="Gill Sans MT" panose="020B0502020104020203" pitchFamily="34" charset="77"/>
                </a:rPr>
                <a:t>  =</a:t>
              </a:r>
              <a:endParaRPr lang="en-US" baseline="-25000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3B3E6B7-D38E-1D47-8C09-CCA0B37AB90F}"/>
                </a:ext>
              </a:extLst>
            </p:cNvPr>
            <p:cNvSpPr txBox="1"/>
            <p:nvPr/>
          </p:nvSpPr>
          <p:spPr>
            <a:xfrm>
              <a:off x="462452" y="5509672"/>
              <a:ext cx="6399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p</a:t>
              </a:r>
              <a:r>
                <a:rPr lang="en-US" baseline="-25000" dirty="0">
                  <a:latin typeface="Gill Sans MT" panose="020B0502020104020203" pitchFamily="34" charset="77"/>
                </a:rPr>
                <a:t>2</a:t>
              </a:r>
              <a:r>
                <a:rPr lang="en-US" dirty="0">
                  <a:latin typeface="Gill Sans MT" panose="020B0502020104020203" pitchFamily="34" charset="77"/>
                </a:rPr>
                <a:t>  =</a:t>
              </a:r>
              <a:endParaRPr lang="en-US" baseline="-25000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7F3C4EE-88C7-5F42-AE88-DF5473789C29}"/>
              </a:ext>
            </a:extLst>
          </p:cNvPr>
          <p:cNvGrpSpPr/>
          <p:nvPr/>
        </p:nvGrpSpPr>
        <p:grpSpPr>
          <a:xfrm>
            <a:off x="2376214" y="4324956"/>
            <a:ext cx="4946869" cy="1794187"/>
            <a:chOff x="3124200" y="4451038"/>
            <a:chExt cx="4946869" cy="179418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EEB39AE-CD5B-3D4A-A27A-29C389BB3999}"/>
                </a:ext>
              </a:extLst>
            </p:cNvPr>
            <p:cNvSpPr txBox="1"/>
            <p:nvPr/>
          </p:nvSpPr>
          <p:spPr>
            <a:xfrm>
              <a:off x="3143253" y="4509001"/>
              <a:ext cx="15728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ALGORITMO: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8663945-F666-3146-8C06-A39C16EB17C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44411" y="5062999"/>
              <a:ext cx="2349500" cy="3175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7C3E527-25E5-1542-BD1F-814AD7A118F5}"/>
                </a:ext>
              </a:extLst>
            </p:cNvPr>
            <p:cNvSpPr txBox="1"/>
            <p:nvPr/>
          </p:nvSpPr>
          <p:spPr>
            <a:xfrm>
              <a:off x="5672961" y="5041979"/>
              <a:ext cx="2233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→           (mandarina)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295E96B-1E3B-834C-96D2-2ACA6A19D53E}"/>
                </a:ext>
              </a:extLst>
            </p:cNvPr>
            <p:cNvSpPr txBox="1"/>
            <p:nvPr/>
          </p:nvSpPr>
          <p:spPr>
            <a:xfrm>
              <a:off x="5704490" y="5592583"/>
              <a:ext cx="19303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→           (</a:t>
              </a:r>
              <a:r>
                <a:rPr lang="en-US" dirty="0" err="1">
                  <a:latin typeface="Gill Sans MT" panose="020B0502020104020203" pitchFamily="34" charset="77"/>
                </a:rPr>
                <a:t>naranja</a:t>
              </a:r>
              <a:r>
                <a:rPr lang="en-US" dirty="0">
                  <a:latin typeface="Gill Sans MT" panose="020B0502020104020203" pitchFamily="34" charset="77"/>
                </a:rPr>
                <a:t>)</a:t>
              </a:r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D85910BC-8E6A-9B4C-8517-01433058FD5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19503" y="5172091"/>
              <a:ext cx="304800" cy="190500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C29C4487-D00C-4041-86FA-2E4EE56426B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214246" y="5722322"/>
              <a:ext cx="304800" cy="1905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388E2A0-3872-8146-A7FA-E87C3B278CC0}"/>
                </a:ext>
              </a:extLst>
            </p:cNvPr>
            <p:cNvSpPr txBox="1"/>
            <p:nvPr/>
          </p:nvSpPr>
          <p:spPr>
            <a:xfrm>
              <a:off x="5043109" y="5652657"/>
              <a:ext cx="5453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else</a:t>
              </a:r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69F1F9EC-375E-E84C-971C-6862436CCEEA}"/>
                </a:ext>
              </a:extLst>
            </p:cNvPr>
            <p:cNvSpPr/>
            <p:nvPr/>
          </p:nvSpPr>
          <p:spPr>
            <a:xfrm>
              <a:off x="3124200" y="4451038"/>
              <a:ext cx="4946869" cy="1794187"/>
            </a:xfrm>
            <a:prstGeom prst="roundRect">
              <a:avLst>
                <a:gd name="adj" fmla="val 7294"/>
              </a:avLst>
            </a:prstGeom>
            <a:noFill/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E5E2B889-479B-AA13-48AE-D9B0C928B47A}"/>
              </a:ext>
            </a:extLst>
          </p:cNvPr>
          <p:cNvSpPr txBox="1"/>
          <p:nvPr/>
        </p:nvSpPr>
        <p:spPr>
          <a:xfrm>
            <a:off x="3699642" y="1496384"/>
            <a:ext cx="4743606" cy="29546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Dado el valor </a:t>
            </a:r>
            <a:r>
              <a:rPr lang="en-US" sz="2000" dirty="0">
                <a:latin typeface="Gill Sans MT" panose="020B0502020104020203" pitchFamily="34" charset="77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Gill Sans MT" panose="020B0502020104020203" pitchFamily="34" charset="77"/>
              </a:rPr>
              <a:t> (</a:t>
            </a:r>
            <a:r>
              <a:rPr lang="en-US" dirty="0" err="1">
                <a:latin typeface="Gill Sans MT" panose="020B0502020104020203" pitchFamily="34" charset="77"/>
              </a:rPr>
              <a:t>área</a:t>
            </a:r>
            <a:r>
              <a:rPr lang="en-US" dirty="0">
                <a:latin typeface="Gill Sans MT" panose="020B0502020104020203" pitchFamily="34" charset="77"/>
              </a:rPr>
              <a:t>), </a:t>
            </a:r>
            <a:r>
              <a:rPr lang="en-US" dirty="0" err="1">
                <a:latin typeface="Gill Sans MT" panose="020B0502020104020203" pitchFamily="34" charset="77"/>
              </a:rPr>
              <a:t>calculamos</a:t>
            </a:r>
            <a:r>
              <a:rPr lang="en-US" dirty="0">
                <a:latin typeface="Gill Sans MT" panose="020B0502020104020203" pitchFamily="34" charset="77"/>
              </a:rPr>
              <a:t> </a:t>
            </a:r>
          </a:p>
          <a:p>
            <a:endParaRPr lang="en-US" dirty="0">
              <a:latin typeface="Gill Sans MT" panose="020B0502020104020203" pitchFamily="34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77"/>
              </a:rPr>
              <a:t>p</a:t>
            </a:r>
            <a:r>
              <a:rPr lang="en-US" baseline="-25000" dirty="0">
                <a:latin typeface="Gill Sans MT" panose="020B0502020104020203" pitchFamily="34" charset="77"/>
              </a:rPr>
              <a:t>1</a:t>
            </a:r>
            <a:r>
              <a:rPr lang="en-US" dirty="0">
                <a:latin typeface="Gill Sans MT" panose="020B0502020104020203" pitchFamily="34" charset="77"/>
              </a:rPr>
              <a:t>, la </a:t>
            </a:r>
            <a:r>
              <a:rPr lang="en-US" dirty="0" err="1">
                <a:latin typeface="Gill Sans MT" panose="020B0502020104020203" pitchFamily="34" charset="77"/>
              </a:rPr>
              <a:t>probabilidad</a:t>
            </a:r>
            <a:r>
              <a:rPr lang="en-US" dirty="0">
                <a:latin typeface="Gill Sans MT" panose="020B0502020104020203" pitchFamily="34" charset="77"/>
              </a:rPr>
              <a:t> de que sea       (mandarina)</a:t>
            </a:r>
          </a:p>
          <a:p>
            <a:r>
              <a:rPr lang="en-US" dirty="0">
                <a:latin typeface="Gill Sans MT" panose="020B0502020104020203" pitchFamily="34" charset="77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Gill Sans MT" panose="020B0502020104020203" pitchFamily="34" charset="77"/>
              </a:rPr>
              <a:t>p</a:t>
            </a:r>
            <a:r>
              <a:rPr lang="en-US" baseline="-25000" dirty="0">
                <a:latin typeface="Gill Sans MT" panose="020B0502020104020203" pitchFamily="34" charset="77"/>
              </a:rPr>
              <a:t>2</a:t>
            </a:r>
            <a:r>
              <a:rPr lang="en-US" dirty="0">
                <a:latin typeface="Gill Sans MT" panose="020B0502020104020203" pitchFamily="34" charset="77"/>
              </a:rPr>
              <a:t>, la </a:t>
            </a:r>
            <a:r>
              <a:rPr lang="en-US" dirty="0" err="1">
                <a:latin typeface="Gill Sans MT" panose="020B0502020104020203" pitchFamily="34" charset="77"/>
              </a:rPr>
              <a:t>probabilidad</a:t>
            </a:r>
            <a:r>
              <a:rPr lang="en-US" dirty="0">
                <a:latin typeface="Gill Sans MT" panose="020B0502020104020203" pitchFamily="34" charset="77"/>
              </a:rPr>
              <a:t> de que sea       (</a:t>
            </a:r>
            <a:r>
              <a:rPr lang="en-US" dirty="0" err="1">
                <a:latin typeface="Gill Sans MT" panose="020B0502020104020203" pitchFamily="34" charset="77"/>
              </a:rPr>
              <a:t>naranja</a:t>
            </a:r>
            <a:r>
              <a:rPr lang="en-US" dirty="0">
                <a:latin typeface="Gill Sans MT" panose="020B0502020104020203" pitchFamily="34" charset="77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Gill Sans MT" panose="020B0502020104020203" pitchFamily="34" charset="77"/>
            </a:endParaRPr>
          </a:p>
          <a:p>
            <a:r>
              <a:rPr lang="en-US" dirty="0" err="1">
                <a:latin typeface="Gill Sans MT" panose="020B0502020104020203" pitchFamily="34" charset="77"/>
              </a:rPr>
              <a:t>Clasificamos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sz="2000" dirty="0">
                <a:latin typeface="Gill Sans MT" panose="020B0502020104020203" pitchFamily="34" charset="77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como</a:t>
            </a:r>
            <a:r>
              <a:rPr lang="en-US" dirty="0">
                <a:latin typeface="Gill Sans MT" panose="020B0502020104020203" pitchFamily="34" charset="77"/>
              </a:rPr>
              <a:t>        </a:t>
            </a:r>
            <a:r>
              <a:rPr lang="en-US" dirty="0" err="1">
                <a:latin typeface="Gill Sans MT" panose="020B0502020104020203" pitchFamily="34" charset="77"/>
              </a:rPr>
              <a:t>si</a:t>
            </a:r>
            <a:r>
              <a:rPr lang="en-US" dirty="0">
                <a:latin typeface="Gill Sans MT" panose="020B0502020104020203" pitchFamily="34" charset="77"/>
              </a:rPr>
              <a:t> p</a:t>
            </a:r>
            <a:r>
              <a:rPr lang="en-US" baseline="-25000" dirty="0">
                <a:latin typeface="Gill Sans MT" panose="020B0502020104020203" pitchFamily="34" charset="77"/>
              </a:rPr>
              <a:t>1</a:t>
            </a:r>
            <a:r>
              <a:rPr lang="en-US" dirty="0">
                <a:latin typeface="Gill Sans MT" panose="020B0502020104020203" pitchFamily="34" charset="77"/>
              </a:rPr>
              <a:t> &gt; p</a:t>
            </a:r>
            <a:r>
              <a:rPr lang="en-US" baseline="-25000" dirty="0">
                <a:latin typeface="Gill Sans MT" panose="020B0502020104020203" pitchFamily="34" charset="77"/>
              </a:rPr>
              <a:t>2</a:t>
            </a:r>
            <a:r>
              <a:rPr lang="en-US" dirty="0">
                <a:latin typeface="Gill Sans MT" panose="020B0502020104020203" pitchFamily="34" charset="77"/>
              </a:rPr>
              <a:t>,</a:t>
            </a:r>
          </a:p>
          <a:p>
            <a:endParaRPr lang="en-US" dirty="0">
              <a:latin typeface="Gill Sans MT" panose="020B0502020104020203" pitchFamily="34" charset="77"/>
            </a:endParaRPr>
          </a:p>
          <a:p>
            <a:r>
              <a:rPr lang="en-US" dirty="0" err="1">
                <a:latin typeface="Gill Sans MT" panose="020B0502020104020203" pitchFamily="34" charset="77"/>
              </a:rPr>
              <a:t>en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caso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contrario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clasificamos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sz="2000" dirty="0">
                <a:latin typeface="Gill Sans MT" panose="020B0502020104020203" pitchFamily="34" charset="77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como</a:t>
            </a:r>
            <a:endParaRPr lang="en-US" dirty="0">
              <a:latin typeface="Gill Sans MT" panose="020B0502020104020203" pitchFamily="34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E337162-1744-2024-F307-2E26ECC668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1062" y="2180869"/>
            <a:ext cx="304800" cy="1905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996B65D-F94F-5445-E022-774DD03364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5805" y="2731100"/>
            <a:ext cx="304800" cy="1905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89016D6-3438-23F4-234E-D512D4DE10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6117" y="3321240"/>
            <a:ext cx="304800" cy="1905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B9492320-2F50-93AE-E69F-515F58992F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3506" y="3892491"/>
            <a:ext cx="304800" cy="19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35034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10B49-95C1-D64A-8867-BB43F1687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Gill Sans MT" panose="020B0502020104020203" pitchFamily="34" charset="77"/>
              </a:rPr>
              <a:t>Clasificación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según</a:t>
            </a:r>
            <a:r>
              <a:rPr lang="en-US" dirty="0">
                <a:latin typeface="Gill Sans MT" panose="020B0502020104020203" pitchFamily="34" charset="77"/>
              </a:rPr>
              <a:t> Bayes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7F3C4EE-88C7-5F42-AE88-DF5473789C29}"/>
              </a:ext>
            </a:extLst>
          </p:cNvPr>
          <p:cNvGrpSpPr/>
          <p:nvPr/>
        </p:nvGrpSpPr>
        <p:grpSpPr>
          <a:xfrm>
            <a:off x="3622566" y="1318997"/>
            <a:ext cx="4946869" cy="1794187"/>
            <a:chOff x="3124200" y="4451038"/>
            <a:chExt cx="4946869" cy="179418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EEB39AE-CD5B-3D4A-A27A-29C389BB3999}"/>
                </a:ext>
              </a:extLst>
            </p:cNvPr>
            <p:cNvSpPr txBox="1"/>
            <p:nvPr/>
          </p:nvSpPr>
          <p:spPr>
            <a:xfrm>
              <a:off x="3143253" y="4509001"/>
              <a:ext cx="15728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ALGORITMO: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8663945-F666-3146-8C06-A39C16EB17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44411" y="5062999"/>
              <a:ext cx="2349500" cy="3175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7C3E527-25E5-1542-BD1F-814AD7A118F5}"/>
                </a:ext>
              </a:extLst>
            </p:cNvPr>
            <p:cNvSpPr txBox="1"/>
            <p:nvPr/>
          </p:nvSpPr>
          <p:spPr>
            <a:xfrm>
              <a:off x="5672961" y="5041979"/>
              <a:ext cx="2233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→           (mandarina)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295E96B-1E3B-834C-96D2-2ACA6A19D53E}"/>
                </a:ext>
              </a:extLst>
            </p:cNvPr>
            <p:cNvSpPr txBox="1"/>
            <p:nvPr/>
          </p:nvSpPr>
          <p:spPr>
            <a:xfrm>
              <a:off x="5704490" y="5592583"/>
              <a:ext cx="19479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→           (</a:t>
              </a:r>
              <a:r>
                <a:rPr lang="en-US" dirty="0" err="1">
                  <a:latin typeface="Gill Sans MT" panose="020B0502020104020203" pitchFamily="34" charset="77"/>
                </a:rPr>
                <a:t>naranja</a:t>
              </a:r>
              <a:r>
                <a:rPr lang="en-US" dirty="0">
                  <a:latin typeface="Gill Sans MT" panose="020B0502020104020203" pitchFamily="34" charset="77"/>
                </a:rPr>
                <a:t>)</a:t>
              </a:r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D85910BC-8E6A-9B4C-8517-01433058FD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19503" y="5172091"/>
              <a:ext cx="304800" cy="190500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C29C4487-D00C-4041-86FA-2E4EE56426B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14246" y="5722322"/>
              <a:ext cx="304800" cy="1905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388E2A0-3872-8146-A7FA-E87C3B278CC0}"/>
                </a:ext>
              </a:extLst>
            </p:cNvPr>
            <p:cNvSpPr txBox="1"/>
            <p:nvPr/>
          </p:nvSpPr>
          <p:spPr>
            <a:xfrm>
              <a:off x="5043109" y="5652657"/>
              <a:ext cx="5453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else</a:t>
              </a:r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69F1F9EC-375E-E84C-971C-6862436CCEEA}"/>
                </a:ext>
              </a:extLst>
            </p:cNvPr>
            <p:cNvSpPr/>
            <p:nvPr/>
          </p:nvSpPr>
          <p:spPr>
            <a:xfrm>
              <a:off x="3124200" y="4451038"/>
              <a:ext cx="4946869" cy="1794187"/>
            </a:xfrm>
            <a:prstGeom prst="roundRect">
              <a:avLst>
                <a:gd name="adj" fmla="val 7294"/>
              </a:avLst>
            </a:prstGeom>
            <a:noFill/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8D16BF4E-0831-F540-BD48-29F1A83DA7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0547" y="3436477"/>
            <a:ext cx="4673600" cy="10922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D8C5EFD-95D4-7448-9F6F-5C5BA0B0F5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8808" y="4816491"/>
            <a:ext cx="4673600" cy="109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85088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1676400" y="1143000"/>
            <a:ext cx="1398140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Histogramas:</a:t>
            </a:r>
          </a:p>
          <a:p>
            <a:pPr algn="l"/>
            <a:endParaRPr lang="es-CL" dirty="0">
              <a:latin typeface="Gill Sans MT" panose="020B0502020104020203" pitchFamily="34" charset="77"/>
            </a:endParaRPr>
          </a:p>
          <a:p>
            <a:pPr algn="l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48" name="Line 4"/>
          <p:cNvSpPr>
            <a:spLocks noChangeShapeType="1"/>
          </p:cNvSpPr>
          <p:nvPr/>
        </p:nvSpPr>
        <p:spPr bwMode="auto">
          <a:xfrm>
            <a:off x="1524000" y="6096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49" name="Line 57"/>
          <p:cNvSpPr>
            <a:spLocks noChangeShapeType="1"/>
          </p:cNvSpPr>
          <p:nvPr/>
        </p:nvSpPr>
        <p:spPr bwMode="auto">
          <a:xfrm>
            <a:off x="2286000" y="1752600"/>
            <a:ext cx="18431" cy="279837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1" name="Line 59"/>
          <p:cNvSpPr>
            <a:spLocks noChangeShapeType="1"/>
          </p:cNvSpPr>
          <p:nvPr/>
        </p:nvSpPr>
        <p:spPr bwMode="auto">
          <a:xfrm>
            <a:off x="1905000" y="4290844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3" name="Text Box 61"/>
          <p:cNvSpPr txBox="1">
            <a:spLocks noChangeArrowheads="1"/>
          </p:cNvSpPr>
          <p:nvPr/>
        </p:nvSpPr>
        <p:spPr bwMode="auto">
          <a:xfrm>
            <a:off x="9798050" y="4403839"/>
            <a:ext cx="57759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área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4" name="Text Box 62"/>
          <p:cNvSpPr txBox="1">
            <a:spLocks noChangeArrowheads="1"/>
          </p:cNvSpPr>
          <p:nvPr/>
        </p:nvSpPr>
        <p:spPr bwMode="auto">
          <a:xfrm>
            <a:off x="2305278" y="1894178"/>
            <a:ext cx="301236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Frutas (naranjas y mandarinas)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6" name="Line 64"/>
          <p:cNvSpPr>
            <a:spLocks noChangeShapeType="1"/>
          </p:cNvSpPr>
          <p:nvPr/>
        </p:nvSpPr>
        <p:spPr bwMode="auto">
          <a:xfrm>
            <a:off x="3505200" y="1752600"/>
            <a:ext cx="0" cy="2651238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49A40BC-5121-6547-8C37-A51F350D7387}"/>
              </a:ext>
            </a:extLst>
          </p:cNvPr>
          <p:cNvGrpSpPr/>
          <p:nvPr/>
        </p:nvGrpSpPr>
        <p:grpSpPr>
          <a:xfrm>
            <a:off x="4648200" y="1752601"/>
            <a:ext cx="4953000" cy="2619705"/>
            <a:chOff x="3124200" y="1752600"/>
            <a:chExt cx="4953000" cy="4267200"/>
          </a:xfrm>
        </p:grpSpPr>
        <p:sp>
          <p:nvSpPr>
            <p:cNvPr id="6157" name="Line 65"/>
            <p:cNvSpPr>
              <a:spLocks noChangeShapeType="1"/>
            </p:cNvSpPr>
            <p:nvPr/>
          </p:nvSpPr>
          <p:spPr bwMode="auto">
            <a:xfrm>
              <a:off x="31242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158" name="Line 66"/>
            <p:cNvSpPr>
              <a:spLocks noChangeShapeType="1"/>
            </p:cNvSpPr>
            <p:nvPr/>
          </p:nvSpPr>
          <p:spPr bwMode="auto">
            <a:xfrm>
              <a:off x="43434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159" name="Line 67"/>
            <p:cNvSpPr>
              <a:spLocks noChangeShapeType="1"/>
            </p:cNvSpPr>
            <p:nvPr/>
          </p:nvSpPr>
          <p:spPr bwMode="auto">
            <a:xfrm>
              <a:off x="55626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160" name="Line 68"/>
            <p:cNvSpPr>
              <a:spLocks noChangeShapeType="1"/>
            </p:cNvSpPr>
            <p:nvPr/>
          </p:nvSpPr>
          <p:spPr bwMode="auto">
            <a:xfrm>
              <a:off x="67818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161" name="Line 69"/>
            <p:cNvSpPr>
              <a:spLocks noChangeShapeType="1"/>
            </p:cNvSpPr>
            <p:nvPr/>
          </p:nvSpPr>
          <p:spPr bwMode="auto">
            <a:xfrm>
              <a:off x="80772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6162" name="Text Box 71"/>
          <p:cNvSpPr txBox="1">
            <a:spLocks noChangeArrowheads="1"/>
          </p:cNvSpPr>
          <p:nvPr/>
        </p:nvSpPr>
        <p:spPr bwMode="auto">
          <a:xfrm>
            <a:off x="1981201" y="4632438"/>
            <a:ext cx="760977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8.000        10.000       12.000       14.000         16.000         18.000         20.000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63" name="Rectangle 72"/>
          <p:cNvSpPr>
            <a:spLocks noChangeArrowheads="1"/>
          </p:cNvSpPr>
          <p:nvPr/>
        </p:nvSpPr>
        <p:spPr bwMode="auto">
          <a:xfrm>
            <a:off x="3276600" y="3909844"/>
            <a:ext cx="4572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4" name="Rectangle 73"/>
          <p:cNvSpPr>
            <a:spLocks noChangeArrowheads="1"/>
          </p:cNvSpPr>
          <p:nvPr/>
        </p:nvSpPr>
        <p:spPr bwMode="auto">
          <a:xfrm>
            <a:off x="3810000" y="3757444"/>
            <a:ext cx="5334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5" name="Rectangle 74"/>
          <p:cNvSpPr>
            <a:spLocks noChangeArrowheads="1"/>
          </p:cNvSpPr>
          <p:nvPr/>
        </p:nvSpPr>
        <p:spPr bwMode="auto">
          <a:xfrm>
            <a:off x="4419600" y="3605044"/>
            <a:ext cx="4572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6" name="Rectangle 75"/>
          <p:cNvSpPr>
            <a:spLocks noChangeArrowheads="1"/>
          </p:cNvSpPr>
          <p:nvPr/>
        </p:nvSpPr>
        <p:spPr bwMode="auto">
          <a:xfrm>
            <a:off x="5029200" y="3300244"/>
            <a:ext cx="457200" cy="990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7" name="Rectangle 76"/>
          <p:cNvSpPr>
            <a:spLocks noChangeArrowheads="1"/>
          </p:cNvSpPr>
          <p:nvPr/>
        </p:nvSpPr>
        <p:spPr bwMode="auto">
          <a:xfrm>
            <a:off x="5638800" y="3376444"/>
            <a:ext cx="4572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8" name="Rectangle 77"/>
          <p:cNvSpPr>
            <a:spLocks noChangeArrowheads="1"/>
          </p:cNvSpPr>
          <p:nvPr/>
        </p:nvSpPr>
        <p:spPr bwMode="auto">
          <a:xfrm>
            <a:off x="6248400" y="3757444"/>
            <a:ext cx="4572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9" name="Rectangle 78"/>
          <p:cNvSpPr>
            <a:spLocks noChangeArrowheads="1"/>
          </p:cNvSpPr>
          <p:nvPr/>
        </p:nvSpPr>
        <p:spPr bwMode="auto">
          <a:xfrm>
            <a:off x="6858000" y="3757444"/>
            <a:ext cx="4572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70" name="Rectangle 80"/>
          <p:cNvSpPr>
            <a:spLocks noChangeArrowheads="1"/>
          </p:cNvSpPr>
          <p:nvPr/>
        </p:nvSpPr>
        <p:spPr bwMode="auto">
          <a:xfrm flipH="1">
            <a:off x="9372600" y="3876021"/>
            <a:ext cx="457200" cy="4095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71" name="Rectangle 81"/>
          <p:cNvSpPr>
            <a:spLocks noChangeArrowheads="1"/>
          </p:cNvSpPr>
          <p:nvPr/>
        </p:nvSpPr>
        <p:spPr bwMode="auto">
          <a:xfrm flipH="1">
            <a:off x="8686800" y="3710921"/>
            <a:ext cx="457200" cy="5746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72" name="Rectangle 82"/>
          <p:cNvSpPr>
            <a:spLocks noChangeArrowheads="1"/>
          </p:cNvSpPr>
          <p:nvPr/>
        </p:nvSpPr>
        <p:spPr bwMode="auto">
          <a:xfrm flipH="1">
            <a:off x="8077200" y="3547409"/>
            <a:ext cx="457200" cy="7381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73" name="Rectangle 83"/>
          <p:cNvSpPr>
            <a:spLocks noChangeArrowheads="1"/>
          </p:cNvSpPr>
          <p:nvPr/>
        </p:nvSpPr>
        <p:spPr bwMode="auto">
          <a:xfrm flipH="1">
            <a:off x="7467600" y="3218795"/>
            <a:ext cx="457200" cy="1066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33" name="Text Box 2">
            <a:extLst>
              <a:ext uri="{FF2B5EF4-FFF2-40B4-BE49-F238E27FC236}">
                <a16:creationId xmlns:a16="http://schemas.microsoft.com/office/drawing/2014/main" id="{B631265C-3D24-DC47-B63F-A205E44EAF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1" y="152400"/>
            <a:ext cx="240097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Mandarinas vs. Naranjas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9C29C6-8B5F-A04E-AD2F-E5AD196233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8456" y="2632696"/>
            <a:ext cx="1263691" cy="429655"/>
          </a:xfrm>
          <a:prstGeom prst="rect">
            <a:avLst/>
          </a:prstGeom>
        </p:spPr>
      </p:pic>
      <p:sp>
        <p:nvSpPr>
          <p:cNvPr id="2" name="Freeform 1">
            <a:extLst>
              <a:ext uri="{FF2B5EF4-FFF2-40B4-BE49-F238E27FC236}">
                <a16:creationId xmlns:a16="http://schemas.microsoft.com/office/drawing/2014/main" id="{C5C14871-9CF9-F846-85F6-A47F6493DDEF}"/>
              </a:ext>
            </a:extLst>
          </p:cNvPr>
          <p:cNvSpPr/>
          <p:nvPr/>
        </p:nvSpPr>
        <p:spPr>
          <a:xfrm>
            <a:off x="2869324" y="3234065"/>
            <a:ext cx="7378262" cy="1054156"/>
          </a:xfrm>
          <a:custGeom>
            <a:avLst/>
            <a:gdLst>
              <a:gd name="connsiteX0" fmla="*/ 0 w 7378262"/>
              <a:gd name="connsiteY0" fmla="*/ 1054156 h 1054156"/>
              <a:gd name="connsiteX1" fmla="*/ 630621 w 7378262"/>
              <a:gd name="connsiteY1" fmla="*/ 696804 h 1054156"/>
              <a:gd name="connsiteX2" fmla="*/ 1219200 w 7378262"/>
              <a:gd name="connsiteY2" fmla="*/ 528638 h 1054156"/>
              <a:gd name="connsiteX3" fmla="*/ 1776248 w 7378262"/>
              <a:gd name="connsiteY3" fmla="*/ 370983 h 1054156"/>
              <a:gd name="connsiteX4" fmla="*/ 2396359 w 7378262"/>
              <a:gd name="connsiteY4" fmla="*/ 66183 h 1054156"/>
              <a:gd name="connsiteX5" fmla="*/ 3016469 w 7378262"/>
              <a:gd name="connsiteY5" fmla="*/ 160776 h 1054156"/>
              <a:gd name="connsiteX6" fmla="*/ 3615559 w 7378262"/>
              <a:gd name="connsiteY6" fmla="*/ 518128 h 1054156"/>
              <a:gd name="connsiteX7" fmla="*/ 4225159 w 7378262"/>
              <a:gd name="connsiteY7" fmla="*/ 528638 h 1054156"/>
              <a:gd name="connsiteX8" fmla="*/ 4834759 w 7378262"/>
              <a:gd name="connsiteY8" fmla="*/ 3121 h 1054156"/>
              <a:gd name="connsiteX9" fmla="*/ 5444359 w 7378262"/>
              <a:gd name="connsiteY9" fmla="*/ 318432 h 1054156"/>
              <a:gd name="connsiteX10" fmla="*/ 6032938 w 7378262"/>
              <a:gd name="connsiteY10" fmla="*/ 486597 h 1054156"/>
              <a:gd name="connsiteX11" fmla="*/ 6758152 w 7378262"/>
              <a:gd name="connsiteY11" fmla="*/ 644252 h 1054156"/>
              <a:gd name="connsiteX12" fmla="*/ 7378262 w 7378262"/>
              <a:gd name="connsiteY12" fmla="*/ 1043645 h 1054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378262" h="1054156">
                <a:moveTo>
                  <a:pt x="0" y="1054156"/>
                </a:moveTo>
                <a:cubicBezTo>
                  <a:pt x="213710" y="919273"/>
                  <a:pt x="427421" y="784390"/>
                  <a:pt x="630621" y="696804"/>
                </a:cubicBezTo>
                <a:cubicBezTo>
                  <a:pt x="833821" y="609218"/>
                  <a:pt x="1219200" y="528638"/>
                  <a:pt x="1219200" y="528638"/>
                </a:cubicBezTo>
                <a:cubicBezTo>
                  <a:pt x="1410138" y="474335"/>
                  <a:pt x="1580055" y="448059"/>
                  <a:pt x="1776248" y="370983"/>
                </a:cubicBezTo>
                <a:cubicBezTo>
                  <a:pt x="1972441" y="293907"/>
                  <a:pt x="2189656" y="101217"/>
                  <a:pt x="2396359" y="66183"/>
                </a:cubicBezTo>
                <a:cubicBezTo>
                  <a:pt x="2603063" y="31148"/>
                  <a:pt x="2813269" y="85452"/>
                  <a:pt x="3016469" y="160776"/>
                </a:cubicBezTo>
                <a:cubicBezTo>
                  <a:pt x="3219669" y="236100"/>
                  <a:pt x="3414111" y="456818"/>
                  <a:pt x="3615559" y="518128"/>
                </a:cubicBezTo>
                <a:cubicBezTo>
                  <a:pt x="3817007" y="579438"/>
                  <a:pt x="4021959" y="614472"/>
                  <a:pt x="4225159" y="528638"/>
                </a:cubicBezTo>
                <a:cubicBezTo>
                  <a:pt x="4428359" y="442804"/>
                  <a:pt x="4631559" y="38155"/>
                  <a:pt x="4834759" y="3121"/>
                </a:cubicBezTo>
                <a:cubicBezTo>
                  <a:pt x="5037959" y="-31913"/>
                  <a:pt x="5244663" y="237853"/>
                  <a:pt x="5444359" y="318432"/>
                </a:cubicBezTo>
                <a:cubicBezTo>
                  <a:pt x="5644056" y="399011"/>
                  <a:pt x="5813973" y="432294"/>
                  <a:pt x="6032938" y="486597"/>
                </a:cubicBezTo>
                <a:cubicBezTo>
                  <a:pt x="6251903" y="540900"/>
                  <a:pt x="6533931" y="551411"/>
                  <a:pt x="6758152" y="644252"/>
                </a:cubicBezTo>
                <a:cubicBezTo>
                  <a:pt x="6982373" y="737093"/>
                  <a:pt x="7180317" y="890369"/>
                  <a:pt x="7378262" y="1043645"/>
                </a:cubicBezTo>
              </a:path>
            </a:pathLst>
          </a:custGeom>
          <a:noFill/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3637977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1676400" y="1143000"/>
            <a:ext cx="635110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PDF:</a:t>
            </a:r>
          </a:p>
          <a:p>
            <a:pPr algn="l"/>
            <a:endParaRPr lang="es-CL" dirty="0">
              <a:latin typeface="Gill Sans MT" panose="020B0502020104020203" pitchFamily="34" charset="77"/>
            </a:endParaRPr>
          </a:p>
          <a:p>
            <a:pPr algn="l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48" name="Line 4"/>
          <p:cNvSpPr>
            <a:spLocks noChangeShapeType="1"/>
          </p:cNvSpPr>
          <p:nvPr/>
        </p:nvSpPr>
        <p:spPr bwMode="auto">
          <a:xfrm>
            <a:off x="1524000" y="6096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49" name="Line 57"/>
          <p:cNvSpPr>
            <a:spLocks noChangeShapeType="1"/>
          </p:cNvSpPr>
          <p:nvPr/>
        </p:nvSpPr>
        <p:spPr bwMode="auto">
          <a:xfrm>
            <a:off x="2286000" y="1752600"/>
            <a:ext cx="18431" cy="279837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1" name="Line 59"/>
          <p:cNvSpPr>
            <a:spLocks noChangeShapeType="1"/>
          </p:cNvSpPr>
          <p:nvPr/>
        </p:nvSpPr>
        <p:spPr bwMode="auto">
          <a:xfrm>
            <a:off x="1905000" y="4290844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3" name="Text Box 61"/>
          <p:cNvSpPr txBox="1">
            <a:spLocks noChangeArrowheads="1"/>
          </p:cNvSpPr>
          <p:nvPr/>
        </p:nvSpPr>
        <p:spPr bwMode="auto">
          <a:xfrm>
            <a:off x="9798050" y="4403839"/>
            <a:ext cx="57759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área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4" name="Text Box 62"/>
          <p:cNvSpPr txBox="1">
            <a:spLocks noChangeArrowheads="1"/>
          </p:cNvSpPr>
          <p:nvPr/>
        </p:nvSpPr>
        <p:spPr bwMode="auto">
          <a:xfrm>
            <a:off x="2305278" y="1894178"/>
            <a:ext cx="301236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Frutas (naranjas y mandarinas)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6" name="Line 64"/>
          <p:cNvSpPr>
            <a:spLocks noChangeShapeType="1"/>
          </p:cNvSpPr>
          <p:nvPr/>
        </p:nvSpPr>
        <p:spPr bwMode="auto">
          <a:xfrm>
            <a:off x="3505200" y="1752600"/>
            <a:ext cx="0" cy="2651238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49A40BC-5121-6547-8C37-A51F350D7387}"/>
              </a:ext>
            </a:extLst>
          </p:cNvPr>
          <p:cNvGrpSpPr/>
          <p:nvPr/>
        </p:nvGrpSpPr>
        <p:grpSpPr>
          <a:xfrm>
            <a:off x="4648200" y="1752601"/>
            <a:ext cx="4953000" cy="2619705"/>
            <a:chOff x="3124200" y="1752600"/>
            <a:chExt cx="4953000" cy="4267200"/>
          </a:xfrm>
        </p:grpSpPr>
        <p:sp>
          <p:nvSpPr>
            <p:cNvPr id="6157" name="Line 65"/>
            <p:cNvSpPr>
              <a:spLocks noChangeShapeType="1"/>
            </p:cNvSpPr>
            <p:nvPr/>
          </p:nvSpPr>
          <p:spPr bwMode="auto">
            <a:xfrm>
              <a:off x="31242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158" name="Line 66"/>
            <p:cNvSpPr>
              <a:spLocks noChangeShapeType="1"/>
            </p:cNvSpPr>
            <p:nvPr/>
          </p:nvSpPr>
          <p:spPr bwMode="auto">
            <a:xfrm>
              <a:off x="43434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159" name="Line 67"/>
            <p:cNvSpPr>
              <a:spLocks noChangeShapeType="1"/>
            </p:cNvSpPr>
            <p:nvPr/>
          </p:nvSpPr>
          <p:spPr bwMode="auto">
            <a:xfrm>
              <a:off x="55626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160" name="Line 68"/>
            <p:cNvSpPr>
              <a:spLocks noChangeShapeType="1"/>
            </p:cNvSpPr>
            <p:nvPr/>
          </p:nvSpPr>
          <p:spPr bwMode="auto">
            <a:xfrm>
              <a:off x="67818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161" name="Line 69"/>
            <p:cNvSpPr>
              <a:spLocks noChangeShapeType="1"/>
            </p:cNvSpPr>
            <p:nvPr/>
          </p:nvSpPr>
          <p:spPr bwMode="auto">
            <a:xfrm>
              <a:off x="80772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6162" name="Text Box 71"/>
          <p:cNvSpPr txBox="1">
            <a:spLocks noChangeArrowheads="1"/>
          </p:cNvSpPr>
          <p:nvPr/>
        </p:nvSpPr>
        <p:spPr bwMode="auto">
          <a:xfrm>
            <a:off x="1981201" y="4632438"/>
            <a:ext cx="760977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8.000        10.000       12.000       14.000         16.000         18.000         20.000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63" name="Rectangle 72"/>
          <p:cNvSpPr>
            <a:spLocks noChangeArrowheads="1"/>
          </p:cNvSpPr>
          <p:nvPr/>
        </p:nvSpPr>
        <p:spPr bwMode="auto">
          <a:xfrm>
            <a:off x="3276600" y="3909844"/>
            <a:ext cx="4572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4" name="Rectangle 73"/>
          <p:cNvSpPr>
            <a:spLocks noChangeArrowheads="1"/>
          </p:cNvSpPr>
          <p:nvPr/>
        </p:nvSpPr>
        <p:spPr bwMode="auto">
          <a:xfrm>
            <a:off x="3810000" y="3757444"/>
            <a:ext cx="5334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5" name="Rectangle 74"/>
          <p:cNvSpPr>
            <a:spLocks noChangeArrowheads="1"/>
          </p:cNvSpPr>
          <p:nvPr/>
        </p:nvSpPr>
        <p:spPr bwMode="auto">
          <a:xfrm>
            <a:off x="4419600" y="3605044"/>
            <a:ext cx="4572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6" name="Rectangle 75"/>
          <p:cNvSpPr>
            <a:spLocks noChangeArrowheads="1"/>
          </p:cNvSpPr>
          <p:nvPr/>
        </p:nvSpPr>
        <p:spPr bwMode="auto">
          <a:xfrm>
            <a:off x="5029200" y="3300244"/>
            <a:ext cx="457200" cy="990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7" name="Rectangle 76"/>
          <p:cNvSpPr>
            <a:spLocks noChangeArrowheads="1"/>
          </p:cNvSpPr>
          <p:nvPr/>
        </p:nvSpPr>
        <p:spPr bwMode="auto">
          <a:xfrm>
            <a:off x="5638800" y="3376444"/>
            <a:ext cx="4572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8" name="Rectangle 77"/>
          <p:cNvSpPr>
            <a:spLocks noChangeArrowheads="1"/>
          </p:cNvSpPr>
          <p:nvPr/>
        </p:nvSpPr>
        <p:spPr bwMode="auto">
          <a:xfrm>
            <a:off x="6248400" y="3757444"/>
            <a:ext cx="4572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69" name="Rectangle 78"/>
          <p:cNvSpPr>
            <a:spLocks noChangeArrowheads="1"/>
          </p:cNvSpPr>
          <p:nvPr/>
        </p:nvSpPr>
        <p:spPr bwMode="auto">
          <a:xfrm>
            <a:off x="6858000" y="3757444"/>
            <a:ext cx="4572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70" name="Rectangle 80"/>
          <p:cNvSpPr>
            <a:spLocks noChangeArrowheads="1"/>
          </p:cNvSpPr>
          <p:nvPr/>
        </p:nvSpPr>
        <p:spPr bwMode="auto">
          <a:xfrm flipH="1">
            <a:off x="9372600" y="3876021"/>
            <a:ext cx="457200" cy="4095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71" name="Rectangle 81"/>
          <p:cNvSpPr>
            <a:spLocks noChangeArrowheads="1"/>
          </p:cNvSpPr>
          <p:nvPr/>
        </p:nvSpPr>
        <p:spPr bwMode="auto">
          <a:xfrm flipH="1">
            <a:off x="8686800" y="3710921"/>
            <a:ext cx="457200" cy="5746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72" name="Rectangle 82"/>
          <p:cNvSpPr>
            <a:spLocks noChangeArrowheads="1"/>
          </p:cNvSpPr>
          <p:nvPr/>
        </p:nvSpPr>
        <p:spPr bwMode="auto">
          <a:xfrm flipH="1">
            <a:off x="8077200" y="3547409"/>
            <a:ext cx="457200" cy="7381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6173" name="Rectangle 83"/>
          <p:cNvSpPr>
            <a:spLocks noChangeArrowheads="1"/>
          </p:cNvSpPr>
          <p:nvPr/>
        </p:nvSpPr>
        <p:spPr bwMode="auto">
          <a:xfrm flipH="1">
            <a:off x="7467600" y="3218795"/>
            <a:ext cx="457200" cy="1066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33" name="Text Box 2">
            <a:extLst>
              <a:ext uri="{FF2B5EF4-FFF2-40B4-BE49-F238E27FC236}">
                <a16:creationId xmlns:a16="http://schemas.microsoft.com/office/drawing/2014/main" id="{B631265C-3D24-DC47-B63F-A205E44EAF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1" y="152400"/>
            <a:ext cx="240097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Mandarinas vs. Naranjas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C5C14871-9CF9-F846-85F6-A47F6493DDEF}"/>
              </a:ext>
            </a:extLst>
          </p:cNvPr>
          <p:cNvSpPr/>
          <p:nvPr/>
        </p:nvSpPr>
        <p:spPr>
          <a:xfrm>
            <a:off x="2869324" y="3234065"/>
            <a:ext cx="7378262" cy="1054156"/>
          </a:xfrm>
          <a:custGeom>
            <a:avLst/>
            <a:gdLst>
              <a:gd name="connsiteX0" fmla="*/ 0 w 7378262"/>
              <a:gd name="connsiteY0" fmla="*/ 1054156 h 1054156"/>
              <a:gd name="connsiteX1" fmla="*/ 630621 w 7378262"/>
              <a:gd name="connsiteY1" fmla="*/ 696804 h 1054156"/>
              <a:gd name="connsiteX2" fmla="*/ 1219200 w 7378262"/>
              <a:gd name="connsiteY2" fmla="*/ 528638 h 1054156"/>
              <a:gd name="connsiteX3" fmla="*/ 1776248 w 7378262"/>
              <a:gd name="connsiteY3" fmla="*/ 370983 h 1054156"/>
              <a:gd name="connsiteX4" fmla="*/ 2396359 w 7378262"/>
              <a:gd name="connsiteY4" fmla="*/ 66183 h 1054156"/>
              <a:gd name="connsiteX5" fmla="*/ 3016469 w 7378262"/>
              <a:gd name="connsiteY5" fmla="*/ 160776 h 1054156"/>
              <a:gd name="connsiteX6" fmla="*/ 3615559 w 7378262"/>
              <a:gd name="connsiteY6" fmla="*/ 518128 h 1054156"/>
              <a:gd name="connsiteX7" fmla="*/ 4225159 w 7378262"/>
              <a:gd name="connsiteY7" fmla="*/ 528638 h 1054156"/>
              <a:gd name="connsiteX8" fmla="*/ 4834759 w 7378262"/>
              <a:gd name="connsiteY8" fmla="*/ 3121 h 1054156"/>
              <a:gd name="connsiteX9" fmla="*/ 5444359 w 7378262"/>
              <a:gd name="connsiteY9" fmla="*/ 318432 h 1054156"/>
              <a:gd name="connsiteX10" fmla="*/ 6032938 w 7378262"/>
              <a:gd name="connsiteY10" fmla="*/ 486597 h 1054156"/>
              <a:gd name="connsiteX11" fmla="*/ 6758152 w 7378262"/>
              <a:gd name="connsiteY11" fmla="*/ 644252 h 1054156"/>
              <a:gd name="connsiteX12" fmla="*/ 7378262 w 7378262"/>
              <a:gd name="connsiteY12" fmla="*/ 1043645 h 1054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378262" h="1054156">
                <a:moveTo>
                  <a:pt x="0" y="1054156"/>
                </a:moveTo>
                <a:cubicBezTo>
                  <a:pt x="213710" y="919273"/>
                  <a:pt x="427421" y="784390"/>
                  <a:pt x="630621" y="696804"/>
                </a:cubicBezTo>
                <a:cubicBezTo>
                  <a:pt x="833821" y="609218"/>
                  <a:pt x="1219200" y="528638"/>
                  <a:pt x="1219200" y="528638"/>
                </a:cubicBezTo>
                <a:cubicBezTo>
                  <a:pt x="1410138" y="474335"/>
                  <a:pt x="1580055" y="448059"/>
                  <a:pt x="1776248" y="370983"/>
                </a:cubicBezTo>
                <a:cubicBezTo>
                  <a:pt x="1972441" y="293907"/>
                  <a:pt x="2189656" y="101217"/>
                  <a:pt x="2396359" y="66183"/>
                </a:cubicBezTo>
                <a:cubicBezTo>
                  <a:pt x="2603063" y="31148"/>
                  <a:pt x="2813269" y="85452"/>
                  <a:pt x="3016469" y="160776"/>
                </a:cubicBezTo>
                <a:cubicBezTo>
                  <a:pt x="3219669" y="236100"/>
                  <a:pt x="3414111" y="456818"/>
                  <a:pt x="3615559" y="518128"/>
                </a:cubicBezTo>
                <a:cubicBezTo>
                  <a:pt x="3817007" y="579438"/>
                  <a:pt x="4021959" y="614472"/>
                  <a:pt x="4225159" y="528638"/>
                </a:cubicBezTo>
                <a:cubicBezTo>
                  <a:pt x="4428359" y="442804"/>
                  <a:pt x="4631559" y="38155"/>
                  <a:pt x="4834759" y="3121"/>
                </a:cubicBezTo>
                <a:cubicBezTo>
                  <a:pt x="5037959" y="-31913"/>
                  <a:pt x="5244663" y="237853"/>
                  <a:pt x="5444359" y="318432"/>
                </a:cubicBezTo>
                <a:cubicBezTo>
                  <a:pt x="5644056" y="399011"/>
                  <a:pt x="5813973" y="432294"/>
                  <a:pt x="6032938" y="486597"/>
                </a:cubicBezTo>
                <a:cubicBezTo>
                  <a:pt x="6251903" y="540900"/>
                  <a:pt x="6533931" y="551411"/>
                  <a:pt x="6758152" y="644252"/>
                </a:cubicBezTo>
                <a:cubicBezTo>
                  <a:pt x="6982373" y="737093"/>
                  <a:pt x="7180317" y="890369"/>
                  <a:pt x="7378262" y="1043645"/>
                </a:cubicBezTo>
              </a:path>
            </a:pathLst>
          </a:custGeom>
          <a:noFill/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EDFD28-64FF-7048-9B6A-3A6F0234BC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993" y="2572327"/>
            <a:ext cx="825500" cy="46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58982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10B49-95C1-D64A-8867-BB43F1687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Gill Sans MT" panose="020B0502020104020203" pitchFamily="34" charset="77"/>
              </a:rPr>
              <a:t>Clasificación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según</a:t>
            </a:r>
            <a:r>
              <a:rPr lang="en-US" dirty="0">
                <a:latin typeface="Gill Sans MT" panose="020B0502020104020203" pitchFamily="34" charset="77"/>
              </a:rPr>
              <a:t> Bayes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7F3C4EE-88C7-5F42-AE88-DF5473789C29}"/>
              </a:ext>
            </a:extLst>
          </p:cNvPr>
          <p:cNvGrpSpPr/>
          <p:nvPr/>
        </p:nvGrpSpPr>
        <p:grpSpPr>
          <a:xfrm>
            <a:off x="3622566" y="1318997"/>
            <a:ext cx="4946869" cy="1794187"/>
            <a:chOff x="3124200" y="4451038"/>
            <a:chExt cx="4946869" cy="179418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EEB39AE-CD5B-3D4A-A27A-29C389BB3999}"/>
                </a:ext>
              </a:extLst>
            </p:cNvPr>
            <p:cNvSpPr txBox="1"/>
            <p:nvPr/>
          </p:nvSpPr>
          <p:spPr>
            <a:xfrm>
              <a:off x="3143253" y="4509001"/>
              <a:ext cx="15728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ALGORITMO: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8663945-F666-3146-8C06-A39C16EB17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44411" y="5062999"/>
              <a:ext cx="2349500" cy="3175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7C3E527-25E5-1542-BD1F-814AD7A118F5}"/>
                </a:ext>
              </a:extLst>
            </p:cNvPr>
            <p:cNvSpPr txBox="1"/>
            <p:nvPr/>
          </p:nvSpPr>
          <p:spPr>
            <a:xfrm>
              <a:off x="5672961" y="5041979"/>
              <a:ext cx="2233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→           (mandarina)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295E96B-1E3B-834C-96D2-2ACA6A19D53E}"/>
                </a:ext>
              </a:extLst>
            </p:cNvPr>
            <p:cNvSpPr txBox="1"/>
            <p:nvPr/>
          </p:nvSpPr>
          <p:spPr>
            <a:xfrm>
              <a:off x="5704490" y="5592583"/>
              <a:ext cx="19479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→           (</a:t>
              </a:r>
              <a:r>
                <a:rPr lang="en-US" dirty="0" err="1">
                  <a:latin typeface="Gill Sans MT" panose="020B0502020104020203" pitchFamily="34" charset="77"/>
                </a:rPr>
                <a:t>naranja</a:t>
              </a:r>
              <a:r>
                <a:rPr lang="en-US" dirty="0">
                  <a:latin typeface="Gill Sans MT" panose="020B0502020104020203" pitchFamily="34" charset="77"/>
                </a:rPr>
                <a:t>)</a:t>
              </a:r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D85910BC-8E6A-9B4C-8517-01433058FD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19503" y="5172091"/>
              <a:ext cx="304800" cy="190500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C29C4487-D00C-4041-86FA-2E4EE56426B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14246" y="5722322"/>
              <a:ext cx="304800" cy="1905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388E2A0-3872-8146-A7FA-E87C3B278CC0}"/>
                </a:ext>
              </a:extLst>
            </p:cNvPr>
            <p:cNvSpPr txBox="1"/>
            <p:nvPr/>
          </p:nvSpPr>
          <p:spPr>
            <a:xfrm>
              <a:off x="5043109" y="5652657"/>
              <a:ext cx="5453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else</a:t>
              </a:r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69F1F9EC-375E-E84C-971C-6862436CCEEA}"/>
                </a:ext>
              </a:extLst>
            </p:cNvPr>
            <p:cNvSpPr/>
            <p:nvPr/>
          </p:nvSpPr>
          <p:spPr>
            <a:xfrm>
              <a:off x="3124200" y="4451038"/>
              <a:ext cx="4946869" cy="1794187"/>
            </a:xfrm>
            <a:prstGeom prst="roundRect">
              <a:avLst>
                <a:gd name="adj" fmla="val 7294"/>
              </a:avLst>
            </a:prstGeom>
            <a:noFill/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8D16BF4E-0831-F540-BD48-29F1A83DA7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0547" y="3436477"/>
            <a:ext cx="4673600" cy="10922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D8C5EFD-95D4-7448-9F6F-5C5BA0B0F5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8808" y="4816491"/>
            <a:ext cx="4673600" cy="109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26092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99EFDF0-56C6-0D42-871B-D8DD8D189849}"/>
              </a:ext>
            </a:extLst>
          </p:cNvPr>
          <p:cNvSpPr txBox="1"/>
          <p:nvPr/>
        </p:nvSpPr>
        <p:spPr>
          <a:xfrm>
            <a:off x="2798164" y="734522"/>
            <a:ext cx="5735994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EJEMPLO: Una clase de cocina que imparte la municipalidad</a:t>
            </a:r>
          </a:p>
          <a:p>
            <a:endParaRPr lang="es-ES_tradnl" dirty="0">
              <a:latin typeface="Gill Sans MT" panose="020B0502020104020203" pitchFamily="34" charset="77"/>
            </a:endParaRPr>
          </a:p>
          <a:p>
            <a:endParaRPr lang="es-ES_tradnl" dirty="0">
              <a:latin typeface="Gill Sans MT" panose="020B0502020104020203" pitchFamily="34" charset="77"/>
            </a:endParaRPr>
          </a:p>
          <a:p>
            <a:r>
              <a:rPr lang="es-ES_tradnl" dirty="0">
                <a:latin typeface="Gill Sans MT" panose="020B0502020104020203" pitchFamily="34" charset="77"/>
              </a:rPr>
              <a:t>Se inscriben 100 personas</a:t>
            </a:r>
          </a:p>
          <a:p>
            <a:endParaRPr lang="es-ES_tradnl" dirty="0">
              <a:latin typeface="Gill Sans MT" panose="020B0502020104020203" pitchFamily="34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dirty="0">
                <a:latin typeface="Gill Sans MT" panose="020B0502020104020203" pitchFamily="34" charset="77"/>
              </a:rPr>
              <a:t>60 hombres (40 jóvenes y 20 adultos mayores)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dirty="0">
                <a:latin typeface="Gill Sans MT" panose="020B0502020104020203" pitchFamily="34" charset="77"/>
              </a:rPr>
              <a:t>40 mujeres (30 jóvenes y 10 adultos mayores)</a:t>
            </a:r>
          </a:p>
          <a:p>
            <a:endParaRPr lang="es-ES_tradnl" dirty="0">
              <a:latin typeface="Gill Sans MT" panose="020B0502020104020203" pitchFamily="34" charset="77"/>
            </a:endParaRPr>
          </a:p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45CC939-916E-1940-8AEC-F2898ABFDF43}"/>
              </a:ext>
            </a:extLst>
          </p:cNvPr>
          <p:cNvSpPr/>
          <p:nvPr/>
        </p:nvSpPr>
        <p:spPr>
          <a:xfrm>
            <a:off x="8058378" y="1731697"/>
            <a:ext cx="2323475" cy="234970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1A4E4155-B071-3E41-B397-75B14FCD7EEF}"/>
              </a:ext>
            </a:extLst>
          </p:cNvPr>
          <p:cNvSpPr/>
          <p:nvPr/>
        </p:nvSpPr>
        <p:spPr>
          <a:xfrm>
            <a:off x="7969767" y="1409072"/>
            <a:ext cx="2143594" cy="2173574"/>
          </a:xfrm>
          <a:custGeom>
            <a:avLst/>
            <a:gdLst>
              <a:gd name="connsiteX0" fmla="*/ 0 w 2143594"/>
              <a:gd name="connsiteY0" fmla="*/ 2173574 h 2173574"/>
              <a:gd name="connsiteX1" fmla="*/ 1693889 w 2143594"/>
              <a:gd name="connsiteY1" fmla="*/ 1678898 h 2173574"/>
              <a:gd name="connsiteX2" fmla="*/ 2143594 w 2143594"/>
              <a:gd name="connsiteY2" fmla="*/ 0 h 2173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43594" h="2173574">
                <a:moveTo>
                  <a:pt x="0" y="2173574"/>
                </a:moveTo>
                <a:cubicBezTo>
                  <a:pt x="668311" y="2107367"/>
                  <a:pt x="1336623" y="2041160"/>
                  <a:pt x="1693889" y="1678898"/>
                </a:cubicBezTo>
                <a:cubicBezTo>
                  <a:pt x="2051155" y="1316636"/>
                  <a:pt x="2097374" y="658318"/>
                  <a:pt x="2143594" y="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706CE8A6-FD28-1B4C-A19A-47B68025C792}"/>
              </a:ext>
            </a:extLst>
          </p:cNvPr>
          <p:cNvSpPr/>
          <p:nvPr/>
        </p:nvSpPr>
        <p:spPr>
          <a:xfrm rot="5574795">
            <a:off x="9033405" y="1310255"/>
            <a:ext cx="2143594" cy="2173574"/>
          </a:xfrm>
          <a:custGeom>
            <a:avLst/>
            <a:gdLst>
              <a:gd name="connsiteX0" fmla="*/ 0 w 2143594"/>
              <a:gd name="connsiteY0" fmla="*/ 2173574 h 2173574"/>
              <a:gd name="connsiteX1" fmla="*/ 1693889 w 2143594"/>
              <a:gd name="connsiteY1" fmla="*/ 1678898 h 2173574"/>
              <a:gd name="connsiteX2" fmla="*/ 2143594 w 2143594"/>
              <a:gd name="connsiteY2" fmla="*/ 0 h 2173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43594" h="2173574">
                <a:moveTo>
                  <a:pt x="0" y="2173574"/>
                </a:moveTo>
                <a:cubicBezTo>
                  <a:pt x="668311" y="2107367"/>
                  <a:pt x="1336623" y="2041160"/>
                  <a:pt x="1693889" y="1678898"/>
                </a:cubicBezTo>
                <a:cubicBezTo>
                  <a:pt x="2051155" y="1316636"/>
                  <a:pt x="2097374" y="658318"/>
                  <a:pt x="2143594" y="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932120-27BE-8F4B-BC49-AB20A4C6A1B3}"/>
              </a:ext>
            </a:extLst>
          </p:cNvPr>
          <p:cNvSpPr txBox="1"/>
          <p:nvPr/>
        </p:nvSpPr>
        <p:spPr>
          <a:xfrm>
            <a:off x="7618958" y="3117950"/>
            <a:ext cx="351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58B5C7-3167-4640-9F10-153D84946026}"/>
              </a:ext>
            </a:extLst>
          </p:cNvPr>
          <p:cNvSpPr txBox="1"/>
          <p:nvPr/>
        </p:nvSpPr>
        <p:spPr>
          <a:xfrm>
            <a:off x="7985323" y="3749772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53AD35-B226-5248-AA1C-53E181A27170}"/>
              </a:ext>
            </a:extLst>
          </p:cNvPr>
          <p:cNvSpPr txBox="1"/>
          <p:nvPr/>
        </p:nvSpPr>
        <p:spPr>
          <a:xfrm>
            <a:off x="8656551" y="1411571"/>
            <a:ext cx="3513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J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AC3CB0E-ED00-A445-BC9F-F0EFFC851A01}"/>
              </a:ext>
            </a:extLst>
          </p:cNvPr>
          <p:cNvSpPr txBox="1"/>
          <p:nvPr/>
        </p:nvSpPr>
        <p:spPr>
          <a:xfrm>
            <a:off x="9067886" y="1383827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4D581D-1E81-6B40-8B29-66EF4C4E9945}"/>
              </a:ext>
            </a:extLst>
          </p:cNvPr>
          <p:cNvSpPr txBox="1"/>
          <p:nvPr/>
        </p:nvSpPr>
        <p:spPr>
          <a:xfrm>
            <a:off x="8269307" y="2628271"/>
            <a:ext cx="527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40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9DEA2D-A14E-F84E-A731-CE34C43E8CAC}"/>
              </a:ext>
            </a:extLst>
          </p:cNvPr>
          <p:cNvSpPr txBox="1"/>
          <p:nvPr/>
        </p:nvSpPr>
        <p:spPr>
          <a:xfrm>
            <a:off x="9375515" y="2126527"/>
            <a:ext cx="527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20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9224739-C788-A541-87C3-BB779ADD4AC4}"/>
              </a:ext>
            </a:extLst>
          </p:cNvPr>
          <p:cNvSpPr txBox="1"/>
          <p:nvPr/>
        </p:nvSpPr>
        <p:spPr>
          <a:xfrm>
            <a:off x="9210670" y="3463485"/>
            <a:ext cx="527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30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4CA1BB-3E03-8F41-B92C-0D27E0E5A256}"/>
              </a:ext>
            </a:extLst>
          </p:cNvPr>
          <p:cNvSpPr txBox="1"/>
          <p:nvPr/>
        </p:nvSpPr>
        <p:spPr>
          <a:xfrm>
            <a:off x="9887722" y="2821409"/>
            <a:ext cx="527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10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B4C7A96-6974-6855-D55A-872E38FE8E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900" y="5374926"/>
            <a:ext cx="3225800" cy="9398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53D9032-28D0-C3C1-3004-09F83A5B5E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8637" y="3963487"/>
            <a:ext cx="4749800" cy="10922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5443D6AD-8E43-962B-CB2D-B881C535F9ED}"/>
              </a:ext>
            </a:extLst>
          </p:cNvPr>
          <p:cNvGrpSpPr/>
          <p:nvPr/>
        </p:nvGrpSpPr>
        <p:grpSpPr>
          <a:xfrm>
            <a:off x="4844143" y="3789275"/>
            <a:ext cx="1121229" cy="2796583"/>
            <a:chOff x="3320142" y="3789274"/>
            <a:chExt cx="1121229" cy="2796583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9C2C82DB-CDC9-16E9-CF1F-1F7976693695}"/>
                </a:ext>
              </a:extLst>
            </p:cNvPr>
            <p:cNvSpPr/>
            <p:nvPr/>
          </p:nvSpPr>
          <p:spPr>
            <a:xfrm>
              <a:off x="3341913" y="5265055"/>
              <a:ext cx="838201" cy="1320802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L" dirty="0">
                <a:latin typeface="Gill Sans MT" panose="020B0502020104020203" pitchFamily="34" charset="77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06B4DC8C-5C03-ACE6-A996-EB093EF0B060}"/>
                </a:ext>
              </a:extLst>
            </p:cNvPr>
            <p:cNvSpPr/>
            <p:nvPr/>
          </p:nvSpPr>
          <p:spPr>
            <a:xfrm>
              <a:off x="3320142" y="3789274"/>
              <a:ext cx="1121229" cy="760954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05661EB-CBEE-9D82-12B6-2CD396AC68A4}"/>
              </a:ext>
            </a:extLst>
          </p:cNvPr>
          <p:cNvGrpSpPr/>
          <p:nvPr/>
        </p:nvGrpSpPr>
        <p:grpSpPr>
          <a:xfrm>
            <a:off x="5393103" y="4381144"/>
            <a:ext cx="1676400" cy="2208753"/>
            <a:chOff x="3320142" y="3767502"/>
            <a:chExt cx="1676400" cy="2208753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80C248BD-D124-7A0A-2461-7D300A1E91AB}"/>
                </a:ext>
              </a:extLst>
            </p:cNvPr>
            <p:cNvSpPr/>
            <p:nvPr/>
          </p:nvSpPr>
          <p:spPr>
            <a:xfrm>
              <a:off x="4158341" y="4655453"/>
              <a:ext cx="838201" cy="1320802"/>
            </a:xfrm>
            <a:prstGeom prst="ellipse">
              <a:avLst/>
            </a:prstGeom>
            <a:noFill/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L" dirty="0">
                <a:latin typeface="Gill Sans MT" panose="020B0502020104020203" pitchFamily="34" charset="77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8CFC594-035F-5D2D-9E06-1CC8C53AD5AC}"/>
                </a:ext>
              </a:extLst>
            </p:cNvPr>
            <p:cNvSpPr/>
            <p:nvPr/>
          </p:nvSpPr>
          <p:spPr>
            <a:xfrm>
              <a:off x="3320142" y="3767502"/>
              <a:ext cx="1506618" cy="887542"/>
            </a:xfrm>
            <a:prstGeom prst="ellipse">
              <a:avLst/>
            </a:prstGeom>
            <a:noFill/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F6E65DF-E45D-3175-2B7C-1BA8BA45C3FB}"/>
              </a:ext>
            </a:extLst>
          </p:cNvPr>
          <p:cNvGrpSpPr/>
          <p:nvPr/>
        </p:nvGrpSpPr>
        <p:grpSpPr>
          <a:xfrm>
            <a:off x="5578156" y="3749770"/>
            <a:ext cx="1963823" cy="2818355"/>
            <a:chOff x="2754078" y="3636871"/>
            <a:chExt cx="1963823" cy="2818355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60FDD349-7789-13CD-F3EB-CD07A523E3F3}"/>
                </a:ext>
              </a:extLst>
            </p:cNvPr>
            <p:cNvSpPr/>
            <p:nvPr/>
          </p:nvSpPr>
          <p:spPr>
            <a:xfrm>
              <a:off x="2754078" y="5134424"/>
              <a:ext cx="838201" cy="1320802"/>
            </a:xfrm>
            <a:prstGeom prst="ellipse">
              <a:avLst/>
            </a:prstGeom>
            <a:noFill/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L" dirty="0">
                <a:latin typeface="Gill Sans MT" panose="020B0502020104020203" pitchFamily="34" charset="77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B71C7196-42FF-61AC-9BE6-44A5F24CE97D}"/>
                </a:ext>
              </a:extLst>
            </p:cNvPr>
            <p:cNvSpPr/>
            <p:nvPr/>
          </p:nvSpPr>
          <p:spPr>
            <a:xfrm>
              <a:off x="3211283" y="3636871"/>
              <a:ext cx="1506618" cy="887542"/>
            </a:xfrm>
            <a:prstGeom prst="ellipse">
              <a:avLst/>
            </a:prstGeom>
            <a:noFill/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L" dirty="0">
                <a:latin typeface="Gill Sans MT" panose="020B0502020104020203" pitchFamily="34" charset="7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11795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10B49-95C1-D64A-8867-BB43F1687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Gill Sans MT" panose="020B0502020104020203" pitchFamily="34" charset="77"/>
              </a:rPr>
              <a:t>Clasificación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según</a:t>
            </a:r>
            <a:r>
              <a:rPr lang="en-US" dirty="0">
                <a:latin typeface="Gill Sans MT" panose="020B0502020104020203" pitchFamily="34" charset="77"/>
              </a:rPr>
              <a:t> Bayes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7F3C4EE-88C7-5F42-AE88-DF5473789C29}"/>
              </a:ext>
            </a:extLst>
          </p:cNvPr>
          <p:cNvGrpSpPr/>
          <p:nvPr/>
        </p:nvGrpSpPr>
        <p:grpSpPr>
          <a:xfrm>
            <a:off x="3622566" y="1318997"/>
            <a:ext cx="4946869" cy="1794187"/>
            <a:chOff x="3124200" y="4451038"/>
            <a:chExt cx="4946869" cy="179418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EEB39AE-CD5B-3D4A-A27A-29C389BB3999}"/>
                </a:ext>
              </a:extLst>
            </p:cNvPr>
            <p:cNvSpPr txBox="1"/>
            <p:nvPr/>
          </p:nvSpPr>
          <p:spPr>
            <a:xfrm>
              <a:off x="3143253" y="4509001"/>
              <a:ext cx="15728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ALGORITMO: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8663945-F666-3146-8C06-A39C16EB17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44411" y="5062999"/>
              <a:ext cx="2349500" cy="3175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7C3E527-25E5-1542-BD1F-814AD7A118F5}"/>
                </a:ext>
              </a:extLst>
            </p:cNvPr>
            <p:cNvSpPr txBox="1"/>
            <p:nvPr/>
          </p:nvSpPr>
          <p:spPr>
            <a:xfrm>
              <a:off x="5672961" y="5041979"/>
              <a:ext cx="2233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→           (mandarina)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295E96B-1E3B-834C-96D2-2ACA6A19D53E}"/>
                </a:ext>
              </a:extLst>
            </p:cNvPr>
            <p:cNvSpPr txBox="1"/>
            <p:nvPr/>
          </p:nvSpPr>
          <p:spPr>
            <a:xfrm>
              <a:off x="5704490" y="5592583"/>
              <a:ext cx="19479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→           (</a:t>
              </a:r>
              <a:r>
                <a:rPr lang="en-US" dirty="0" err="1">
                  <a:latin typeface="Gill Sans MT" panose="020B0502020104020203" pitchFamily="34" charset="77"/>
                </a:rPr>
                <a:t>naranja</a:t>
              </a:r>
              <a:r>
                <a:rPr lang="en-US" dirty="0">
                  <a:latin typeface="Gill Sans MT" panose="020B0502020104020203" pitchFamily="34" charset="77"/>
                </a:rPr>
                <a:t>)</a:t>
              </a:r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D85910BC-8E6A-9B4C-8517-01433058FD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19503" y="5172091"/>
              <a:ext cx="304800" cy="190500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C29C4487-D00C-4041-86FA-2E4EE56426B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14246" y="5722322"/>
              <a:ext cx="304800" cy="1905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388E2A0-3872-8146-A7FA-E87C3B278CC0}"/>
                </a:ext>
              </a:extLst>
            </p:cNvPr>
            <p:cNvSpPr txBox="1"/>
            <p:nvPr/>
          </p:nvSpPr>
          <p:spPr>
            <a:xfrm>
              <a:off x="5043109" y="5652657"/>
              <a:ext cx="5453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else</a:t>
              </a:r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69F1F9EC-375E-E84C-971C-6862436CCEEA}"/>
                </a:ext>
              </a:extLst>
            </p:cNvPr>
            <p:cNvSpPr/>
            <p:nvPr/>
          </p:nvSpPr>
          <p:spPr>
            <a:xfrm>
              <a:off x="3124200" y="4451038"/>
              <a:ext cx="4946869" cy="1794187"/>
            </a:xfrm>
            <a:prstGeom prst="roundRect">
              <a:avLst>
                <a:gd name="adj" fmla="val 7294"/>
              </a:avLst>
            </a:prstGeom>
            <a:noFill/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847D03E1-1B85-A64A-82EE-6BB31D94B5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0326" y="3932850"/>
            <a:ext cx="5803900" cy="109220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1B0CB4D2-9EC0-3C4D-ACCF-F6781BB8A83B}"/>
              </a:ext>
            </a:extLst>
          </p:cNvPr>
          <p:cNvGrpSpPr/>
          <p:nvPr/>
        </p:nvGrpSpPr>
        <p:grpSpPr>
          <a:xfrm>
            <a:off x="3920359" y="4645572"/>
            <a:ext cx="4340762" cy="379478"/>
            <a:chOff x="2396359" y="4645572"/>
            <a:chExt cx="4340762" cy="379478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CBED2CA-B486-094D-A658-E44A8BDB5B15}"/>
                </a:ext>
              </a:extLst>
            </p:cNvPr>
            <p:cNvCxnSpPr/>
            <p:nvPr/>
          </p:nvCxnSpPr>
          <p:spPr>
            <a:xfrm flipV="1">
              <a:off x="2396359" y="4645572"/>
              <a:ext cx="1072055" cy="37947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12BD306-1DC7-734B-A39F-8CFA867897C8}"/>
                </a:ext>
              </a:extLst>
            </p:cNvPr>
            <p:cNvCxnSpPr/>
            <p:nvPr/>
          </p:nvCxnSpPr>
          <p:spPr>
            <a:xfrm flipV="1">
              <a:off x="5665066" y="4645572"/>
              <a:ext cx="1072055" cy="37947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Down Arrow 26">
            <a:extLst>
              <a:ext uri="{FF2B5EF4-FFF2-40B4-BE49-F238E27FC236}">
                <a16:creationId xmlns:a16="http://schemas.microsoft.com/office/drawing/2014/main" id="{57DACF44-8EB0-EE41-BC29-65DCC329E3FC}"/>
              </a:ext>
            </a:extLst>
          </p:cNvPr>
          <p:cNvSpPr/>
          <p:nvPr/>
        </p:nvSpPr>
        <p:spPr>
          <a:xfrm>
            <a:off x="5940973" y="3257392"/>
            <a:ext cx="261883" cy="273269"/>
          </a:xfrm>
          <a:prstGeom prst="downArrow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321707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10B49-95C1-D64A-8867-BB43F1687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Gill Sans MT" panose="020B0502020104020203" pitchFamily="34" charset="77"/>
              </a:rPr>
              <a:t>Clasificación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según</a:t>
            </a:r>
            <a:r>
              <a:rPr lang="en-US" dirty="0">
                <a:latin typeface="Gill Sans MT" panose="020B0502020104020203" pitchFamily="34" charset="77"/>
              </a:rPr>
              <a:t> Bayes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7F3C4EE-88C7-5F42-AE88-DF5473789C29}"/>
              </a:ext>
            </a:extLst>
          </p:cNvPr>
          <p:cNvGrpSpPr/>
          <p:nvPr/>
        </p:nvGrpSpPr>
        <p:grpSpPr>
          <a:xfrm>
            <a:off x="3622566" y="1318997"/>
            <a:ext cx="4946869" cy="1794187"/>
            <a:chOff x="3124200" y="4451038"/>
            <a:chExt cx="4946869" cy="179418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EEB39AE-CD5B-3D4A-A27A-29C389BB3999}"/>
                </a:ext>
              </a:extLst>
            </p:cNvPr>
            <p:cNvSpPr txBox="1"/>
            <p:nvPr/>
          </p:nvSpPr>
          <p:spPr>
            <a:xfrm>
              <a:off x="3143253" y="4509001"/>
              <a:ext cx="15728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ALGORITMO: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8663945-F666-3146-8C06-A39C16EB17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44411" y="5062999"/>
              <a:ext cx="2349500" cy="3175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7C3E527-25E5-1542-BD1F-814AD7A118F5}"/>
                </a:ext>
              </a:extLst>
            </p:cNvPr>
            <p:cNvSpPr txBox="1"/>
            <p:nvPr/>
          </p:nvSpPr>
          <p:spPr>
            <a:xfrm>
              <a:off x="5672961" y="5041979"/>
              <a:ext cx="2233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→           (mandarina)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295E96B-1E3B-834C-96D2-2ACA6A19D53E}"/>
                </a:ext>
              </a:extLst>
            </p:cNvPr>
            <p:cNvSpPr txBox="1"/>
            <p:nvPr/>
          </p:nvSpPr>
          <p:spPr>
            <a:xfrm>
              <a:off x="5704490" y="5592583"/>
              <a:ext cx="19479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→           (</a:t>
              </a:r>
              <a:r>
                <a:rPr lang="en-US" dirty="0" err="1">
                  <a:latin typeface="Gill Sans MT" panose="020B0502020104020203" pitchFamily="34" charset="77"/>
                </a:rPr>
                <a:t>naranja</a:t>
              </a:r>
              <a:r>
                <a:rPr lang="en-US" dirty="0">
                  <a:latin typeface="Gill Sans MT" panose="020B0502020104020203" pitchFamily="34" charset="77"/>
                </a:rPr>
                <a:t>)</a:t>
              </a:r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D85910BC-8E6A-9B4C-8517-01433058FD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19503" y="5172091"/>
              <a:ext cx="304800" cy="190500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C29C4487-D00C-4041-86FA-2E4EE56426B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14246" y="5722322"/>
              <a:ext cx="304800" cy="1905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388E2A0-3872-8146-A7FA-E87C3B278CC0}"/>
                </a:ext>
              </a:extLst>
            </p:cNvPr>
            <p:cNvSpPr txBox="1"/>
            <p:nvPr/>
          </p:nvSpPr>
          <p:spPr>
            <a:xfrm>
              <a:off x="5043109" y="5652657"/>
              <a:ext cx="5453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else</a:t>
              </a:r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69F1F9EC-375E-E84C-971C-6862436CCEEA}"/>
                </a:ext>
              </a:extLst>
            </p:cNvPr>
            <p:cNvSpPr/>
            <p:nvPr/>
          </p:nvSpPr>
          <p:spPr>
            <a:xfrm>
              <a:off x="3124200" y="4451038"/>
              <a:ext cx="4946869" cy="1794187"/>
            </a:xfrm>
            <a:prstGeom prst="roundRect">
              <a:avLst>
                <a:gd name="adj" fmla="val 7294"/>
              </a:avLst>
            </a:prstGeom>
            <a:noFill/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F3749AB2-9793-BF4E-9C9C-21187B8891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1856" y="3922123"/>
            <a:ext cx="5638800" cy="46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1091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10B49-95C1-D64A-8867-BB43F1687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Gill Sans MT" panose="020B0502020104020203" pitchFamily="34" charset="77"/>
              </a:rPr>
              <a:t>Clasificación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según</a:t>
            </a:r>
            <a:r>
              <a:rPr lang="en-US" dirty="0">
                <a:latin typeface="Gill Sans MT" panose="020B0502020104020203" pitchFamily="34" charset="77"/>
              </a:rPr>
              <a:t> Bayes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EB39AE-CD5B-3D4A-A27A-29C389BB3999}"/>
              </a:ext>
            </a:extLst>
          </p:cNvPr>
          <p:cNvSpPr txBox="1"/>
          <p:nvPr/>
        </p:nvSpPr>
        <p:spPr>
          <a:xfrm>
            <a:off x="2820935" y="3752297"/>
            <a:ext cx="1572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ALGORITMO: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C3E527-25E5-1542-BD1F-814AD7A118F5}"/>
              </a:ext>
            </a:extLst>
          </p:cNvPr>
          <p:cNvSpPr txBox="1"/>
          <p:nvPr/>
        </p:nvSpPr>
        <p:spPr>
          <a:xfrm>
            <a:off x="6023303" y="4285275"/>
            <a:ext cx="2233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→           (mandarina)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95E96B-1E3B-834C-96D2-2ACA6A19D53E}"/>
              </a:ext>
            </a:extLst>
          </p:cNvPr>
          <p:cNvSpPr txBox="1"/>
          <p:nvPr/>
        </p:nvSpPr>
        <p:spPr>
          <a:xfrm>
            <a:off x="6054832" y="4835879"/>
            <a:ext cx="1947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→           (</a:t>
            </a:r>
            <a:r>
              <a:rPr lang="en-US" dirty="0" err="1">
                <a:latin typeface="Gill Sans MT" panose="020B0502020104020203" pitchFamily="34" charset="77"/>
              </a:rPr>
              <a:t>naranja</a:t>
            </a:r>
            <a:r>
              <a:rPr lang="en-US" dirty="0">
                <a:latin typeface="Gill Sans MT" panose="020B0502020104020203" pitchFamily="34" charset="77"/>
              </a:rPr>
              <a:t>)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85910BC-8E6A-9B4C-8517-01433058FD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845" y="4415387"/>
            <a:ext cx="304800" cy="1905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29C4487-D00C-4041-86FA-2E4EE5642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4588" y="4965618"/>
            <a:ext cx="304800" cy="1905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388E2A0-3872-8146-A7FA-E87C3B278CC0}"/>
              </a:ext>
            </a:extLst>
          </p:cNvPr>
          <p:cNvSpPr txBox="1"/>
          <p:nvPr/>
        </p:nvSpPr>
        <p:spPr>
          <a:xfrm>
            <a:off x="5467025" y="4874933"/>
            <a:ext cx="545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else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9F1F9EC-375E-E84C-971C-6862436CCEEA}"/>
              </a:ext>
            </a:extLst>
          </p:cNvPr>
          <p:cNvSpPr/>
          <p:nvPr/>
        </p:nvSpPr>
        <p:spPr>
          <a:xfrm>
            <a:off x="2801883" y="3694334"/>
            <a:ext cx="6588235" cy="2110004"/>
          </a:xfrm>
          <a:prstGeom prst="roundRect">
            <a:avLst>
              <a:gd name="adj" fmla="val 7294"/>
            </a:avLst>
          </a:prstGeom>
          <a:noFill/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3749AB2-9793-BF4E-9C9C-21187B8891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4357" y="4349309"/>
            <a:ext cx="3078946" cy="256579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80F972F2-8048-6442-8A46-D78E38AB20A3}"/>
              </a:ext>
            </a:extLst>
          </p:cNvPr>
          <p:cNvGrpSpPr/>
          <p:nvPr/>
        </p:nvGrpSpPr>
        <p:grpSpPr>
          <a:xfrm>
            <a:off x="3622566" y="1318997"/>
            <a:ext cx="4946869" cy="1794187"/>
            <a:chOff x="3124200" y="4451038"/>
            <a:chExt cx="4946869" cy="1794187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181C026-D6F6-2B4E-8D59-71A4D07581C3}"/>
                </a:ext>
              </a:extLst>
            </p:cNvPr>
            <p:cNvSpPr txBox="1"/>
            <p:nvPr/>
          </p:nvSpPr>
          <p:spPr>
            <a:xfrm>
              <a:off x="3143253" y="4509001"/>
              <a:ext cx="15728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ALGORITMO:</a:t>
              </a:r>
            </a:p>
          </p:txBody>
        </p: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82E1B65C-60B8-FA44-8F28-E90799668BB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244411" y="5062999"/>
              <a:ext cx="2349500" cy="317500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C3F8935-67F3-5C42-BD96-103126DE992F}"/>
                </a:ext>
              </a:extLst>
            </p:cNvPr>
            <p:cNvSpPr txBox="1"/>
            <p:nvPr/>
          </p:nvSpPr>
          <p:spPr>
            <a:xfrm>
              <a:off x="5672961" y="5041979"/>
              <a:ext cx="2233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→           (mandarina)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0160D04-F59B-104B-96F5-429CAD0FB03F}"/>
                </a:ext>
              </a:extLst>
            </p:cNvPr>
            <p:cNvSpPr txBox="1"/>
            <p:nvPr/>
          </p:nvSpPr>
          <p:spPr>
            <a:xfrm>
              <a:off x="5704490" y="5592583"/>
              <a:ext cx="19479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→           (</a:t>
              </a:r>
              <a:r>
                <a:rPr lang="en-US" dirty="0" err="1">
                  <a:latin typeface="Gill Sans MT" panose="020B0502020104020203" pitchFamily="34" charset="77"/>
                </a:rPr>
                <a:t>naranja</a:t>
              </a:r>
              <a:r>
                <a:rPr lang="en-US" dirty="0">
                  <a:latin typeface="Gill Sans MT" panose="020B0502020104020203" pitchFamily="34" charset="77"/>
                </a:rPr>
                <a:t>)</a:t>
              </a:r>
            </a:p>
          </p:txBody>
        </p: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FB2FED1B-D507-E545-A9E2-F884878616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19503" y="5172091"/>
              <a:ext cx="304800" cy="190500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26E40D46-2C1E-6C49-971F-0D38B49835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14246" y="5722322"/>
              <a:ext cx="304800" cy="190500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4AA5B57-39A4-8F45-BC47-F80DF3289F98}"/>
                </a:ext>
              </a:extLst>
            </p:cNvPr>
            <p:cNvSpPr txBox="1"/>
            <p:nvPr/>
          </p:nvSpPr>
          <p:spPr>
            <a:xfrm>
              <a:off x="5043109" y="5652657"/>
              <a:ext cx="5453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else</a:t>
              </a:r>
            </a:p>
          </p:txBody>
        </p:sp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9DEFC0CD-84BE-A54B-BDB5-61551CA8EB51}"/>
                </a:ext>
              </a:extLst>
            </p:cNvPr>
            <p:cNvSpPr/>
            <p:nvPr/>
          </p:nvSpPr>
          <p:spPr>
            <a:xfrm>
              <a:off x="3124200" y="4451038"/>
              <a:ext cx="4946869" cy="1794187"/>
            </a:xfrm>
            <a:prstGeom prst="roundRect">
              <a:avLst>
                <a:gd name="adj" fmla="val 7294"/>
              </a:avLst>
            </a:prstGeom>
            <a:noFill/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0166152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10B49-95C1-D64A-8867-BB43F1687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Gill Sans MT" panose="020B0502020104020203" pitchFamily="34" charset="77"/>
              </a:rPr>
              <a:t>Definiciones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5424C8-666B-004D-A1A8-0D2912C37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800" y="1893833"/>
            <a:ext cx="304800" cy="190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671DECF-31CC-E846-B0E0-D250C8747C2A}"/>
              </a:ext>
            </a:extLst>
          </p:cNvPr>
          <p:cNvSpPr txBox="1"/>
          <p:nvPr/>
        </p:nvSpPr>
        <p:spPr>
          <a:xfrm>
            <a:off x="5339256" y="1804417"/>
            <a:ext cx="1723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Clase</a:t>
            </a:r>
            <a:r>
              <a:rPr lang="en-US" dirty="0">
                <a:latin typeface="Gill Sans MT" panose="020B0502020104020203" pitchFamily="34" charset="77"/>
              </a:rPr>
              <a:t> Mandarina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4C127FC-2168-1248-B59D-1518691E5B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800" y="2465278"/>
            <a:ext cx="304800" cy="1905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B97194A-7ED5-F04C-9D54-B5D4E95D69C3}"/>
              </a:ext>
            </a:extLst>
          </p:cNvPr>
          <p:cNvSpPr txBox="1"/>
          <p:nvPr/>
        </p:nvSpPr>
        <p:spPr>
          <a:xfrm>
            <a:off x="5339255" y="2375862"/>
            <a:ext cx="1491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Clase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Naranja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FDE63E3-4606-AD4A-ABDD-26EDA6147F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5800" y="3072661"/>
            <a:ext cx="165100" cy="1397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DCB86EA-173B-F24D-B33B-EACAF187AC32}"/>
              </a:ext>
            </a:extLst>
          </p:cNvPr>
          <p:cNvSpPr txBox="1"/>
          <p:nvPr/>
        </p:nvSpPr>
        <p:spPr>
          <a:xfrm>
            <a:off x="5339255" y="2947307"/>
            <a:ext cx="2089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Característica</a:t>
            </a:r>
            <a:r>
              <a:rPr lang="en-US" dirty="0">
                <a:latin typeface="Gill Sans MT" panose="020B0502020104020203" pitchFamily="34" charset="77"/>
              </a:rPr>
              <a:t> (</a:t>
            </a:r>
            <a:r>
              <a:rPr lang="en-US" dirty="0" err="1">
                <a:latin typeface="Gill Sans MT" panose="020B0502020104020203" pitchFamily="34" charset="77"/>
              </a:rPr>
              <a:t>área</a:t>
            </a:r>
            <a:r>
              <a:rPr lang="en-US" dirty="0">
                <a:latin typeface="Gill Sans MT" panose="020B0502020104020203" pitchFamily="34" charset="77"/>
              </a:rPr>
              <a:t>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2775F5E-1658-D048-A115-16043B0320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6317" y="3647112"/>
            <a:ext cx="965200" cy="3175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B72FACD-4963-7C4D-8D4A-F1098A9EF4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34220" y="4336460"/>
            <a:ext cx="965200" cy="3175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3DB0AB6-21BD-7343-A089-7C4F0547AE06}"/>
              </a:ext>
            </a:extLst>
          </p:cNvPr>
          <p:cNvSpPr txBox="1"/>
          <p:nvPr/>
        </p:nvSpPr>
        <p:spPr>
          <a:xfrm>
            <a:off x="5339254" y="3621196"/>
            <a:ext cx="3502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Distribución</a:t>
            </a:r>
            <a:r>
              <a:rPr lang="en-US" dirty="0">
                <a:latin typeface="Gill Sans MT" panose="020B0502020104020203" pitchFamily="34" charset="77"/>
              </a:rPr>
              <a:t> de x para </a:t>
            </a:r>
            <a:r>
              <a:rPr lang="en-US" dirty="0" err="1">
                <a:latin typeface="Gill Sans MT" panose="020B0502020104020203" pitchFamily="34" charset="77"/>
              </a:rPr>
              <a:t>Mandarinas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B72868-A42D-5743-A777-D95340FA44C6}"/>
              </a:ext>
            </a:extLst>
          </p:cNvPr>
          <p:cNvSpPr txBox="1"/>
          <p:nvPr/>
        </p:nvSpPr>
        <p:spPr>
          <a:xfrm>
            <a:off x="5339254" y="4274863"/>
            <a:ext cx="3251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Distribución</a:t>
            </a:r>
            <a:r>
              <a:rPr lang="en-US" dirty="0">
                <a:latin typeface="Gill Sans MT" panose="020B0502020104020203" pitchFamily="34" charset="77"/>
              </a:rPr>
              <a:t> de x para </a:t>
            </a:r>
            <a:r>
              <a:rPr lang="en-US" dirty="0" err="1">
                <a:latin typeface="Gill Sans MT" panose="020B0502020104020203" pitchFamily="34" charset="77"/>
              </a:rPr>
              <a:t>Naranjas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B139B7-6FD1-E245-879B-F0795F05DA5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69112" y="4917669"/>
            <a:ext cx="719610" cy="32470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C405301-BE11-6F4C-ADAA-324F32F387B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69112" y="5467058"/>
            <a:ext cx="719610" cy="32470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02FBAC4-9400-6F44-9764-1F33EBB8F71B}"/>
              </a:ext>
            </a:extLst>
          </p:cNvPr>
          <p:cNvSpPr txBox="1"/>
          <p:nvPr/>
        </p:nvSpPr>
        <p:spPr>
          <a:xfrm>
            <a:off x="5339254" y="4895354"/>
            <a:ext cx="2886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Probabilidad</a:t>
            </a:r>
            <a:r>
              <a:rPr lang="en-US" dirty="0">
                <a:latin typeface="Gill Sans MT" panose="020B0502020104020203" pitchFamily="34" charset="77"/>
              </a:rPr>
              <a:t> a priori de </a:t>
            </a:r>
            <a:r>
              <a:rPr lang="en-US" dirty="0" err="1">
                <a:latin typeface="Gill Sans MT" panose="020B0502020104020203" pitchFamily="34" charset="77"/>
              </a:rPr>
              <a:t>clase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4CCD13C-C882-2943-8DF2-FCC42062A26A}"/>
              </a:ext>
            </a:extLst>
          </p:cNvPr>
          <p:cNvSpPr txBox="1"/>
          <p:nvPr/>
        </p:nvSpPr>
        <p:spPr>
          <a:xfrm>
            <a:off x="5339254" y="5440068"/>
            <a:ext cx="2886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Probabilidad</a:t>
            </a:r>
            <a:r>
              <a:rPr lang="en-US" dirty="0">
                <a:latin typeface="Gill Sans MT" panose="020B0502020104020203" pitchFamily="34" charset="77"/>
              </a:rPr>
              <a:t> a priori de </a:t>
            </a:r>
            <a:r>
              <a:rPr lang="en-US" dirty="0" err="1">
                <a:latin typeface="Gill Sans MT" panose="020B0502020104020203" pitchFamily="34" charset="77"/>
              </a:rPr>
              <a:t>clase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ECD8F95-9A88-FF4A-84A6-F5BA602484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5998" y="5010141"/>
            <a:ext cx="304800" cy="1905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3D2BE20-5987-E945-AB81-82CB3BD81E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998" y="5581586"/>
            <a:ext cx="304800" cy="19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92801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1676400" y="1143000"/>
            <a:ext cx="3321743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PDF: Probability Density Function</a:t>
            </a:r>
          </a:p>
          <a:p>
            <a:pPr algn="l"/>
            <a:endParaRPr lang="es-CL" dirty="0">
              <a:latin typeface="Gill Sans MT" panose="020B0502020104020203" pitchFamily="34" charset="77"/>
            </a:endParaRPr>
          </a:p>
          <a:p>
            <a:pPr algn="l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48" name="Line 4"/>
          <p:cNvSpPr>
            <a:spLocks noChangeShapeType="1"/>
          </p:cNvSpPr>
          <p:nvPr/>
        </p:nvSpPr>
        <p:spPr bwMode="auto">
          <a:xfrm>
            <a:off x="1524000" y="6096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49" name="Line 57"/>
          <p:cNvSpPr>
            <a:spLocks noChangeShapeType="1"/>
          </p:cNvSpPr>
          <p:nvPr/>
        </p:nvSpPr>
        <p:spPr bwMode="auto">
          <a:xfrm>
            <a:off x="2286000" y="1752600"/>
            <a:ext cx="0" cy="419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0" name="Line 58"/>
          <p:cNvSpPr>
            <a:spLocks noChangeShapeType="1"/>
          </p:cNvSpPr>
          <p:nvPr/>
        </p:nvSpPr>
        <p:spPr bwMode="auto">
          <a:xfrm>
            <a:off x="1981200" y="5715000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1" name="Line 59"/>
          <p:cNvSpPr>
            <a:spLocks noChangeShapeType="1"/>
          </p:cNvSpPr>
          <p:nvPr/>
        </p:nvSpPr>
        <p:spPr bwMode="auto">
          <a:xfrm>
            <a:off x="1905000" y="3429000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6" name="Line 64"/>
          <p:cNvSpPr>
            <a:spLocks noChangeShapeType="1"/>
          </p:cNvSpPr>
          <p:nvPr/>
        </p:nvSpPr>
        <p:spPr bwMode="auto">
          <a:xfrm>
            <a:off x="3505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7" name="Line 65"/>
          <p:cNvSpPr>
            <a:spLocks noChangeShapeType="1"/>
          </p:cNvSpPr>
          <p:nvPr/>
        </p:nvSpPr>
        <p:spPr bwMode="auto">
          <a:xfrm>
            <a:off x="4648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8" name="Line 66"/>
          <p:cNvSpPr>
            <a:spLocks noChangeShapeType="1"/>
          </p:cNvSpPr>
          <p:nvPr/>
        </p:nvSpPr>
        <p:spPr bwMode="auto">
          <a:xfrm>
            <a:off x="58674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9" name="Line 67"/>
          <p:cNvSpPr>
            <a:spLocks noChangeShapeType="1"/>
          </p:cNvSpPr>
          <p:nvPr/>
        </p:nvSpPr>
        <p:spPr bwMode="auto">
          <a:xfrm>
            <a:off x="70866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60" name="Line 68"/>
          <p:cNvSpPr>
            <a:spLocks noChangeShapeType="1"/>
          </p:cNvSpPr>
          <p:nvPr/>
        </p:nvSpPr>
        <p:spPr bwMode="auto">
          <a:xfrm>
            <a:off x="83058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61" name="Line 69"/>
          <p:cNvSpPr>
            <a:spLocks noChangeShapeType="1"/>
          </p:cNvSpPr>
          <p:nvPr/>
        </p:nvSpPr>
        <p:spPr bwMode="auto">
          <a:xfrm>
            <a:off x="9601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62" name="Text Box 71"/>
          <p:cNvSpPr txBox="1">
            <a:spLocks noChangeArrowheads="1"/>
          </p:cNvSpPr>
          <p:nvPr/>
        </p:nvSpPr>
        <p:spPr bwMode="auto">
          <a:xfrm>
            <a:off x="1981201" y="6019800"/>
            <a:ext cx="760977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8.000        10.000       12.000       14.000         16.000         18.000         20.000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3" name="Text Box 2">
            <a:extLst>
              <a:ext uri="{FF2B5EF4-FFF2-40B4-BE49-F238E27FC236}">
                <a16:creationId xmlns:a16="http://schemas.microsoft.com/office/drawing/2014/main" id="{B631265C-3D24-DC47-B63F-A205E44EAF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1" y="152400"/>
            <a:ext cx="240097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Mandarinas vs. Naranjas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FC3E7698-5780-4F46-AC36-662AA1C0B647}"/>
              </a:ext>
            </a:extLst>
          </p:cNvPr>
          <p:cNvSpPr/>
          <p:nvPr/>
        </p:nvSpPr>
        <p:spPr>
          <a:xfrm>
            <a:off x="2406870" y="2440736"/>
            <a:ext cx="5885793" cy="994101"/>
          </a:xfrm>
          <a:custGeom>
            <a:avLst/>
            <a:gdLst>
              <a:gd name="connsiteX0" fmla="*/ 0 w 5885793"/>
              <a:gd name="connsiteY0" fmla="*/ 985636 h 1026265"/>
              <a:gd name="connsiteX1" fmla="*/ 399393 w 5885793"/>
              <a:gd name="connsiteY1" fmla="*/ 996147 h 1026265"/>
              <a:gd name="connsiteX2" fmla="*/ 1082565 w 5885793"/>
              <a:gd name="connsiteY2" fmla="*/ 649305 h 1026265"/>
              <a:gd name="connsiteX3" fmla="*/ 1692165 w 5885793"/>
              <a:gd name="connsiteY3" fmla="*/ 481140 h 1026265"/>
              <a:gd name="connsiteX4" fmla="*/ 2228193 w 5885793"/>
              <a:gd name="connsiteY4" fmla="*/ 302464 h 1026265"/>
              <a:gd name="connsiteX5" fmla="*/ 2795752 w 5885793"/>
              <a:gd name="connsiteY5" fmla="*/ 18685 h 1026265"/>
              <a:gd name="connsiteX6" fmla="*/ 3478924 w 5885793"/>
              <a:gd name="connsiteY6" fmla="*/ 81747 h 1026265"/>
              <a:gd name="connsiteX7" fmla="*/ 4067503 w 5885793"/>
              <a:gd name="connsiteY7" fmla="*/ 523181 h 1026265"/>
              <a:gd name="connsiteX8" fmla="*/ 4687614 w 5885793"/>
              <a:gd name="connsiteY8" fmla="*/ 775430 h 1026265"/>
              <a:gd name="connsiteX9" fmla="*/ 5433848 w 5885793"/>
              <a:gd name="connsiteY9" fmla="*/ 985636 h 1026265"/>
              <a:gd name="connsiteX10" fmla="*/ 5885793 w 5885793"/>
              <a:gd name="connsiteY10" fmla="*/ 975126 h 1026265"/>
              <a:gd name="connsiteX0" fmla="*/ 0 w 5885793"/>
              <a:gd name="connsiteY0" fmla="*/ 985636 h 1002712"/>
              <a:gd name="connsiteX1" fmla="*/ 472965 w 5885793"/>
              <a:gd name="connsiteY1" fmla="*/ 922575 h 1002712"/>
              <a:gd name="connsiteX2" fmla="*/ 1082565 w 5885793"/>
              <a:gd name="connsiteY2" fmla="*/ 649305 h 1002712"/>
              <a:gd name="connsiteX3" fmla="*/ 1692165 w 5885793"/>
              <a:gd name="connsiteY3" fmla="*/ 481140 h 1002712"/>
              <a:gd name="connsiteX4" fmla="*/ 2228193 w 5885793"/>
              <a:gd name="connsiteY4" fmla="*/ 302464 h 1002712"/>
              <a:gd name="connsiteX5" fmla="*/ 2795752 w 5885793"/>
              <a:gd name="connsiteY5" fmla="*/ 18685 h 1002712"/>
              <a:gd name="connsiteX6" fmla="*/ 3478924 w 5885793"/>
              <a:gd name="connsiteY6" fmla="*/ 81747 h 1002712"/>
              <a:gd name="connsiteX7" fmla="*/ 4067503 w 5885793"/>
              <a:gd name="connsiteY7" fmla="*/ 523181 h 1002712"/>
              <a:gd name="connsiteX8" fmla="*/ 4687614 w 5885793"/>
              <a:gd name="connsiteY8" fmla="*/ 775430 h 1002712"/>
              <a:gd name="connsiteX9" fmla="*/ 5433848 w 5885793"/>
              <a:gd name="connsiteY9" fmla="*/ 985636 h 1002712"/>
              <a:gd name="connsiteX10" fmla="*/ 5885793 w 5885793"/>
              <a:gd name="connsiteY10" fmla="*/ 975126 h 1002712"/>
              <a:gd name="connsiteX0" fmla="*/ 0 w 5885793"/>
              <a:gd name="connsiteY0" fmla="*/ 985636 h 1002712"/>
              <a:gd name="connsiteX1" fmla="*/ 567559 w 5885793"/>
              <a:gd name="connsiteY1" fmla="*/ 891044 h 1002712"/>
              <a:gd name="connsiteX2" fmla="*/ 1082565 w 5885793"/>
              <a:gd name="connsiteY2" fmla="*/ 649305 h 1002712"/>
              <a:gd name="connsiteX3" fmla="*/ 1692165 w 5885793"/>
              <a:gd name="connsiteY3" fmla="*/ 481140 h 1002712"/>
              <a:gd name="connsiteX4" fmla="*/ 2228193 w 5885793"/>
              <a:gd name="connsiteY4" fmla="*/ 302464 h 1002712"/>
              <a:gd name="connsiteX5" fmla="*/ 2795752 w 5885793"/>
              <a:gd name="connsiteY5" fmla="*/ 18685 h 1002712"/>
              <a:gd name="connsiteX6" fmla="*/ 3478924 w 5885793"/>
              <a:gd name="connsiteY6" fmla="*/ 81747 h 1002712"/>
              <a:gd name="connsiteX7" fmla="*/ 4067503 w 5885793"/>
              <a:gd name="connsiteY7" fmla="*/ 523181 h 1002712"/>
              <a:gd name="connsiteX8" fmla="*/ 4687614 w 5885793"/>
              <a:gd name="connsiteY8" fmla="*/ 775430 h 1002712"/>
              <a:gd name="connsiteX9" fmla="*/ 5433848 w 5885793"/>
              <a:gd name="connsiteY9" fmla="*/ 985636 h 1002712"/>
              <a:gd name="connsiteX10" fmla="*/ 5885793 w 5885793"/>
              <a:gd name="connsiteY10" fmla="*/ 975126 h 1002712"/>
              <a:gd name="connsiteX0" fmla="*/ 0 w 5885793"/>
              <a:gd name="connsiteY0" fmla="*/ 985636 h 994101"/>
              <a:gd name="connsiteX1" fmla="*/ 567559 w 5885793"/>
              <a:gd name="connsiteY1" fmla="*/ 891044 h 994101"/>
              <a:gd name="connsiteX2" fmla="*/ 1082565 w 5885793"/>
              <a:gd name="connsiteY2" fmla="*/ 649305 h 994101"/>
              <a:gd name="connsiteX3" fmla="*/ 1692165 w 5885793"/>
              <a:gd name="connsiteY3" fmla="*/ 481140 h 994101"/>
              <a:gd name="connsiteX4" fmla="*/ 2228193 w 5885793"/>
              <a:gd name="connsiteY4" fmla="*/ 302464 h 994101"/>
              <a:gd name="connsiteX5" fmla="*/ 2795752 w 5885793"/>
              <a:gd name="connsiteY5" fmla="*/ 18685 h 994101"/>
              <a:gd name="connsiteX6" fmla="*/ 3478924 w 5885793"/>
              <a:gd name="connsiteY6" fmla="*/ 81747 h 994101"/>
              <a:gd name="connsiteX7" fmla="*/ 4067503 w 5885793"/>
              <a:gd name="connsiteY7" fmla="*/ 523181 h 994101"/>
              <a:gd name="connsiteX8" fmla="*/ 4687614 w 5885793"/>
              <a:gd name="connsiteY8" fmla="*/ 775430 h 994101"/>
              <a:gd name="connsiteX9" fmla="*/ 5349765 w 5885793"/>
              <a:gd name="connsiteY9" fmla="*/ 954105 h 994101"/>
              <a:gd name="connsiteX10" fmla="*/ 5885793 w 5885793"/>
              <a:gd name="connsiteY10" fmla="*/ 975126 h 99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885793" h="994101">
                <a:moveTo>
                  <a:pt x="0" y="985636"/>
                </a:moveTo>
                <a:cubicBezTo>
                  <a:pt x="109483" y="1018919"/>
                  <a:pt x="387132" y="947099"/>
                  <a:pt x="567559" y="891044"/>
                </a:cubicBezTo>
                <a:cubicBezTo>
                  <a:pt x="747986" y="834989"/>
                  <a:pt x="895131" y="717622"/>
                  <a:pt x="1082565" y="649305"/>
                </a:cubicBezTo>
                <a:cubicBezTo>
                  <a:pt x="1269999" y="580988"/>
                  <a:pt x="1501227" y="538947"/>
                  <a:pt x="1692165" y="481140"/>
                </a:cubicBezTo>
                <a:cubicBezTo>
                  <a:pt x="1883103" y="423333"/>
                  <a:pt x="2044262" y="379540"/>
                  <a:pt x="2228193" y="302464"/>
                </a:cubicBezTo>
                <a:cubicBezTo>
                  <a:pt x="2412124" y="225388"/>
                  <a:pt x="2587297" y="55471"/>
                  <a:pt x="2795752" y="18685"/>
                </a:cubicBezTo>
                <a:cubicBezTo>
                  <a:pt x="3004207" y="-18101"/>
                  <a:pt x="3266966" y="-2336"/>
                  <a:pt x="3478924" y="81747"/>
                </a:cubicBezTo>
                <a:cubicBezTo>
                  <a:pt x="3690882" y="165830"/>
                  <a:pt x="3866055" y="407567"/>
                  <a:pt x="4067503" y="523181"/>
                </a:cubicBezTo>
                <a:cubicBezTo>
                  <a:pt x="4268951" y="638795"/>
                  <a:pt x="4473904" y="703609"/>
                  <a:pt x="4687614" y="775430"/>
                </a:cubicBezTo>
                <a:cubicBezTo>
                  <a:pt x="4901324" y="847251"/>
                  <a:pt x="5150069" y="920822"/>
                  <a:pt x="5349765" y="954105"/>
                </a:cubicBezTo>
                <a:cubicBezTo>
                  <a:pt x="5549461" y="987388"/>
                  <a:pt x="5759668" y="997022"/>
                  <a:pt x="5885793" y="975126"/>
                </a:cubicBezTo>
              </a:path>
            </a:pathLst>
          </a:custGeom>
          <a:noFill/>
          <a:ln w="25400">
            <a:solidFill>
              <a:srgbClr val="0000FF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0D10CD24-D979-5841-992F-3FBCBE0C8B4F}"/>
              </a:ext>
            </a:extLst>
          </p:cNvPr>
          <p:cNvSpPr/>
          <p:nvPr/>
        </p:nvSpPr>
        <p:spPr>
          <a:xfrm>
            <a:off x="5864772" y="4662128"/>
            <a:ext cx="4508938" cy="1055501"/>
          </a:xfrm>
          <a:custGeom>
            <a:avLst/>
            <a:gdLst>
              <a:gd name="csX0" fmla="*/ 0 w 4508938"/>
              <a:gd name="csY0" fmla="*/ 1055501 h 1055501"/>
              <a:gd name="csX1" fmla="*/ 609600 w 4508938"/>
              <a:gd name="csY1" fmla="*/ 918866 h 1055501"/>
              <a:gd name="csX2" fmla="*/ 1240221 w 4508938"/>
              <a:gd name="csY2" fmla="*/ 593045 h 1055501"/>
              <a:gd name="csX3" fmla="*/ 1797269 w 4508938"/>
              <a:gd name="csY3" fmla="*/ 4466 h 1055501"/>
              <a:gd name="csX4" fmla="*/ 2438400 w 4508938"/>
              <a:gd name="csY4" fmla="*/ 330287 h 1055501"/>
              <a:gd name="csX5" fmla="*/ 3026980 w 4508938"/>
              <a:gd name="csY5" fmla="*/ 477432 h 1055501"/>
              <a:gd name="csX6" fmla="*/ 3762704 w 4508938"/>
              <a:gd name="csY6" fmla="*/ 656107 h 1055501"/>
              <a:gd name="csX7" fmla="*/ 4508938 w 4508938"/>
              <a:gd name="csY7" fmla="*/ 1044990 h 10555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508938" h="1055501" extrusionOk="0">
                <a:moveTo>
                  <a:pt x="0" y="1055501"/>
                </a:moveTo>
                <a:cubicBezTo>
                  <a:pt x="197032" y="1022997"/>
                  <a:pt x="385097" y="1002623"/>
                  <a:pt x="609600" y="918866"/>
                </a:cubicBezTo>
                <a:cubicBezTo>
                  <a:pt x="872988" y="853723"/>
                  <a:pt x="995671" y="746927"/>
                  <a:pt x="1240221" y="593045"/>
                </a:cubicBezTo>
                <a:cubicBezTo>
                  <a:pt x="1405626" y="472422"/>
                  <a:pt x="1596010" y="56900"/>
                  <a:pt x="1797269" y="4466"/>
                </a:cubicBezTo>
                <a:cubicBezTo>
                  <a:pt x="1984470" y="-46163"/>
                  <a:pt x="2280742" y="274056"/>
                  <a:pt x="2438400" y="330287"/>
                </a:cubicBezTo>
                <a:cubicBezTo>
                  <a:pt x="2643353" y="409115"/>
                  <a:pt x="3026980" y="477431"/>
                  <a:pt x="3026980" y="477432"/>
                </a:cubicBezTo>
                <a:cubicBezTo>
                  <a:pt x="3207039" y="525509"/>
                  <a:pt x="3476012" y="598890"/>
                  <a:pt x="3762704" y="656107"/>
                </a:cubicBezTo>
                <a:cubicBezTo>
                  <a:pt x="4008277" y="737160"/>
                  <a:pt x="4219817" y="952739"/>
                  <a:pt x="4508938" y="1044990"/>
                </a:cubicBezTo>
              </a:path>
            </a:pathLst>
          </a:custGeom>
          <a:noFill/>
          <a:ln w="25400">
            <a:solidFill>
              <a:srgbClr val="FF0000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508938"/>
                      <a:gd name="connsiteY0" fmla="*/ 1055501 h 1055501"/>
                      <a:gd name="connsiteX1" fmla="*/ 609600 w 4508938"/>
                      <a:gd name="connsiteY1" fmla="*/ 918866 h 1055501"/>
                      <a:gd name="connsiteX2" fmla="*/ 1240221 w 4508938"/>
                      <a:gd name="connsiteY2" fmla="*/ 593045 h 1055501"/>
                      <a:gd name="connsiteX3" fmla="*/ 1797269 w 4508938"/>
                      <a:gd name="connsiteY3" fmla="*/ 4466 h 1055501"/>
                      <a:gd name="connsiteX4" fmla="*/ 2438400 w 4508938"/>
                      <a:gd name="connsiteY4" fmla="*/ 330287 h 1055501"/>
                      <a:gd name="connsiteX5" fmla="*/ 3026980 w 4508938"/>
                      <a:gd name="connsiteY5" fmla="*/ 477432 h 1055501"/>
                      <a:gd name="connsiteX6" fmla="*/ 3762704 w 4508938"/>
                      <a:gd name="connsiteY6" fmla="*/ 656107 h 1055501"/>
                      <a:gd name="connsiteX7" fmla="*/ 4508938 w 4508938"/>
                      <a:gd name="connsiteY7" fmla="*/ 1044990 h 10555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4508938" h="1055501">
                        <a:moveTo>
                          <a:pt x="0" y="1055501"/>
                        </a:moveTo>
                        <a:cubicBezTo>
                          <a:pt x="201448" y="1025721"/>
                          <a:pt x="402897" y="995942"/>
                          <a:pt x="609600" y="918866"/>
                        </a:cubicBezTo>
                        <a:cubicBezTo>
                          <a:pt x="816304" y="841790"/>
                          <a:pt x="1042276" y="745445"/>
                          <a:pt x="1240221" y="593045"/>
                        </a:cubicBezTo>
                        <a:cubicBezTo>
                          <a:pt x="1438166" y="440645"/>
                          <a:pt x="1597573" y="48259"/>
                          <a:pt x="1797269" y="4466"/>
                        </a:cubicBezTo>
                        <a:cubicBezTo>
                          <a:pt x="1996965" y="-39327"/>
                          <a:pt x="2233448" y="251459"/>
                          <a:pt x="2438400" y="330287"/>
                        </a:cubicBezTo>
                        <a:cubicBezTo>
                          <a:pt x="2643352" y="409115"/>
                          <a:pt x="3026980" y="477432"/>
                          <a:pt x="3026980" y="477432"/>
                        </a:cubicBezTo>
                        <a:cubicBezTo>
                          <a:pt x="3247697" y="531735"/>
                          <a:pt x="3515711" y="561514"/>
                          <a:pt x="3762704" y="656107"/>
                        </a:cubicBezTo>
                        <a:cubicBezTo>
                          <a:pt x="4009697" y="750700"/>
                          <a:pt x="4259317" y="897845"/>
                          <a:pt x="4508938" y="1044990"/>
                        </a:cubicBezTo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69FE4641-60EE-8A45-A694-25E4300DFD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4905" y="3649718"/>
            <a:ext cx="165100" cy="13970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5F293E1E-1811-E548-A28A-ADE6C5F5C0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041" y="5867401"/>
            <a:ext cx="165100" cy="1397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9D2FC8FD-9B05-444A-8953-474B8ED0BB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9284" y="1932469"/>
            <a:ext cx="304800" cy="19050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DCBA23D8-AC3F-D54B-BC5C-6BB0421C2A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8743" y="4316052"/>
            <a:ext cx="304800" cy="19050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BC1AE875-84C8-3748-912A-27DFA8BDBA73}"/>
              </a:ext>
            </a:extLst>
          </p:cNvPr>
          <p:cNvSpPr txBox="1"/>
          <p:nvPr/>
        </p:nvSpPr>
        <p:spPr>
          <a:xfrm>
            <a:off x="2380595" y="1836036"/>
            <a:ext cx="1050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PDF para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2379DF1-0CB5-434D-9DC3-D6D40F35E498}"/>
              </a:ext>
            </a:extLst>
          </p:cNvPr>
          <p:cNvSpPr txBox="1"/>
          <p:nvPr/>
        </p:nvSpPr>
        <p:spPr>
          <a:xfrm>
            <a:off x="2406870" y="4202667"/>
            <a:ext cx="1050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PDF para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AC7CAC6-A0D5-BE47-BA72-9C1AA1F3C8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8558" y="2005552"/>
            <a:ext cx="965200" cy="3175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B7160D6-C498-784A-AB7D-0F2D96D9F3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957" y="1810988"/>
            <a:ext cx="2197100" cy="685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127B78C-16AD-234E-A252-AB229AA3AE5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37221" y="4800601"/>
            <a:ext cx="2197100" cy="685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12B459B-4AEE-5E40-BBA1-98D63A15BBB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05029" y="4260335"/>
            <a:ext cx="9652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79756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1676400" y="1143000"/>
            <a:ext cx="3321743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PDF: Probability Density Function</a:t>
            </a:r>
          </a:p>
          <a:p>
            <a:pPr algn="l"/>
            <a:endParaRPr lang="es-CL" dirty="0">
              <a:latin typeface="Gill Sans MT" panose="020B0502020104020203" pitchFamily="34" charset="77"/>
            </a:endParaRPr>
          </a:p>
          <a:p>
            <a:pPr algn="l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48" name="Line 4"/>
          <p:cNvSpPr>
            <a:spLocks noChangeShapeType="1"/>
          </p:cNvSpPr>
          <p:nvPr/>
        </p:nvSpPr>
        <p:spPr bwMode="auto">
          <a:xfrm>
            <a:off x="1524000" y="6096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49" name="Line 57"/>
          <p:cNvSpPr>
            <a:spLocks noChangeShapeType="1"/>
          </p:cNvSpPr>
          <p:nvPr/>
        </p:nvSpPr>
        <p:spPr bwMode="auto">
          <a:xfrm>
            <a:off x="2286000" y="1752600"/>
            <a:ext cx="0" cy="419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0" name="Line 58"/>
          <p:cNvSpPr>
            <a:spLocks noChangeShapeType="1"/>
          </p:cNvSpPr>
          <p:nvPr/>
        </p:nvSpPr>
        <p:spPr bwMode="auto">
          <a:xfrm>
            <a:off x="1981200" y="5715000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1" name="Line 59"/>
          <p:cNvSpPr>
            <a:spLocks noChangeShapeType="1"/>
          </p:cNvSpPr>
          <p:nvPr/>
        </p:nvSpPr>
        <p:spPr bwMode="auto">
          <a:xfrm>
            <a:off x="1905000" y="3429000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6" name="Line 64"/>
          <p:cNvSpPr>
            <a:spLocks noChangeShapeType="1"/>
          </p:cNvSpPr>
          <p:nvPr/>
        </p:nvSpPr>
        <p:spPr bwMode="auto">
          <a:xfrm>
            <a:off x="3505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7" name="Line 65"/>
          <p:cNvSpPr>
            <a:spLocks noChangeShapeType="1"/>
          </p:cNvSpPr>
          <p:nvPr/>
        </p:nvSpPr>
        <p:spPr bwMode="auto">
          <a:xfrm>
            <a:off x="4648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8" name="Line 66"/>
          <p:cNvSpPr>
            <a:spLocks noChangeShapeType="1"/>
          </p:cNvSpPr>
          <p:nvPr/>
        </p:nvSpPr>
        <p:spPr bwMode="auto">
          <a:xfrm>
            <a:off x="58674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9" name="Line 67"/>
          <p:cNvSpPr>
            <a:spLocks noChangeShapeType="1"/>
          </p:cNvSpPr>
          <p:nvPr/>
        </p:nvSpPr>
        <p:spPr bwMode="auto">
          <a:xfrm>
            <a:off x="70866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60" name="Line 68"/>
          <p:cNvSpPr>
            <a:spLocks noChangeShapeType="1"/>
          </p:cNvSpPr>
          <p:nvPr/>
        </p:nvSpPr>
        <p:spPr bwMode="auto">
          <a:xfrm>
            <a:off x="83058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61" name="Line 69"/>
          <p:cNvSpPr>
            <a:spLocks noChangeShapeType="1"/>
          </p:cNvSpPr>
          <p:nvPr/>
        </p:nvSpPr>
        <p:spPr bwMode="auto">
          <a:xfrm>
            <a:off x="9601200" y="1752600"/>
            <a:ext cx="0" cy="4267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62" name="Text Box 71"/>
          <p:cNvSpPr txBox="1">
            <a:spLocks noChangeArrowheads="1"/>
          </p:cNvSpPr>
          <p:nvPr/>
        </p:nvSpPr>
        <p:spPr bwMode="auto">
          <a:xfrm>
            <a:off x="1981201" y="6019800"/>
            <a:ext cx="760977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8.000        10.000       12.000       14.000         16.000         18.000         20.000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3" name="Text Box 2">
            <a:extLst>
              <a:ext uri="{FF2B5EF4-FFF2-40B4-BE49-F238E27FC236}">
                <a16:creationId xmlns:a16="http://schemas.microsoft.com/office/drawing/2014/main" id="{B631265C-3D24-DC47-B63F-A205E44EAF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1" y="152400"/>
            <a:ext cx="240097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Mandarinas vs. Naranjas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0D10CD24-D979-5841-992F-3FBCBE0C8B4F}"/>
              </a:ext>
            </a:extLst>
          </p:cNvPr>
          <p:cNvSpPr/>
          <p:nvPr/>
        </p:nvSpPr>
        <p:spPr>
          <a:xfrm>
            <a:off x="5864772" y="4662128"/>
            <a:ext cx="4508938" cy="1055501"/>
          </a:xfrm>
          <a:custGeom>
            <a:avLst/>
            <a:gdLst>
              <a:gd name="csX0" fmla="*/ 0 w 4508938"/>
              <a:gd name="csY0" fmla="*/ 1055501 h 1055501"/>
              <a:gd name="csX1" fmla="*/ 609600 w 4508938"/>
              <a:gd name="csY1" fmla="*/ 918866 h 1055501"/>
              <a:gd name="csX2" fmla="*/ 1240221 w 4508938"/>
              <a:gd name="csY2" fmla="*/ 593045 h 1055501"/>
              <a:gd name="csX3" fmla="*/ 1797269 w 4508938"/>
              <a:gd name="csY3" fmla="*/ 4466 h 1055501"/>
              <a:gd name="csX4" fmla="*/ 2438400 w 4508938"/>
              <a:gd name="csY4" fmla="*/ 330287 h 1055501"/>
              <a:gd name="csX5" fmla="*/ 3026980 w 4508938"/>
              <a:gd name="csY5" fmla="*/ 477432 h 1055501"/>
              <a:gd name="csX6" fmla="*/ 3762704 w 4508938"/>
              <a:gd name="csY6" fmla="*/ 656107 h 1055501"/>
              <a:gd name="csX7" fmla="*/ 4508938 w 4508938"/>
              <a:gd name="csY7" fmla="*/ 1044990 h 10555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508938" h="1055501" extrusionOk="0">
                <a:moveTo>
                  <a:pt x="0" y="1055501"/>
                </a:moveTo>
                <a:cubicBezTo>
                  <a:pt x="197032" y="1022997"/>
                  <a:pt x="385097" y="1002623"/>
                  <a:pt x="609600" y="918866"/>
                </a:cubicBezTo>
                <a:cubicBezTo>
                  <a:pt x="872988" y="853723"/>
                  <a:pt x="995671" y="746927"/>
                  <a:pt x="1240221" y="593045"/>
                </a:cubicBezTo>
                <a:cubicBezTo>
                  <a:pt x="1405626" y="472422"/>
                  <a:pt x="1596010" y="56900"/>
                  <a:pt x="1797269" y="4466"/>
                </a:cubicBezTo>
                <a:cubicBezTo>
                  <a:pt x="1984470" y="-46163"/>
                  <a:pt x="2280742" y="274056"/>
                  <a:pt x="2438400" y="330287"/>
                </a:cubicBezTo>
                <a:cubicBezTo>
                  <a:pt x="2643353" y="409115"/>
                  <a:pt x="3026980" y="477431"/>
                  <a:pt x="3026980" y="477432"/>
                </a:cubicBezTo>
                <a:cubicBezTo>
                  <a:pt x="3207039" y="525509"/>
                  <a:pt x="3476012" y="598890"/>
                  <a:pt x="3762704" y="656107"/>
                </a:cubicBezTo>
                <a:cubicBezTo>
                  <a:pt x="4008277" y="737160"/>
                  <a:pt x="4219817" y="952739"/>
                  <a:pt x="4508938" y="1044990"/>
                </a:cubicBezTo>
              </a:path>
            </a:pathLst>
          </a:custGeom>
          <a:noFill/>
          <a:ln w="25400">
            <a:solidFill>
              <a:srgbClr val="FF0000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508938"/>
                      <a:gd name="connsiteY0" fmla="*/ 1055501 h 1055501"/>
                      <a:gd name="connsiteX1" fmla="*/ 609600 w 4508938"/>
                      <a:gd name="connsiteY1" fmla="*/ 918866 h 1055501"/>
                      <a:gd name="connsiteX2" fmla="*/ 1240221 w 4508938"/>
                      <a:gd name="connsiteY2" fmla="*/ 593045 h 1055501"/>
                      <a:gd name="connsiteX3" fmla="*/ 1797269 w 4508938"/>
                      <a:gd name="connsiteY3" fmla="*/ 4466 h 1055501"/>
                      <a:gd name="connsiteX4" fmla="*/ 2438400 w 4508938"/>
                      <a:gd name="connsiteY4" fmla="*/ 330287 h 1055501"/>
                      <a:gd name="connsiteX5" fmla="*/ 3026980 w 4508938"/>
                      <a:gd name="connsiteY5" fmla="*/ 477432 h 1055501"/>
                      <a:gd name="connsiteX6" fmla="*/ 3762704 w 4508938"/>
                      <a:gd name="connsiteY6" fmla="*/ 656107 h 1055501"/>
                      <a:gd name="connsiteX7" fmla="*/ 4508938 w 4508938"/>
                      <a:gd name="connsiteY7" fmla="*/ 1044990 h 10555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4508938" h="1055501">
                        <a:moveTo>
                          <a:pt x="0" y="1055501"/>
                        </a:moveTo>
                        <a:cubicBezTo>
                          <a:pt x="201448" y="1025721"/>
                          <a:pt x="402897" y="995942"/>
                          <a:pt x="609600" y="918866"/>
                        </a:cubicBezTo>
                        <a:cubicBezTo>
                          <a:pt x="816304" y="841790"/>
                          <a:pt x="1042276" y="745445"/>
                          <a:pt x="1240221" y="593045"/>
                        </a:cubicBezTo>
                        <a:cubicBezTo>
                          <a:pt x="1438166" y="440645"/>
                          <a:pt x="1597573" y="48259"/>
                          <a:pt x="1797269" y="4466"/>
                        </a:cubicBezTo>
                        <a:cubicBezTo>
                          <a:pt x="1996965" y="-39327"/>
                          <a:pt x="2233448" y="251459"/>
                          <a:pt x="2438400" y="330287"/>
                        </a:cubicBezTo>
                        <a:cubicBezTo>
                          <a:pt x="2643352" y="409115"/>
                          <a:pt x="3026980" y="477432"/>
                          <a:pt x="3026980" y="477432"/>
                        </a:cubicBezTo>
                        <a:cubicBezTo>
                          <a:pt x="3247697" y="531735"/>
                          <a:pt x="3515711" y="561514"/>
                          <a:pt x="3762704" y="656107"/>
                        </a:cubicBezTo>
                        <a:cubicBezTo>
                          <a:pt x="4009697" y="750700"/>
                          <a:pt x="4259317" y="897845"/>
                          <a:pt x="4508938" y="1044990"/>
                        </a:cubicBezTo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69FE4641-60EE-8A45-A694-25E4300DFD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4905" y="3649718"/>
            <a:ext cx="165100" cy="13970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5F293E1E-1811-E548-A28A-ADE6C5F5C0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041" y="5867401"/>
            <a:ext cx="165100" cy="13970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1DE12DB9-725B-AE43-A91F-3326D11DD795}"/>
              </a:ext>
            </a:extLst>
          </p:cNvPr>
          <p:cNvGrpSpPr/>
          <p:nvPr/>
        </p:nvGrpSpPr>
        <p:grpSpPr>
          <a:xfrm>
            <a:off x="2406870" y="2005552"/>
            <a:ext cx="5885793" cy="1429284"/>
            <a:chOff x="882869" y="2005552"/>
            <a:chExt cx="5885793" cy="1429284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FC3E7698-5780-4F46-AC36-662AA1C0B647}"/>
                </a:ext>
              </a:extLst>
            </p:cNvPr>
            <p:cNvSpPr/>
            <p:nvPr/>
          </p:nvSpPr>
          <p:spPr>
            <a:xfrm>
              <a:off x="882869" y="2440735"/>
              <a:ext cx="5885793" cy="994101"/>
            </a:xfrm>
            <a:custGeom>
              <a:avLst/>
              <a:gdLst>
                <a:gd name="connsiteX0" fmla="*/ 0 w 5885793"/>
                <a:gd name="connsiteY0" fmla="*/ 985636 h 1026265"/>
                <a:gd name="connsiteX1" fmla="*/ 399393 w 5885793"/>
                <a:gd name="connsiteY1" fmla="*/ 996147 h 1026265"/>
                <a:gd name="connsiteX2" fmla="*/ 1082565 w 5885793"/>
                <a:gd name="connsiteY2" fmla="*/ 649305 h 1026265"/>
                <a:gd name="connsiteX3" fmla="*/ 1692165 w 5885793"/>
                <a:gd name="connsiteY3" fmla="*/ 481140 h 1026265"/>
                <a:gd name="connsiteX4" fmla="*/ 2228193 w 5885793"/>
                <a:gd name="connsiteY4" fmla="*/ 302464 h 1026265"/>
                <a:gd name="connsiteX5" fmla="*/ 2795752 w 5885793"/>
                <a:gd name="connsiteY5" fmla="*/ 18685 h 1026265"/>
                <a:gd name="connsiteX6" fmla="*/ 3478924 w 5885793"/>
                <a:gd name="connsiteY6" fmla="*/ 81747 h 1026265"/>
                <a:gd name="connsiteX7" fmla="*/ 4067503 w 5885793"/>
                <a:gd name="connsiteY7" fmla="*/ 523181 h 1026265"/>
                <a:gd name="connsiteX8" fmla="*/ 4687614 w 5885793"/>
                <a:gd name="connsiteY8" fmla="*/ 775430 h 1026265"/>
                <a:gd name="connsiteX9" fmla="*/ 5433848 w 5885793"/>
                <a:gd name="connsiteY9" fmla="*/ 985636 h 1026265"/>
                <a:gd name="connsiteX10" fmla="*/ 5885793 w 5885793"/>
                <a:gd name="connsiteY10" fmla="*/ 975126 h 1026265"/>
                <a:gd name="connsiteX0" fmla="*/ 0 w 5885793"/>
                <a:gd name="connsiteY0" fmla="*/ 985636 h 1002712"/>
                <a:gd name="connsiteX1" fmla="*/ 472965 w 5885793"/>
                <a:gd name="connsiteY1" fmla="*/ 922575 h 1002712"/>
                <a:gd name="connsiteX2" fmla="*/ 1082565 w 5885793"/>
                <a:gd name="connsiteY2" fmla="*/ 649305 h 1002712"/>
                <a:gd name="connsiteX3" fmla="*/ 1692165 w 5885793"/>
                <a:gd name="connsiteY3" fmla="*/ 481140 h 1002712"/>
                <a:gd name="connsiteX4" fmla="*/ 2228193 w 5885793"/>
                <a:gd name="connsiteY4" fmla="*/ 302464 h 1002712"/>
                <a:gd name="connsiteX5" fmla="*/ 2795752 w 5885793"/>
                <a:gd name="connsiteY5" fmla="*/ 18685 h 1002712"/>
                <a:gd name="connsiteX6" fmla="*/ 3478924 w 5885793"/>
                <a:gd name="connsiteY6" fmla="*/ 81747 h 1002712"/>
                <a:gd name="connsiteX7" fmla="*/ 4067503 w 5885793"/>
                <a:gd name="connsiteY7" fmla="*/ 523181 h 1002712"/>
                <a:gd name="connsiteX8" fmla="*/ 4687614 w 5885793"/>
                <a:gd name="connsiteY8" fmla="*/ 775430 h 1002712"/>
                <a:gd name="connsiteX9" fmla="*/ 5433848 w 5885793"/>
                <a:gd name="connsiteY9" fmla="*/ 985636 h 1002712"/>
                <a:gd name="connsiteX10" fmla="*/ 5885793 w 5885793"/>
                <a:gd name="connsiteY10" fmla="*/ 975126 h 1002712"/>
                <a:gd name="connsiteX0" fmla="*/ 0 w 5885793"/>
                <a:gd name="connsiteY0" fmla="*/ 985636 h 1002712"/>
                <a:gd name="connsiteX1" fmla="*/ 567559 w 5885793"/>
                <a:gd name="connsiteY1" fmla="*/ 891044 h 1002712"/>
                <a:gd name="connsiteX2" fmla="*/ 1082565 w 5885793"/>
                <a:gd name="connsiteY2" fmla="*/ 649305 h 1002712"/>
                <a:gd name="connsiteX3" fmla="*/ 1692165 w 5885793"/>
                <a:gd name="connsiteY3" fmla="*/ 481140 h 1002712"/>
                <a:gd name="connsiteX4" fmla="*/ 2228193 w 5885793"/>
                <a:gd name="connsiteY4" fmla="*/ 302464 h 1002712"/>
                <a:gd name="connsiteX5" fmla="*/ 2795752 w 5885793"/>
                <a:gd name="connsiteY5" fmla="*/ 18685 h 1002712"/>
                <a:gd name="connsiteX6" fmla="*/ 3478924 w 5885793"/>
                <a:gd name="connsiteY6" fmla="*/ 81747 h 1002712"/>
                <a:gd name="connsiteX7" fmla="*/ 4067503 w 5885793"/>
                <a:gd name="connsiteY7" fmla="*/ 523181 h 1002712"/>
                <a:gd name="connsiteX8" fmla="*/ 4687614 w 5885793"/>
                <a:gd name="connsiteY8" fmla="*/ 775430 h 1002712"/>
                <a:gd name="connsiteX9" fmla="*/ 5433848 w 5885793"/>
                <a:gd name="connsiteY9" fmla="*/ 985636 h 1002712"/>
                <a:gd name="connsiteX10" fmla="*/ 5885793 w 5885793"/>
                <a:gd name="connsiteY10" fmla="*/ 975126 h 1002712"/>
                <a:gd name="connsiteX0" fmla="*/ 0 w 5885793"/>
                <a:gd name="connsiteY0" fmla="*/ 985636 h 994101"/>
                <a:gd name="connsiteX1" fmla="*/ 567559 w 5885793"/>
                <a:gd name="connsiteY1" fmla="*/ 891044 h 994101"/>
                <a:gd name="connsiteX2" fmla="*/ 1082565 w 5885793"/>
                <a:gd name="connsiteY2" fmla="*/ 649305 h 994101"/>
                <a:gd name="connsiteX3" fmla="*/ 1692165 w 5885793"/>
                <a:gd name="connsiteY3" fmla="*/ 481140 h 994101"/>
                <a:gd name="connsiteX4" fmla="*/ 2228193 w 5885793"/>
                <a:gd name="connsiteY4" fmla="*/ 302464 h 994101"/>
                <a:gd name="connsiteX5" fmla="*/ 2795752 w 5885793"/>
                <a:gd name="connsiteY5" fmla="*/ 18685 h 994101"/>
                <a:gd name="connsiteX6" fmla="*/ 3478924 w 5885793"/>
                <a:gd name="connsiteY6" fmla="*/ 81747 h 994101"/>
                <a:gd name="connsiteX7" fmla="*/ 4067503 w 5885793"/>
                <a:gd name="connsiteY7" fmla="*/ 523181 h 994101"/>
                <a:gd name="connsiteX8" fmla="*/ 4687614 w 5885793"/>
                <a:gd name="connsiteY8" fmla="*/ 775430 h 994101"/>
                <a:gd name="connsiteX9" fmla="*/ 5349765 w 5885793"/>
                <a:gd name="connsiteY9" fmla="*/ 954105 h 994101"/>
                <a:gd name="connsiteX10" fmla="*/ 5885793 w 5885793"/>
                <a:gd name="connsiteY10" fmla="*/ 975126 h 994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885793" h="994101">
                  <a:moveTo>
                    <a:pt x="0" y="985636"/>
                  </a:moveTo>
                  <a:cubicBezTo>
                    <a:pt x="109483" y="1018919"/>
                    <a:pt x="387132" y="947099"/>
                    <a:pt x="567559" y="891044"/>
                  </a:cubicBezTo>
                  <a:cubicBezTo>
                    <a:pt x="747986" y="834989"/>
                    <a:pt x="895131" y="717622"/>
                    <a:pt x="1082565" y="649305"/>
                  </a:cubicBezTo>
                  <a:cubicBezTo>
                    <a:pt x="1269999" y="580988"/>
                    <a:pt x="1501227" y="538947"/>
                    <a:pt x="1692165" y="481140"/>
                  </a:cubicBezTo>
                  <a:cubicBezTo>
                    <a:pt x="1883103" y="423333"/>
                    <a:pt x="2044262" y="379540"/>
                    <a:pt x="2228193" y="302464"/>
                  </a:cubicBezTo>
                  <a:cubicBezTo>
                    <a:pt x="2412124" y="225388"/>
                    <a:pt x="2587297" y="55471"/>
                    <a:pt x="2795752" y="18685"/>
                  </a:cubicBezTo>
                  <a:cubicBezTo>
                    <a:pt x="3004207" y="-18101"/>
                    <a:pt x="3266966" y="-2336"/>
                    <a:pt x="3478924" y="81747"/>
                  </a:cubicBezTo>
                  <a:cubicBezTo>
                    <a:pt x="3690882" y="165830"/>
                    <a:pt x="3866055" y="407567"/>
                    <a:pt x="4067503" y="523181"/>
                  </a:cubicBezTo>
                  <a:cubicBezTo>
                    <a:pt x="4268951" y="638795"/>
                    <a:pt x="4473904" y="703609"/>
                    <a:pt x="4687614" y="775430"/>
                  </a:cubicBezTo>
                  <a:cubicBezTo>
                    <a:pt x="4901324" y="847251"/>
                    <a:pt x="5150069" y="920822"/>
                    <a:pt x="5349765" y="954105"/>
                  </a:cubicBezTo>
                  <a:cubicBezTo>
                    <a:pt x="5549461" y="987388"/>
                    <a:pt x="5759668" y="997022"/>
                    <a:pt x="5885793" y="975126"/>
                  </a:cubicBezTo>
                </a:path>
              </a:pathLst>
            </a:custGeom>
            <a:noFill/>
            <a:ln w="25400">
              <a:solidFill>
                <a:srgbClr val="0000FF"/>
              </a:solidFill>
              <a:prstDash val="soli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FAC7CAC6-A0D5-BE47-BA72-9C1AA1F3C8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424558" y="2005552"/>
              <a:ext cx="965200" cy="317500"/>
            </a:xfrm>
            <a:prstGeom prst="rect">
              <a:avLst/>
            </a:prstGeom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312B459B-4AEE-5E40-BBA1-98D63A15BB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5029" y="4260335"/>
            <a:ext cx="9652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97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2.22222E-6 L -2.77778E-6 0.3344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671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1676400" y="1143000"/>
            <a:ext cx="3321743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PDF: Probability Density Function</a:t>
            </a:r>
          </a:p>
          <a:p>
            <a:pPr algn="l"/>
            <a:endParaRPr lang="es-CL" dirty="0">
              <a:latin typeface="Gill Sans MT" panose="020B0502020104020203" pitchFamily="34" charset="77"/>
            </a:endParaRPr>
          </a:p>
          <a:p>
            <a:pPr algn="l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48" name="Line 4"/>
          <p:cNvSpPr>
            <a:spLocks noChangeShapeType="1"/>
          </p:cNvSpPr>
          <p:nvPr/>
        </p:nvSpPr>
        <p:spPr bwMode="auto">
          <a:xfrm>
            <a:off x="1524000" y="6096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0" name="Line 58"/>
          <p:cNvSpPr>
            <a:spLocks noChangeShapeType="1"/>
          </p:cNvSpPr>
          <p:nvPr/>
        </p:nvSpPr>
        <p:spPr bwMode="auto">
          <a:xfrm>
            <a:off x="1981200" y="5714995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FC91832-23C3-1145-A808-29886E86AF4E}"/>
              </a:ext>
            </a:extLst>
          </p:cNvPr>
          <p:cNvGrpSpPr/>
          <p:nvPr/>
        </p:nvGrpSpPr>
        <p:grpSpPr>
          <a:xfrm>
            <a:off x="2286000" y="3929114"/>
            <a:ext cx="7315200" cy="2090681"/>
            <a:chOff x="762000" y="1752600"/>
            <a:chExt cx="7315200" cy="4267200"/>
          </a:xfrm>
        </p:grpSpPr>
        <p:sp>
          <p:nvSpPr>
            <p:cNvPr id="6149" name="Line 57"/>
            <p:cNvSpPr>
              <a:spLocks noChangeShapeType="1"/>
            </p:cNvSpPr>
            <p:nvPr/>
          </p:nvSpPr>
          <p:spPr bwMode="auto">
            <a:xfrm>
              <a:off x="762000" y="1752600"/>
              <a:ext cx="0" cy="419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156" name="Line 64"/>
            <p:cNvSpPr>
              <a:spLocks noChangeShapeType="1"/>
            </p:cNvSpPr>
            <p:nvPr/>
          </p:nvSpPr>
          <p:spPr bwMode="auto">
            <a:xfrm>
              <a:off x="19812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157" name="Line 65"/>
            <p:cNvSpPr>
              <a:spLocks noChangeShapeType="1"/>
            </p:cNvSpPr>
            <p:nvPr/>
          </p:nvSpPr>
          <p:spPr bwMode="auto">
            <a:xfrm>
              <a:off x="31242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158" name="Line 66"/>
            <p:cNvSpPr>
              <a:spLocks noChangeShapeType="1"/>
            </p:cNvSpPr>
            <p:nvPr/>
          </p:nvSpPr>
          <p:spPr bwMode="auto">
            <a:xfrm>
              <a:off x="43434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159" name="Line 67"/>
            <p:cNvSpPr>
              <a:spLocks noChangeShapeType="1"/>
            </p:cNvSpPr>
            <p:nvPr/>
          </p:nvSpPr>
          <p:spPr bwMode="auto">
            <a:xfrm>
              <a:off x="55626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160" name="Line 68"/>
            <p:cNvSpPr>
              <a:spLocks noChangeShapeType="1"/>
            </p:cNvSpPr>
            <p:nvPr/>
          </p:nvSpPr>
          <p:spPr bwMode="auto">
            <a:xfrm>
              <a:off x="67818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161" name="Line 69"/>
            <p:cNvSpPr>
              <a:spLocks noChangeShapeType="1"/>
            </p:cNvSpPr>
            <p:nvPr/>
          </p:nvSpPr>
          <p:spPr bwMode="auto">
            <a:xfrm>
              <a:off x="80772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6162" name="Text Box 71"/>
          <p:cNvSpPr txBox="1">
            <a:spLocks noChangeArrowheads="1"/>
          </p:cNvSpPr>
          <p:nvPr/>
        </p:nvSpPr>
        <p:spPr bwMode="auto">
          <a:xfrm>
            <a:off x="1981201" y="6019795"/>
            <a:ext cx="760977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8.000        10.000       12.000       14.000         16.000         18.000         20.000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3" name="Text Box 2">
            <a:extLst>
              <a:ext uri="{FF2B5EF4-FFF2-40B4-BE49-F238E27FC236}">
                <a16:creationId xmlns:a16="http://schemas.microsoft.com/office/drawing/2014/main" id="{B631265C-3D24-DC47-B63F-A205E44EAF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1" y="152400"/>
            <a:ext cx="240097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Mandarinas vs. Naranjas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FC3E7698-5780-4F46-AC36-662AA1C0B647}"/>
              </a:ext>
            </a:extLst>
          </p:cNvPr>
          <p:cNvSpPr/>
          <p:nvPr/>
        </p:nvSpPr>
        <p:spPr>
          <a:xfrm>
            <a:off x="2406870" y="4731979"/>
            <a:ext cx="5885793" cy="994101"/>
          </a:xfrm>
          <a:custGeom>
            <a:avLst/>
            <a:gdLst>
              <a:gd name="connsiteX0" fmla="*/ 0 w 5885793"/>
              <a:gd name="connsiteY0" fmla="*/ 985636 h 1026265"/>
              <a:gd name="connsiteX1" fmla="*/ 399393 w 5885793"/>
              <a:gd name="connsiteY1" fmla="*/ 996147 h 1026265"/>
              <a:gd name="connsiteX2" fmla="*/ 1082565 w 5885793"/>
              <a:gd name="connsiteY2" fmla="*/ 649305 h 1026265"/>
              <a:gd name="connsiteX3" fmla="*/ 1692165 w 5885793"/>
              <a:gd name="connsiteY3" fmla="*/ 481140 h 1026265"/>
              <a:gd name="connsiteX4" fmla="*/ 2228193 w 5885793"/>
              <a:gd name="connsiteY4" fmla="*/ 302464 h 1026265"/>
              <a:gd name="connsiteX5" fmla="*/ 2795752 w 5885793"/>
              <a:gd name="connsiteY5" fmla="*/ 18685 h 1026265"/>
              <a:gd name="connsiteX6" fmla="*/ 3478924 w 5885793"/>
              <a:gd name="connsiteY6" fmla="*/ 81747 h 1026265"/>
              <a:gd name="connsiteX7" fmla="*/ 4067503 w 5885793"/>
              <a:gd name="connsiteY7" fmla="*/ 523181 h 1026265"/>
              <a:gd name="connsiteX8" fmla="*/ 4687614 w 5885793"/>
              <a:gd name="connsiteY8" fmla="*/ 775430 h 1026265"/>
              <a:gd name="connsiteX9" fmla="*/ 5433848 w 5885793"/>
              <a:gd name="connsiteY9" fmla="*/ 985636 h 1026265"/>
              <a:gd name="connsiteX10" fmla="*/ 5885793 w 5885793"/>
              <a:gd name="connsiteY10" fmla="*/ 975126 h 1026265"/>
              <a:gd name="connsiteX0" fmla="*/ 0 w 5885793"/>
              <a:gd name="connsiteY0" fmla="*/ 985636 h 1002712"/>
              <a:gd name="connsiteX1" fmla="*/ 472965 w 5885793"/>
              <a:gd name="connsiteY1" fmla="*/ 922575 h 1002712"/>
              <a:gd name="connsiteX2" fmla="*/ 1082565 w 5885793"/>
              <a:gd name="connsiteY2" fmla="*/ 649305 h 1002712"/>
              <a:gd name="connsiteX3" fmla="*/ 1692165 w 5885793"/>
              <a:gd name="connsiteY3" fmla="*/ 481140 h 1002712"/>
              <a:gd name="connsiteX4" fmla="*/ 2228193 w 5885793"/>
              <a:gd name="connsiteY4" fmla="*/ 302464 h 1002712"/>
              <a:gd name="connsiteX5" fmla="*/ 2795752 w 5885793"/>
              <a:gd name="connsiteY5" fmla="*/ 18685 h 1002712"/>
              <a:gd name="connsiteX6" fmla="*/ 3478924 w 5885793"/>
              <a:gd name="connsiteY6" fmla="*/ 81747 h 1002712"/>
              <a:gd name="connsiteX7" fmla="*/ 4067503 w 5885793"/>
              <a:gd name="connsiteY7" fmla="*/ 523181 h 1002712"/>
              <a:gd name="connsiteX8" fmla="*/ 4687614 w 5885793"/>
              <a:gd name="connsiteY8" fmla="*/ 775430 h 1002712"/>
              <a:gd name="connsiteX9" fmla="*/ 5433848 w 5885793"/>
              <a:gd name="connsiteY9" fmla="*/ 985636 h 1002712"/>
              <a:gd name="connsiteX10" fmla="*/ 5885793 w 5885793"/>
              <a:gd name="connsiteY10" fmla="*/ 975126 h 1002712"/>
              <a:gd name="connsiteX0" fmla="*/ 0 w 5885793"/>
              <a:gd name="connsiteY0" fmla="*/ 985636 h 1002712"/>
              <a:gd name="connsiteX1" fmla="*/ 567559 w 5885793"/>
              <a:gd name="connsiteY1" fmla="*/ 891044 h 1002712"/>
              <a:gd name="connsiteX2" fmla="*/ 1082565 w 5885793"/>
              <a:gd name="connsiteY2" fmla="*/ 649305 h 1002712"/>
              <a:gd name="connsiteX3" fmla="*/ 1692165 w 5885793"/>
              <a:gd name="connsiteY3" fmla="*/ 481140 h 1002712"/>
              <a:gd name="connsiteX4" fmla="*/ 2228193 w 5885793"/>
              <a:gd name="connsiteY4" fmla="*/ 302464 h 1002712"/>
              <a:gd name="connsiteX5" fmla="*/ 2795752 w 5885793"/>
              <a:gd name="connsiteY5" fmla="*/ 18685 h 1002712"/>
              <a:gd name="connsiteX6" fmla="*/ 3478924 w 5885793"/>
              <a:gd name="connsiteY6" fmla="*/ 81747 h 1002712"/>
              <a:gd name="connsiteX7" fmla="*/ 4067503 w 5885793"/>
              <a:gd name="connsiteY7" fmla="*/ 523181 h 1002712"/>
              <a:gd name="connsiteX8" fmla="*/ 4687614 w 5885793"/>
              <a:gd name="connsiteY8" fmla="*/ 775430 h 1002712"/>
              <a:gd name="connsiteX9" fmla="*/ 5433848 w 5885793"/>
              <a:gd name="connsiteY9" fmla="*/ 985636 h 1002712"/>
              <a:gd name="connsiteX10" fmla="*/ 5885793 w 5885793"/>
              <a:gd name="connsiteY10" fmla="*/ 975126 h 1002712"/>
              <a:gd name="connsiteX0" fmla="*/ 0 w 5885793"/>
              <a:gd name="connsiteY0" fmla="*/ 985636 h 994101"/>
              <a:gd name="connsiteX1" fmla="*/ 567559 w 5885793"/>
              <a:gd name="connsiteY1" fmla="*/ 891044 h 994101"/>
              <a:gd name="connsiteX2" fmla="*/ 1082565 w 5885793"/>
              <a:gd name="connsiteY2" fmla="*/ 649305 h 994101"/>
              <a:gd name="connsiteX3" fmla="*/ 1692165 w 5885793"/>
              <a:gd name="connsiteY3" fmla="*/ 481140 h 994101"/>
              <a:gd name="connsiteX4" fmla="*/ 2228193 w 5885793"/>
              <a:gd name="connsiteY4" fmla="*/ 302464 h 994101"/>
              <a:gd name="connsiteX5" fmla="*/ 2795752 w 5885793"/>
              <a:gd name="connsiteY5" fmla="*/ 18685 h 994101"/>
              <a:gd name="connsiteX6" fmla="*/ 3478924 w 5885793"/>
              <a:gd name="connsiteY6" fmla="*/ 81747 h 994101"/>
              <a:gd name="connsiteX7" fmla="*/ 4067503 w 5885793"/>
              <a:gd name="connsiteY7" fmla="*/ 523181 h 994101"/>
              <a:gd name="connsiteX8" fmla="*/ 4687614 w 5885793"/>
              <a:gd name="connsiteY8" fmla="*/ 775430 h 994101"/>
              <a:gd name="connsiteX9" fmla="*/ 5349765 w 5885793"/>
              <a:gd name="connsiteY9" fmla="*/ 954105 h 994101"/>
              <a:gd name="connsiteX10" fmla="*/ 5885793 w 5885793"/>
              <a:gd name="connsiteY10" fmla="*/ 975126 h 99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885793" h="994101">
                <a:moveTo>
                  <a:pt x="0" y="985636"/>
                </a:moveTo>
                <a:cubicBezTo>
                  <a:pt x="109483" y="1018919"/>
                  <a:pt x="387132" y="947099"/>
                  <a:pt x="567559" y="891044"/>
                </a:cubicBezTo>
                <a:cubicBezTo>
                  <a:pt x="747986" y="834989"/>
                  <a:pt x="895131" y="717622"/>
                  <a:pt x="1082565" y="649305"/>
                </a:cubicBezTo>
                <a:cubicBezTo>
                  <a:pt x="1269999" y="580988"/>
                  <a:pt x="1501227" y="538947"/>
                  <a:pt x="1692165" y="481140"/>
                </a:cubicBezTo>
                <a:cubicBezTo>
                  <a:pt x="1883103" y="423333"/>
                  <a:pt x="2044262" y="379540"/>
                  <a:pt x="2228193" y="302464"/>
                </a:cubicBezTo>
                <a:cubicBezTo>
                  <a:pt x="2412124" y="225388"/>
                  <a:pt x="2587297" y="55471"/>
                  <a:pt x="2795752" y="18685"/>
                </a:cubicBezTo>
                <a:cubicBezTo>
                  <a:pt x="3004207" y="-18101"/>
                  <a:pt x="3266966" y="-2336"/>
                  <a:pt x="3478924" y="81747"/>
                </a:cubicBezTo>
                <a:cubicBezTo>
                  <a:pt x="3690882" y="165830"/>
                  <a:pt x="3866055" y="407567"/>
                  <a:pt x="4067503" y="523181"/>
                </a:cubicBezTo>
                <a:cubicBezTo>
                  <a:pt x="4268951" y="638795"/>
                  <a:pt x="4473904" y="703609"/>
                  <a:pt x="4687614" y="775430"/>
                </a:cubicBezTo>
                <a:cubicBezTo>
                  <a:pt x="4901324" y="847251"/>
                  <a:pt x="5150069" y="920822"/>
                  <a:pt x="5349765" y="954105"/>
                </a:cubicBezTo>
                <a:cubicBezTo>
                  <a:pt x="5549461" y="987388"/>
                  <a:pt x="5759668" y="997022"/>
                  <a:pt x="5885793" y="975126"/>
                </a:cubicBezTo>
              </a:path>
            </a:pathLst>
          </a:custGeom>
          <a:noFill/>
          <a:ln w="25400">
            <a:solidFill>
              <a:srgbClr val="0000FF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0D10CD24-D979-5841-992F-3FBCBE0C8B4F}"/>
              </a:ext>
            </a:extLst>
          </p:cNvPr>
          <p:cNvSpPr/>
          <p:nvPr/>
        </p:nvSpPr>
        <p:spPr>
          <a:xfrm>
            <a:off x="5864772" y="4662123"/>
            <a:ext cx="4508938" cy="1055501"/>
          </a:xfrm>
          <a:custGeom>
            <a:avLst/>
            <a:gdLst>
              <a:gd name="csX0" fmla="*/ 0 w 4508938"/>
              <a:gd name="csY0" fmla="*/ 1055501 h 1055501"/>
              <a:gd name="csX1" fmla="*/ 609600 w 4508938"/>
              <a:gd name="csY1" fmla="*/ 918866 h 1055501"/>
              <a:gd name="csX2" fmla="*/ 1240221 w 4508938"/>
              <a:gd name="csY2" fmla="*/ 593045 h 1055501"/>
              <a:gd name="csX3" fmla="*/ 1797269 w 4508938"/>
              <a:gd name="csY3" fmla="*/ 4466 h 1055501"/>
              <a:gd name="csX4" fmla="*/ 2438400 w 4508938"/>
              <a:gd name="csY4" fmla="*/ 330287 h 1055501"/>
              <a:gd name="csX5" fmla="*/ 3026980 w 4508938"/>
              <a:gd name="csY5" fmla="*/ 477432 h 1055501"/>
              <a:gd name="csX6" fmla="*/ 3762704 w 4508938"/>
              <a:gd name="csY6" fmla="*/ 656107 h 1055501"/>
              <a:gd name="csX7" fmla="*/ 4508938 w 4508938"/>
              <a:gd name="csY7" fmla="*/ 1044990 h 10555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508938" h="1055501" extrusionOk="0">
                <a:moveTo>
                  <a:pt x="0" y="1055501"/>
                </a:moveTo>
                <a:cubicBezTo>
                  <a:pt x="197032" y="1022997"/>
                  <a:pt x="385097" y="1002623"/>
                  <a:pt x="609600" y="918866"/>
                </a:cubicBezTo>
                <a:cubicBezTo>
                  <a:pt x="872988" y="853723"/>
                  <a:pt x="995671" y="746927"/>
                  <a:pt x="1240221" y="593045"/>
                </a:cubicBezTo>
                <a:cubicBezTo>
                  <a:pt x="1405626" y="472422"/>
                  <a:pt x="1596010" y="56900"/>
                  <a:pt x="1797269" y="4466"/>
                </a:cubicBezTo>
                <a:cubicBezTo>
                  <a:pt x="1984470" y="-46163"/>
                  <a:pt x="2280742" y="274056"/>
                  <a:pt x="2438400" y="330287"/>
                </a:cubicBezTo>
                <a:cubicBezTo>
                  <a:pt x="2643353" y="409115"/>
                  <a:pt x="3026980" y="477431"/>
                  <a:pt x="3026980" y="477432"/>
                </a:cubicBezTo>
                <a:cubicBezTo>
                  <a:pt x="3207039" y="525509"/>
                  <a:pt x="3476012" y="598890"/>
                  <a:pt x="3762704" y="656107"/>
                </a:cubicBezTo>
                <a:cubicBezTo>
                  <a:pt x="4008277" y="737160"/>
                  <a:pt x="4219817" y="952739"/>
                  <a:pt x="4508938" y="1044990"/>
                </a:cubicBezTo>
              </a:path>
            </a:pathLst>
          </a:custGeom>
          <a:noFill/>
          <a:ln w="25400">
            <a:solidFill>
              <a:srgbClr val="FF0000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508938"/>
                      <a:gd name="connsiteY0" fmla="*/ 1055501 h 1055501"/>
                      <a:gd name="connsiteX1" fmla="*/ 609600 w 4508938"/>
                      <a:gd name="connsiteY1" fmla="*/ 918866 h 1055501"/>
                      <a:gd name="connsiteX2" fmla="*/ 1240221 w 4508938"/>
                      <a:gd name="connsiteY2" fmla="*/ 593045 h 1055501"/>
                      <a:gd name="connsiteX3" fmla="*/ 1797269 w 4508938"/>
                      <a:gd name="connsiteY3" fmla="*/ 4466 h 1055501"/>
                      <a:gd name="connsiteX4" fmla="*/ 2438400 w 4508938"/>
                      <a:gd name="connsiteY4" fmla="*/ 330287 h 1055501"/>
                      <a:gd name="connsiteX5" fmla="*/ 3026980 w 4508938"/>
                      <a:gd name="connsiteY5" fmla="*/ 477432 h 1055501"/>
                      <a:gd name="connsiteX6" fmla="*/ 3762704 w 4508938"/>
                      <a:gd name="connsiteY6" fmla="*/ 656107 h 1055501"/>
                      <a:gd name="connsiteX7" fmla="*/ 4508938 w 4508938"/>
                      <a:gd name="connsiteY7" fmla="*/ 1044990 h 10555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4508938" h="1055501">
                        <a:moveTo>
                          <a:pt x="0" y="1055501"/>
                        </a:moveTo>
                        <a:cubicBezTo>
                          <a:pt x="201448" y="1025721"/>
                          <a:pt x="402897" y="995942"/>
                          <a:pt x="609600" y="918866"/>
                        </a:cubicBezTo>
                        <a:cubicBezTo>
                          <a:pt x="816304" y="841790"/>
                          <a:pt x="1042276" y="745445"/>
                          <a:pt x="1240221" y="593045"/>
                        </a:cubicBezTo>
                        <a:cubicBezTo>
                          <a:pt x="1438166" y="440645"/>
                          <a:pt x="1597573" y="48259"/>
                          <a:pt x="1797269" y="4466"/>
                        </a:cubicBezTo>
                        <a:cubicBezTo>
                          <a:pt x="1996965" y="-39327"/>
                          <a:pt x="2233448" y="251459"/>
                          <a:pt x="2438400" y="330287"/>
                        </a:cubicBezTo>
                        <a:cubicBezTo>
                          <a:pt x="2643352" y="409115"/>
                          <a:pt x="3026980" y="477432"/>
                          <a:pt x="3026980" y="477432"/>
                        </a:cubicBezTo>
                        <a:cubicBezTo>
                          <a:pt x="3247697" y="531735"/>
                          <a:pt x="3515711" y="561514"/>
                          <a:pt x="3762704" y="656107"/>
                        </a:cubicBezTo>
                        <a:cubicBezTo>
                          <a:pt x="4009697" y="750700"/>
                          <a:pt x="4259317" y="897845"/>
                          <a:pt x="4508938" y="1044990"/>
                        </a:cubicBezTo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5F293E1E-1811-E548-A28A-ADE6C5F5C0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041" y="5867396"/>
            <a:ext cx="165100" cy="1397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AC7CAC6-A0D5-BE47-BA72-9C1AA1F3C8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8558" y="4296795"/>
            <a:ext cx="965200" cy="317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12B459B-4AEE-5E40-BBA1-98D63A15BB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5029" y="4260330"/>
            <a:ext cx="9652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30803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1676400" y="1143000"/>
            <a:ext cx="3321743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PDF: Probability Density Function</a:t>
            </a:r>
          </a:p>
          <a:p>
            <a:pPr algn="l"/>
            <a:endParaRPr lang="es-CL" dirty="0">
              <a:latin typeface="Gill Sans MT" panose="020B0502020104020203" pitchFamily="34" charset="77"/>
            </a:endParaRPr>
          </a:p>
          <a:p>
            <a:pPr algn="l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48" name="Line 4"/>
          <p:cNvSpPr>
            <a:spLocks noChangeShapeType="1"/>
          </p:cNvSpPr>
          <p:nvPr/>
        </p:nvSpPr>
        <p:spPr bwMode="auto">
          <a:xfrm>
            <a:off x="1524000" y="6096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0" name="Line 58"/>
          <p:cNvSpPr>
            <a:spLocks noChangeShapeType="1"/>
          </p:cNvSpPr>
          <p:nvPr/>
        </p:nvSpPr>
        <p:spPr bwMode="auto">
          <a:xfrm>
            <a:off x="1981200" y="5714995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FC91832-23C3-1145-A808-29886E86AF4E}"/>
              </a:ext>
            </a:extLst>
          </p:cNvPr>
          <p:cNvGrpSpPr/>
          <p:nvPr/>
        </p:nvGrpSpPr>
        <p:grpSpPr>
          <a:xfrm>
            <a:off x="2286000" y="3929114"/>
            <a:ext cx="7315200" cy="2090681"/>
            <a:chOff x="762000" y="1752600"/>
            <a:chExt cx="7315200" cy="4267200"/>
          </a:xfrm>
        </p:grpSpPr>
        <p:sp>
          <p:nvSpPr>
            <p:cNvPr id="6149" name="Line 57"/>
            <p:cNvSpPr>
              <a:spLocks noChangeShapeType="1"/>
            </p:cNvSpPr>
            <p:nvPr/>
          </p:nvSpPr>
          <p:spPr bwMode="auto">
            <a:xfrm>
              <a:off x="762000" y="1752600"/>
              <a:ext cx="0" cy="419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156" name="Line 64"/>
            <p:cNvSpPr>
              <a:spLocks noChangeShapeType="1"/>
            </p:cNvSpPr>
            <p:nvPr/>
          </p:nvSpPr>
          <p:spPr bwMode="auto">
            <a:xfrm>
              <a:off x="19812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157" name="Line 65"/>
            <p:cNvSpPr>
              <a:spLocks noChangeShapeType="1"/>
            </p:cNvSpPr>
            <p:nvPr/>
          </p:nvSpPr>
          <p:spPr bwMode="auto">
            <a:xfrm>
              <a:off x="31242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158" name="Line 66"/>
            <p:cNvSpPr>
              <a:spLocks noChangeShapeType="1"/>
            </p:cNvSpPr>
            <p:nvPr/>
          </p:nvSpPr>
          <p:spPr bwMode="auto">
            <a:xfrm>
              <a:off x="43434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159" name="Line 67"/>
            <p:cNvSpPr>
              <a:spLocks noChangeShapeType="1"/>
            </p:cNvSpPr>
            <p:nvPr/>
          </p:nvSpPr>
          <p:spPr bwMode="auto">
            <a:xfrm>
              <a:off x="55626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160" name="Line 68"/>
            <p:cNvSpPr>
              <a:spLocks noChangeShapeType="1"/>
            </p:cNvSpPr>
            <p:nvPr/>
          </p:nvSpPr>
          <p:spPr bwMode="auto">
            <a:xfrm>
              <a:off x="67818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161" name="Line 69"/>
            <p:cNvSpPr>
              <a:spLocks noChangeShapeType="1"/>
            </p:cNvSpPr>
            <p:nvPr/>
          </p:nvSpPr>
          <p:spPr bwMode="auto">
            <a:xfrm>
              <a:off x="80772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6162" name="Text Box 71"/>
          <p:cNvSpPr txBox="1">
            <a:spLocks noChangeArrowheads="1"/>
          </p:cNvSpPr>
          <p:nvPr/>
        </p:nvSpPr>
        <p:spPr bwMode="auto">
          <a:xfrm>
            <a:off x="1981201" y="6019795"/>
            <a:ext cx="760977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8.000        10.000       12.000       14.000         16.000         18.000         20.000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3" name="Text Box 2">
            <a:extLst>
              <a:ext uri="{FF2B5EF4-FFF2-40B4-BE49-F238E27FC236}">
                <a16:creationId xmlns:a16="http://schemas.microsoft.com/office/drawing/2014/main" id="{B631265C-3D24-DC47-B63F-A205E44EAF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1" y="152400"/>
            <a:ext cx="240097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Mandarinas vs. Naranjas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FC3E7698-5780-4F46-AC36-662AA1C0B647}"/>
              </a:ext>
            </a:extLst>
          </p:cNvPr>
          <p:cNvSpPr/>
          <p:nvPr/>
        </p:nvSpPr>
        <p:spPr>
          <a:xfrm>
            <a:off x="2406870" y="4731979"/>
            <a:ext cx="5885793" cy="994101"/>
          </a:xfrm>
          <a:custGeom>
            <a:avLst/>
            <a:gdLst>
              <a:gd name="connsiteX0" fmla="*/ 0 w 5885793"/>
              <a:gd name="connsiteY0" fmla="*/ 985636 h 1026265"/>
              <a:gd name="connsiteX1" fmla="*/ 399393 w 5885793"/>
              <a:gd name="connsiteY1" fmla="*/ 996147 h 1026265"/>
              <a:gd name="connsiteX2" fmla="*/ 1082565 w 5885793"/>
              <a:gd name="connsiteY2" fmla="*/ 649305 h 1026265"/>
              <a:gd name="connsiteX3" fmla="*/ 1692165 w 5885793"/>
              <a:gd name="connsiteY3" fmla="*/ 481140 h 1026265"/>
              <a:gd name="connsiteX4" fmla="*/ 2228193 w 5885793"/>
              <a:gd name="connsiteY4" fmla="*/ 302464 h 1026265"/>
              <a:gd name="connsiteX5" fmla="*/ 2795752 w 5885793"/>
              <a:gd name="connsiteY5" fmla="*/ 18685 h 1026265"/>
              <a:gd name="connsiteX6" fmla="*/ 3478924 w 5885793"/>
              <a:gd name="connsiteY6" fmla="*/ 81747 h 1026265"/>
              <a:gd name="connsiteX7" fmla="*/ 4067503 w 5885793"/>
              <a:gd name="connsiteY7" fmla="*/ 523181 h 1026265"/>
              <a:gd name="connsiteX8" fmla="*/ 4687614 w 5885793"/>
              <a:gd name="connsiteY8" fmla="*/ 775430 h 1026265"/>
              <a:gd name="connsiteX9" fmla="*/ 5433848 w 5885793"/>
              <a:gd name="connsiteY9" fmla="*/ 985636 h 1026265"/>
              <a:gd name="connsiteX10" fmla="*/ 5885793 w 5885793"/>
              <a:gd name="connsiteY10" fmla="*/ 975126 h 1026265"/>
              <a:gd name="connsiteX0" fmla="*/ 0 w 5885793"/>
              <a:gd name="connsiteY0" fmla="*/ 985636 h 1002712"/>
              <a:gd name="connsiteX1" fmla="*/ 472965 w 5885793"/>
              <a:gd name="connsiteY1" fmla="*/ 922575 h 1002712"/>
              <a:gd name="connsiteX2" fmla="*/ 1082565 w 5885793"/>
              <a:gd name="connsiteY2" fmla="*/ 649305 h 1002712"/>
              <a:gd name="connsiteX3" fmla="*/ 1692165 w 5885793"/>
              <a:gd name="connsiteY3" fmla="*/ 481140 h 1002712"/>
              <a:gd name="connsiteX4" fmla="*/ 2228193 w 5885793"/>
              <a:gd name="connsiteY4" fmla="*/ 302464 h 1002712"/>
              <a:gd name="connsiteX5" fmla="*/ 2795752 w 5885793"/>
              <a:gd name="connsiteY5" fmla="*/ 18685 h 1002712"/>
              <a:gd name="connsiteX6" fmla="*/ 3478924 w 5885793"/>
              <a:gd name="connsiteY6" fmla="*/ 81747 h 1002712"/>
              <a:gd name="connsiteX7" fmla="*/ 4067503 w 5885793"/>
              <a:gd name="connsiteY7" fmla="*/ 523181 h 1002712"/>
              <a:gd name="connsiteX8" fmla="*/ 4687614 w 5885793"/>
              <a:gd name="connsiteY8" fmla="*/ 775430 h 1002712"/>
              <a:gd name="connsiteX9" fmla="*/ 5433848 w 5885793"/>
              <a:gd name="connsiteY9" fmla="*/ 985636 h 1002712"/>
              <a:gd name="connsiteX10" fmla="*/ 5885793 w 5885793"/>
              <a:gd name="connsiteY10" fmla="*/ 975126 h 1002712"/>
              <a:gd name="connsiteX0" fmla="*/ 0 w 5885793"/>
              <a:gd name="connsiteY0" fmla="*/ 985636 h 1002712"/>
              <a:gd name="connsiteX1" fmla="*/ 567559 w 5885793"/>
              <a:gd name="connsiteY1" fmla="*/ 891044 h 1002712"/>
              <a:gd name="connsiteX2" fmla="*/ 1082565 w 5885793"/>
              <a:gd name="connsiteY2" fmla="*/ 649305 h 1002712"/>
              <a:gd name="connsiteX3" fmla="*/ 1692165 w 5885793"/>
              <a:gd name="connsiteY3" fmla="*/ 481140 h 1002712"/>
              <a:gd name="connsiteX4" fmla="*/ 2228193 w 5885793"/>
              <a:gd name="connsiteY4" fmla="*/ 302464 h 1002712"/>
              <a:gd name="connsiteX5" fmla="*/ 2795752 w 5885793"/>
              <a:gd name="connsiteY5" fmla="*/ 18685 h 1002712"/>
              <a:gd name="connsiteX6" fmla="*/ 3478924 w 5885793"/>
              <a:gd name="connsiteY6" fmla="*/ 81747 h 1002712"/>
              <a:gd name="connsiteX7" fmla="*/ 4067503 w 5885793"/>
              <a:gd name="connsiteY7" fmla="*/ 523181 h 1002712"/>
              <a:gd name="connsiteX8" fmla="*/ 4687614 w 5885793"/>
              <a:gd name="connsiteY8" fmla="*/ 775430 h 1002712"/>
              <a:gd name="connsiteX9" fmla="*/ 5433848 w 5885793"/>
              <a:gd name="connsiteY9" fmla="*/ 985636 h 1002712"/>
              <a:gd name="connsiteX10" fmla="*/ 5885793 w 5885793"/>
              <a:gd name="connsiteY10" fmla="*/ 975126 h 1002712"/>
              <a:gd name="connsiteX0" fmla="*/ 0 w 5885793"/>
              <a:gd name="connsiteY0" fmla="*/ 985636 h 994101"/>
              <a:gd name="connsiteX1" fmla="*/ 567559 w 5885793"/>
              <a:gd name="connsiteY1" fmla="*/ 891044 h 994101"/>
              <a:gd name="connsiteX2" fmla="*/ 1082565 w 5885793"/>
              <a:gd name="connsiteY2" fmla="*/ 649305 h 994101"/>
              <a:gd name="connsiteX3" fmla="*/ 1692165 w 5885793"/>
              <a:gd name="connsiteY3" fmla="*/ 481140 h 994101"/>
              <a:gd name="connsiteX4" fmla="*/ 2228193 w 5885793"/>
              <a:gd name="connsiteY4" fmla="*/ 302464 h 994101"/>
              <a:gd name="connsiteX5" fmla="*/ 2795752 w 5885793"/>
              <a:gd name="connsiteY5" fmla="*/ 18685 h 994101"/>
              <a:gd name="connsiteX6" fmla="*/ 3478924 w 5885793"/>
              <a:gd name="connsiteY6" fmla="*/ 81747 h 994101"/>
              <a:gd name="connsiteX7" fmla="*/ 4067503 w 5885793"/>
              <a:gd name="connsiteY7" fmla="*/ 523181 h 994101"/>
              <a:gd name="connsiteX8" fmla="*/ 4687614 w 5885793"/>
              <a:gd name="connsiteY8" fmla="*/ 775430 h 994101"/>
              <a:gd name="connsiteX9" fmla="*/ 5349765 w 5885793"/>
              <a:gd name="connsiteY9" fmla="*/ 954105 h 994101"/>
              <a:gd name="connsiteX10" fmla="*/ 5885793 w 5885793"/>
              <a:gd name="connsiteY10" fmla="*/ 975126 h 99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885793" h="994101">
                <a:moveTo>
                  <a:pt x="0" y="985636"/>
                </a:moveTo>
                <a:cubicBezTo>
                  <a:pt x="109483" y="1018919"/>
                  <a:pt x="387132" y="947099"/>
                  <a:pt x="567559" y="891044"/>
                </a:cubicBezTo>
                <a:cubicBezTo>
                  <a:pt x="747986" y="834989"/>
                  <a:pt x="895131" y="717622"/>
                  <a:pt x="1082565" y="649305"/>
                </a:cubicBezTo>
                <a:cubicBezTo>
                  <a:pt x="1269999" y="580988"/>
                  <a:pt x="1501227" y="538947"/>
                  <a:pt x="1692165" y="481140"/>
                </a:cubicBezTo>
                <a:cubicBezTo>
                  <a:pt x="1883103" y="423333"/>
                  <a:pt x="2044262" y="379540"/>
                  <a:pt x="2228193" y="302464"/>
                </a:cubicBezTo>
                <a:cubicBezTo>
                  <a:pt x="2412124" y="225388"/>
                  <a:pt x="2587297" y="55471"/>
                  <a:pt x="2795752" y="18685"/>
                </a:cubicBezTo>
                <a:cubicBezTo>
                  <a:pt x="3004207" y="-18101"/>
                  <a:pt x="3266966" y="-2336"/>
                  <a:pt x="3478924" y="81747"/>
                </a:cubicBezTo>
                <a:cubicBezTo>
                  <a:pt x="3690882" y="165830"/>
                  <a:pt x="3866055" y="407567"/>
                  <a:pt x="4067503" y="523181"/>
                </a:cubicBezTo>
                <a:cubicBezTo>
                  <a:pt x="4268951" y="638795"/>
                  <a:pt x="4473904" y="703609"/>
                  <a:pt x="4687614" y="775430"/>
                </a:cubicBezTo>
                <a:cubicBezTo>
                  <a:pt x="4901324" y="847251"/>
                  <a:pt x="5150069" y="920822"/>
                  <a:pt x="5349765" y="954105"/>
                </a:cubicBezTo>
                <a:cubicBezTo>
                  <a:pt x="5549461" y="987388"/>
                  <a:pt x="5759668" y="997022"/>
                  <a:pt x="5885793" y="975126"/>
                </a:cubicBezTo>
              </a:path>
            </a:pathLst>
          </a:custGeom>
          <a:noFill/>
          <a:ln w="25400">
            <a:solidFill>
              <a:srgbClr val="0000FF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0D10CD24-D979-5841-992F-3FBCBE0C8B4F}"/>
              </a:ext>
            </a:extLst>
          </p:cNvPr>
          <p:cNvSpPr/>
          <p:nvPr/>
        </p:nvSpPr>
        <p:spPr>
          <a:xfrm>
            <a:off x="5864772" y="4662123"/>
            <a:ext cx="4508938" cy="1055501"/>
          </a:xfrm>
          <a:custGeom>
            <a:avLst/>
            <a:gdLst>
              <a:gd name="csX0" fmla="*/ 0 w 4508938"/>
              <a:gd name="csY0" fmla="*/ 1055501 h 1055501"/>
              <a:gd name="csX1" fmla="*/ 609600 w 4508938"/>
              <a:gd name="csY1" fmla="*/ 918866 h 1055501"/>
              <a:gd name="csX2" fmla="*/ 1240221 w 4508938"/>
              <a:gd name="csY2" fmla="*/ 593045 h 1055501"/>
              <a:gd name="csX3" fmla="*/ 1797269 w 4508938"/>
              <a:gd name="csY3" fmla="*/ 4466 h 1055501"/>
              <a:gd name="csX4" fmla="*/ 2438400 w 4508938"/>
              <a:gd name="csY4" fmla="*/ 330287 h 1055501"/>
              <a:gd name="csX5" fmla="*/ 3026980 w 4508938"/>
              <a:gd name="csY5" fmla="*/ 477432 h 1055501"/>
              <a:gd name="csX6" fmla="*/ 3762704 w 4508938"/>
              <a:gd name="csY6" fmla="*/ 656107 h 1055501"/>
              <a:gd name="csX7" fmla="*/ 4508938 w 4508938"/>
              <a:gd name="csY7" fmla="*/ 1044990 h 10555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508938" h="1055501" extrusionOk="0">
                <a:moveTo>
                  <a:pt x="0" y="1055501"/>
                </a:moveTo>
                <a:cubicBezTo>
                  <a:pt x="197032" y="1022997"/>
                  <a:pt x="385097" y="1002623"/>
                  <a:pt x="609600" y="918866"/>
                </a:cubicBezTo>
                <a:cubicBezTo>
                  <a:pt x="872988" y="853723"/>
                  <a:pt x="995671" y="746927"/>
                  <a:pt x="1240221" y="593045"/>
                </a:cubicBezTo>
                <a:cubicBezTo>
                  <a:pt x="1405626" y="472422"/>
                  <a:pt x="1596010" y="56900"/>
                  <a:pt x="1797269" y="4466"/>
                </a:cubicBezTo>
                <a:cubicBezTo>
                  <a:pt x="1984470" y="-46163"/>
                  <a:pt x="2280742" y="274056"/>
                  <a:pt x="2438400" y="330287"/>
                </a:cubicBezTo>
                <a:cubicBezTo>
                  <a:pt x="2643353" y="409115"/>
                  <a:pt x="3026980" y="477431"/>
                  <a:pt x="3026980" y="477432"/>
                </a:cubicBezTo>
                <a:cubicBezTo>
                  <a:pt x="3207039" y="525509"/>
                  <a:pt x="3476012" y="598890"/>
                  <a:pt x="3762704" y="656107"/>
                </a:cubicBezTo>
                <a:cubicBezTo>
                  <a:pt x="4008277" y="737160"/>
                  <a:pt x="4219817" y="952739"/>
                  <a:pt x="4508938" y="1044990"/>
                </a:cubicBezTo>
              </a:path>
            </a:pathLst>
          </a:custGeom>
          <a:noFill/>
          <a:ln w="25400">
            <a:solidFill>
              <a:srgbClr val="FF0000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508938"/>
                      <a:gd name="connsiteY0" fmla="*/ 1055501 h 1055501"/>
                      <a:gd name="connsiteX1" fmla="*/ 609600 w 4508938"/>
                      <a:gd name="connsiteY1" fmla="*/ 918866 h 1055501"/>
                      <a:gd name="connsiteX2" fmla="*/ 1240221 w 4508938"/>
                      <a:gd name="connsiteY2" fmla="*/ 593045 h 1055501"/>
                      <a:gd name="connsiteX3" fmla="*/ 1797269 w 4508938"/>
                      <a:gd name="connsiteY3" fmla="*/ 4466 h 1055501"/>
                      <a:gd name="connsiteX4" fmla="*/ 2438400 w 4508938"/>
                      <a:gd name="connsiteY4" fmla="*/ 330287 h 1055501"/>
                      <a:gd name="connsiteX5" fmla="*/ 3026980 w 4508938"/>
                      <a:gd name="connsiteY5" fmla="*/ 477432 h 1055501"/>
                      <a:gd name="connsiteX6" fmla="*/ 3762704 w 4508938"/>
                      <a:gd name="connsiteY6" fmla="*/ 656107 h 1055501"/>
                      <a:gd name="connsiteX7" fmla="*/ 4508938 w 4508938"/>
                      <a:gd name="connsiteY7" fmla="*/ 1044990 h 10555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4508938" h="1055501">
                        <a:moveTo>
                          <a:pt x="0" y="1055501"/>
                        </a:moveTo>
                        <a:cubicBezTo>
                          <a:pt x="201448" y="1025721"/>
                          <a:pt x="402897" y="995942"/>
                          <a:pt x="609600" y="918866"/>
                        </a:cubicBezTo>
                        <a:cubicBezTo>
                          <a:pt x="816304" y="841790"/>
                          <a:pt x="1042276" y="745445"/>
                          <a:pt x="1240221" y="593045"/>
                        </a:cubicBezTo>
                        <a:cubicBezTo>
                          <a:pt x="1438166" y="440645"/>
                          <a:pt x="1597573" y="48259"/>
                          <a:pt x="1797269" y="4466"/>
                        </a:cubicBezTo>
                        <a:cubicBezTo>
                          <a:pt x="1996965" y="-39327"/>
                          <a:pt x="2233448" y="251459"/>
                          <a:pt x="2438400" y="330287"/>
                        </a:cubicBezTo>
                        <a:cubicBezTo>
                          <a:pt x="2643352" y="409115"/>
                          <a:pt x="3026980" y="477432"/>
                          <a:pt x="3026980" y="477432"/>
                        </a:cubicBezTo>
                        <a:cubicBezTo>
                          <a:pt x="3247697" y="531735"/>
                          <a:pt x="3515711" y="561514"/>
                          <a:pt x="3762704" y="656107"/>
                        </a:cubicBezTo>
                        <a:cubicBezTo>
                          <a:pt x="4009697" y="750700"/>
                          <a:pt x="4259317" y="897845"/>
                          <a:pt x="4508938" y="1044990"/>
                        </a:cubicBezTo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5F293E1E-1811-E548-A28A-ADE6C5F5C0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041" y="5867396"/>
            <a:ext cx="165100" cy="1397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AC7CAC6-A0D5-BE47-BA72-9C1AA1F3C8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8558" y="4296795"/>
            <a:ext cx="965200" cy="317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12B459B-4AEE-5E40-BBA1-98D63A15BB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5029" y="4260330"/>
            <a:ext cx="965200" cy="317500"/>
          </a:xfrm>
          <a:prstGeom prst="rect">
            <a:avLst/>
          </a:prstGeom>
        </p:spPr>
      </p:pic>
      <p:sp>
        <p:nvSpPr>
          <p:cNvPr id="20" name="Freeform 19">
            <a:extLst>
              <a:ext uri="{FF2B5EF4-FFF2-40B4-BE49-F238E27FC236}">
                <a16:creationId xmlns:a16="http://schemas.microsoft.com/office/drawing/2014/main" id="{E00B5BF3-C28C-6A42-BB86-B668084729A4}"/>
              </a:ext>
            </a:extLst>
          </p:cNvPr>
          <p:cNvSpPr/>
          <p:nvPr/>
        </p:nvSpPr>
        <p:spPr>
          <a:xfrm>
            <a:off x="5864772" y="5082426"/>
            <a:ext cx="4508938" cy="624693"/>
          </a:xfrm>
          <a:custGeom>
            <a:avLst/>
            <a:gdLst>
              <a:gd name="csX0" fmla="*/ 0 w 4508938"/>
              <a:gd name="csY0" fmla="*/ 624693 h 624693"/>
              <a:gd name="csX1" fmla="*/ 609600 w 4508938"/>
              <a:gd name="csY1" fmla="*/ 543826 h 624693"/>
              <a:gd name="csX2" fmla="*/ 1240221 w 4508938"/>
              <a:gd name="csY2" fmla="*/ 350990 h 624693"/>
              <a:gd name="csX3" fmla="*/ 1797269 w 4508938"/>
              <a:gd name="csY3" fmla="*/ 2643 h 624693"/>
              <a:gd name="csX4" fmla="*/ 2438400 w 4508938"/>
              <a:gd name="csY4" fmla="*/ 195478 h 624693"/>
              <a:gd name="csX5" fmla="*/ 3026980 w 4508938"/>
              <a:gd name="csY5" fmla="*/ 282565 h 624693"/>
              <a:gd name="csX6" fmla="*/ 3762704 w 4508938"/>
              <a:gd name="csY6" fmla="*/ 388313 h 624693"/>
              <a:gd name="csX7" fmla="*/ 4508938 w 4508938"/>
              <a:gd name="csY7" fmla="*/ 618472 h 6246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508938" h="624693" extrusionOk="0">
                <a:moveTo>
                  <a:pt x="0" y="624693"/>
                </a:moveTo>
                <a:cubicBezTo>
                  <a:pt x="163220" y="583487"/>
                  <a:pt x="380965" y="597674"/>
                  <a:pt x="609600" y="543826"/>
                </a:cubicBezTo>
                <a:cubicBezTo>
                  <a:pt x="827055" y="500472"/>
                  <a:pt x="1018504" y="441943"/>
                  <a:pt x="1240221" y="350990"/>
                </a:cubicBezTo>
                <a:cubicBezTo>
                  <a:pt x="1409054" y="289223"/>
                  <a:pt x="1596087" y="36772"/>
                  <a:pt x="1797269" y="2643"/>
                </a:cubicBezTo>
                <a:cubicBezTo>
                  <a:pt x="1972546" y="-36636"/>
                  <a:pt x="2252100" y="157736"/>
                  <a:pt x="2438400" y="195478"/>
                </a:cubicBezTo>
                <a:cubicBezTo>
                  <a:pt x="2643353" y="242132"/>
                  <a:pt x="3026980" y="282564"/>
                  <a:pt x="3026980" y="282565"/>
                </a:cubicBezTo>
                <a:cubicBezTo>
                  <a:pt x="3239670" y="313475"/>
                  <a:pt x="3499596" y="347502"/>
                  <a:pt x="3762704" y="388313"/>
                </a:cubicBezTo>
                <a:cubicBezTo>
                  <a:pt x="4004701" y="396659"/>
                  <a:pt x="4249104" y="545578"/>
                  <a:pt x="4508938" y="618472"/>
                </a:cubicBezTo>
              </a:path>
            </a:pathLst>
          </a:custGeom>
          <a:noFill/>
          <a:ln w="25400">
            <a:solidFill>
              <a:srgbClr val="7030A0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508938"/>
                      <a:gd name="connsiteY0" fmla="*/ 1055501 h 1055501"/>
                      <a:gd name="connsiteX1" fmla="*/ 609600 w 4508938"/>
                      <a:gd name="connsiteY1" fmla="*/ 918866 h 1055501"/>
                      <a:gd name="connsiteX2" fmla="*/ 1240221 w 4508938"/>
                      <a:gd name="connsiteY2" fmla="*/ 593045 h 1055501"/>
                      <a:gd name="connsiteX3" fmla="*/ 1797269 w 4508938"/>
                      <a:gd name="connsiteY3" fmla="*/ 4466 h 1055501"/>
                      <a:gd name="connsiteX4" fmla="*/ 2438400 w 4508938"/>
                      <a:gd name="connsiteY4" fmla="*/ 330287 h 1055501"/>
                      <a:gd name="connsiteX5" fmla="*/ 3026980 w 4508938"/>
                      <a:gd name="connsiteY5" fmla="*/ 477432 h 1055501"/>
                      <a:gd name="connsiteX6" fmla="*/ 3762704 w 4508938"/>
                      <a:gd name="connsiteY6" fmla="*/ 656107 h 1055501"/>
                      <a:gd name="connsiteX7" fmla="*/ 4508938 w 4508938"/>
                      <a:gd name="connsiteY7" fmla="*/ 1044990 h 10555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4508938" h="1055501">
                        <a:moveTo>
                          <a:pt x="0" y="1055501"/>
                        </a:moveTo>
                        <a:cubicBezTo>
                          <a:pt x="201448" y="1025721"/>
                          <a:pt x="402897" y="995942"/>
                          <a:pt x="609600" y="918866"/>
                        </a:cubicBezTo>
                        <a:cubicBezTo>
                          <a:pt x="816304" y="841790"/>
                          <a:pt x="1042276" y="745445"/>
                          <a:pt x="1240221" y="593045"/>
                        </a:cubicBezTo>
                        <a:cubicBezTo>
                          <a:pt x="1438166" y="440645"/>
                          <a:pt x="1597573" y="48259"/>
                          <a:pt x="1797269" y="4466"/>
                        </a:cubicBezTo>
                        <a:cubicBezTo>
                          <a:pt x="1996965" y="-39327"/>
                          <a:pt x="2233448" y="251459"/>
                          <a:pt x="2438400" y="330287"/>
                        </a:cubicBezTo>
                        <a:cubicBezTo>
                          <a:pt x="2643352" y="409115"/>
                          <a:pt x="3026980" y="477432"/>
                          <a:pt x="3026980" y="477432"/>
                        </a:cubicBezTo>
                        <a:cubicBezTo>
                          <a:pt x="3247697" y="531735"/>
                          <a:pt x="3515711" y="561514"/>
                          <a:pt x="3762704" y="656107"/>
                        </a:cubicBezTo>
                        <a:cubicBezTo>
                          <a:pt x="4009697" y="750700"/>
                          <a:pt x="4259317" y="897845"/>
                          <a:pt x="4508938" y="1044990"/>
                        </a:cubicBezTo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3DEB757-21DA-0545-893A-C4B59A2BBB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68501" y="4170008"/>
            <a:ext cx="1739900" cy="5715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3C356C7-9FE6-EB49-85D9-F7CEE67113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83010" y="4092818"/>
            <a:ext cx="1790700" cy="546100"/>
          </a:xfrm>
          <a:prstGeom prst="rect">
            <a:avLst/>
          </a:prstGeom>
        </p:spPr>
      </p:pic>
      <p:sp>
        <p:nvSpPr>
          <p:cNvPr id="23" name="Freeform 22">
            <a:extLst>
              <a:ext uri="{FF2B5EF4-FFF2-40B4-BE49-F238E27FC236}">
                <a16:creationId xmlns:a16="http://schemas.microsoft.com/office/drawing/2014/main" id="{31C1EC62-EBC2-504F-B1CE-53A45FCBAE5B}"/>
              </a:ext>
            </a:extLst>
          </p:cNvPr>
          <p:cNvSpPr/>
          <p:nvPr/>
        </p:nvSpPr>
        <p:spPr>
          <a:xfrm>
            <a:off x="2420008" y="5095125"/>
            <a:ext cx="5885793" cy="618371"/>
          </a:xfrm>
          <a:custGeom>
            <a:avLst/>
            <a:gdLst>
              <a:gd name="connsiteX0" fmla="*/ 0 w 5885793"/>
              <a:gd name="connsiteY0" fmla="*/ 985636 h 1026265"/>
              <a:gd name="connsiteX1" fmla="*/ 399393 w 5885793"/>
              <a:gd name="connsiteY1" fmla="*/ 996147 h 1026265"/>
              <a:gd name="connsiteX2" fmla="*/ 1082565 w 5885793"/>
              <a:gd name="connsiteY2" fmla="*/ 649305 h 1026265"/>
              <a:gd name="connsiteX3" fmla="*/ 1692165 w 5885793"/>
              <a:gd name="connsiteY3" fmla="*/ 481140 h 1026265"/>
              <a:gd name="connsiteX4" fmla="*/ 2228193 w 5885793"/>
              <a:gd name="connsiteY4" fmla="*/ 302464 h 1026265"/>
              <a:gd name="connsiteX5" fmla="*/ 2795752 w 5885793"/>
              <a:gd name="connsiteY5" fmla="*/ 18685 h 1026265"/>
              <a:gd name="connsiteX6" fmla="*/ 3478924 w 5885793"/>
              <a:gd name="connsiteY6" fmla="*/ 81747 h 1026265"/>
              <a:gd name="connsiteX7" fmla="*/ 4067503 w 5885793"/>
              <a:gd name="connsiteY7" fmla="*/ 523181 h 1026265"/>
              <a:gd name="connsiteX8" fmla="*/ 4687614 w 5885793"/>
              <a:gd name="connsiteY8" fmla="*/ 775430 h 1026265"/>
              <a:gd name="connsiteX9" fmla="*/ 5433848 w 5885793"/>
              <a:gd name="connsiteY9" fmla="*/ 985636 h 1026265"/>
              <a:gd name="connsiteX10" fmla="*/ 5885793 w 5885793"/>
              <a:gd name="connsiteY10" fmla="*/ 975126 h 1026265"/>
              <a:gd name="connsiteX0" fmla="*/ 0 w 5885793"/>
              <a:gd name="connsiteY0" fmla="*/ 985636 h 1002712"/>
              <a:gd name="connsiteX1" fmla="*/ 472965 w 5885793"/>
              <a:gd name="connsiteY1" fmla="*/ 922575 h 1002712"/>
              <a:gd name="connsiteX2" fmla="*/ 1082565 w 5885793"/>
              <a:gd name="connsiteY2" fmla="*/ 649305 h 1002712"/>
              <a:gd name="connsiteX3" fmla="*/ 1692165 w 5885793"/>
              <a:gd name="connsiteY3" fmla="*/ 481140 h 1002712"/>
              <a:gd name="connsiteX4" fmla="*/ 2228193 w 5885793"/>
              <a:gd name="connsiteY4" fmla="*/ 302464 h 1002712"/>
              <a:gd name="connsiteX5" fmla="*/ 2795752 w 5885793"/>
              <a:gd name="connsiteY5" fmla="*/ 18685 h 1002712"/>
              <a:gd name="connsiteX6" fmla="*/ 3478924 w 5885793"/>
              <a:gd name="connsiteY6" fmla="*/ 81747 h 1002712"/>
              <a:gd name="connsiteX7" fmla="*/ 4067503 w 5885793"/>
              <a:gd name="connsiteY7" fmla="*/ 523181 h 1002712"/>
              <a:gd name="connsiteX8" fmla="*/ 4687614 w 5885793"/>
              <a:gd name="connsiteY8" fmla="*/ 775430 h 1002712"/>
              <a:gd name="connsiteX9" fmla="*/ 5433848 w 5885793"/>
              <a:gd name="connsiteY9" fmla="*/ 985636 h 1002712"/>
              <a:gd name="connsiteX10" fmla="*/ 5885793 w 5885793"/>
              <a:gd name="connsiteY10" fmla="*/ 975126 h 1002712"/>
              <a:gd name="connsiteX0" fmla="*/ 0 w 5885793"/>
              <a:gd name="connsiteY0" fmla="*/ 985636 h 1002712"/>
              <a:gd name="connsiteX1" fmla="*/ 567559 w 5885793"/>
              <a:gd name="connsiteY1" fmla="*/ 891044 h 1002712"/>
              <a:gd name="connsiteX2" fmla="*/ 1082565 w 5885793"/>
              <a:gd name="connsiteY2" fmla="*/ 649305 h 1002712"/>
              <a:gd name="connsiteX3" fmla="*/ 1692165 w 5885793"/>
              <a:gd name="connsiteY3" fmla="*/ 481140 h 1002712"/>
              <a:gd name="connsiteX4" fmla="*/ 2228193 w 5885793"/>
              <a:gd name="connsiteY4" fmla="*/ 302464 h 1002712"/>
              <a:gd name="connsiteX5" fmla="*/ 2795752 w 5885793"/>
              <a:gd name="connsiteY5" fmla="*/ 18685 h 1002712"/>
              <a:gd name="connsiteX6" fmla="*/ 3478924 w 5885793"/>
              <a:gd name="connsiteY6" fmla="*/ 81747 h 1002712"/>
              <a:gd name="connsiteX7" fmla="*/ 4067503 w 5885793"/>
              <a:gd name="connsiteY7" fmla="*/ 523181 h 1002712"/>
              <a:gd name="connsiteX8" fmla="*/ 4687614 w 5885793"/>
              <a:gd name="connsiteY8" fmla="*/ 775430 h 1002712"/>
              <a:gd name="connsiteX9" fmla="*/ 5433848 w 5885793"/>
              <a:gd name="connsiteY9" fmla="*/ 985636 h 1002712"/>
              <a:gd name="connsiteX10" fmla="*/ 5885793 w 5885793"/>
              <a:gd name="connsiteY10" fmla="*/ 975126 h 1002712"/>
              <a:gd name="connsiteX0" fmla="*/ 0 w 5885793"/>
              <a:gd name="connsiteY0" fmla="*/ 985636 h 994101"/>
              <a:gd name="connsiteX1" fmla="*/ 567559 w 5885793"/>
              <a:gd name="connsiteY1" fmla="*/ 891044 h 994101"/>
              <a:gd name="connsiteX2" fmla="*/ 1082565 w 5885793"/>
              <a:gd name="connsiteY2" fmla="*/ 649305 h 994101"/>
              <a:gd name="connsiteX3" fmla="*/ 1692165 w 5885793"/>
              <a:gd name="connsiteY3" fmla="*/ 481140 h 994101"/>
              <a:gd name="connsiteX4" fmla="*/ 2228193 w 5885793"/>
              <a:gd name="connsiteY4" fmla="*/ 302464 h 994101"/>
              <a:gd name="connsiteX5" fmla="*/ 2795752 w 5885793"/>
              <a:gd name="connsiteY5" fmla="*/ 18685 h 994101"/>
              <a:gd name="connsiteX6" fmla="*/ 3478924 w 5885793"/>
              <a:gd name="connsiteY6" fmla="*/ 81747 h 994101"/>
              <a:gd name="connsiteX7" fmla="*/ 4067503 w 5885793"/>
              <a:gd name="connsiteY7" fmla="*/ 523181 h 994101"/>
              <a:gd name="connsiteX8" fmla="*/ 4687614 w 5885793"/>
              <a:gd name="connsiteY8" fmla="*/ 775430 h 994101"/>
              <a:gd name="connsiteX9" fmla="*/ 5349765 w 5885793"/>
              <a:gd name="connsiteY9" fmla="*/ 954105 h 994101"/>
              <a:gd name="connsiteX10" fmla="*/ 5885793 w 5885793"/>
              <a:gd name="connsiteY10" fmla="*/ 975126 h 99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885793" h="994101">
                <a:moveTo>
                  <a:pt x="0" y="985636"/>
                </a:moveTo>
                <a:cubicBezTo>
                  <a:pt x="109483" y="1018919"/>
                  <a:pt x="387132" y="947099"/>
                  <a:pt x="567559" y="891044"/>
                </a:cubicBezTo>
                <a:cubicBezTo>
                  <a:pt x="747986" y="834989"/>
                  <a:pt x="895131" y="717622"/>
                  <a:pt x="1082565" y="649305"/>
                </a:cubicBezTo>
                <a:cubicBezTo>
                  <a:pt x="1269999" y="580988"/>
                  <a:pt x="1501227" y="538947"/>
                  <a:pt x="1692165" y="481140"/>
                </a:cubicBezTo>
                <a:cubicBezTo>
                  <a:pt x="1883103" y="423333"/>
                  <a:pt x="2044262" y="379540"/>
                  <a:pt x="2228193" y="302464"/>
                </a:cubicBezTo>
                <a:cubicBezTo>
                  <a:pt x="2412124" y="225388"/>
                  <a:pt x="2587297" y="55471"/>
                  <a:pt x="2795752" y="18685"/>
                </a:cubicBezTo>
                <a:cubicBezTo>
                  <a:pt x="3004207" y="-18101"/>
                  <a:pt x="3266966" y="-2336"/>
                  <a:pt x="3478924" y="81747"/>
                </a:cubicBezTo>
                <a:cubicBezTo>
                  <a:pt x="3690882" y="165830"/>
                  <a:pt x="3866055" y="407567"/>
                  <a:pt x="4067503" y="523181"/>
                </a:cubicBezTo>
                <a:cubicBezTo>
                  <a:pt x="4268951" y="638795"/>
                  <a:pt x="4473904" y="703609"/>
                  <a:pt x="4687614" y="775430"/>
                </a:cubicBezTo>
                <a:cubicBezTo>
                  <a:pt x="4901324" y="847251"/>
                  <a:pt x="5150069" y="920822"/>
                  <a:pt x="5349765" y="954105"/>
                </a:cubicBezTo>
                <a:cubicBezTo>
                  <a:pt x="5549461" y="987388"/>
                  <a:pt x="5759668" y="997022"/>
                  <a:pt x="5885793" y="975126"/>
                </a:cubicBezTo>
              </a:path>
            </a:pathLst>
          </a:custGeom>
          <a:noFill/>
          <a:ln w="25400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2D95979-0A77-F543-9D55-6E011F09BF16}"/>
              </a:ext>
            </a:extLst>
          </p:cNvPr>
          <p:cNvCxnSpPr>
            <a:stCxn id="22" idx="2"/>
          </p:cNvCxnSpPr>
          <p:nvPr/>
        </p:nvCxnSpPr>
        <p:spPr>
          <a:xfrm flipH="1">
            <a:off x="8686800" y="4638918"/>
            <a:ext cx="791560" cy="717636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4B7F4D1-BD69-C043-9ECE-AE0959570858}"/>
              </a:ext>
            </a:extLst>
          </p:cNvPr>
          <p:cNvCxnSpPr>
            <a:cxnSpLocks/>
            <a:stCxn id="21" idx="2"/>
            <a:endCxn id="23" idx="3"/>
          </p:cNvCxnSpPr>
          <p:nvPr/>
        </p:nvCxnSpPr>
        <p:spPr>
          <a:xfrm>
            <a:off x="3538452" y="4741509"/>
            <a:ext cx="573721" cy="652905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129367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1676400" y="1143000"/>
            <a:ext cx="3321743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PDF: Probability Density Function</a:t>
            </a:r>
          </a:p>
          <a:p>
            <a:pPr algn="l"/>
            <a:endParaRPr lang="es-CL" dirty="0">
              <a:latin typeface="Gill Sans MT" panose="020B0502020104020203" pitchFamily="34" charset="77"/>
            </a:endParaRPr>
          </a:p>
          <a:p>
            <a:pPr algn="l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48" name="Line 4"/>
          <p:cNvSpPr>
            <a:spLocks noChangeShapeType="1"/>
          </p:cNvSpPr>
          <p:nvPr/>
        </p:nvSpPr>
        <p:spPr bwMode="auto">
          <a:xfrm>
            <a:off x="1524000" y="6096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0" name="Line 58"/>
          <p:cNvSpPr>
            <a:spLocks noChangeShapeType="1"/>
          </p:cNvSpPr>
          <p:nvPr/>
        </p:nvSpPr>
        <p:spPr bwMode="auto">
          <a:xfrm>
            <a:off x="1981200" y="5714995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FC91832-23C3-1145-A808-29886E86AF4E}"/>
              </a:ext>
            </a:extLst>
          </p:cNvPr>
          <p:cNvGrpSpPr/>
          <p:nvPr/>
        </p:nvGrpSpPr>
        <p:grpSpPr>
          <a:xfrm>
            <a:off x="2286000" y="3929114"/>
            <a:ext cx="7315200" cy="2090681"/>
            <a:chOff x="762000" y="1752600"/>
            <a:chExt cx="7315200" cy="4267200"/>
          </a:xfrm>
        </p:grpSpPr>
        <p:sp>
          <p:nvSpPr>
            <p:cNvPr id="6149" name="Line 57"/>
            <p:cNvSpPr>
              <a:spLocks noChangeShapeType="1"/>
            </p:cNvSpPr>
            <p:nvPr/>
          </p:nvSpPr>
          <p:spPr bwMode="auto">
            <a:xfrm>
              <a:off x="762000" y="1752600"/>
              <a:ext cx="0" cy="419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156" name="Line 64"/>
            <p:cNvSpPr>
              <a:spLocks noChangeShapeType="1"/>
            </p:cNvSpPr>
            <p:nvPr/>
          </p:nvSpPr>
          <p:spPr bwMode="auto">
            <a:xfrm>
              <a:off x="19812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157" name="Line 65"/>
            <p:cNvSpPr>
              <a:spLocks noChangeShapeType="1"/>
            </p:cNvSpPr>
            <p:nvPr/>
          </p:nvSpPr>
          <p:spPr bwMode="auto">
            <a:xfrm>
              <a:off x="31242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158" name="Line 66"/>
            <p:cNvSpPr>
              <a:spLocks noChangeShapeType="1"/>
            </p:cNvSpPr>
            <p:nvPr/>
          </p:nvSpPr>
          <p:spPr bwMode="auto">
            <a:xfrm>
              <a:off x="43434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159" name="Line 67"/>
            <p:cNvSpPr>
              <a:spLocks noChangeShapeType="1"/>
            </p:cNvSpPr>
            <p:nvPr/>
          </p:nvSpPr>
          <p:spPr bwMode="auto">
            <a:xfrm>
              <a:off x="55626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160" name="Line 68"/>
            <p:cNvSpPr>
              <a:spLocks noChangeShapeType="1"/>
            </p:cNvSpPr>
            <p:nvPr/>
          </p:nvSpPr>
          <p:spPr bwMode="auto">
            <a:xfrm>
              <a:off x="67818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161" name="Line 69"/>
            <p:cNvSpPr>
              <a:spLocks noChangeShapeType="1"/>
            </p:cNvSpPr>
            <p:nvPr/>
          </p:nvSpPr>
          <p:spPr bwMode="auto">
            <a:xfrm>
              <a:off x="80772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6162" name="Text Box 71"/>
          <p:cNvSpPr txBox="1">
            <a:spLocks noChangeArrowheads="1"/>
          </p:cNvSpPr>
          <p:nvPr/>
        </p:nvSpPr>
        <p:spPr bwMode="auto">
          <a:xfrm>
            <a:off x="1981201" y="6019795"/>
            <a:ext cx="760977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8.000        10.000       12.000       14.000         16.000         18.000         20.000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3" name="Text Box 2">
            <a:extLst>
              <a:ext uri="{FF2B5EF4-FFF2-40B4-BE49-F238E27FC236}">
                <a16:creationId xmlns:a16="http://schemas.microsoft.com/office/drawing/2014/main" id="{B631265C-3D24-DC47-B63F-A205E44EAF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1" y="152400"/>
            <a:ext cx="240097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Mandarinas vs. Naranjas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5F293E1E-1811-E548-A28A-ADE6C5F5C0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041" y="5867396"/>
            <a:ext cx="165100" cy="139700"/>
          </a:xfrm>
          <a:prstGeom prst="rect">
            <a:avLst/>
          </a:prstGeom>
        </p:spPr>
      </p:pic>
      <p:sp>
        <p:nvSpPr>
          <p:cNvPr id="20" name="Freeform 19">
            <a:extLst>
              <a:ext uri="{FF2B5EF4-FFF2-40B4-BE49-F238E27FC236}">
                <a16:creationId xmlns:a16="http://schemas.microsoft.com/office/drawing/2014/main" id="{E00B5BF3-C28C-6A42-BB86-B668084729A4}"/>
              </a:ext>
            </a:extLst>
          </p:cNvPr>
          <p:cNvSpPr/>
          <p:nvPr/>
        </p:nvSpPr>
        <p:spPr>
          <a:xfrm>
            <a:off x="5864772" y="5082426"/>
            <a:ext cx="4508938" cy="624693"/>
          </a:xfrm>
          <a:custGeom>
            <a:avLst/>
            <a:gdLst>
              <a:gd name="csX0" fmla="*/ 0 w 4508938"/>
              <a:gd name="csY0" fmla="*/ 624693 h 624693"/>
              <a:gd name="csX1" fmla="*/ 609600 w 4508938"/>
              <a:gd name="csY1" fmla="*/ 543826 h 624693"/>
              <a:gd name="csX2" fmla="*/ 1240221 w 4508938"/>
              <a:gd name="csY2" fmla="*/ 350990 h 624693"/>
              <a:gd name="csX3" fmla="*/ 1797269 w 4508938"/>
              <a:gd name="csY3" fmla="*/ 2643 h 624693"/>
              <a:gd name="csX4" fmla="*/ 2438400 w 4508938"/>
              <a:gd name="csY4" fmla="*/ 195478 h 624693"/>
              <a:gd name="csX5" fmla="*/ 3026980 w 4508938"/>
              <a:gd name="csY5" fmla="*/ 282565 h 624693"/>
              <a:gd name="csX6" fmla="*/ 3762704 w 4508938"/>
              <a:gd name="csY6" fmla="*/ 388313 h 624693"/>
              <a:gd name="csX7" fmla="*/ 4508938 w 4508938"/>
              <a:gd name="csY7" fmla="*/ 618472 h 6246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508938" h="624693" extrusionOk="0">
                <a:moveTo>
                  <a:pt x="0" y="624693"/>
                </a:moveTo>
                <a:cubicBezTo>
                  <a:pt x="163220" y="583487"/>
                  <a:pt x="380965" y="597674"/>
                  <a:pt x="609600" y="543826"/>
                </a:cubicBezTo>
                <a:cubicBezTo>
                  <a:pt x="827055" y="500472"/>
                  <a:pt x="1018504" y="441943"/>
                  <a:pt x="1240221" y="350990"/>
                </a:cubicBezTo>
                <a:cubicBezTo>
                  <a:pt x="1409054" y="289223"/>
                  <a:pt x="1596087" y="36772"/>
                  <a:pt x="1797269" y="2643"/>
                </a:cubicBezTo>
                <a:cubicBezTo>
                  <a:pt x="1972546" y="-36636"/>
                  <a:pt x="2252100" y="157736"/>
                  <a:pt x="2438400" y="195478"/>
                </a:cubicBezTo>
                <a:cubicBezTo>
                  <a:pt x="2643353" y="242132"/>
                  <a:pt x="3026980" y="282564"/>
                  <a:pt x="3026980" y="282565"/>
                </a:cubicBezTo>
                <a:cubicBezTo>
                  <a:pt x="3239670" y="313475"/>
                  <a:pt x="3499596" y="347502"/>
                  <a:pt x="3762704" y="388313"/>
                </a:cubicBezTo>
                <a:cubicBezTo>
                  <a:pt x="4004701" y="396659"/>
                  <a:pt x="4249104" y="545578"/>
                  <a:pt x="4508938" y="618472"/>
                </a:cubicBezTo>
              </a:path>
            </a:pathLst>
          </a:custGeom>
          <a:noFill/>
          <a:ln w="25400">
            <a:solidFill>
              <a:srgbClr val="7030A0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508938"/>
                      <a:gd name="connsiteY0" fmla="*/ 1055501 h 1055501"/>
                      <a:gd name="connsiteX1" fmla="*/ 609600 w 4508938"/>
                      <a:gd name="connsiteY1" fmla="*/ 918866 h 1055501"/>
                      <a:gd name="connsiteX2" fmla="*/ 1240221 w 4508938"/>
                      <a:gd name="connsiteY2" fmla="*/ 593045 h 1055501"/>
                      <a:gd name="connsiteX3" fmla="*/ 1797269 w 4508938"/>
                      <a:gd name="connsiteY3" fmla="*/ 4466 h 1055501"/>
                      <a:gd name="connsiteX4" fmla="*/ 2438400 w 4508938"/>
                      <a:gd name="connsiteY4" fmla="*/ 330287 h 1055501"/>
                      <a:gd name="connsiteX5" fmla="*/ 3026980 w 4508938"/>
                      <a:gd name="connsiteY5" fmla="*/ 477432 h 1055501"/>
                      <a:gd name="connsiteX6" fmla="*/ 3762704 w 4508938"/>
                      <a:gd name="connsiteY6" fmla="*/ 656107 h 1055501"/>
                      <a:gd name="connsiteX7" fmla="*/ 4508938 w 4508938"/>
                      <a:gd name="connsiteY7" fmla="*/ 1044990 h 10555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4508938" h="1055501">
                        <a:moveTo>
                          <a:pt x="0" y="1055501"/>
                        </a:moveTo>
                        <a:cubicBezTo>
                          <a:pt x="201448" y="1025721"/>
                          <a:pt x="402897" y="995942"/>
                          <a:pt x="609600" y="918866"/>
                        </a:cubicBezTo>
                        <a:cubicBezTo>
                          <a:pt x="816304" y="841790"/>
                          <a:pt x="1042276" y="745445"/>
                          <a:pt x="1240221" y="593045"/>
                        </a:cubicBezTo>
                        <a:cubicBezTo>
                          <a:pt x="1438166" y="440645"/>
                          <a:pt x="1597573" y="48259"/>
                          <a:pt x="1797269" y="4466"/>
                        </a:cubicBezTo>
                        <a:cubicBezTo>
                          <a:pt x="1996965" y="-39327"/>
                          <a:pt x="2233448" y="251459"/>
                          <a:pt x="2438400" y="330287"/>
                        </a:cubicBezTo>
                        <a:cubicBezTo>
                          <a:pt x="2643352" y="409115"/>
                          <a:pt x="3026980" y="477432"/>
                          <a:pt x="3026980" y="477432"/>
                        </a:cubicBezTo>
                        <a:cubicBezTo>
                          <a:pt x="3247697" y="531735"/>
                          <a:pt x="3515711" y="561514"/>
                          <a:pt x="3762704" y="656107"/>
                        </a:cubicBezTo>
                        <a:cubicBezTo>
                          <a:pt x="4009697" y="750700"/>
                          <a:pt x="4259317" y="897845"/>
                          <a:pt x="4508938" y="1044990"/>
                        </a:cubicBezTo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3DEB757-21DA-0545-893A-C4B59A2BBB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8501" y="4170008"/>
            <a:ext cx="1739900" cy="5715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3C356C7-9FE6-EB49-85D9-F7CEE67113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3010" y="4092818"/>
            <a:ext cx="1790700" cy="546100"/>
          </a:xfrm>
          <a:prstGeom prst="rect">
            <a:avLst/>
          </a:prstGeom>
        </p:spPr>
      </p:pic>
      <p:sp>
        <p:nvSpPr>
          <p:cNvPr id="23" name="Freeform 22">
            <a:extLst>
              <a:ext uri="{FF2B5EF4-FFF2-40B4-BE49-F238E27FC236}">
                <a16:creationId xmlns:a16="http://schemas.microsoft.com/office/drawing/2014/main" id="{31C1EC62-EBC2-504F-B1CE-53A45FCBAE5B}"/>
              </a:ext>
            </a:extLst>
          </p:cNvPr>
          <p:cNvSpPr/>
          <p:nvPr/>
        </p:nvSpPr>
        <p:spPr>
          <a:xfrm>
            <a:off x="2420008" y="5095125"/>
            <a:ext cx="5885793" cy="618371"/>
          </a:xfrm>
          <a:custGeom>
            <a:avLst/>
            <a:gdLst>
              <a:gd name="connsiteX0" fmla="*/ 0 w 5885793"/>
              <a:gd name="connsiteY0" fmla="*/ 985636 h 1026265"/>
              <a:gd name="connsiteX1" fmla="*/ 399393 w 5885793"/>
              <a:gd name="connsiteY1" fmla="*/ 996147 h 1026265"/>
              <a:gd name="connsiteX2" fmla="*/ 1082565 w 5885793"/>
              <a:gd name="connsiteY2" fmla="*/ 649305 h 1026265"/>
              <a:gd name="connsiteX3" fmla="*/ 1692165 w 5885793"/>
              <a:gd name="connsiteY3" fmla="*/ 481140 h 1026265"/>
              <a:gd name="connsiteX4" fmla="*/ 2228193 w 5885793"/>
              <a:gd name="connsiteY4" fmla="*/ 302464 h 1026265"/>
              <a:gd name="connsiteX5" fmla="*/ 2795752 w 5885793"/>
              <a:gd name="connsiteY5" fmla="*/ 18685 h 1026265"/>
              <a:gd name="connsiteX6" fmla="*/ 3478924 w 5885793"/>
              <a:gd name="connsiteY6" fmla="*/ 81747 h 1026265"/>
              <a:gd name="connsiteX7" fmla="*/ 4067503 w 5885793"/>
              <a:gd name="connsiteY7" fmla="*/ 523181 h 1026265"/>
              <a:gd name="connsiteX8" fmla="*/ 4687614 w 5885793"/>
              <a:gd name="connsiteY8" fmla="*/ 775430 h 1026265"/>
              <a:gd name="connsiteX9" fmla="*/ 5433848 w 5885793"/>
              <a:gd name="connsiteY9" fmla="*/ 985636 h 1026265"/>
              <a:gd name="connsiteX10" fmla="*/ 5885793 w 5885793"/>
              <a:gd name="connsiteY10" fmla="*/ 975126 h 1026265"/>
              <a:gd name="connsiteX0" fmla="*/ 0 w 5885793"/>
              <a:gd name="connsiteY0" fmla="*/ 985636 h 1002712"/>
              <a:gd name="connsiteX1" fmla="*/ 472965 w 5885793"/>
              <a:gd name="connsiteY1" fmla="*/ 922575 h 1002712"/>
              <a:gd name="connsiteX2" fmla="*/ 1082565 w 5885793"/>
              <a:gd name="connsiteY2" fmla="*/ 649305 h 1002712"/>
              <a:gd name="connsiteX3" fmla="*/ 1692165 w 5885793"/>
              <a:gd name="connsiteY3" fmla="*/ 481140 h 1002712"/>
              <a:gd name="connsiteX4" fmla="*/ 2228193 w 5885793"/>
              <a:gd name="connsiteY4" fmla="*/ 302464 h 1002712"/>
              <a:gd name="connsiteX5" fmla="*/ 2795752 w 5885793"/>
              <a:gd name="connsiteY5" fmla="*/ 18685 h 1002712"/>
              <a:gd name="connsiteX6" fmla="*/ 3478924 w 5885793"/>
              <a:gd name="connsiteY6" fmla="*/ 81747 h 1002712"/>
              <a:gd name="connsiteX7" fmla="*/ 4067503 w 5885793"/>
              <a:gd name="connsiteY7" fmla="*/ 523181 h 1002712"/>
              <a:gd name="connsiteX8" fmla="*/ 4687614 w 5885793"/>
              <a:gd name="connsiteY8" fmla="*/ 775430 h 1002712"/>
              <a:gd name="connsiteX9" fmla="*/ 5433848 w 5885793"/>
              <a:gd name="connsiteY9" fmla="*/ 985636 h 1002712"/>
              <a:gd name="connsiteX10" fmla="*/ 5885793 w 5885793"/>
              <a:gd name="connsiteY10" fmla="*/ 975126 h 1002712"/>
              <a:gd name="connsiteX0" fmla="*/ 0 w 5885793"/>
              <a:gd name="connsiteY0" fmla="*/ 985636 h 1002712"/>
              <a:gd name="connsiteX1" fmla="*/ 567559 w 5885793"/>
              <a:gd name="connsiteY1" fmla="*/ 891044 h 1002712"/>
              <a:gd name="connsiteX2" fmla="*/ 1082565 w 5885793"/>
              <a:gd name="connsiteY2" fmla="*/ 649305 h 1002712"/>
              <a:gd name="connsiteX3" fmla="*/ 1692165 w 5885793"/>
              <a:gd name="connsiteY3" fmla="*/ 481140 h 1002712"/>
              <a:gd name="connsiteX4" fmla="*/ 2228193 w 5885793"/>
              <a:gd name="connsiteY4" fmla="*/ 302464 h 1002712"/>
              <a:gd name="connsiteX5" fmla="*/ 2795752 w 5885793"/>
              <a:gd name="connsiteY5" fmla="*/ 18685 h 1002712"/>
              <a:gd name="connsiteX6" fmla="*/ 3478924 w 5885793"/>
              <a:gd name="connsiteY6" fmla="*/ 81747 h 1002712"/>
              <a:gd name="connsiteX7" fmla="*/ 4067503 w 5885793"/>
              <a:gd name="connsiteY7" fmla="*/ 523181 h 1002712"/>
              <a:gd name="connsiteX8" fmla="*/ 4687614 w 5885793"/>
              <a:gd name="connsiteY8" fmla="*/ 775430 h 1002712"/>
              <a:gd name="connsiteX9" fmla="*/ 5433848 w 5885793"/>
              <a:gd name="connsiteY9" fmla="*/ 985636 h 1002712"/>
              <a:gd name="connsiteX10" fmla="*/ 5885793 w 5885793"/>
              <a:gd name="connsiteY10" fmla="*/ 975126 h 1002712"/>
              <a:gd name="connsiteX0" fmla="*/ 0 w 5885793"/>
              <a:gd name="connsiteY0" fmla="*/ 985636 h 994101"/>
              <a:gd name="connsiteX1" fmla="*/ 567559 w 5885793"/>
              <a:gd name="connsiteY1" fmla="*/ 891044 h 994101"/>
              <a:gd name="connsiteX2" fmla="*/ 1082565 w 5885793"/>
              <a:gd name="connsiteY2" fmla="*/ 649305 h 994101"/>
              <a:gd name="connsiteX3" fmla="*/ 1692165 w 5885793"/>
              <a:gd name="connsiteY3" fmla="*/ 481140 h 994101"/>
              <a:gd name="connsiteX4" fmla="*/ 2228193 w 5885793"/>
              <a:gd name="connsiteY4" fmla="*/ 302464 h 994101"/>
              <a:gd name="connsiteX5" fmla="*/ 2795752 w 5885793"/>
              <a:gd name="connsiteY5" fmla="*/ 18685 h 994101"/>
              <a:gd name="connsiteX6" fmla="*/ 3478924 w 5885793"/>
              <a:gd name="connsiteY6" fmla="*/ 81747 h 994101"/>
              <a:gd name="connsiteX7" fmla="*/ 4067503 w 5885793"/>
              <a:gd name="connsiteY7" fmla="*/ 523181 h 994101"/>
              <a:gd name="connsiteX8" fmla="*/ 4687614 w 5885793"/>
              <a:gd name="connsiteY8" fmla="*/ 775430 h 994101"/>
              <a:gd name="connsiteX9" fmla="*/ 5349765 w 5885793"/>
              <a:gd name="connsiteY9" fmla="*/ 954105 h 994101"/>
              <a:gd name="connsiteX10" fmla="*/ 5885793 w 5885793"/>
              <a:gd name="connsiteY10" fmla="*/ 975126 h 99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885793" h="994101">
                <a:moveTo>
                  <a:pt x="0" y="985636"/>
                </a:moveTo>
                <a:cubicBezTo>
                  <a:pt x="109483" y="1018919"/>
                  <a:pt x="387132" y="947099"/>
                  <a:pt x="567559" y="891044"/>
                </a:cubicBezTo>
                <a:cubicBezTo>
                  <a:pt x="747986" y="834989"/>
                  <a:pt x="895131" y="717622"/>
                  <a:pt x="1082565" y="649305"/>
                </a:cubicBezTo>
                <a:cubicBezTo>
                  <a:pt x="1269999" y="580988"/>
                  <a:pt x="1501227" y="538947"/>
                  <a:pt x="1692165" y="481140"/>
                </a:cubicBezTo>
                <a:cubicBezTo>
                  <a:pt x="1883103" y="423333"/>
                  <a:pt x="2044262" y="379540"/>
                  <a:pt x="2228193" y="302464"/>
                </a:cubicBezTo>
                <a:cubicBezTo>
                  <a:pt x="2412124" y="225388"/>
                  <a:pt x="2587297" y="55471"/>
                  <a:pt x="2795752" y="18685"/>
                </a:cubicBezTo>
                <a:cubicBezTo>
                  <a:pt x="3004207" y="-18101"/>
                  <a:pt x="3266966" y="-2336"/>
                  <a:pt x="3478924" y="81747"/>
                </a:cubicBezTo>
                <a:cubicBezTo>
                  <a:pt x="3690882" y="165830"/>
                  <a:pt x="3866055" y="407567"/>
                  <a:pt x="4067503" y="523181"/>
                </a:cubicBezTo>
                <a:cubicBezTo>
                  <a:pt x="4268951" y="638795"/>
                  <a:pt x="4473904" y="703609"/>
                  <a:pt x="4687614" y="775430"/>
                </a:cubicBezTo>
                <a:cubicBezTo>
                  <a:pt x="4901324" y="847251"/>
                  <a:pt x="5150069" y="920822"/>
                  <a:pt x="5349765" y="954105"/>
                </a:cubicBezTo>
                <a:cubicBezTo>
                  <a:pt x="5549461" y="987388"/>
                  <a:pt x="5759668" y="997022"/>
                  <a:pt x="5885793" y="975126"/>
                </a:cubicBezTo>
              </a:path>
            </a:pathLst>
          </a:custGeom>
          <a:noFill/>
          <a:ln w="25400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2D95979-0A77-F543-9D55-6E011F09BF16}"/>
              </a:ext>
            </a:extLst>
          </p:cNvPr>
          <p:cNvCxnSpPr>
            <a:stCxn id="22" idx="2"/>
          </p:cNvCxnSpPr>
          <p:nvPr/>
        </p:nvCxnSpPr>
        <p:spPr>
          <a:xfrm flipH="1">
            <a:off x="8686800" y="4638918"/>
            <a:ext cx="791560" cy="717636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4B7F4D1-BD69-C043-9ECE-AE0959570858}"/>
              </a:ext>
            </a:extLst>
          </p:cNvPr>
          <p:cNvCxnSpPr>
            <a:cxnSpLocks/>
            <a:stCxn id="21" idx="2"/>
            <a:endCxn id="23" idx="3"/>
          </p:cNvCxnSpPr>
          <p:nvPr/>
        </p:nvCxnSpPr>
        <p:spPr>
          <a:xfrm>
            <a:off x="3538452" y="4741509"/>
            <a:ext cx="573721" cy="652905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538988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1676400" y="1143000"/>
            <a:ext cx="3321743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PDF: Probability Density Function</a:t>
            </a:r>
          </a:p>
          <a:p>
            <a:pPr algn="l"/>
            <a:endParaRPr lang="es-CL" dirty="0">
              <a:latin typeface="Gill Sans MT" panose="020B0502020104020203" pitchFamily="34" charset="77"/>
            </a:endParaRPr>
          </a:p>
          <a:p>
            <a:pPr algn="l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48" name="Line 4"/>
          <p:cNvSpPr>
            <a:spLocks noChangeShapeType="1"/>
          </p:cNvSpPr>
          <p:nvPr/>
        </p:nvSpPr>
        <p:spPr bwMode="auto">
          <a:xfrm>
            <a:off x="1524000" y="6096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0" name="Line 58"/>
          <p:cNvSpPr>
            <a:spLocks noChangeShapeType="1"/>
          </p:cNvSpPr>
          <p:nvPr/>
        </p:nvSpPr>
        <p:spPr bwMode="auto">
          <a:xfrm>
            <a:off x="1981200" y="5714995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FC91832-23C3-1145-A808-29886E86AF4E}"/>
              </a:ext>
            </a:extLst>
          </p:cNvPr>
          <p:cNvGrpSpPr/>
          <p:nvPr/>
        </p:nvGrpSpPr>
        <p:grpSpPr>
          <a:xfrm>
            <a:off x="2286000" y="3929114"/>
            <a:ext cx="7315200" cy="2090681"/>
            <a:chOff x="762000" y="1752600"/>
            <a:chExt cx="7315200" cy="4267200"/>
          </a:xfrm>
        </p:grpSpPr>
        <p:sp>
          <p:nvSpPr>
            <p:cNvPr id="6149" name="Line 57"/>
            <p:cNvSpPr>
              <a:spLocks noChangeShapeType="1"/>
            </p:cNvSpPr>
            <p:nvPr/>
          </p:nvSpPr>
          <p:spPr bwMode="auto">
            <a:xfrm>
              <a:off x="762000" y="1752600"/>
              <a:ext cx="0" cy="419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156" name="Line 64"/>
            <p:cNvSpPr>
              <a:spLocks noChangeShapeType="1"/>
            </p:cNvSpPr>
            <p:nvPr/>
          </p:nvSpPr>
          <p:spPr bwMode="auto">
            <a:xfrm>
              <a:off x="19812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157" name="Line 65"/>
            <p:cNvSpPr>
              <a:spLocks noChangeShapeType="1"/>
            </p:cNvSpPr>
            <p:nvPr/>
          </p:nvSpPr>
          <p:spPr bwMode="auto">
            <a:xfrm>
              <a:off x="31242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158" name="Line 66"/>
            <p:cNvSpPr>
              <a:spLocks noChangeShapeType="1"/>
            </p:cNvSpPr>
            <p:nvPr/>
          </p:nvSpPr>
          <p:spPr bwMode="auto">
            <a:xfrm>
              <a:off x="43434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159" name="Line 67"/>
            <p:cNvSpPr>
              <a:spLocks noChangeShapeType="1"/>
            </p:cNvSpPr>
            <p:nvPr/>
          </p:nvSpPr>
          <p:spPr bwMode="auto">
            <a:xfrm>
              <a:off x="55626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160" name="Line 68"/>
            <p:cNvSpPr>
              <a:spLocks noChangeShapeType="1"/>
            </p:cNvSpPr>
            <p:nvPr/>
          </p:nvSpPr>
          <p:spPr bwMode="auto">
            <a:xfrm>
              <a:off x="67818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161" name="Line 69"/>
            <p:cNvSpPr>
              <a:spLocks noChangeShapeType="1"/>
            </p:cNvSpPr>
            <p:nvPr/>
          </p:nvSpPr>
          <p:spPr bwMode="auto">
            <a:xfrm>
              <a:off x="80772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6162" name="Text Box 71"/>
          <p:cNvSpPr txBox="1">
            <a:spLocks noChangeArrowheads="1"/>
          </p:cNvSpPr>
          <p:nvPr/>
        </p:nvSpPr>
        <p:spPr bwMode="auto">
          <a:xfrm>
            <a:off x="1981201" y="6019795"/>
            <a:ext cx="760977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8.000        10.000       12.000       14.000         16.000         18.000         20.000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3" name="Text Box 2">
            <a:extLst>
              <a:ext uri="{FF2B5EF4-FFF2-40B4-BE49-F238E27FC236}">
                <a16:creationId xmlns:a16="http://schemas.microsoft.com/office/drawing/2014/main" id="{B631265C-3D24-DC47-B63F-A205E44EAF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1" y="152400"/>
            <a:ext cx="240097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Mandarinas vs. Naranjas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5F293E1E-1811-E548-A28A-ADE6C5F5C0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041" y="5867396"/>
            <a:ext cx="165100" cy="139700"/>
          </a:xfrm>
          <a:prstGeom prst="rect">
            <a:avLst/>
          </a:prstGeom>
        </p:spPr>
      </p:pic>
      <p:sp>
        <p:nvSpPr>
          <p:cNvPr id="20" name="Freeform 19">
            <a:extLst>
              <a:ext uri="{FF2B5EF4-FFF2-40B4-BE49-F238E27FC236}">
                <a16:creationId xmlns:a16="http://schemas.microsoft.com/office/drawing/2014/main" id="{E00B5BF3-C28C-6A42-BB86-B668084729A4}"/>
              </a:ext>
            </a:extLst>
          </p:cNvPr>
          <p:cNvSpPr/>
          <p:nvPr/>
        </p:nvSpPr>
        <p:spPr>
          <a:xfrm>
            <a:off x="5864772" y="5082426"/>
            <a:ext cx="4508938" cy="624693"/>
          </a:xfrm>
          <a:custGeom>
            <a:avLst/>
            <a:gdLst>
              <a:gd name="csX0" fmla="*/ 0 w 4508938"/>
              <a:gd name="csY0" fmla="*/ 624693 h 624693"/>
              <a:gd name="csX1" fmla="*/ 609600 w 4508938"/>
              <a:gd name="csY1" fmla="*/ 543826 h 624693"/>
              <a:gd name="csX2" fmla="*/ 1240221 w 4508938"/>
              <a:gd name="csY2" fmla="*/ 350990 h 624693"/>
              <a:gd name="csX3" fmla="*/ 1797269 w 4508938"/>
              <a:gd name="csY3" fmla="*/ 2643 h 624693"/>
              <a:gd name="csX4" fmla="*/ 2438400 w 4508938"/>
              <a:gd name="csY4" fmla="*/ 195478 h 624693"/>
              <a:gd name="csX5" fmla="*/ 3026980 w 4508938"/>
              <a:gd name="csY5" fmla="*/ 282565 h 624693"/>
              <a:gd name="csX6" fmla="*/ 3762704 w 4508938"/>
              <a:gd name="csY6" fmla="*/ 388313 h 624693"/>
              <a:gd name="csX7" fmla="*/ 4508938 w 4508938"/>
              <a:gd name="csY7" fmla="*/ 618472 h 6246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508938" h="624693" extrusionOk="0">
                <a:moveTo>
                  <a:pt x="0" y="624693"/>
                </a:moveTo>
                <a:cubicBezTo>
                  <a:pt x="163220" y="583487"/>
                  <a:pt x="380965" y="597674"/>
                  <a:pt x="609600" y="543826"/>
                </a:cubicBezTo>
                <a:cubicBezTo>
                  <a:pt x="827055" y="500472"/>
                  <a:pt x="1018504" y="441943"/>
                  <a:pt x="1240221" y="350990"/>
                </a:cubicBezTo>
                <a:cubicBezTo>
                  <a:pt x="1409054" y="289223"/>
                  <a:pt x="1596087" y="36772"/>
                  <a:pt x="1797269" y="2643"/>
                </a:cubicBezTo>
                <a:cubicBezTo>
                  <a:pt x="1972546" y="-36636"/>
                  <a:pt x="2252100" y="157736"/>
                  <a:pt x="2438400" y="195478"/>
                </a:cubicBezTo>
                <a:cubicBezTo>
                  <a:pt x="2643353" y="242132"/>
                  <a:pt x="3026980" y="282564"/>
                  <a:pt x="3026980" y="282565"/>
                </a:cubicBezTo>
                <a:cubicBezTo>
                  <a:pt x="3239670" y="313475"/>
                  <a:pt x="3499596" y="347502"/>
                  <a:pt x="3762704" y="388313"/>
                </a:cubicBezTo>
                <a:cubicBezTo>
                  <a:pt x="4004701" y="396659"/>
                  <a:pt x="4249104" y="545578"/>
                  <a:pt x="4508938" y="618472"/>
                </a:cubicBezTo>
              </a:path>
            </a:pathLst>
          </a:custGeom>
          <a:noFill/>
          <a:ln w="25400">
            <a:solidFill>
              <a:srgbClr val="7030A0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508938"/>
                      <a:gd name="connsiteY0" fmla="*/ 1055501 h 1055501"/>
                      <a:gd name="connsiteX1" fmla="*/ 609600 w 4508938"/>
                      <a:gd name="connsiteY1" fmla="*/ 918866 h 1055501"/>
                      <a:gd name="connsiteX2" fmla="*/ 1240221 w 4508938"/>
                      <a:gd name="connsiteY2" fmla="*/ 593045 h 1055501"/>
                      <a:gd name="connsiteX3" fmla="*/ 1797269 w 4508938"/>
                      <a:gd name="connsiteY3" fmla="*/ 4466 h 1055501"/>
                      <a:gd name="connsiteX4" fmla="*/ 2438400 w 4508938"/>
                      <a:gd name="connsiteY4" fmla="*/ 330287 h 1055501"/>
                      <a:gd name="connsiteX5" fmla="*/ 3026980 w 4508938"/>
                      <a:gd name="connsiteY5" fmla="*/ 477432 h 1055501"/>
                      <a:gd name="connsiteX6" fmla="*/ 3762704 w 4508938"/>
                      <a:gd name="connsiteY6" fmla="*/ 656107 h 1055501"/>
                      <a:gd name="connsiteX7" fmla="*/ 4508938 w 4508938"/>
                      <a:gd name="connsiteY7" fmla="*/ 1044990 h 10555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4508938" h="1055501">
                        <a:moveTo>
                          <a:pt x="0" y="1055501"/>
                        </a:moveTo>
                        <a:cubicBezTo>
                          <a:pt x="201448" y="1025721"/>
                          <a:pt x="402897" y="995942"/>
                          <a:pt x="609600" y="918866"/>
                        </a:cubicBezTo>
                        <a:cubicBezTo>
                          <a:pt x="816304" y="841790"/>
                          <a:pt x="1042276" y="745445"/>
                          <a:pt x="1240221" y="593045"/>
                        </a:cubicBezTo>
                        <a:cubicBezTo>
                          <a:pt x="1438166" y="440645"/>
                          <a:pt x="1597573" y="48259"/>
                          <a:pt x="1797269" y="4466"/>
                        </a:cubicBezTo>
                        <a:cubicBezTo>
                          <a:pt x="1996965" y="-39327"/>
                          <a:pt x="2233448" y="251459"/>
                          <a:pt x="2438400" y="330287"/>
                        </a:cubicBezTo>
                        <a:cubicBezTo>
                          <a:pt x="2643352" y="409115"/>
                          <a:pt x="3026980" y="477432"/>
                          <a:pt x="3026980" y="477432"/>
                        </a:cubicBezTo>
                        <a:cubicBezTo>
                          <a:pt x="3247697" y="531735"/>
                          <a:pt x="3515711" y="561514"/>
                          <a:pt x="3762704" y="656107"/>
                        </a:cubicBezTo>
                        <a:cubicBezTo>
                          <a:pt x="4009697" y="750700"/>
                          <a:pt x="4259317" y="897845"/>
                          <a:pt x="4508938" y="1044990"/>
                        </a:cubicBezTo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3DEB757-21DA-0545-893A-C4B59A2BBB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8501" y="4170008"/>
            <a:ext cx="1739900" cy="5715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3C356C7-9FE6-EB49-85D9-F7CEE67113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3010" y="4092818"/>
            <a:ext cx="1790700" cy="546100"/>
          </a:xfrm>
          <a:prstGeom prst="rect">
            <a:avLst/>
          </a:prstGeom>
        </p:spPr>
      </p:pic>
      <p:sp>
        <p:nvSpPr>
          <p:cNvPr id="23" name="Freeform 22">
            <a:extLst>
              <a:ext uri="{FF2B5EF4-FFF2-40B4-BE49-F238E27FC236}">
                <a16:creationId xmlns:a16="http://schemas.microsoft.com/office/drawing/2014/main" id="{31C1EC62-EBC2-504F-B1CE-53A45FCBAE5B}"/>
              </a:ext>
            </a:extLst>
          </p:cNvPr>
          <p:cNvSpPr/>
          <p:nvPr/>
        </p:nvSpPr>
        <p:spPr>
          <a:xfrm>
            <a:off x="2420008" y="5095125"/>
            <a:ext cx="5885793" cy="618371"/>
          </a:xfrm>
          <a:custGeom>
            <a:avLst/>
            <a:gdLst>
              <a:gd name="connsiteX0" fmla="*/ 0 w 5885793"/>
              <a:gd name="connsiteY0" fmla="*/ 985636 h 1026265"/>
              <a:gd name="connsiteX1" fmla="*/ 399393 w 5885793"/>
              <a:gd name="connsiteY1" fmla="*/ 996147 h 1026265"/>
              <a:gd name="connsiteX2" fmla="*/ 1082565 w 5885793"/>
              <a:gd name="connsiteY2" fmla="*/ 649305 h 1026265"/>
              <a:gd name="connsiteX3" fmla="*/ 1692165 w 5885793"/>
              <a:gd name="connsiteY3" fmla="*/ 481140 h 1026265"/>
              <a:gd name="connsiteX4" fmla="*/ 2228193 w 5885793"/>
              <a:gd name="connsiteY4" fmla="*/ 302464 h 1026265"/>
              <a:gd name="connsiteX5" fmla="*/ 2795752 w 5885793"/>
              <a:gd name="connsiteY5" fmla="*/ 18685 h 1026265"/>
              <a:gd name="connsiteX6" fmla="*/ 3478924 w 5885793"/>
              <a:gd name="connsiteY6" fmla="*/ 81747 h 1026265"/>
              <a:gd name="connsiteX7" fmla="*/ 4067503 w 5885793"/>
              <a:gd name="connsiteY7" fmla="*/ 523181 h 1026265"/>
              <a:gd name="connsiteX8" fmla="*/ 4687614 w 5885793"/>
              <a:gd name="connsiteY8" fmla="*/ 775430 h 1026265"/>
              <a:gd name="connsiteX9" fmla="*/ 5433848 w 5885793"/>
              <a:gd name="connsiteY9" fmla="*/ 985636 h 1026265"/>
              <a:gd name="connsiteX10" fmla="*/ 5885793 w 5885793"/>
              <a:gd name="connsiteY10" fmla="*/ 975126 h 1026265"/>
              <a:gd name="connsiteX0" fmla="*/ 0 w 5885793"/>
              <a:gd name="connsiteY0" fmla="*/ 985636 h 1002712"/>
              <a:gd name="connsiteX1" fmla="*/ 472965 w 5885793"/>
              <a:gd name="connsiteY1" fmla="*/ 922575 h 1002712"/>
              <a:gd name="connsiteX2" fmla="*/ 1082565 w 5885793"/>
              <a:gd name="connsiteY2" fmla="*/ 649305 h 1002712"/>
              <a:gd name="connsiteX3" fmla="*/ 1692165 w 5885793"/>
              <a:gd name="connsiteY3" fmla="*/ 481140 h 1002712"/>
              <a:gd name="connsiteX4" fmla="*/ 2228193 w 5885793"/>
              <a:gd name="connsiteY4" fmla="*/ 302464 h 1002712"/>
              <a:gd name="connsiteX5" fmla="*/ 2795752 w 5885793"/>
              <a:gd name="connsiteY5" fmla="*/ 18685 h 1002712"/>
              <a:gd name="connsiteX6" fmla="*/ 3478924 w 5885793"/>
              <a:gd name="connsiteY6" fmla="*/ 81747 h 1002712"/>
              <a:gd name="connsiteX7" fmla="*/ 4067503 w 5885793"/>
              <a:gd name="connsiteY7" fmla="*/ 523181 h 1002712"/>
              <a:gd name="connsiteX8" fmla="*/ 4687614 w 5885793"/>
              <a:gd name="connsiteY8" fmla="*/ 775430 h 1002712"/>
              <a:gd name="connsiteX9" fmla="*/ 5433848 w 5885793"/>
              <a:gd name="connsiteY9" fmla="*/ 985636 h 1002712"/>
              <a:gd name="connsiteX10" fmla="*/ 5885793 w 5885793"/>
              <a:gd name="connsiteY10" fmla="*/ 975126 h 1002712"/>
              <a:gd name="connsiteX0" fmla="*/ 0 w 5885793"/>
              <a:gd name="connsiteY0" fmla="*/ 985636 h 1002712"/>
              <a:gd name="connsiteX1" fmla="*/ 567559 w 5885793"/>
              <a:gd name="connsiteY1" fmla="*/ 891044 h 1002712"/>
              <a:gd name="connsiteX2" fmla="*/ 1082565 w 5885793"/>
              <a:gd name="connsiteY2" fmla="*/ 649305 h 1002712"/>
              <a:gd name="connsiteX3" fmla="*/ 1692165 w 5885793"/>
              <a:gd name="connsiteY3" fmla="*/ 481140 h 1002712"/>
              <a:gd name="connsiteX4" fmla="*/ 2228193 w 5885793"/>
              <a:gd name="connsiteY4" fmla="*/ 302464 h 1002712"/>
              <a:gd name="connsiteX5" fmla="*/ 2795752 w 5885793"/>
              <a:gd name="connsiteY5" fmla="*/ 18685 h 1002712"/>
              <a:gd name="connsiteX6" fmla="*/ 3478924 w 5885793"/>
              <a:gd name="connsiteY6" fmla="*/ 81747 h 1002712"/>
              <a:gd name="connsiteX7" fmla="*/ 4067503 w 5885793"/>
              <a:gd name="connsiteY7" fmla="*/ 523181 h 1002712"/>
              <a:gd name="connsiteX8" fmla="*/ 4687614 w 5885793"/>
              <a:gd name="connsiteY8" fmla="*/ 775430 h 1002712"/>
              <a:gd name="connsiteX9" fmla="*/ 5433848 w 5885793"/>
              <a:gd name="connsiteY9" fmla="*/ 985636 h 1002712"/>
              <a:gd name="connsiteX10" fmla="*/ 5885793 w 5885793"/>
              <a:gd name="connsiteY10" fmla="*/ 975126 h 1002712"/>
              <a:gd name="connsiteX0" fmla="*/ 0 w 5885793"/>
              <a:gd name="connsiteY0" fmla="*/ 985636 h 994101"/>
              <a:gd name="connsiteX1" fmla="*/ 567559 w 5885793"/>
              <a:gd name="connsiteY1" fmla="*/ 891044 h 994101"/>
              <a:gd name="connsiteX2" fmla="*/ 1082565 w 5885793"/>
              <a:gd name="connsiteY2" fmla="*/ 649305 h 994101"/>
              <a:gd name="connsiteX3" fmla="*/ 1692165 w 5885793"/>
              <a:gd name="connsiteY3" fmla="*/ 481140 h 994101"/>
              <a:gd name="connsiteX4" fmla="*/ 2228193 w 5885793"/>
              <a:gd name="connsiteY4" fmla="*/ 302464 h 994101"/>
              <a:gd name="connsiteX5" fmla="*/ 2795752 w 5885793"/>
              <a:gd name="connsiteY5" fmla="*/ 18685 h 994101"/>
              <a:gd name="connsiteX6" fmla="*/ 3478924 w 5885793"/>
              <a:gd name="connsiteY6" fmla="*/ 81747 h 994101"/>
              <a:gd name="connsiteX7" fmla="*/ 4067503 w 5885793"/>
              <a:gd name="connsiteY7" fmla="*/ 523181 h 994101"/>
              <a:gd name="connsiteX8" fmla="*/ 4687614 w 5885793"/>
              <a:gd name="connsiteY8" fmla="*/ 775430 h 994101"/>
              <a:gd name="connsiteX9" fmla="*/ 5349765 w 5885793"/>
              <a:gd name="connsiteY9" fmla="*/ 954105 h 994101"/>
              <a:gd name="connsiteX10" fmla="*/ 5885793 w 5885793"/>
              <a:gd name="connsiteY10" fmla="*/ 975126 h 99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885793" h="994101">
                <a:moveTo>
                  <a:pt x="0" y="985636"/>
                </a:moveTo>
                <a:cubicBezTo>
                  <a:pt x="109483" y="1018919"/>
                  <a:pt x="387132" y="947099"/>
                  <a:pt x="567559" y="891044"/>
                </a:cubicBezTo>
                <a:cubicBezTo>
                  <a:pt x="747986" y="834989"/>
                  <a:pt x="895131" y="717622"/>
                  <a:pt x="1082565" y="649305"/>
                </a:cubicBezTo>
                <a:cubicBezTo>
                  <a:pt x="1269999" y="580988"/>
                  <a:pt x="1501227" y="538947"/>
                  <a:pt x="1692165" y="481140"/>
                </a:cubicBezTo>
                <a:cubicBezTo>
                  <a:pt x="1883103" y="423333"/>
                  <a:pt x="2044262" y="379540"/>
                  <a:pt x="2228193" y="302464"/>
                </a:cubicBezTo>
                <a:cubicBezTo>
                  <a:pt x="2412124" y="225388"/>
                  <a:pt x="2587297" y="55471"/>
                  <a:pt x="2795752" y="18685"/>
                </a:cubicBezTo>
                <a:cubicBezTo>
                  <a:pt x="3004207" y="-18101"/>
                  <a:pt x="3266966" y="-2336"/>
                  <a:pt x="3478924" y="81747"/>
                </a:cubicBezTo>
                <a:cubicBezTo>
                  <a:pt x="3690882" y="165830"/>
                  <a:pt x="3866055" y="407567"/>
                  <a:pt x="4067503" y="523181"/>
                </a:cubicBezTo>
                <a:cubicBezTo>
                  <a:pt x="4268951" y="638795"/>
                  <a:pt x="4473904" y="703609"/>
                  <a:pt x="4687614" y="775430"/>
                </a:cubicBezTo>
                <a:cubicBezTo>
                  <a:pt x="4901324" y="847251"/>
                  <a:pt x="5150069" y="920822"/>
                  <a:pt x="5349765" y="954105"/>
                </a:cubicBezTo>
                <a:cubicBezTo>
                  <a:pt x="5549461" y="987388"/>
                  <a:pt x="5759668" y="997022"/>
                  <a:pt x="5885793" y="975126"/>
                </a:cubicBezTo>
              </a:path>
            </a:pathLst>
          </a:custGeom>
          <a:noFill/>
          <a:ln w="25400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2D95979-0A77-F543-9D55-6E011F09BF16}"/>
              </a:ext>
            </a:extLst>
          </p:cNvPr>
          <p:cNvCxnSpPr>
            <a:stCxn id="22" idx="2"/>
          </p:cNvCxnSpPr>
          <p:nvPr/>
        </p:nvCxnSpPr>
        <p:spPr>
          <a:xfrm flipH="1">
            <a:off x="8686800" y="4638918"/>
            <a:ext cx="791560" cy="717636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4B7F4D1-BD69-C043-9ECE-AE0959570858}"/>
              </a:ext>
            </a:extLst>
          </p:cNvPr>
          <p:cNvCxnSpPr>
            <a:cxnSpLocks/>
            <a:stCxn id="21" idx="2"/>
            <a:endCxn id="23" idx="3"/>
          </p:cNvCxnSpPr>
          <p:nvPr/>
        </p:nvCxnSpPr>
        <p:spPr>
          <a:xfrm>
            <a:off x="3538452" y="4741509"/>
            <a:ext cx="573721" cy="652905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D775760-152D-F640-BCEB-66F42A506D43}"/>
              </a:ext>
            </a:extLst>
          </p:cNvPr>
          <p:cNvCxnSpPr>
            <a:cxnSpLocks/>
          </p:cNvCxnSpPr>
          <p:nvPr/>
        </p:nvCxnSpPr>
        <p:spPr>
          <a:xfrm>
            <a:off x="6863253" y="3331773"/>
            <a:ext cx="0" cy="2409502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8C788C4-2BAF-9E43-802E-7CE7E3A516FD}"/>
              </a:ext>
            </a:extLst>
          </p:cNvPr>
          <p:cNvCxnSpPr/>
          <p:nvPr/>
        </p:nvCxnSpPr>
        <p:spPr>
          <a:xfrm>
            <a:off x="6253653" y="4966809"/>
            <a:ext cx="1219200" cy="0"/>
          </a:xfrm>
          <a:prstGeom prst="straightConnector1">
            <a:avLst/>
          </a:prstGeom>
          <a:ln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Picture 27">
            <a:extLst>
              <a:ext uri="{FF2B5EF4-FFF2-40B4-BE49-F238E27FC236}">
                <a16:creationId xmlns:a16="http://schemas.microsoft.com/office/drawing/2014/main" id="{7E8A08B6-4EC4-0246-85BF-3FA59180B6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1653" y="2874872"/>
            <a:ext cx="203200" cy="34290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95764C94-93B2-DC44-A310-7CCB0CDFF0CD}"/>
              </a:ext>
            </a:extLst>
          </p:cNvPr>
          <p:cNvSpPr txBox="1"/>
          <p:nvPr/>
        </p:nvSpPr>
        <p:spPr>
          <a:xfrm>
            <a:off x="6986094" y="3362662"/>
            <a:ext cx="1003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Naranjas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A415710-BFE9-0F4E-AAB4-272BB86860B6}"/>
              </a:ext>
            </a:extLst>
          </p:cNvPr>
          <p:cNvSpPr txBox="1"/>
          <p:nvPr/>
        </p:nvSpPr>
        <p:spPr>
          <a:xfrm>
            <a:off x="5371630" y="3378481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Mandarinas</a:t>
            </a:r>
            <a:endParaRPr lang="en-US" dirty="0"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593064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10B49-95C1-D64A-8867-BB43F1687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Gill Sans MT" panose="020B0502020104020203" pitchFamily="34" charset="77"/>
              </a:rPr>
              <a:t>Clasificación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según</a:t>
            </a:r>
            <a:r>
              <a:rPr lang="en-US" dirty="0">
                <a:latin typeface="Gill Sans MT" panose="020B0502020104020203" pitchFamily="34" charset="77"/>
              </a:rPr>
              <a:t> Bayes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EB39AE-CD5B-3D4A-A27A-29C389BB3999}"/>
              </a:ext>
            </a:extLst>
          </p:cNvPr>
          <p:cNvSpPr txBox="1"/>
          <p:nvPr/>
        </p:nvSpPr>
        <p:spPr>
          <a:xfrm>
            <a:off x="2820935" y="3752297"/>
            <a:ext cx="1572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ALGORITMO: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C3E527-25E5-1542-BD1F-814AD7A118F5}"/>
              </a:ext>
            </a:extLst>
          </p:cNvPr>
          <p:cNvSpPr txBox="1"/>
          <p:nvPr/>
        </p:nvSpPr>
        <p:spPr>
          <a:xfrm>
            <a:off x="6023303" y="4285275"/>
            <a:ext cx="2233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→           (mandarina)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95E96B-1E3B-834C-96D2-2ACA6A19D53E}"/>
              </a:ext>
            </a:extLst>
          </p:cNvPr>
          <p:cNvSpPr txBox="1"/>
          <p:nvPr/>
        </p:nvSpPr>
        <p:spPr>
          <a:xfrm>
            <a:off x="6054832" y="4835879"/>
            <a:ext cx="1947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→           (</a:t>
            </a:r>
            <a:r>
              <a:rPr lang="en-US" dirty="0" err="1">
                <a:latin typeface="Gill Sans MT" panose="020B0502020104020203" pitchFamily="34" charset="77"/>
              </a:rPr>
              <a:t>naranja</a:t>
            </a:r>
            <a:r>
              <a:rPr lang="en-US" dirty="0">
                <a:latin typeface="Gill Sans MT" panose="020B0502020104020203" pitchFamily="34" charset="77"/>
              </a:rPr>
              <a:t>)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85910BC-8E6A-9B4C-8517-01433058FD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845" y="4415387"/>
            <a:ext cx="304800" cy="1905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29C4487-D00C-4041-86FA-2E4EE5642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4588" y="4965618"/>
            <a:ext cx="304800" cy="1905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388E2A0-3872-8146-A7FA-E87C3B278CC0}"/>
              </a:ext>
            </a:extLst>
          </p:cNvPr>
          <p:cNvSpPr txBox="1"/>
          <p:nvPr/>
        </p:nvSpPr>
        <p:spPr>
          <a:xfrm>
            <a:off x="5467025" y="4874933"/>
            <a:ext cx="545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else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9F1F9EC-375E-E84C-971C-6862436CCEEA}"/>
              </a:ext>
            </a:extLst>
          </p:cNvPr>
          <p:cNvSpPr/>
          <p:nvPr/>
        </p:nvSpPr>
        <p:spPr>
          <a:xfrm>
            <a:off x="2801883" y="3694334"/>
            <a:ext cx="6588235" cy="2110004"/>
          </a:xfrm>
          <a:prstGeom prst="roundRect">
            <a:avLst>
              <a:gd name="adj" fmla="val 7294"/>
            </a:avLst>
          </a:prstGeom>
          <a:noFill/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3749AB2-9793-BF4E-9C9C-21187B8891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4357" y="4349309"/>
            <a:ext cx="3078946" cy="256579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80F972F2-8048-6442-8A46-D78E38AB20A3}"/>
              </a:ext>
            </a:extLst>
          </p:cNvPr>
          <p:cNvGrpSpPr/>
          <p:nvPr/>
        </p:nvGrpSpPr>
        <p:grpSpPr>
          <a:xfrm>
            <a:off x="3622566" y="1318997"/>
            <a:ext cx="4946869" cy="1794187"/>
            <a:chOff x="3124200" y="4451038"/>
            <a:chExt cx="4946869" cy="1794187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181C026-D6F6-2B4E-8D59-71A4D07581C3}"/>
                </a:ext>
              </a:extLst>
            </p:cNvPr>
            <p:cNvSpPr txBox="1"/>
            <p:nvPr/>
          </p:nvSpPr>
          <p:spPr>
            <a:xfrm>
              <a:off x="3143253" y="4509001"/>
              <a:ext cx="15728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ALGORITMO:</a:t>
              </a:r>
            </a:p>
          </p:txBody>
        </p: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82E1B65C-60B8-FA44-8F28-E90799668BB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244411" y="5062999"/>
              <a:ext cx="2349500" cy="317500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C3F8935-67F3-5C42-BD96-103126DE992F}"/>
                </a:ext>
              </a:extLst>
            </p:cNvPr>
            <p:cNvSpPr txBox="1"/>
            <p:nvPr/>
          </p:nvSpPr>
          <p:spPr>
            <a:xfrm>
              <a:off x="5672961" y="5041979"/>
              <a:ext cx="2233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→           (mandarina)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0160D04-F59B-104B-96F5-429CAD0FB03F}"/>
                </a:ext>
              </a:extLst>
            </p:cNvPr>
            <p:cNvSpPr txBox="1"/>
            <p:nvPr/>
          </p:nvSpPr>
          <p:spPr>
            <a:xfrm>
              <a:off x="5704490" y="5592583"/>
              <a:ext cx="19479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→           (</a:t>
              </a:r>
              <a:r>
                <a:rPr lang="en-US" dirty="0" err="1">
                  <a:latin typeface="Gill Sans MT" panose="020B0502020104020203" pitchFamily="34" charset="77"/>
                </a:rPr>
                <a:t>naranja</a:t>
              </a:r>
              <a:r>
                <a:rPr lang="en-US" dirty="0">
                  <a:latin typeface="Gill Sans MT" panose="020B0502020104020203" pitchFamily="34" charset="77"/>
                </a:rPr>
                <a:t>)</a:t>
              </a:r>
            </a:p>
          </p:txBody>
        </p: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FB2FED1B-D507-E545-A9E2-F884878616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19503" y="5172091"/>
              <a:ext cx="304800" cy="190500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26E40D46-2C1E-6C49-971F-0D38B49835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14246" y="5722322"/>
              <a:ext cx="304800" cy="190500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4AA5B57-39A4-8F45-BC47-F80DF3289F98}"/>
                </a:ext>
              </a:extLst>
            </p:cNvPr>
            <p:cNvSpPr txBox="1"/>
            <p:nvPr/>
          </p:nvSpPr>
          <p:spPr>
            <a:xfrm>
              <a:off x="5043109" y="5652657"/>
              <a:ext cx="5453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else</a:t>
              </a:r>
            </a:p>
          </p:txBody>
        </p:sp>
        <p:sp>
          <p:nvSpPr>
            <p:cNvPr id="38" name="Rounded Rectangle 37">
              <a:extLst>
                <a:ext uri="{FF2B5EF4-FFF2-40B4-BE49-F238E27FC236}">
                  <a16:creationId xmlns:a16="http://schemas.microsoft.com/office/drawing/2014/main" id="{9DEFC0CD-84BE-A54B-BDB5-61551CA8EB51}"/>
                </a:ext>
              </a:extLst>
            </p:cNvPr>
            <p:cNvSpPr/>
            <p:nvPr/>
          </p:nvSpPr>
          <p:spPr>
            <a:xfrm>
              <a:off x="3124200" y="4451038"/>
              <a:ext cx="4946869" cy="1794187"/>
            </a:xfrm>
            <a:prstGeom prst="roundRect">
              <a:avLst>
                <a:gd name="adj" fmla="val 7294"/>
              </a:avLst>
            </a:prstGeom>
            <a:noFill/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599BBC0E-31D7-D149-A175-BF4A4CA07F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4669" y="4295785"/>
            <a:ext cx="961836" cy="320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097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2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2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1676400" y="1143000"/>
            <a:ext cx="3321743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PDF: Probability Density Function</a:t>
            </a:r>
          </a:p>
          <a:p>
            <a:pPr algn="l"/>
            <a:endParaRPr lang="es-CL" dirty="0">
              <a:latin typeface="Gill Sans MT" panose="020B0502020104020203" pitchFamily="34" charset="77"/>
            </a:endParaRPr>
          </a:p>
          <a:p>
            <a:pPr algn="l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48" name="Line 4"/>
          <p:cNvSpPr>
            <a:spLocks noChangeShapeType="1"/>
          </p:cNvSpPr>
          <p:nvPr/>
        </p:nvSpPr>
        <p:spPr bwMode="auto">
          <a:xfrm>
            <a:off x="1524000" y="6096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150" name="Line 58"/>
          <p:cNvSpPr>
            <a:spLocks noChangeShapeType="1"/>
          </p:cNvSpPr>
          <p:nvPr/>
        </p:nvSpPr>
        <p:spPr bwMode="auto">
          <a:xfrm>
            <a:off x="1981200" y="4012329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FC91832-23C3-1145-A808-29886E86AF4E}"/>
              </a:ext>
            </a:extLst>
          </p:cNvPr>
          <p:cNvGrpSpPr/>
          <p:nvPr/>
        </p:nvGrpSpPr>
        <p:grpSpPr>
          <a:xfrm>
            <a:off x="2286000" y="2226448"/>
            <a:ext cx="7315200" cy="2090681"/>
            <a:chOff x="762000" y="1752600"/>
            <a:chExt cx="7315200" cy="4267200"/>
          </a:xfrm>
        </p:grpSpPr>
        <p:sp>
          <p:nvSpPr>
            <p:cNvPr id="6149" name="Line 57"/>
            <p:cNvSpPr>
              <a:spLocks noChangeShapeType="1"/>
            </p:cNvSpPr>
            <p:nvPr/>
          </p:nvSpPr>
          <p:spPr bwMode="auto">
            <a:xfrm>
              <a:off x="762000" y="1752600"/>
              <a:ext cx="0" cy="419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156" name="Line 64"/>
            <p:cNvSpPr>
              <a:spLocks noChangeShapeType="1"/>
            </p:cNvSpPr>
            <p:nvPr/>
          </p:nvSpPr>
          <p:spPr bwMode="auto">
            <a:xfrm>
              <a:off x="19812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157" name="Line 65"/>
            <p:cNvSpPr>
              <a:spLocks noChangeShapeType="1"/>
            </p:cNvSpPr>
            <p:nvPr/>
          </p:nvSpPr>
          <p:spPr bwMode="auto">
            <a:xfrm>
              <a:off x="31242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158" name="Line 66"/>
            <p:cNvSpPr>
              <a:spLocks noChangeShapeType="1"/>
            </p:cNvSpPr>
            <p:nvPr/>
          </p:nvSpPr>
          <p:spPr bwMode="auto">
            <a:xfrm>
              <a:off x="43434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159" name="Line 67"/>
            <p:cNvSpPr>
              <a:spLocks noChangeShapeType="1"/>
            </p:cNvSpPr>
            <p:nvPr/>
          </p:nvSpPr>
          <p:spPr bwMode="auto">
            <a:xfrm>
              <a:off x="55626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160" name="Line 68"/>
            <p:cNvSpPr>
              <a:spLocks noChangeShapeType="1"/>
            </p:cNvSpPr>
            <p:nvPr/>
          </p:nvSpPr>
          <p:spPr bwMode="auto">
            <a:xfrm>
              <a:off x="67818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161" name="Line 69"/>
            <p:cNvSpPr>
              <a:spLocks noChangeShapeType="1"/>
            </p:cNvSpPr>
            <p:nvPr/>
          </p:nvSpPr>
          <p:spPr bwMode="auto">
            <a:xfrm>
              <a:off x="80772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6162" name="Text Box 71"/>
          <p:cNvSpPr txBox="1">
            <a:spLocks noChangeArrowheads="1"/>
          </p:cNvSpPr>
          <p:nvPr/>
        </p:nvSpPr>
        <p:spPr bwMode="auto">
          <a:xfrm>
            <a:off x="1981201" y="4317129"/>
            <a:ext cx="760977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8.000        10.000       12.000       14.000         16.000         18.000         20.000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3" name="Text Box 2">
            <a:extLst>
              <a:ext uri="{FF2B5EF4-FFF2-40B4-BE49-F238E27FC236}">
                <a16:creationId xmlns:a16="http://schemas.microsoft.com/office/drawing/2014/main" id="{B631265C-3D24-DC47-B63F-A205E44EAF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1" y="152400"/>
            <a:ext cx="240097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Mandarinas vs. Naranjas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0D10CD24-D979-5841-992F-3FBCBE0C8B4F}"/>
              </a:ext>
            </a:extLst>
          </p:cNvPr>
          <p:cNvSpPr/>
          <p:nvPr/>
        </p:nvSpPr>
        <p:spPr>
          <a:xfrm>
            <a:off x="5864772" y="3390265"/>
            <a:ext cx="4508938" cy="624693"/>
          </a:xfrm>
          <a:custGeom>
            <a:avLst/>
            <a:gdLst>
              <a:gd name="csX0" fmla="*/ 0 w 4508938"/>
              <a:gd name="csY0" fmla="*/ 624693 h 624693"/>
              <a:gd name="csX1" fmla="*/ 609600 w 4508938"/>
              <a:gd name="csY1" fmla="*/ 543826 h 624693"/>
              <a:gd name="csX2" fmla="*/ 1240221 w 4508938"/>
              <a:gd name="csY2" fmla="*/ 350990 h 624693"/>
              <a:gd name="csX3" fmla="*/ 1797269 w 4508938"/>
              <a:gd name="csY3" fmla="*/ 2643 h 624693"/>
              <a:gd name="csX4" fmla="*/ 2438400 w 4508938"/>
              <a:gd name="csY4" fmla="*/ 195478 h 624693"/>
              <a:gd name="csX5" fmla="*/ 3026980 w 4508938"/>
              <a:gd name="csY5" fmla="*/ 282565 h 624693"/>
              <a:gd name="csX6" fmla="*/ 3762704 w 4508938"/>
              <a:gd name="csY6" fmla="*/ 388313 h 624693"/>
              <a:gd name="csX7" fmla="*/ 4508938 w 4508938"/>
              <a:gd name="csY7" fmla="*/ 618472 h 6246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508938" h="624693" extrusionOk="0">
                <a:moveTo>
                  <a:pt x="0" y="624693"/>
                </a:moveTo>
                <a:cubicBezTo>
                  <a:pt x="163220" y="583487"/>
                  <a:pt x="380965" y="597674"/>
                  <a:pt x="609600" y="543826"/>
                </a:cubicBezTo>
                <a:cubicBezTo>
                  <a:pt x="827055" y="500472"/>
                  <a:pt x="1018504" y="441943"/>
                  <a:pt x="1240221" y="350990"/>
                </a:cubicBezTo>
                <a:cubicBezTo>
                  <a:pt x="1409054" y="289223"/>
                  <a:pt x="1596087" y="36772"/>
                  <a:pt x="1797269" y="2643"/>
                </a:cubicBezTo>
                <a:cubicBezTo>
                  <a:pt x="1972546" y="-36636"/>
                  <a:pt x="2252100" y="157736"/>
                  <a:pt x="2438400" y="195478"/>
                </a:cubicBezTo>
                <a:cubicBezTo>
                  <a:pt x="2643353" y="242132"/>
                  <a:pt x="3026980" y="282564"/>
                  <a:pt x="3026980" y="282565"/>
                </a:cubicBezTo>
                <a:cubicBezTo>
                  <a:pt x="3239670" y="313475"/>
                  <a:pt x="3499596" y="347502"/>
                  <a:pt x="3762704" y="388313"/>
                </a:cubicBezTo>
                <a:cubicBezTo>
                  <a:pt x="4004701" y="396659"/>
                  <a:pt x="4249104" y="545578"/>
                  <a:pt x="4508938" y="618472"/>
                </a:cubicBezTo>
              </a:path>
            </a:pathLst>
          </a:custGeom>
          <a:noFill/>
          <a:ln w="25400">
            <a:solidFill>
              <a:srgbClr val="7030A0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508938"/>
                      <a:gd name="connsiteY0" fmla="*/ 1055501 h 1055501"/>
                      <a:gd name="connsiteX1" fmla="*/ 609600 w 4508938"/>
                      <a:gd name="connsiteY1" fmla="*/ 918866 h 1055501"/>
                      <a:gd name="connsiteX2" fmla="*/ 1240221 w 4508938"/>
                      <a:gd name="connsiteY2" fmla="*/ 593045 h 1055501"/>
                      <a:gd name="connsiteX3" fmla="*/ 1797269 w 4508938"/>
                      <a:gd name="connsiteY3" fmla="*/ 4466 h 1055501"/>
                      <a:gd name="connsiteX4" fmla="*/ 2438400 w 4508938"/>
                      <a:gd name="connsiteY4" fmla="*/ 330287 h 1055501"/>
                      <a:gd name="connsiteX5" fmla="*/ 3026980 w 4508938"/>
                      <a:gd name="connsiteY5" fmla="*/ 477432 h 1055501"/>
                      <a:gd name="connsiteX6" fmla="*/ 3762704 w 4508938"/>
                      <a:gd name="connsiteY6" fmla="*/ 656107 h 1055501"/>
                      <a:gd name="connsiteX7" fmla="*/ 4508938 w 4508938"/>
                      <a:gd name="connsiteY7" fmla="*/ 1044990 h 10555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4508938" h="1055501">
                        <a:moveTo>
                          <a:pt x="0" y="1055501"/>
                        </a:moveTo>
                        <a:cubicBezTo>
                          <a:pt x="201448" y="1025721"/>
                          <a:pt x="402897" y="995942"/>
                          <a:pt x="609600" y="918866"/>
                        </a:cubicBezTo>
                        <a:cubicBezTo>
                          <a:pt x="816304" y="841790"/>
                          <a:pt x="1042276" y="745445"/>
                          <a:pt x="1240221" y="593045"/>
                        </a:cubicBezTo>
                        <a:cubicBezTo>
                          <a:pt x="1438166" y="440645"/>
                          <a:pt x="1597573" y="48259"/>
                          <a:pt x="1797269" y="4466"/>
                        </a:cubicBezTo>
                        <a:cubicBezTo>
                          <a:pt x="1996965" y="-39327"/>
                          <a:pt x="2233448" y="251459"/>
                          <a:pt x="2438400" y="330287"/>
                        </a:cubicBezTo>
                        <a:cubicBezTo>
                          <a:pt x="2643352" y="409115"/>
                          <a:pt x="3026980" y="477432"/>
                          <a:pt x="3026980" y="477432"/>
                        </a:cubicBezTo>
                        <a:cubicBezTo>
                          <a:pt x="3247697" y="531735"/>
                          <a:pt x="3515711" y="561514"/>
                          <a:pt x="3762704" y="656107"/>
                        </a:cubicBezTo>
                        <a:cubicBezTo>
                          <a:pt x="4009697" y="750700"/>
                          <a:pt x="4259317" y="897845"/>
                          <a:pt x="4508938" y="1044990"/>
                        </a:cubicBezTo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5F293E1E-1811-E548-A28A-ADE6C5F5C0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8041" y="4164730"/>
            <a:ext cx="165100" cy="1397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F3C93CC-1015-AE48-843B-8833A93D33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8501" y="2477847"/>
            <a:ext cx="1739900" cy="5715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9C02DDE-5861-6C46-83EF-2339023A0B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3010" y="2400657"/>
            <a:ext cx="1790700" cy="546100"/>
          </a:xfrm>
          <a:prstGeom prst="rect">
            <a:avLst/>
          </a:prstGeom>
        </p:spPr>
      </p:pic>
      <p:sp>
        <p:nvSpPr>
          <p:cNvPr id="25" name="Freeform 24">
            <a:extLst>
              <a:ext uri="{FF2B5EF4-FFF2-40B4-BE49-F238E27FC236}">
                <a16:creationId xmlns:a16="http://schemas.microsoft.com/office/drawing/2014/main" id="{D54A0A32-D8EC-8147-8CFA-08469E5433D4}"/>
              </a:ext>
            </a:extLst>
          </p:cNvPr>
          <p:cNvSpPr/>
          <p:nvPr/>
        </p:nvSpPr>
        <p:spPr>
          <a:xfrm>
            <a:off x="2420008" y="3402964"/>
            <a:ext cx="5885793" cy="618371"/>
          </a:xfrm>
          <a:custGeom>
            <a:avLst/>
            <a:gdLst>
              <a:gd name="connsiteX0" fmla="*/ 0 w 5885793"/>
              <a:gd name="connsiteY0" fmla="*/ 985636 h 1026265"/>
              <a:gd name="connsiteX1" fmla="*/ 399393 w 5885793"/>
              <a:gd name="connsiteY1" fmla="*/ 996147 h 1026265"/>
              <a:gd name="connsiteX2" fmla="*/ 1082565 w 5885793"/>
              <a:gd name="connsiteY2" fmla="*/ 649305 h 1026265"/>
              <a:gd name="connsiteX3" fmla="*/ 1692165 w 5885793"/>
              <a:gd name="connsiteY3" fmla="*/ 481140 h 1026265"/>
              <a:gd name="connsiteX4" fmla="*/ 2228193 w 5885793"/>
              <a:gd name="connsiteY4" fmla="*/ 302464 h 1026265"/>
              <a:gd name="connsiteX5" fmla="*/ 2795752 w 5885793"/>
              <a:gd name="connsiteY5" fmla="*/ 18685 h 1026265"/>
              <a:gd name="connsiteX6" fmla="*/ 3478924 w 5885793"/>
              <a:gd name="connsiteY6" fmla="*/ 81747 h 1026265"/>
              <a:gd name="connsiteX7" fmla="*/ 4067503 w 5885793"/>
              <a:gd name="connsiteY7" fmla="*/ 523181 h 1026265"/>
              <a:gd name="connsiteX8" fmla="*/ 4687614 w 5885793"/>
              <a:gd name="connsiteY8" fmla="*/ 775430 h 1026265"/>
              <a:gd name="connsiteX9" fmla="*/ 5433848 w 5885793"/>
              <a:gd name="connsiteY9" fmla="*/ 985636 h 1026265"/>
              <a:gd name="connsiteX10" fmla="*/ 5885793 w 5885793"/>
              <a:gd name="connsiteY10" fmla="*/ 975126 h 1026265"/>
              <a:gd name="connsiteX0" fmla="*/ 0 w 5885793"/>
              <a:gd name="connsiteY0" fmla="*/ 985636 h 1002712"/>
              <a:gd name="connsiteX1" fmla="*/ 472965 w 5885793"/>
              <a:gd name="connsiteY1" fmla="*/ 922575 h 1002712"/>
              <a:gd name="connsiteX2" fmla="*/ 1082565 w 5885793"/>
              <a:gd name="connsiteY2" fmla="*/ 649305 h 1002712"/>
              <a:gd name="connsiteX3" fmla="*/ 1692165 w 5885793"/>
              <a:gd name="connsiteY3" fmla="*/ 481140 h 1002712"/>
              <a:gd name="connsiteX4" fmla="*/ 2228193 w 5885793"/>
              <a:gd name="connsiteY4" fmla="*/ 302464 h 1002712"/>
              <a:gd name="connsiteX5" fmla="*/ 2795752 w 5885793"/>
              <a:gd name="connsiteY5" fmla="*/ 18685 h 1002712"/>
              <a:gd name="connsiteX6" fmla="*/ 3478924 w 5885793"/>
              <a:gd name="connsiteY6" fmla="*/ 81747 h 1002712"/>
              <a:gd name="connsiteX7" fmla="*/ 4067503 w 5885793"/>
              <a:gd name="connsiteY7" fmla="*/ 523181 h 1002712"/>
              <a:gd name="connsiteX8" fmla="*/ 4687614 w 5885793"/>
              <a:gd name="connsiteY8" fmla="*/ 775430 h 1002712"/>
              <a:gd name="connsiteX9" fmla="*/ 5433848 w 5885793"/>
              <a:gd name="connsiteY9" fmla="*/ 985636 h 1002712"/>
              <a:gd name="connsiteX10" fmla="*/ 5885793 w 5885793"/>
              <a:gd name="connsiteY10" fmla="*/ 975126 h 1002712"/>
              <a:gd name="connsiteX0" fmla="*/ 0 w 5885793"/>
              <a:gd name="connsiteY0" fmla="*/ 985636 h 1002712"/>
              <a:gd name="connsiteX1" fmla="*/ 567559 w 5885793"/>
              <a:gd name="connsiteY1" fmla="*/ 891044 h 1002712"/>
              <a:gd name="connsiteX2" fmla="*/ 1082565 w 5885793"/>
              <a:gd name="connsiteY2" fmla="*/ 649305 h 1002712"/>
              <a:gd name="connsiteX3" fmla="*/ 1692165 w 5885793"/>
              <a:gd name="connsiteY3" fmla="*/ 481140 h 1002712"/>
              <a:gd name="connsiteX4" fmla="*/ 2228193 w 5885793"/>
              <a:gd name="connsiteY4" fmla="*/ 302464 h 1002712"/>
              <a:gd name="connsiteX5" fmla="*/ 2795752 w 5885793"/>
              <a:gd name="connsiteY5" fmla="*/ 18685 h 1002712"/>
              <a:gd name="connsiteX6" fmla="*/ 3478924 w 5885793"/>
              <a:gd name="connsiteY6" fmla="*/ 81747 h 1002712"/>
              <a:gd name="connsiteX7" fmla="*/ 4067503 w 5885793"/>
              <a:gd name="connsiteY7" fmla="*/ 523181 h 1002712"/>
              <a:gd name="connsiteX8" fmla="*/ 4687614 w 5885793"/>
              <a:gd name="connsiteY8" fmla="*/ 775430 h 1002712"/>
              <a:gd name="connsiteX9" fmla="*/ 5433848 w 5885793"/>
              <a:gd name="connsiteY9" fmla="*/ 985636 h 1002712"/>
              <a:gd name="connsiteX10" fmla="*/ 5885793 w 5885793"/>
              <a:gd name="connsiteY10" fmla="*/ 975126 h 1002712"/>
              <a:gd name="connsiteX0" fmla="*/ 0 w 5885793"/>
              <a:gd name="connsiteY0" fmla="*/ 985636 h 994101"/>
              <a:gd name="connsiteX1" fmla="*/ 567559 w 5885793"/>
              <a:gd name="connsiteY1" fmla="*/ 891044 h 994101"/>
              <a:gd name="connsiteX2" fmla="*/ 1082565 w 5885793"/>
              <a:gd name="connsiteY2" fmla="*/ 649305 h 994101"/>
              <a:gd name="connsiteX3" fmla="*/ 1692165 w 5885793"/>
              <a:gd name="connsiteY3" fmla="*/ 481140 h 994101"/>
              <a:gd name="connsiteX4" fmla="*/ 2228193 w 5885793"/>
              <a:gd name="connsiteY4" fmla="*/ 302464 h 994101"/>
              <a:gd name="connsiteX5" fmla="*/ 2795752 w 5885793"/>
              <a:gd name="connsiteY5" fmla="*/ 18685 h 994101"/>
              <a:gd name="connsiteX6" fmla="*/ 3478924 w 5885793"/>
              <a:gd name="connsiteY6" fmla="*/ 81747 h 994101"/>
              <a:gd name="connsiteX7" fmla="*/ 4067503 w 5885793"/>
              <a:gd name="connsiteY7" fmla="*/ 523181 h 994101"/>
              <a:gd name="connsiteX8" fmla="*/ 4687614 w 5885793"/>
              <a:gd name="connsiteY8" fmla="*/ 775430 h 994101"/>
              <a:gd name="connsiteX9" fmla="*/ 5349765 w 5885793"/>
              <a:gd name="connsiteY9" fmla="*/ 954105 h 994101"/>
              <a:gd name="connsiteX10" fmla="*/ 5885793 w 5885793"/>
              <a:gd name="connsiteY10" fmla="*/ 975126 h 994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885793" h="994101">
                <a:moveTo>
                  <a:pt x="0" y="985636"/>
                </a:moveTo>
                <a:cubicBezTo>
                  <a:pt x="109483" y="1018919"/>
                  <a:pt x="387132" y="947099"/>
                  <a:pt x="567559" y="891044"/>
                </a:cubicBezTo>
                <a:cubicBezTo>
                  <a:pt x="747986" y="834989"/>
                  <a:pt x="895131" y="717622"/>
                  <a:pt x="1082565" y="649305"/>
                </a:cubicBezTo>
                <a:cubicBezTo>
                  <a:pt x="1269999" y="580988"/>
                  <a:pt x="1501227" y="538947"/>
                  <a:pt x="1692165" y="481140"/>
                </a:cubicBezTo>
                <a:cubicBezTo>
                  <a:pt x="1883103" y="423333"/>
                  <a:pt x="2044262" y="379540"/>
                  <a:pt x="2228193" y="302464"/>
                </a:cubicBezTo>
                <a:cubicBezTo>
                  <a:pt x="2412124" y="225388"/>
                  <a:pt x="2587297" y="55471"/>
                  <a:pt x="2795752" y="18685"/>
                </a:cubicBezTo>
                <a:cubicBezTo>
                  <a:pt x="3004207" y="-18101"/>
                  <a:pt x="3266966" y="-2336"/>
                  <a:pt x="3478924" y="81747"/>
                </a:cubicBezTo>
                <a:cubicBezTo>
                  <a:pt x="3690882" y="165830"/>
                  <a:pt x="3866055" y="407567"/>
                  <a:pt x="4067503" y="523181"/>
                </a:cubicBezTo>
                <a:cubicBezTo>
                  <a:pt x="4268951" y="638795"/>
                  <a:pt x="4473904" y="703609"/>
                  <a:pt x="4687614" y="775430"/>
                </a:cubicBezTo>
                <a:cubicBezTo>
                  <a:pt x="4901324" y="847251"/>
                  <a:pt x="5150069" y="920822"/>
                  <a:pt x="5349765" y="954105"/>
                </a:cubicBezTo>
                <a:cubicBezTo>
                  <a:pt x="5549461" y="987388"/>
                  <a:pt x="5759668" y="997022"/>
                  <a:pt x="5885793" y="975126"/>
                </a:cubicBezTo>
              </a:path>
            </a:pathLst>
          </a:custGeom>
          <a:noFill/>
          <a:ln w="25400">
            <a:solidFill>
              <a:schemeClr val="accent2">
                <a:lumMod val="60000"/>
                <a:lumOff val="4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6DD72E7-8781-DA45-B795-8008F92EE78C}"/>
              </a:ext>
            </a:extLst>
          </p:cNvPr>
          <p:cNvCxnSpPr>
            <a:stCxn id="22" idx="2"/>
          </p:cNvCxnSpPr>
          <p:nvPr/>
        </p:nvCxnSpPr>
        <p:spPr>
          <a:xfrm flipH="1">
            <a:off x="8686800" y="2946757"/>
            <a:ext cx="791560" cy="717636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70E74C6-327D-3447-9DF5-C3122C832627}"/>
              </a:ext>
            </a:extLst>
          </p:cNvPr>
          <p:cNvCxnSpPr>
            <a:cxnSpLocks/>
            <a:stCxn id="21" idx="2"/>
            <a:endCxn id="25" idx="3"/>
          </p:cNvCxnSpPr>
          <p:nvPr/>
        </p:nvCxnSpPr>
        <p:spPr>
          <a:xfrm>
            <a:off x="3538452" y="3049348"/>
            <a:ext cx="573721" cy="652905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E42183-44CE-C242-B0F7-3CED096C3A75}"/>
              </a:ext>
            </a:extLst>
          </p:cNvPr>
          <p:cNvCxnSpPr>
            <a:cxnSpLocks/>
          </p:cNvCxnSpPr>
          <p:nvPr/>
        </p:nvCxnSpPr>
        <p:spPr>
          <a:xfrm>
            <a:off x="6863253" y="1755228"/>
            <a:ext cx="0" cy="2409502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CBEEF54-A594-544E-ACA9-7733146290B2}"/>
              </a:ext>
            </a:extLst>
          </p:cNvPr>
          <p:cNvCxnSpPr/>
          <p:nvPr/>
        </p:nvCxnSpPr>
        <p:spPr>
          <a:xfrm>
            <a:off x="6253653" y="3390264"/>
            <a:ext cx="1219200" cy="0"/>
          </a:xfrm>
          <a:prstGeom prst="straightConnector1">
            <a:avLst/>
          </a:prstGeom>
          <a:ln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36D09D3E-4112-7F44-954E-B50B10BA9A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1653" y="1298327"/>
            <a:ext cx="203200" cy="3429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DE760906-0FB9-AC45-88FA-33B04E7BEF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53753" y="3077988"/>
            <a:ext cx="304800" cy="1905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17EBB439-2F85-7243-B52D-496F49A4728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7875" y="3073261"/>
            <a:ext cx="304800" cy="1905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8E4FE2E-F61E-4B49-9548-6ED4343EF601}"/>
              </a:ext>
            </a:extLst>
          </p:cNvPr>
          <p:cNvSpPr txBox="1"/>
          <p:nvPr/>
        </p:nvSpPr>
        <p:spPr>
          <a:xfrm>
            <a:off x="6986094" y="1786117"/>
            <a:ext cx="1003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Naranjas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A33DA1B-9980-FC4E-998A-5D04C748CBE6}"/>
              </a:ext>
            </a:extLst>
          </p:cNvPr>
          <p:cNvSpPr txBox="1"/>
          <p:nvPr/>
        </p:nvSpPr>
        <p:spPr>
          <a:xfrm>
            <a:off x="5371630" y="1801936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Mandarinas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7846028-B9FD-A94A-84FD-D71FA644DBFC}"/>
              </a:ext>
            </a:extLst>
          </p:cNvPr>
          <p:cNvSpPr txBox="1"/>
          <p:nvPr/>
        </p:nvSpPr>
        <p:spPr>
          <a:xfrm>
            <a:off x="4870118" y="4815463"/>
            <a:ext cx="1572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ALGORITMO: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B054AF7-B3DE-D54B-8137-B683F772935E}"/>
              </a:ext>
            </a:extLst>
          </p:cNvPr>
          <p:cNvSpPr txBox="1"/>
          <p:nvPr/>
        </p:nvSpPr>
        <p:spPr>
          <a:xfrm>
            <a:off x="6521447" y="5168728"/>
            <a:ext cx="2233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→           (mandarina)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652B939-E447-8C41-B098-2E713268CA6C}"/>
              </a:ext>
            </a:extLst>
          </p:cNvPr>
          <p:cNvSpPr txBox="1"/>
          <p:nvPr/>
        </p:nvSpPr>
        <p:spPr>
          <a:xfrm>
            <a:off x="6552976" y="5582699"/>
            <a:ext cx="1947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→           (</a:t>
            </a:r>
            <a:r>
              <a:rPr lang="en-US" dirty="0" err="1">
                <a:latin typeface="Gill Sans MT" panose="020B0502020104020203" pitchFamily="34" charset="77"/>
              </a:rPr>
              <a:t>naranja</a:t>
            </a:r>
            <a:r>
              <a:rPr lang="en-US" dirty="0">
                <a:latin typeface="Gill Sans MT" panose="020B0502020104020203" pitchFamily="34" charset="77"/>
              </a:rPr>
              <a:t>)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232E2658-CB20-8F4B-B0AB-FE220BC29D4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7989" y="5277818"/>
            <a:ext cx="304800" cy="1905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7EFAD49A-ADE8-DE49-BC21-DBDA5B31A0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62732" y="5712438"/>
            <a:ext cx="304800" cy="190500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7EF080FB-A89C-AE40-A328-23A749CAF9A0}"/>
              </a:ext>
            </a:extLst>
          </p:cNvPr>
          <p:cNvSpPr txBox="1"/>
          <p:nvPr/>
        </p:nvSpPr>
        <p:spPr>
          <a:xfrm>
            <a:off x="5965169" y="5621753"/>
            <a:ext cx="545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else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331FD089-09D5-6547-B42E-27FC333BC5A0}"/>
              </a:ext>
            </a:extLst>
          </p:cNvPr>
          <p:cNvSpPr/>
          <p:nvPr/>
        </p:nvSpPr>
        <p:spPr>
          <a:xfrm>
            <a:off x="4740163" y="4724930"/>
            <a:ext cx="4252748" cy="1332194"/>
          </a:xfrm>
          <a:prstGeom prst="roundRect">
            <a:avLst>
              <a:gd name="adj" fmla="val 7294"/>
            </a:avLst>
          </a:prstGeom>
          <a:noFill/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37FC2352-FED5-614C-AE06-B7860CDE0E4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20629" y="5222959"/>
            <a:ext cx="648000" cy="2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57098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6EAEF-14B0-504F-B814-84DACCE33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5793" y="28575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Cómo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calcular</a:t>
            </a:r>
            <a:r>
              <a:rPr lang="en-US" dirty="0">
                <a:latin typeface="Gill Sans MT" panose="020B0502020104020203" pitchFamily="34" charset="77"/>
              </a:rPr>
              <a:t> la PDF </a:t>
            </a:r>
            <a:r>
              <a:rPr lang="en-US" dirty="0" err="1">
                <a:latin typeface="Gill Sans MT" panose="020B0502020104020203" pitchFamily="34" charset="77"/>
              </a:rPr>
              <a:t>en</a:t>
            </a:r>
            <a:r>
              <a:rPr lang="en-US" dirty="0">
                <a:latin typeface="Gill Sans MT" panose="020B0502020104020203" pitchFamily="34" charset="77"/>
              </a:rPr>
              <a:t> 1D?</a:t>
            </a:r>
            <a:br>
              <a:rPr lang="en-US" dirty="0">
                <a:latin typeface="Gill Sans MT" panose="020B0502020104020203" pitchFamily="34" charset="77"/>
              </a:rPr>
            </a:br>
            <a:r>
              <a:rPr lang="en-US" dirty="0">
                <a:latin typeface="Gill Sans MT" panose="020B0502020104020203" pitchFamily="34" charset="77"/>
              </a:rPr>
              <a:t>KDE</a:t>
            </a:r>
          </a:p>
        </p:txBody>
      </p:sp>
    </p:spTree>
    <p:extLst>
      <p:ext uri="{BB962C8B-B14F-4D97-AF65-F5344CB8AC3E}">
        <p14:creationId xmlns:p14="http://schemas.microsoft.com/office/powerpoint/2010/main" val="332684505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6EAEF-14B0-504F-B814-84DACCE33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Gill Sans MT" panose="020B0502020104020203" pitchFamily="34" charset="77"/>
              </a:rPr>
              <a:t>Cómo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calcular</a:t>
            </a:r>
            <a:r>
              <a:rPr lang="en-US" dirty="0">
                <a:latin typeface="Gill Sans MT" panose="020B0502020104020203" pitchFamily="34" charset="77"/>
              </a:rPr>
              <a:t> la PDF?</a:t>
            </a:r>
          </a:p>
        </p:txBody>
      </p:sp>
      <p:sp>
        <p:nvSpPr>
          <p:cNvPr id="6" name="Line 58">
            <a:extLst>
              <a:ext uri="{FF2B5EF4-FFF2-40B4-BE49-F238E27FC236}">
                <a16:creationId xmlns:a16="http://schemas.microsoft.com/office/drawing/2014/main" id="{C768E6C1-6268-BD41-BE2C-8285C637EC00}"/>
              </a:ext>
            </a:extLst>
          </p:cNvPr>
          <p:cNvSpPr>
            <a:spLocks noChangeShapeType="1"/>
          </p:cNvSpPr>
          <p:nvPr/>
        </p:nvSpPr>
        <p:spPr bwMode="auto">
          <a:xfrm>
            <a:off x="2038349" y="4485292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6500745-39BC-024B-B802-C7B8F0D55BA9}"/>
              </a:ext>
            </a:extLst>
          </p:cNvPr>
          <p:cNvGrpSpPr/>
          <p:nvPr/>
        </p:nvGrpSpPr>
        <p:grpSpPr>
          <a:xfrm>
            <a:off x="2343149" y="2743203"/>
            <a:ext cx="7315200" cy="2046889"/>
            <a:chOff x="762000" y="1752600"/>
            <a:chExt cx="7315200" cy="4267200"/>
          </a:xfrm>
        </p:grpSpPr>
        <p:sp>
          <p:nvSpPr>
            <p:cNvPr id="9" name="Line 57">
              <a:extLst>
                <a:ext uri="{FF2B5EF4-FFF2-40B4-BE49-F238E27FC236}">
                  <a16:creationId xmlns:a16="http://schemas.microsoft.com/office/drawing/2014/main" id="{A34F7520-1B7D-B441-9BF7-0DB3DF2858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2000" y="1752600"/>
              <a:ext cx="0" cy="419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0" name="Line 64">
              <a:extLst>
                <a:ext uri="{FF2B5EF4-FFF2-40B4-BE49-F238E27FC236}">
                  <a16:creationId xmlns:a16="http://schemas.microsoft.com/office/drawing/2014/main" id="{7A4A3513-B589-8E41-A169-DFCE2527AB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12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1" name="Line 65">
              <a:extLst>
                <a:ext uri="{FF2B5EF4-FFF2-40B4-BE49-F238E27FC236}">
                  <a16:creationId xmlns:a16="http://schemas.microsoft.com/office/drawing/2014/main" id="{B5D4F2BD-E590-0943-B9D3-507D349026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42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2" name="Line 66">
              <a:extLst>
                <a:ext uri="{FF2B5EF4-FFF2-40B4-BE49-F238E27FC236}">
                  <a16:creationId xmlns:a16="http://schemas.microsoft.com/office/drawing/2014/main" id="{3BBFAA40-7340-D54E-A27B-43102E4DE5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34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Line 67">
              <a:extLst>
                <a:ext uri="{FF2B5EF4-FFF2-40B4-BE49-F238E27FC236}">
                  <a16:creationId xmlns:a16="http://schemas.microsoft.com/office/drawing/2014/main" id="{E76DE261-EFC4-814B-B4D1-67812D6DC3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26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4" name="Line 68">
              <a:extLst>
                <a:ext uri="{FF2B5EF4-FFF2-40B4-BE49-F238E27FC236}">
                  <a16:creationId xmlns:a16="http://schemas.microsoft.com/office/drawing/2014/main" id="{9E1423C3-3D60-3D4C-99B1-C013AEB9FB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818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5" name="Line 69">
              <a:extLst>
                <a:ext uri="{FF2B5EF4-FFF2-40B4-BE49-F238E27FC236}">
                  <a16:creationId xmlns:a16="http://schemas.microsoft.com/office/drawing/2014/main" id="{EA74C5AE-7388-784B-A5A2-20FA5E7ED3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72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6" name="Rectangle 80">
            <a:extLst>
              <a:ext uri="{FF2B5EF4-FFF2-40B4-BE49-F238E27FC236}">
                <a16:creationId xmlns:a16="http://schemas.microsoft.com/office/drawing/2014/main" id="{799EB3AB-4707-E24A-BBA1-355CB0629979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600952" y="4075718"/>
            <a:ext cx="457200" cy="4095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7" name="Rectangle 81">
            <a:extLst>
              <a:ext uri="{FF2B5EF4-FFF2-40B4-BE49-F238E27FC236}">
                <a16:creationId xmlns:a16="http://schemas.microsoft.com/office/drawing/2014/main" id="{EB0D0428-554A-5643-B069-8F1FC1C3EB13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915152" y="3910618"/>
            <a:ext cx="457200" cy="5746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8" name="Rectangle 82">
            <a:extLst>
              <a:ext uri="{FF2B5EF4-FFF2-40B4-BE49-F238E27FC236}">
                <a16:creationId xmlns:a16="http://schemas.microsoft.com/office/drawing/2014/main" id="{2039E5CE-C7E5-3440-B4F0-EA54DAC34AF3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305552" y="3747106"/>
            <a:ext cx="457200" cy="7381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" name="Rectangle 83">
            <a:extLst>
              <a:ext uri="{FF2B5EF4-FFF2-40B4-BE49-F238E27FC236}">
                <a16:creationId xmlns:a16="http://schemas.microsoft.com/office/drawing/2014/main" id="{28023EEB-9670-1045-865E-7D15500202B0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695952" y="3418492"/>
            <a:ext cx="457200" cy="1066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0" name="Rectangle 84">
            <a:extLst>
              <a:ext uri="{FF2B5EF4-FFF2-40B4-BE49-F238E27FC236}">
                <a16:creationId xmlns:a16="http://schemas.microsoft.com/office/drawing/2014/main" id="{55D5F418-78DB-DB4A-BBAD-89444A045441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086352" y="4028092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" name="Rectangle 85">
            <a:extLst>
              <a:ext uri="{FF2B5EF4-FFF2-40B4-BE49-F238E27FC236}">
                <a16:creationId xmlns:a16="http://schemas.microsoft.com/office/drawing/2014/main" id="{F8E8F935-1A6B-7A4F-BD78-2A6B966FD932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476752" y="4332892"/>
            <a:ext cx="4572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CFC6FE3-45C3-9E4B-8FEE-AD57D75F2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700" y="4669226"/>
            <a:ext cx="165100" cy="139700"/>
          </a:xfrm>
          <a:prstGeom prst="rect">
            <a:avLst/>
          </a:prstGeom>
        </p:spPr>
      </p:pic>
      <p:sp>
        <p:nvSpPr>
          <p:cNvPr id="23" name="Text Box 63">
            <a:extLst>
              <a:ext uri="{FF2B5EF4-FFF2-40B4-BE49-F238E27FC236}">
                <a16:creationId xmlns:a16="http://schemas.microsoft.com/office/drawing/2014/main" id="{2AA3A24B-10DA-4847-A2BE-8B922DEE0D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6524" y="1786493"/>
            <a:ext cx="207954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PASO 1: Histograma</a:t>
            </a:r>
            <a:endParaRPr lang="en-US" dirty="0"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13168485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6EAEF-14B0-504F-B814-84DACCE33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Gill Sans MT" panose="020B0502020104020203" pitchFamily="34" charset="77"/>
              </a:rPr>
              <a:t>Cómo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calcular</a:t>
            </a:r>
            <a:r>
              <a:rPr lang="en-US" dirty="0">
                <a:latin typeface="Gill Sans MT" panose="020B0502020104020203" pitchFamily="34" charset="77"/>
              </a:rPr>
              <a:t> la PDF?</a:t>
            </a:r>
          </a:p>
        </p:txBody>
      </p:sp>
      <p:sp>
        <p:nvSpPr>
          <p:cNvPr id="6" name="Line 58">
            <a:extLst>
              <a:ext uri="{FF2B5EF4-FFF2-40B4-BE49-F238E27FC236}">
                <a16:creationId xmlns:a16="http://schemas.microsoft.com/office/drawing/2014/main" id="{C768E6C1-6268-BD41-BE2C-8285C637EC00}"/>
              </a:ext>
            </a:extLst>
          </p:cNvPr>
          <p:cNvSpPr>
            <a:spLocks noChangeShapeType="1"/>
          </p:cNvSpPr>
          <p:nvPr/>
        </p:nvSpPr>
        <p:spPr bwMode="auto">
          <a:xfrm>
            <a:off x="2038349" y="4485292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6500745-39BC-024B-B802-C7B8F0D55BA9}"/>
              </a:ext>
            </a:extLst>
          </p:cNvPr>
          <p:cNvGrpSpPr/>
          <p:nvPr/>
        </p:nvGrpSpPr>
        <p:grpSpPr>
          <a:xfrm>
            <a:off x="2343149" y="2743203"/>
            <a:ext cx="7315200" cy="2046889"/>
            <a:chOff x="762000" y="1752600"/>
            <a:chExt cx="7315200" cy="4267200"/>
          </a:xfrm>
        </p:grpSpPr>
        <p:sp>
          <p:nvSpPr>
            <p:cNvPr id="9" name="Line 57">
              <a:extLst>
                <a:ext uri="{FF2B5EF4-FFF2-40B4-BE49-F238E27FC236}">
                  <a16:creationId xmlns:a16="http://schemas.microsoft.com/office/drawing/2014/main" id="{A34F7520-1B7D-B441-9BF7-0DB3DF2858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2000" y="1752600"/>
              <a:ext cx="0" cy="419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0" name="Line 64">
              <a:extLst>
                <a:ext uri="{FF2B5EF4-FFF2-40B4-BE49-F238E27FC236}">
                  <a16:creationId xmlns:a16="http://schemas.microsoft.com/office/drawing/2014/main" id="{7A4A3513-B589-8E41-A169-DFCE2527AB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12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1" name="Line 65">
              <a:extLst>
                <a:ext uri="{FF2B5EF4-FFF2-40B4-BE49-F238E27FC236}">
                  <a16:creationId xmlns:a16="http://schemas.microsoft.com/office/drawing/2014/main" id="{B5D4F2BD-E590-0943-B9D3-507D349026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42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2" name="Line 66">
              <a:extLst>
                <a:ext uri="{FF2B5EF4-FFF2-40B4-BE49-F238E27FC236}">
                  <a16:creationId xmlns:a16="http://schemas.microsoft.com/office/drawing/2014/main" id="{3BBFAA40-7340-D54E-A27B-43102E4DE5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34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Line 67">
              <a:extLst>
                <a:ext uri="{FF2B5EF4-FFF2-40B4-BE49-F238E27FC236}">
                  <a16:creationId xmlns:a16="http://schemas.microsoft.com/office/drawing/2014/main" id="{E76DE261-EFC4-814B-B4D1-67812D6DC3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26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4" name="Line 68">
              <a:extLst>
                <a:ext uri="{FF2B5EF4-FFF2-40B4-BE49-F238E27FC236}">
                  <a16:creationId xmlns:a16="http://schemas.microsoft.com/office/drawing/2014/main" id="{9E1423C3-3D60-3D4C-99B1-C013AEB9FB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818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5" name="Line 69">
              <a:extLst>
                <a:ext uri="{FF2B5EF4-FFF2-40B4-BE49-F238E27FC236}">
                  <a16:creationId xmlns:a16="http://schemas.microsoft.com/office/drawing/2014/main" id="{EA74C5AE-7388-784B-A5A2-20FA5E7ED3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72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6" name="Rectangle 80">
            <a:extLst>
              <a:ext uri="{FF2B5EF4-FFF2-40B4-BE49-F238E27FC236}">
                <a16:creationId xmlns:a16="http://schemas.microsoft.com/office/drawing/2014/main" id="{799EB3AB-4707-E24A-BBA1-355CB0629979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600952" y="4075718"/>
            <a:ext cx="457200" cy="4095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7" name="Rectangle 81">
            <a:extLst>
              <a:ext uri="{FF2B5EF4-FFF2-40B4-BE49-F238E27FC236}">
                <a16:creationId xmlns:a16="http://schemas.microsoft.com/office/drawing/2014/main" id="{EB0D0428-554A-5643-B069-8F1FC1C3EB13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915152" y="3910618"/>
            <a:ext cx="457200" cy="5746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8" name="Rectangle 82">
            <a:extLst>
              <a:ext uri="{FF2B5EF4-FFF2-40B4-BE49-F238E27FC236}">
                <a16:creationId xmlns:a16="http://schemas.microsoft.com/office/drawing/2014/main" id="{2039E5CE-C7E5-3440-B4F0-EA54DAC34AF3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305552" y="3747106"/>
            <a:ext cx="457200" cy="7381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" name="Rectangle 83">
            <a:extLst>
              <a:ext uri="{FF2B5EF4-FFF2-40B4-BE49-F238E27FC236}">
                <a16:creationId xmlns:a16="http://schemas.microsoft.com/office/drawing/2014/main" id="{28023EEB-9670-1045-865E-7D15500202B0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695952" y="3418492"/>
            <a:ext cx="457200" cy="1066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0" name="Rectangle 84">
            <a:extLst>
              <a:ext uri="{FF2B5EF4-FFF2-40B4-BE49-F238E27FC236}">
                <a16:creationId xmlns:a16="http://schemas.microsoft.com/office/drawing/2014/main" id="{55D5F418-78DB-DB4A-BBAD-89444A045441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086352" y="4028092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" name="Rectangle 85">
            <a:extLst>
              <a:ext uri="{FF2B5EF4-FFF2-40B4-BE49-F238E27FC236}">
                <a16:creationId xmlns:a16="http://schemas.microsoft.com/office/drawing/2014/main" id="{F8E8F935-1A6B-7A4F-BD78-2A6B966FD932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476752" y="4332892"/>
            <a:ext cx="4572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CFC6FE3-45C3-9E4B-8FEE-AD57D75F2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700" y="4669226"/>
            <a:ext cx="165100" cy="139700"/>
          </a:xfrm>
          <a:prstGeom prst="rect">
            <a:avLst/>
          </a:prstGeom>
        </p:spPr>
      </p:pic>
      <p:sp>
        <p:nvSpPr>
          <p:cNvPr id="23" name="Text Box 63">
            <a:extLst>
              <a:ext uri="{FF2B5EF4-FFF2-40B4-BE49-F238E27FC236}">
                <a16:creationId xmlns:a16="http://schemas.microsoft.com/office/drawing/2014/main" id="{2AA3A24B-10DA-4847-A2BE-8B922DEE0D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6523" y="1786493"/>
            <a:ext cx="480997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PASO 2: Convolución con una Gaussiana (Kernel)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6713068D-D6D6-7F4D-8001-0A31D976B9DF}"/>
              </a:ext>
            </a:extLst>
          </p:cNvPr>
          <p:cNvSpPr/>
          <p:nvPr/>
        </p:nvSpPr>
        <p:spPr>
          <a:xfrm>
            <a:off x="2354318" y="3912097"/>
            <a:ext cx="1055625" cy="575821"/>
          </a:xfrm>
          <a:custGeom>
            <a:avLst/>
            <a:gdLst>
              <a:gd name="connsiteX0" fmla="*/ 0 w 7315200"/>
              <a:gd name="connsiteY0" fmla="*/ 1749692 h 1749692"/>
              <a:gd name="connsiteX1" fmla="*/ 1229711 w 7315200"/>
              <a:gd name="connsiteY1" fmla="*/ 1539485 h 1749692"/>
              <a:gd name="connsiteX2" fmla="*/ 2364828 w 7315200"/>
              <a:gd name="connsiteY2" fmla="*/ 961416 h 1749692"/>
              <a:gd name="connsiteX3" fmla="*/ 3594538 w 7315200"/>
              <a:gd name="connsiteY3" fmla="*/ 4975 h 1749692"/>
              <a:gd name="connsiteX4" fmla="*/ 4792717 w 7315200"/>
              <a:gd name="connsiteY4" fmla="*/ 625085 h 1749692"/>
              <a:gd name="connsiteX5" fmla="*/ 6022428 w 7315200"/>
              <a:gd name="connsiteY5" fmla="*/ 1476423 h 1749692"/>
              <a:gd name="connsiteX6" fmla="*/ 7315200 w 7315200"/>
              <a:gd name="connsiteY6" fmla="*/ 1739182 h 1749692"/>
              <a:gd name="connsiteX0" fmla="*/ 0 w 7315200"/>
              <a:gd name="connsiteY0" fmla="*/ 1745373 h 1745373"/>
              <a:gd name="connsiteX1" fmla="*/ 1229711 w 7315200"/>
              <a:gd name="connsiteY1" fmla="*/ 1535166 h 1745373"/>
              <a:gd name="connsiteX2" fmla="*/ 2510497 w 7315200"/>
              <a:gd name="connsiteY2" fmla="*/ 734113 h 1745373"/>
              <a:gd name="connsiteX3" fmla="*/ 3594538 w 7315200"/>
              <a:gd name="connsiteY3" fmla="*/ 656 h 1745373"/>
              <a:gd name="connsiteX4" fmla="*/ 4792717 w 7315200"/>
              <a:gd name="connsiteY4" fmla="*/ 620766 h 1745373"/>
              <a:gd name="connsiteX5" fmla="*/ 6022428 w 7315200"/>
              <a:gd name="connsiteY5" fmla="*/ 1472104 h 1745373"/>
              <a:gd name="connsiteX6" fmla="*/ 7315200 w 7315200"/>
              <a:gd name="connsiteY6" fmla="*/ 1734863 h 1745373"/>
              <a:gd name="connsiteX0" fmla="*/ 0 w 7315200"/>
              <a:gd name="connsiteY0" fmla="*/ 1745209 h 1745209"/>
              <a:gd name="connsiteX1" fmla="*/ 1229711 w 7315200"/>
              <a:gd name="connsiteY1" fmla="*/ 1535002 h 1745209"/>
              <a:gd name="connsiteX2" fmla="*/ 2510497 w 7315200"/>
              <a:gd name="connsiteY2" fmla="*/ 733949 h 1745209"/>
              <a:gd name="connsiteX3" fmla="*/ 3594538 w 7315200"/>
              <a:gd name="connsiteY3" fmla="*/ 492 h 1745209"/>
              <a:gd name="connsiteX4" fmla="*/ 4938385 w 7315200"/>
              <a:gd name="connsiteY4" fmla="*/ 843586 h 1745209"/>
              <a:gd name="connsiteX5" fmla="*/ 6022428 w 7315200"/>
              <a:gd name="connsiteY5" fmla="*/ 1471940 h 1745209"/>
              <a:gd name="connsiteX6" fmla="*/ 7315200 w 7315200"/>
              <a:gd name="connsiteY6" fmla="*/ 1734699 h 1745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15200" h="1745209">
                <a:moveTo>
                  <a:pt x="0" y="1745209"/>
                </a:moveTo>
                <a:cubicBezTo>
                  <a:pt x="417786" y="1705795"/>
                  <a:pt x="811295" y="1703545"/>
                  <a:pt x="1229711" y="1535002"/>
                </a:cubicBezTo>
                <a:cubicBezTo>
                  <a:pt x="1648127" y="1366459"/>
                  <a:pt x="2116359" y="989701"/>
                  <a:pt x="2510497" y="733949"/>
                </a:cubicBezTo>
                <a:cubicBezTo>
                  <a:pt x="2904635" y="478197"/>
                  <a:pt x="3189890" y="-17781"/>
                  <a:pt x="3594538" y="492"/>
                </a:cubicBezTo>
                <a:cubicBezTo>
                  <a:pt x="3999186" y="18765"/>
                  <a:pt x="4533737" y="598345"/>
                  <a:pt x="4938385" y="843586"/>
                </a:cubicBezTo>
                <a:cubicBezTo>
                  <a:pt x="5343033" y="1088827"/>
                  <a:pt x="5626292" y="1323421"/>
                  <a:pt x="6022428" y="1471940"/>
                </a:cubicBezTo>
                <a:cubicBezTo>
                  <a:pt x="6418564" y="1620459"/>
                  <a:pt x="6879021" y="1696161"/>
                  <a:pt x="7315200" y="1734699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0A79A549-B230-3C4B-9D26-CCEE3E603DDD}"/>
              </a:ext>
            </a:extLst>
          </p:cNvPr>
          <p:cNvSpPr/>
          <p:nvPr/>
        </p:nvSpPr>
        <p:spPr>
          <a:xfrm>
            <a:off x="4120713" y="3418492"/>
            <a:ext cx="4508938" cy="1055501"/>
          </a:xfrm>
          <a:custGeom>
            <a:avLst/>
            <a:gdLst>
              <a:gd name="csX0" fmla="*/ 0 w 4508938"/>
              <a:gd name="csY0" fmla="*/ 1055501 h 1055501"/>
              <a:gd name="csX1" fmla="*/ 609600 w 4508938"/>
              <a:gd name="csY1" fmla="*/ 918866 h 1055501"/>
              <a:gd name="csX2" fmla="*/ 1240221 w 4508938"/>
              <a:gd name="csY2" fmla="*/ 593045 h 1055501"/>
              <a:gd name="csX3" fmla="*/ 1797269 w 4508938"/>
              <a:gd name="csY3" fmla="*/ 4466 h 1055501"/>
              <a:gd name="csX4" fmla="*/ 2438400 w 4508938"/>
              <a:gd name="csY4" fmla="*/ 330287 h 1055501"/>
              <a:gd name="csX5" fmla="*/ 3026980 w 4508938"/>
              <a:gd name="csY5" fmla="*/ 477432 h 1055501"/>
              <a:gd name="csX6" fmla="*/ 3762704 w 4508938"/>
              <a:gd name="csY6" fmla="*/ 656107 h 1055501"/>
              <a:gd name="csX7" fmla="*/ 4508938 w 4508938"/>
              <a:gd name="csY7" fmla="*/ 1044990 h 10555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508938" h="1055501" extrusionOk="0">
                <a:moveTo>
                  <a:pt x="0" y="1055501"/>
                </a:moveTo>
                <a:cubicBezTo>
                  <a:pt x="197032" y="1022997"/>
                  <a:pt x="385097" y="1002623"/>
                  <a:pt x="609600" y="918866"/>
                </a:cubicBezTo>
                <a:cubicBezTo>
                  <a:pt x="872988" y="853723"/>
                  <a:pt x="995671" y="746927"/>
                  <a:pt x="1240221" y="593045"/>
                </a:cubicBezTo>
                <a:cubicBezTo>
                  <a:pt x="1405626" y="472422"/>
                  <a:pt x="1596010" y="56900"/>
                  <a:pt x="1797269" y="4466"/>
                </a:cubicBezTo>
                <a:cubicBezTo>
                  <a:pt x="1984470" y="-46163"/>
                  <a:pt x="2280742" y="274056"/>
                  <a:pt x="2438400" y="330287"/>
                </a:cubicBezTo>
                <a:cubicBezTo>
                  <a:pt x="2643353" y="409115"/>
                  <a:pt x="3026980" y="477431"/>
                  <a:pt x="3026980" y="477432"/>
                </a:cubicBezTo>
                <a:cubicBezTo>
                  <a:pt x="3207039" y="525509"/>
                  <a:pt x="3476012" y="598890"/>
                  <a:pt x="3762704" y="656107"/>
                </a:cubicBezTo>
                <a:cubicBezTo>
                  <a:pt x="4008277" y="737160"/>
                  <a:pt x="4219817" y="952739"/>
                  <a:pt x="4508938" y="1044990"/>
                </a:cubicBezTo>
              </a:path>
            </a:pathLst>
          </a:custGeom>
          <a:noFill/>
          <a:ln w="25400">
            <a:solidFill>
              <a:srgbClr val="FF0000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508938"/>
                      <a:gd name="connsiteY0" fmla="*/ 1055501 h 1055501"/>
                      <a:gd name="connsiteX1" fmla="*/ 609600 w 4508938"/>
                      <a:gd name="connsiteY1" fmla="*/ 918866 h 1055501"/>
                      <a:gd name="connsiteX2" fmla="*/ 1240221 w 4508938"/>
                      <a:gd name="connsiteY2" fmla="*/ 593045 h 1055501"/>
                      <a:gd name="connsiteX3" fmla="*/ 1797269 w 4508938"/>
                      <a:gd name="connsiteY3" fmla="*/ 4466 h 1055501"/>
                      <a:gd name="connsiteX4" fmla="*/ 2438400 w 4508938"/>
                      <a:gd name="connsiteY4" fmla="*/ 330287 h 1055501"/>
                      <a:gd name="connsiteX5" fmla="*/ 3026980 w 4508938"/>
                      <a:gd name="connsiteY5" fmla="*/ 477432 h 1055501"/>
                      <a:gd name="connsiteX6" fmla="*/ 3762704 w 4508938"/>
                      <a:gd name="connsiteY6" fmla="*/ 656107 h 1055501"/>
                      <a:gd name="connsiteX7" fmla="*/ 4508938 w 4508938"/>
                      <a:gd name="connsiteY7" fmla="*/ 1044990 h 10555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4508938" h="1055501">
                        <a:moveTo>
                          <a:pt x="0" y="1055501"/>
                        </a:moveTo>
                        <a:cubicBezTo>
                          <a:pt x="201448" y="1025721"/>
                          <a:pt x="402897" y="995942"/>
                          <a:pt x="609600" y="918866"/>
                        </a:cubicBezTo>
                        <a:cubicBezTo>
                          <a:pt x="816304" y="841790"/>
                          <a:pt x="1042276" y="745445"/>
                          <a:pt x="1240221" y="593045"/>
                        </a:cubicBezTo>
                        <a:cubicBezTo>
                          <a:pt x="1438166" y="440645"/>
                          <a:pt x="1597573" y="48259"/>
                          <a:pt x="1797269" y="4466"/>
                        </a:cubicBezTo>
                        <a:cubicBezTo>
                          <a:pt x="1996965" y="-39327"/>
                          <a:pt x="2233448" y="251459"/>
                          <a:pt x="2438400" y="330287"/>
                        </a:cubicBezTo>
                        <a:cubicBezTo>
                          <a:pt x="2643352" y="409115"/>
                          <a:pt x="3026980" y="477432"/>
                          <a:pt x="3026980" y="477432"/>
                        </a:cubicBezTo>
                        <a:cubicBezTo>
                          <a:pt x="3247697" y="531735"/>
                          <a:pt x="3515711" y="561514"/>
                          <a:pt x="3762704" y="656107"/>
                        </a:cubicBezTo>
                        <a:cubicBezTo>
                          <a:pt x="4009697" y="750700"/>
                          <a:pt x="4259317" y="897845"/>
                          <a:pt x="4508938" y="1044990"/>
                        </a:cubicBezTo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185768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8 0.00069 L 0.74114 0.00069 " pathEditMode="relative" ptsTypes="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4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6EAEF-14B0-504F-B814-84DACCE33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Gill Sans MT" panose="020B0502020104020203" pitchFamily="34" charset="77"/>
              </a:rPr>
              <a:t>Cómo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calcular</a:t>
            </a:r>
            <a:r>
              <a:rPr lang="en-US" dirty="0">
                <a:latin typeface="Gill Sans MT" panose="020B0502020104020203" pitchFamily="34" charset="77"/>
              </a:rPr>
              <a:t> la PDF?</a:t>
            </a:r>
          </a:p>
        </p:txBody>
      </p:sp>
      <p:sp>
        <p:nvSpPr>
          <p:cNvPr id="6" name="Line 58">
            <a:extLst>
              <a:ext uri="{FF2B5EF4-FFF2-40B4-BE49-F238E27FC236}">
                <a16:creationId xmlns:a16="http://schemas.microsoft.com/office/drawing/2014/main" id="{C768E6C1-6268-BD41-BE2C-8285C637EC00}"/>
              </a:ext>
            </a:extLst>
          </p:cNvPr>
          <p:cNvSpPr>
            <a:spLocks noChangeShapeType="1"/>
          </p:cNvSpPr>
          <p:nvPr/>
        </p:nvSpPr>
        <p:spPr bwMode="auto">
          <a:xfrm>
            <a:off x="2038349" y="4485292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6500745-39BC-024B-B802-C7B8F0D55BA9}"/>
              </a:ext>
            </a:extLst>
          </p:cNvPr>
          <p:cNvGrpSpPr/>
          <p:nvPr/>
        </p:nvGrpSpPr>
        <p:grpSpPr>
          <a:xfrm>
            <a:off x="2343149" y="2743203"/>
            <a:ext cx="7315200" cy="2046889"/>
            <a:chOff x="762000" y="1752600"/>
            <a:chExt cx="7315200" cy="4267200"/>
          </a:xfrm>
        </p:grpSpPr>
        <p:sp>
          <p:nvSpPr>
            <p:cNvPr id="9" name="Line 57">
              <a:extLst>
                <a:ext uri="{FF2B5EF4-FFF2-40B4-BE49-F238E27FC236}">
                  <a16:creationId xmlns:a16="http://schemas.microsoft.com/office/drawing/2014/main" id="{A34F7520-1B7D-B441-9BF7-0DB3DF2858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2000" y="1752600"/>
              <a:ext cx="0" cy="419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0" name="Line 64">
              <a:extLst>
                <a:ext uri="{FF2B5EF4-FFF2-40B4-BE49-F238E27FC236}">
                  <a16:creationId xmlns:a16="http://schemas.microsoft.com/office/drawing/2014/main" id="{7A4A3513-B589-8E41-A169-DFCE2527AB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12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1" name="Line 65">
              <a:extLst>
                <a:ext uri="{FF2B5EF4-FFF2-40B4-BE49-F238E27FC236}">
                  <a16:creationId xmlns:a16="http://schemas.microsoft.com/office/drawing/2014/main" id="{B5D4F2BD-E590-0943-B9D3-507D349026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42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2" name="Line 66">
              <a:extLst>
                <a:ext uri="{FF2B5EF4-FFF2-40B4-BE49-F238E27FC236}">
                  <a16:creationId xmlns:a16="http://schemas.microsoft.com/office/drawing/2014/main" id="{3BBFAA40-7340-D54E-A27B-43102E4DE5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34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Line 67">
              <a:extLst>
                <a:ext uri="{FF2B5EF4-FFF2-40B4-BE49-F238E27FC236}">
                  <a16:creationId xmlns:a16="http://schemas.microsoft.com/office/drawing/2014/main" id="{E76DE261-EFC4-814B-B4D1-67812D6DC3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26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4" name="Line 68">
              <a:extLst>
                <a:ext uri="{FF2B5EF4-FFF2-40B4-BE49-F238E27FC236}">
                  <a16:creationId xmlns:a16="http://schemas.microsoft.com/office/drawing/2014/main" id="{9E1423C3-3D60-3D4C-99B1-C013AEB9FB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818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5" name="Line 69">
              <a:extLst>
                <a:ext uri="{FF2B5EF4-FFF2-40B4-BE49-F238E27FC236}">
                  <a16:creationId xmlns:a16="http://schemas.microsoft.com/office/drawing/2014/main" id="{EA74C5AE-7388-784B-A5A2-20FA5E7ED3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72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16" name="Rectangle 80">
            <a:extLst>
              <a:ext uri="{FF2B5EF4-FFF2-40B4-BE49-F238E27FC236}">
                <a16:creationId xmlns:a16="http://schemas.microsoft.com/office/drawing/2014/main" id="{799EB3AB-4707-E24A-BBA1-355CB0629979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600952" y="4075718"/>
            <a:ext cx="457200" cy="4095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7" name="Rectangle 81">
            <a:extLst>
              <a:ext uri="{FF2B5EF4-FFF2-40B4-BE49-F238E27FC236}">
                <a16:creationId xmlns:a16="http://schemas.microsoft.com/office/drawing/2014/main" id="{EB0D0428-554A-5643-B069-8F1FC1C3EB13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915152" y="3910618"/>
            <a:ext cx="457200" cy="5746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8" name="Rectangle 82">
            <a:extLst>
              <a:ext uri="{FF2B5EF4-FFF2-40B4-BE49-F238E27FC236}">
                <a16:creationId xmlns:a16="http://schemas.microsoft.com/office/drawing/2014/main" id="{2039E5CE-C7E5-3440-B4F0-EA54DAC34AF3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305552" y="3747106"/>
            <a:ext cx="457200" cy="738187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19" name="Rectangle 83">
            <a:extLst>
              <a:ext uri="{FF2B5EF4-FFF2-40B4-BE49-F238E27FC236}">
                <a16:creationId xmlns:a16="http://schemas.microsoft.com/office/drawing/2014/main" id="{28023EEB-9670-1045-865E-7D15500202B0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695952" y="3418492"/>
            <a:ext cx="457200" cy="1066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0" name="Rectangle 84">
            <a:extLst>
              <a:ext uri="{FF2B5EF4-FFF2-40B4-BE49-F238E27FC236}">
                <a16:creationId xmlns:a16="http://schemas.microsoft.com/office/drawing/2014/main" id="{55D5F418-78DB-DB4A-BBAD-89444A045441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086352" y="4028092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21" name="Rectangle 85">
            <a:extLst>
              <a:ext uri="{FF2B5EF4-FFF2-40B4-BE49-F238E27FC236}">
                <a16:creationId xmlns:a16="http://schemas.microsoft.com/office/drawing/2014/main" id="{F8E8F935-1A6B-7A4F-BD78-2A6B966FD932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476752" y="4332892"/>
            <a:ext cx="457200" cy="152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CFC6FE3-45C3-9E4B-8FEE-AD57D75F2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700" y="4669226"/>
            <a:ext cx="165100" cy="139700"/>
          </a:xfrm>
          <a:prstGeom prst="rect">
            <a:avLst/>
          </a:prstGeom>
        </p:spPr>
      </p:pic>
      <p:sp>
        <p:nvSpPr>
          <p:cNvPr id="23" name="Text Box 63">
            <a:extLst>
              <a:ext uri="{FF2B5EF4-FFF2-40B4-BE49-F238E27FC236}">
                <a16:creationId xmlns:a16="http://schemas.microsoft.com/office/drawing/2014/main" id="{2AA3A24B-10DA-4847-A2BE-8B922DEE0D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6523" y="1786493"/>
            <a:ext cx="480997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PASO 2: Convolución con una Gaussiana (Kernel)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0A79A549-B230-3C4B-9D26-CCEE3E603DDD}"/>
              </a:ext>
            </a:extLst>
          </p:cNvPr>
          <p:cNvSpPr/>
          <p:nvPr/>
        </p:nvSpPr>
        <p:spPr>
          <a:xfrm>
            <a:off x="4120713" y="3418492"/>
            <a:ext cx="4508938" cy="1055501"/>
          </a:xfrm>
          <a:custGeom>
            <a:avLst/>
            <a:gdLst>
              <a:gd name="csX0" fmla="*/ 0 w 4508938"/>
              <a:gd name="csY0" fmla="*/ 1055501 h 1055501"/>
              <a:gd name="csX1" fmla="*/ 609600 w 4508938"/>
              <a:gd name="csY1" fmla="*/ 918866 h 1055501"/>
              <a:gd name="csX2" fmla="*/ 1240221 w 4508938"/>
              <a:gd name="csY2" fmla="*/ 593045 h 1055501"/>
              <a:gd name="csX3" fmla="*/ 1797269 w 4508938"/>
              <a:gd name="csY3" fmla="*/ 4466 h 1055501"/>
              <a:gd name="csX4" fmla="*/ 2438400 w 4508938"/>
              <a:gd name="csY4" fmla="*/ 330287 h 1055501"/>
              <a:gd name="csX5" fmla="*/ 3026980 w 4508938"/>
              <a:gd name="csY5" fmla="*/ 477432 h 1055501"/>
              <a:gd name="csX6" fmla="*/ 3762704 w 4508938"/>
              <a:gd name="csY6" fmla="*/ 656107 h 1055501"/>
              <a:gd name="csX7" fmla="*/ 4508938 w 4508938"/>
              <a:gd name="csY7" fmla="*/ 1044990 h 10555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508938" h="1055501" extrusionOk="0">
                <a:moveTo>
                  <a:pt x="0" y="1055501"/>
                </a:moveTo>
                <a:cubicBezTo>
                  <a:pt x="197032" y="1022997"/>
                  <a:pt x="385097" y="1002623"/>
                  <a:pt x="609600" y="918866"/>
                </a:cubicBezTo>
                <a:cubicBezTo>
                  <a:pt x="872988" y="853723"/>
                  <a:pt x="995671" y="746927"/>
                  <a:pt x="1240221" y="593045"/>
                </a:cubicBezTo>
                <a:cubicBezTo>
                  <a:pt x="1405626" y="472422"/>
                  <a:pt x="1596010" y="56900"/>
                  <a:pt x="1797269" y="4466"/>
                </a:cubicBezTo>
                <a:cubicBezTo>
                  <a:pt x="1984470" y="-46163"/>
                  <a:pt x="2280742" y="274056"/>
                  <a:pt x="2438400" y="330287"/>
                </a:cubicBezTo>
                <a:cubicBezTo>
                  <a:pt x="2643353" y="409115"/>
                  <a:pt x="3026980" y="477431"/>
                  <a:pt x="3026980" y="477432"/>
                </a:cubicBezTo>
                <a:cubicBezTo>
                  <a:pt x="3207039" y="525509"/>
                  <a:pt x="3476012" y="598890"/>
                  <a:pt x="3762704" y="656107"/>
                </a:cubicBezTo>
                <a:cubicBezTo>
                  <a:pt x="4008277" y="737160"/>
                  <a:pt x="4219817" y="952739"/>
                  <a:pt x="4508938" y="1044990"/>
                </a:cubicBezTo>
              </a:path>
            </a:pathLst>
          </a:custGeom>
          <a:noFill/>
          <a:ln w="25400">
            <a:solidFill>
              <a:srgbClr val="FF0000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508938"/>
                      <a:gd name="connsiteY0" fmla="*/ 1055501 h 1055501"/>
                      <a:gd name="connsiteX1" fmla="*/ 609600 w 4508938"/>
                      <a:gd name="connsiteY1" fmla="*/ 918866 h 1055501"/>
                      <a:gd name="connsiteX2" fmla="*/ 1240221 w 4508938"/>
                      <a:gd name="connsiteY2" fmla="*/ 593045 h 1055501"/>
                      <a:gd name="connsiteX3" fmla="*/ 1797269 w 4508938"/>
                      <a:gd name="connsiteY3" fmla="*/ 4466 h 1055501"/>
                      <a:gd name="connsiteX4" fmla="*/ 2438400 w 4508938"/>
                      <a:gd name="connsiteY4" fmla="*/ 330287 h 1055501"/>
                      <a:gd name="connsiteX5" fmla="*/ 3026980 w 4508938"/>
                      <a:gd name="connsiteY5" fmla="*/ 477432 h 1055501"/>
                      <a:gd name="connsiteX6" fmla="*/ 3762704 w 4508938"/>
                      <a:gd name="connsiteY6" fmla="*/ 656107 h 1055501"/>
                      <a:gd name="connsiteX7" fmla="*/ 4508938 w 4508938"/>
                      <a:gd name="connsiteY7" fmla="*/ 1044990 h 10555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4508938" h="1055501">
                        <a:moveTo>
                          <a:pt x="0" y="1055501"/>
                        </a:moveTo>
                        <a:cubicBezTo>
                          <a:pt x="201448" y="1025721"/>
                          <a:pt x="402897" y="995942"/>
                          <a:pt x="609600" y="918866"/>
                        </a:cubicBezTo>
                        <a:cubicBezTo>
                          <a:pt x="816304" y="841790"/>
                          <a:pt x="1042276" y="745445"/>
                          <a:pt x="1240221" y="593045"/>
                        </a:cubicBezTo>
                        <a:cubicBezTo>
                          <a:pt x="1438166" y="440645"/>
                          <a:pt x="1597573" y="48259"/>
                          <a:pt x="1797269" y="4466"/>
                        </a:cubicBezTo>
                        <a:cubicBezTo>
                          <a:pt x="1996965" y="-39327"/>
                          <a:pt x="2233448" y="251459"/>
                          <a:pt x="2438400" y="330287"/>
                        </a:cubicBezTo>
                        <a:cubicBezTo>
                          <a:pt x="2643352" y="409115"/>
                          <a:pt x="3026980" y="477432"/>
                          <a:pt x="3026980" y="477432"/>
                        </a:cubicBezTo>
                        <a:cubicBezTo>
                          <a:pt x="3247697" y="531735"/>
                          <a:pt x="3515711" y="561514"/>
                          <a:pt x="3762704" y="656107"/>
                        </a:cubicBezTo>
                        <a:cubicBezTo>
                          <a:pt x="4009697" y="750700"/>
                          <a:pt x="4259317" y="897845"/>
                          <a:pt x="4508938" y="1044990"/>
                        </a:cubicBezTo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15787412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6EAEF-14B0-504F-B814-84DACCE33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Gill Sans MT" panose="020B0502020104020203" pitchFamily="34" charset="77"/>
              </a:rPr>
              <a:t>Cómo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calcular</a:t>
            </a:r>
            <a:r>
              <a:rPr lang="en-US" dirty="0">
                <a:latin typeface="Gill Sans MT" panose="020B0502020104020203" pitchFamily="34" charset="77"/>
              </a:rPr>
              <a:t> la PDF?</a:t>
            </a:r>
          </a:p>
        </p:txBody>
      </p:sp>
      <p:sp>
        <p:nvSpPr>
          <p:cNvPr id="6" name="Line 58">
            <a:extLst>
              <a:ext uri="{FF2B5EF4-FFF2-40B4-BE49-F238E27FC236}">
                <a16:creationId xmlns:a16="http://schemas.microsoft.com/office/drawing/2014/main" id="{C768E6C1-6268-BD41-BE2C-8285C637EC00}"/>
              </a:ext>
            </a:extLst>
          </p:cNvPr>
          <p:cNvSpPr>
            <a:spLocks noChangeShapeType="1"/>
          </p:cNvSpPr>
          <p:nvPr/>
        </p:nvSpPr>
        <p:spPr bwMode="auto">
          <a:xfrm>
            <a:off x="2038349" y="4485292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6500745-39BC-024B-B802-C7B8F0D55BA9}"/>
              </a:ext>
            </a:extLst>
          </p:cNvPr>
          <p:cNvGrpSpPr/>
          <p:nvPr/>
        </p:nvGrpSpPr>
        <p:grpSpPr>
          <a:xfrm>
            <a:off x="2343149" y="2743203"/>
            <a:ext cx="7315200" cy="2046889"/>
            <a:chOff x="762000" y="1752600"/>
            <a:chExt cx="7315200" cy="4267200"/>
          </a:xfrm>
        </p:grpSpPr>
        <p:sp>
          <p:nvSpPr>
            <p:cNvPr id="9" name="Line 57">
              <a:extLst>
                <a:ext uri="{FF2B5EF4-FFF2-40B4-BE49-F238E27FC236}">
                  <a16:creationId xmlns:a16="http://schemas.microsoft.com/office/drawing/2014/main" id="{A34F7520-1B7D-B441-9BF7-0DB3DF2858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2000" y="1752600"/>
              <a:ext cx="0" cy="419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0" name="Line 64">
              <a:extLst>
                <a:ext uri="{FF2B5EF4-FFF2-40B4-BE49-F238E27FC236}">
                  <a16:creationId xmlns:a16="http://schemas.microsoft.com/office/drawing/2014/main" id="{7A4A3513-B589-8E41-A169-DFCE2527AB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12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1" name="Line 65">
              <a:extLst>
                <a:ext uri="{FF2B5EF4-FFF2-40B4-BE49-F238E27FC236}">
                  <a16:creationId xmlns:a16="http://schemas.microsoft.com/office/drawing/2014/main" id="{B5D4F2BD-E590-0943-B9D3-507D349026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42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2" name="Line 66">
              <a:extLst>
                <a:ext uri="{FF2B5EF4-FFF2-40B4-BE49-F238E27FC236}">
                  <a16:creationId xmlns:a16="http://schemas.microsoft.com/office/drawing/2014/main" id="{3BBFAA40-7340-D54E-A27B-43102E4DE5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34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Line 67">
              <a:extLst>
                <a:ext uri="{FF2B5EF4-FFF2-40B4-BE49-F238E27FC236}">
                  <a16:creationId xmlns:a16="http://schemas.microsoft.com/office/drawing/2014/main" id="{E76DE261-EFC4-814B-B4D1-67812D6DC3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26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4" name="Line 68">
              <a:extLst>
                <a:ext uri="{FF2B5EF4-FFF2-40B4-BE49-F238E27FC236}">
                  <a16:creationId xmlns:a16="http://schemas.microsoft.com/office/drawing/2014/main" id="{9E1423C3-3D60-3D4C-99B1-C013AEB9FB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818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5" name="Line 69">
              <a:extLst>
                <a:ext uri="{FF2B5EF4-FFF2-40B4-BE49-F238E27FC236}">
                  <a16:creationId xmlns:a16="http://schemas.microsoft.com/office/drawing/2014/main" id="{EA74C5AE-7388-784B-A5A2-20FA5E7ED3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72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5CFC6FE3-45C3-9E4B-8FEE-AD57D75F2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700" y="4669226"/>
            <a:ext cx="165100" cy="139700"/>
          </a:xfrm>
          <a:prstGeom prst="rect">
            <a:avLst/>
          </a:prstGeom>
        </p:spPr>
      </p:pic>
      <p:sp>
        <p:nvSpPr>
          <p:cNvPr id="23" name="Text Box 63">
            <a:extLst>
              <a:ext uri="{FF2B5EF4-FFF2-40B4-BE49-F238E27FC236}">
                <a16:creationId xmlns:a16="http://schemas.microsoft.com/office/drawing/2014/main" id="{2AA3A24B-10DA-4847-A2BE-8B922DEE0D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6523" y="1786493"/>
            <a:ext cx="480997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PASO 2: Convolución con una Gaussiana (Kernel)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0A79A549-B230-3C4B-9D26-CCEE3E603DDD}"/>
              </a:ext>
            </a:extLst>
          </p:cNvPr>
          <p:cNvSpPr/>
          <p:nvPr/>
        </p:nvSpPr>
        <p:spPr>
          <a:xfrm>
            <a:off x="4120713" y="3418492"/>
            <a:ext cx="4508938" cy="1055501"/>
          </a:xfrm>
          <a:custGeom>
            <a:avLst/>
            <a:gdLst>
              <a:gd name="csX0" fmla="*/ 0 w 4508938"/>
              <a:gd name="csY0" fmla="*/ 1055501 h 1055501"/>
              <a:gd name="csX1" fmla="*/ 609600 w 4508938"/>
              <a:gd name="csY1" fmla="*/ 918866 h 1055501"/>
              <a:gd name="csX2" fmla="*/ 1240221 w 4508938"/>
              <a:gd name="csY2" fmla="*/ 593045 h 1055501"/>
              <a:gd name="csX3" fmla="*/ 1797269 w 4508938"/>
              <a:gd name="csY3" fmla="*/ 4466 h 1055501"/>
              <a:gd name="csX4" fmla="*/ 2438400 w 4508938"/>
              <a:gd name="csY4" fmla="*/ 330287 h 1055501"/>
              <a:gd name="csX5" fmla="*/ 3026980 w 4508938"/>
              <a:gd name="csY5" fmla="*/ 477432 h 1055501"/>
              <a:gd name="csX6" fmla="*/ 3762704 w 4508938"/>
              <a:gd name="csY6" fmla="*/ 656107 h 1055501"/>
              <a:gd name="csX7" fmla="*/ 4508938 w 4508938"/>
              <a:gd name="csY7" fmla="*/ 1044990 h 10555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508938" h="1055501" extrusionOk="0">
                <a:moveTo>
                  <a:pt x="0" y="1055501"/>
                </a:moveTo>
                <a:cubicBezTo>
                  <a:pt x="197032" y="1022997"/>
                  <a:pt x="385097" y="1002623"/>
                  <a:pt x="609600" y="918866"/>
                </a:cubicBezTo>
                <a:cubicBezTo>
                  <a:pt x="872988" y="853723"/>
                  <a:pt x="995671" y="746927"/>
                  <a:pt x="1240221" y="593045"/>
                </a:cubicBezTo>
                <a:cubicBezTo>
                  <a:pt x="1405626" y="472422"/>
                  <a:pt x="1596010" y="56900"/>
                  <a:pt x="1797269" y="4466"/>
                </a:cubicBezTo>
                <a:cubicBezTo>
                  <a:pt x="1984470" y="-46163"/>
                  <a:pt x="2280742" y="274056"/>
                  <a:pt x="2438400" y="330287"/>
                </a:cubicBezTo>
                <a:cubicBezTo>
                  <a:pt x="2643353" y="409115"/>
                  <a:pt x="3026980" y="477431"/>
                  <a:pt x="3026980" y="477432"/>
                </a:cubicBezTo>
                <a:cubicBezTo>
                  <a:pt x="3207039" y="525509"/>
                  <a:pt x="3476012" y="598890"/>
                  <a:pt x="3762704" y="656107"/>
                </a:cubicBezTo>
                <a:cubicBezTo>
                  <a:pt x="4008277" y="737160"/>
                  <a:pt x="4219817" y="952739"/>
                  <a:pt x="4508938" y="1044990"/>
                </a:cubicBezTo>
              </a:path>
            </a:pathLst>
          </a:custGeom>
          <a:noFill/>
          <a:ln w="25400">
            <a:solidFill>
              <a:srgbClr val="FF0000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508938"/>
                      <a:gd name="connsiteY0" fmla="*/ 1055501 h 1055501"/>
                      <a:gd name="connsiteX1" fmla="*/ 609600 w 4508938"/>
                      <a:gd name="connsiteY1" fmla="*/ 918866 h 1055501"/>
                      <a:gd name="connsiteX2" fmla="*/ 1240221 w 4508938"/>
                      <a:gd name="connsiteY2" fmla="*/ 593045 h 1055501"/>
                      <a:gd name="connsiteX3" fmla="*/ 1797269 w 4508938"/>
                      <a:gd name="connsiteY3" fmla="*/ 4466 h 1055501"/>
                      <a:gd name="connsiteX4" fmla="*/ 2438400 w 4508938"/>
                      <a:gd name="connsiteY4" fmla="*/ 330287 h 1055501"/>
                      <a:gd name="connsiteX5" fmla="*/ 3026980 w 4508938"/>
                      <a:gd name="connsiteY5" fmla="*/ 477432 h 1055501"/>
                      <a:gd name="connsiteX6" fmla="*/ 3762704 w 4508938"/>
                      <a:gd name="connsiteY6" fmla="*/ 656107 h 1055501"/>
                      <a:gd name="connsiteX7" fmla="*/ 4508938 w 4508938"/>
                      <a:gd name="connsiteY7" fmla="*/ 1044990 h 10555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4508938" h="1055501">
                        <a:moveTo>
                          <a:pt x="0" y="1055501"/>
                        </a:moveTo>
                        <a:cubicBezTo>
                          <a:pt x="201448" y="1025721"/>
                          <a:pt x="402897" y="995942"/>
                          <a:pt x="609600" y="918866"/>
                        </a:cubicBezTo>
                        <a:cubicBezTo>
                          <a:pt x="816304" y="841790"/>
                          <a:pt x="1042276" y="745445"/>
                          <a:pt x="1240221" y="593045"/>
                        </a:cubicBezTo>
                        <a:cubicBezTo>
                          <a:pt x="1438166" y="440645"/>
                          <a:pt x="1597573" y="48259"/>
                          <a:pt x="1797269" y="4466"/>
                        </a:cubicBezTo>
                        <a:cubicBezTo>
                          <a:pt x="1996965" y="-39327"/>
                          <a:pt x="2233448" y="251459"/>
                          <a:pt x="2438400" y="330287"/>
                        </a:cubicBezTo>
                        <a:cubicBezTo>
                          <a:pt x="2643352" y="409115"/>
                          <a:pt x="3026980" y="477432"/>
                          <a:pt x="3026980" y="477432"/>
                        </a:cubicBezTo>
                        <a:cubicBezTo>
                          <a:pt x="3247697" y="531735"/>
                          <a:pt x="3515711" y="561514"/>
                          <a:pt x="3762704" y="656107"/>
                        </a:cubicBezTo>
                        <a:cubicBezTo>
                          <a:pt x="4009697" y="750700"/>
                          <a:pt x="4259317" y="897845"/>
                          <a:pt x="4508938" y="1044990"/>
                        </a:cubicBezTo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768542589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6EAEF-14B0-504F-B814-84DACCE33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Gill Sans MT" panose="020B0502020104020203" pitchFamily="34" charset="77"/>
              </a:rPr>
              <a:t>Cómo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calcular</a:t>
            </a:r>
            <a:r>
              <a:rPr lang="en-US" dirty="0">
                <a:latin typeface="Gill Sans MT" panose="020B0502020104020203" pitchFamily="34" charset="77"/>
              </a:rPr>
              <a:t> la PDF?</a:t>
            </a:r>
          </a:p>
        </p:txBody>
      </p:sp>
      <p:sp>
        <p:nvSpPr>
          <p:cNvPr id="6" name="Line 58">
            <a:extLst>
              <a:ext uri="{FF2B5EF4-FFF2-40B4-BE49-F238E27FC236}">
                <a16:creationId xmlns:a16="http://schemas.microsoft.com/office/drawing/2014/main" id="{C768E6C1-6268-BD41-BE2C-8285C637EC00}"/>
              </a:ext>
            </a:extLst>
          </p:cNvPr>
          <p:cNvSpPr>
            <a:spLocks noChangeShapeType="1"/>
          </p:cNvSpPr>
          <p:nvPr/>
        </p:nvSpPr>
        <p:spPr bwMode="auto">
          <a:xfrm>
            <a:off x="2038349" y="4485292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6500745-39BC-024B-B802-C7B8F0D55BA9}"/>
              </a:ext>
            </a:extLst>
          </p:cNvPr>
          <p:cNvGrpSpPr/>
          <p:nvPr/>
        </p:nvGrpSpPr>
        <p:grpSpPr>
          <a:xfrm>
            <a:off x="2343149" y="2743203"/>
            <a:ext cx="7315200" cy="2046889"/>
            <a:chOff x="762000" y="1752600"/>
            <a:chExt cx="7315200" cy="4267200"/>
          </a:xfrm>
        </p:grpSpPr>
        <p:sp>
          <p:nvSpPr>
            <p:cNvPr id="9" name="Line 57">
              <a:extLst>
                <a:ext uri="{FF2B5EF4-FFF2-40B4-BE49-F238E27FC236}">
                  <a16:creationId xmlns:a16="http://schemas.microsoft.com/office/drawing/2014/main" id="{A34F7520-1B7D-B441-9BF7-0DB3DF2858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2000" y="1752600"/>
              <a:ext cx="0" cy="419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0" name="Line 64">
              <a:extLst>
                <a:ext uri="{FF2B5EF4-FFF2-40B4-BE49-F238E27FC236}">
                  <a16:creationId xmlns:a16="http://schemas.microsoft.com/office/drawing/2014/main" id="{7A4A3513-B589-8E41-A169-DFCE2527AB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12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1" name="Line 65">
              <a:extLst>
                <a:ext uri="{FF2B5EF4-FFF2-40B4-BE49-F238E27FC236}">
                  <a16:creationId xmlns:a16="http://schemas.microsoft.com/office/drawing/2014/main" id="{B5D4F2BD-E590-0943-B9D3-507D349026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42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2" name="Line 66">
              <a:extLst>
                <a:ext uri="{FF2B5EF4-FFF2-40B4-BE49-F238E27FC236}">
                  <a16:creationId xmlns:a16="http://schemas.microsoft.com/office/drawing/2014/main" id="{3BBFAA40-7340-D54E-A27B-43102E4DE5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34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3" name="Line 67">
              <a:extLst>
                <a:ext uri="{FF2B5EF4-FFF2-40B4-BE49-F238E27FC236}">
                  <a16:creationId xmlns:a16="http://schemas.microsoft.com/office/drawing/2014/main" id="{E76DE261-EFC4-814B-B4D1-67812D6DC3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26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4" name="Line 68">
              <a:extLst>
                <a:ext uri="{FF2B5EF4-FFF2-40B4-BE49-F238E27FC236}">
                  <a16:creationId xmlns:a16="http://schemas.microsoft.com/office/drawing/2014/main" id="{9E1423C3-3D60-3D4C-99B1-C013AEB9FB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818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15" name="Line 69">
              <a:extLst>
                <a:ext uri="{FF2B5EF4-FFF2-40B4-BE49-F238E27FC236}">
                  <a16:creationId xmlns:a16="http://schemas.microsoft.com/office/drawing/2014/main" id="{EA74C5AE-7388-784B-A5A2-20FA5E7ED3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77200" y="1752600"/>
              <a:ext cx="0" cy="4267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 dirty="0">
                <a:latin typeface="Gill Sans MT" panose="020B0502020104020203" pitchFamily="34" charset="77"/>
              </a:endParaRPr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5CFC6FE3-45C3-9E4B-8FEE-AD57D75F2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700" y="4669226"/>
            <a:ext cx="165100" cy="139700"/>
          </a:xfrm>
          <a:prstGeom prst="rect">
            <a:avLst/>
          </a:prstGeom>
        </p:spPr>
      </p:pic>
      <p:sp>
        <p:nvSpPr>
          <p:cNvPr id="23" name="Text Box 63">
            <a:extLst>
              <a:ext uri="{FF2B5EF4-FFF2-40B4-BE49-F238E27FC236}">
                <a16:creationId xmlns:a16="http://schemas.microsoft.com/office/drawing/2014/main" id="{2AA3A24B-10DA-4847-A2BE-8B922DEE0D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6523" y="1786493"/>
            <a:ext cx="284436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PASO 3: División por el área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0A79A549-B230-3C4B-9D26-CCEE3E603DDD}"/>
              </a:ext>
            </a:extLst>
          </p:cNvPr>
          <p:cNvSpPr/>
          <p:nvPr/>
        </p:nvSpPr>
        <p:spPr>
          <a:xfrm>
            <a:off x="4120713" y="3610960"/>
            <a:ext cx="4508938" cy="863033"/>
          </a:xfrm>
          <a:custGeom>
            <a:avLst/>
            <a:gdLst>
              <a:gd name="csX0" fmla="*/ 0 w 4508938"/>
              <a:gd name="csY0" fmla="*/ 863033 h 863033"/>
              <a:gd name="csX1" fmla="*/ 609600 w 4508938"/>
              <a:gd name="csY1" fmla="*/ 751313 h 863033"/>
              <a:gd name="csX2" fmla="*/ 1240221 w 4508938"/>
              <a:gd name="csY2" fmla="*/ 484904 h 863033"/>
              <a:gd name="csX3" fmla="*/ 1797269 w 4508938"/>
              <a:gd name="csY3" fmla="*/ 3651 h 863033"/>
              <a:gd name="csX4" fmla="*/ 2438400 w 4508938"/>
              <a:gd name="csY4" fmla="*/ 270059 h 863033"/>
              <a:gd name="csX5" fmla="*/ 3026980 w 4508938"/>
              <a:gd name="csY5" fmla="*/ 390373 h 863033"/>
              <a:gd name="csX6" fmla="*/ 3762704 w 4508938"/>
              <a:gd name="csY6" fmla="*/ 536467 h 863033"/>
              <a:gd name="csX7" fmla="*/ 4508938 w 4508938"/>
              <a:gd name="csY7" fmla="*/ 854438 h 8630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508938" h="863033" extrusionOk="0">
                <a:moveTo>
                  <a:pt x="0" y="863033"/>
                </a:moveTo>
                <a:cubicBezTo>
                  <a:pt x="158642" y="812279"/>
                  <a:pt x="396978" y="816555"/>
                  <a:pt x="609600" y="751313"/>
                </a:cubicBezTo>
                <a:cubicBezTo>
                  <a:pt x="847454" y="694849"/>
                  <a:pt x="1017726" y="610295"/>
                  <a:pt x="1240221" y="484904"/>
                </a:cubicBezTo>
                <a:cubicBezTo>
                  <a:pt x="1405246" y="392442"/>
                  <a:pt x="1592645" y="66699"/>
                  <a:pt x="1797269" y="3651"/>
                </a:cubicBezTo>
                <a:cubicBezTo>
                  <a:pt x="1978369" y="-42331"/>
                  <a:pt x="2276305" y="226083"/>
                  <a:pt x="2438400" y="270059"/>
                </a:cubicBezTo>
                <a:cubicBezTo>
                  <a:pt x="2643353" y="334513"/>
                  <a:pt x="3026980" y="390372"/>
                  <a:pt x="3026980" y="390373"/>
                </a:cubicBezTo>
                <a:cubicBezTo>
                  <a:pt x="3207279" y="428585"/>
                  <a:pt x="3482611" y="490286"/>
                  <a:pt x="3762704" y="536467"/>
                </a:cubicBezTo>
                <a:cubicBezTo>
                  <a:pt x="4006648" y="584738"/>
                  <a:pt x="4223955" y="783268"/>
                  <a:pt x="4508938" y="854438"/>
                </a:cubicBezTo>
              </a:path>
            </a:pathLst>
          </a:custGeom>
          <a:noFill/>
          <a:ln w="25400">
            <a:solidFill>
              <a:srgbClr val="FF0000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4508938"/>
                      <a:gd name="connsiteY0" fmla="*/ 1055501 h 1055501"/>
                      <a:gd name="connsiteX1" fmla="*/ 609600 w 4508938"/>
                      <a:gd name="connsiteY1" fmla="*/ 918866 h 1055501"/>
                      <a:gd name="connsiteX2" fmla="*/ 1240221 w 4508938"/>
                      <a:gd name="connsiteY2" fmla="*/ 593045 h 1055501"/>
                      <a:gd name="connsiteX3" fmla="*/ 1797269 w 4508938"/>
                      <a:gd name="connsiteY3" fmla="*/ 4466 h 1055501"/>
                      <a:gd name="connsiteX4" fmla="*/ 2438400 w 4508938"/>
                      <a:gd name="connsiteY4" fmla="*/ 330287 h 1055501"/>
                      <a:gd name="connsiteX5" fmla="*/ 3026980 w 4508938"/>
                      <a:gd name="connsiteY5" fmla="*/ 477432 h 1055501"/>
                      <a:gd name="connsiteX6" fmla="*/ 3762704 w 4508938"/>
                      <a:gd name="connsiteY6" fmla="*/ 656107 h 1055501"/>
                      <a:gd name="connsiteX7" fmla="*/ 4508938 w 4508938"/>
                      <a:gd name="connsiteY7" fmla="*/ 1044990 h 10555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4508938" h="1055501">
                        <a:moveTo>
                          <a:pt x="0" y="1055501"/>
                        </a:moveTo>
                        <a:cubicBezTo>
                          <a:pt x="201448" y="1025721"/>
                          <a:pt x="402897" y="995942"/>
                          <a:pt x="609600" y="918866"/>
                        </a:cubicBezTo>
                        <a:cubicBezTo>
                          <a:pt x="816304" y="841790"/>
                          <a:pt x="1042276" y="745445"/>
                          <a:pt x="1240221" y="593045"/>
                        </a:cubicBezTo>
                        <a:cubicBezTo>
                          <a:pt x="1438166" y="440645"/>
                          <a:pt x="1597573" y="48259"/>
                          <a:pt x="1797269" y="4466"/>
                        </a:cubicBezTo>
                        <a:cubicBezTo>
                          <a:pt x="1996965" y="-39327"/>
                          <a:pt x="2233448" y="251459"/>
                          <a:pt x="2438400" y="330287"/>
                        </a:cubicBezTo>
                        <a:cubicBezTo>
                          <a:pt x="2643352" y="409115"/>
                          <a:pt x="3026980" y="477432"/>
                          <a:pt x="3026980" y="477432"/>
                        </a:cubicBezTo>
                        <a:cubicBezTo>
                          <a:pt x="3247697" y="531735"/>
                          <a:pt x="3515711" y="561514"/>
                          <a:pt x="3762704" y="656107"/>
                        </a:cubicBezTo>
                        <a:cubicBezTo>
                          <a:pt x="4009697" y="750700"/>
                          <a:pt x="4259317" y="897845"/>
                          <a:pt x="4508938" y="1044990"/>
                        </a:cubicBezTo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AA51677-F9AC-FB45-BF83-78704CAD27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2113" y="2977659"/>
            <a:ext cx="825500" cy="685800"/>
          </a:xfrm>
          <a:prstGeom prst="rect">
            <a:avLst/>
          </a:prstGeom>
        </p:spPr>
      </p:pic>
      <p:sp>
        <p:nvSpPr>
          <p:cNvPr id="18" name="Text Box 63">
            <a:extLst>
              <a:ext uri="{FF2B5EF4-FFF2-40B4-BE49-F238E27FC236}">
                <a16:creationId xmlns:a16="http://schemas.microsoft.com/office/drawing/2014/main" id="{943D8A06-96C2-9341-9110-C76394881E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2589" y="2851125"/>
            <a:ext cx="58381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PDF</a:t>
            </a:r>
            <a:endParaRPr lang="en-US" dirty="0"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455072932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1754A5F3-F249-B843-BB1D-BF2CA4A237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6380" y="5180808"/>
            <a:ext cx="5092700" cy="5969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EB047CD-FBFD-1A45-9DDB-8F95BE5B7F6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9989" y="868442"/>
            <a:ext cx="6362700" cy="4978400"/>
          </a:xfrm>
          <a:prstGeom prst="rect">
            <a:avLst/>
          </a:prstGeom>
        </p:spPr>
      </p:pic>
      <p:sp>
        <p:nvSpPr>
          <p:cNvPr id="25" name="Text Box 63">
            <a:extLst>
              <a:ext uri="{FF2B5EF4-FFF2-40B4-BE49-F238E27FC236}">
                <a16:creationId xmlns:a16="http://schemas.microsoft.com/office/drawing/2014/main" id="{86AB7813-0262-2046-933C-D02B43ADC5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2998" y="516889"/>
            <a:ext cx="122982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PDF en 1D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6" name="Text Box 63">
            <a:extLst>
              <a:ext uri="{FF2B5EF4-FFF2-40B4-BE49-F238E27FC236}">
                <a16:creationId xmlns:a16="http://schemas.microsoft.com/office/drawing/2014/main" id="{F9183AE1-220C-5345-9A95-F71E05C5B3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3567" y="4675954"/>
            <a:ext cx="103265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Muestras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24653CB-C2FE-7943-963A-E99159AAFB0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73575" y="815892"/>
            <a:ext cx="6400800" cy="5016500"/>
          </a:xfrm>
          <a:prstGeom prst="rect">
            <a:avLst/>
          </a:prstGeom>
        </p:spPr>
      </p:pic>
      <p:sp>
        <p:nvSpPr>
          <p:cNvPr id="28" name="Text Box 63">
            <a:extLst>
              <a:ext uri="{FF2B5EF4-FFF2-40B4-BE49-F238E27FC236}">
                <a16:creationId xmlns:a16="http://schemas.microsoft.com/office/drawing/2014/main" id="{37A87D5E-F2BD-7F41-A59C-0FB0CBCC13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0869" y="2150439"/>
            <a:ext cx="162999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HISTOGRAMA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F841AB4B-92F2-A54C-9333-AC20DDB9CA0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56782" y="849668"/>
            <a:ext cx="6299200" cy="499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380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6EAEF-14B0-504F-B814-84DACCE33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5793" y="28575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Cómo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calcular</a:t>
            </a:r>
            <a:r>
              <a:rPr lang="en-US" dirty="0">
                <a:latin typeface="Gill Sans MT" panose="020B0502020104020203" pitchFamily="34" charset="77"/>
              </a:rPr>
              <a:t> la PDF </a:t>
            </a:r>
            <a:r>
              <a:rPr lang="en-US" dirty="0" err="1">
                <a:latin typeface="Gill Sans MT" panose="020B0502020104020203" pitchFamily="34" charset="77"/>
              </a:rPr>
              <a:t>en</a:t>
            </a:r>
            <a:r>
              <a:rPr lang="en-US" dirty="0">
                <a:latin typeface="Gill Sans MT" panose="020B0502020104020203" pitchFamily="34" charset="77"/>
              </a:rPr>
              <a:t> 2D?</a:t>
            </a:r>
            <a:br>
              <a:rPr lang="en-US" dirty="0">
                <a:latin typeface="Gill Sans MT" panose="020B0502020104020203" pitchFamily="34" charset="77"/>
              </a:rPr>
            </a:br>
            <a:r>
              <a:rPr lang="en-US" dirty="0">
                <a:latin typeface="Gill Sans MT" panose="020B0502020104020203" pitchFamily="34" charset="77"/>
              </a:rPr>
              <a:t>KDE</a:t>
            </a:r>
          </a:p>
        </p:txBody>
      </p:sp>
    </p:spTree>
    <p:extLst>
      <p:ext uri="{BB962C8B-B14F-4D97-AF65-F5344CB8AC3E}">
        <p14:creationId xmlns:p14="http://schemas.microsoft.com/office/powerpoint/2010/main" val="3233550463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84A522D-D92F-0D42-A335-B2EF42157D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3693" y="1654095"/>
            <a:ext cx="4261865" cy="3357064"/>
          </a:xfrm>
          <a:prstGeom prst="rect">
            <a:avLst/>
          </a:prstGeom>
        </p:spPr>
      </p:pic>
      <p:sp>
        <p:nvSpPr>
          <p:cNvPr id="10" name="Text Box 63">
            <a:extLst>
              <a:ext uri="{FF2B5EF4-FFF2-40B4-BE49-F238E27FC236}">
                <a16:creationId xmlns:a16="http://schemas.microsoft.com/office/drawing/2014/main" id="{F95F75A8-3D9D-CD4B-8380-697A0CB103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2998" y="516889"/>
            <a:ext cx="122982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PDF en 2D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Text Box 63">
            <a:extLst>
              <a:ext uri="{FF2B5EF4-FFF2-40B4-BE49-F238E27FC236}">
                <a16:creationId xmlns:a16="http://schemas.microsoft.com/office/drawing/2014/main" id="{3A0F3BCB-08C1-B649-ACE9-88CD4649DE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1622" y="5221451"/>
            <a:ext cx="103265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s-CL" dirty="0">
                <a:latin typeface="Gill Sans MT" panose="020B0502020104020203" pitchFamily="34" charset="77"/>
              </a:rPr>
              <a:t>Muestras</a:t>
            </a:r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BD98040-2A22-1342-960A-A19B26BD8888}"/>
              </a:ext>
            </a:extLst>
          </p:cNvPr>
          <p:cNvGrpSpPr/>
          <p:nvPr/>
        </p:nvGrpSpPr>
        <p:grpSpPr>
          <a:xfrm>
            <a:off x="6148550" y="1687921"/>
            <a:ext cx="4270320" cy="3902863"/>
            <a:chOff x="4624550" y="1687920"/>
            <a:chExt cx="4270320" cy="3902863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145CDDD-4C64-5545-9678-F21116E700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24550" y="1687920"/>
              <a:ext cx="4270320" cy="3323239"/>
            </a:xfrm>
            <a:prstGeom prst="rect">
              <a:avLst/>
            </a:prstGeom>
          </p:spPr>
        </p:pic>
        <p:sp>
          <p:nvSpPr>
            <p:cNvPr id="12" name="Text Box 63">
              <a:extLst>
                <a:ext uri="{FF2B5EF4-FFF2-40B4-BE49-F238E27FC236}">
                  <a16:creationId xmlns:a16="http://schemas.microsoft.com/office/drawing/2014/main" id="{F9BE8631-73FE-6543-B1F5-C90AF68967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42736" y="5221451"/>
              <a:ext cx="58381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s-CL" dirty="0">
                  <a:latin typeface="Gill Sans MT" panose="020B0502020104020203" pitchFamily="34" charset="77"/>
                </a:rPr>
                <a:t>PDF</a:t>
              </a:r>
              <a:endParaRPr lang="en-US" dirty="0">
                <a:latin typeface="Gill Sans MT" panose="020B0502020104020203" pitchFamily="34" charset="7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53242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6EAEF-14B0-504F-B814-84DACCE33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5793" y="28575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Ejemplo</a:t>
            </a:r>
            <a:r>
              <a:rPr lang="en-US" dirty="0"/>
              <a:t> PDF </a:t>
            </a:r>
            <a:r>
              <a:rPr lang="en-US" dirty="0" err="1"/>
              <a:t>en</a:t>
            </a:r>
            <a:r>
              <a:rPr lang="en-US" dirty="0"/>
              <a:t> 2D</a:t>
            </a:r>
            <a:br>
              <a:rPr lang="en-US" dirty="0"/>
            </a:br>
            <a:r>
              <a:rPr lang="en-US" dirty="0"/>
              <a:t>KDE</a:t>
            </a:r>
          </a:p>
        </p:txBody>
      </p:sp>
    </p:spTree>
    <p:extLst>
      <p:ext uri="{BB962C8B-B14F-4D97-AF65-F5344CB8AC3E}">
        <p14:creationId xmlns:p14="http://schemas.microsoft.com/office/powerpoint/2010/main" val="1358221899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040C4911-7BC6-5F4B-9590-ED19B6892D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67"/>
          <a:stretch/>
        </p:blipFill>
        <p:spPr bwMode="auto">
          <a:xfrm>
            <a:off x="1555750" y="525517"/>
            <a:ext cx="9080500" cy="6084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6777946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01A9A481-3F3D-3740-946C-2339868B60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990601"/>
            <a:ext cx="9144000" cy="4875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7489617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A3F32EF5-F5AA-B449-8646-42E3A25158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990601"/>
            <a:ext cx="9144000" cy="4875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360597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>
            <a:extLst>
              <a:ext uri="{FF2B5EF4-FFF2-40B4-BE49-F238E27FC236}">
                <a16:creationId xmlns:a16="http://schemas.microsoft.com/office/drawing/2014/main" id="{52EC8698-3F49-DE4D-BBCD-2254584C45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688" y="1481959"/>
            <a:ext cx="3633208" cy="4108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>
            <a:extLst>
              <a:ext uri="{FF2B5EF4-FFF2-40B4-BE49-F238E27FC236}">
                <a16:creationId xmlns:a16="http://schemas.microsoft.com/office/drawing/2014/main" id="{2A8A3993-53EE-6D44-9239-3E09F35301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8104" y="1481959"/>
            <a:ext cx="3633208" cy="4108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9145737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7AA54327-B020-A94B-9845-4462B790E6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16" t="10726" r="14745" b="26298"/>
          <a:stretch/>
        </p:blipFill>
        <p:spPr bwMode="auto">
          <a:xfrm>
            <a:off x="4246180" y="1629103"/>
            <a:ext cx="3510455" cy="3825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B2B36DD5-71FA-F64A-95CD-1DFB0101D341}"/>
              </a:ext>
            </a:extLst>
          </p:cNvPr>
          <p:cNvGrpSpPr/>
          <p:nvPr/>
        </p:nvGrpSpPr>
        <p:grpSpPr>
          <a:xfrm>
            <a:off x="4186182" y="1483493"/>
            <a:ext cx="2684518" cy="3573517"/>
            <a:chOff x="2662182" y="1483492"/>
            <a:chExt cx="2684518" cy="357351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635CCA0-B8E0-4B46-85A8-9DDE530790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97300" y="1483492"/>
              <a:ext cx="1549400" cy="3175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3891FB5-054D-5C4B-B22A-38E0478AFC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62182" y="4739509"/>
              <a:ext cx="1549400" cy="317500"/>
            </a:xfrm>
            <a:prstGeom prst="rect">
              <a:avLst/>
            </a:prstGeom>
          </p:spPr>
        </p:pic>
      </p:grpSp>
      <p:sp>
        <p:nvSpPr>
          <p:cNvPr id="7" name="Freeform 6">
            <a:extLst>
              <a:ext uri="{FF2B5EF4-FFF2-40B4-BE49-F238E27FC236}">
                <a16:creationId xmlns:a16="http://schemas.microsoft.com/office/drawing/2014/main" id="{31D4F7FE-A478-CA41-8577-221AF179C6B5}"/>
              </a:ext>
            </a:extLst>
          </p:cNvPr>
          <p:cNvSpPr/>
          <p:nvPr/>
        </p:nvSpPr>
        <p:spPr>
          <a:xfrm>
            <a:off x="5130800" y="2753360"/>
            <a:ext cx="1413314" cy="1925320"/>
          </a:xfrm>
          <a:custGeom>
            <a:avLst/>
            <a:gdLst>
              <a:gd name="connsiteX0" fmla="*/ 0 w 1413314"/>
              <a:gd name="connsiteY0" fmla="*/ 0 h 1925320"/>
              <a:gd name="connsiteX1" fmla="*/ 462280 w 1413314"/>
              <a:gd name="connsiteY1" fmla="*/ 213360 h 1925320"/>
              <a:gd name="connsiteX2" fmla="*/ 995680 w 1413314"/>
              <a:gd name="connsiteY2" fmla="*/ 462280 h 1925320"/>
              <a:gd name="connsiteX3" fmla="*/ 1330960 w 1413314"/>
              <a:gd name="connsiteY3" fmla="*/ 777240 h 1925320"/>
              <a:gd name="connsiteX4" fmla="*/ 1407160 w 1413314"/>
              <a:gd name="connsiteY4" fmla="*/ 1168400 h 1925320"/>
              <a:gd name="connsiteX5" fmla="*/ 1214120 w 1413314"/>
              <a:gd name="connsiteY5" fmla="*/ 1539240 h 1925320"/>
              <a:gd name="connsiteX6" fmla="*/ 894080 w 1413314"/>
              <a:gd name="connsiteY6" fmla="*/ 1717040 h 1925320"/>
              <a:gd name="connsiteX7" fmla="*/ 391160 w 1413314"/>
              <a:gd name="connsiteY7" fmla="*/ 1925320 h 1925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13314" h="1925320">
                <a:moveTo>
                  <a:pt x="0" y="0"/>
                </a:moveTo>
                <a:lnTo>
                  <a:pt x="462280" y="213360"/>
                </a:lnTo>
                <a:cubicBezTo>
                  <a:pt x="628227" y="290407"/>
                  <a:pt x="850900" y="368300"/>
                  <a:pt x="995680" y="462280"/>
                </a:cubicBezTo>
                <a:cubicBezTo>
                  <a:pt x="1140460" y="556260"/>
                  <a:pt x="1262380" y="659553"/>
                  <a:pt x="1330960" y="777240"/>
                </a:cubicBezTo>
                <a:cubicBezTo>
                  <a:pt x="1399540" y="894927"/>
                  <a:pt x="1426633" y="1041400"/>
                  <a:pt x="1407160" y="1168400"/>
                </a:cubicBezTo>
                <a:cubicBezTo>
                  <a:pt x="1387687" y="1295400"/>
                  <a:pt x="1299633" y="1447800"/>
                  <a:pt x="1214120" y="1539240"/>
                </a:cubicBezTo>
                <a:cubicBezTo>
                  <a:pt x="1128607" y="1630680"/>
                  <a:pt x="1031240" y="1652693"/>
                  <a:pt x="894080" y="1717040"/>
                </a:cubicBezTo>
                <a:cubicBezTo>
                  <a:pt x="756920" y="1781387"/>
                  <a:pt x="574040" y="1853353"/>
                  <a:pt x="391160" y="1925320"/>
                </a:cubicBezTo>
              </a:path>
            </a:pathLst>
          </a:custGeom>
          <a:noFill/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35369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>
            <a:extLst>
              <a:ext uri="{FF2B5EF4-FFF2-40B4-BE49-F238E27FC236}">
                <a16:creationId xmlns:a16="http://schemas.microsoft.com/office/drawing/2014/main" id="{97BC50D9-A84F-6F43-B653-4E8E5F0C25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8300" y="927100"/>
            <a:ext cx="8915400" cy="500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CDB44922-FD9C-2148-81BF-BD104F9E57AF}"/>
              </a:ext>
            </a:extLst>
          </p:cNvPr>
          <p:cNvGrpSpPr/>
          <p:nvPr/>
        </p:nvGrpSpPr>
        <p:grpSpPr>
          <a:xfrm>
            <a:off x="3967480" y="3810000"/>
            <a:ext cx="2809240" cy="807720"/>
            <a:chOff x="2443480" y="3810000"/>
            <a:chExt cx="2809240" cy="80772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CBB9595F-9488-9741-B2B5-55FF14FD0125}"/>
                </a:ext>
              </a:extLst>
            </p:cNvPr>
            <p:cNvSpPr/>
            <p:nvPr/>
          </p:nvSpPr>
          <p:spPr>
            <a:xfrm>
              <a:off x="2443480" y="3870960"/>
              <a:ext cx="472440" cy="238760"/>
            </a:xfrm>
            <a:custGeom>
              <a:avLst/>
              <a:gdLst>
                <a:gd name="connsiteX0" fmla="*/ 0 w 472440"/>
                <a:gd name="connsiteY0" fmla="*/ 238760 h 238760"/>
                <a:gd name="connsiteX1" fmla="*/ 223520 w 472440"/>
                <a:gd name="connsiteY1" fmla="*/ 91440 h 238760"/>
                <a:gd name="connsiteX2" fmla="*/ 472440 w 472440"/>
                <a:gd name="connsiteY2" fmla="*/ 0 h 238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2440" h="238760">
                  <a:moveTo>
                    <a:pt x="0" y="238760"/>
                  </a:moveTo>
                  <a:cubicBezTo>
                    <a:pt x="72390" y="184996"/>
                    <a:pt x="144780" y="131233"/>
                    <a:pt x="223520" y="91440"/>
                  </a:cubicBezTo>
                  <a:cubicBezTo>
                    <a:pt x="302260" y="51647"/>
                    <a:pt x="387350" y="25823"/>
                    <a:pt x="472440" y="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C5F580DB-FDDF-3644-99CC-5F2C0B31772E}"/>
                </a:ext>
              </a:extLst>
            </p:cNvPr>
            <p:cNvSpPr/>
            <p:nvPr/>
          </p:nvSpPr>
          <p:spPr>
            <a:xfrm>
              <a:off x="3886200" y="3810000"/>
              <a:ext cx="1366520" cy="807720"/>
            </a:xfrm>
            <a:custGeom>
              <a:avLst/>
              <a:gdLst>
                <a:gd name="connsiteX0" fmla="*/ 0 w 1366520"/>
                <a:gd name="connsiteY0" fmla="*/ 0 h 807720"/>
                <a:gd name="connsiteX1" fmla="*/ 381000 w 1366520"/>
                <a:gd name="connsiteY1" fmla="*/ 101600 h 807720"/>
                <a:gd name="connsiteX2" fmla="*/ 670560 w 1366520"/>
                <a:gd name="connsiteY2" fmla="*/ 218440 h 807720"/>
                <a:gd name="connsiteX3" fmla="*/ 924560 w 1366520"/>
                <a:gd name="connsiteY3" fmla="*/ 350520 h 807720"/>
                <a:gd name="connsiteX4" fmla="*/ 1173480 w 1366520"/>
                <a:gd name="connsiteY4" fmla="*/ 553720 h 807720"/>
                <a:gd name="connsiteX5" fmla="*/ 1366520 w 1366520"/>
                <a:gd name="connsiteY5" fmla="*/ 807720 h 807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66520" h="807720">
                  <a:moveTo>
                    <a:pt x="0" y="0"/>
                  </a:moveTo>
                  <a:cubicBezTo>
                    <a:pt x="134620" y="32596"/>
                    <a:pt x="269240" y="65193"/>
                    <a:pt x="381000" y="101600"/>
                  </a:cubicBezTo>
                  <a:cubicBezTo>
                    <a:pt x="492760" y="138007"/>
                    <a:pt x="579967" y="176953"/>
                    <a:pt x="670560" y="218440"/>
                  </a:cubicBezTo>
                  <a:cubicBezTo>
                    <a:pt x="761153" y="259927"/>
                    <a:pt x="840740" y="294640"/>
                    <a:pt x="924560" y="350520"/>
                  </a:cubicBezTo>
                  <a:cubicBezTo>
                    <a:pt x="1008380" y="406400"/>
                    <a:pt x="1099820" y="477520"/>
                    <a:pt x="1173480" y="553720"/>
                  </a:cubicBezTo>
                  <a:cubicBezTo>
                    <a:pt x="1247140" y="629920"/>
                    <a:pt x="1306830" y="718820"/>
                    <a:pt x="1366520" y="80772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1753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7212974C-0D09-DA4D-BE58-409766B7D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249200"/>
            <a:ext cx="8229600" cy="1143000"/>
          </a:xfrm>
        </p:spPr>
        <p:txBody>
          <a:bodyPr/>
          <a:lstStyle/>
          <a:p>
            <a:r>
              <a:rPr lang="en-US" dirty="0">
                <a:latin typeface="Gill Sans MT" panose="020B0502020104020203" pitchFamily="34" charset="77"/>
              </a:rPr>
              <a:t>Naïve Bayes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A776124-D9D4-304D-A181-7FC7CB797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8300" y="3270250"/>
            <a:ext cx="6375400" cy="3175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623B87E-EF66-7A4B-B72A-B47063EDED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8300" y="4109981"/>
            <a:ext cx="6375400" cy="3175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2697D97-0151-0546-8051-730655511F48}"/>
              </a:ext>
            </a:extLst>
          </p:cNvPr>
          <p:cNvSpPr txBox="1"/>
          <p:nvPr/>
        </p:nvSpPr>
        <p:spPr>
          <a:xfrm>
            <a:off x="4772561" y="5424134"/>
            <a:ext cx="2384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Eventos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independientes</a:t>
            </a:r>
            <a:endParaRPr lang="en-US" dirty="0"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025355466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F2668601-2ADC-3441-BBC4-D5945F45FB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2387" y="89269"/>
            <a:ext cx="6663558" cy="6679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6730348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F2668601-2ADC-3441-BBC4-D5945F45FB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2387" y="89269"/>
            <a:ext cx="6663558" cy="6679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740C020-6EBA-D14C-BD2B-EA85F379E6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1300" y="1483492"/>
            <a:ext cx="1549400" cy="317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32B80B-A12B-C140-AF0F-D2DDA67592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6182" y="4739509"/>
            <a:ext cx="1549400" cy="317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EC4E796-56D8-0A40-B08F-DE42F72616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9613" y="4005974"/>
            <a:ext cx="1092200" cy="317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1F0A1B5-6500-E749-B258-4D607E3638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8682" y="337864"/>
            <a:ext cx="1092200" cy="317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67225AF-0737-6D4A-9261-22B873A4B5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1120" y="337864"/>
            <a:ext cx="1092200" cy="317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87AED3D-6226-FD47-8329-20098CE70B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59613" y="2534526"/>
            <a:ext cx="10922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645975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7212974C-0D09-DA4D-BE58-409766B7D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249200"/>
            <a:ext cx="8229600" cy="1143000"/>
          </a:xfrm>
        </p:spPr>
        <p:txBody>
          <a:bodyPr/>
          <a:lstStyle/>
          <a:p>
            <a:r>
              <a:rPr lang="en-US" dirty="0">
                <a:latin typeface="Gill Sans MT" panose="020B0502020104020203" pitchFamily="34" charset="77"/>
              </a:rPr>
              <a:t>Naïve Bayes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A776124-D9D4-304D-A181-7FC7CB797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8300" y="3270250"/>
            <a:ext cx="6375400" cy="3175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623B87E-EF66-7A4B-B72A-B47063EDED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8300" y="4109981"/>
            <a:ext cx="6375400" cy="3175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2697D97-0151-0546-8051-730655511F48}"/>
              </a:ext>
            </a:extLst>
          </p:cNvPr>
          <p:cNvSpPr txBox="1"/>
          <p:nvPr/>
        </p:nvSpPr>
        <p:spPr>
          <a:xfrm>
            <a:off x="4772561" y="5424134"/>
            <a:ext cx="2384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Eventos</a:t>
            </a:r>
            <a:r>
              <a:rPr lang="en-US" dirty="0">
                <a:latin typeface="Gill Sans MT" panose="020B0502020104020203" pitchFamily="34" charset="77"/>
              </a:rPr>
              <a:t> </a:t>
            </a:r>
            <a:r>
              <a:rPr lang="en-US" dirty="0" err="1">
                <a:latin typeface="Gill Sans MT" panose="020B0502020104020203" pitchFamily="34" charset="77"/>
              </a:rPr>
              <a:t>independientes</a:t>
            </a:r>
            <a:endParaRPr lang="en-US" dirty="0"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648797150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524001" y="3031067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Gill Sans MT" panose="020B0502020104020203" pitchFamily="34" charset="77"/>
                <a:cs typeface="Trebuchet MS"/>
              </a:rPr>
              <a:t>LDA, QDA, 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Mahalanobis</a:t>
            </a:r>
            <a:endParaRPr lang="en-US" sz="2400" dirty="0">
              <a:latin typeface="Gill Sans MT" panose="020B0502020104020203" pitchFamily="34" charset="77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222084292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creen Shot 2014-10-29 at 9.06.09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3023" y="2607421"/>
            <a:ext cx="4104054" cy="52539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862385" y="2061309"/>
            <a:ext cx="519879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  <a:cs typeface="Trebuchet MS"/>
              </a:rPr>
              <a:t>Clasificador de Bayes: </a:t>
            </a:r>
            <a:r>
              <a:rPr lang="es-ES_tradnl" sz="2200" b="1" i="1" dirty="0">
                <a:latin typeface="Times" charset="0"/>
                <a:ea typeface="Times" charset="0"/>
                <a:cs typeface="Times" charset="0"/>
              </a:rPr>
              <a:t>x</a:t>
            </a:r>
            <a:r>
              <a:rPr lang="es-ES_tradnl" dirty="0">
                <a:latin typeface="Gill Sans MT" panose="020B0502020104020203" pitchFamily="34" charset="77"/>
                <a:cs typeface="Trebuchet MS"/>
              </a:rPr>
              <a:t> es clasificado como clase </a:t>
            </a:r>
            <a:r>
              <a:rPr lang="es-ES_tradnl" sz="2200" i="1" dirty="0">
                <a:latin typeface="Times" charset="0"/>
                <a:ea typeface="Times" charset="0"/>
                <a:cs typeface="Times" charset="0"/>
              </a:rPr>
              <a:t>j</a:t>
            </a:r>
            <a:r>
              <a:rPr lang="es-ES_tradnl" dirty="0">
                <a:latin typeface="Gill Sans MT" panose="020B0502020104020203" pitchFamily="34" charset="77"/>
                <a:cs typeface="Trebuchet MS"/>
              </a:rPr>
              <a:t>  si</a:t>
            </a:r>
          </a:p>
        </p:txBody>
      </p:sp>
      <p:pic>
        <p:nvPicPr>
          <p:cNvPr id="16" name="Picture 15" descr="Screen Shot 2014-10-29 at 9.06.16 A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9538" y="5102213"/>
            <a:ext cx="5320323" cy="497511"/>
          </a:xfrm>
          <a:prstGeom prst="rect">
            <a:avLst/>
          </a:prstGeom>
        </p:spPr>
      </p:pic>
      <p:grpSp>
        <p:nvGrpSpPr>
          <p:cNvPr id="19" name="Group 18"/>
          <p:cNvGrpSpPr/>
          <p:nvPr/>
        </p:nvGrpSpPr>
        <p:grpSpPr>
          <a:xfrm>
            <a:off x="2858481" y="3796287"/>
            <a:ext cx="3608752" cy="1268491"/>
            <a:chOff x="1334481" y="3796286"/>
            <a:chExt cx="3608752" cy="1268491"/>
          </a:xfrm>
        </p:grpSpPr>
        <p:pic>
          <p:nvPicPr>
            <p:cNvPr id="17" name="Picture 16" descr="Screen Shot 2014-10-29 at 9.02.16 AM.png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07507" y="4276081"/>
              <a:ext cx="2635726" cy="788696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1334481" y="3796286"/>
              <a:ext cx="289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dirty="0">
                  <a:latin typeface="Gill Sans MT" panose="020B0502020104020203" pitchFamily="34" charset="77"/>
                  <a:cs typeface="Trebuchet MS"/>
                </a:rPr>
                <a:t>Usando el teorema de Bayes: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71365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 Shot 2014-10-29 at 9.05.38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825500"/>
            <a:ext cx="9144000" cy="5187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337488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 Shot 2014-10-29 at 9.05.29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850901"/>
            <a:ext cx="9144000" cy="5153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69169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62385" y="908566"/>
            <a:ext cx="30283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  <a:cs typeface="Trebuchet MS"/>
              </a:rPr>
              <a:t>Para distribuciones Gaussianas</a:t>
            </a:r>
          </a:p>
        </p:txBody>
      </p:sp>
      <p:pic>
        <p:nvPicPr>
          <p:cNvPr id="5" name="Picture 4" descr="Screen Shot 2014-10-29 at 9.02.00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305" y="1694013"/>
            <a:ext cx="6017845" cy="866682"/>
          </a:xfrm>
          <a:prstGeom prst="rect">
            <a:avLst/>
          </a:prstGeom>
        </p:spPr>
      </p:pic>
      <p:grpSp>
        <p:nvGrpSpPr>
          <p:cNvPr id="21" name="Group 20"/>
          <p:cNvGrpSpPr/>
          <p:nvPr/>
        </p:nvGrpSpPr>
        <p:grpSpPr>
          <a:xfrm>
            <a:off x="5146415" y="3911375"/>
            <a:ext cx="2011891" cy="2532186"/>
            <a:chOff x="3622414" y="4129451"/>
            <a:chExt cx="2011891" cy="2532186"/>
          </a:xfrm>
        </p:grpSpPr>
        <p:pic>
          <p:nvPicPr>
            <p:cNvPr id="8" name="Picture 7" descr="Screen Shot 2014-10-29 at 9.16.52 AM.pn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41884" y="4129451"/>
              <a:ext cx="1384300" cy="1803400"/>
            </a:xfrm>
            <a:prstGeom prst="rect">
              <a:avLst/>
            </a:prstGeom>
          </p:spPr>
        </p:pic>
        <p:pic>
          <p:nvPicPr>
            <p:cNvPr id="9" name="Picture 8" descr="Screen Shot 2014-10-29 at 9.17.00 AM.png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22414" y="6191962"/>
              <a:ext cx="2011891" cy="469675"/>
            </a:xfrm>
            <a:prstGeom prst="rect">
              <a:avLst/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4382478" y="4577858"/>
              <a:ext cx="27443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3200" dirty="0">
                  <a:latin typeface="Gill Sans MT" panose="020B0502020104020203" pitchFamily="34" charset="77"/>
                  <a:cs typeface="Trebuchet MS"/>
                </a:rPr>
                <a:t>.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8240347" y="3914788"/>
            <a:ext cx="1955805" cy="2519005"/>
            <a:chOff x="6716346" y="4132863"/>
            <a:chExt cx="1955805" cy="2519005"/>
          </a:xfrm>
        </p:grpSpPr>
        <p:pic>
          <p:nvPicPr>
            <p:cNvPr id="10" name="Picture 9" descr="Screen Shot 2014-10-29 at 9.17.43 AM.png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16346" y="4132863"/>
              <a:ext cx="1892300" cy="1854200"/>
            </a:xfrm>
            <a:prstGeom prst="rect">
              <a:avLst/>
            </a:prstGeom>
          </p:spPr>
        </p:pic>
        <p:pic>
          <p:nvPicPr>
            <p:cNvPr id="11" name="Picture 10" descr="Screen Shot 2014-10-29 at 9.17.49 AM.png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35511" y="6182193"/>
              <a:ext cx="1836640" cy="469675"/>
            </a:xfrm>
            <a:prstGeom prst="rect">
              <a:avLst/>
            </a:prstGeom>
          </p:spPr>
        </p:pic>
        <p:sp>
          <p:nvSpPr>
            <p:cNvPr id="12" name="Rectangle 11"/>
            <p:cNvSpPr/>
            <p:nvPr/>
          </p:nvSpPr>
          <p:spPr>
            <a:xfrm>
              <a:off x="6926385" y="4630615"/>
              <a:ext cx="195384" cy="26377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641492" y="4563681"/>
              <a:ext cx="27443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3200" dirty="0">
                  <a:latin typeface="Gill Sans MT" panose="020B0502020104020203" pitchFamily="34" charset="77"/>
                  <a:cs typeface="Trebuchet MS"/>
                </a:rPr>
                <a:t>.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1856147" y="3620031"/>
            <a:ext cx="2636628" cy="2864564"/>
            <a:chOff x="332146" y="3838107"/>
            <a:chExt cx="2636628" cy="2864564"/>
          </a:xfrm>
        </p:grpSpPr>
        <p:pic>
          <p:nvPicPr>
            <p:cNvPr id="6" name="Picture 5" descr="Screen Shot 2014-10-29 at 9.15.49 AM.png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0403" y="4631707"/>
              <a:ext cx="1219200" cy="749300"/>
            </a:xfrm>
            <a:prstGeom prst="rect">
              <a:avLst/>
            </a:prstGeom>
          </p:spPr>
        </p:pic>
        <p:pic>
          <p:nvPicPr>
            <p:cNvPr id="7" name="Picture 6" descr="Screen Shot 2014-10-29 at 9.16.01 AM.png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2146" y="6183925"/>
              <a:ext cx="1899732" cy="518746"/>
            </a:xfrm>
            <a:prstGeom prst="rect">
              <a:avLst/>
            </a:prstGeom>
          </p:spPr>
        </p:pic>
        <p:sp>
          <p:nvSpPr>
            <p:cNvPr id="13" name="TextBox 12"/>
            <p:cNvSpPr txBox="1"/>
            <p:nvPr/>
          </p:nvSpPr>
          <p:spPr>
            <a:xfrm>
              <a:off x="435708" y="3838107"/>
              <a:ext cx="253306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dirty="0">
                  <a:latin typeface="Gill Sans MT" panose="020B0502020104020203" pitchFamily="34" charset="77"/>
                  <a:cs typeface="Trebuchet MS"/>
                </a:rPr>
                <a:t>Ejemplos de </a:t>
              </a:r>
              <a:r>
                <a:rPr lang="es-ES_tradnl" dirty="0" err="1">
                  <a:latin typeface="Gill Sans MT" panose="020B0502020104020203" pitchFamily="34" charset="77"/>
                  <a:cs typeface="Trebuchet MS"/>
                </a:rPr>
                <a:t>Σ</a:t>
              </a:r>
              <a:r>
                <a:rPr lang="es-ES_tradnl" dirty="0">
                  <a:latin typeface="Gill Sans MT" panose="020B0502020104020203" pitchFamily="34" charset="77"/>
                  <a:cs typeface="Trebuchet MS"/>
                </a:rPr>
                <a:t> y μ en 2D:
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103923" y="4592627"/>
              <a:ext cx="27443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3200" dirty="0">
                  <a:latin typeface="Gill Sans MT" panose="020B0502020104020203" pitchFamily="34" charset="77"/>
                  <a:cs typeface="Trebuchet MS"/>
                </a:rPr>
                <a:t>.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1921551" y="2653025"/>
            <a:ext cx="6944945" cy="1054178"/>
            <a:chOff x="397550" y="2653025"/>
            <a:chExt cx="6944945" cy="1054178"/>
          </a:xfrm>
        </p:grpSpPr>
        <p:pic>
          <p:nvPicPr>
            <p:cNvPr id="23" name="Picture 22" descr="Screen Shot 2014-10-29 at 9.43.40 AM.png"/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17336" y="2653025"/>
              <a:ext cx="3225159" cy="1054178"/>
            </a:xfrm>
            <a:prstGeom prst="rect">
              <a:avLst/>
            </a:prstGeom>
          </p:spPr>
        </p:pic>
        <p:sp>
          <p:nvSpPr>
            <p:cNvPr id="24" name="TextBox 23"/>
            <p:cNvSpPr txBox="1"/>
            <p:nvPr/>
          </p:nvSpPr>
          <p:spPr>
            <a:xfrm>
              <a:off x="397550" y="2914026"/>
              <a:ext cx="351987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dirty="0">
                  <a:latin typeface="Gill Sans MT" panose="020B0502020104020203" pitchFamily="34" charset="77"/>
                  <a:cs typeface="Trebuchet MS"/>
                </a:rPr>
                <a:t>Estimador de Matriz de Covarianza:
</a:t>
              </a:r>
            </a:p>
          </p:txBody>
        </p:sp>
      </p:grpSp>
      <p:sp>
        <p:nvSpPr>
          <p:cNvPr id="18" name="Rectangle 17"/>
          <p:cNvSpPr/>
          <p:nvPr/>
        </p:nvSpPr>
        <p:spPr>
          <a:xfrm>
            <a:off x="8220835" y="4617962"/>
            <a:ext cx="449021" cy="26938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61443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2785411" y="547631"/>
            <a:ext cx="21489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  <a:cs typeface="Trebuchet MS"/>
              </a:rPr>
              <a:t>Clasificador de Bayes
</a:t>
            </a:r>
          </a:p>
        </p:txBody>
      </p:sp>
      <p:pic>
        <p:nvPicPr>
          <p:cNvPr id="16" name="Picture 15" descr="Screen Shot 2014-10-29 at 9.06.16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271" y="1792672"/>
            <a:ext cx="5320323" cy="497511"/>
          </a:xfrm>
          <a:prstGeom prst="rect">
            <a:avLst/>
          </a:prstGeom>
        </p:spPr>
      </p:pic>
      <p:pic>
        <p:nvPicPr>
          <p:cNvPr id="15" name="Picture 14" descr="Screen Shot 2014-10-29 at 9.06.09 A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1447" y="1093717"/>
            <a:ext cx="4104054" cy="525398"/>
          </a:xfrm>
          <a:prstGeom prst="rect">
            <a:avLst/>
          </a:prstGeom>
        </p:spPr>
      </p:pic>
      <p:grpSp>
        <p:nvGrpSpPr>
          <p:cNvPr id="11" name="Group 10"/>
          <p:cNvGrpSpPr/>
          <p:nvPr/>
        </p:nvGrpSpPr>
        <p:grpSpPr>
          <a:xfrm>
            <a:off x="2460527" y="4494202"/>
            <a:ext cx="7594876" cy="1993842"/>
            <a:chOff x="936527" y="4494202"/>
            <a:chExt cx="7594876" cy="1993842"/>
          </a:xfrm>
        </p:grpSpPr>
        <p:pic>
          <p:nvPicPr>
            <p:cNvPr id="6" name="Picture 5" descr="Screen Shot 2014-10-29 at 9.02.33 AM.png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11210" y="4494202"/>
              <a:ext cx="6940588" cy="1993842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>
            <a:xfrm>
              <a:off x="6503018" y="4617802"/>
              <a:ext cx="2028385" cy="4876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6488639" y="5822070"/>
              <a:ext cx="2028385" cy="4876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023409" y="4616270"/>
              <a:ext cx="2028385" cy="4876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7" name="Picture 6" descr="Screen Shot 2014-10-29 at 9.35.32 AM.png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6527" y="4573338"/>
              <a:ext cx="1397000" cy="533400"/>
            </a:xfrm>
            <a:prstGeom prst="rect">
              <a:avLst/>
            </a:prstGeom>
          </p:spPr>
        </p:pic>
        <p:pic>
          <p:nvPicPr>
            <p:cNvPr id="9" name="Picture 8" descr="Screen Shot 2014-10-29 at 9.35.57 AM.png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0426" y="4611565"/>
              <a:ext cx="800100" cy="482600"/>
            </a:xfrm>
            <a:prstGeom prst="rect">
              <a:avLst/>
            </a:prstGeom>
          </p:spPr>
        </p:pic>
      </p:grpSp>
      <p:grpSp>
        <p:nvGrpSpPr>
          <p:cNvPr id="29" name="Group 28"/>
          <p:cNvGrpSpPr/>
          <p:nvPr/>
        </p:nvGrpSpPr>
        <p:grpSpPr>
          <a:xfrm>
            <a:off x="2655568" y="3214255"/>
            <a:ext cx="6352358" cy="1167976"/>
            <a:chOff x="1131568" y="3214255"/>
            <a:chExt cx="6352358" cy="1167976"/>
          </a:xfrm>
        </p:grpSpPr>
        <p:pic>
          <p:nvPicPr>
            <p:cNvPr id="27" name="Picture 26" descr="Screen Shot 2014-10-29 at 9.02.00 AM.png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66081" y="3515549"/>
              <a:ext cx="6017845" cy="866682"/>
            </a:xfrm>
            <a:prstGeom prst="rect">
              <a:avLst/>
            </a:prstGeom>
          </p:spPr>
        </p:pic>
        <p:sp>
          <p:nvSpPr>
            <p:cNvPr id="28" name="TextBox 27"/>
            <p:cNvSpPr txBox="1"/>
            <p:nvPr/>
          </p:nvSpPr>
          <p:spPr>
            <a:xfrm>
              <a:off x="1131568" y="3214255"/>
              <a:ext cx="30796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dirty="0">
                  <a:latin typeface="Gill Sans MT" panose="020B0502020104020203" pitchFamily="34" charset="77"/>
                  <a:cs typeface="Trebuchet MS"/>
                </a:rPr>
                <a:t>Para distribuciones Gaussianas: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3191776" y="2432290"/>
            <a:ext cx="5736804" cy="504511"/>
            <a:chOff x="1667780" y="2419437"/>
            <a:chExt cx="5736804" cy="504511"/>
          </a:xfrm>
        </p:grpSpPr>
        <p:pic>
          <p:nvPicPr>
            <p:cNvPr id="23" name="Picture 22" descr="Screen Shot 2014-10-29 at 9.27.29 AM.png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93391" y="2419437"/>
              <a:ext cx="3511193" cy="503999"/>
            </a:xfrm>
            <a:prstGeom prst="rect">
              <a:avLst/>
            </a:prstGeom>
          </p:spPr>
        </p:pic>
        <p:pic>
          <p:nvPicPr>
            <p:cNvPr id="24" name="Picture 23" descr="Screen Shot 2014-10-29 at 9.27.21 AM.png"/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06247" y="2419949"/>
              <a:ext cx="1504472" cy="503999"/>
            </a:xfrm>
            <a:prstGeom prst="rect">
              <a:avLst/>
            </a:prstGeom>
          </p:spPr>
        </p:pic>
        <p:sp>
          <p:nvSpPr>
            <p:cNvPr id="30" name="TextBox 29"/>
            <p:cNvSpPr txBox="1"/>
            <p:nvPr/>
          </p:nvSpPr>
          <p:spPr>
            <a:xfrm>
              <a:off x="3475152" y="2461375"/>
              <a:ext cx="20185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00FF"/>
                  </a:solidFill>
                  <a:latin typeface="LM Roman 10 Regular"/>
                  <a:cs typeface="LM Roman 10 Regular"/>
                </a:rPr>
                <a:t>log{                }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667780" y="2460591"/>
              <a:ext cx="17876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00FF"/>
                  </a:solidFill>
                  <a:latin typeface="LM Roman 10 Regular"/>
                  <a:cs typeface="LM Roman 10 Regular"/>
                </a:rPr>
                <a:t>log{              }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4A71A856-281C-D74A-B990-CAC93A51F991}"/>
              </a:ext>
            </a:extLst>
          </p:cNvPr>
          <p:cNvGrpSpPr/>
          <p:nvPr/>
        </p:nvGrpSpPr>
        <p:grpSpPr>
          <a:xfrm>
            <a:off x="5161381" y="4277711"/>
            <a:ext cx="3530674" cy="1497063"/>
            <a:chOff x="3637381" y="4277710"/>
            <a:chExt cx="3530674" cy="1497063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542DF816-7E57-0A4B-A4E0-3A3A0A4F27DA}"/>
                </a:ext>
              </a:extLst>
            </p:cNvPr>
            <p:cNvCxnSpPr/>
            <p:nvPr/>
          </p:nvCxnSpPr>
          <p:spPr>
            <a:xfrm>
              <a:off x="4813738" y="4277710"/>
              <a:ext cx="2354317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69D3776-2B03-7D4F-8AC3-5E01782A5E8E}"/>
                </a:ext>
              </a:extLst>
            </p:cNvPr>
            <p:cNvCxnSpPr>
              <a:cxnSpLocks/>
            </p:cNvCxnSpPr>
            <p:nvPr/>
          </p:nvCxnSpPr>
          <p:spPr>
            <a:xfrm>
              <a:off x="3637381" y="5774773"/>
              <a:ext cx="2865637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39CA661-9F82-F044-8CF3-9CE9BF5573AB}"/>
              </a:ext>
            </a:extLst>
          </p:cNvPr>
          <p:cNvGrpSpPr/>
          <p:nvPr/>
        </p:nvGrpSpPr>
        <p:grpSpPr>
          <a:xfrm>
            <a:off x="5052489" y="4269830"/>
            <a:ext cx="4596009" cy="1497063"/>
            <a:chOff x="2165140" y="4277710"/>
            <a:chExt cx="4596009" cy="1497063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30995E6-719E-4246-A447-E74C3E0A65CE}"/>
                </a:ext>
              </a:extLst>
            </p:cNvPr>
            <p:cNvCxnSpPr/>
            <p:nvPr/>
          </p:nvCxnSpPr>
          <p:spPr>
            <a:xfrm>
              <a:off x="2165140" y="4277710"/>
              <a:ext cx="684000" cy="0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228B6E2-DE7B-3D43-8D36-38048BB7FB0F}"/>
                </a:ext>
              </a:extLst>
            </p:cNvPr>
            <p:cNvCxnSpPr>
              <a:cxnSpLocks/>
            </p:cNvCxnSpPr>
            <p:nvPr/>
          </p:nvCxnSpPr>
          <p:spPr>
            <a:xfrm>
              <a:off x="5310721" y="5774773"/>
              <a:ext cx="1450428" cy="0"/>
            </a:xfrm>
            <a:prstGeom prst="line">
              <a:avLst/>
            </a:prstGeom>
            <a:ln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5E59C0F-DAAA-8642-A5B4-40A11E6C9B49}"/>
              </a:ext>
            </a:extLst>
          </p:cNvPr>
          <p:cNvGrpSpPr/>
          <p:nvPr/>
        </p:nvGrpSpPr>
        <p:grpSpPr>
          <a:xfrm>
            <a:off x="4132280" y="4274135"/>
            <a:ext cx="2273225" cy="2138194"/>
            <a:chOff x="4487924" y="3636579"/>
            <a:chExt cx="2273225" cy="2138194"/>
          </a:xfrm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695E1F2-29A3-1842-A5A5-45D7F1EEF75D}"/>
                </a:ext>
              </a:extLst>
            </p:cNvPr>
            <p:cNvCxnSpPr/>
            <p:nvPr/>
          </p:nvCxnSpPr>
          <p:spPr>
            <a:xfrm>
              <a:off x="4487924" y="3636579"/>
              <a:ext cx="684000" cy="0"/>
            </a:xfrm>
            <a:prstGeom prst="line">
              <a:avLst/>
            </a:prstGeom>
            <a:ln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C06F6899-4F2D-1346-8F5F-A1BC2EBEA7D6}"/>
                </a:ext>
              </a:extLst>
            </p:cNvPr>
            <p:cNvCxnSpPr>
              <a:cxnSpLocks/>
            </p:cNvCxnSpPr>
            <p:nvPr/>
          </p:nvCxnSpPr>
          <p:spPr>
            <a:xfrm>
              <a:off x="5310721" y="5774773"/>
              <a:ext cx="1450428" cy="0"/>
            </a:xfrm>
            <a:prstGeom prst="line">
              <a:avLst/>
            </a:prstGeom>
            <a:ln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A57B9E4-4E06-B543-90E2-ACE70785CC5B}"/>
              </a:ext>
            </a:extLst>
          </p:cNvPr>
          <p:cNvGrpSpPr/>
          <p:nvPr/>
        </p:nvGrpSpPr>
        <p:grpSpPr>
          <a:xfrm>
            <a:off x="6675652" y="5086721"/>
            <a:ext cx="1450428" cy="1318389"/>
            <a:chOff x="5310721" y="4456384"/>
            <a:chExt cx="1450428" cy="1318389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43D8A739-0B63-D945-BF31-65F4128E2872}"/>
                </a:ext>
              </a:extLst>
            </p:cNvPr>
            <p:cNvCxnSpPr/>
            <p:nvPr/>
          </p:nvCxnSpPr>
          <p:spPr>
            <a:xfrm>
              <a:off x="5433849" y="4456384"/>
              <a:ext cx="1116000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6EE8203-DC9B-A847-BF9B-06C332F1549D}"/>
                </a:ext>
              </a:extLst>
            </p:cNvPr>
            <p:cNvCxnSpPr>
              <a:cxnSpLocks/>
            </p:cNvCxnSpPr>
            <p:nvPr/>
          </p:nvCxnSpPr>
          <p:spPr>
            <a:xfrm>
              <a:off x="5310721" y="5774773"/>
              <a:ext cx="1450428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95830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2434868" y="1633646"/>
            <a:ext cx="7594876" cy="1993842"/>
            <a:chOff x="936527" y="4494202"/>
            <a:chExt cx="7594876" cy="1993842"/>
          </a:xfrm>
        </p:grpSpPr>
        <p:pic>
          <p:nvPicPr>
            <p:cNvPr id="6" name="Picture 5" descr="Screen Shot 2014-10-29 at 9.02.33 AM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11210" y="4494202"/>
              <a:ext cx="6940588" cy="1993842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>
            <a:xfrm>
              <a:off x="6503018" y="4617802"/>
              <a:ext cx="2028385" cy="4876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6488639" y="5822070"/>
              <a:ext cx="2028385" cy="4876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023409" y="4616270"/>
              <a:ext cx="2028385" cy="4876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7" name="Picture 6" descr="Screen Shot 2014-10-29 at 9.35.32 AM.pn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6527" y="4573338"/>
              <a:ext cx="1397000" cy="533400"/>
            </a:xfrm>
            <a:prstGeom prst="rect">
              <a:avLst/>
            </a:prstGeom>
          </p:spPr>
        </p:pic>
        <p:pic>
          <p:nvPicPr>
            <p:cNvPr id="9" name="Picture 8" descr="Screen Shot 2014-10-29 at 9.35.57 AM.png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0426" y="4611565"/>
              <a:ext cx="800100" cy="482600"/>
            </a:xfrm>
            <a:prstGeom prst="rect">
              <a:avLst/>
            </a:prstGeom>
          </p:spPr>
        </p:pic>
      </p:grpSp>
      <p:sp>
        <p:nvSpPr>
          <p:cNvPr id="3" name="TextBox 2"/>
          <p:cNvSpPr txBox="1"/>
          <p:nvPr/>
        </p:nvSpPr>
        <p:spPr>
          <a:xfrm>
            <a:off x="2706376" y="4133475"/>
            <a:ext cx="6047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  <a:cs typeface="Trebuchet MS"/>
              </a:rPr>
              <a:t>Este término es constante, se puede eliminar de la desigualdad.</a:t>
            </a: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4872417" y="2860594"/>
            <a:ext cx="1436868" cy="859455"/>
          </a:xfrm>
          <a:prstGeom prst="line">
            <a:avLst/>
          </a:prstGeom>
          <a:ln w="38100" cmpd="sng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" name="Group 17"/>
          <p:cNvGrpSpPr/>
          <p:nvPr/>
        </p:nvGrpSpPr>
        <p:grpSpPr>
          <a:xfrm>
            <a:off x="2935196" y="854446"/>
            <a:ext cx="5736804" cy="504511"/>
            <a:chOff x="1667780" y="2419437"/>
            <a:chExt cx="5736804" cy="504511"/>
          </a:xfrm>
        </p:grpSpPr>
        <p:pic>
          <p:nvPicPr>
            <p:cNvPr id="19" name="Picture 18" descr="Screen Shot 2014-10-29 at 9.27.29 AM.png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93391" y="2419437"/>
              <a:ext cx="3511193" cy="503999"/>
            </a:xfrm>
            <a:prstGeom prst="rect">
              <a:avLst/>
            </a:prstGeom>
          </p:spPr>
        </p:pic>
        <p:pic>
          <p:nvPicPr>
            <p:cNvPr id="20" name="Picture 19" descr="Screen Shot 2014-10-29 at 9.27.21 AM.png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06247" y="2419949"/>
              <a:ext cx="1504472" cy="503999"/>
            </a:xfrm>
            <a:prstGeom prst="rect">
              <a:avLst/>
            </a:prstGeom>
          </p:spPr>
        </p:pic>
        <p:sp>
          <p:nvSpPr>
            <p:cNvPr id="22" name="TextBox 21"/>
            <p:cNvSpPr txBox="1"/>
            <p:nvPr/>
          </p:nvSpPr>
          <p:spPr>
            <a:xfrm>
              <a:off x="3475152" y="2482395"/>
              <a:ext cx="20185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00FF"/>
                  </a:solidFill>
                  <a:latin typeface="LM Roman 10 Regular"/>
                  <a:cs typeface="LM Roman 10 Regular"/>
                </a:rPr>
                <a:t>log{                }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667780" y="2460591"/>
              <a:ext cx="17876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00FF"/>
                  </a:solidFill>
                  <a:latin typeface="LM Roman 10 Regular"/>
                  <a:cs typeface="LM Roman 10 Regular"/>
                </a:rPr>
                <a:t>log{              }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46717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24E1C10-73BD-FB44-B57E-7BF0017B39AE}"/>
              </a:ext>
            </a:extLst>
          </p:cNvPr>
          <p:cNvSpPr txBox="1"/>
          <p:nvPr/>
        </p:nvSpPr>
        <p:spPr>
          <a:xfrm>
            <a:off x="3111062" y="1575894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TRAINING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D37474-A788-3140-8F24-DFB62D279098}"/>
              </a:ext>
            </a:extLst>
          </p:cNvPr>
          <p:cNvSpPr txBox="1"/>
          <p:nvPr/>
        </p:nvSpPr>
        <p:spPr>
          <a:xfrm>
            <a:off x="7993119" y="1575894"/>
            <a:ext cx="1093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TESTING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3B80FF-E6F6-AB4A-8355-39A01E2E1450}"/>
              </a:ext>
            </a:extLst>
          </p:cNvPr>
          <p:cNvSpPr txBox="1"/>
          <p:nvPr/>
        </p:nvSpPr>
        <p:spPr>
          <a:xfrm>
            <a:off x="1981200" y="544811"/>
            <a:ext cx="13484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800" dirty="0">
                <a:latin typeface="Gill Sans MT" panose="020B0502020104020203" pitchFamily="34" charset="77"/>
              </a:rPr>
              <a:t>Ejemplo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0F5D12-06CB-5C47-9CFA-1CE1169170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047122"/>
            <a:ext cx="9144000" cy="375172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BA6BABD-B4A5-8642-A54E-DEA9A83127CC}"/>
              </a:ext>
            </a:extLst>
          </p:cNvPr>
          <p:cNvSpPr/>
          <p:nvPr/>
        </p:nvSpPr>
        <p:spPr>
          <a:xfrm>
            <a:off x="3384238" y="1206562"/>
            <a:ext cx="6671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(</a:t>
            </a:r>
            <a:r>
              <a:rPr lang="es-ES_tradnl" dirty="0" err="1">
                <a:latin typeface="Gill Sans MT" panose="020B0502020104020203" pitchFamily="34" charset="77"/>
              </a:rPr>
              <a:t>X,d</a:t>
            </a:r>
            <a:r>
              <a:rPr lang="es-ES_tradnl" dirty="0">
                <a:latin typeface="Gill Sans MT" panose="020B0502020104020203" pitchFamily="34" charset="77"/>
              </a:rPr>
              <a:t>)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7074503-D2D2-1449-AB47-2471CBE58787}"/>
              </a:ext>
            </a:extLst>
          </p:cNvPr>
          <p:cNvSpPr/>
          <p:nvPr/>
        </p:nvSpPr>
        <p:spPr>
          <a:xfrm>
            <a:off x="8111740" y="1206562"/>
            <a:ext cx="7889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(</a:t>
            </a:r>
            <a:r>
              <a:rPr lang="es-ES_tradnl" dirty="0" err="1">
                <a:latin typeface="Gill Sans MT" panose="020B0502020104020203" pitchFamily="34" charset="77"/>
              </a:rPr>
              <a:t>X</a:t>
            </a:r>
            <a:r>
              <a:rPr lang="es-ES_tradnl" baseline="-25000" dirty="0" err="1">
                <a:latin typeface="Gill Sans MT" panose="020B0502020104020203" pitchFamily="34" charset="77"/>
              </a:rPr>
              <a:t>t</a:t>
            </a:r>
            <a:r>
              <a:rPr lang="es-ES_tradnl" dirty="0" err="1">
                <a:latin typeface="Gill Sans MT" panose="020B0502020104020203" pitchFamily="34" charset="77"/>
              </a:rPr>
              <a:t>,d</a:t>
            </a:r>
            <a:r>
              <a:rPr lang="es-ES_tradnl" baseline="-25000" dirty="0" err="1">
                <a:latin typeface="Gill Sans MT" panose="020B0502020104020203" pitchFamily="34" charset="77"/>
              </a:rPr>
              <a:t>t</a:t>
            </a:r>
            <a:r>
              <a:rPr lang="es-ES_tradnl" dirty="0">
                <a:latin typeface="Gill Sans MT" panose="020B0502020104020203" pitchFamily="34" charset="77"/>
              </a:rPr>
              <a:t>)</a:t>
            </a:r>
            <a:endParaRPr lang="en-US" dirty="0"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34831169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2434868" y="1633646"/>
            <a:ext cx="7594876" cy="1993842"/>
            <a:chOff x="936527" y="4494202"/>
            <a:chExt cx="7594876" cy="1993842"/>
          </a:xfrm>
        </p:grpSpPr>
        <p:pic>
          <p:nvPicPr>
            <p:cNvPr id="6" name="Picture 5" descr="Screen Shot 2014-10-29 at 9.02.33 AM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11210" y="4494202"/>
              <a:ext cx="6940588" cy="1993842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>
            <a:xfrm>
              <a:off x="6503018" y="4617802"/>
              <a:ext cx="2028385" cy="4876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6488639" y="5822070"/>
              <a:ext cx="2028385" cy="4876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023409" y="4616270"/>
              <a:ext cx="2028385" cy="4876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7" name="Picture 6" descr="Screen Shot 2014-10-29 at 9.35.32 AM.pn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6527" y="4573338"/>
              <a:ext cx="1397000" cy="533400"/>
            </a:xfrm>
            <a:prstGeom prst="rect">
              <a:avLst/>
            </a:prstGeom>
          </p:spPr>
        </p:pic>
        <p:pic>
          <p:nvPicPr>
            <p:cNvPr id="9" name="Picture 8" descr="Screen Shot 2014-10-29 at 9.35.57 AM.png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0426" y="4611565"/>
              <a:ext cx="800100" cy="482600"/>
            </a:xfrm>
            <a:prstGeom prst="rect">
              <a:avLst/>
            </a:prstGeom>
          </p:spPr>
        </p:pic>
      </p:grpSp>
      <p:sp>
        <p:nvSpPr>
          <p:cNvPr id="3" name="TextBox 2"/>
          <p:cNvSpPr txBox="1"/>
          <p:nvPr/>
        </p:nvSpPr>
        <p:spPr>
          <a:xfrm>
            <a:off x="2154954" y="4092032"/>
            <a:ext cx="75569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  <a:cs typeface="Trebuchet MS"/>
              </a:rPr>
              <a:t>En LDA (Análisis Discriminante Lineal) se supone que </a:t>
            </a:r>
            <a:r>
              <a:rPr lang="es-ES_tradnl" dirty="0" err="1">
                <a:latin typeface="Gill Sans MT" panose="020B0502020104020203" pitchFamily="34" charset="77"/>
                <a:cs typeface="Trebuchet MS"/>
              </a:rPr>
              <a:t>Σ</a:t>
            </a:r>
            <a:r>
              <a:rPr lang="es-ES_tradnl" baseline="-25000" dirty="0" err="1">
                <a:latin typeface="Gill Sans MT" panose="020B0502020104020203" pitchFamily="34" charset="77"/>
                <a:cs typeface="Trebuchet MS"/>
              </a:rPr>
              <a:t>i</a:t>
            </a:r>
            <a:r>
              <a:rPr lang="es-ES_tradnl" dirty="0">
                <a:latin typeface="Gill Sans MT" panose="020B0502020104020203" pitchFamily="34" charset="77"/>
                <a:cs typeface="Trebuchet MS"/>
              </a:rPr>
              <a:t> = </a:t>
            </a:r>
            <a:r>
              <a:rPr lang="es-ES_tradnl" dirty="0" err="1">
                <a:latin typeface="Gill Sans MT" panose="020B0502020104020203" pitchFamily="34" charset="77"/>
                <a:cs typeface="Trebuchet MS"/>
              </a:rPr>
              <a:t>Σ</a:t>
            </a:r>
            <a:r>
              <a:rPr lang="es-ES_tradnl" dirty="0">
                <a:latin typeface="Gill Sans MT" panose="020B0502020104020203" pitchFamily="34" charset="77"/>
                <a:cs typeface="Trebuchet MS"/>
              </a:rPr>
              <a:t>  (es constante) .
</a:t>
            </a: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4872417" y="2860594"/>
            <a:ext cx="1436868" cy="859455"/>
          </a:xfrm>
          <a:prstGeom prst="line">
            <a:avLst/>
          </a:prstGeom>
          <a:ln w="38100" cmpd="sng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V="1">
            <a:off x="8142308" y="2153539"/>
            <a:ext cx="1436868" cy="859455"/>
          </a:xfrm>
          <a:prstGeom prst="line">
            <a:avLst/>
          </a:prstGeom>
          <a:ln w="38100" cmpd="sng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170871" y="4898643"/>
            <a:ext cx="81737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 err="1">
                <a:latin typeface="Gill Sans MT" panose="020B0502020104020203" pitchFamily="34" charset="77"/>
                <a:cs typeface="Trebuchet MS"/>
              </a:rPr>
              <a:t>Σ</a:t>
            </a:r>
            <a:r>
              <a:rPr lang="es-ES_tradnl" dirty="0">
                <a:latin typeface="Gill Sans MT" panose="020B0502020104020203" pitchFamily="34" charset="77"/>
                <a:cs typeface="Trebuchet MS"/>
              </a:rPr>
              <a:t> se calcula a partir de datos de entrenamiento. Una buena estimación es el promedio de las matrices de covarianza individuales: </a:t>
            </a:r>
            <a:r>
              <a:rPr lang="es-ES_tradnl" dirty="0" err="1">
                <a:latin typeface="Gill Sans MT" panose="020B0502020104020203" pitchFamily="34" charset="77"/>
                <a:cs typeface="Trebuchet MS"/>
              </a:rPr>
              <a:t>Σ</a:t>
            </a:r>
            <a:r>
              <a:rPr lang="es-ES_tradnl" dirty="0">
                <a:latin typeface="Gill Sans MT" panose="020B0502020104020203" pitchFamily="34" charset="77"/>
                <a:cs typeface="Trebuchet MS"/>
              </a:rPr>
              <a:t> = (Σ</a:t>
            </a:r>
            <a:r>
              <a:rPr lang="es-ES_tradnl" baseline="-25000" dirty="0">
                <a:latin typeface="Gill Sans MT" panose="020B0502020104020203" pitchFamily="34" charset="77"/>
                <a:cs typeface="Trebuchet MS"/>
              </a:rPr>
              <a:t>1</a:t>
            </a:r>
            <a:r>
              <a:rPr lang="es-ES_tradnl" dirty="0">
                <a:latin typeface="Gill Sans MT" panose="020B0502020104020203" pitchFamily="34" charset="77"/>
                <a:cs typeface="Trebuchet MS"/>
              </a:rPr>
              <a:t>+Σ</a:t>
            </a:r>
            <a:r>
              <a:rPr lang="es-ES_tradnl" baseline="-25000" dirty="0">
                <a:latin typeface="Gill Sans MT" panose="020B0502020104020203" pitchFamily="34" charset="77"/>
                <a:cs typeface="Trebuchet MS"/>
              </a:rPr>
              <a:t>2</a:t>
            </a:r>
            <a:r>
              <a:rPr lang="es-ES_tradnl" dirty="0">
                <a:latin typeface="Gill Sans MT" panose="020B0502020104020203" pitchFamily="34" charset="77"/>
                <a:cs typeface="Trebuchet MS"/>
              </a:rPr>
              <a:t>)/2 
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2935196" y="854446"/>
            <a:ext cx="5736804" cy="504511"/>
            <a:chOff x="1667780" y="2419437"/>
            <a:chExt cx="5736804" cy="504511"/>
          </a:xfrm>
        </p:grpSpPr>
        <p:pic>
          <p:nvPicPr>
            <p:cNvPr id="19" name="Picture 18" descr="Screen Shot 2014-10-29 at 9.27.29 AM.png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93391" y="2419437"/>
              <a:ext cx="3511193" cy="503999"/>
            </a:xfrm>
            <a:prstGeom prst="rect">
              <a:avLst/>
            </a:prstGeom>
          </p:spPr>
        </p:pic>
        <p:pic>
          <p:nvPicPr>
            <p:cNvPr id="20" name="Picture 19" descr="Screen Shot 2014-10-29 at 9.27.21 AM.png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06247" y="2419949"/>
              <a:ext cx="1504472" cy="503999"/>
            </a:xfrm>
            <a:prstGeom prst="rect">
              <a:avLst/>
            </a:prstGeom>
          </p:spPr>
        </p:pic>
        <p:sp>
          <p:nvSpPr>
            <p:cNvPr id="22" name="TextBox 21"/>
            <p:cNvSpPr txBox="1"/>
            <p:nvPr/>
          </p:nvSpPr>
          <p:spPr>
            <a:xfrm>
              <a:off x="3475152" y="2461375"/>
              <a:ext cx="19415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00FF"/>
                  </a:solidFill>
                  <a:latin typeface="LM Roman 10 Regular"/>
                  <a:cs typeface="LM Roman 10 Regular"/>
                </a:rPr>
                <a:t>log{                }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667780" y="2450081"/>
              <a:ext cx="17876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00FF"/>
                  </a:solidFill>
                  <a:latin typeface="LM Roman 10 Regular"/>
                  <a:cs typeface="LM Roman 10 Regular"/>
                </a:rPr>
                <a:t>log{              }</a:t>
              </a: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1673983" y="204431"/>
            <a:ext cx="945900" cy="5847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Gill Sans MT" panose="020B0502020104020203" pitchFamily="34" charset="77"/>
              </a:rPr>
              <a:t>LDA</a:t>
            </a:r>
          </a:p>
        </p:txBody>
      </p:sp>
    </p:spTree>
    <p:extLst>
      <p:ext uri="{BB962C8B-B14F-4D97-AF65-F5344CB8AC3E}">
        <p14:creationId xmlns:p14="http://schemas.microsoft.com/office/powerpoint/2010/main" val="2681021047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24E1C10-73BD-FB44-B57E-7BF0017B39AE}"/>
              </a:ext>
            </a:extLst>
          </p:cNvPr>
          <p:cNvSpPr txBox="1"/>
          <p:nvPr/>
        </p:nvSpPr>
        <p:spPr>
          <a:xfrm>
            <a:off x="3111062" y="1575894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TRAINING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D37474-A788-3140-8F24-DFB62D279098}"/>
              </a:ext>
            </a:extLst>
          </p:cNvPr>
          <p:cNvSpPr txBox="1"/>
          <p:nvPr/>
        </p:nvSpPr>
        <p:spPr>
          <a:xfrm>
            <a:off x="7993119" y="1575894"/>
            <a:ext cx="1093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TESTING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3B80FF-E6F6-AB4A-8355-39A01E2E1450}"/>
              </a:ext>
            </a:extLst>
          </p:cNvPr>
          <p:cNvSpPr txBox="1"/>
          <p:nvPr/>
        </p:nvSpPr>
        <p:spPr>
          <a:xfrm>
            <a:off x="1981200" y="544811"/>
            <a:ext cx="13484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800" dirty="0">
                <a:latin typeface="Gill Sans MT" panose="020B0502020104020203" pitchFamily="34" charset="77"/>
              </a:rPr>
              <a:t>Ejemplo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BA6BABD-B4A5-8642-A54E-DEA9A83127CC}"/>
              </a:ext>
            </a:extLst>
          </p:cNvPr>
          <p:cNvSpPr/>
          <p:nvPr/>
        </p:nvSpPr>
        <p:spPr>
          <a:xfrm>
            <a:off x="3384238" y="1206562"/>
            <a:ext cx="6671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(</a:t>
            </a:r>
            <a:r>
              <a:rPr lang="es-ES_tradnl" dirty="0" err="1">
                <a:latin typeface="Gill Sans MT" panose="020B0502020104020203" pitchFamily="34" charset="77"/>
              </a:rPr>
              <a:t>X,d</a:t>
            </a:r>
            <a:r>
              <a:rPr lang="es-ES_tradnl" dirty="0">
                <a:latin typeface="Gill Sans MT" panose="020B0502020104020203" pitchFamily="34" charset="77"/>
              </a:rPr>
              <a:t>)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7074503-D2D2-1449-AB47-2471CBE58787}"/>
              </a:ext>
            </a:extLst>
          </p:cNvPr>
          <p:cNvSpPr/>
          <p:nvPr/>
        </p:nvSpPr>
        <p:spPr>
          <a:xfrm>
            <a:off x="8111740" y="1206562"/>
            <a:ext cx="7889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(</a:t>
            </a:r>
            <a:r>
              <a:rPr lang="es-ES_tradnl" dirty="0" err="1">
                <a:latin typeface="Gill Sans MT" panose="020B0502020104020203" pitchFamily="34" charset="77"/>
              </a:rPr>
              <a:t>X</a:t>
            </a:r>
            <a:r>
              <a:rPr lang="es-ES_tradnl" baseline="-25000" dirty="0" err="1">
                <a:latin typeface="Gill Sans MT" panose="020B0502020104020203" pitchFamily="34" charset="77"/>
              </a:rPr>
              <a:t>t</a:t>
            </a:r>
            <a:r>
              <a:rPr lang="es-ES_tradnl" dirty="0" err="1">
                <a:latin typeface="Gill Sans MT" panose="020B0502020104020203" pitchFamily="34" charset="77"/>
              </a:rPr>
              <a:t>,d</a:t>
            </a:r>
            <a:r>
              <a:rPr lang="es-ES_tradnl" baseline="-25000" dirty="0" err="1">
                <a:latin typeface="Gill Sans MT" panose="020B0502020104020203" pitchFamily="34" charset="77"/>
              </a:rPr>
              <a:t>t</a:t>
            </a:r>
            <a:r>
              <a:rPr lang="es-ES_tradnl" dirty="0">
                <a:latin typeface="Gill Sans MT" panose="020B0502020104020203" pitchFamily="34" charset="77"/>
              </a:rPr>
              <a:t>)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D1DFB88-4EA2-8E40-BAF4-05FB484D61F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9125" y="2070100"/>
            <a:ext cx="10257651" cy="3708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C01531E-95C8-A247-91F5-EF7E943A4511}"/>
              </a:ext>
            </a:extLst>
          </p:cNvPr>
          <p:cNvSpPr txBox="1"/>
          <p:nvPr/>
        </p:nvSpPr>
        <p:spPr>
          <a:xfrm>
            <a:off x="5719588" y="683342"/>
            <a:ext cx="8493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800" dirty="0">
                <a:latin typeface="Gill Sans MT" panose="020B0502020104020203" pitchFamily="34" charset="77"/>
              </a:rPr>
              <a:t>LDA</a:t>
            </a:r>
          </a:p>
        </p:txBody>
      </p:sp>
    </p:spTree>
    <p:extLst>
      <p:ext uri="{BB962C8B-B14F-4D97-AF65-F5344CB8AC3E}">
        <p14:creationId xmlns:p14="http://schemas.microsoft.com/office/powerpoint/2010/main" val="881523376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2434868" y="1633646"/>
            <a:ext cx="7594876" cy="1993842"/>
            <a:chOff x="936527" y="4494202"/>
            <a:chExt cx="7594876" cy="1993842"/>
          </a:xfrm>
        </p:grpSpPr>
        <p:pic>
          <p:nvPicPr>
            <p:cNvPr id="6" name="Picture 5" descr="Screen Shot 2014-10-29 at 9.02.33 AM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11210" y="4494202"/>
              <a:ext cx="6940588" cy="1993842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>
            <a:xfrm>
              <a:off x="6503018" y="4617802"/>
              <a:ext cx="2028385" cy="4876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6488639" y="5822070"/>
              <a:ext cx="2028385" cy="4876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023409" y="4616270"/>
              <a:ext cx="2028385" cy="4876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7" name="Picture 6" descr="Screen Shot 2014-10-29 at 9.35.32 AM.pn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6527" y="4573338"/>
              <a:ext cx="1397000" cy="533400"/>
            </a:xfrm>
            <a:prstGeom prst="rect">
              <a:avLst/>
            </a:prstGeom>
          </p:spPr>
        </p:pic>
        <p:pic>
          <p:nvPicPr>
            <p:cNvPr id="9" name="Picture 8" descr="Screen Shot 2014-10-29 at 9.35.57 AM.png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0426" y="4611565"/>
              <a:ext cx="800100" cy="482600"/>
            </a:xfrm>
            <a:prstGeom prst="rect">
              <a:avLst/>
            </a:prstGeom>
          </p:spPr>
        </p:pic>
      </p:grpSp>
      <p:sp>
        <p:nvSpPr>
          <p:cNvPr id="3" name="TextBox 2"/>
          <p:cNvSpPr txBox="1"/>
          <p:nvPr/>
        </p:nvSpPr>
        <p:spPr>
          <a:xfrm>
            <a:off x="2596385" y="4092032"/>
            <a:ext cx="51267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  <a:cs typeface="Trebuchet MS"/>
              </a:rPr>
              <a:t>En el Clasificador </a:t>
            </a:r>
            <a:r>
              <a:rPr lang="es-ES_tradnl" dirty="0" err="1">
                <a:latin typeface="Gill Sans MT" panose="020B0502020104020203" pitchFamily="34" charset="77"/>
                <a:cs typeface="Trebuchet MS"/>
              </a:rPr>
              <a:t>Mahalanobis</a:t>
            </a:r>
            <a:r>
              <a:rPr lang="es-ES_tradnl" dirty="0">
                <a:latin typeface="Gill Sans MT" panose="020B0502020104020203" pitchFamily="34" charset="77"/>
                <a:cs typeface="Trebuchet MS"/>
              </a:rPr>
              <a:t> se asume </a:t>
            </a:r>
            <a:r>
              <a:rPr lang="es-ES_tradnl" i="1" dirty="0">
                <a:latin typeface="LM Roman 10 Regular"/>
                <a:cs typeface="LM Roman 10 Regular"/>
              </a:rPr>
              <a:t>p(</a:t>
            </a:r>
            <a:r>
              <a:rPr lang="es-ES_tradnl" i="1" dirty="0" err="1">
                <a:latin typeface="LM Roman 10 Regular"/>
                <a:cs typeface="LM Roman 10 Regular"/>
              </a:rPr>
              <a:t>w</a:t>
            </a:r>
            <a:r>
              <a:rPr lang="es-ES_tradnl" i="1" baseline="-25000" dirty="0" err="1">
                <a:latin typeface="LM Roman 10 Regular"/>
                <a:cs typeface="LM Roman 10 Regular"/>
              </a:rPr>
              <a:t>i</a:t>
            </a:r>
            <a:r>
              <a:rPr lang="es-ES_tradnl" i="1" dirty="0">
                <a:latin typeface="LM Roman 10 Regular"/>
                <a:cs typeface="LM Roman 10 Regular"/>
              </a:rPr>
              <a:t>) = p</a:t>
            </a:r>
            <a:r>
              <a:rPr lang="es-ES_tradnl" dirty="0">
                <a:latin typeface="Gill Sans MT" panose="020B0502020104020203" pitchFamily="34" charset="77"/>
                <a:cs typeface="LM Roman 10 Regular"/>
              </a:rPr>
              <a:t> </a:t>
            </a:r>
          </a:p>
          <a:p>
            <a:r>
              <a:rPr lang="es-ES_tradnl" dirty="0">
                <a:latin typeface="Gill Sans MT" panose="020B0502020104020203" pitchFamily="34" charset="77"/>
                <a:cs typeface="LM Roman 10 Regular"/>
              </a:rPr>
              <a:t>y las matrices </a:t>
            </a:r>
            <a:r>
              <a:rPr lang="es-ES_tradnl" dirty="0" err="1">
                <a:latin typeface="Gill Sans MT" panose="020B0502020104020203" pitchFamily="34" charset="77"/>
                <a:cs typeface="Trebuchet MS"/>
              </a:rPr>
              <a:t>Σ</a:t>
            </a:r>
            <a:r>
              <a:rPr lang="es-ES_tradnl" baseline="-25000" dirty="0" err="1">
                <a:latin typeface="Gill Sans MT" panose="020B0502020104020203" pitchFamily="34" charset="77"/>
                <a:cs typeface="Trebuchet MS"/>
              </a:rPr>
              <a:t>i</a:t>
            </a:r>
            <a:r>
              <a:rPr lang="es-ES_tradnl" dirty="0">
                <a:latin typeface="Gill Sans MT" panose="020B0502020104020203" pitchFamily="34" charset="77"/>
                <a:cs typeface="Trebuchet MS"/>
              </a:rPr>
              <a:t> son distintas.</a:t>
            </a: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4872417" y="2860594"/>
            <a:ext cx="1436868" cy="859455"/>
          </a:xfrm>
          <a:prstGeom prst="line">
            <a:avLst/>
          </a:prstGeom>
          <a:ln w="38100" cmpd="sng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6703890" y="2754908"/>
            <a:ext cx="1436868" cy="859455"/>
          </a:xfrm>
          <a:prstGeom prst="line">
            <a:avLst/>
          </a:prstGeom>
          <a:ln w="38100" cmpd="sng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9" name="Group 18"/>
          <p:cNvGrpSpPr/>
          <p:nvPr/>
        </p:nvGrpSpPr>
        <p:grpSpPr>
          <a:xfrm>
            <a:off x="2935196" y="854446"/>
            <a:ext cx="5736804" cy="504511"/>
            <a:chOff x="1667780" y="2419437"/>
            <a:chExt cx="5736804" cy="504511"/>
          </a:xfrm>
        </p:grpSpPr>
        <p:pic>
          <p:nvPicPr>
            <p:cNvPr id="20" name="Picture 19" descr="Screen Shot 2014-10-29 at 9.27.29 AM.png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93391" y="2419437"/>
              <a:ext cx="3511193" cy="503999"/>
            </a:xfrm>
            <a:prstGeom prst="rect">
              <a:avLst/>
            </a:prstGeom>
          </p:spPr>
        </p:pic>
        <p:pic>
          <p:nvPicPr>
            <p:cNvPr id="22" name="Picture 21" descr="Screen Shot 2014-10-29 at 9.27.21 AM.png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06247" y="2419949"/>
              <a:ext cx="1504472" cy="503999"/>
            </a:xfrm>
            <a:prstGeom prst="rect">
              <a:avLst/>
            </a:prstGeom>
          </p:spPr>
        </p:pic>
        <p:sp>
          <p:nvSpPr>
            <p:cNvPr id="24" name="TextBox 23"/>
            <p:cNvSpPr txBox="1"/>
            <p:nvPr/>
          </p:nvSpPr>
          <p:spPr>
            <a:xfrm>
              <a:off x="3475152" y="2471885"/>
              <a:ext cx="20185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00FF"/>
                  </a:solidFill>
                  <a:latin typeface="LM Roman 10 Regular"/>
                  <a:cs typeface="LM Roman 10 Regular"/>
                </a:rPr>
                <a:t>log{                }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667780" y="2460591"/>
              <a:ext cx="17876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00FF"/>
                  </a:solidFill>
                  <a:latin typeface="LM Roman 10 Regular"/>
                  <a:cs typeface="LM Roman 10 Regular"/>
                </a:rPr>
                <a:t>log{              }</a:t>
              </a: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1673982" y="204431"/>
            <a:ext cx="3009157" cy="5847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Gill Sans MT" panose="020B0502020104020203" pitchFamily="34" charset="77"/>
              </a:rPr>
              <a:t>MAHALANOBIS</a:t>
            </a:r>
          </a:p>
        </p:txBody>
      </p:sp>
    </p:spTree>
    <p:extLst>
      <p:ext uri="{BB962C8B-B14F-4D97-AF65-F5344CB8AC3E}">
        <p14:creationId xmlns:p14="http://schemas.microsoft.com/office/powerpoint/2010/main" val="3124634035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24E1C10-73BD-FB44-B57E-7BF0017B39AE}"/>
              </a:ext>
            </a:extLst>
          </p:cNvPr>
          <p:cNvSpPr txBox="1"/>
          <p:nvPr/>
        </p:nvSpPr>
        <p:spPr>
          <a:xfrm>
            <a:off x="3111062" y="1575894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TRAINING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D37474-A788-3140-8F24-DFB62D279098}"/>
              </a:ext>
            </a:extLst>
          </p:cNvPr>
          <p:cNvSpPr txBox="1"/>
          <p:nvPr/>
        </p:nvSpPr>
        <p:spPr>
          <a:xfrm>
            <a:off x="7993119" y="1575894"/>
            <a:ext cx="1093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TESTING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3B80FF-E6F6-AB4A-8355-39A01E2E1450}"/>
              </a:ext>
            </a:extLst>
          </p:cNvPr>
          <p:cNvSpPr txBox="1"/>
          <p:nvPr/>
        </p:nvSpPr>
        <p:spPr>
          <a:xfrm>
            <a:off x="1981200" y="544811"/>
            <a:ext cx="13484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800" dirty="0">
                <a:latin typeface="Gill Sans MT" panose="020B0502020104020203" pitchFamily="34" charset="77"/>
              </a:rPr>
              <a:t>Ejemplo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BA6BABD-B4A5-8642-A54E-DEA9A83127CC}"/>
              </a:ext>
            </a:extLst>
          </p:cNvPr>
          <p:cNvSpPr/>
          <p:nvPr/>
        </p:nvSpPr>
        <p:spPr>
          <a:xfrm>
            <a:off x="3384238" y="1206562"/>
            <a:ext cx="6671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(</a:t>
            </a:r>
            <a:r>
              <a:rPr lang="es-ES_tradnl" dirty="0" err="1">
                <a:latin typeface="Gill Sans MT" panose="020B0502020104020203" pitchFamily="34" charset="77"/>
              </a:rPr>
              <a:t>X,d</a:t>
            </a:r>
            <a:r>
              <a:rPr lang="es-ES_tradnl" dirty="0">
                <a:latin typeface="Gill Sans MT" panose="020B0502020104020203" pitchFamily="34" charset="77"/>
              </a:rPr>
              <a:t>)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7074503-D2D2-1449-AB47-2471CBE58787}"/>
              </a:ext>
            </a:extLst>
          </p:cNvPr>
          <p:cNvSpPr/>
          <p:nvPr/>
        </p:nvSpPr>
        <p:spPr>
          <a:xfrm>
            <a:off x="8111740" y="1206562"/>
            <a:ext cx="7889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(</a:t>
            </a:r>
            <a:r>
              <a:rPr lang="es-ES_tradnl" dirty="0" err="1">
                <a:latin typeface="Gill Sans MT" panose="020B0502020104020203" pitchFamily="34" charset="77"/>
              </a:rPr>
              <a:t>X</a:t>
            </a:r>
            <a:r>
              <a:rPr lang="es-ES_tradnl" baseline="-25000" dirty="0" err="1">
                <a:latin typeface="Gill Sans MT" panose="020B0502020104020203" pitchFamily="34" charset="77"/>
              </a:rPr>
              <a:t>t</a:t>
            </a:r>
            <a:r>
              <a:rPr lang="es-ES_tradnl" dirty="0" err="1">
                <a:latin typeface="Gill Sans MT" panose="020B0502020104020203" pitchFamily="34" charset="77"/>
              </a:rPr>
              <a:t>,d</a:t>
            </a:r>
            <a:r>
              <a:rPr lang="es-ES_tradnl" baseline="-25000" dirty="0" err="1">
                <a:latin typeface="Gill Sans MT" panose="020B0502020104020203" pitchFamily="34" charset="77"/>
              </a:rPr>
              <a:t>t</a:t>
            </a:r>
            <a:r>
              <a:rPr lang="es-ES_tradnl" dirty="0">
                <a:latin typeface="Gill Sans MT" panose="020B0502020104020203" pitchFamily="34" charset="77"/>
              </a:rPr>
              <a:t>)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D1DFB88-4EA2-8E40-BAF4-05FB484D61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149127" y="2070101"/>
            <a:ext cx="10257644" cy="370799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FE6ED63-F1BE-AF4A-AA45-2EDDE37B8BB8}"/>
              </a:ext>
            </a:extLst>
          </p:cNvPr>
          <p:cNvSpPr txBox="1"/>
          <p:nvPr/>
        </p:nvSpPr>
        <p:spPr>
          <a:xfrm>
            <a:off x="5205380" y="683342"/>
            <a:ext cx="19591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800" dirty="0" err="1">
                <a:latin typeface="Gill Sans MT" panose="020B0502020104020203" pitchFamily="34" charset="77"/>
              </a:rPr>
              <a:t>Mahalanobis</a:t>
            </a:r>
            <a:endParaRPr lang="es-ES_tradnl" sz="2800" dirty="0"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15994444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2434868" y="1633646"/>
            <a:ext cx="7594876" cy="1993842"/>
            <a:chOff x="936527" y="4494202"/>
            <a:chExt cx="7594876" cy="1993842"/>
          </a:xfrm>
        </p:grpSpPr>
        <p:pic>
          <p:nvPicPr>
            <p:cNvPr id="6" name="Picture 5" descr="Screen Shot 2014-10-29 at 9.02.33 AM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11210" y="4494202"/>
              <a:ext cx="6940588" cy="1993842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>
            <a:xfrm>
              <a:off x="6503018" y="4617802"/>
              <a:ext cx="2028385" cy="4876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6488639" y="5822070"/>
              <a:ext cx="2028385" cy="4876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023409" y="4616270"/>
              <a:ext cx="2028385" cy="4876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7" name="Picture 6" descr="Screen Shot 2014-10-29 at 9.35.32 AM.pn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6527" y="4573338"/>
              <a:ext cx="1397000" cy="533400"/>
            </a:xfrm>
            <a:prstGeom prst="rect">
              <a:avLst/>
            </a:prstGeom>
          </p:spPr>
        </p:pic>
        <p:pic>
          <p:nvPicPr>
            <p:cNvPr id="9" name="Picture 8" descr="Screen Shot 2014-10-29 at 9.35.57 AM.png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0426" y="4611565"/>
              <a:ext cx="800100" cy="482600"/>
            </a:xfrm>
            <a:prstGeom prst="rect">
              <a:avLst/>
            </a:prstGeom>
          </p:spPr>
        </p:pic>
      </p:grpSp>
      <p:sp>
        <p:nvSpPr>
          <p:cNvPr id="3" name="TextBox 2"/>
          <p:cNvSpPr txBox="1"/>
          <p:nvPr/>
        </p:nvSpPr>
        <p:spPr>
          <a:xfrm>
            <a:off x="2596384" y="4092031"/>
            <a:ext cx="624921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  <a:cs typeface="Trebuchet MS"/>
              </a:rPr>
              <a:t>En el Clasificador </a:t>
            </a:r>
            <a:r>
              <a:rPr lang="es-ES_tradnl" dirty="0" err="1">
                <a:latin typeface="Gill Sans MT" panose="020B0502020104020203" pitchFamily="34" charset="77"/>
                <a:cs typeface="Trebuchet MS"/>
              </a:rPr>
              <a:t>Mahalanobis</a:t>
            </a:r>
            <a:r>
              <a:rPr lang="es-ES_tradnl" dirty="0">
                <a:latin typeface="Gill Sans MT" panose="020B0502020104020203" pitchFamily="34" charset="77"/>
                <a:cs typeface="Trebuchet MS"/>
              </a:rPr>
              <a:t> se asume </a:t>
            </a:r>
            <a:r>
              <a:rPr lang="es-ES_tradnl" i="1" dirty="0">
                <a:latin typeface="LM Roman 10 Regular"/>
                <a:cs typeface="LM Roman 10 Regular"/>
              </a:rPr>
              <a:t>p(</a:t>
            </a:r>
            <a:r>
              <a:rPr lang="es-ES_tradnl" i="1" dirty="0" err="1">
                <a:latin typeface="LM Roman 10 Regular"/>
                <a:cs typeface="LM Roman 10 Regular"/>
              </a:rPr>
              <a:t>w</a:t>
            </a:r>
            <a:r>
              <a:rPr lang="es-ES_tradnl" i="1" baseline="-25000" dirty="0" err="1">
                <a:latin typeface="LM Roman 10 Regular"/>
                <a:cs typeface="LM Roman 10 Regular"/>
              </a:rPr>
              <a:t>i</a:t>
            </a:r>
            <a:r>
              <a:rPr lang="es-ES_tradnl" i="1" dirty="0">
                <a:latin typeface="LM Roman 10 Regular"/>
                <a:cs typeface="LM Roman 10 Regular"/>
              </a:rPr>
              <a:t>) = p</a:t>
            </a:r>
            <a:r>
              <a:rPr lang="es-ES_tradnl" dirty="0">
                <a:latin typeface="Gill Sans MT" panose="020B0502020104020203" pitchFamily="34" charset="77"/>
                <a:cs typeface="Trebuchet MS"/>
              </a:rPr>
              <a:t>.</a:t>
            </a:r>
          </a:p>
          <a:p>
            <a:endParaRPr lang="es-ES_tradnl" dirty="0">
              <a:latin typeface="Gill Sans MT" panose="020B0502020104020203" pitchFamily="34" charset="77"/>
              <a:cs typeface="Trebuchet MS"/>
            </a:endParaRPr>
          </a:p>
          <a:p>
            <a:r>
              <a:rPr lang="es-ES_tradnl" dirty="0">
                <a:latin typeface="Gill Sans MT" panose="020B0502020104020203" pitchFamily="34" charset="77"/>
                <a:cs typeface="Trebuchet MS"/>
              </a:rPr>
              <a:t>Hay una variante de </a:t>
            </a:r>
            <a:r>
              <a:rPr lang="es-ES_tradnl" dirty="0" err="1">
                <a:latin typeface="Gill Sans MT" panose="020B0502020104020203" pitchFamily="34" charset="77"/>
                <a:cs typeface="Trebuchet MS"/>
              </a:rPr>
              <a:t>Mahalanobis</a:t>
            </a:r>
            <a:r>
              <a:rPr lang="es-ES_tradnl" dirty="0">
                <a:latin typeface="Gill Sans MT" panose="020B0502020104020203" pitchFamily="34" charset="77"/>
                <a:cs typeface="Trebuchet MS"/>
              </a:rPr>
              <a:t> en la que se supone que </a:t>
            </a:r>
            <a:r>
              <a:rPr lang="es-ES_tradnl" dirty="0" err="1">
                <a:latin typeface="Gill Sans MT" panose="020B0502020104020203" pitchFamily="34" charset="77"/>
                <a:cs typeface="Trebuchet MS"/>
              </a:rPr>
              <a:t>Σ</a:t>
            </a:r>
            <a:r>
              <a:rPr lang="es-ES_tradnl" baseline="-25000" dirty="0" err="1">
                <a:latin typeface="Gill Sans MT" panose="020B0502020104020203" pitchFamily="34" charset="77"/>
                <a:cs typeface="Trebuchet MS"/>
              </a:rPr>
              <a:t>i</a:t>
            </a:r>
            <a:r>
              <a:rPr lang="es-ES_tradnl" dirty="0">
                <a:latin typeface="Gill Sans MT" panose="020B0502020104020203" pitchFamily="34" charset="77"/>
                <a:cs typeface="Trebuchet MS"/>
              </a:rPr>
              <a:t> = </a:t>
            </a:r>
            <a:r>
              <a:rPr lang="es-ES_tradnl" dirty="0" err="1">
                <a:latin typeface="Gill Sans MT" panose="020B0502020104020203" pitchFamily="34" charset="77"/>
                <a:cs typeface="Trebuchet MS"/>
              </a:rPr>
              <a:t>Σ</a:t>
            </a:r>
            <a:r>
              <a:rPr lang="es-ES_tradnl" dirty="0">
                <a:latin typeface="Gill Sans MT" panose="020B0502020104020203" pitchFamily="34" charset="77"/>
                <a:cs typeface="Trebuchet MS"/>
              </a:rPr>
              <a:t>.</a:t>
            </a: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4872417" y="2860594"/>
            <a:ext cx="1436868" cy="859455"/>
          </a:xfrm>
          <a:prstGeom prst="line">
            <a:avLst/>
          </a:prstGeom>
          <a:ln w="38100" cmpd="sng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V="1">
            <a:off x="8142308" y="2153539"/>
            <a:ext cx="1436868" cy="859455"/>
          </a:xfrm>
          <a:prstGeom prst="line">
            <a:avLst/>
          </a:prstGeom>
          <a:ln w="38100" cmpd="sng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6703890" y="2754908"/>
            <a:ext cx="1436868" cy="859455"/>
          </a:xfrm>
          <a:prstGeom prst="line">
            <a:avLst/>
          </a:prstGeom>
          <a:ln w="38100" cmpd="sng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9" name="Group 18"/>
          <p:cNvGrpSpPr/>
          <p:nvPr/>
        </p:nvGrpSpPr>
        <p:grpSpPr>
          <a:xfrm>
            <a:off x="2935196" y="854446"/>
            <a:ext cx="5736804" cy="504511"/>
            <a:chOff x="1667780" y="2419437"/>
            <a:chExt cx="5736804" cy="504511"/>
          </a:xfrm>
        </p:grpSpPr>
        <p:pic>
          <p:nvPicPr>
            <p:cNvPr id="20" name="Picture 19" descr="Screen Shot 2014-10-29 at 9.27.29 AM.png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93391" y="2419437"/>
              <a:ext cx="3511193" cy="503999"/>
            </a:xfrm>
            <a:prstGeom prst="rect">
              <a:avLst/>
            </a:prstGeom>
          </p:spPr>
        </p:pic>
        <p:pic>
          <p:nvPicPr>
            <p:cNvPr id="22" name="Picture 21" descr="Screen Shot 2014-10-29 at 9.27.21 AM.png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06247" y="2419949"/>
              <a:ext cx="1504472" cy="503999"/>
            </a:xfrm>
            <a:prstGeom prst="rect">
              <a:avLst/>
            </a:prstGeom>
          </p:spPr>
        </p:pic>
        <p:sp>
          <p:nvSpPr>
            <p:cNvPr id="24" name="TextBox 23"/>
            <p:cNvSpPr txBox="1"/>
            <p:nvPr/>
          </p:nvSpPr>
          <p:spPr>
            <a:xfrm>
              <a:off x="3475152" y="2471885"/>
              <a:ext cx="20185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00FF"/>
                  </a:solidFill>
                  <a:latin typeface="LM Roman 10 Regular"/>
                  <a:cs typeface="LM Roman 10 Regular"/>
                </a:rPr>
                <a:t>log{                }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667780" y="2460591"/>
              <a:ext cx="17876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00FF"/>
                  </a:solidFill>
                  <a:latin typeface="LM Roman 10 Regular"/>
                  <a:cs typeface="LM Roman 10 Regular"/>
                </a:rPr>
                <a:t>log{              }</a:t>
              </a: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1673983" y="204431"/>
            <a:ext cx="3347391" cy="5847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Gill Sans MT" panose="020B0502020104020203" pitchFamily="34" charset="77"/>
              </a:rPr>
              <a:t>MAHALANOBIS-0</a:t>
            </a:r>
          </a:p>
        </p:txBody>
      </p:sp>
    </p:spTree>
    <p:extLst>
      <p:ext uri="{BB962C8B-B14F-4D97-AF65-F5344CB8AC3E}">
        <p14:creationId xmlns:p14="http://schemas.microsoft.com/office/powerpoint/2010/main" val="657286554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24E1C10-73BD-FB44-B57E-7BF0017B39AE}"/>
              </a:ext>
            </a:extLst>
          </p:cNvPr>
          <p:cNvSpPr txBox="1"/>
          <p:nvPr/>
        </p:nvSpPr>
        <p:spPr>
          <a:xfrm>
            <a:off x="3111062" y="1575894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TRAINING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D37474-A788-3140-8F24-DFB62D279098}"/>
              </a:ext>
            </a:extLst>
          </p:cNvPr>
          <p:cNvSpPr txBox="1"/>
          <p:nvPr/>
        </p:nvSpPr>
        <p:spPr>
          <a:xfrm>
            <a:off x="7993119" y="1575894"/>
            <a:ext cx="1093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TESTING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3B80FF-E6F6-AB4A-8355-39A01E2E1450}"/>
              </a:ext>
            </a:extLst>
          </p:cNvPr>
          <p:cNvSpPr txBox="1"/>
          <p:nvPr/>
        </p:nvSpPr>
        <p:spPr>
          <a:xfrm>
            <a:off x="1981200" y="544811"/>
            <a:ext cx="13484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800" dirty="0">
                <a:latin typeface="Gill Sans MT" panose="020B0502020104020203" pitchFamily="34" charset="77"/>
              </a:rPr>
              <a:t>Ejemplo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BA6BABD-B4A5-8642-A54E-DEA9A83127CC}"/>
              </a:ext>
            </a:extLst>
          </p:cNvPr>
          <p:cNvSpPr/>
          <p:nvPr/>
        </p:nvSpPr>
        <p:spPr>
          <a:xfrm>
            <a:off x="3384238" y="1206562"/>
            <a:ext cx="6671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(</a:t>
            </a:r>
            <a:r>
              <a:rPr lang="es-ES_tradnl" dirty="0" err="1">
                <a:latin typeface="Gill Sans MT" panose="020B0502020104020203" pitchFamily="34" charset="77"/>
              </a:rPr>
              <a:t>X,d</a:t>
            </a:r>
            <a:r>
              <a:rPr lang="es-ES_tradnl" dirty="0">
                <a:latin typeface="Gill Sans MT" panose="020B0502020104020203" pitchFamily="34" charset="77"/>
              </a:rPr>
              <a:t>)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7074503-D2D2-1449-AB47-2471CBE58787}"/>
              </a:ext>
            </a:extLst>
          </p:cNvPr>
          <p:cNvSpPr/>
          <p:nvPr/>
        </p:nvSpPr>
        <p:spPr>
          <a:xfrm>
            <a:off x="8111740" y="1206562"/>
            <a:ext cx="7889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(</a:t>
            </a:r>
            <a:r>
              <a:rPr lang="es-ES_tradnl" dirty="0" err="1">
                <a:latin typeface="Gill Sans MT" panose="020B0502020104020203" pitchFamily="34" charset="77"/>
              </a:rPr>
              <a:t>X</a:t>
            </a:r>
            <a:r>
              <a:rPr lang="es-ES_tradnl" baseline="-25000" dirty="0" err="1">
                <a:latin typeface="Gill Sans MT" panose="020B0502020104020203" pitchFamily="34" charset="77"/>
              </a:rPr>
              <a:t>t</a:t>
            </a:r>
            <a:r>
              <a:rPr lang="es-ES_tradnl" dirty="0" err="1">
                <a:latin typeface="Gill Sans MT" panose="020B0502020104020203" pitchFamily="34" charset="77"/>
              </a:rPr>
              <a:t>,d</a:t>
            </a:r>
            <a:r>
              <a:rPr lang="es-ES_tradnl" baseline="-25000" dirty="0" err="1">
                <a:latin typeface="Gill Sans MT" panose="020B0502020104020203" pitchFamily="34" charset="77"/>
              </a:rPr>
              <a:t>t</a:t>
            </a:r>
            <a:r>
              <a:rPr lang="es-ES_tradnl" dirty="0">
                <a:latin typeface="Gill Sans MT" panose="020B0502020104020203" pitchFamily="34" charset="77"/>
              </a:rPr>
              <a:t>)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E6ED63-F1BE-AF4A-AA45-2EDDE37B8BB8}"/>
              </a:ext>
            </a:extLst>
          </p:cNvPr>
          <p:cNvSpPr txBox="1"/>
          <p:nvPr/>
        </p:nvSpPr>
        <p:spPr>
          <a:xfrm>
            <a:off x="5205379" y="683342"/>
            <a:ext cx="22541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800" dirty="0">
                <a:latin typeface="Gill Sans MT" panose="020B0502020104020203" pitchFamily="34" charset="77"/>
              </a:rPr>
              <a:t>Mahalanobis-0</a:t>
            </a:r>
          </a:p>
        </p:txBody>
      </p:sp>
      <p:pic>
        <p:nvPicPr>
          <p:cNvPr id="14" name="Picture 4">
            <a:extLst>
              <a:ext uri="{FF2B5EF4-FFF2-40B4-BE49-F238E27FC236}">
                <a16:creationId xmlns:a16="http://schemas.microsoft.com/office/drawing/2014/main" id="{0E0EC841-A946-1948-BCFE-5EFE983163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0428" y="2031208"/>
            <a:ext cx="9301655" cy="3812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2B3CA8B-BDD7-6D43-8384-9AB47053DAAA}"/>
              </a:ext>
            </a:extLst>
          </p:cNvPr>
          <p:cNvSpPr/>
          <p:nvPr/>
        </p:nvSpPr>
        <p:spPr>
          <a:xfrm>
            <a:off x="7741447" y="683342"/>
            <a:ext cx="124585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sz="2800" dirty="0">
                <a:latin typeface="Gill Sans MT" panose="020B0502020104020203" pitchFamily="34" charset="77"/>
                <a:cs typeface="Trebuchet MS"/>
              </a:rPr>
              <a:t>(</a:t>
            </a:r>
            <a:r>
              <a:rPr lang="es-ES_tradnl" sz="2800" dirty="0" err="1">
                <a:latin typeface="Gill Sans MT" panose="020B0502020104020203" pitchFamily="34" charset="77"/>
                <a:cs typeface="Trebuchet MS"/>
              </a:rPr>
              <a:t>Σ</a:t>
            </a:r>
            <a:r>
              <a:rPr lang="es-ES_tradnl" sz="2800" baseline="-25000" dirty="0" err="1">
                <a:latin typeface="Gill Sans MT" panose="020B0502020104020203" pitchFamily="34" charset="77"/>
                <a:cs typeface="Trebuchet MS"/>
              </a:rPr>
              <a:t>i</a:t>
            </a:r>
            <a:r>
              <a:rPr lang="es-ES_tradnl" sz="2800" dirty="0">
                <a:latin typeface="Gill Sans MT" panose="020B0502020104020203" pitchFamily="34" charset="77"/>
                <a:cs typeface="Trebuchet MS"/>
              </a:rPr>
              <a:t> = </a:t>
            </a:r>
            <a:r>
              <a:rPr lang="es-ES_tradnl" sz="2800" dirty="0" err="1">
                <a:latin typeface="Gill Sans MT" panose="020B0502020104020203" pitchFamily="34" charset="77"/>
                <a:cs typeface="Trebuchet MS"/>
              </a:rPr>
              <a:t>Σ</a:t>
            </a:r>
            <a:r>
              <a:rPr lang="es-ES_tradnl" sz="2800" dirty="0">
                <a:latin typeface="Gill Sans MT" panose="020B0502020104020203" pitchFamily="34" charset="77"/>
                <a:cs typeface="Trebuchet MS"/>
              </a:rPr>
              <a:t>)</a:t>
            </a:r>
            <a:endParaRPr lang="en-US" sz="2800" dirty="0"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815923462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2434868" y="1633646"/>
            <a:ext cx="7594876" cy="1993842"/>
            <a:chOff x="936527" y="4494202"/>
            <a:chExt cx="7594876" cy="1993842"/>
          </a:xfrm>
        </p:grpSpPr>
        <p:pic>
          <p:nvPicPr>
            <p:cNvPr id="6" name="Picture 5" descr="Screen Shot 2014-10-29 at 9.02.33 AM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11210" y="4494202"/>
              <a:ext cx="6940588" cy="1993842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>
            <a:xfrm>
              <a:off x="6503018" y="4617802"/>
              <a:ext cx="2028385" cy="4876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6488639" y="5822070"/>
              <a:ext cx="2028385" cy="4876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1023409" y="4616270"/>
              <a:ext cx="2028385" cy="4876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7" name="Picture 6" descr="Screen Shot 2014-10-29 at 9.35.32 AM.pn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6527" y="4573338"/>
              <a:ext cx="1397000" cy="533400"/>
            </a:xfrm>
            <a:prstGeom prst="rect">
              <a:avLst/>
            </a:prstGeom>
          </p:spPr>
        </p:pic>
        <p:pic>
          <p:nvPicPr>
            <p:cNvPr id="9" name="Picture 8" descr="Screen Shot 2014-10-29 at 9.35.57 AM.png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0426" y="4611565"/>
              <a:ext cx="800100" cy="482600"/>
            </a:xfrm>
            <a:prstGeom prst="rect">
              <a:avLst/>
            </a:prstGeom>
          </p:spPr>
        </p:pic>
      </p:grpSp>
      <p:cxnSp>
        <p:nvCxnSpPr>
          <p:cNvPr id="8" name="Straight Connector 7"/>
          <p:cNvCxnSpPr/>
          <p:nvPr/>
        </p:nvCxnSpPr>
        <p:spPr>
          <a:xfrm flipV="1">
            <a:off x="4872417" y="2860594"/>
            <a:ext cx="1436868" cy="859455"/>
          </a:xfrm>
          <a:prstGeom prst="line">
            <a:avLst/>
          </a:prstGeom>
          <a:ln w="38100" cmpd="sng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" name="Group 29"/>
          <p:cNvGrpSpPr/>
          <p:nvPr/>
        </p:nvGrpSpPr>
        <p:grpSpPr>
          <a:xfrm>
            <a:off x="2935196" y="854446"/>
            <a:ext cx="5736804" cy="504511"/>
            <a:chOff x="1667780" y="2419437"/>
            <a:chExt cx="5736804" cy="504511"/>
          </a:xfrm>
        </p:grpSpPr>
        <p:pic>
          <p:nvPicPr>
            <p:cNvPr id="31" name="Picture 30" descr="Screen Shot 2014-10-29 at 9.27.29 AM.png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93391" y="2419437"/>
              <a:ext cx="3511193" cy="503999"/>
            </a:xfrm>
            <a:prstGeom prst="rect">
              <a:avLst/>
            </a:prstGeom>
          </p:spPr>
        </p:pic>
        <p:pic>
          <p:nvPicPr>
            <p:cNvPr id="32" name="Picture 31" descr="Screen Shot 2014-10-29 at 9.27.21 AM.png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06247" y="2419949"/>
              <a:ext cx="1504472" cy="503999"/>
            </a:xfrm>
            <a:prstGeom prst="rect">
              <a:avLst/>
            </a:prstGeom>
          </p:spPr>
        </p:pic>
        <p:sp>
          <p:nvSpPr>
            <p:cNvPr id="33" name="TextBox 32"/>
            <p:cNvSpPr txBox="1"/>
            <p:nvPr/>
          </p:nvSpPr>
          <p:spPr>
            <a:xfrm>
              <a:off x="3475152" y="2471885"/>
              <a:ext cx="19415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00FF"/>
                  </a:solidFill>
                  <a:latin typeface="LM Roman 10 Regular"/>
                  <a:cs typeface="LM Roman 10 Regular"/>
                </a:rPr>
                <a:t>log{                }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667780" y="2460591"/>
              <a:ext cx="17876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00FF"/>
                  </a:solidFill>
                  <a:latin typeface="LM Roman 10 Regular"/>
                  <a:cs typeface="LM Roman 10 Regular"/>
                </a:rPr>
                <a:t>log{              }</a:t>
              </a: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2417710" y="4092031"/>
            <a:ext cx="682597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  <a:cs typeface="Trebuchet MS"/>
              </a:rPr>
              <a:t>En QDA (Análisis Discriminante Cuadrático) se supone que </a:t>
            </a:r>
            <a:r>
              <a:rPr lang="es-ES_tradnl" dirty="0" err="1">
                <a:latin typeface="Gill Sans MT" panose="020B0502020104020203" pitchFamily="34" charset="77"/>
                <a:cs typeface="Trebuchet MS"/>
              </a:rPr>
              <a:t>Σ</a:t>
            </a:r>
            <a:r>
              <a:rPr lang="es-ES_tradnl" baseline="-25000" dirty="0" err="1">
                <a:latin typeface="Gill Sans MT" panose="020B0502020104020203" pitchFamily="34" charset="77"/>
                <a:cs typeface="Trebuchet MS"/>
              </a:rPr>
              <a:t>i</a:t>
            </a:r>
            <a:r>
              <a:rPr lang="es-ES_tradnl" dirty="0">
                <a:latin typeface="Gill Sans MT" panose="020B0502020104020203" pitchFamily="34" charset="77"/>
                <a:cs typeface="Trebuchet MS"/>
              </a:rPr>
              <a:t> y </a:t>
            </a:r>
            <a:r>
              <a:rPr lang="es-ES_tradnl" i="1" dirty="0">
                <a:latin typeface="LM Roman 10 Regular"/>
                <a:cs typeface="LM Roman 10 Regular"/>
              </a:rPr>
              <a:t>p(</a:t>
            </a:r>
            <a:r>
              <a:rPr lang="es-ES_tradnl" i="1" dirty="0" err="1">
                <a:latin typeface="LM Roman 10 Regular"/>
                <a:cs typeface="LM Roman 10 Regular"/>
              </a:rPr>
              <a:t>w</a:t>
            </a:r>
            <a:r>
              <a:rPr lang="es-ES_tradnl" i="1" baseline="-25000" dirty="0" err="1">
                <a:latin typeface="LM Roman 10 Regular"/>
                <a:cs typeface="LM Roman 10 Regular"/>
              </a:rPr>
              <a:t>i</a:t>
            </a:r>
            <a:r>
              <a:rPr lang="es-ES_tradnl" i="1" dirty="0">
                <a:latin typeface="LM Roman 10 Regular"/>
                <a:cs typeface="LM Roman 10 Regular"/>
              </a:rPr>
              <a:t>) </a:t>
            </a:r>
            <a:r>
              <a:rPr lang="es-ES_tradnl" dirty="0">
                <a:latin typeface="Gill Sans MT" panose="020B0502020104020203" pitchFamily="34" charset="77"/>
                <a:cs typeface="Trebuchet MS"/>
              </a:rPr>
              <a:t>
son diferentes.
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73982" y="204431"/>
            <a:ext cx="1082156" cy="58477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Gill Sans MT" panose="020B0502020104020203" pitchFamily="34" charset="77"/>
              </a:rPr>
              <a:t>QDA</a:t>
            </a:r>
          </a:p>
        </p:txBody>
      </p:sp>
    </p:spTree>
    <p:extLst>
      <p:ext uri="{BB962C8B-B14F-4D97-AF65-F5344CB8AC3E}">
        <p14:creationId xmlns:p14="http://schemas.microsoft.com/office/powerpoint/2010/main" val="1124020802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24E1C10-73BD-FB44-B57E-7BF0017B39AE}"/>
              </a:ext>
            </a:extLst>
          </p:cNvPr>
          <p:cNvSpPr txBox="1"/>
          <p:nvPr/>
        </p:nvSpPr>
        <p:spPr>
          <a:xfrm>
            <a:off x="3111062" y="1575894"/>
            <a:ext cx="1263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TRAINING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D37474-A788-3140-8F24-DFB62D279098}"/>
              </a:ext>
            </a:extLst>
          </p:cNvPr>
          <p:cNvSpPr txBox="1"/>
          <p:nvPr/>
        </p:nvSpPr>
        <p:spPr>
          <a:xfrm>
            <a:off x="7993119" y="1575894"/>
            <a:ext cx="1093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TESTING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3B80FF-E6F6-AB4A-8355-39A01E2E1450}"/>
              </a:ext>
            </a:extLst>
          </p:cNvPr>
          <p:cNvSpPr txBox="1"/>
          <p:nvPr/>
        </p:nvSpPr>
        <p:spPr>
          <a:xfrm>
            <a:off x="1981200" y="544811"/>
            <a:ext cx="13484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800" dirty="0">
                <a:latin typeface="Gill Sans MT" panose="020B0502020104020203" pitchFamily="34" charset="77"/>
              </a:rPr>
              <a:t>Ejemplo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BA6BABD-B4A5-8642-A54E-DEA9A83127CC}"/>
              </a:ext>
            </a:extLst>
          </p:cNvPr>
          <p:cNvSpPr/>
          <p:nvPr/>
        </p:nvSpPr>
        <p:spPr>
          <a:xfrm>
            <a:off x="3384238" y="1206562"/>
            <a:ext cx="6671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(</a:t>
            </a:r>
            <a:r>
              <a:rPr lang="es-ES_tradnl" dirty="0" err="1">
                <a:latin typeface="Gill Sans MT" panose="020B0502020104020203" pitchFamily="34" charset="77"/>
              </a:rPr>
              <a:t>X,d</a:t>
            </a:r>
            <a:r>
              <a:rPr lang="es-ES_tradnl" dirty="0">
                <a:latin typeface="Gill Sans MT" panose="020B0502020104020203" pitchFamily="34" charset="77"/>
              </a:rPr>
              <a:t>)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7074503-D2D2-1449-AB47-2471CBE58787}"/>
              </a:ext>
            </a:extLst>
          </p:cNvPr>
          <p:cNvSpPr/>
          <p:nvPr/>
        </p:nvSpPr>
        <p:spPr>
          <a:xfrm>
            <a:off x="8111740" y="1206562"/>
            <a:ext cx="7889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_tradnl" dirty="0">
                <a:latin typeface="Gill Sans MT" panose="020B0502020104020203" pitchFamily="34" charset="77"/>
              </a:rPr>
              <a:t>(</a:t>
            </a:r>
            <a:r>
              <a:rPr lang="es-ES_tradnl" dirty="0" err="1">
                <a:latin typeface="Gill Sans MT" panose="020B0502020104020203" pitchFamily="34" charset="77"/>
              </a:rPr>
              <a:t>X</a:t>
            </a:r>
            <a:r>
              <a:rPr lang="es-ES_tradnl" baseline="-25000" dirty="0" err="1">
                <a:latin typeface="Gill Sans MT" panose="020B0502020104020203" pitchFamily="34" charset="77"/>
              </a:rPr>
              <a:t>t</a:t>
            </a:r>
            <a:r>
              <a:rPr lang="es-ES_tradnl" dirty="0" err="1">
                <a:latin typeface="Gill Sans MT" panose="020B0502020104020203" pitchFamily="34" charset="77"/>
              </a:rPr>
              <a:t>,d</a:t>
            </a:r>
            <a:r>
              <a:rPr lang="es-ES_tradnl" baseline="-25000" dirty="0" err="1">
                <a:latin typeface="Gill Sans MT" panose="020B0502020104020203" pitchFamily="34" charset="77"/>
              </a:rPr>
              <a:t>t</a:t>
            </a:r>
            <a:r>
              <a:rPr lang="es-ES_tradnl" dirty="0">
                <a:latin typeface="Gill Sans MT" panose="020B0502020104020203" pitchFamily="34" charset="77"/>
              </a:rPr>
              <a:t>)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D1DFB88-4EA2-8E40-BAF4-05FB484D61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149127" y="2070100"/>
            <a:ext cx="10257644" cy="3708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23B8BB2-E0B8-7345-B022-1B88A29EA15D}"/>
              </a:ext>
            </a:extLst>
          </p:cNvPr>
          <p:cNvSpPr txBox="1"/>
          <p:nvPr/>
        </p:nvSpPr>
        <p:spPr>
          <a:xfrm>
            <a:off x="5667038" y="683342"/>
            <a:ext cx="967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800" dirty="0">
                <a:latin typeface="Gill Sans MT" panose="020B0502020104020203" pitchFamily="34" charset="77"/>
              </a:rPr>
              <a:t>QDA</a:t>
            </a:r>
          </a:p>
        </p:txBody>
      </p:sp>
    </p:spTree>
    <p:extLst>
      <p:ext uri="{BB962C8B-B14F-4D97-AF65-F5344CB8AC3E}">
        <p14:creationId xmlns:p14="http://schemas.microsoft.com/office/powerpoint/2010/main" val="4015699518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BF01A47-6661-4843-8FDB-7E017FBF16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2851" y="766484"/>
            <a:ext cx="2873045" cy="5610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2088A3-BAA4-7C4B-B479-708A82BDFF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3398" y="676920"/>
            <a:ext cx="4572000" cy="650631"/>
          </a:xfrm>
          <a:prstGeom prst="rect">
            <a:avLst/>
          </a:prstGeom>
        </p:spPr>
      </p:pic>
      <p:pic>
        <p:nvPicPr>
          <p:cNvPr id="9" name="Picture 8" descr="Screen Shot 2014-10-29 at 9.35.32 AM.png">
            <a:extLst>
              <a:ext uri="{FF2B5EF4-FFF2-40B4-BE49-F238E27FC236}">
                <a16:creationId xmlns:a16="http://schemas.microsoft.com/office/drawing/2014/main" id="{F6E78745-84A5-804A-8C2A-76C08B4E1C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99" y="766484"/>
            <a:ext cx="1397000" cy="5334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17754B4-4A87-BA48-8EDE-1A144A6711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2851" y="2348291"/>
            <a:ext cx="2873045" cy="56106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CA0489A-702B-984C-9D14-A03116E0B8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3398" y="2258727"/>
            <a:ext cx="4572000" cy="65063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FD45873-AB61-EC4A-A548-D6779FD111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5399" y="3840533"/>
            <a:ext cx="2873045" cy="56106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5C81A4A-16F6-CF45-9559-180495C2AB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5946" y="3750969"/>
            <a:ext cx="4572000" cy="65063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C90DF46-F4D4-0E41-8D81-388D0D3773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5399" y="5422340"/>
            <a:ext cx="2873045" cy="56106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090E91C-0F5F-DC41-BD61-D3BA6A6ECA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5946" y="5332776"/>
            <a:ext cx="4572000" cy="650631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52627A9-0CC7-FA47-814D-CBA38040B390}"/>
              </a:ext>
            </a:extLst>
          </p:cNvPr>
          <p:cNvCxnSpPr/>
          <p:nvPr/>
        </p:nvCxnSpPr>
        <p:spPr>
          <a:xfrm flipV="1">
            <a:off x="7667946" y="2154314"/>
            <a:ext cx="1436868" cy="859455"/>
          </a:xfrm>
          <a:prstGeom prst="line">
            <a:avLst/>
          </a:prstGeom>
          <a:ln w="38100" cmpd="sng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98D049C-9689-9E41-B20B-E2A33E617322}"/>
              </a:ext>
            </a:extLst>
          </p:cNvPr>
          <p:cNvCxnSpPr/>
          <p:nvPr/>
        </p:nvCxnSpPr>
        <p:spPr>
          <a:xfrm flipV="1">
            <a:off x="7667946" y="3736121"/>
            <a:ext cx="1436868" cy="859455"/>
          </a:xfrm>
          <a:prstGeom prst="line">
            <a:avLst/>
          </a:prstGeom>
          <a:ln w="38100" cmpd="sng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BC648EB-6ACF-274F-94F4-45757435C9C6}"/>
              </a:ext>
            </a:extLst>
          </p:cNvPr>
          <p:cNvCxnSpPr/>
          <p:nvPr/>
        </p:nvCxnSpPr>
        <p:spPr>
          <a:xfrm flipV="1">
            <a:off x="7667946" y="5157718"/>
            <a:ext cx="1436868" cy="859455"/>
          </a:xfrm>
          <a:prstGeom prst="line">
            <a:avLst/>
          </a:prstGeom>
          <a:ln w="38100" cmpd="sng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DBCF3C0-104A-F242-8380-499F827441F7}"/>
              </a:ext>
            </a:extLst>
          </p:cNvPr>
          <p:cNvCxnSpPr/>
          <p:nvPr/>
        </p:nvCxnSpPr>
        <p:spPr>
          <a:xfrm flipV="1">
            <a:off x="6204804" y="2130546"/>
            <a:ext cx="1436868" cy="859455"/>
          </a:xfrm>
          <a:prstGeom prst="line">
            <a:avLst/>
          </a:prstGeom>
          <a:ln w="38100" cmpd="sng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AA83A4C-9E26-A04A-B2F5-5F64CE76BF12}"/>
              </a:ext>
            </a:extLst>
          </p:cNvPr>
          <p:cNvCxnSpPr/>
          <p:nvPr/>
        </p:nvCxnSpPr>
        <p:spPr>
          <a:xfrm flipV="1">
            <a:off x="9078195" y="3736120"/>
            <a:ext cx="1436868" cy="859455"/>
          </a:xfrm>
          <a:prstGeom prst="line">
            <a:avLst/>
          </a:prstGeom>
          <a:ln w="38100" cmpd="sng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7677F46-C270-D444-B069-FE7FC644E95C}"/>
              </a:ext>
            </a:extLst>
          </p:cNvPr>
          <p:cNvCxnSpPr/>
          <p:nvPr/>
        </p:nvCxnSpPr>
        <p:spPr>
          <a:xfrm flipV="1">
            <a:off x="6231078" y="3691339"/>
            <a:ext cx="1436868" cy="859455"/>
          </a:xfrm>
          <a:prstGeom prst="line">
            <a:avLst/>
          </a:prstGeom>
          <a:ln w="38100" cmpd="sng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CF36AF1D-7665-9C4D-97D0-C3A3F6E2E87E}"/>
              </a:ext>
            </a:extLst>
          </p:cNvPr>
          <p:cNvSpPr/>
          <p:nvPr/>
        </p:nvSpPr>
        <p:spPr>
          <a:xfrm>
            <a:off x="7272821" y="1761213"/>
            <a:ext cx="12442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  <a:cs typeface="Trebuchet MS"/>
              </a:rPr>
              <a:t>Σ</a:t>
            </a:r>
            <a:r>
              <a:rPr lang="en-US" baseline="-25000" dirty="0" err="1">
                <a:latin typeface="Gill Sans MT" panose="020B0502020104020203" pitchFamily="34" charset="77"/>
                <a:cs typeface="Trebuchet MS"/>
              </a:rPr>
              <a:t>i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=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Σ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=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cte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27981F8-F1D6-CE47-8E2F-71157F215349}"/>
              </a:ext>
            </a:extLst>
          </p:cNvPr>
          <p:cNvSpPr/>
          <p:nvPr/>
        </p:nvSpPr>
        <p:spPr>
          <a:xfrm>
            <a:off x="7246547" y="3261379"/>
            <a:ext cx="12442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  <a:cs typeface="Trebuchet MS"/>
              </a:rPr>
              <a:t>Σ</a:t>
            </a:r>
            <a:r>
              <a:rPr lang="en-US" baseline="-25000" dirty="0" err="1">
                <a:latin typeface="Gill Sans MT" panose="020B0502020104020203" pitchFamily="34" charset="77"/>
                <a:cs typeface="Trebuchet MS"/>
              </a:rPr>
              <a:t>i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=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Σ</a:t>
            </a:r>
            <a:r>
              <a:rPr lang="en-US" dirty="0">
                <a:latin typeface="Gill Sans MT" panose="020B0502020104020203" pitchFamily="34" charset="77"/>
                <a:cs typeface="Trebuchet MS"/>
              </a:rPr>
              <a:t> = </a:t>
            </a:r>
            <a:r>
              <a:rPr lang="en-US" dirty="0" err="1">
                <a:latin typeface="Gill Sans MT" panose="020B0502020104020203" pitchFamily="34" charset="77"/>
                <a:cs typeface="Trebuchet MS"/>
              </a:rPr>
              <a:t>cte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E3D7042-E6D8-AE4B-B8ED-1F8E88727161}"/>
              </a:ext>
            </a:extLst>
          </p:cNvPr>
          <p:cNvSpPr/>
          <p:nvPr/>
        </p:nvSpPr>
        <p:spPr>
          <a:xfrm>
            <a:off x="8851236" y="1761519"/>
            <a:ext cx="4732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  <a:cs typeface="Trebuchet MS"/>
              </a:rPr>
              <a:t>cte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73557A1-4263-2842-8872-40E5DF41AF52}"/>
              </a:ext>
            </a:extLst>
          </p:cNvPr>
          <p:cNvSpPr/>
          <p:nvPr/>
        </p:nvSpPr>
        <p:spPr>
          <a:xfrm>
            <a:off x="8819951" y="3261379"/>
            <a:ext cx="4732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  <a:cs typeface="Trebuchet MS"/>
              </a:rPr>
              <a:t>cte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0766D41-33F1-164D-BF89-B0D43BB87048}"/>
              </a:ext>
            </a:extLst>
          </p:cNvPr>
          <p:cNvSpPr/>
          <p:nvPr/>
        </p:nvSpPr>
        <p:spPr>
          <a:xfrm>
            <a:off x="8846570" y="4788384"/>
            <a:ext cx="4732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  <a:cs typeface="Trebuchet MS"/>
              </a:rPr>
              <a:t>cte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89AF186-0427-E846-BB84-19DA44EFB95D}"/>
              </a:ext>
            </a:extLst>
          </p:cNvPr>
          <p:cNvSpPr/>
          <p:nvPr/>
        </p:nvSpPr>
        <p:spPr>
          <a:xfrm>
            <a:off x="9546805" y="3244334"/>
            <a:ext cx="13244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1" dirty="0">
                <a:latin typeface="LM Roman 10 Regular"/>
                <a:cs typeface="LM Roman 10 Regular"/>
              </a:rPr>
              <a:t>p(</a:t>
            </a:r>
            <a:r>
              <a:rPr lang="en-US" i="1" dirty="0" err="1">
                <a:latin typeface="LM Roman 10 Regular"/>
                <a:cs typeface="LM Roman 10 Regular"/>
              </a:rPr>
              <a:t>w</a:t>
            </a:r>
            <a:r>
              <a:rPr lang="en-US" i="1" baseline="-25000" dirty="0" err="1">
                <a:latin typeface="LM Roman 10 Regular"/>
                <a:cs typeface="LM Roman 10 Regular"/>
              </a:rPr>
              <a:t>i</a:t>
            </a:r>
            <a:r>
              <a:rPr lang="en-US" i="1" dirty="0">
                <a:latin typeface="LM Roman 10 Regular"/>
                <a:cs typeface="LM Roman 10 Regular"/>
              </a:rPr>
              <a:t>) = </a:t>
            </a:r>
            <a:r>
              <a:rPr lang="en-US" i="1" dirty="0" err="1">
                <a:latin typeface="LM Roman 10 Regular"/>
                <a:cs typeface="LM Roman 10 Regular"/>
              </a:rPr>
              <a:t>cte</a:t>
            </a:r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FB18777-5E2B-304B-9820-D912D8978F3F}"/>
              </a:ext>
            </a:extLst>
          </p:cNvPr>
          <p:cNvSpPr txBox="1"/>
          <p:nvPr/>
        </p:nvSpPr>
        <p:spPr>
          <a:xfrm>
            <a:off x="2001445" y="2444158"/>
            <a:ext cx="612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LDA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C27F450-FC19-7B45-B5F6-BC68C99E8B07}"/>
              </a:ext>
            </a:extLst>
          </p:cNvPr>
          <p:cNvSpPr txBox="1"/>
          <p:nvPr/>
        </p:nvSpPr>
        <p:spPr>
          <a:xfrm>
            <a:off x="2001444" y="5473424"/>
            <a:ext cx="6896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QDA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538F7AB-5154-504C-B1F1-F400EFDFF79A}"/>
              </a:ext>
            </a:extLst>
          </p:cNvPr>
          <p:cNvSpPr txBox="1"/>
          <p:nvPr/>
        </p:nvSpPr>
        <p:spPr>
          <a:xfrm>
            <a:off x="1704892" y="3894359"/>
            <a:ext cx="1321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Gill Sans MT" panose="020B0502020104020203" pitchFamily="34" charset="77"/>
              </a:rPr>
              <a:t>Mahalanobis</a:t>
            </a:r>
            <a:endParaRPr lang="en-US" dirty="0"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383706589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524001" y="3031067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Árboles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 de </a:t>
            </a:r>
            <a:r>
              <a:rPr lang="en-US" sz="2400" dirty="0" err="1">
                <a:latin typeface="Gill Sans MT" panose="020B0502020104020203" pitchFamily="34" charset="77"/>
                <a:cs typeface="Trebuchet MS"/>
              </a:rPr>
              <a:t>Decisión</a:t>
            </a:r>
            <a:endParaRPr lang="es-CL" sz="1000" dirty="0">
              <a:latin typeface="Gill Sans MT" panose="020B0502020104020203" pitchFamily="34" charset="77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030562252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Brace 1"/>
          <p:cNvSpPr/>
          <p:nvPr/>
        </p:nvSpPr>
        <p:spPr>
          <a:xfrm>
            <a:off x="8040216" y="2420888"/>
            <a:ext cx="360040" cy="3024336"/>
          </a:xfrm>
          <a:prstGeom prst="rightBrac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30D708B-E6C2-D246-AB3B-14FC53CD4E93}"/>
              </a:ext>
            </a:extLst>
          </p:cNvPr>
          <p:cNvSpPr txBox="1"/>
          <p:nvPr/>
        </p:nvSpPr>
        <p:spPr>
          <a:xfrm>
            <a:off x="2135560" y="764705"/>
            <a:ext cx="46137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400" dirty="0">
                <a:latin typeface="Gill Sans MT" panose="020B0502020104020203" pitchFamily="34" charset="77"/>
                <a:cs typeface="Trebuchet MS"/>
              </a:rPr>
              <a:t>Árboles de Decisión (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Training data</a:t>
            </a:r>
            <a:r>
              <a:rPr lang="es-ES_tradnl" sz="2400" dirty="0">
                <a:latin typeface="Gill Sans MT" panose="020B0502020104020203" pitchFamily="34" charset="77"/>
                <a:cs typeface="Trebuchet MS"/>
              </a:rPr>
              <a:t>)</a:t>
            </a:r>
            <a:endParaRPr lang="en-US" sz="2400" dirty="0">
              <a:latin typeface="Gill Sans MT" panose="020B0502020104020203" pitchFamily="34" charset="77"/>
              <a:cs typeface="Trebuchet MS"/>
            </a:endParaRPr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D749D25F-183B-2041-A1FF-A2A4330F0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1650" y="1532317"/>
            <a:ext cx="6108700" cy="505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386623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Brace 1"/>
          <p:cNvSpPr/>
          <p:nvPr/>
        </p:nvSpPr>
        <p:spPr>
          <a:xfrm>
            <a:off x="8040216" y="2420888"/>
            <a:ext cx="360040" cy="3024336"/>
          </a:xfrm>
          <a:prstGeom prst="rightBrac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30D708B-E6C2-D246-AB3B-14FC53CD4E93}"/>
              </a:ext>
            </a:extLst>
          </p:cNvPr>
          <p:cNvSpPr txBox="1"/>
          <p:nvPr/>
        </p:nvSpPr>
        <p:spPr>
          <a:xfrm>
            <a:off x="2135560" y="764705"/>
            <a:ext cx="46137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400" dirty="0">
                <a:latin typeface="Gill Sans MT" panose="020B0502020104020203" pitchFamily="34" charset="77"/>
                <a:cs typeface="Trebuchet MS"/>
              </a:rPr>
              <a:t>Árboles de Decisión (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Training data</a:t>
            </a:r>
            <a:r>
              <a:rPr lang="es-ES_tradnl" sz="2400" dirty="0">
                <a:latin typeface="Gill Sans MT" panose="020B0502020104020203" pitchFamily="34" charset="77"/>
                <a:cs typeface="Trebuchet MS"/>
              </a:rPr>
              <a:t>)</a:t>
            </a:r>
            <a:endParaRPr lang="en-US" sz="2400" dirty="0">
              <a:latin typeface="Gill Sans MT" panose="020B0502020104020203" pitchFamily="34" charset="77"/>
              <a:cs typeface="Trebuchet MS"/>
            </a:endParaRPr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D749D25F-183B-2041-A1FF-A2A4330F0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1650" y="1532317"/>
            <a:ext cx="6108700" cy="5054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4100C96-087A-AB45-9C93-8E9F9CA12CA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3478924" y="5153497"/>
            <a:ext cx="5538951" cy="93978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7DB5D59-43D3-D644-9872-4D48854DA5CA}"/>
              </a:ext>
            </a:extLst>
          </p:cNvPr>
          <p:cNvSpPr/>
          <p:nvPr/>
        </p:nvSpPr>
        <p:spPr>
          <a:xfrm>
            <a:off x="9129696" y="5013900"/>
            <a:ext cx="7008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Error</a:t>
            </a:r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354B3E89-8700-FA4C-A467-6384F3600FAA}"/>
              </a:ext>
            </a:extLst>
          </p:cNvPr>
          <p:cNvCxnSpPr/>
          <p:nvPr/>
        </p:nvCxnSpPr>
        <p:spPr>
          <a:xfrm>
            <a:off x="3499945" y="1776249"/>
            <a:ext cx="0" cy="434077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0548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25 -0.00231 L 0.60104 -0.00231 " pathEditMode="relative" ptsTypes="AA">
                                      <p:cBhvr>
                                        <p:cTn id="6" dur="2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Brace 1"/>
          <p:cNvSpPr/>
          <p:nvPr/>
        </p:nvSpPr>
        <p:spPr>
          <a:xfrm>
            <a:off x="8040216" y="2420888"/>
            <a:ext cx="360040" cy="3024336"/>
          </a:xfrm>
          <a:prstGeom prst="rightBrac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30D708B-E6C2-D246-AB3B-14FC53CD4E93}"/>
              </a:ext>
            </a:extLst>
          </p:cNvPr>
          <p:cNvSpPr txBox="1"/>
          <p:nvPr/>
        </p:nvSpPr>
        <p:spPr>
          <a:xfrm>
            <a:off x="2135560" y="764705"/>
            <a:ext cx="46137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400" dirty="0">
                <a:latin typeface="Gill Sans MT" panose="020B0502020104020203" pitchFamily="34" charset="77"/>
                <a:cs typeface="Trebuchet MS"/>
              </a:rPr>
              <a:t>Árboles de Decisión (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Training data</a:t>
            </a:r>
            <a:r>
              <a:rPr lang="es-ES_tradnl" sz="2400" dirty="0">
                <a:latin typeface="Gill Sans MT" panose="020B0502020104020203" pitchFamily="34" charset="77"/>
                <a:cs typeface="Trebuchet MS"/>
              </a:rPr>
              <a:t>)</a:t>
            </a:r>
            <a:endParaRPr lang="en-US" sz="2400" dirty="0">
              <a:latin typeface="Gill Sans MT" panose="020B0502020104020203" pitchFamily="34" charset="77"/>
              <a:cs typeface="Trebuchet MS"/>
            </a:endParaRPr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D749D25F-183B-2041-A1FF-A2A4330F0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1650" y="1532317"/>
            <a:ext cx="6108700" cy="5054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5CC18A4-92B0-DE45-9EF2-9096A9337DD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3478924" y="5153497"/>
            <a:ext cx="5538951" cy="93978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78EEF77-159C-FB49-B46D-37D93ECD5C97}"/>
              </a:ext>
            </a:extLst>
          </p:cNvPr>
          <p:cNvSpPr/>
          <p:nvPr/>
        </p:nvSpPr>
        <p:spPr>
          <a:xfrm>
            <a:off x="9129696" y="5013900"/>
            <a:ext cx="7008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Error</a:t>
            </a:r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354B3E89-8700-FA4C-A467-6384F3600FAA}"/>
              </a:ext>
            </a:extLst>
          </p:cNvPr>
          <p:cNvCxnSpPr/>
          <p:nvPr/>
        </p:nvCxnSpPr>
        <p:spPr>
          <a:xfrm>
            <a:off x="6361126" y="1776249"/>
            <a:ext cx="0" cy="434077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6D22459-11FE-1349-BA8A-E7E0AE27EBB1}"/>
              </a:ext>
            </a:extLst>
          </p:cNvPr>
          <p:cNvSpPr txBox="1"/>
          <p:nvPr/>
        </p:nvSpPr>
        <p:spPr>
          <a:xfrm>
            <a:off x="6243137" y="5723964"/>
            <a:ext cx="1367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ERR = 0.025</a:t>
            </a:r>
          </a:p>
        </p:txBody>
      </p:sp>
    </p:spTree>
    <p:extLst>
      <p:ext uri="{BB962C8B-B14F-4D97-AF65-F5344CB8AC3E}">
        <p14:creationId xmlns:p14="http://schemas.microsoft.com/office/powerpoint/2010/main" val="329263447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Brace 1"/>
          <p:cNvSpPr/>
          <p:nvPr/>
        </p:nvSpPr>
        <p:spPr>
          <a:xfrm>
            <a:off x="8040216" y="2420888"/>
            <a:ext cx="360040" cy="3024336"/>
          </a:xfrm>
          <a:prstGeom prst="rightBrac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30D708B-E6C2-D246-AB3B-14FC53CD4E93}"/>
              </a:ext>
            </a:extLst>
          </p:cNvPr>
          <p:cNvSpPr txBox="1"/>
          <p:nvPr/>
        </p:nvSpPr>
        <p:spPr>
          <a:xfrm>
            <a:off x="2135560" y="764705"/>
            <a:ext cx="46137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400" dirty="0">
                <a:latin typeface="Gill Sans MT" panose="020B0502020104020203" pitchFamily="34" charset="77"/>
                <a:cs typeface="Trebuchet MS"/>
              </a:rPr>
              <a:t>Árboles de Decisión (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Training data</a:t>
            </a:r>
            <a:r>
              <a:rPr lang="es-ES_tradnl" sz="2400" dirty="0">
                <a:latin typeface="Gill Sans MT" panose="020B0502020104020203" pitchFamily="34" charset="77"/>
                <a:cs typeface="Trebuchet MS"/>
              </a:rPr>
              <a:t>)</a:t>
            </a:r>
            <a:endParaRPr lang="en-US" sz="2400" dirty="0">
              <a:latin typeface="Gill Sans MT" panose="020B0502020104020203" pitchFamily="34" charset="77"/>
              <a:cs typeface="Trebuchet MS"/>
            </a:endParaRPr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D749D25F-183B-2041-A1FF-A2A4330F0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1650" y="1532317"/>
            <a:ext cx="6108700" cy="50546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AB1A1BD-D165-084A-8D66-01BB0E1E7BF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 rot="16200000">
            <a:off x="6093776" y="3225201"/>
            <a:ext cx="4326483" cy="14097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F4D4910A-9C83-734D-A166-D322BC151B5C}"/>
              </a:ext>
            </a:extLst>
          </p:cNvPr>
          <p:cNvSpPr/>
          <p:nvPr/>
        </p:nvSpPr>
        <p:spPr>
          <a:xfrm rot="16200000">
            <a:off x="7427471" y="1161286"/>
            <a:ext cx="7008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Error</a:t>
            </a:r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354B3E89-8700-FA4C-A467-6384F3600FAA}"/>
              </a:ext>
            </a:extLst>
          </p:cNvPr>
          <p:cNvCxnSpPr>
            <a:cxnSpLocks/>
          </p:cNvCxnSpPr>
          <p:nvPr/>
        </p:nvCxnSpPr>
        <p:spPr>
          <a:xfrm>
            <a:off x="3478924" y="6093296"/>
            <a:ext cx="553895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6864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25 -0.00232 L -0.00052 -0.6263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9" y="-31204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Brace 1"/>
          <p:cNvSpPr/>
          <p:nvPr/>
        </p:nvSpPr>
        <p:spPr>
          <a:xfrm>
            <a:off x="8040216" y="2420888"/>
            <a:ext cx="360040" cy="3024336"/>
          </a:xfrm>
          <a:prstGeom prst="rightBrac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30D708B-E6C2-D246-AB3B-14FC53CD4E93}"/>
              </a:ext>
            </a:extLst>
          </p:cNvPr>
          <p:cNvSpPr txBox="1"/>
          <p:nvPr/>
        </p:nvSpPr>
        <p:spPr>
          <a:xfrm>
            <a:off x="2135560" y="764705"/>
            <a:ext cx="46137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400" dirty="0">
                <a:latin typeface="Gill Sans MT" panose="020B0502020104020203" pitchFamily="34" charset="77"/>
                <a:cs typeface="Trebuchet MS"/>
              </a:rPr>
              <a:t>Árboles de Decisión (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Training data</a:t>
            </a:r>
            <a:r>
              <a:rPr lang="es-ES_tradnl" sz="2400" dirty="0">
                <a:latin typeface="Gill Sans MT" panose="020B0502020104020203" pitchFamily="34" charset="77"/>
                <a:cs typeface="Trebuchet MS"/>
              </a:rPr>
              <a:t>)</a:t>
            </a:r>
            <a:endParaRPr lang="en-US" sz="2400" dirty="0">
              <a:latin typeface="Gill Sans MT" panose="020B0502020104020203" pitchFamily="34" charset="77"/>
              <a:cs typeface="Trebuchet MS"/>
            </a:endParaRPr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D749D25F-183B-2041-A1FF-A2A4330F0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1650" y="1532317"/>
            <a:ext cx="6108700" cy="50546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D22459-11FE-1349-BA8A-E7E0AE27EBB1}"/>
              </a:ext>
            </a:extLst>
          </p:cNvPr>
          <p:cNvSpPr txBox="1"/>
          <p:nvPr/>
        </p:nvSpPr>
        <p:spPr>
          <a:xfrm>
            <a:off x="9125052" y="3967239"/>
            <a:ext cx="1367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ERR = 0.066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F4B358A-1A03-6C46-989C-28E35DECAFB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 rot="16200000">
            <a:off x="6093776" y="3225201"/>
            <a:ext cx="4326483" cy="14097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24DE125-1926-8A44-A24F-A28D7E2675BD}"/>
              </a:ext>
            </a:extLst>
          </p:cNvPr>
          <p:cNvSpPr/>
          <p:nvPr/>
        </p:nvSpPr>
        <p:spPr>
          <a:xfrm rot="16200000">
            <a:off x="7427471" y="1161286"/>
            <a:ext cx="7008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  <a:cs typeface="Trebuchet MS"/>
              </a:rPr>
              <a:t>Error</a:t>
            </a:r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354B3E89-8700-FA4C-A467-6384F3600FAA}"/>
              </a:ext>
            </a:extLst>
          </p:cNvPr>
          <p:cNvCxnSpPr>
            <a:cxnSpLocks/>
          </p:cNvCxnSpPr>
          <p:nvPr/>
        </p:nvCxnSpPr>
        <p:spPr>
          <a:xfrm>
            <a:off x="3510456" y="4096180"/>
            <a:ext cx="551793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3705513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Brace 1"/>
          <p:cNvSpPr/>
          <p:nvPr/>
        </p:nvSpPr>
        <p:spPr>
          <a:xfrm>
            <a:off x="8040216" y="2420888"/>
            <a:ext cx="360040" cy="3024336"/>
          </a:xfrm>
          <a:prstGeom prst="rightBrac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30D708B-E6C2-D246-AB3B-14FC53CD4E93}"/>
              </a:ext>
            </a:extLst>
          </p:cNvPr>
          <p:cNvSpPr txBox="1"/>
          <p:nvPr/>
        </p:nvSpPr>
        <p:spPr>
          <a:xfrm>
            <a:off x="2135560" y="764705"/>
            <a:ext cx="46137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400" dirty="0">
                <a:latin typeface="Gill Sans MT" panose="020B0502020104020203" pitchFamily="34" charset="77"/>
                <a:cs typeface="Trebuchet MS"/>
              </a:rPr>
              <a:t>Árboles de Decisión (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Training data</a:t>
            </a:r>
            <a:r>
              <a:rPr lang="es-ES_tradnl" sz="2400" dirty="0">
                <a:latin typeface="Gill Sans MT" panose="020B0502020104020203" pitchFamily="34" charset="77"/>
                <a:cs typeface="Trebuchet MS"/>
              </a:rPr>
              <a:t>)</a:t>
            </a:r>
            <a:endParaRPr lang="en-US" sz="2400" dirty="0">
              <a:latin typeface="Gill Sans MT" panose="020B0502020104020203" pitchFamily="34" charset="77"/>
              <a:cs typeface="Trebuchet MS"/>
            </a:endParaRPr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D749D25F-183B-2041-A1FF-A2A4330F0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1650" y="1532317"/>
            <a:ext cx="6108700" cy="5054600"/>
          </a:xfrm>
          <a:prstGeom prst="rect">
            <a:avLst/>
          </a:prstGeom>
        </p:spPr>
      </p:pic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354B3E89-8700-FA4C-A467-6384F3600FAA}"/>
              </a:ext>
            </a:extLst>
          </p:cNvPr>
          <p:cNvCxnSpPr/>
          <p:nvPr/>
        </p:nvCxnSpPr>
        <p:spPr>
          <a:xfrm>
            <a:off x="6243137" y="1776249"/>
            <a:ext cx="0" cy="434077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6D22459-11FE-1349-BA8A-E7E0AE27EBB1}"/>
              </a:ext>
            </a:extLst>
          </p:cNvPr>
          <p:cNvSpPr txBox="1"/>
          <p:nvPr/>
        </p:nvSpPr>
        <p:spPr>
          <a:xfrm>
            <a:off x="6243137" y="5723964"/>
            <a:ext cx="1367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ERR = 0.025</a:t>
            </a:r>
          </a:p>
        </p:txBody>
      </p:sp>
    </p:spTree>
    <p:extLst>
      <p:ext uri="{BB962C8B-B14F-4D97-AF65-F5344CB8AC3E}">
        <p14:creationId xmlns:p14="http://schemas.microsoft.com/office/powerpoint/2010/main" val="2035521535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Brace 1"/>
          <p:cNvSpPr/>
          <p:nvPr/>
        </p:nvSpPr>
        <p:spPr>
          <a:xfrm>
            <a:off x="8040216" y="2420888"/>
            <a:ext cx="360040" cy="3024336"/>
          </a:xfrm>
          <a:prstGeom prst="rightBrac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30D708B-E6C2-D246-AB3B-14FC53CD4E93}"/>
              </a:ext>
            </a:extLst>
          </p:cNvPr>
          <p:cNvSpPr txBox="1"/>
          <p:nvPr/>
        </p:nvSpPr>
        <p:spPr>
          <a:xfrm>
            <a:off x="2135560" y="764705"/>
            <a:ext cx="46137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400" dirty="0">
                <a:latin typeface="Gill Sans MT" panose="020B0502020104020203" pitchFamily="34" charset="77"/>
                <a:cs typeface="Trebuchet MS"/>
              </a:rPr>
              <a:t>Árboles de Decisión (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Training data</a:t>
            </a:r>
            <a:r>
              <a:rPr lang="es-ES_tradnl" sz="2400" dirty="0">
                <a:latin typeface="Gill Sans MT" panose="020B0502020104020203" pitchFamily="34" charset="77"/>
                <a:cs typeface="Trebuchet MS"/>
              </a:rPr>
              <a:t>)</a:t>
            </a:r>
            <a:endParaRPr lang="en-US" sz="2400" dirty="0">
              <a:latin typeface="Gill Sans MT" panose="020B0502020104020203" pitchFamily="34" charset="77"/>
              <a:cs typeface="Trebuchet MS"/>
            </a:endParaRPr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D749D25F-183B-2041-A1FF-A2A4330F064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7591"/>
          <a:stretch/>
        </p:blipFill>
        <p:spPr>
          <a:xfrm>
            <a:off x="3041651" y="1532317"/>
            <a:ext cx="3201487" cy="5054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17FC6C-C19D-C447-8A5F-67FF174EC5F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2667"/>
          <a:stretch/>
        </p:blipFill>
        <p:spPr>
          <a:xfrm>
            <a:off x="6250405" y="1530696"/>
            <a:ext cx="2891440" cy="505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258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91 0.00717 L 0.11545 0.00717 " pathEditMode="relative" ptsTypes="AA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056 0.00347 L -0.14045 0.00278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559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Brace 1"/>
          <p:cNvSpPr/>
          <p:nvPr/>
        </p:nvSpPr>
        <p:spPr>
          <a:xfrm>
            <a:off x="8040216" y="2420888"/>
            <a:ext cx="360040" cy="3024336"/>
          </a:xfrm>
          <a:prstGeom prst="rightBrac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30D708B-E6C2-D246-AB3B-14FC53CD4E93}"/>
              </a:ext>
            </a:extLst>
          </p:cNvPr>
          <p:cNvSpPr txBox="1"/>
          <p:nvPr/>
        </p:nvSpPr>
        <p:spPr>
          <a:xfrm>
            <a:off x="2135560" y="764705"/>
            <a:ext cx="46137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400" dirty="0">
                <a:latin typeface="Gill Sans MT" panose="020B0502020104020203" pitchFamily="34" charset="77"/>
                <a:cs typeface="Trebuchet MS"/>
              </a:rPr>
              <a:t>Árboles de Decisión (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Training data</a:t>
            </a:r>
            <a:r>
              <a:rPr lang="es-ES_tradnl" sz="2400" dirty="0">
                <a:latin typeface="Gill Sans MT" panose="020B0502020104020203" pitchFamily="34" charset="77"/>
                <a:cs typeface="Trebuchet MS"/>
              </a:rPr>
              <a:t>)</a:t>
            </a:r>
            <a:endParaRPr lang="en-US" sz="2400" dirty="0">
              <a:latin typeface="Gill Sans MT" panose="020B0502020104020203" pitchFamily="34" charset="77"/>
              <a:cs typeface="Trebuchet MS"/>
            </a:endParaRPr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D749D25F-183B-2041-A1FF-A2A4330F064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7591"/>
          <a:stretch/>
        </p:blipFill>
        <p:spPr>
          <a:xfrm>
            <a:off x="1817760" y="1588589"/>
            <a:ext cx="3201487" cy="5054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17FC6C-C19D-C447-8A5F-67FF174EC5F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2667"/>
          <a:stretch/>
        </p:blipFill>
        <p:spPr>
          <a:xfrm>
            <a:off x="7263280" y="1586968"/>
            <a:ext cx="2891440" cy="505460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3AB3706-01E1-3647-A20D-44624B0E5858}"/>
              </a:ext>
            </a:extLst>
          </p:cNvPr>
          <p:cNvCxnSpPr/>
          <p:nvPr/>
        </p:nvCxnSpPr>
        <p:spPr>
          <a:xfrm>
            <a:off x="2297724" y="6161649"/>
            <a:ext cx="272152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DCB6434-9F70-C048-8AEE-D4498F241CC0}"/>
              </a:ext>
            </a:extLst>
          </p:cNvPr>
          <p:cNvCxnSpPr/>
          <p:nvPr/>
        </p:nvCxnSpPr>
        <p:spPr>
          <a:xfrm>
            <a:off x="7263281" y="6145236"/>
            <a:ext cx="272152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0007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09 0.00208 L 0.00209 -0.62963 " pathEditMode="relative" ptsTypes="AA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08 0.00209 L 0.00208 -0.62962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15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Brace 1"/>
          <p:cNvSpPr/>
          <p:nvPr/>
        </p:nvSpPr>
        <p:spPr>
          <a:xfrm>
            <a:off x="8040216" y="2420888"/>
            <a:ext cx="360040" cy="3024336"/>
          </a:xfrm>
          <a:prstGeom prst="rightBrac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30D708B-E6C2-D246-AB3B-14FC53CD4E93}"/>
              </a:ext>
            </a:extLst>
          </p:cNvPr>
          <p:cNvSpPr txBox="1"/>
          <p:nvPr/>
        </p:nvSpPr>
        <p:spPr>
          <a:xfrm>
            <a:off x="2135560" y="764705"/>
            <a:ext cx="46137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400" dirty="0">
                <a:latin typeface="Gill Sans MT" panose="020B0502020104020203" pitchFamily="34" charset="77"/>
                <a:cs typeface="Trebuchet MS"/>
              </a:rPr>
              <a:t>Árboles de Decisión (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Training data</a:t>
            </a:r>
            <a:r>
              <a:rPr lang="es-ES_tradnl" sz="2400" dirty="0">
                <a:latin typeface="Gill Sans MT" panose="020B0502020104020203" pitchFamily="34" charset="77"/>
                <a:cs typeface="Trebuchet MS"/>
              </a:rPr>
              <a:t>)</a:t>
            </a:r>
            <a:endParaRPr lang="en-US" sz="2400" dirty="0">
              <a:latin typeface="Gill Sans MT" panose="020B0502020104020203" pitchFamily="34" charset="77"/>
              <a:cs typeface="Trebuchet MS"/>
            </a:endParaRPr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D749D25F-183B-2041-A1FF-A2A4330F064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7591"/>
          <a:stretch/>
        </p:blipFill>
        <p:spPr>
          <a:xfrm>
            <a:off x="1817760" y="1588589"/>
            <a:ext cx="3201487" cy="5054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17FC6C-C19D-C447-8A5F-67FF174EC5F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2667"/>
          <a:stretch/>
        </p:blipFill>
        <p:spPr>
          <a:xfrm>
            <a:off x="7263280" y="1586968"/>
            <a:ext cx="2891440" cy="505460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3AB3706-01E1-3647-A20D-44624B0E5858}"/>
              </a:ext>
            </a:extLst>
          </p:cNvPr>
          <p:cNvCxnSpPr/>
          <p:nvPr/>
        </p:nvCxnSpPr>
        <p:spPr>
          <a:xfrm>
            <a:off x="2297724" y="3868610"/>
            <a:ext cx="272152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DCB6434-9F70-C048-8AEE-D4498F241CC0}"/>
              </a:ext>
            </a:extLst>
          </p:cNvPr>
          <p:cNvCxnSpPr/>
          <p:nvPr/>
        </p:nvCxnSpPr>
        <p:spPr>
          <a:xfrm>
            <a:off x="7263281" y="4513390"/>
            <a:ext cx="272152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3225483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Brace 1"/>
          <p:cNvSpPr/>
          <p:nvPr/>
        </p:nvSpPr>
        <p:spPr>
          <a:xfrm>
            <a:off x="8040216" y="2420888"/>
            <a:ext cx="360040" cy="3024336"/>
          </a:xfrm>
          <a:prstGeom prst="rightBrac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30D708B-E6C2-D246-AB3B-14FC53CD4E93}"/>
              </a:ext>
            </a:extLst>
          </p:cNvPr>
          <p:cNvSpPr txBox="1"/>
          <p:nvPr/>
        </p:nvSpPr>
        <p:spPr>
          <a:xfrm>
            <a:off x="2135560" y="764705"/>
            <a:ext cx="46137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400" dirty="0">
                <a:latin typeface="Gill Sans MT" panose="020B0502020104020203" pitchFamily="34" charset="77"/>
                <a:cs typeface="Trebuchet MS"/>
              </a:rPr>
              <a:t>Árboles de Decisión (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Training data</a:t>
            </a:r>
            <a:r>
              <a:rPr lang="es-ES_tradnl" sz="2400" dirty="0">
                <a:latin typeface="Gill Sans MT" panose="020B0502020104020203" pitchFamily="34" charset="77"/>
                <a:cs typeface="Trebuchet MS"/>
              </a:rPr>
              <a:t>)</a:t>
            </a:r>
            <a:endParaRPr lang="en-US" sz="2400" dirty="0">
              <a:latin typeface="Gill Sans MT" panose="020B0502020104020203" pitchFamily="34" charset="77"/>
              <a:cs typeface="Trebuchet MS"/>
            </a:endParaRPr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D749D25F-183B-2041-A1FF-A2A4330F0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1650" y="1532317"/>
            <a:ext cx="6108700" cy="5054600"/>
          </a:xfrm>
          <a:prstGeom prst="rect">
            <a:avLst/>
          </a:prstGeom>
        </p:spPr>
      </p:pic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354B3E89-8700-FA4C-A467-6384F3600FAA}"/>
              </a:ext>
            </a:extLst>
          </p:cNvPr>
          <p:cNvCxnSpPr/>
          <p:nvPr/>
        </p:nvCxnSpPr>
        <p:spPr>
          <a:xfrm>
            <a:off x="6243137" y="1776249"/>
            <a:ext cx="0" cy="434077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A151B7B-B1D8-B743-A959-0B4DC6011C6A}"/>
              </a:ext>
            </a:extLst>
          </p:cNvPr>
          <p:cNvCxnSpPr/>
          <p:nvPr/>
        </p:nvCxnSpPr>
        <p:spPr>
          <a:xfrm>
            <a:off x="3521615" y="3784204"/>
            <a:ext cx="272152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861197-0997-CF40-B762-020A8690A48C}"/>
              </a:ext>
            </a:extLst>
          </p:cNvPr>
          <p:cNvCxnSpPr/>
          <p:nvPr/>
        </p:nvCxnSpPr>
        <p:spPr>
          <a:xfrm>
            <a:off x="6289707" y="4513380"/>
            <a:ext cx="272152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5DC1E56-1D26-9249-9494-7E288715AC9D}"/>
              </a:ext>
            </a:extLst>
          </p:cNvPr>
          <p:cNvSpPr txBox="1"/>
          <p:nvPr/>
        </p:nvSpPr>
        <p:spPr>
          <a:xfrm>
            <a:off x="9655126" y="5655212"/>
            <a:ext cx="631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etc...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758C4E-B2A8-C941-9670-DD50E0A79E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6574" y="4646641"/>
            <a:ext cx="368300" cy="406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EFC4038-93C3-6141-99BD-BC7C0F26EB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6613" y="3296140"/>
            <a:ext cx="368300" cy="406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DEC4F4B-321F-9440-8F48-42A6C4A031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0231" y="5617308"/>
            <a:ext cx="3556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663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23A40A7-BA2A-C744-917A-ABE8600BD0DE}"/>
              </a:ext>
            </a:extLst>
          </p:cNvPr>
          <p:cNvSpPr/>
          <p:nvPr/>
        </p:nvSpPr>
        <p:spPr>
          <a:xfrm>
            <a:off x="4196864" y="1730325"/>
            <a:ext cx="2588455" cy="1209822"/>
          </a:xfrm>
          <a:prstGeom prst="roundRect">
            <a:avLst/>
          </a:prstGeom>
          <a:noFill/>
          <a:ln w="41275">
            <a:solidFill>
              <a:srgbClr val="FF9300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1EA875-F63E-4E4D-89A2-D396A426F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5741" y="2103900"/>
            <a:ext cx="1435100" cy="406400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888BD0B-04D8-4C45-A6D1-4618AD7818DB}"/>
              </a:ext>
            </a:extLst>
          </p:cNvPr>
          <p:cNvSpPr/>
          <p:nvPr/>
        </p:nvSpPr>
        <p:spPr>
          <a:xfrm>
            <a:off x="2182840" y="3753728"/>
            <a:ext cx="2588455" cy="1209822"/>
          </a:xfrm>
          <a:prstGeom prst="roundRect">
            <a:avLst/>
          </a:prstGeom>
          <a:noFill/>
          <a:ln w="47625">
            <a:solidFill>
              <a:srgbClr val="00B050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21ECA59-F0A7-0043-A027-0915D1521520}"/>
              </a:ext>
            </a:extLst>
          </p:cNvPr>
          <p:cNvSpPr/>
          <p:nvPr/>
        </p:nvSpPr>
        <p:spPr>
          <a:xfrm>
            <a:off x="6208048" y="3753728"/>
            <a:ext cx="2588455" cy="1209822"/>
          </a:xfrm>
          <a:prstGeom prst="roundRect">
            <a:avLst/>
          </a:prstGeom>
          <a:noFill/>
          <a:ln w="41275">
            <a:solidFill>
              <a:srgbClr val="FF40FF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9C37422-9CF3-B54D-B087-EC04970E906F}"/>
              </a:ext>
            </a:extLst>
          </p:cNvPr>
          <p:cNvCxnSpPr>
            <a:stCxn id="6" idx="2"/>
            <a:endCxn id="8" idx="0"/>
          </p:cNvCxnSpPr>
          <p:nvPr/>
        </p:nvCxnSpPr>
        <p:spPr>
          <a:xfrm flipH="1">
            <a:off x="3477067" y="2940148"/>
            <a:ext cx="2014024" cy="8135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0B349D3-BB24-8D44-AE70-94FB1FB5AD6C}"/>
              </a:ext>
            </a:extLst>
          </p:cNvPr>
          <p:cNvCxnSpPr>
            <a:cxnSpLocks/>
            <a:stCxn id="6" idx="2"/>
            <a:endCxn id="9" idx="0"/>
          </p:cNvCxnSpPr>
          <p:nvPr/>
        </p:nvCxnSpPr>
        <p:spPr>
          <a:xfrm>
            <a:off x="5491091" y="2940148"/>
            <a:ext cx="2011184" cy="8135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355287AD-5019-3947-92CC-A97DD54F7E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1166" y="4118705"/>
            <a:ext cx="1447800" cy="406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F3F5E71-E8BB-294F-B2EE-A817C080D108}"/>
              </a:ext>
            </a:extLst>
          </p:cNvPr>
          <p:cNvSpPr txBox="1"/>
          <p:nvPr/>
        </p:nvSpPr>
        <p:spPr>
          <a:xfrm>
            <a:off x="3828759" y="3087465"/>
            <a:ext cx="3304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No                                         </a:t>
            </a:r>
            <a:r>
              <a:rPr lang="en-US" dirty="0" err="1">
                <a:latin typeface="Gill Sans MT" panose="020B0502020104020203" pitchFamily="34" charset="77"/>
              </a:rPr>
              <a:t>Sí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3EA9C16-D4D5-294D-8C9A-BC7BE4DBFA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030" y="4102293"/>
            <a:ext cx="1447800" cy="406400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3560F59-AA17-8E4A-A647-C0070A885C33}"/>
              </a:ext>
            </a:extLst>
          </p:cNvPr>
          <p:cNvCxnSpPr/>
          <p:nvPr/>
        </p:nvCxnSpPr>
        <p:spPr>
          <a:xfrm flipH="1">
            <a:off x="2014522" y="5000620"/>
            <a:ext cx="1437249" cy="8135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13F6E70-5A08-3246-8C31-BF9F9DF419D4}"/>
              </a:ext>
            </a:extLst>
          </p:cNvPr>
          <p:cNvCxnSpPr>
            <a:cxnSpLocks/>
          </p:cNvCxnSpPr>
          <p:nvPr/>
        </p:nvCxnSpPr>
        <p:spPr>
          <a:xfrm>
            <a:off x="3451771" y="5000620"/>
            <a:ext cx="1462545" cy="8135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8BA839E-12EB-1042-8680-C3C50A62FA91}"/>
              </a:ext>
            </a:extLst>
          </p:cNvPr>
          <p:cNvSpPr txBox="1"/>
          <p:nvPr/>
        </p:nvSpPr>
        <p:spPr>
          <a:xfrm>
            <a:off x="2014521" y="5204209"/>
            <a:ext cx="2919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No                                   </a:t>
            </a:r>
            <a:r>
              <a:rPr lang="en-US" dirty="0" err="1">
                <a:latin typeface="Gill Sans MT" panose="020B0502020104020203" pitchFamily="34" charset="77"/>
              </a:rPr>
              <a:t>Sí</a:t>
            </a:r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2B59D32-F00D-564F-9EA8-6DA8FBF8B69C}"/>
              </a:ext>
            </a:extLst>
          </p:cNvPr>
          <p:cNvCxnSpPr/>
          <p:nvPr/>
        </p:nvCxnSpPr>
        <p:spPr>
          <a:xfrm flipH="1">
            <a:off x="6066016" y="5000620"/>
            <a:ext cx="1437249" cy="8135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9A802A7-1AE6-E949-83B1-F2A99D97E17D}"/>
              </a:ext>
            </a:extLst>
          </p:cNvPr>
          <p:cNvCxnSpPr>
            <a:cxnSpLocks/>
          </p:cNvCxnSpPr>
          <p:nvPr/>
        </p:nvCxnSpPr>
        <p:spPr>
          <a:xfrm>
            <a:off x="7503265" y="5000620"/>
            <a:ext cx="1462545" cy="8135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CF7908B-3755-B54D-BF17-B94A2E2465B1}"/>
              </a:ext>
            </a:extLst>
          </p:cNvPr>
          <p:cNvSpPr txBox="1"/>
          <p:nvPr/>
        </p:nvSpPr>
        <p:spPr>
          <a:xfrm>
            <a:off x="6066015" y="5204209"/>
            <a:ext cx="2919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No                                   </a:t>
            </a:r>
            <a:r>
              <a:rPr lang="en-US" dirty="0" err="1">
                <a:latin typeface="Gill Sans MT" panose="020B0502020104020203" pitchFamily="34" charset="77"/>
              </a:rPr>
              <a:t>Sí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54F6156-989A-654D-A0F2-156FE2DC2E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1363" y="382379"/>
            <a:ext cx="3338817" cy="2663197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D212E751-1D9B-8546-B0C8-A02CFA6FF279}"/>
              </a:ext>
            </a:extLst>
          </p:cNvPr>
          <p:cNvSpPr txBox="1"/>
          <p:nvPr/>
        </p:nvSpPr>
        <p:spPr>
          <a:xfrm>
            <a:off x="8614118" y="6035036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</a:rPr>
              <a:t>R2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2F9187A-20E7-A04D-A7F2-1654B1E59FF1}"/>
              </a:ext>
            </a:extLst>
          </p:cNvPr>
          <p:cNvSpPr txBox="1"/>
          <p:nvPr/>
        </p:nvSpPr>
        <p:spPr>
          <a:xfrm>
            <a:off x="4584737" y="6017790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</a:rPr>
              <a:t>R1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1257FCD-25E8-AA43-B448-99171A99BE89}"/>
              </a:ext>
            </a:extLst>
          </p:cNvPr>
          <p:cNvSpPr txBox="1"/>
          <p:nvPr/>
        </p:nvSpPr>
        <p:spPr>
          <a:xfrm>
            <a:off x="5746338" y="6017790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Gill Sans MT" panose="020B0502020104020203" pitchFamily="34" charset="77"/>
              </a:rPr>
              <a:t>A2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8B6FE7-5879-7E47-A3CA-B94FBCBC3500}"/>
              </a:ext>
            </a:extLst>
          </p:cNvPr>
          <p:cNvSpPr txBox="1"/>
          <p:nvPr/>
        </p:nvSpPr>
        <p:spPr>
          <a:xfrm>
            <a:off x="1549332" y="6017790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Gill Sans MT" panose="020B0502020104020203" pitchFamily="34" charset="77"/>
              </a:rPr>
              <a:t>A1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29F62DA-8280-1845-B9D5-9447A51E6146}"/>
              </a:ext>
            </a:extLst>
          </p:cNvPr>
          <p:cNvSpPr txBox="1"/>
          <p:nvPr/>
        </p:nvSpPr>
        <p:spPr>
          <a:xfrm>
            <a:off x="9082548" y="464960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</a:rPr>
              <a:t>R2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2197722-1AAA-974D-B6B7-DB5D4DEEF8B6}"/>
              </a:ext>
            </a:extLst>
          </p:cNvPr>
          <p:cNvSpPr txBox="1"/>
          <p:nvPr/>
        </p:nvSpPr>
        <p:spPr>
          <a:xfrm>
            <a:off x="7754918" y="507164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</a:rPr>
              <a:t>R1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7C08C78-09EB-D441-99AF-C53202F04F20}"/>
              </a:ext>
            </a:extLst>
          </p:cNvPr>
          <p:cNvSpPr txBox="1"/>
          <p:nvPr/>
        </p:nvSpPr>
        <p:spPr>
          <a:xfrm>
            <a:off x="9885026" y="2571651"/>
            <a:ext cx="466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Gill Sans MT" panose="020B0502020104020203" pitchFamily="34" charset="77"/>
              </a:rPr>
              <a:t>A2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6690F19-ED55-604B-8C86-6FABD94C95D7}"/>
              </a:ext>
            </a:extLst>
          </p:cNvPr>
          <p:cNvSpPr txBox="1"/>
          <p:nvPr/>
        </p:nvSpPr>
        <p:spPr>
          <a:xfrm>
            <a:off x="7070135" y="2569668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Gill Sans MT" panose="020B0502020104020203" pitchFamily="34" charset="77"/>
              </a:rPr>
              <a:t>A1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12869B6-B8A3-E048-8B64-9B6D7D078BF7}"/>
              </a:ext>
            </a:extLst>
          </p:cNvPr>
          <p:cNvCxnSpPr>
            <a:cxnSpLocks/>
            <a:stCxn id="25" idx="0"/>
            <a:endCxn id="25" idx="2"/>
          </p:cNvCxnSpPr>
          <p:nvPr/>
        </p:nvCxnSpPr>
        <p:spPr>
          <a:xfrm>
            <a:off x="8740771" y="382379"/>
            <a:ext cx="0" cy="2663197"/>
          </a:xfrm>
          <a:prstGeom prst="line">
            <a:avLst/>
          </a:prstGeom>
          <a:ln w="34925">
            <a:solidFill>
              <a:srgbClr val="FF9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A4BEA72-C8A0-5D4B-8E56-90B5762826D6}"/>
              </a:ext>
            </a:extLst>
          </p:cNvPr>
          <p:cNvCxnSpPr>
            <a:cxnSpLocks/>
          </p:cNvCxnSpPr>
          <p:nvPr/>
        </p:nvCxnSpPr>
        <p:spPr>
          <a:xfrm>
            <a:off x="7074824" y="1624459"/>
            <a:ext cx="1692000" cy="0"/>
          </a:xfrm>
          <a:prstGeom prst="line">
            <a:avLst/>
          </a:prstGeom>
          <a:ln w="34925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F72A5A8-979C-164C-A94F-7303D5220B8A}"/>
              </a:ext>
            </a:extLst>
          </p:cNvPr>
          <p:cNvCxnSpPr>
            <a:cxnSpLocks/>
          </p:cNvCxnSpPr>
          <p:nvPr/>
        </p:nvCxnSpPr>
        <p:spPr>
          <a:xfrm>
            <a:off x="8748068" y="2053524"/>
            <a:ext cx="1620000" cy="0"/>
          </a:xfrm>
          <a:prstGeom prst="line">
            <a:avLst/>
          </a:prstGeom>
          <a:ln w="34925">
            <a:solidFill>
              <a:srgbClr val="FF4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243BF5C5-D8AD-EB40-8705-6FDC33247113}"/>
              </a:ext>
            </a:extLst>
          </p:cNvPr>
          <p:cNvSpPr txBox="1"/>
          <p:nvPr/>
        </p:nvSpPr>
        <p:spPr>
          <a:xfrm>
            <a:off x="2135561" y="764705"/>
            <a:ext cx="11576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200" dirty="0">
                <a:latin typeface="Gill Sans MT" panose="020B0502020104020203" pitchFamily="34" charset="77"/>
                <a:cs typeface="Trebuchet MS"/>
              </a:rPr>
              <a:t>Árbol</a:t>
            </a:r>
            <a:endParaRPr lang="en-US" sz="3200" dirty="0">
              <a:latin typeface="Gill Sans MT" panose="020B0502020104020203" pitchFamily="34" charset="77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068727101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23A40A7-BA2A-C744-917A-ABE8600BD0DE}"/>
              </a:ext>
            </a:extLst>
          </p:cNvPr>
          <p:cNvSpPr/>
          <p:nvPr/>
        </p:nvSpPr>
        <p:spPr>
          <a:xfrm>
            <a:off x="4196864" y="1730325"/>
            <a:ext cx="2588455" cy="1209822"/>
          </a:xfrm>
          <a:prstGeom prst="roundRect">
            <a:avLst/>
          </a:prstGeom>
          <a:noFill/>
          <a:ln w="41275">
            <a:solidFill>
              <a:srgbClr val="FF9300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1EA875-F63E-4E4D-89A2-D396A426F7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5741" y="2103900"/>
            <a:ext cx="1435100" cy="406400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888BD0B-04D8-4C45-A6D1-4618AD7818DB}"/>
              </a:ext>
            </a:extLst>
          </p:cNvPr>
          <p:cNvSpPr/>
          <p:nvPr/>
        </p:nvSpPr>
        <p:spPr>
          <a:xfrm>
            <a:off x="2182840" y="3753728"/>
            <a:ext cx="2588455" cy="1209822"/>
          </a:xfrm>
          <a:prstGeom prst="roundRect">
            <a:avLst/>
          </a:prstGeom>
          <a:noFill/>
          <a:ln w="47625">
            <a:solidFill>
              <a:srgbClr val="00B050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21ECA59-F0A7-0043-A027-0915D1521520}"/>
              </a:ext>
            </a:extLst>
          </p:cNvPr>
          <p:cNvSpPr/>
          <p:nvPr/>
        </p:nvSpPr>
        <p:spPr>
          <a:xfrm>
            <a:off x="6208048" y="3753728"/>
            <a:ext cx="2588455" cy="1209822"/>
          </a:xfrm>
          <a:prstGeom prst="roundRect">
            <a:avLst/>
          </a:prstGeom>
          <a:noFill/>
          <a:ln w="41275">
            <a:solidFill>
              <a:srgbClr val="FF40FF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9C37422-9CF3-B54D-B087-EC04970E906F}"/>
              </a:ext>
            </a:extLst>
          </p:cNvPr>
          <p:cNvCxnSpPr>
            <a:stCxn id="6" idx="2"/>
            <a:endCxn id="8" idx="0"/>
          </p:cNvCxnSpPr>
          <p:nvPr/>
        </p:nvCxnSpPr>
        <p:spPr>
          <a:xfrm flipH="1">
            <a:off x="3477067" y="2940148"/>
            <a:ext cx="2014024" cy="8135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0B349D3-BB24-8D44-AE70-94FB1FB5AD6C}"/>
              </a:ext>
            </a:extLst>
          </p:cNvPr>
          <p:cNvCxnSpPr>
            <a:cxnSpLocks/>
            <a:stCxn id="6" idx="2"/>
            <a:endCxn id="9" idx="0"/>
          </p:cNvCxnSpPr>
          <p:nvPr/>
        </p:nvCxnSpPr>
        <p:spPr>
          <a:xfrm>
            <a:off x="5491091" y="2940148"/>
            <a:ext cx="2011184" cy="8135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355287AD-5019-3947-92CC-A97DD54F7E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1166" y="4118705"/>
            <a:ext cx="1447800" cy="406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F3F5E71-E8BB-294F-B2EE-A817C080D108}"/>
              </a:ext>
            </a:extLst>
          </p:cNvPr>
          <p:cNvSpPr txBox="1"/>
          <p:nvPr/>
        </p:nvSpPr>
        <p:spPr>
          <a:xfrm>
            <a:off x="3828759" y="3087465"/>
            <a:ext cx="3304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No                                         </a:t>
            </a:r>
            <a:r>
              <a:rPr lang="en-US" dirty="0" err="1">
                <a:latin typeface="Gill Sans MT" panose="020B0502020104020203" pitchFamily="34" charset="77"/>
              </a:rPr>
              <a:t>Sí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3EA9C16-D4D5-294D-8C9A-BC7BE4DBFA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030" y="4102293"/>
            <a:ext cx="1447800" cy="406400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3560F59-AA17-8E4A-A647-C0070A885C33}"/>
              </a:ext>
            </a:extLst>
          </p:cNvPr>
          <p:cNvCxnSpPr/>
          <p:nvPr/>
        </p:nvCxnSpPr>
        <p:spPr>
          <a:xfrm flipH="1">
            <a:off x="2014522" y="5000620"/>
            <a:ext cx="1437249" cy="8135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13F6E70-5A08-3246-8C31-BF9F9DF419D4}"/>
              </a:ext>
            </a:extLst>
          </p:cNvPr>
          <p:cNvCxnSpPr>
            <a:cxnSpLocks/>
          </p:cNvCxnSpPr>
          <p:nvPr/>
        </p:nvCxnSpPr>
        <p:spPr>
          <a:xfrm>
            <a:off x="3451771" y="5000620"/>
            <a:ext cx="1462545" cy="8135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8BA839E-12EB-1042-8680-C3C50A62FA91}"/>
              </a:ext>
            </a:extLst>
          </p:cNvPr>
          <p:cNvSpPr txBox="1"/>
          <p:nvPr/>
        </p:nvSpPr>
        <p:spPr>
          <a:xfrm>
            <a:off x="2014521" y="5204209"/>
            <a:ext cx="2919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No                                   </a:t>
            </a:r>
            <a:r>
              <a:rPr lang="en-US" dirty="0" err="1">
                <a:latin typeface="Gill Sans MT" panose="020B0502020104020203" pitchFamily="34" charset="77"/>
              </a:rPr>
              <a:t>Sí</a:t>
            </a:r>
            <a:endParaRPr lang="en-US" dirty="0">
              <a:latin typeface="Gill Sans MT" panose="020B0502020104020203" pitchFamily="34" charset="77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2B59D32-F00D-564F-9EA8-6DA8FBF8B69C}"/>
              </a:ext>
            </a:extLst>
          </p:cNvPr>
          <p:cNvCxnSpPr/>
          <p:nvPr/>
        </p:nvCxnSpPr>
        <p:spPr>
          <a:xfrm flipH="1">
            <a:off x="6066016" y="5000620"/>
            <a:ext cx="1437249" cy="8135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9A802A7-1AE6-E949-83B1-F2A99D97E17D}"/>
              </a:ext>
            </a:extLst>
          </p:cNvPr>
          <p:cNvCxnSpPr>
            <a:cxnSpLocks/>
          </p:cNvCxnSpPr>
          <p:nvPr/>
        </p:nvCxnSpPr>
        <p:spPr>
          <a:xfrm>
            <a:off x="7503265" y="5000620"/>
            <a:ext cx="1462545" cy="8135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CF7908B-3755-B54D-BF17-B94A2E2465B1}"/>
              </a:ext>
            </a:extLst>
          </p:cNvPr>
          <p:cNvSpPr txBox="1"/>
          <p:nvPr/>
        </p:nvSpPr>
        <p:spPr>
          <a:xfrm>
            <a:off x="6066015" y="5204209"/>
            <a:ext cx="2919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No                                   </a:t>
            </a:r>
            <a:r>
              <a:rPr lang="en-US" dirty="0" err="1">
                <a:latin typeface="Gill Sans MT" panose="020B0502020104020203" pitchFamily="34" charset="77"/>
              </a:rPr>
              <a:t>Sí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54F6156-989A-654D-A0F2-156FE2DC2E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1363" y="382379"/>
            <a:ext cx="3338817" cy="2663197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D212E751-1D9B-8546-B0C8-A02CFA6FF279}"/>
              </a:ext>
            </a:extLst>
          </p:cNvPr>
          <p:cNvSpPr txBox="1"/>
          <p:nvPr/>
        </p:nvSpPr>
        <p:spPr>
          <a:xfrm>
            <a:off x="8614118" y="6035036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</a:rPr>
              <a:t>R2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2F9187A-20E7-A04D-A7F2-1654B1E59FF1}"/>
              </a:ext>
            </a:extLst>
          </p:cNvPr>
          <p:cNvSpPr txBox="1"/>
          <p:nvPr/>
        </p:nvSpPr>
        <p:spPr>
          <a:xfrm>
            <a:off x="4584737" y="6017790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</a:rPr>
              <a:t>R1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1257FCD-25E8-AA43-B448-99171A99BE89}"/>
              </a:ext>
            </a:extLst>
          </p:cNvPr>
          <p:cNvSpPr txBox="1"/>
          <p:nvPr/>
        </p:nvSpPr>
        <p:spPr>
          <a:xfrm>
            <a:off x="5746338" y="6017790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Gill Sans MT" panose="020B0502020104020203" pitchFamily="34" charset="77"/>
              </a:rPr>
              <a:t>A2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8B6FE7-5879-7E47-A3CA-B94FBCBC3500}"/>
              </a:ext>
            </a:extLst>
          </p:cNvPr>
          <p:cNvSpPr txBox="1"/>
          <p:nvPr/>
        </p:nvSpPr>
        <p:spPr>
          <a:xfrm>
            <a:off x="1549332" y="6017790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Gill Sans MT" panose="020B0502020104020203" pitchFamily="34" charset="77"/>
              </a:rPr>
              <a:t>A1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29F62DA-8280-1845-B9D5-9447A51E6146}"/>
              </a:ext>
            </a:extLst>
          </p:cNvPr>
          <p:cNvSpPr txBox="1"/>
          <p:nvPr/>
        </p:nvSpPr>
        <p:spPr>
          <a:xfrm>
            <a:off x="9082548" y="464960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</a:rPr>
              <a:t>R2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2197722-1AAA-974D-B6B7-DB5D4DEEF8B6}"/>
              </a:ext>
            </a:extLst>
          </p:cNvPr>
          <p:cNvSpPr txBox="1"/>
          <p:nvPr/>
        </p:nvSpPr>
        <p:spPr>
          <a:xfrm>
            <a:off x="7754918" y="507164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Gill Sans MT" panose="020B0502020104020203" pitchFamily="34" charset="77"/>
              </a:rPr>
              <a:t>R1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7C08C78-09EB-D441-99AF-C53202F04F20}"/>
              </a:ext>
            </a:extLst>
          </p:cNvPr>
          <p:cNvSpPr txBox="1"/>
          <p:nvPr/>
        </p:nvSpPr>
        <p:spPr>
          <a:xfrm>
            <a:off x="9885026" y="2571651"/>
            <a:ext cx="466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Gill Sans MT" panose="020B0502020104020203" pitchFamily="34" charset="77"/>
              </a:rPr>
              <a:t>A2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6690F19-ED55-604B-8C86-6FABD94C95D7}"/>
              </a:ext>
            </a:extLst>
          </p:cNvPr>
          <p:cNvSpPr txBox="1"/>
          <p:nvPr/>
        </p:nvSpPr>
        <p:spPr>
          <a:xfrm>
            <a:off x="7070135" y="2569668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Gill Sans MT" panose="020B0502020104020203" pitchFamily="34" charset="77"/>
              </a:rPr>
              <a:t>A1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12869B6-B8A3-E048-8B64-9B6D7D078BF7}"/>
              </a:ext>
            </a:extLst>
          </p:cNvPr>
          <p:cNvCxnSpPr>
            <a:cxnSpLocks/>
            <a:stCxn id="25" idx="0"/>
            <a:endCxn id="25" idx="2"/>
          </p:cNvCxnSpPr>
          <p:nvPr/>
        </p:nvCxnSpPr>
        <p:spPr>
          <a:xfrm>
            <a:off x="8740771" y="382379"/>
            <a:ext cx="0" cy="2663197"/>
          </a:xfrm>
          <a:prstGeom prst="line">
            <a:avLst/>
          </a:prstGeom>
          <a:ln w="34925">
            <a:solidFill>
              <a:srgbClr val="FF93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A4BEA72-C8A0-5D4B-8E56-90B5762826D6}"/>
              </a:ext>
            </a:extLst>
          </p:cNvPr>
          <p:cNvCxnSpPr>
            <a:cxnSpLocks/>
          </p:cNvCxnSpPr>
          <p:nvPr/>
        </p:nvCxnSpPr>
        <p:spPr>
          <a:xfrm>
            <a:off x="7074824" y="1624459"/>
            <a:ext cx="1692000" cy="0"/>
          </a:xfrm>
          <a:prstGeom prst="line">
            <a:avLst/>
          </a:prstGeom>
          <a:ln w="34925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F72A5A8-979C-164C-A94F-7303D5220B8A}"/>
              </a:ext>
            </a:extLst>
          </p:cNvPr>
          <p:cNvCxnSpPr>
            <a:cxnSpLocks/>
          </p:cNvCxnSpPr>
          <p:nvPr/>
        </p:nvCxnSpPr>
        <p:spPr>
          <a:xfrm>
            <a:off x="8748068" y="2053524"/>
            <a:ext cx="1620000" cy="0"/>
          </a:xfrm>
          <a:prstGeom prst="line">
            <a:avLst/>
          </a:prstGeom>
          <a:ln w="34925">
            <a:solidFill>
              <a:srgbClr val="FF4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Freeform 29">
            <a:extLst>
              <a:ext uri="{FF2B5EF4-FFF2-40B4-BE49-F238E27FC236}">
                <a16:creationId xmlns:a16="http://schemas.microsoft.com/office/drawing/2014/main" id="{6D1C995D-62E0-8047-9920-9ACB490ADD1A}"/>
              </a:ext>
            </a:extLst>
          </p:cNvPr>
          <p:cNvSpPr/>
          <p:nvPr/>
        </p:nvSpPr>
        <p:spPr>
          <a:xfrm>
            <a:off x="7097807" y="1613648"/>
            <a:ext cx="3294529" cy="443753"/>
          </a:xfrm>
          <a:custGeom>
            <a:avLst/>
            <a:gdLst>
              <a:gd name="connsiteX0" fmla="*/ 0 w 3294529"/>
              <a:gd name="connsiteY0" fmla="*/ 0 h 443753"/>
              <a:gd name="connsiteX1" fmla="*/ 1627094 w 3294529"/>
              <a:gd name="connsiteY1" fmla="*/ 26894 h 443753"/>
              <a:gd name="connsiteX2" fmla="*/ 1627094 w 3294529"/>
              <a:gd name="connsiteY2" fmla="*/ 26894 h 443753"/>
              <a:gd name="connsiteX3" fmla="*/ 1613647 w 3294529"/>
              <a:gd name="connsiteY3" fmla="*/ 443753 h 443753"/>
              <a:gd name="connsiteX4" fmla="*/ 3294529 w 3294529"/>
              <a:gd name="connsiteY4" fmla="*/ 443753 h 443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4529" h="443753">
                <a:moveTo>
                  <a:pt x="0" y="0"/>
                </a:moveTo>
                <a:lnTo>
                  <a:pt x="1627094" y="26894"/>
                </a:lnTo>
                <a:lnTo>
                  <a:pt x="1627094" y="26894"/>
                </a:lnTo>
                <a:lnTo>
                  <a:pt x="1613647" y="443753"/>
                </a:lnTo>
                <a:lnTo>
                  <a:pt x="3294529" y="443753"/>
                </a:lnTo>
              </a:path>
            </a:pathLst>
          </a:custGeom>
          <a:noFill/>
          <a:ln w="82550">
            <a:solidFill>
              <a:schemeClr val="bg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BB50ED8-7CB6-6C4B-8CAC-0207BFD48CC4}"/>
              </a:ext>
            </a:extLst>
          </p:cNvPr>
          <p:cNvSpPr txBox="1"/>
          <p:nvPr/>
        </p:nvSpPr>
        <p:spPr>
          <a:xfrm>
            <a:off x="2135561" y="764705"/>
            <a:ext cx="11576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200" dirty="0">
                <a:latin typeface="Gill Sans MT" panose="020B0502020104020203" pitchFamily="34" charset="77"/>
                <a:cs typeface="Trebuchet MS"/>
              </a:rPr>
              <a:t>Árbol</a:t>
            </a:r>
            <a:endParaRPr lang="en-US" sz="3200" dirty="0">
              <a:latin typeface="Gill Sans MT" panose="020B0502020104020203" pitchFamily="34" charset="77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872267700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22D42A1-DD5C-BC43-AD9B-D3843447DF0D}"/>
              </a:ext>
            </a:extLst>
          </p:cNvPr>
          <p:cNvSpPr txBox="1"/>
          <p:nvPr/>
        </p:nvSpPr>
        <p:spPr>
          <a:xfrm>
            <a:off x="2208342" y="520511"/>
            <a:ext cx="6641946" cy="52014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000" dirty="0">
                <a:latin typeface="Gill Sans MT" panose="020B0502020104020203" pitchFamily="34" charset="77"/>
              </a:rPr>
              <a:t>Métricas usadas para el error:</a:t>
            </a:r>
          </a:p>
          <a:p>
            <a:endParaRPr lang="es-ES_tradnl" sz="4000" dirty="0">
              <a:latin typeface="Gill Sans MT" panose="020B0502020104020203" pitchFamily="34" charset="77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_tradnl" sz="2800" dirty="0">
                <a:latin typeface="Gill Sans MT" panose="020B0502020104020203" pitchFamily="34" charset="77"/>
              </a:rPr>
              <a:t>Error de clasificación         1 - </a:t>
            </a:r>
            <a:r>
              <a:rPr lang="es-ES_tradnl" sz="2800" dirty="0" err="1">
                <a:latin typeface="Gill Sans MT" panose="020B0502020104020203" pitchFamily="34" charset="77"/>
              </a:rPr>
              <a:t>Accuracy</a:t>
            </a:r>
            <a:endParaRPr lang="es-ES_tradnl" sz="2800" dirty="0">
              <a:latin typeface="Gill Sans MT" panose="020B0502020104020203" pitchFamily="34" charset="77"/>
            </a:endParaRPr>
          </a:p>
          <a:p>
            <a:endParaRPr lang="es-ES_tradnl" sz="2800" dirty="0">
              <a:latin typeface="Gill Sans MT" panose="020B0502020104020203" pitchFamily="34" charset="77"/>
            </a:endParaRPr>
          </a:p>
          <a:p>
            <a:endParaRPr lang="es-ES_tradnl" sz="2800" dirty="0">
              <a:latin typeface="Gill Sans MT" panose="020B0502020104020203" pitchFamily="34" charset="77"/>
            </a:endParaRPr>
          </a:p>
          <a:p>
            <a:endParaRPr lang="es-ES_tradnl" sz="2800" dirty="0">
              <a:latin typeface="Gill Sans MT" panose="020B0502020104020203" pitchFamily="34" charset="77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_tradnl" sz="2800" dirty="0">
                <a:latin typeface="Gill Sans MT" panose="020B0502020104020203" pitchFamily="34" charset="77"/>
              </a:rPr>
              <a:t>Entropía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s-ES_tradnl" sz="2800" dirty="0">
              <a:latin typeface="Gill Sans MT" panose="020B0502020104020203" pitchFamily="34" charset="77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s-ES_tradnl" sz="2800" dirty="0">
              <a:latin typeface="Gill Sans MT" panose="020B0502020104020203" pitchFamily="34" charset="77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s-ES_tradnl" sz="2800" dirty="0">
              <a:latin typeface="Gill Sans MT" panose="020B0502020104020203" pitchFamily="34" charset="77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ES_tradnl" sz="2800" dirty="0">
                <a:latin typeface="Gill Sans MT" panose="020B0502020104020203" pitchFamily="34" charset="77"/>
              </a:rPr>
              <a:t>Índice </a:t>
            </a:r>
            <a:r>
              <a:rPr lang="es-ES_tradnl" sz="2800" dirty="0" err="1">
                <a:latin typeface="Gill Sans MT" panose="020B0502020104020203" pitchFamily="34" charset="77"/>
              </a:rPr>
              <a:t>Gini</a:t>
            </a:r>
            <a:endParaRPr lang="es-ES_tradnl" sz="2800" dirty="0">
              <a:latin typeface="Gill Sans MT" panose="020B0502020104020203" pitchFamily="34" charset="77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0F4DEFA-835E-1E4B-BFB0-363C46B30E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7858" y="3050867"/>
            <a:ext cx="3225800" cy="13462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67DA215-B170-D849-86ED-D4BEF713A9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4670" y="4643692"/>
            <a:ext cx="2730500" cy="1346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21720AB-52E0-B74E-A10A-6167B917A6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3594" y="6337489"/>
            <a:ext cx="431800" cy="304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FAE5AEB-D9AA-6B48-8A75-30D38C92CD4E}"/>
              </a:ext>
            </a:extLst>
          </p:cNvPr>
          <p:cNvSpPr txBox="1"/>
          <p:nvPr/>
        </p:nvSpPr>
        <p:spPr>
          <a:xfrm>
            <a:off x="2811812" y="6288304"/>
            <a:ext cx="42258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000" dirty="0">
                <a:latin typeface="Gill Sans MT" panose="020B0502020104020203" pitchFamily="34" charset="77"/>
              </a:rPr>
              <a:t>Probabilidad de clasificar bien la clase </a:t>
            </a:r>
            <a:r>
              <a:rPr lang="es-ES_tradnl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</a:p>
        </p:txBody>
      </p:sp>
    </p:spTree>
    <p:extLst>
      <p:ext uri="{BB962C8B-B14F-4D97-AF65-F5344CB8AC3E}">
        <p14:creationId xmlns:p14="http://schemas.microsoft.com/office/powerpoint/2010/main" val="2774484708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22D42A1-DD5C-BC43-AD9B-D3843447DF0D}"/>
              </a:ext>
            </a:extLst>
          </p:cNvPr>
          <p:cNvSpPr txBox="1"/>
          <p:nvPr/>
        </p:nvSpPr>
        <p:spPr>
          <a:xfrm>
            <a:off x="4979348" y="3075057"/>
            <a:ext cx="223330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latin typeface="Gill Sans MT" panose="020B0502020104020203" pitchFamily="34" charset="77"/>
              </a:rPr>
              <a:t>EJEMPLO</a:t>
            </a:r>
          </a:p>
        </p:txBody>
      </p:sp>
    </p:spTree>
    <p:extLst>
      <p:ext uri="{BB962C8B-B14F-4D97-AF65-F5344CB8AC3E}">
        <p14:creationId xmlns:p14="http://schemas.microsoft.com/office/powerpoint/2010/main" val="589720370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4">
            <a:extLst>
              <a:ext uri="{FF2B5EF4-FFF2-40B4-BE49-F238E27FC236}">
                <a16:creationId xmlns:a16="http://schemas.microsoft.com/office/drawing/2014/main" id="{09F5F32B-0BCD-0F43-9832-646829A6C0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5796" y="1625600"/>
            <a:ext cx="4512204" cy="360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17757F8A-AB60-3944-83E1-7FD5DF4071D6}"/>
              </a:ext>
            </a:extLst>
          </p:cNvPr>
          <p:cNvGrpSpPr/>
          <p:nvPr/>
        </p:nvGrpSpPr>
        <p:grpSpPr>
          <a:xfrm>
            <a:off x="3720996" y="4934367"/>
            <a:ext cx="368196" cy="299057"/>
            <a:chOff x="3730830" y="5722784"/>
            <a:chExt cx="431800" cy="32385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19B8DC0-A945-434D-9FDD-A7B0E3371E85}"/>
                </a:ext>
              </a:extLst>
            </p:cNvPr>
            <p:cNvSpPr/>
            <p:nvPr/>
          </p:nvSpPr>
          <p:spPr>
            <a:xfrm>
              <a:off x="3730830" y="5722784"/>
              <a:ext cx="431800" cy="3238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56EC657-249C-684D-BE4F-2574A5C051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30830" y="5754534"/>
              <a:ext cx="431800" cy="292100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6E5726E-994E-C34F-A3C9-D1F15D22FDC6}"/>
              </a:ext>
            </a:extLst>
          </p:cNvPr>
          <p:cNvGrpSpPr/>
          <p:nvPr/>
        </p:nvGrpSpPr>
        <p:grpSpPr>
          <a:xfrm>
            <a:off x="6228733" y="3255708"/>
            <a:ext cx="357368" cy="320051"/>
            <a:chOff x="5601314" y="5700049"/>
            <a:chExt cx="419101" cy="34658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B7D069F-C78A-1543-8C44-E99D36507CC3}"/>
                </a:ext>
              </a:extLst>
            </p:cNvPr>
            <p:cNvSpPr/>
            <p:nvPr/>
          </p:nvSpPr>
          <p:spPr>
            <a:xfrm>
              <a:off x="5601315" y="5700049"/>
              <a:ext cx="419100" cy="3465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BDDBDE5-799D-C34A-9F91-8B249E6685D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01314" y="5722784"/>
              <a:ext cx="419100" cy="279400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6A25914-9153-724D-998F-CB0DBA4767E8}"/>
              </a:ext>
            </a:extLst>
          </p:cNvPr>
          <p:cNvGrpSpPr/>
          <p:nvPr/>
        </p:nvGrpSpPr>
        <p:grpSpPr>
          <a:xfrm>
            <a:off x="8471004" y="4936621"/>
            <a:ext cx="368196" cy="299057"/>
            <a:chOff x="3730830" y="5722784"/>
            <a:chExt cx="431800" cy="32385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7B6D9BC-919B-B84C-BA9C-65D1BD487199}"/>
                </a:ext>
              </a:extLst>
            </p:cNvPr>
            <p:cNvSpPr/>
            <p:nvPr/>
          </p:nvSpPr>
          <p:spPr>
            <a:xfrm>
              <a:off x="3730830" y="5722784"/>
              <a:ext cx="431800" cy="3238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14CD38E-E42C-AD4E-BA1D-C0CDACD383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30830" y="5754534"/>
              <a:ext cx="431800" cy="292100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D7F0ACC-A98E-E24A-8156-FB6BB3553CE0}"/>
              </a:ext>
            </a:extLst>
          </p:cNvPr>
          <p:cNvGrpSpPr/>
          <p:nvPr/>
        </p:nvGrpSpPr>
        <p:grpSpPr>
          <a:xfrm>
            <a:off x="1553497" y="3248947"/>
            <a:ext cx="357368" cy="320051"/>
            <a:chOff x="5601314" y="5700049"/>
            <a:chExt cx="419101" cy="346585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E4CA7E7-74B6-F84A-80F3-C0434CE8FDDF}"/>
                </a:ext>
              </a:extLst>
            </p:cNvPr>
            <p:cNvSpPr/>
            <p:nvPr/>
          </p:nvSpPr>
          <p:spPr>
            <a:xfrm>
              <a:off x="5601315" y="5700049"/>
              <a:ext cx="419100" cy="3465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06FACA18-B063-E349-9CAE-D8E9D5F07B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01314" y="5722784"/>
              <a:ext cx="419100" cy="279400"/>
            </a:xfrm>
            <a:prstGeom prst="rect">
              <a:avLst/>
            </a:prstGeom>
          </p:spPr>
        </p:pic>
      </p:grpSp>
      <p:pic>
        <p:nvPicPr>
          <p:cNvPr id="21" name="Picture 2">
            <a:extLst>
              <a:ext uri="{FF2B5EF4-FFF2-40B4-BE49-F238E27FC236}">
                <a16:creationId xmlns:a16="http://schemas.microsoft.com/office/drawing/2014/main" id="{A15BE86D-0406-BB45-B5B4-0C9176FB2A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6140" y="1603300"/>
            <a:ext cx="4790794" cy="3749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F27F64A6-918C-254F-8AC7-641906C35AA4}"/>
              </a:ext>
            </a:extLst>
          </p:cNvPr>
          <p:cNvSpPr txBox="1"/>
          <p:nvPr/>
        </p:nvSpPr>
        <p:spPr>
          <a:xfrm>
            <a:off x="3756530" y="559362"/>
            <a:ext cx="472443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>
                <a:latin typeface="Gill Sans MT" panose="020B0502020104020203" pitchFamily="34" charset="77"/>
              </a:rPr>
              <a:t>Datos</a:t>
            </a:r>
            <a:r>
              <a:rPr lang="en-US" sz="4000" dirty="0">
                <a:latin typeface="Gill Sans MT" panose="020B0502020104020203" pitchFamily="34" charset="77"/>
              </a:rPr>
              <a:t> Training/Testing</a:t>
            </a:r>
          </a:p>
        </p:txBody>
      </p:sp>
    </p:spTree>
    <p:extLst>
      <p:ext uri="{BB962C8B-B14F-4D97-AF65-F5344CB8AC3E}">
        <p14:creationId xmlns:p14="http://schemas.microsoft.com/office/powerpoint/2010/main" val="2773280381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8A567186-4C66-2847-AE59-C80A16C115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746250"/>
            <a:ext cx="9144000" cy="336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17757F8A-AB60-3944-83E1-7FD5DF4071D6}"/>
              </a:ext>
            </a:extLst>
          </p:cNvPr>
          <p:cNvGrpSpPr/>
          <p:nvPr/>
        </p:nvGrpSpPr>
        <p:grpSpPr>
          <a:xfrm>
            <a:off x="3720996" y="4934367"/>
            <a:ext cx="368196" cy="299057"/>
            <a:chOff x="3730830" y="5722784"/>
            <a:chExt cx="431800" cy="32385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19B8DC0-A945-434D-9FDD-A7B0E3371E85}"/>
                </a:ext>
              </a:extLst>
            </p:cNvPr>
            <p:cNvSpPr/>
            <p:nvPr/>
          </p:nvSpPr>
          <p:spPr>
            <a:xfrm>
              <a:off x="3730830" y="5722784"/>
              <a:ext cx="431800" cy="3238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56EC657-249C-684D-BE4F-2574A5C051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30830" y="5754534"/>
              <a:ext cx="431800" cy="292100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6E5726E-994E-C34F-A3C9-D1F15D22FDC6}"/>
              </a:ext>
            </a:extLst>
          </p:cNvPr>
          <p:cNvGrpSpPr/>
          <p:nvPr/>
        </p:nvGrpSpPr>
        <p:grpSpPr>
          <a:xfrm>
            <a:off x="6228733" y="3255708"/>
            <a:ext cx="357368" cy="320051"/>
            <a:chOff x="5601314" y="5700049"/>
            <a:chExt cx="419101" cy="34658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B7D069F-C78A-1543-8C44-E99D36507CC3}"/>
                </a:ext>
              </a:extLst>
            </p:cNvPr>
            <p:cNvSpPr/>
            <p:nvPr/>
          </p:nvSpPr>
          <p:spPr>
            <a:xfrm>
              <a:off x="5601315" y="5700049"/>
              <a:ext cx="419100" cy="3465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BDDBDE5-799D-C34A-9F91-8B249E6685D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01314" y="5722784"/>
              <a:ext cx="419100" cy="279400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6A25914-9153-724D-998F-CB0DBA4767E8}"/>
              </a:ext>
            </a:extLst>
          </p:cNvPr>
          <p:cNvGrpSpPr/>
          <p:nvPr/>
        </p:nvGrpSpPr>
        <p:grpSpPr>
          <a:xfrm>
            <a:off x="8471004" y="4936621"/>
            <a:ext cx="368196" cy="299057"/>
            <a:chOff x="3730830" y="5722784"/>
            <a:chExt cx="431800" cy="32385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7B6D9BC-919B-B84C-BA9C-65D1BD487199}"/>
                </a:ext>
              </a:extLst>
            </p:cNvPr>
            <p:cNvSpPr/>
            <p:nvPr/>
          </p:nvSpPr>
          <p:spPr>
            <a:xfrm>
              <a:off x="3730830" y="5722784"/>
              <a:ext cx="431800" cy="3238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14CD38E-E42C-AD4E-BA1D-C0CDACD383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30830" y="5754534"/>
              <a:ext cx="431800" cy="292100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D7F0ACC-A98E-E24A-8156-FB6BB3553CE0}"/>
              </a:ext>
            </a:extLst>
          </p:cNvPr>
          <p:cNvGrpSpPr/>
          <p:nvPr/>
        </p:nvGrpSpPr>
        <p:grpSpPr>
          <a:xfrm>
            <a:off x="1553497" y="3248947"/>
            <a:ext cx="357368" cy="320051"/>
            <a:chOff x="5601314" y="5700049"/>
            <a:chExt cx="419101" cy="346585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E4CA7E7-74B6-F84A-80F3-C0434CE8FDDF}"/>
                </a:ext>
              </a:extLst>
            </p:cNvPr>
            <p:cNvSpPr/>
            <p:nvPr/>
          </p:nvSpPr>
          <p:spPr>
            <a:xfrm>
              <a:off x="5601315" y="5700049"/>
              <a:ext cx="419100" cy="3465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06FACA18-B063-E349-9CAE-D8E9D5F07B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01314" y="5722784"/>
              <a:ext cx="419100" cy="279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64199757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>
            <a:extLst>
              <a:ext uri="{FF2B5EF4-FFF2-40B4-BE49-F238E27FC236}">
                <a16:creationId xmlns:a16="http://schemas.microsoft.com/office/drawing/2014/main" id="{C30496DD-7B8A-4D44-B513-2E2F504519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6564" y="0"/>
            <a:ext cx="87772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5431067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8A567186-4C66-2847-AE59-C80A16C115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746250"/>
            <a:ext cx="9144000" cy="336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04ECD777-3474-254F-8C06-09DCBE3838A4}"/>
              </a:ext>
            </a:extLst>
          </p:cNvPr>
          <p:cNvGrpSpPr/>
          <p:nvPr/>
        </p:nvGrpSpPr>
        <p:grpSpPr>
          <a:xfrm>
            <a:off x="3720996" y="4934367"/>
            <a:ext cx="368196" cy="299057"/>
            <a:chOff x="3730830" y="5722784"/>
            <a:chExt cx="431800" cy="3238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B82E94C-10FC-204F-8FAE-D200947E4F75}"/>
                </a:ext>
              </a:extLst>
            </p:cNvPr>
            <p:cNvSpPr/>
            <p:nvPr/>
          </p:nvSpPr>
          <p:spPr>
            <a:xfrm>
              <a:off x="3730830" y="5722784"/>
              <a:ext cx="431800" cy="3238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56B03C5-0BE1-584C-A48E-347780CF56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30830" y="5754534"/>
              <a:ext cx="431800" cy="292100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6A706AE9-8E86-EA48-B24D-C7F56419322D}"/>
              </a:ext>
            </a:extLst>
          </p:cNvPr>
          <p:cNvGrpSpPr/>
          <p:nvPr/>
        </p:nvGrpSpPr>
        <p:grpSpPr>
          <a:xfrm>
            <a:off x="6228733" y="3255708"/>
            <a:ext cx="357368" cy="320051"/>
            <a:chOff x="5601314" y="5700049"/>
            <a:chExt cx="419101" cy="34658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84C8641-2552-3648-A821-F13D94750B79}"/>
                </a:ext>
              </a:extLst>
            </p:cNvPr>
            <p:cNvSpPr/>
            <p:nvPr/>
          </p:nvSpPr>
          <p:spPr>
            <a:xfrm>
              <a:off x="5601315" y="5700049"/>
              <a:ext cx="419100" cy="3465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0A3ED8E-2DF8-1246-A7DB-775BAEB3E1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01314" y="5722784"/>
              <a:ext cx="419100" cy="279400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7E31539B-F539-6C4F-97E9-4A12A3F40545}"/>
              </a:ext>
            </a:extLst>
          </p:cNvPr>
          <p:cNvGrpSpPr/>
          <p:nvPr/>
        </p:nvGrpSpPr>
        <p:grpSpPr>
          <a:xfrm>
            <a:off x="8471004" y="4936621"/>
            <a:ext cx="368196" cy="299057"/>
            <a:chOff x="3730830" y="5722784"/>
            <a:chExt cx="431800" cy="32385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B9CA1E-2753-9745-AF06-1C15A4C3CD7E}"/>
                </a:ext>
              </a:extLst>
            </p:cNvPr>
            <p:cNvSpPr/>
            <p:nvPr/>
          </p:nvSpPr>
          <p:spPr>
            <a:xfrm>
              <a:off x="3730830" y="5722784"/>
              <a:ext cx="431800" cy="3238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C87E0B5-A337-E542-B117-74E3735140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30830" y="5754534"/>
              <a:ext cx="431800" cy="292100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1E440F1-AD4C-314E-A947-2E47CE1137F0}"/>
              </a:ext>
            </a:extLst>
          </p:cNvPr>
          <p:cNvGrpSpPr/>
          <p:nvPr/>
        </p:nvGrpSpPr>
        <p:grpSpPr>
          <a:xfrm>
            <a:off x="1553497" y="3248947"/>
            <a:ext cx="357368" cy="320051"/>
            <a:chOff x="5601314" y="5700049"/>
            <a:chExt cx="419101" cy="346585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489EBFC-DFA4-1447-A898-F42DE5BCF8CB}"/>
                </a:ext>
              </a:extLst>
            </p:cNvPr>
            <p:cNvSpPr/>
            <p:nvPr/>
          </p:nvSpPr>
          <p:spPr>
            <a:xfrm>
              <a:off x="5601315" y="5700049"/>
              <a:ext cx="419100" cy="3465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63221ED3-7145-6B40-8DB6-2FA8A57359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01314" y="5722784"/>
              <a:ext cx="419100" cy="279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28702769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9BF0B5A2-EA98-E14F-B94A-91E1848824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746250"/>
            <a:ext cx="9144000" cy="336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B48CE7B4-7A10-F84F-8910-1525930A5F25}"/>
              </a:ext>
            </a:extLst>
          </p:cNvPr>
          <p:cNvGrpSpPr/>
          <p:nvPr/>
        </p:nvGrpSpPr>
        <p:grpSpPr>
          <a:xfrm>
            <a:off x="3720996" y="4934367"/>
            <a:ext cx="368196" cy="299057"/>
            <a:chOff x="3730830" y="5722784"/>
            <a:chExt cx="431800" cy="32385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1CFD215-46CE-FE40-90CF-55D2F7ABCBAC}"/>
                </a:ext>
              </a:extLst>
            </p:cNvPr>
            <p:cNvSpPr/>
            <p:nvPr/>
          </p:nvSpPr>
          <p:spPr>
            <a:xfrm>
              <a:off x="3730830" y="5722784"/>
              <a:ext cx="431800" cy="3238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F228427-ECF4-0F41-855D-93ACD66F88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30830" y="5754534"/>
              <a:ext cx="431800" cy="292100"/>
            </a:xfrm>
            <a:prstGeom prst="rect">
              <a:avLst/>
            </a:prstGeom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A0BC3F7F-4192-1B4A-AC76-3FD1B1491D36}"/>
              </a:ext>
            </a:extLst>
          </p:cNvPr>
          <p:cNvGrpSpPr/>
          <p:nvPr/>
        </p:nvGrpSpPr>
        <p:grpSpPr>
          <a:xfrm>
            <a:off x="6228733" y="3255708"/>
            <a:ext cx="357368" cy="320051"/>
            <a:chOff x="5601314" y="5700049"/>
            <a:chExt cx="419101" cy="346585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2603158-588F-D744-A6AB-DF489A9234E7}"/>
                </a:ext>
              </a:extLst>
            </p:cNvPr>
            <p:cNvSpPr/>
            <p:nvPr/>
          </p:nvSpPr>
          <p:spPr>
            <a:xfrm>
              <a:off x="5601315" y="5700049"/>
              <a:ext cx="419100" cy="3465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35551F2-0F87-074D-88A7-98F205654EA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01314" y="5722784"/>
              <a:ext cx="419100" cy="279400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5C68C1B7-38DE-AC44-AD25-BC8A012FDF8C}"/>
              </a:ext>
            </a:extLst>
          </p:cNvPr>
          <p:cNvGrpSpPr/>
          <p:nvPr/>
        </p:nvGrpSpPr>
        <p:grpSpPr>
          <a:xfrm>
            <a:off x="8471004" y="4936621"/>
            <a:ext cx="368196" cy="299057"/>
            <a:chOff x="3730830" y="5722784"/>
            <a:chExt cx="431800" cy="32385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7EDA551-8227-C14C-B163-3029F9596370}"/>
                </a:ext>
              </a:extLst>
            </p:cNvPr>
            <p:cNvSpPr/>
            <p:nvPr/>
          </p:nvSpPr>
          <p:spPr>
            <a:xfrm>
              <a:off x="3730830" y="5722784"/>
              <a:ext cx="431800" cy="3238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3FEF2FC6-C3A6-2441-8BCF-861FE17AED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30830" y="5754534"/>
              <a:ext cx="431800" cy="292100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E30F60D-E297-4D4D-B873-BE7D1CAC8115}"/>
              </a:ext>
            </a:extLst>
          </p:cNvPr>
          <p:cNvGrpSpPr/>
          <p:nvPr/>
        </p:nvGrpSpPr>
        <p:grpSpPr>
          <a:xfrm>
            <a:off x="1553497" y="3248947"/>
            <a:ext cx="357368" cy="320051"/>
            <a:chOff x="5601314" y="5700049"/>
            <a:chExt cx="419101" cy="346585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BEE3432-3E3E-5148-BDA2-D3940987ED4C}"/>
                </a:ext>
              </a:extLst>
            </p:cNvPr>
            <p:cNvSpPr/>
            <p:nvPr/>
          </p:nvSpPr>
          <p:spPr>
            <a:xfrm>
              <a:off x="5601315" y="5700049"/>
              <a:ext cx="419100" cy="3465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BD96AB4-41B8-A947-AFF1-7BBB6EE9941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01314" y="5722784"/>
              <a:ext cx="419100" cy="279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39156901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>
            <a:extLst>
              <a:ext uri="{FF2B5EF4-FFF2-40B4-BE49-F238E27FC236}">
                <a16:creationId xmlns:a16="http://schemas.microsoft.com/office/drawing/2014/main" id="{F634E969-303B-294B-A559-2FB0E89501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6564" y="0"/>
            <a:ext cx="87772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0519917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9BF0B5A2-EA98-E14F-B94A-91E1848824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746250"/>
            <a:ext cx="9144000" cy="336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34F6A249-487F-D840-A0F1-7880C893E6F9}"/>
              </a:ext>
            </a:extLst>
          </p:cNvPr>
          <p:cNvGrpSpPr/>
          <p:nvPr/>
        </p:nvGrpSpPr>
        <p:grpSpPr>
          <a:xfrm>
            <a:off x="3720996" y="4934367"/>
            <a:ext cx="368196" cy="299057"/>
            <a:chOff x="3730830" y="5722784"/>
            <a:chExt cx="431800" cy="3238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223737-F0F1-8F4A-B096-1D1B65F0EBC2}"/>
                </a:ext>
              </a:extLst>
            </p:cNvPr>
            <p:cNvSpPr/>
            <p:nvPr/>
          </p:nvSpPr>
          <p:spPr>
            <a:xfrm>
              <a:off x="3730830" y="5722784"/>
              <a:ext cx="431800" cy="3238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1E1E100-3FF9-584B-AFB1-461D5D55FD4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30830" y="5754534"/>
              <a:ext cx="431800" cy="292100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91F0136A-E7DE-4946-AA50-7B5A3BC02D71}"/>
              </a:ext>
            </a:extLst>
          </p:cNvPr>
          <p:cNvGrpSpPr/>
          <p:nvPr/>
        </p:nvGrpSpPr>
        <p:grpSpPr>
          <a:xfrm>
            <a:off x="6228733" y="3255708"/>
            <a:ext cx="357368" cy="320051"/>
            <a:chOff x="5601314" y="5700049"/>
            <a:chExt cx="419101" cy="34658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5C18703-6132-EC45-933A-E80F8EE3DEAA}"/>
                </a:ext>
              </a:extLst>
            </p:cNvPr>
            <p:cNvSpPr/>
            <p:nvPr/>
          </p:nvSpPr>
          <p:spPr>
            <a:xfrm>
              <a:off x="5601315" y="5700049"/>
              <a:ext cx="419100" cy="3465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414C8B3-1E5F-CC4E-844E-B91BE4D58A3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01314" y="5722784"/>
              <a:ext cx="419100" cy="279400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724A7B65-1CED-5F46-A73E-2DDBA4067EA0}"/>
              </a:ext>
            </a:extLst>
          </p:cNvPr>
          <p:cNvGrpSpPr/>
          <p:nvPr/>
        </p:nvGrpSpPr>
        <p:grpSpPr>
          <a:xfrm>
            <a:off x="8471004" y="4936621"/>
            <a:ext cx="368196" cy="299057"/>
            <a:chOff x="3730830" y="5722784"/>
            <a:chExt cx="431800" cy="32385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D36F5E0-BF32-C647-A322-689C22930F43}"/>
                </a:ext>
              </a:extLst>
            </p:cNvPr>
            <p:cNvSpPr/>
            <p:nvPr/>
          </p:nvSpPr>
          <p:spPr>
            <a:xfrm>
              <a:off x="3730830" y="5722784"/>
              <a:ext cx="431800" cy="3238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CF602F8-6490-9D41-879A-CBBB7EEBA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30830" y="5754534"/>
              <a:ext cx="431800" cy="292100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B2798C4-BADC-AA47-9313-C007983ED97E}"/>
              </a:ext>
            </a:extLst>
          </p:cNvPr>
          <p:cNvGrpSpPr/>
          <p:nvPr/>
        </p:nvGrpSpPr>
        <p:grpSpPr>
          <a:xfrm>
            <a:off x="1553497" y="3248947"/>
            <a:ext cx="357368" cy="320051"/>
            <a:chOff x="5601314" y="5700049"/>
            <a:chExt cx="419101" cy="346585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F05A454-7559-B143-97DA-DC0B9A3721C3}"/>
                </a:ext>
              </a:extLst>
            </p:cNvPr>
            <p:cNvSpPr/>
            <p:nvPr/>
          </p:nvSpPr>
          <p:spPr>
            <a:xfrm>
              <a:off x="5601315" y="5700049"/>
              <a:ext cx="419100" cy="3465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0962E4B6-4D8F-B343-9B76-E48E9E9798B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01314" y="5722784"/>
              <a:ext cx="419100" cy="279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85886672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34C2A961-6791-A34C-827F-F04332E801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746250"/>
            <a:ext cx="9144000" cy="336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D3E77886-9582-3F4A-BA17-D85E9C38DD5D}"/>
              </a:ext>
            </a:extLst>
          </p:cNvPr>
          <p:cNvGrpSpPr/>
          <p:nvPr/>
        </p:nvGrpSpPr>
        <p:grpSpPr>
          <a:xfrm>
            <a:off x="3720996" y="4934367"/>
            <a:ext cx="368196" cy="299057"/>
            <a:chOff x="3730830" y="5722784"/>
            <a:chExt cx="431800" cy="32385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DEDDCEF-CD1E-D940-AC09-4988B4017E82}"/>
                </a:ext>
              </a:extLst>
            </p:cNvPr>
            <p:cNvSpPr/>
            <p:nvPr/>
          </p:nvSpPr>
          <p:spPr>
            <a:xfrm>
              <a:off x="3730830" y="5722784"/>
              <a:ext cx="431800" cy="3238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E1BC0B5-0AC6-8F45-BB3E-2D61034CB8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30830" y="5754534"/>
              <a:ext cx="431800" cy="292100"/>
            </a:xfrm>
            <a:prstGeom prst="rect">
              <a:avLst/>
            </a:prstGeom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EF1B7EF4-E8A7-D144-9E50-A11DCBD4BF77}"/>
              </a:ext>
            </a:extLst>
          </p:cNvPr>
          <p:cNvGrpSpPr/>
          <p:nvPr/>
        </p:nvGrpSpPr>
        <p:grpSpPr>
          <a:xfrm>
            <a:off x="6228733" y="3255708"/>
            <a:ext cx="357368" cy="320051"/>
            <a:chOff x="5601314" y="5700049"/>
            <a:chExt cx="419101" cy="346585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D69547A-A4DF-114E-B8B8-001BA8CEC0F3}"/>
                </a:ext>
              </a:extLst>
            </p:cNvPr>
            <p:cNvSpPr/>
            <p:nvPr/>
          </p:nvSpPr>
          <p:spPr>
            <a:xfrm>
              <a:off x="5601315" y="5700049"/>
              <a:ext cx="419100" cy="3465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B3BBA69-BCD6-9047-B030-ABFC6AF89DA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01314" y="5722784"/>
              <a:ext cx="419100" cy="279400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39DB648-BD8A-FA4D-BC5E-EAE4ED40C6E9}"/>
              </a:ext>
            </a:extLst>
          </p:cNvPr>
          <p:cNvGrpSpPr/>
          <p:nvPr/>
        </p:nvGrpSpPr>
        <p:grpSpPr>
          <a:xfrm>
            <a:off x="8471004" y="4936621"/>
            <a:ext cx="368196" cy="299057"/>
            <a:chOff x="3730830" y="5722784"/>
            <a:chExt cx="431800" cy="32385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827F59C-996D-9542-BC65-69543AFBFA49}"/>
                </a:ext>
              </a:extLst>
            </p:cNvPr>
            <p:cNvSpPr/>
            <p:nvPr/>
          </p:nvSpPr>
          <p:spPr>
            <a:xfrm>
              <a:off x="3730830" y="5722784"/>
              <a:ext cx="431800" cy="3238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2460916-B7E1-9B47-8F98-A66D07C5908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30830" y="5754534"/>
              <a:ext cx="431800" cy="292100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016041D-F59E-DA4D-8260-E76EEBDAD338}"/>
              </a:ext>
            </a:extLst>
          </p:cNvPr>
          <p:cNvGrpSpPr/>
          <p:nvPr/>
        </p:nvGrpSpPr>
        <p:grpSpPr>
          <a:xfrm>
            <a:off x="1553497" y="3248947"/>
            <a:ext cx="357368" cy="320051"/>
            <a:chOff x="5601314" y="5700049"/>
            <a:chExt cx="419101" cy="346585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71A18DA-4EF7-3C42-A119-940636156936}"/>
                </a:ext>
              </a:extLst>
            </p:cNvPr>
            <p:cNvSpPr/>
            <p:nvPr/>
          </p:nvSpPr>
          <p:spPr>
            <a:xfrm>
              <a:off x="5601315" y="5700049"/>
              <a:ext cx="419100" cy="3465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E9187E82-6E69-BC40-A74C-8322B54717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01314" y="5722784"/>
              <a:ext cx="419100" cy="279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14145315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773FE02B-55D8-E542-89DF-58DCD730D5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6564" y="0"/>
            <a:ext cx="87772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7400606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>
            <a:extLst>
              <a:ext uri="{FF2B5EF4-FFF2-40B4-BE49-F238E27FC236}">
                <a16:creationId xmlns:a16="http://schemas.microsoft.com/office/drawing/2014/main" id="{467A726D-9331-E944-B4EA-31EF977D37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746250"/>
            <a:ext cx="9144000" cy="336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B97F2EAA-F61A-B044-B071-BCC783434F03}"/>
              </a:ext>
            </a:extLst>
          </p:cNvPr>
          <p:cNvGrpSpPr/>
          <p:nvPr/>
        </p:nvGrpSpPr>
        <p:grpSpPr>
          <a:xfrm>
            <a:off x="3720996" y="4934367"/>
            <a:ext cx="368196" cy="299057"/>
            <a:chOff x="3730830" y="5722784"/>
            <a:chExt cx="431800" cy="32385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9C895CF-5CA9-5F4C-B287-FC806DEE7F36}"/>
                </a:ext>
              </a:extLst>
            </p:cNvPr>
            <p:cNvSpPr/>
            <p:nvPr/>
          </p:nvSpPr>
          <p:spPr>
            <a:xfrm>
              <a:off x="3730830" y="5722784"/>
              <a:ext cx="431800" cy="3238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4364032-82EB-5147-831A-C455FE527A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30830" y="5754534"/>
              <a:ext cx="431800" cy="292100"/>
            </a:xfrm>
            <a:prstGeom prst="rect">
              <a:avLst/>
            </a:prstGeom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5EAB9C02-3399-0741-B05B-FEACEDF82655}"/>
              </a:ext>
            </a:extLst>
          </p:cNvPr>
          <p:cNvGrpSpPr/>
          <p:nvPr/>
        </p:nvGrpSpPr>
        <p:grpSpPr>
          <a:xfrm>
            <a:off x="6228733" y="3255708"/>
            <a:ext cx="357368" cy="320051"/>
            <a:chOff x="5601314" y="5700049"/>
            <a:chExt cx="419101" cy="346585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7E6C880-119C-664F-8EFD-2C1B0D49805C}"/>
                </a:ext>
              </a:extLst>
            </p:cNvPr>
            <p:cNvSpPr/>
            <p:nvPr/>
          </p:nvSpPr>
          <p:spPr>
            <a:xfrm>
              <a:off x="5601315" y="5700049"/>
              <a:ext cx="419100" cy="3465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8FE7942-85B3-F74D-AC5F-24061EFC7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01314" y="5722784"/>
              <a:ext cx="419100" cy="279400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D4F53AF-EFCD-1341-B1E1-9939295DFE10}"/>
              </a:ext>
            </a:extLst>
          </p:cNvPr>
          <p:cNvGrpSpPr/>
          <p:nvPr/>
        </p:nvGrpSpPr>
        <p:grpSpPr>
          <a:xfrm>
            <a:off x="8471004" y="4936621"/>
            <a:ext cx="368196" cy="299057"/>
            <a:chOff x="3730830" y="5722784"/>
            <a:chExt cx="431800" cy="32385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BB71215-FC82-284F-94D5-B6C62AF34ADF}"/>
                </a:ext>
              </a:extLst>
            </p:cNvPr>
            <p:cNvSpPr/>
            <p:nvPr/>
          </p:nvSpPr>
          <p:spPr>
            <a:xfrm>
              <a:off x="3730830" y="5722784"/>
              <a:ext cx="431800" cy="3238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9D024311-1330-9A40-B333-54B7BD8C8B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30830" y="5754534"/>
              <a:ext cx="431800" cy="292100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A4CDB05-7E87-E948-A1D9-E98FB66F58A9}"/>
              </a:ext>
            </a:extLst>
          </p:cNvPr>
          <p:cNvGrpSpPr/>
          <p:nvPr/>
        </p:nvGrpSpPr>
        <p:grpSpPr>
          <a:xfrm>
            <a:off x="1553497" y="3248947"/>
            <a:ext cx="357368" cy="320051"/>
            <a:chOff x="5601314" y="5700049"/>
            <a:chExt cx="419101" cy="346585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ED23F65-ABD4-454C-A715-E85C51852A8B}"/>
                </a:ext>
              </a:extLst>
            </p:cNvPr>
            <p:cNvSpPr/>
            <p:nvPr/>
          </p:nvSpPr>
          <p:spPr>
            <a:xfrm>
              <a:off x="5601315" y="5700049"/>
              <a:ext cx="419100" cy="3465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D86EE5A6-F574-3546-958F-E46F64C9757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01314" y="5722784"/>
              <a:ext cx="419100" cy="279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1414740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>
            <a:extLst>
              <a:ext uri="{FF2B5EF4-FFF2-40B4-BE49-F238E27FC236}">
                <a16:creationId xmlns:a16="http://schemas.microsoft.com/office/drawing/2014/main" id="{246B8461-2898-8447-BBAC-B9B489D4A7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6564" y="0"/>
            <a:ext cx="87772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225728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>
            <a:extLst>
              <a:ext uri="{FF2B5EF4-FFF2-40B4-BE49-F238E27FC236}">
                <a16:creationId xmlns:a16="http://schemas.microsoft.com/office/drawing/2014/main" id="{467A726D-9331-E944-B4EA-31EF977D37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746250"/>
            <a:ext cx="9144000" cy="336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CACEA7EC-20DE-BE4D-9F35-35F095E2A60B}"/>
              </a:ext>
            </a:extLst>
          </p:cNvPr>
          <p:cNvGrpSpPr/>
          <p:nvPr/>
        </p:nvGrpSpPr>
        <p:grpSpPr>
          <a:xfrm>
            <a:off x="3720996" y="4934367"/>
            <a:ext cx="368196" cy="299057"/>
            <a:chOff x="3730830" y="5722784"/>
            <a:chExt cx="431800" cy="3238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24CA469-9236-3A45-9006-B6BCFE73A154}"/>
                </a:ext>
              </a:extLst>
            </p:cNvPr>
            <p:cNvSpPr/>
            <p:nvPr/>
          </p:nvSpPr>
          <p:spPr>
            <a:xfrm>
              <a:off x="3730830" y="5722784"/>
              <a:ext cx="431800" cy="3238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3D987B2-2CD4-0645-A09C-83A032F544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30830" y="5754534"/>
              <a:ext cx="431800" cy="292100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92F2953F-6DBE-2B4E-B386-44C57B2F188A}"/>
              </a:ext>
            </a:extLst>
          </p:cNvPr>
          <p:cNvGrpSpPr/>
          <p:nvPr/>
        </p:nvGrpSpPr>
        <p:grpSpPr>
          <a:xfrm>
            <a:off x="6228733" y="3255708"/>
            <a:ext cx="357368" cy="320051"/>
            <a:chOff x="5601314" y="5700049"/>
            <a:chExt cx="419101" cy="34658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CCC9B58-5C94-AE47-A93C-5F79554010CE}"/>
                </a:ext>
              </a:extLst>
            </p:cNvPr>
            <p:cNvSpPr/>
            <p:nvPr/>
          </p:nvSpPr>
          <p:spPr>
            <a:xfrm>
              <a:off x="5601315" y="5700049"/>
              <a:ext cx="419100" cy="3465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4AE13EF-CA0B-EF4C-BE25-DFC7B7A88C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01314" y="5722784"/>
              <a:ext cx="419100" cy="279400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0159F56-BF57-E947-B052-9F38359B3773}"/>
              </a:ext>
            </a:extLst>
          </p:cNvPr>
          <p:cNvGrpSpPr/>
          <p:nvPr/>
        </p:nvGrpSpPr>
        <p:grpSpPr>
          <a:xfrm>
            <a:off x="8471004" y="4936621"/>
            <a:ext cx="368196" cy="299057"/>
            <a:chOff x="3730830" y="5722784"/>
            <a:chExt cx="431800" cy="32385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09F433D-252A-884E-B613-7C7643EA7ACE}"/>
                </a:ext>
              </a:extLst>
            </p:cNvPr>
            <p:cNvSpPr/>
            <p:nvPr/>
          </p:nvSpPr>
          <p:spPr>
            <a:xfrm>
              <a:off x="3730830" y="5722784"/>
              <a:ext cx="431800" cy="3238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C289915-3324-9548-8727-D2EA4351F4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30830" y="5754534"/>
              <a:ext cx="431800" cy="292100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E101A39-3FAA-7B40-B210-0B43E6ABA347}"/>
              </a:ext>
            </a:extLst>
          </p:cNvPr>
          <p:cNvGrpSpPr/>
          <p:nvPr/>
        </p:nvGrpSpPr>
        <p:grpSpPr>
          <a:xfrm>
            <a:off x="1553497" y="3248947"/>
            <a:ext cx="357368" cy="320051"/>
            <a:chOff x="5601314" y="5700049"/>
            <a:chExt cx="419101" cy="346585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748C532-8DE4-A841-9908-5CB4C3495D32}"/>
                </a:ext>
              </a:extLst>
            </p:cNvPr>
            <p:cNvSpPr/>
            <p:nvPr/>
          </p:nvSpPr>
          <p:spPr>
            <a:xfrm>
              <a:off x="5601315" y="5700049"/>
              <a:ext cx="419100" cy="3465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5DAD01A-153A-8A48-86E5-7C5445B696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01314" y="5722784"/>
              <a:ext cx="419100" cy="279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05730682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4" name="Picture 6">
            <a:extLst>
              <a:ext uri="{FF2B5EF4-FFF2-40B4-BE49-F238E27FC236}">
                <a16:creationId xmlns:a16="http://schemas.microsoft.com/office/drawing/2014/main" id="{9608DB65-69E7-2746-9DC9-7FB4F5EC03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746250"/>
            <a:ext cx="9144000" cy="336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FD528497-EA31-C740-AE9C-3866E661D848}"/>
              </a:ext>
            </a:extLst>
          </p:cNvPr>
          <p:cNvGrpSpPr/>
          <p:nvPr/>
        </p:nvGrpSpPr>
        <p:grpSpPr>
          <a:xfrm>
            <a:off x="3720996" y="4934367"/>
            <a:ext cx="368196" cy="299057"/>
            <a:chOff x="3730830" y="5722784"/>
            <a:chExt cx="431800" cy="32385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5D71733-65DA-F246-BC43-0FDE699812A2}"/>
                </a:ext>
              </a:extLst>
            </p:cNvPr>
            <p:cNvSpPr/>
            <p:nvPr/>
          </p:nvSpPr>
          <p:spPr>
            <a:xfrm>
              <a:off x="3730830" y="5722784"/>
              <a:ext cx="431800" cy="3238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15C5FA9-E17B-5E46-A4F2-DD3D4EABFE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30830" y="5754534"/>
              <a:ext cx="431800" cy="292100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A04CCFE-FD86-3B4B-9084-64B14B6C26E4}"/>
              </a:ext>
            </a:extLst>
          </p:cNvPr>
          <p:cNvGrpSpPr/>
          <p:nvPr/>
        </p:nvGrpSpPr>
        <p:grpSpPr>
          <a:xfrm>
            <a:off x="6228733" y="3255708"/>
            <a:ext cx="357368" cy="320051"/>
            <a:chOff x="5601314" y="5700049"/>
            <a:chExt cx="419101" cy="34658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DA7B928-6197-2F4D-8CE7-623C6277032E}"/>
                </a:ext>
              </a:extLst>
            </p:cNvPr>
            <p:cNvSpPr/>
            <p:nvPr/>
          </p:nvSpPr>
          <p:spPr>
            <a:xfrm>
              <a:off x="5601315" y="5700049"/>
              <a:ext cx="419100" cy="3465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48BE89B-735D-0445-860D-5A82C1C7124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01314" y="5722784"/>
              <a:ext cx="419100" cy="279400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661E104-8F5B-9A4C-98D5-3ADBFAFA3E1C}"/>
              </a:ext>
            </a:extLst>
          </p:cNvPr>
          <p:cNvGrpSpPr/>
          <p:nvPr/>
        </p:nvGrpSpPr>
        <p:grpSpPr>
          <a:xfrm>
            <a:off x="8471004" y="4936621"/>
            <a:ext cx="368196" cy="299057"/>
            <a:chOff x="3730830" y="5722784"/>
            <a:chExt cx="431800" cy="32385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5DB03F4-B97A-1744-9924-2DF1B7957E8A}"/>
                </a:ext>
              </a:extLst>
            </p:cNvPr>
            <p:cNvSpPr/>
            <p:nvPr/>
          </p:nvSpPr>
          <p:spPr>
            <a:xfrm>
              <a:off x="3730830" y="5722784"/>
              <a:ext cx="431800" cy="3238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751773F-BFA7-8646-A571-C3EAF75760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30830" y="5754534"/>
              <a:ext cx="431800" cy="292100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DF33D77-FE43-CB4D-AA56-2D69C9C8520C}"/>
              </a:ext>
            </a:extLst>
          </p:cNvPr>
          <p:cNvGrpSpPr/>
          <p:nvPr/>
        </p:nvGrpSpPr>
        <p:grpSpPr>
          <a:xfrm>
            <a:off x="1553497" y="3248947"/>
            <a:ext cx="357368" cy="320051"/>
            <a:chOff x="5601314" y="5700049"/>
            <a:chExt cx="419101" cy="34658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EDB2C80-CB4C-F642-B6DA-A04D65D8D20F}"/>
                </a:ext>
              </a:extLst>
            </p:cNvPr>
            <p:cNvSpPr/>
            <p:nvPr/>
          </p:nvSpPr>
          <p:spPr>
            <a:xfrm>
              <a:off x="5601315" y="5700049"/>
              <a:ext cx="419100" cy="3465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4D3607C0-A283-934F-89BA-F675D6DE8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01314" y="5722784"/>
              <a:ext cx="419100" cy="279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61409727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>
            <a:extLst>
              <a:ext uri="{FF2B5EF4-FFF2-40B4-BE49-F238E27FC236}">
                <a16:creationId xmlns:a16="http://schemas.microsoft.com/office/drawing/2014/main" id="{13EBE3AE-09C6-2C4C-8F41-7979F3EF66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6564" y="0"/>
            <a:ext cx="87772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7374682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67472" y="3105834"/>
            <a:ext cx="30570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600" dirty="0" err="1">
                <a:latin typeface="Gill Sans MT" panose="020B0502020104020203" pitchFamily="34" charset="77"/>
                <a:cs typeface="Trebuchet MS"/>
              </a:rPr>
              <a:t>Random</a:t>
            </a:r>
            <a:r>
              <a:rPr lang="es-ES_tradnl" sz="36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s-ES_tradnl" sz="3600" dirty="0" err="1">
                <a:latin typeface="Gill Sans MT" panose="020B0502020104020203" pitchFamily="34" charset="77"/>
                <a:cs typeface="Trebuchet MS"/>
              </a:rPr>
              <a:t>Forest</a:t>
            </a:r>
            <a:endParaRPr lang="es-ES_tradnl" sz="3600" dirty="0">
              <a:latin typeface="Gill Sans MT" panose="020B0502020104020203" pitchFamily="34" charset="77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266786083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77585" y="640719"/>
            <a:ext cx="30570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600" dirty="0" err="1">
                <a:latin typeface="Gill Sans MT" panose="020B0502020104020203" pitchFamily="34" charset="77"/>
                <a:cs typeface="Trebuchet MS"/>
              </a:rPr>
              <a:t>Random</a:t>
            </a:r>
            <a:r>
              <a:rPr lang="es-ES_tradnl" sz="36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s-ES_tradnl" sz="3600" dirty="0" err="1">
                <a:latin typeface="Gill Sans MT" panose="020B0502020104020203" pitchFamily="34" charset="77"/>
                <a:cs typeface="Trebuchet MS"/>
              </a:rPr>
              <a:t>Forest</a:t>
            </a:r>
            <a:endParaRPr lang="es-ES_tradnl" sz="36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482D74-B106-AB42-8BD5-F606773D27C1}"/>
              </a:ext>
            </a:extLst>
          </p:cNvPr>
          <p:cNvSpPr txBox="1"/>
          <p:nvPr/>
        </p:nvSpPr>
        <p:spPr>
          <a:xfrm>
            <a:off x="2277584" y="1478732"/>
            <a:ext cx="7444667" cy="21852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400" dirty="0">
                <a:solidFill>
                  <a:srgbClr val="FF9300"/>
                </a:solidFill>
                <a:latin typeface="Gill Sans MT" panose="020B0502020104020203" pitchFamily="34" charset="77"/>
              </a:rPr>
              <a:t>TRAINING:</a:t>
            </a:r>
          </a:p>
          <a:p>
            <a:endParaRPr lang="es-ES_tradnl" sz="2400" dirty="0">
              <a:latin typeface="Gill Sans MT" panose="020B0502020104020203" pitchFamily="34" charset="77"/>
            </a:endParaRPr>
          </a:p>
          <a:p>
            <a:r>
              <a:rPr lang="es-ES_tradnl" sz="2400" dirty="0" err="1">
                <a:latin typeface="Gill Sans MT" panose="020B0502020104020203" pitchFamily="34" charset="77"/>
              </a:rPr>
              <a:t>for</a:t>
            </a:r>
            <a:r>
              <a:rPr lang="es-ES_tradnl" sz="2400" dirty="0">
                <a:latin typeface="Gill Sans MT" panose="020B0502020104020203" pitchFamily="34" charset="77"/>
              </a:rPr>
              <a:t> i = 1 to n</a:t>
            </a:r>
          </a:p>
          <a:p>
            <a:r>
              <a:rPr lang="es-ES_tradnl" sz="2400" dirty="0">
                <a:latin typeface="Gill Sans MT" panose="020B0502020104020203" pitchFamily="34" charset="77"/>
              </a:rPr>
              <a:t>	Escoger aleatoriamente un subconjunto de training</a:t>
            </a:r>
          </a:p>
          <a:p>
            <a:r>
              <a:rPr lang="es-ES_tradnl" sz="2400" dirty="0">
                <a:latin typeface="Gill Sans MT" panose="020B0502020104020203" pitchFamily="34" charset="77"/>
              </a:rPr>
              <a:t>	Entrenar un árbol de decisión </a:t>
            </a:r>
            <a:r>
              <a:rPr lang="es-ES_tradnl" sz="2400" dirty="0" err="1">
                <a:latin typeface="Gill Sans MT" panose="020B0502020104020203" pitchFamily="34" charset="77"/>
              </a:rPr>
              <a:t>A</a:t>
            </a:r>
            <a:r>
              <a:rPr lang="es-ES_tradnl" sz="2400" baseline="-25000" dirty="0" err="1">
                <a:latin typeface="Gill Sans MT" panose="020B0502020104020203" pitchFamily="34" charset="77"/>
              </a:rPr>
              <a:t>i</a:t>
            </a:r>
            <a:endParaRPr lang="es-ES_tradnl" sz="2400" dirty="0">
              <a:latin typeface="Gill Sans MT" panose="020B0502020104020203" pitchFamily="34" charset="77"/>
            </a:endParaRPr>
          </a:p>
          <a:p>
            <a:endParaRPr lang="es-ES_tradnl" sz="2400" baseline="-25000" dirty="0">
              <a:latin typeface="Gill Sans MT" panose="020B0502020104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999315759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77585" y="640719"/>
            <a:ext cx="30570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600" dirty="0" err="1">
                <a:latin typeface="Gill Sans MT" panose="020B0502020104020203" pitchFamily="34" charset="77"/>
                <a:cs typeface="Trebuchet MS"/>
              </a:rPr>
              <a:t>Random</a:t>
            </a:r>
            <a:r>
              <a:rPr lang="es-ES_tradnl" sz="36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s-ES_tradnl" sz="3600" dirty="0" err="1">
                <a:latin typeface="Gill Sans MT" panose="020B0502020104020203" pitchFamily="34" charset="77"/>
                <a:cs typeface="Trebuchet MS"/>
              </a:rPr>
              <a:t>Forest</a:t>
            </a:r>
            <a:endParaRPr lang="es-ES_tradnl" sz="3600" dirty="0"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482D74-B106-AB42-8BD5-F606773D27C1}"/>
              </a:ext>
            </a:extLst>
          </p:cNvPr>
          <p:cNvSpPr txBox="1"/>
          <p:nvPr/>
        </p:nvSpPr>
        <p:spPr>
          <a:xfrm>
            <a:off x="2277584" y="1478732"/>
            <a:ext cx="7444667" cy="46474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400" dirty="0">
                <a:solidFill>
                  <a:srgbClr val="FF9300"/>
                </a:solidFill>
                <a:latin typeface="Gill Sans MT" panose="020B0502020104020203" pitchFamily="34" charset="77"/>
              </a:rPr>
              <a:t>TRAINING:</a:t>
            </a:r>
          </a:p>
          <a:p>
            <a:endParaRPr lang="es-ES_tradnl" sz="2400" dirty="0">
              <a:latin typeface="Gill Sans MT" panose="020B0502020104020203" pitchFamily="34" charset="77"/>
            </a:endParaRPr>
          </a:p>
          <a:p>
            <a:r>
              <a:rPr lang="es-ES_tradnl" sz="2400" dirty="0" err="1">
                <a:latin typeface="Gill Sans MT" panose="020B0502020104020203" pitchFamily="34" charset="77"/>
              </a:rPr>
              <a:t>for</a:t>
            </a:r>
            <a:r>
              <a:rPr lang="es-ES_tradnl" sz="2400" dirty="0">
                <a:latin typeface="Gill Sans MT" panose="020B0502020104020203" pitchFamily="34" charset="77"/>
              </a:rPr>
              <a:t> i = 1 to n</a:t>
            </a:r>
          </a:p>
          <a:p>
            <a:r>
              <a:rPr lang="es-ES_tradnl" sz="2400" dirty="0">
                <a:latin typeface="Gill Sans MT" panose="020B0502020104020203" pitchFamily="34" charset="77"/>
              </a:rPr>
              <a:t>	Escoger aleatoriamente un subconjunto de training</a:t>
            </a:r>
          </a:p>
          <a:p>
            <a:r>
              <a:rPr lang="es-ES_tradnl" sz="2400" dirty="0">
                <a:latin typeface="Gill Sans MT" panose="020B0502020104020203" pitchFamily="34" charset="77"/>
              </a:rPr>
              <a:t>	Entrenar un árbol de decisión </a:t>
            </a:r>
            <a:r>
              <a:rPr lang="es-ES_tradnl" sz="2400" dirty="0" err="1">
                <a:latin typeface="Gill Sans MT" panose="020B0502020104020203" pitchFamily="34" charset="77"/>
              </a:rPr>
              <a:t>A</a:t>
            </a:r>
            <a:r>
              <a:rPr lang="es-ES_tradnl" sz="2400" baseline="-25000" dirty="0" err="1">
                <a:latin typeface="Gill Sans MT" panose="020B0502020104020203" pitchFamily="34" charset="77"/>
              </a:rPr>
              <a:t>i</a:t>
            </a:r>
            <a:endParaRPr lang="es-ES_tradnl" sz="2400" dirty="0">
              <a:latin typeface="Gill Sans MT" panose="020B0502020104020203" pitchFamily="34" charset="77"/>
            </a:endParaRPr>
          </a:p>
          <a:p>
            <a:endParaRPr lang="es-ES_tradnl" sz="2400" baseline="-25000" dirty="0">
              <a:latin typeface="Gill Sans MT" panose="020B0502020104020203" pitchFamily="34" charset="77"/>
            </a:endParaRPr>
          </a:p>
          <a:p>
            <a:endParaRPr lang="es-ES_tradnl" sz="2400" baseline="-25000" dirty="0">
              <a:latin typeface="Gill Sans MT" panose="020B0502020104020203" pitchFamily="34" charset="77"/>
            </a:endParaRPr>
          </a:p>
          <a:p>
            <a:r>
              <a:rPr lang="es-ES_tradnl" sz="2400" dirty="0">
                <a:solidFill>
                  <a:srgbClr val="FF9300"/>
                </a:solidFill>
                <a:latin typeface="Gill Sans MT" panose="020B0502020104020203" pitchFamily="34" charset="77"/>
              </a:rPr>
              <a:t>TESTING:</a:t>
            </a:r>
          </a:p>
          <a:p>
            <a:endParaRPr lang="es-ES_tradnl" sz="2400" dirty="0">
              <a:latin typeface="Gill Sans MT" panose="020B0502020104020203" pitchFamily="34" charset="77"/>
            </a:endParaRPr>
          </a:p>
          <a:p>
            <a:r>
              <a:rPr lang="es-ES_tradnl" sz="2400" dirty="0" err="1">
                <a:latin typeface="Gill Sans MT" panose="020B0502020104020203" pitchFamily="34" charset="77"/>
              </a:rPr>
              <a:t>for</a:t>
            </a:r>
            <a:r>
              <a:rPr lang="es-ES_tradnl" sz="2400" dirty="0">
                <a:latin typeface="Gill Sans MT" panose="020B0502020104020203" pitchFamily="34" charset="77"/>
              </a:rPr>
              <a:t> i = 1 to n</a:t>
            </a:r>
          </a:p>
          <a:p>
            <a:r>
              <a:rPr lang="es-ES_tradnl" sz="2400" dirty="0">
                <a:latin typeface="Gill Sans MT" panose="020B0502020104020203" pitchFamily="34" charset="77"/>
              </a:rPr>
              <a:t>	Clasificar la muestra de </a:t>
            </a:r>
            <a:r>
              <a:rPr lang="es-ES_tradnl" sz="2400" dirty="0" err="1">
                <a:latin typeface="Gill Sans MT" panose="020B0502020104020203" pitchFamily="34" charset="77"/>
              </a:rPr>
              <a:t>testing</a:t>
            </a:r>
            <a:r>
              <a:rPr lang="es-ES_tradnl" sz="2400" dirty="0">
                <a:latin typeface="Gill Sans MT" panose="020B0502020104020203" pitchFamily="34" charset="77"/>
              </a:rPr>
              <a:t> usando </a:t>
            </a:r>
            <a:r>
              <a:rPr lang="es-ES_tradnl" sz="2400" dirty="0" err="1">
                <a:latin typeface="Gill Sans MT" panose="020B0502020104020203" pitchFamily="34" charset="77"/>
              </a:rPr>
              <a:t>A</a:t>
            </a:r>
            <a:r>
              <a:rPr lang="es-ES_tradnl" sz="2400" baseline="-25000" dirty="0" err="1">
                <a:latin typeface="Gill Sans MT" panose="020B0502020104020203" pitchFamily="34" charset="77"/>
              </a:rPr>
              <a:t>i</a:t>
            </a:r>
            <a:endParaRPr lang="es-ES_tradnl" sz="2400" baseline="-25000" dirty="0">
              <a:latin typeface="Gill Sans MT" panose="020B0502020104020203" pitchFamily="34" charset="77"/>
            </a:endParaRPr>
          </a:p>
          <a:p>
            <a:endParaRPr lang="es-ES_tradnl" sz="2400" dirty="0">
              <a:latin typeface="Gill Sans MT" panose="020B0502020104020203" pitchFamily="34" charset="77"/>
            </a:endParaRPr>
          </a:p>
          <a:p>
            <a:r>
              <a:rPr lang="es-ES_tradnl" sz="2400" dirty="0">
                <a:latin typeface="Gill Sans MT" panose="020B0502020104020203" pitchFamily="34" charset="77"/>
              </a:rPr>
              <a:t>Clasificar la muestra según la mayoría de los n votos</a:t>
            </a:r>
          </a:p>
        </p:txBody>
      </p:sp>
    </p:spTree>
    <p:extLst>
      <p:ext uri="{BB962C8B-B14F-4D97-AF65-F5344CB8AC3E}">
        <p14:creationId xmlns:p14="http://schemas.microsoft.com/office/powerpoint/2010/main" val="3815668414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616E03C-DE2E-DE45-A4F7-571D4EF4D4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1245" y="1490222"/>
            <a:ext cx="6769510" cy="494516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D3AEABF-992B-DC41-8DF2-869DE54AADA1}"/>
              </a:ext>
            </a:extLst>
          </p:cNvPr>
          <p:cNvSpPr txBox="1"/>
          <p:nvPr/>
        </p:nvSpPr>
        <p:spPr>
          <a:xfrm>
            <a:off x="1524000" y="6550224"/>
            <a:ext cx="34991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Consolas" panose="020B0609020204030204" pitchFamily="49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https://en.wikipedia.org/wiki/Random_forest</a:t>
            </a:r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MT" panose="020B0502020104020203" pitchFamily="34" charset="77"/>
                <a:cs typeface="Consolas" panose="020B0609020204030204" pitchFamily="49" charset="0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F25063-9425-9848-A2AB-20492D219967}"/>
              </a:ext>
            </a:extLst>
          </p:cNvPr>
          <p:cNvSpPr txBox="1"/>
          <p:nvPr/>
        </p:nvSpPr>
        <p:spPr>
          <a:xfrm>
            <a:off x="2277585" y="640719"/>
            <a:ext cx="30570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600" dirty="0" err="1">
                <a:latin typeface="Gill Sans MT" panose="020B0502020104020203" pitchFamily="34" charset="77"/>
                <a:cs typeface="Trebuchet MS"/>
              </a:rPr>
              <a:t>Random</a:t>
            </a:r>
            <a:r>
              <a:rPr lang="es-ES_tradnl" sz="3600" dirty="0">
                <a:latin typeface="Gill Sans MT" panose="020B0502020104020203" pitchFamily="34" charset="77"/>
                <a:cs typeface="Trebuchet MS"/>
              </a:rPr>
              <a:t> </a:t>
            </a:r>
            <a:r>
              <a:rPr lang="es-ES_tradnl" sz="3600" dirty="0" err="1">
                <a:latin typeface="Gill Sans MT" panose="020B0502020104020203" pitchFamily="34" charset="77"/>
                <a:cs typeface="Trebuchet MS"/>
              </a:rPr>
              <a:t>Forest</a:t>
            </a:r>
            <a:endParaRPr lang="es-ES_tradnl" sz="3600" dirty="0">
              <a:latin typeface="Gill Sans MT" panose="020B0502020104020203" pitchFamily="34" charset="77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113160063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>
            <a:extLst>
              <a:ext uri="{FF2B5EF4-FFF2-40B4-BE49-F238E27FC236}">
                <a16:creationId xmlns:a16="http://schemas.microsoft.com/office/drawing/2014/main" id="{0139B907-6FC8-424B-BDD7-C183E0FC64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746250"/>
            <a:ext cx="9144000" cy="336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482B6952-F7C6-4145-84C8-EFE0CE510D71}"/>
              </a:ext>
            </a:extLst>
          </p:cNvPr>
          <p:cNvGrpSpPr/>
          <p:nvPr/>
        </p:nvGrpSpPr>
        <p:grpSpPr>
          <a:xfrm>
            <a:off x="3720996" y="4934367"/>
            <a:ext cx="368196" cy="299057"/>
            <a:chOff x="3730830" y="5722784"/>
            <a:chExt cx="431800" cy="32385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11C944B-F3DD-504A-A832-26B623F3B47E}"/>
                </a:ext>
              </a:extLst>
            </p:cNvPr>
            <p:cNvSpPr/>
            <p:nvPr/>
          </p:nvSpPr>
          <p:spPr>
            <a:xfrm>
              <a:off x="3730830" y="5722784"/>
              <a:ext cx="431800" cy="3238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CAFA763-9D25-1C4D-86EA-79B9FC17467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30830" y="5754534"/>
              <a:ext cx="431800" cy="292100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CC14797E-8DD1-8C41-8375-7C5E6A6F50C3}"/>
              </a:ext>
            </a:extLst>
          </p:cNvPr>
          <p:cNvGrpSpPr/>
          <p:nvPr/>
        </p:nvGrpSpPr>
        <p:grpSpPr>
          <a:xfrm>
            <a:off x="6228733" y="3255708"/>
            <a:ext cx="357368" cy="320051"/>
            <a:chOff x="5601314" y="5700049"/>
            <a:chExt cx="419101" cy="34658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B2846C8-3106-924F-AEEF-C291C2C4708B}"/>
                </a:ext>
              </a:extLst>
            </p:cNvPr>
            <p:cNvSpPr/>
            <p:nvPr/>
          </p:nvSpPr>
          <p:spPr>
            <a:xfrm>
              <a:off x="5601315" y="5700049"/>
              <a:ext cx="419100" cy="3465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872B102-A9F1-A342-9B54-DF6E4B708D4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01314" y="5722784"/>
              <a:ext cx="419100" cy="279400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4ED508C-2409-A945-B6A2-10C945BD1DE8}"/>
              </a:ext>
            </a:extLst>
          </p:cNvPr>
          <p:cNvGrpSpPr/>
          <p:nvPr/>
        </p:nvGrpSpPr>
        <p:grpSpPr>
          <a:xfrm>
            <a:off x="8471004" y="4936621"/>
            <a:ext cx="368196" cy="299057"/>
            <a:chOff x="3730830" y="5722784"/>
            <a:chExt cx="431800" cy="32385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D217048-F2A1-9A45-850F-BA504DE688F6}"/>
                </a:ext>
              </a:extLst>
            </p:cNvPr>
            <p:cNvSpPr/>
            <p:nvPr/>
          </p:nvSpPr>
          <p:spPr>
            <a:xfrm>
              <a:off x="3730830" y="5722784"/>
              <a:ext cx="431800" cy="3238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0B4F781-B0A9-6F4B-9DC7-3D6272D55C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30830" y="5754534"/>
              <a:ext cx="431800" cy="292100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E7EBD15-1B54-8547-9DB7-0C45D45B4D28}"/>
              </a:ext>
            </a:extLst>
          </p:cNvPr>
          <p:cNvGrpSpPr/>
          <p:nvPr/>
        </p:nvGrpSpPr>
        <p:grpSpPr>
          <a:xfrm>
            <a:off x="1553497" y="3248947"/>
            <a:ext cx="357368" cy="320051"/>
            <a:chOff x="5601314" y="5700049"/>
            <a:chExt cx="419101" cy="346585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7D83A92-8B18-CF40-98AA-400DA3FAE580}"/>
                </a:ext>
              </a:extLst>
            </p:cNvPr>
            <p:cNvSpPr/>
            <p:nvPr/>
          </p:nvSpPr>
          <p:spPr>
            <a:xfrm>
              <a:off x="5601315" y="5700049"/>
              <a:ext cx="419100" cy="3465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983A5716-3453-D54D-A761-0DB2DFA514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01314" y="5722784"/>
              <a:ext cx="419100" cy="279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280242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1945</TotalTime>
  <Words>3092</Words>
  <Application>Microsoft Macintosh PowerPoint</Application>
  <PresentationFormat>Widescreen</PresentationFormat>
  <Paragraphs>1116</Paragraphs>
  <Slides>158</Slides>
  <Notes>22</Notes>
  <HiddenSlides>10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158</vt:i4>
      </vt:variant>
    </vt:vector>
  </HeadingPairs>
  <TitlesOfParts>
    <vt:vector size="168" baseType="lpstr">
      <vt:lpstr>Aptos Display</vt:lpstr>
      <vt:lpstr>Arial</vt:lpstr>
      <vt:lpstr>Consolas</vt:lpstr>
      <vt:lpstr>Courier</vt:lpstr>
      <vt:lpstr>Gill Sans MT</vt:lpstr>
      <vt:lpstr>LM Roman 10 Regular</vt:lpstr>
      <vt:lpstr>Times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 with 80 million images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Definiciones</vt:lpstr>
      <vt:lpstr>PowerPoint Presentation</vt:lpstr>
      <vt:lpstr>PowerPoint Presentation</vt:lpstr>
      <vt:lpstr>Definiciones</vt:lpstr>
      <vt:lpstr>Clasificación según Bayes</vt:lpstr>
      <vt:lpstr>Clasificación según Bayes</vt:lpstr>
      <vt:lpstr>Clasificación según Bayes</vt:lpstr>
      <vt:lpstr>PowerPoint Presentation</vt:lpstr>
      <vt:lpstr>PowerPoint Presentation</vt:lpstr>
      <vt:lpstr>Clasificación según Bayes</vt:lpstr>
      <vt:lpstr>PowerPoint Presentation</vt:lpstr>
      <vt:lpstr>Clasificación según Bayes</vt:lpstr>
      <vt:lpstr>Clasificación según Bayes</vt:lpstr>
      <vt:lpstr>Clasificación según Bayes</vt:lpstr>
      <vt:lpstr>Definiciones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Clasificación según Bayes</vt:lpstr>
      <vt:lpstr>PowerPoint Presentation</vt:lpstr>
      <vt:lpstr>Cómo calcular la PDF en 1D? KDE</vt:lpstr>
      <vt:lpstr>Cómo calcular la PDF?</vt:lpstr>
      <vt:lpstr>Cómo calcular la PDF?</vt:lpstr>
      <vt:lpstr>Cómo calcular la PDF?</vt:lpstr>
      <vt:lpstr>Cómo calcular la PDF?</vt:lpstr>
      <vt:lpstr>Cómo calcular la PDF?</vt:lpstr>
      <vt:lpstr>PowerPoint Presentation</vt:lpstr>
      <vt:lpstr>Cómo calcular la PDF en 2D? KDE</vt:lpstr>
      <vt:lpstr>PowerPoint Presentation</vt:lpstr>
      <vt:lpstr>Ejemplo PDF en 2D KDE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Naïve Bayes</vt:lpstr>
      <vt:lpstr>PowerPoint Presentation</vt:lpstr>
      <vt:lpstr>PowerPoint Presentation</vt:lpstr>
      <vt:lpstr>Naïve Bayes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Domingo Mery</dc:creator>
  <cp:lastModifiedBy>Domingo Mery</cp:lastModifiedBy>
  <cp:revision>27</cp:revision>
  <dcterms:created xsi:type="dcterms:W3CDTF">2026-03-08T16:41:49Z</dcterms:created>
  <dcterms:modified xsi:type="dcterms:W3CDTF">2026-05-07T16:12:38Z</dcterms:modified>
</cp:coreProperties>
</file>