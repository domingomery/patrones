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0" r:id="rId2"/>
    <p:sldId id="282" r:id="rId3"/>
    <p:sldId id="286" r:id="rId4"/>
    <p:sldId id="296" r:id="rId5"/>
    <p:sldId id="407" r:id="rId6"/>
    <p:sldId id="408" r:id="rId7"/>
    <p:sldId id="297" r:id="rId8"/>
    <p:sldId id="298" r:id="rId9"/>
    <p:sldId id="308" r:id="rId10"/>
    <p:sldId id="299" r:id="rId11"/>
    <p:sldId id="300" r:id="rId12"/>
    <p:sldId id="305" r:id="rId13"/>
    <p:sldId id="302" r:id="rId14"/>
    <p:sldId id="306" r:id="rId15"/>
    <p:sldId id="307" r:id="rId16"/>
  </p:sldIdLst>
  <p:sldSz cx="12192000" cy="6858000"/>
  <p:notesSz cx="6858000" cy="9144000"/>
  <p:defaultTextStyle>
    <a:defPPr>
      <a:defRPr lang="en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282B"/>
    <a:srgbClr val="E97F32"/>
    <a:srgbClr val="E97109"/>
    <a:srgbClr val="FAA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74"/>
    <p:restoredTop sz="94726"/>
  </p:normalViewPr>
  <p:slideViewPr>
    <p:cSldViewPr snapToGrid="0">
      <p:cViewPr varScale="1">
        <p:scale>
          <a:sx n="120" d="100"/>
          <a:sy n="120" d="100"/>
        </p:scale>
        <p:origin x="6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CDE5E-55A9-4294-B1A7-FA8814752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4BE524-8C7A-677E-2AAE-5A387FB02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C459A-09CF-03F0-14AB-5274BA061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21-04-26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C322A-B205-1058-AE0B-3EEE0BEE3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A4827-C436-AC52-ED20-6EF4BF1C0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14648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04409-A185-580E-ED3B-B7E1F08BA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DFB1F-E49F-4694-41E8-BA5777303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BA413-B554-E83E-5A7F-FDAF22BF1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21-04-26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8933A-A6BD-37B3-9FE8-767C0FC6B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BD29D-BCA1-58A5-8A6F-420779694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22421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60A0B-2BD8-B999-3689-9D0936439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3DF1B-EFB7-6C75-56BD-3E75EC48E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7A97A-AF5B-99BA-B318-2960B0B3D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21-04-26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80668-6DE5-70D6-23F2-FE9EE8DD2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43FB3-1E4E-D99F-EADB-698B78A69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111174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DE1A2-F974-CFD0-6598-06501A52F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0B71A-7A5B-DCCF-CB23-B6D213A53C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6059ED-B6B1-FDB3-095E-8A02D9962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11D5D-CE22-7188-448E-6182C09CD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21-04-26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5D405-AA2E-5668-8441-E24673A4D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94BEFD-052C-B216-265B-9B33AE76F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71112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D44C2-D3B7-DAB8-41AD-767E4F881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72493-6057-314E-0A8D-BD66DC5E1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F0FED0-27DD-A87C-41CA-C901B930E4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56AC5C-C572-B821-68A7-687E140AAB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5917D0-C8AA-DC6F-FC05-86DFE519E8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A840C2-375F-A6F9-56FF-898166F2D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21-04-26</a:t>
            </a:fld>
            <a:endParaRPr lang="en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EFFD30-D97A-7238-6838-13AAF89C2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C36ADF-57FB-9337-2A3C-1FAEA70DA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56062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73082-C63D-2AF5-ED7B-D2E8F048D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67DAA3-0F2A-3AAE-22FA-8E7D901D6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21-04-26</a:t>
            </a:fld>
            <a:endParaRPr lang="en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C4A8BF-7EEF-3BC7-4F79-7CE76BB53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A646D1-EBAF-1E02-CDCD-A7B6F1F74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42080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8494E9-67C8-7526-D2D8-5753D1FE5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21-04-26</a:t>
            </a:fld>
            <a:endParaRPr lang="en-C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387342-9B22-759D-81F2-8BB6FFFA5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046257-A788-C842-2611-65B9F0E78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93977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37528-7AC3-CC57-057B-A26881548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4D0D7-62C0-6D60-182A-0D6E9EDCC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DBA12B-5630-38F6-FE64-42EA385D60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A7A2DD-DE82-C181-0BE8-BBCE2FB82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21-04-26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8771D7-6CFC-C213-B69F-BCB8717C7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C0C0F9-5373-B9DB-E792-13300EC13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78231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E1D38-EBF2-9CAC-24A5-1F91A3FA3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AFC596-6D61-7BCE-F920-51B7C044D0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B156F6-EA55-3FAC-48F1-4BC89E11C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69A15-BC42-8055-FE41-C7D9AD81C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21-04-26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20FF8-CCCB-6E78-D2E6-476979E7B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BA882B-EBB7-9274-5597-81A515088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901007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04532-667D-39D7-AE25-78D3F6914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8E1673-AE3C-8484-A105-DF436DFF4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9E8C8-89F1-B084-59E9-D399D3AB9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21-04-26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486F4-E164-46C5-EFE8-AC9244DBA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BFED7-C0F0-555E-0F20-89B31EBEF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071691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E4ECC9-F167-6F8D-6226-2F00F7DC8E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BB4B10-9FA3-8779-D6C8-E6A74699FA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3DA57-B739-9294-C406-F45051BED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AB6E-FDAA-194A-A92E-EE902A211754}" type="datetimeFigureOut">
              <a:rPr lang="en-CL" smtClean="0"/>
              <a:t>21-04-26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4CEEC-B37C-772B-F971-0B7A96BEF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4F241-78E5-2A3D-170E-00D0E4EDD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92623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ED90E7-15E2-A391-8EAE-55329726D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031BE8-6943-1ABD-B0AC-0F91CC12C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B5C33-D3A2-8D8B-8D79-CC72C8DEE8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C1AB6E-FDAA-194A-A92E-EE902A211754}" type="datetimeFigureOut">
              <a:rPr lang="en-CL" smtClean="0"/>
              <a:t>21-04-26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24A84-524E-1127-C5EE-881DEC10CA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AB2EB-4E2C-517D-4F20-A234C2F54A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6D9BC3-FD3B-1440-AF94-145B960EB2F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806799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domingomery.ing.uc.cl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76E2BE-1E76-0F44-8020-A654157CDF76}"/>
              </a:ext>
            </a:extLst>
          </p:cNvPr>
          <p:cNvSpPr txBox="1"/>
          <p:nvPr/>
        </p:nvSpPr>
        <p:spPr>
          <a:xfrm>
            <a:off x="925898" y="3991689"/>
            <a:ext cx="378392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noProof="1">
                <a:solidFill>
                  <a:srgbClr val="0041A1"/>
                </a:solidFill>
                <a:latin typeface="Gill Sans MT" panose="020B0502020104020203" pitchFamily="34" charset="77"/>
              </a:rPr>
              <a:t>Domingo Mery</a:t>
            </a:r>
          </a:p>
          <a:p>
            <a:endParaRPr lang="es-ES_tradnl" sz="2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Ciencia de la Computación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Universidad Católica – Chile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  <a:hlinkClick r:id="rId2"/>
              </a:rPr>
              <a:t>http://domingomery.ing.uc.cl</a:t>
            </a:r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F84582F-25ED-D64F-A141-4702851F2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889" y="4153426"/>
            <a:ext cx="671000" cy="396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9BC001-F490-B55D-4087-04CD68E211CA}"/>
              </a:ext>
            </a:extLst>
          </p:cNvPr>
          <p:cNvSpPr txBox="1"/>
          <p:nvPr/>
        </p:nvSpPr>
        <p:spPr>
          <a:xfrm>
            <a:off x="925898" y="2025777"/>
            <a:ext cx="66559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latin typeface="Gill Sans MT" panose="020B0502020104020203" pitchFamily="34" charset="77"/>
              </a:rPr>
              <a:t>Ejercicio E05:	LBP + KNN</a:t>
            </a:r>
          </a:p>
          <a:p>
            <a:endParaRPr lang="es-ES_tradnl" sz="1400" noProof="1">
              <a:latin typeface="Gill Sans MT" panose="020B0502020104020203" pitchFamily="34" charset="77"/>
            </a:endParaRPr>
          </a:p>
          <a:p>
            <a:r>
              <a:rPr lang="es-ES_tradnl" sz="1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(CAPÍTULO 1I)</a:t>
            </a:r>
            <a:endParaRPr lang="es-ES_tradnl" sz="4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D8B31C-4556-F719-913C-E2145B717E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5758" y="3799734"/>
            <a:ext cx="1604846" cy="15903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4FA7A15-F748-32DE-354F-3CAC8A0AA4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7883" y="3824971"/>
            <a:ext cx="1595150" cy="159999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4313AD9-FB76-5B39-FDE3-02C1A0673E49}"/>
              </a:ext>
            </a:extLst>
          </p:cNvPr>
          <p:cNvSpPr/>
          <p:nvPr/>
        </p:nvSpPr>
        <p:spPr>
          <a:xfrm>
            <a:off x="925897" y="683627"/>
            <a:ext cx="10340205" cy="8474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683696-9EC3-5EAA-42CA-C97B3AF6DCC2}"/>
              </a:ext>
            </a:extLst>
          </p:cNvPr>
          <p:cNvSpPr txBox="1"/>
          <p:nvPr/>
        </p:nvSpPr>
        <p:spPr>
          <a:xfrm>
            <a:off x="925898" y="546159"/>
            <a:ext cx="680385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solidFill>
                  <a:schemeClr val="accent2"/>
                </a:solidFill>
                <a:latin typeface="Gill Sans MT" panose="020B0502020104020203" pitchFamily="34" charset="77"/>
              </a:rPr>
              <a:t>Reconocimiento de Patrones</a:t>
            </a:r>
          </a:p>
          <a:p>
            <a:r>
              <a:rPr lang="es-ES_tradnl" sz="1400" noProof="1">
                <a:solidFill>
                  <a:schemeClr val="accent1">
                    <a:lumMod val="60000"/>
                    <a:lumOff val="40000"/>
                  </a:schemeClr>
                </a:solidFill>
                <a:latin typeface="Gill Sans MT" panose="020B0502020104020203" pitchFamily="34" charset="77"/>
              </a:rPr>
              <a:t>Versión 2026</a:t>
            </a:r>
          </a:p>
        </p:txBody>
      </p:sp>
      <p:pic>
        <p:nvPicPr>
          <p:cNvPr id="16" name="Picture 15" descr="Screen Shot 2014-07-28 at 3.30.32 PM.png">
            <a:extLst>
              <a:ext uri="{FF2B5EF4-FFF2-40B4-BE49-F238E27FC236}">
                <a16:creationId xmlns:a16="http://schemas.microsoft.com/office/drawing/2014/main" id="{388CBE50-EF02-7AE8-3A76-AE0E5FB5D9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883" y="683626"/>
            <a:ext cx="2688219" cy="84741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E6ED2F0-8213-81F2-AE9E-2E272437C75A}"/>
              </a:ext>
            </a:extLst>
          </p:cNvPr>
          <p:cNvSpPr/>
          <p:nvPr/>
        </p:nvSpPr>
        <p:spPr>
          <a:xfrm>
            <a:off x="8532327" y="889536"/>
            <a:ext cx="94889" cy="94882"/>
          </a:xfrm>
          <a:prstGeom prst="rect">
            <a:avLst/>
          </a:prstGeom>
          <a:solidFill>
            <a:srgbClr val="FF00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62D8FD-78CA-60B5-3801-27A555922101}"/>
              </a:ext>
            </a:extLst>
          </p:cNvPr>
          <p:cNvSpPr/>
          <p:nvPr/>
        </p:nvSpPr>
        <p:spPr>
          <a:xfrm>
            <a:off x="9457147" y="1041936"/>
            <a:ext cx="94889" cy="94882"/>
          </a:xfrm>
          <a:prstGeom prst="rect">
            <a:avLst/>
          </a:prstGeom>
          <a:solidFill>
            <a:srgbClr val="FFD3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897FC66-CA23-63DD-EA97-E161CAAED0A8}"/>
              </a:ext>
            </a:extLst>
          </p:cNvPr>
          <p:cNvSpPr/>
          <p:nvPr/>
        </p:nvSpPr>
        <p:spPr>
          <a:xfrm>
            <a:off x="8450280" y="1194336"/>
            <a:ext cx="94889" cy="94882"/>
          </a:xfrm>
          <a:prstGeom prst="rect">
            <a:avLst/>
          </a:prstGeom>
          <a:solidFill>
            <a:srgbClr val="3366FF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4C79FF-4B28-5ECA-240A-83B096DB7FB8}"/>
              </a:ext>
            </a:extLst>
          </p:cNvPr>
          <p:cNvSpPr/>
          <p:nvPr/>
        </p:nvSpPr>
        <p:spPr>
          <a:xfrm>
            <a:off x="9200620" y="814788"/>
            <a:ext cx="94889" cy="94882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F39B26-B75D-1F53-93C6-2D8DFE021951}"/>
              </a:ext>
            </a:extLst>
          </p:cNvPr>
          <p:cNvSpPr/>
          <p:nvPr/>
        </p:nvSpPr>
        <p:spPr>
          <a:xfrm>
            <a:off x="9043304" y="1325718"/>
            <a:ext cx="94889" cy="94882"/>
          </a:xfrm>
          <a:prstGeom prst="rect">
            <a:avLst/>
          </a:prstGeom>
          <a:solidFill>
            <a:srgbClr val="00FF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2494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7D75BEA-4D66-FAD8-6B71-03ED237E2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57466C-8519-F823-F921-752112937A4D}"/>
              </a:ext>
            </a:extLst>
          </p:cNvPr>
          <p:cNvSpPr txBox="1"/>
          <p:nvPr/>
        </p:nvSpPr>
        <p:spPr>
          <a:xfrm>
            <a:off x="1719544" y="258585"/>
            <a:ext cx="82333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E05</a:t>
            </a:r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</a:t>
            </a:r>
            <a:r>
              <a:rPr lang="en-CL" sz="4000" b="1" dirty="0">
                <a:solidFill>
                  <a:srgbClr val="E97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Reconocedor de ojo / nariz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7E57981-1B21-3E58-D75A-A258363127D8}"/>
              </a:ext>
            </a:extLst>
          </p:cNvPr>
          <p:cNvCxnSpPr/>
          <p:nvPr/>
        </p:nvCxnSpPr>
        <p:spPr>
          <a:xfrm>
            <a:off x="194619" y="1023079"/>
            <a:ext cx="111492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01B43EA-673C-441B-E475-4C803952871A}"/>
              </a:ext>
            </a:extLst>
          </p:cNvPr>
          <p:cNvSpPr txBox="1"/>
          <p:nvPr/>
        </p:nvSpPr>
        <p:spPr>
          <a:xfrm>
            <a:off x="1105627" y="8748854"/>
            <a:ext cx="22108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L" sz="3600" dirty="0">
                <a:latin typeface="Consolas" panose="020B0609020204030204" pitchFamily="49" charset="0"/>
                <a:cs typeface="Consolas" panose="020B0609020204030204" pitchFamily="49" charset="0"/>
              </a:rPr>
              <a:t>Imagen X</a:t>
            </a:r>
          </a:p>
          <a:p>
            <a:pPr algn="ctr"/>
            <a:endParaRPr lang="en-CL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CL" dirty="0">
                <a:latin typeface="Consolas" panose="020B0609020204030204" pitchFamily="49" charset="0"/>
                <a:cs typeface="Consolas" panose="020B0609020204030204" pitchFamily="49" charset="0"/>
              </a:rPr>
              <a:t>1000 x 1000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1E82CD-249B-59FC-E180-46E467C18F87}"/>
              </a:ext>
            </a:extLst>
          </p:cNvPr>
          <p:cNvSpPr txBox="1"/>
          <p:nvPr/>
        </p:nvSpPr>
        <p:spPr>
          <a:xfrm>
            <a:off x="7784300" y="8748854"/>
            <a:ext cx="24641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L" sz="3600" dirty="0">
                <a:latin typeface="Consolas" panose="020B0609020204030204" pitchFamily="49" charset="0"/>
                <a:cs typeface="Consolas" panose="020B0609020204030204" pitchFamily="49" charset="0"/>
              </a:rPr>
              <a:t>Imagen Yk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6E57481-275F-7A74-834E-BBC2B67E57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0625"/>
            <a:ext cx="12192000" cy="4475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3125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578DA-1F9D-A933-5B42-097AF21F6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7F4C99A-D6B5-E6FD-4EF7-A9A703081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F97312-F631-88E6-607C-737F5ED04E8E}"/>
              </a:ext>
            </a:extLst>
          </p:cNvPr>
          <p:cNvSpPr txBox="1"/>
          <p:nvPr/>
        </p:nvSpPr>
        <p:spPr>
          <a:xfrm>
            <a:off x="1719544" y="258585"/>
            <a:ext cx="10967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E05</a:t>
            </a:r>
            <a:endParaRPr lang="en-CL" sz="4000" b="1" dirty="0">
              <a:solidFill>
                <a:srgbClr val="E9710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0028C0-6767-8E7C-280C-7589C97B7E86}"/>
              </a:ext>
            </a:extLst>
          </p:cNvPr>
          <p:cNvCxnSpPr/>
          <p:nvPr/>
        </p:nvCxnSpPr>
        <p:spPr>
          <a:xfrm>
            <a:off x="194619" y="1023079"/>
            <a:ext cx="111492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AAEFCA6-CAC0-20B4-58DD-F2E6E6805D87}"/>
              </a:ext>
            </a:extLst>
          </p:cNvPr>
          <p:cNvSpPr txBox="1"/>
          <p:nvPr/>
        </p:nvSpPr>
        <p:spPr>
          <a:xfrm>
            <a:off x="3534727" y="337593"/>
            <a:ext cx="51716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3200" b="1" dirty="0">
                <a:solidFill>
                  <a:srgbClr val="E97109"/>
                </a:solidFill>
              </a:rPr>
              <a:t>PASO INICIAL : Cargar Balu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47E9DA-2BA4-88A0-3CCE-48F7A3EE1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6" y="1191786"/>
            <a:ext cx="10245421" cy="44744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4C3BB62-D680-D03B-9B23-1A18FCE7DB70}"/>
              </a:ext>
            </a:extLst>
          </p:cNvPr>
          <p:cNvSpPr txBox="1"/>
          <p:nvPr/>
        </p:nvSpPr>
        <p:spPr>
          <a:xfrm>
            <a:off x="545910" y="5952485"/>
            <a:ext cx="11149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Esta </a:t>
            </a:r>
            <a:r>
              <a:rPr lang="en-US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librería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se </a:t>
            </a:r>
            <a:r>
              <a:rPr lang="en-US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usará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para las </a:t>
            </a:r>
            <a:r>
              <a:rPr lang="en-US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funciones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que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extraen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las </a:t>
            </a:r>
            <a:r>
              <a:rPr lang="en-US"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características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LBP.</a:t>
            </a:r>
            <a:endParaRPr lang="en-CL" sz="2000" b="1" dirty="0">
              <a:solidFill>
                <a:schemeClr val="tx2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513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95E84-514A-1244-B465-F4C6EDBB7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C967161-9A34-F4EE-16A2-266771A26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B009C8-FD2F-79D1-0CBB-9EDC114061B6}"/>
              </a:ext>
            </a:extLst>
          </p:cNvPr>
          <p:cNvSpPr txBox="1"/>
          <p:nvPr/>
        </p:nvSpPr>
        <p:spPr>
          <a:xfrm>
            <a:off x="1719544" y="258585"/>
            <a:ext cx="64427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E05</a:t>
            </a:r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P01: </a:t>
            </a:r>
            <a:r>
              <a:rPr lang="en-CL" sz="4000" b="1" dirty="0">
                <a:solidFill>
                  <a:srgbClr val="E97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 de Datos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76E9E53-44AA-52AA-7C09-5DC7D57F8884}"/>
              </a:ext>
            </a:extLst>
          </p:cNvPr>
          <p:cNvCxnSpPr/>
          <p:nvPr/>
        </p:nvCxnSpPr>
        <p:spPr>
          <a:xfrm>
            <a:off x="194619" y="1023079"/>
            <a:ext cx="111492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410A391-EC2F-C22D-CAA0-91D1816F9113}"/>
              </a:ext>
            </a:extLst>
          </p:cNvPr>
          <p:cNvSpPr txBox="1"/>
          <p:nvPr/>
        </p:nvSpPr>
        <p:spPr>
          <a:xfrm>
            <a:off x="1105627" y="8748854"/>
            <a:ext cx="22108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L" sz="3600" dirty="0">
                <a:latin typeface="Consolas" panose="020B0609020204030204" pitchFamily="49" charset="0"/>
                <a:cs typeface="Consolas" panose="020B0609020204030204" pitchFamily="49" charset="0"/>
              </a:rPr>
              <a:t>Imagen X</a:t>
            </a:r>
          </a:p>
          <a:p>
            <a:pPr algn="ctr"/>
            <a:endParaRPr lang="en-CL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CL" dirty="0">
                <a:latin typeface="Consolas" panose="020B0609020204030204" pitchFamily="49" charset="0"/>
                <a:cs typeface="Consolas" panose="020B0609020204030204" pitchFamily="49" charset="0"/>
              </a:rPr>
              <a:t>1000 x 1000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34DB2F-EED2-FC65-C7EB-135846599AD1}"/>
              </a:ext>
            </a:extLst>
          </p:cNvPr>
          <p:cNvSpPr txBox="1"/>
          <p:nvPr/>
        </p:nvSpPr>
        <p:spPr>
          <a:xfrm>
            <a:off x="7784300" y="8748854"/>
            <a:ext cx="24641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L" sz="3600" dirty="0">
                <a:latin typeface="Consolas" panose="020B0609020204030204" pitchFamily="49" charset="0"/>
                <a:cs typeface="Consolas" panose="020B0609020204030204" pitchFamily="49" charset="0"/>
              </a:rPr>
              <a:t>Imagen Yk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E0D85B8-3E63-0530-6944-CA3A5DAB6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2037" y="1939420"/>
            <a:ext cx="2604409" cy="364617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5FEE29F-A4C4-BE6D-F00A-65412080D4E2}"/>
              </a:ext>
            </a:extLst>
          </p:cNvPr>
          <p:cNvSpPr txBox="1"/>
          <p:nvPr/>
        </p:nvSpPr>
        <p:spPr>
          <a:xfrm>
            <a:off x="6396772" y="3082834"/>
            <a:ext cx="27750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/>
              <a:t>1040 imágenes de ojos</a:t>
            </a:r>
          </a:p>
          <a:p>
            <a:endParaRPr lang="en-CL" dirty="0"/>
          </a:p>
          <a:p>
            <a:r>
              <a:rPr lang="en-CL" dirty="0"/>
              <a:t>1040 imágenes de narices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1CEFCF-D210-F584-4A92-B509638399E3}"/>
              </a:ext>
            </a:extLst>
          </p:cNvPr>
          <p:cNvSpPr txBox="1"/>
          <p:nvPr/>
        </p:nvSpPr>
        <p:spPr>
          <a:xfrm>
            <a:off x="6396772" y="4662263"/>
            <a:ext cx="27750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/>
              <a:t>4160 imágenes de ojos</a:t>
            </a:r>
          </a:p>
          <a:p>
            <a:endParaRPr lang="en-CL" dirty="0"/>
          </a:p>
          <a:p>
            <a:r>
              <a:rPr lang="en-CL" dirty="0"/>
              <a:t>4160 imágenes de narices</a:t>
            </a:r>
          </a:p>
        </p:txBody>
      </p:sp>
    </p:spTree>
    <p:extLst>
      <p:ext uri="{BB962C8B-B14F-4D97-AF65-F5344CB8AC3E}">
        <p14:creationId xmlns:p14="http://schemas.microsoft.com/office/powerpoint/2010/main" val="1309103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96B48B-5F67-6B4F-944D-5F20E4ADC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427" y="1"/>
            <a:ext cx="6922661" cy="69014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D77482-4ABA-E74E-A872-9D8745F6C718}"/>
              </a:ext>
            </a:extLst>
          </p:cNvPr>
          <p:cNvSpPr txBox="1"/>
          <p:nvPr/>
        </p:nvSpPr>
        <p:spPr>
          <a:xfrm>
            <a:off x="1815831" y="525295"/>
            <a:ext cx="10073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9300"/>
                </a:solidFill>
                <a:latin typeface="Gill Sans MT" panose="020B0502020104020203" pitchFamily="34" charset="77"/>
              </a:rPr>
              <a:t>Eyes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B8A24B-0FC2-5D47-9993-38322BB63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0113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7939993-4018-764C-B0BF-134F94E41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632" y="-14591"/>
            <a:ext cx="6867369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4CC64E-AF8F-014F-9A21-82E978386CC9}"/>
              </a:ext>
            </a:extLst>
          </p:cNvPr>
          <p:cNvSpPr txBox="1"/>
          <p:nvPr/>
        </p:nvSpPr>
        <p:spPr>
          <a:xfrm>
            <a:off x="1815830" y="525295"/>
            <a:ext cx="13773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9300"/>
                </a:solidFill>
                <a:latin typeface="Gill Sans MT" panose="020B0502020104020203" pitchFamily="34" charset="77"/>
              </a:rPr>
              <a:t>Noses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B663BA-66BF-C544-A766-4DCE54FA6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9517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8DB09-7246-2F1B-D8A4-2B1150C6D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88FBED9-F99C-6494-80D9-29F61CE82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81B507-05D3-D864-5EEC-BCEEF1384523}"/>
              </a:ext>
            </a:extLst>
          </p:cNvPr>
          <p:cNvSpPr txBox="1"/>
          <p:nvPr/>
        </p:nvSpPr>
        <p:spPr>
          <a:xfrm>
            <a:off x="1719544" y="258585"/>
            <a:ext cx="93506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E05</a:t>
            </a:r>
            <a:r>
              <a:rPr lang="en-CL" sz="4000" b="1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P02: </a:t>
            </a:r>
            <a:r>
              <a:rPr lang="en-CL" sz="4000" b="1">
                <a:solidFill>
                  <a:srgbClr val="E97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Carga de la Base de Datos</a:t>
            </a:r>
            <a:endParaRPr lang="en-CL" sz="4000" b="1" dirty="0">
              <a:solidFill>
                <a:srgbClr val="E97F3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F8CD0F95-85FE-4DF6-6717-28D47DD4E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8133" y="3009363"/>
            <a:ext cx="2832069" cy="2811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3C1EADF9-3BC1-41CF-EEDF-B97A0CD2B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78938" y="3009364"/>
            <a:ext cx="2832069" cy="2811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55FC87D9-684E-9726-ACBE-3E7F5459BA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80993" y="3009363"/>
            <a:ext cx="2832069" cy="2811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7FAE5414-5BB1-184F-AD29-4911EA686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61797" y="3009363"/>
            <a:ext cx="2832069" cy="2811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9385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D78A1-BD48-61A2-8B0B-EDAD968C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F5EFF02-3AE9-B94E-4DB6-0444F1413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3BE6E2-194C-FF50-1934-163F4B590DA6}"/>
              </a:ext>
            </a:extLst>
          </p:cNvPr>
          <p:cNvSpPr txBox="1"/>
          <p:nvPr/>
        </p:nvSpPr>
        <p:spPr>
          <a:xfrm>
            <a:off x="1719544" y="258585"/>
            <a:ext cx="77572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E05</a:t>
            </a:r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P03: </a:t>
            </a:r>
            <a:r>
              <a:rPr lang="en-CL" sz="4000" b="1" dirty="0">
                <a:solidFill>
                  <a:srgbClr val="E97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Características LBP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8C6B6DB-94C2-EAB0-BF62-863E566D1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54213"/>
            <a:ext cx="12192000" cy="294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D094008-F238-7598-787E-D368BDB4F986}"/>
              </a:ext>
            </a:extLst>
          </p:cNvPr>
          <p:cNvSpPr txBox="1"/>
          <p:nvPr/>
        </p:nvSpPr>
        <p:spPr>
          <a:xfrm>
            <a:off x="959458" y="5421086"/>
            <a:ext cx="106234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  <a:cs typeface="Consolas" panose="020B0609020204030204" pitchFamily="49" charset="0"/>
              </a:rPr>
              <a:t>x = </a:t>
            </a:r>
            <a:r>
              <a:rPr lang="en-US" sz="4000" dirty="0" err="1">
                <a:latin typeface="Consolas" panose="020B0609020204030204" pitchFamily="49" charset="0"/>
                <a:cs typeface="Consolas" panose="020B0609020204030204" pitchFamily="49" charset="0"/>
              </a:rPr>
              <a:t>lbp</a:t>
            </a:r>
            <a:r>
              <a:rPr lang="en-US" sz="4000" dirty="0">
                <a:latin typeface="Consolas" panose="020B0609020204030204" pitchFamily="49" charset="0"/>
                <a:cs typeface="Consolas" panose="020B0609020204030204" pitchFamily="49" charset="0"/>
              </a:rPr>
              <a:t>(K, </a:t>
            </a:r>
            <a:r>
              <a:rPr lang="en-US" sz="4000" dirty="0" err="1">
                <a:latin typeface="Consolas" panose="020B0609020204030204" pitchFamily="49" charset="0"/>
                <a:cs typeface="Consolas" panose="020B0609020204030204" pitchFamily="49" charset="0"/>
              </a:rPr>
              <a:t>hdiv</a:t>
            </a:r>
            <a:r>
              <a:rPr lang="en-US" sz="4000" dirty="0">
                <a:latin typeface="Consolas" panose="020B0609020204030204" pitchFamily="49" charset="0"/>
                <a:cs typeface="Consolas" panose="020B0609020204030204" pitchFamily="49" charset="0"/>
              </a:rPr>
              <a:t>=2, </a:t>
            </a:r>
            <a:r>
              <a:rPr lang="en-US" sz="4000" dirty="0" err="1">
                <a:latin typeface="Consolas" panose="020B0609020204030204" pitchFamily="49" charset="0"/>
                <a:cs typeface="Consolas" panose="020B0609020204030204" pitchFamily="49" charset="0"/>
              </a:rPr>
              <a:t>vdiv</a:t>
            </a:r>
            <a:r>
              <a:rPr lang="en-US" sz="4000" dirty="0">
                <a:latin typeface="Consolas" panose="020B0609020204030204" pitchFamily="49" charset="0"/>
                <a:cs typeface="Consolas" panose="020B0609020204030204" pitchFamily="49" charset="0"/>
              </a:rPr>
              <a:t>=2, norm=True)</a:t>
            </a:r>
            <a:endParaRPr lang="en-CL" sz="4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15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FD1CB-1A58-8CA1-E0AB-594158234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2555625-F9FD-E35D-6780-0604F441D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6D183D-CE3F-7D0D-DDC2-461AFF559D6E}"/>
              </a:ext>
            </a:extLst>
          </p:cNvPr>
          <p:cNvSpPr txBox="1"/>
          <p:nvPr/>
        </p:nvSpPr>
        <p:spPr>
          <a:xfrm>
            <a:off x="1719544" y="258585"/>
            <a:ext cx="290816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E05</a:t>
            </a:r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P03: </a:t>
            </a:r>
          </a:p>
          <a:p>
            <a:r>
              <a:rPr lang="en-CL" sz="4000" b="1" dirty="0">
                <a:solidFill>
                  <a:srgbClr val="E97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CLAHE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7C22C1-7ADC-B0DC-340C-8DBC2701B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149" y="0"/>
            <a:ext cx="69598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589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38594-4C6A-2C05-587C-00F286D84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7DAF4B5-896D-9C60-0B2D-5C63D9A7F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B15729-9FEB-E567-48E9-2AA9C8EECF8D}"/>
              </a:ext>
            </a:extLst>
          </p:cNvPr>
          <p:cNvSpPr txBox="1"/>
          <p:nvPr/>
        </p:nvSpPr>
        <p:spPr>
          <a:xfrm>
            <a:off x="1719544" y="258585"/>
            <a:ext cx="94355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E05</a:t>
            </a:r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P04: </a:t>
            </a:r>
            <a:r>
              <a:rPr lang="en-CL" sz="4000" b="1" dirty="0">
                <a:solidFill>
                  <a:srgbClr val="E97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Extracción para toda la BD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5EBC40-928D-D54E-4D0F-FB7628251D47}"/>
              </a:ext>
            </a:extLst>
          </p:cNvPr>
          <p:cNvSpPr txBox="1"/>
          <p:nvPr/>
        </p:nvSpPr>
        <p:spPr>
          <a:xfrm>
            <a:off x="391887" y="1658983"/>
            <a:ext cx="1035884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Escriba un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código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que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lea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todas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las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imágenes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de la base de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datos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y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extraiga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los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LBP (con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preprocesamiento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indicado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128x128 y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clahe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y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los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guarde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la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siguiente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manera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X_train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una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matriz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de 8320 x 236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elementos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que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contenga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todas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las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características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LBP 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extraídas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como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la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pregunta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anterior) de las 4160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imágenes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de ojos, y las 4160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imágenes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de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narices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del training.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X_test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una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matriz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de 2080 x 236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elementos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que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contenga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todas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las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características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LBP 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extraídas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como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la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pregunta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anterior) de las 1040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imágenes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de ojos, y las 1040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imágenes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de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narices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del testing.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y_train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(un vector de 8320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elementos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con 4160 ceros y 4160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unos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este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vector es la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clasificación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idea de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cada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una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de las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muestras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de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Xtrain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y_test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(un vector de 2080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elementos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con 1040 ceros y 1040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unos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este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vector es la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clasificación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idea de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cada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una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de las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muestras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de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Xtest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</a:p>
          <a:p>
            <a:endParaRPr lang="en-CL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663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A81F3-84D7-5561-4263-1F648E03F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C287E38-6CC9-903C-1E54-68C7F55FE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E8631A-B950-712F-3E23-1F95E5001635}"/>
              </a:ext>
            </a:extLst>
          </p:cNvPr>
          <p:cNvSpPr txBox="1"/>
          <p:nvPr/>
        </p:nvSpPr>
        <p:spPr>
          <a:xfrm>
            <a:off x="1719544" y="258585"/>
            <a:ext cx="72667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E05</a:t>
            </a:r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P05: </a:t>
            </a:r>
            <a:r>
              <a:rPr lang="en-CL" sz="4000" b="1" dirty="0">
                <a:solidFill>
                  <a:srgbClr val="E97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KNN con 1 vecino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08E047-2295-8594-ACC8-B719C9C53CD8}"/>
              </a:ext>
            </a:extLst>
          </p:cNvPr>
          <p:cNvSpPr txBox="1"/>
          <p:nvPr/>
        </p:nvSpPr>
        <p:spPr>
          <a:xfrm>
            <a:off x="833383" y="1452590"/>
            <a:ext cx="1004797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5.1 (1 puntos) Defina un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clasificador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KNN con 1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vecino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usando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la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librería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sklearn</a:t>
            </a: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5.2 (1 punto)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Entrene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el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clasificador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usando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la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matriz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X_train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y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el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vector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y_train</a:t>
            </a: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5.3 (1 punto)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Usando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el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clasificador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entrenado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en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el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paso anterior,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clasifique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el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testing a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partir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de la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matriz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X_test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. Observe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que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hasta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aquí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no se ha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usado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y_test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en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ninguno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de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los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pasos de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esta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pregunta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endParaRPr lang="en-CL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175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95D79-96FA-D29B-1609-0D619F603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292BC97-1260-2B24-F528-6DB4B1659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338079-2A46-47F5-0053-52B8153D151C}"/>
              </a:ext>
            </a:extLst>
          </p:cNvPr>
          <p:cNvSpPr txBox="1"/>
          <p:nvPr/>
        </p:nvSpPr>
        <p:spPr>
          <a:xfrm>
            <a:off x="1719544" y="258585"/>
            <a:ext cx="72667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E05</a:t>
            </a:r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P05: </a:t>
            </a:r>
            <a:r>
              <a:rPr lang="en-CL" sz="4000" b="1" dirty="0">
                <a:solidFill>
                  <a:srgbClr val="E97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KNN con 1 vecino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1C07C9-71A6-3ABB-0117-7A8D9D7C7E6E}"/>
              </a:ext>
            </a:extLst>
          </p:cNvPr>
          <p:cNvSpPr txBox="1"/>
          <p:nvPr/>
        </p:nvSpPr>
        <p:spPr>
          <a:xfrm>
            <a:off x="667488" y="1246444"/>
            <a:ext cx="10379765" cy="52629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# Libraries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sklearn.neighbors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import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KNeighborsClassifier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sklearn.metrics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import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confusion_matrix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accuracy_score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sklearn.metrics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import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confusion_matrix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# Definition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K = 1</a:t>
            </a:r>
          </a:p>
          <a:p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knn_classifier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KNeighborsClassifier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n_neighbors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=K)</a:t>
            </a: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# Training</a:t>
            </a:r>
          </a:p>
          <a:p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knn_classifier.fit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X_train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y_train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# Prediction of Testing Data</a:t>
            </a:r>
          </a:p>
          <a:p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y_pred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knn_classifier.predict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X_test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en-CL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0129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39215-2399-0E6A-ACFA-2B2E3033C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C2E2D98-E59C-5CE3-3347-36784C535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A1DE8C-4629-F18A-5DFD-77897409D000}"/>
              </a:ext>
            </a:extLst>
          </p:cNvPr>
          <p:cNvSpPr txBox="1"/>
          <p:nvPr/>
        </p:nvSpPr>
        <p:spPr>
          <a:xfrm>
            <a:off x="1719544" y="258585"/>
            <a:ext cx="56140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E05</a:t>
            </a:r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P06: </a:t>
            </a:r>
            <a:r>
              <a:rPr lang="en-CL" sz="4000" b="1" dirty="0">
                <a:solidFill>
                  <a:srgbClr val="E97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Evaluación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D833BE-FE37-9696-95F2-848A563E6EDC}"/>
              </a:ext>
            </a:extLst>
          </p:cNvPr>
          <p:cNvSpPr txBox="1"/>
          <p:nvPr/>
        </p:nvSpPr>
        <p:spPr>
          <a:xfrm>
            <a:off x="194619" y="1489166"/>
            <a:ext cx="1076511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6.1 (1 punto)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Usando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la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funcion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accuracy_score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de la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librería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sklearn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calcule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accuracy del TESTING.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6.2 (1 punto)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Usando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la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funcion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confusion_matriz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de la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librería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sklearn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calcule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la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matriz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de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confusión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del TESTING.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6.3 (1 punto)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Grafique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la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matriz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de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confusión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del testing.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6.4 (5 puntos)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Repita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los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dos pasos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anteriores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para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TRAINING.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OJO: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debe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probar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clasificador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con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los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datos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de training,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tal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como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se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hizo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5.3 con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testing.</a:t>
            </a:r>
          </a:p>
          <a:p>
            <a:endParaRPr lang="en-CL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2969FC-3311-A16F-470C-0290E71C30B1}"/>
              </a:ext>
            </a:extLst>
          </p:cNvPr>
          <p:cNvSpPr txBox="1"/>
          <p:nvPr/>
        </p:nvSpPr>
        <p:spPr>
          <a:xfrm>
            <a:off x="2442754" y="4628487"/>
            <a:ext cx="5376793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# Accuracy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accuracy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accuracy_score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y_test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y_pred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f'Accuracy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{accuracy * 100:.2f}’)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# Confusion Matrix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confusion_matrix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y_test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y_pred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print('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Confusion:',C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en-CL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087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15050-344B-A75A-5710-33C625899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E3B3590-F9B2-7EA9-94E3-F212C2CB6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258507-C5BB-4E53-0A90-E6FB27ED162D}"/>
              </a:ext>
            </a:extLst>
          </p:cNvPr>
          <p:cNvSpPr txBox="1"/>
          <p:nvPr/>
        </p:nvSpPr>
        <p:spPr>
          <a:xfrm>
            <a:off x="1719544" y="258585"/>
            <a:ext cx="82910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E05</a:t>
            </a:r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P06: </a:t>
            </a:r>
            <a:r>
              <a:rPr lang="en-CL" sz="4000" b="1" dirty="0">
                <a:solidFill>
                  <a:srgbClr val="E97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Evaluación - TESTING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2229547-D015-710C-C645-BC127FF20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417" y="1493204"/>
            <a:ext cx="5839134" cy="4676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6432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42DA4-BDB1-29A6-C671-DC1A9F4A7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8A0C176-D046-CB09-0EC4-B1562DE0D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" y="102943"/>
            <a:ext cx="1529678" cy="863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3E5783-846A-C121-E2E2-04A2CC3519FC}"/>
              </a:ext>
            </a:extLst>
          </p:cNvPr>
          <p:cNvSpPr txBox="1"/>
          <p:nvPr/>
        </p:nvSpPr>
        <p:spPr>
          <a:xfrm>
            <a:off x="1719544" y="258585"/>
            <a:ext cx="85491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E05</a:t>
            </a:r>
            <a:r>
              <a:rPr lang="en-CL" sz="4000" b="1" dirty="0">
                <a:solidFill>
                  <a:srgbClr val="E97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P06: </a:t>
            </a:r>
            <a:r>
              <a:rPr lang="en-CL" sz="4000" b="1" dirty="0">
                <a:solidFill>
                  <a:srgbClr val="E97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Evaluación - TRAINING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3275C7-A987-4D57-71C1-473B0F7A6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417" y="1493204"/>
            <a:ext cx="5839133" cy="4676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7739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1385</TotalTime>
  <Words>675</Words>
  <Application>Microsoft Macintosh PowerPoint</Application>
  <PresentationFormat>Widescreen</PresentationFormat>
  <Paragraphs>86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Consolas</vt:lpstr>
      <vt:lpstr>Gill Sans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Domingo Mery</dc:creator>
  <cp:lastModifiedBy>Domingo Mery</cp:lastModifiedBy>
  <cp:revision>13</cp:revision>
  <dcterms:created xsi:type="dcterms:W3CDTF">2026-03-15T17:41:45Z</dcterms:created>
  <dcterms:modified xsi:type="dcterms:W3CDTF">2026-04-21T13:33:17Z</dcterms:modified>
</cp:coreProperties>
</file>